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0" r:id="rId5"/>
    <p:sldId id="352" r:id="rId6"/>
    <p:sldId id="349" r:id="rId7"/>
    <p:sldId id="343" r:id="rId8"/>
    <p:sldId id="347" r:id="rId9"/>
    <p:sldId id="353" r:id="rId10"/>
    <p:sldId id="414" r:id="rId11"/>
    <p:sldId id="415" r:id="rId12"/>
    <p:sldId id="417" r:id="rId13"/>
    <p:sldId id="420" r:id="rId14"/>
    <p:sldId id="308" r:id="rId15"/>
    <p:sldId id="320" r:id="rId16"/>
    <p:sldId id="307" r:id="rId17"/>
    <p:sldId id="313" r:id="rId18"/>
    <p:sldId id="368" r:id="rId19"/>
    <p:sldId id="370" r:id="rId20"/>
    <p:sldId id="306" r:id="rId21"/>
    <p:sldId id="426" r:id="rId22"/>
    <p:sldId id="430" r:id="rId23"/>
    <p:sldId id="435" r:id="rId24"/>
    <p:sldId id="433" r:id="rId25"/>
    <p:sldId id="283" r:id="rId26"/>
    <p:sldId id="284" r:id="rId27"/>
    <p:sldId id="271" r:id="rId28"/>
    <p:sldId id="317" r:id="rId29"/>
    <p:sldId id="318" r:id="rId30"/>
    <p:sldId id="432" r:id="rId31"/>
    <p:sldId id="286" r:id="rId32"/>
    <p:sldId id="395" r:id="rId33"/>
    <p:sldId id="411" r:id="rId34"/>
    <p:sldId id="422" r:id="rId35"/>
    <p:sldId id="424" r:id="rId36"/>
    <p:sldId id="425" r:id="rId37"/>
    <p:sldId id="398" r:id="rId38"/>
    <p:sldId id="445" r:id="rId39"/>
    <p:sldId id="397" r:id="rId40"/>
    <p:sldId id="406" r:id="rId41"/>
    <p:sldId id="408" r:id="rId42"/>
    <p:sldId id="287" r:id="rId43"/>
    <p:sldId id="409" r:id="rId44"/>
    <p:sldId id="453" r:id="rId45"/>
    <p:sldId id="447" r:id="rId46"/>
    <p:sldId id="450" r:id="rId47"/>
    <p:sldId id="446" r:id="rId48"/>
    <p:sldId id="448" r:id="rId49"/>
    <p:sldId id="449" r:id="rId50"/>
    <p:sldId id="451" r:id="rId51"/>
    <p:sldId id="303" r:id="rId52"/>
    <p:sldId id="322" r:id="rId53"/>
    <p:sldId id="302" r:id="rId54"/>
    <p:sldId id="301" r:id="rId55"/>
    <p:sldId id="304" r:id="rId56"/>
    <p:sldId id="289" r:id="rId57"/>
    <p:sldId id="299" r:id="rId58"/>
    <p:sldId id="292" r:id="rId59"/>
    <p:sldId id="293" r:id="rId60"/>
    <p:sldId id="325" r:id="rId61"/>
    <p:sldId id="326" r:id="rId62"/>
    <p:sldId id="327" r:id="rId63"/>
    <p:sldId id="329" r:id="rId64"/>
    <p:sldId id="294" r:id="rId65"/>
    <p:sldId id="333" r:id="rId66"/>
    <p:sldId id="296" r:id="rId67"/>
    <p:sldId id="366" r:id="rId68"/>
    <p:sldId id="454" r:id="rId69"/>
  </p:sldIdLst>
  <p:sldSz cx="9144000" cy="6858000" type="screen4x3"/>
  <p:notesSz cx="6858000" cy="9144000"/>
  <p:custDataLst>
    <p:tags r:id="rId73"/>
  </p:custDataLst>
  <p:defaultTextStyle>
    <a:defPPr>
      <a:defRPr lang="en-US"/>
    </a:defPPr>
    <a:lvl1pPr marL="0" lvl="0"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12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225"/>
    <p:restoredTop sz="94660"/>
  </p:normalViewPr>
  <p:slideViewPr>
    <p:cSldViewPr snapToGrid="0" showGuides="1">
      <p:cViewPr varScale="1">
        <p:scale>
          <a:sx n="114" d="100"/>
          <a:sy n="114" d="100"/>
        </p:scale>
        <p:origin x="1548" y="108"/>
      </p:cViewPr>
      <p:guideLst>
        <p:guide orient="horz" pos="2182"/>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43CD26D-9F70-4961-BBD6-63D7C51E99F2}" type="doc">
      <dgm:prSet loTypeId="urn:microsoft.com/office/officeart/2005/8/layout/list1#1" loCatId="list" qsTypeId="urn:microsoft.com/office/officeart/2005/8/quickstyle/simple3#1" qsCatId="simple" csTypeId="urn:microsoft.com/office/officeart/2005/8/colors/colorful4#1" csCatId="colorful" phldr="1"/>
      <dgm:spPr/>
      <dgm:t>
        <a:bodyPr/>
        <a:lstStyle/>
        <a:p>
          <a:endParaRPr lang="zh-CN" altLang="en-US"/>
        </a:p>
      </dgm:t>
    </dgm:pt>
    <dgm:pt modelId="{52ED06E6-67CE-4478-8FFC-1021F7695227}">
      <dgm:prSet phldrT="[文本]" custT="1"/>
      <dgm:spPr>
        <a:gradFill flip="none" rotWithShape="1">
          <a:gsLst>
            <a:gs pos="0">
              <a:srgbClr val="FFFF00">
                <a:alpha val="81000"/>
              </a:srgbClr>
            </a:gs>
            <a:gs pos="50000">
              <a:srgbClr val="9CB86E"/>
            </a:gs>
            <a:gs pos="100000">
              <a:srgbClr val="156B13"/>
            </a:gs>
          </a:gsLst>
          <a:lin ang="6000000" scaled="0"/>
          <a:tileRect/>
        </a:gradFill>
      </dgm:spPr>
      <dgm:t>
        <a:bodyPr/>
        <a:lstStyle/>
        <a:p>
          <a:pPr>
            <a:lnSpc>
              <a:spcPct val="150000"/>
            </a:lnSpc>
          </a:pPr>
          <a:r>
            <a:rPr lang="en-US" altLang="zh-CN" sz="1800" dirty="0">
              <a:ea typeface="宋体" panose="02010600030101010101" pitchFamily="2" charset="-122"/>
            </a:rPr>
            <a:t>Instruction Set Architecture Level</a:t>
          </a:r>
          <a:endParaRPr lang="zh-CN" altLang="en-US" sz="1800" dirty="0"/>
        </a:p>
      </dgm:t>
    </dgm:pt>
    <dgm:pt modelId="{4E3DC39A-C081-4DD7-B3D7-76768B162EB7}" cxnId="{A8544C35-514E-4985-AB43-9FA773572EA3}" type="parTrans">
      <dgm:prSet/>
      <dgm:spPr/>
      <dgm:t>
        <a:bodyPr/>
        <a:lstStyle/>
        <a:p>
          <a:pPr>
            <a:lnSpc>
              <a:spcPct val="150000"/>
            </a:lnSpc>
          </a:pPr>
          <a:endParaRPr lang="zh-CN" altLang="en-US" sz="1800"/>
        </a:p>
      </dgm:t>
    </dgm:pt>
    <dgm:pt modelId="{3E177E8E-AB3A-4204-BBE4-3D1C44949EF0}" cxnId="{A8544C35-514E-4985-AB43-9FA773572EA3}" type="sibTrans">
      <dgm:prSet/>
      <dgm:spPr/>
      <dgm:t>
        <a:bodyPr/>
        <a:lstStyle/>
        <a:p>
          <a:pPr>
            <a:lnSpc>
              <a:spcPct val="150000"/>
            </a:lnSpc>
          </a:pPr>
          <a:endParaRPr lang="zh-CN" altLang="en-US" sz="1800"/>
        </a:p>
      </dgm:t>
    </dgm:pt>
    <dgm:pt modelId="{2A4EBAE3-0FD4-40B5-A7AC-9C06BCCED131}">
      <dgm:prSet custT="1"/>
      <dgm:spPr>
        <a:noFill/>
        <a:ln>
          <a:solidFill>
            <a:srgbClr val="002060">
              <a:alpha val="56000"/>
            </a:srgbClr>
          </a:solidFill>
        </a:ln>
      </dgm:spPr>
      <dgm:t>
        <a:bodyPr/>
        <a:lstStyle/>
        <a:p>
          <a:pPr>
            <a:lnSpc>
              <a:spcPct val="150000"/>
            </a:lnSpc>
          </a:pPr>
          <a:r>
            <a:rPr lang="en-US" altLang="zh-CN" sz="1800" dirty="0" err="1">
              <a:ea typeface="宋体" panose="02010600030101010101" pitchFamily="2" charset="-122"/>
            </a:rPr>
            <a:t>Bochs</a:t>
          </a:r>
          <a:r>
            <a:rPr lang="en-US" altLang="zh-CN" sz="1800" dirty="0">
              <a:ea typeface="宋体" panose="02010600030101010101" pitchFamily="2" charset="-122"/>
            </a:rPr>
            <a:t>/Crusoe/</a:t>
          </a:r>
          <a:r>
            <a:rPr lang="en-US" altLang="zh-CN" sz="1800" dirty="0" err="1">
              <a:ea typeface="宋体" panose="02010600030101010101" pitchFamily="2" charset="-122"/>
            </a:rPr>
            <a:t>Qemu</a:t>
          </a:r>
          <a:r>
            <a:rPr lang="en-US" altLang="zh-CN" sz="1800" dirty="0">
              <a:ea typeface="宋体" panose="02010600030101010101" pitchFamily="2" charset="-122"/>
            </a:rPr>
            <a:t>/BIRD/Dynamo</a:t>
          </a:r>
        </a:p>
      </dgm:t>
    </dgm:pt>
    <dgm:pt modelId="{38AE7568-E8ED-4157-8BDB-580D683D846F}" cxnId="{FFA6BBA9-DC97-4B6E-A083-C19DFA20A382}" type="parTrans">
      <dgm:prSet/>
      <dgm:spPr/>
      <dgm:t>
        <a:bodyPr/>
        <a:lstStyle/>
        <a:p>
          <a:pPr>
            <a:lnSpc>
              <a:spcPct val="150000"/>
            </a:lnSpc>
          </a:pPr>
          <a:endParaRPr lang="zh-CN" altLang="en-US" sz="1800"/>
        </a:p>
      </dgm:t>
    </dgm:pt>
    <dgm:pt modelId="{705441A5-C9AF-429D-BC38-C3E9A4E8CA2A}" cxnId="{FFA6BBA9-DC97-4B6E-A083-C19DFA20A382}" type="sibTrans">
      <dgm:prSet/>
      <dgm:spPr/>
      <dgm:t>
        <a:bodyPr/>
        <a:lstStyle/>
        <a:p>
          <a:pPr>
            <a:lnSpc>
              <a:spcPct val="150000"/>
            </a:lnSpc>
          </a:pPr>
          <a:endParaRPr lang="zh-CN" altLang="en-US" sz="1800"/>
        </a:p>
      </dgm:t>
    </dgm:pt>
    <dgm:pt modelId="{9EDBA6A0-FE5C-4823-A0D4-29A0A0E2011E}">
      <dgm:prSet custT="1"/>
      <dgm:spPr>
        <a:gradFill flip="none" rotWithShape="1">
          <a:gsLst>
            <a:gs pos="0">
              <a:srgbClr val="FFFF00">
                <a:alpha val="81000"/>
              </a:srgbClr>
            </a:gs>
            <a:gs pos="50000">
              <a:srgbClr val="9CB86E"/>
            </a:gs>
            <a:gs pos="100000">
              <a:srgbClr val="156B13"/>
            </a:gs>
          </a:gsLst>
          <a:lin ang="6000000" scaled="0"/>
          <a:tileRect/>
        </a:gradFill>
      </dgm:spPr>
      <dgm:t>
        <a:bodyPr/>
        <a:lstStyle/>
        <a:p>
          <a:pPr>
            <a:lnSpc>
              <a:spcPct val="150000"/>
            </a:lnSpc>
          </a:pPr>
          <a:r>
            <a:rPr lang="en-US" altLang="zh-CN" sz="1800" dirty="0">
              <a:ea typeface="宋体" panose="02010600030101010101" pitchFamily="2" charset="-122"/>
            </a:rPr>
            <a:t>Hardware Abstraction Layer (HAL) Level</a:t>
          </a:r>
        </a:p>
      </dgm:t>
    </dgm:pt>
    <dgm:pt modelId="{A2A4A3CC-FB43-4C3F-A372-2238CBFA6552}" cxnId="{4471515C-3E12-4BBC-9C8C-377B221EB3E0}" type="parTrans">
      <dgm:prSet/>
      <dgm:spPr/>
      <dgm:t>
        <a:bodyPr/>
        <a:lstStyle/>
        <a:p>
          <a:pPr>
            <a:lnSpc>
              <a:spcPct val="150000"/>
            </a:lnSpc>
          </a:pPr>
          <a:endParaRPr lang="zh-CN" altLang="en-US" sz="1800"/>
        </a:p>
      </dgm:t>
    </dgm:pt>
    <dgm:pt modelId="{8B12FDCD-33B6-4EB2-83F9-2136010AA23E}" cxnId="{4471515C-3E12-4BBC-9C8C-377B221EB3E0}" type="sibTrans">
      <dgm:prSet/>
      <dgm:spPr/>
      <dgm:t>
        <a:bodyPr/>
        <a:lstStyle/>
        <a:p>
          <a:pPr>
            <a:lnSpc>
              <a:spcPct val="150000"/>
            </a:lnSpc>
          </a:pPr>
          <a:endParaRPr lang="zh-CN" altLang="en-US" sz="1800"/>
        </a:p>
      </dgm:t>
    </dgm:pt>
    <dgm:pt modelId="{7A5DB465-74E6-4224-B89C-1B20B0C0425F}">
      <dgm:prSet custT="1"/>
      <dgm:spPr>
        <a:noFill/>
        <a:ln>
          <a:solidFill>
            <a:srgbClr val="002060">
              <a:alpha val="56000"/>
            </a:srgbClr>
          </a:solidFill>
        </a:ln>
      </dgm:spPr>
      <dgm:t>
        <a:bodyPr/>
        <a:lstStyle/>
        <a:p>
          <a:pPr>
            <a:lnSpc>
              <a:spcPct val="150000"/>
            </a:lnSpc>
          </a:pPr>
          <a:r>
            <a:rPr lang="en-US" altLang="zh-CN" sz="1800" dirty="0">
              <a:ea typeface="宋体" panose="02010600030101010101" pitchFamily="2" charset="-122"/>
            </a:rPr>
            <a:t>VMWare/Virtual PC/Denali/</a:t>
          </a:r>
          <a:r>
            <a:rPr lang="en-US" altLang="zh-CN" sz="1800" dirty="0" err="1">
              <a:ea typeface="宋体" panose="02010600030101010101" pitchFamily="2" charset="-122"/>
            </a:rPr>
            <a:t>Xen</a:t>
          </a:r>
          <a:r>
            <a:rPr lang="en-US" altLang="zh-CN" sz="1800" dirty="0">
              <a:ea typeface="宋体" panose="02010600030101010101" pitchFamily="2" charset="-122"/>
            </a:rPr>
            <a:t>/L4/Plex86/User-mode Linux/Cooperative Linux</a:t>
          </a:r>
        </a:p>
      </dgm:t>
    </dgm:pt>
    <dgm:pt modelId="{7E855AB6-EC76-4651-BFB4-F07EED99D74D}" cxnId="{C5C0B0DA-4F3A-46D2-8B6E-569398674F2F}" type="parTrans">
      <dgm:prSet/>
      <dgm:spPr/>
      <dgm:t>
        <a:bodyPr/>
        <a:lstStyle/>
        <a:p>
          <a:pPr>
            <a:lnSpc>
              <a:spcPct val="150000"/>
            </a:lnSpc>
          </a:pPr>
          <a:endParaRPr lang="zh-CN" altLang="en-US" sz="1800"/>
        </a:p>
      </dgm:t>
    </dgm:pt>
    <dgm:pt modelId="{82411C8D-7325-408C-8FDC-344E13901F26}" cxnId="{C5C0B0DA-4F3A-46D2-8B6E-569398674F2F}" type="sibTrans">
      <dgm:prSet/>
      <dgm:spPr/>
      <dgm:t>
        <a:bodyPr/>
        <a:lstStyle/>
        <a:p>
          <a:pPr>
            <a:lnSpc>
              <a:spcPct val="150000"/>
            </a:lnSpc>
          </a:pPr>
          <a:endParaRPr lang="zh-CN" altLang="en-US" sz="1800"/>
        </a:p>
      </dgm:t>
    </dgm:pt>
    <dgm:pt modelId="{88C7BC41-0936-458B-951A-E26955F9D95E}">
      <dgm:prSet custT="1"/>
      <dgm:spPr>
        <a:gradFill flip="none" rotWithShape="1">
          <a:gsLst>
            <a:gs pos="0">
              <a:srgbClr val="FFFF00">
                <a:alpha val="81000"/>
              </a:srgbClr>
            </a:gs>
            <a:gs pos="50000">
              <a:srgbClr val="9CB86E"/>
            </a:gs>
            <a:gs pos="100000">
              <a:srgbClr val="156B13"/>
            </a:gs>
          </a:gsLst>
          <a:lin ang="6000000" scaled="0"/>
          <a:tileRect/>
        </a:gradFill>
      </dgm:spPr>
      <dgm:t>
        <a:bodyPr/>
        <a:lstStyle/>
        <a:p>
          <a:pPr>
            <a:lnSpc>
              <a:spcPct val="150000"/>
            </a:lnSpc>
          </a:pPr>
          <a:r>
            <a:rPr lang="en-US" altLang="zh-CN" sz="1800" dirty="0">
              <a:ea typeface="宋体" panose="02010600030101010101" pitchFamily="2" charset="-122"/>
            </a:rPr>
            <a:t>Operating System Level</a:t>
          </a:r>
        </a:p>
      </dgm:t>
    </dgm:pt>
    <dgm:pt modelId="{01240489-D0C5-4250-9345-262685C3A73F}" cxnId="{D327E6F1-4EB7-4FA2-BA5B-A5700FF15383}" type="parTrans">
      <dgm:prSet/>
      <dgm:spPr/>
      <dgm:t>
        <a:bodyPr/>
        <a:lstStyle/>
        <a:p>
          <a:pPr>
            <a:lnSpc>
              <a:spcPct val="150000"/>
            </a:lnSpc>
          </a:pPr>
          <a:endParaRPr lang="zh-CN" altLang="en-US" sz="1800"/>
        </a:p>
      </dgm:t>
    </dgm:pt>
    <dgm:pt modelId="{15E02C73-74FC-4DF1-8993-96AB30A340DC}" cxnId="{D327E6F1-4EB7-4FA2-BA5B-A5700FF15383}" type="sibTrans">
      <dgm:prSet/>
      <dgm:spPr/>
      <dgm:t>
        <a:bodyPr/>
        <a:lstStyle/>
        <a:p>
          <a:pPr>
            <a:lnSpc>
              <a:spcPct val="150000"/>
            </a:lnSpc>
          </a:pPr>
          <a:endParaRPr lang="zh-CN" altLang="en-US" sz="1800"/>
        </a:p>
      </dgm:t>
    </dgm:pt>
    <dgm:pt modelId="{B50F569E-C18E-4EB5-A2F9-B553FEE7C7C1}">
      <dgm:prSet custT="1"/>
      <dgm:spPr>
        <a:noFill/>
        <a:ln>
          <a:solidFill>
            <a:srgbClr val="002060">
              <a:alpha val="56000"/>
            </a:srgbClr>
          </a:solidFill>
        </a:ln>
      </dgm:spPr>
      <dgm:t>
        <a:bodyPr/>
        <a:lstStyle/>
        <a:p>
          <a:pPr>
            <a:lnSpc>
              <a:spcPct val="150000"/>
            </a:lnSpc>
          </a:pPr>
          <a:r>
            <a:rPr lang="en-US" altLang="zh-CN" sz="1800" dirty="0">
              <a:ea typeface="宋体" panose="02010600030101010101" pitchFamily="2" charset="-122"/>
            </a:rPr>
            <a:t>Jail/Virtual Environment/</a:t>
          </a:r>
          <a:r>
            <a:rPr lang="en-US" altLang="zh-CN" sz="1800" dirty="0" err="1">
              <a:ea typeface="宋体" panose="02010600030101010101" pitchFamily="2" charset="-122"/>
            </a:rPr>
            <a:t>Ensim’s</a:t>
          </a:r>
          <a:r>
            <a:rPr lang="en-US" altLang="zh-CN" sz="1800" dirty="0">
              <a:ea typeface="宋体" panose="02010600030101010101" pitchFamily="2" charset="-122"/>
            </a:rPr>
            <a:t> VPS/FVM</a:t>
          </a:r>
        </a:p>
      </dgm:t>
    </dgm:pt>
    <dgm:pt modelId="{1DBC0B82-5F94-4221-95A8-A25C831B9887}" cxnId="{22739344-7C9A-4500-8E36-B13287501F47}" type="parTrans">
      <dgm:prSet/>
      <dgm:spPr/>
      <dgm:t>
        <a:bodyPr/>
        <a:lstStyle/>
        <a:p>
          <a:pPr>
            <a:lnSpc>
              <a:spcPct val="150000"/>
            </a:lnSpc>
          </a:pPr>
          <a:endParaRPr lang="zh-CN" altLang="en-US" sz="1800"/>
        </a:p>
      </dgm:t>
    </dgm:pt>
    <dgm:pt modelId="{0DD67E35-FC71-4979-92B8-D4C5230B7D33}" cxnId="{22739344-7C9A-4500-8E36-B13287501F47}" type="sibTrans">
      <dgm:prSet/>
      <dgm:spPr/>
      <dgm:t>
        <a:bodyPr/>
        <a:lstStyle/>
        <a:p>
          <a:pPr>
            <a:lnSpc>
              <a:spcPct val="150000"/>
            </a:lnSpc>
          </a:pPr>
          <a:endParaRPr lang="zh-CN" altLang="en-US" sz="1800"/>
        </a:p>
      </dgm:t>
    </dgm:pt>
    <dgm:pt modelId="{FB019704-D28B-4396-8717-579C35F7C2D9}">
      <dgm:prSet custT="1"/>
      <dgm:spPr>
        <a:gradFill flip="none" rotWithShape="1">
          <a:gsLst>
            <a:gs pos="0">
              <a:srgbClr val="FFFF00">
                <a:alpha val="81000"/>
              </a:srgbClr>
            </a:gs>
            <a:gs pos="50000">
              <a:srgbClr val="9CB86E"/>
            </a:gs>
            <a:gs pos="100000">
              <a:srgbClr val="156B13"/>
            </a:gs>
          </a:gsLst>
          <a:lin ang="6000000" scaled="0"/>
          <a:tileRect/>
        </a:gradFill>
      </dgm:spPr>
      <dgm:t>
        <a:bodyPr/>
        <a:lstStyle/>
        <a:p>
          <a:pPr>
            <a:lnSpc>
              <a:spcPct val="150000"/>
            </a:lnSpc>
          </a:pPr>
          <a:r>
            <a:rPr lang="en-US" altLang="zh-CN" sz="1800" dirty="0">
              <a:ea typeface="宋体" panose="02010600030101010101" pitchFamily="2" charset="-122"/>
            </a:rPr>
            <a:t>Library (user-level API) Level </a:t>
          </a:r>
        </a:p>
      </dgm:t>
    </dgm:pt>
    <dgm:pt modelId="{823153B5-FEFC-4E0C-A126-6A4F3AED2D38}" cxnId="{4FB56D12-5885-4973-9FD7-8FA44B48D69B}" type="parTrans">
      <dgm:prSet/>
      <dgm:spPr/>
      <dgm:t>
        <a:bodyPr/>
        <a:lstStyle/>
        <a:p>
          <a:pPr>
            <a:lnSpc>
              <a:spcPct val="150000"/>
            </a:lnSpc>
          </a:pPr>
          <a:endParaRPr lang="zh-CN" altLang="en-US" sz="1800"/>
        </a:p>
      </dgm:t>
    </dgm:pt>
    <dgm:pt modelId="{1F81A183-C711-493A-B088-76D27A8F643C}" cxnId="{4FB56D12-5885-4973-9FD7-8FA44B48D69B}" type="sibTrans">
      <dgm:prSet/>
      <dgm:spPr/>
      <dgm:t>
        <a:bodyPr/>
        <a:lstStyle/>
        <a:p>
          <a:pPr>
            <a:lnSpc>
              <a:spcPct val="150000"/>
            </a:lnSpc>
          </a:pPr>
          <a:endParaRPr lang="zh-CN" altLang="en-US" sz="1800"/>
        </a:p>
      </dgm:t>
    </dgm:pt>
    <dgm:pt modelId="{9461EEB4-BD64-4596-B452-74893A00F8A5}">
      <dgm:prSet custT="1"/>
      <dgm:spPr>
        <a:noFill/>
        <a:ln>
          <a:solidFill>
            <a:srgbClr val="002060">
              <a:alpha val="56000"/>
            </a:srgbClr>
          </a:solidFill>
        </a:ln>
      </dgm:spPr>
      <dgm:t>
        <a:bodyPr/>
        <a:lstStyle/>
        <a:p>
          <a:pPr>
            <a:lnSpc>
              <a:spcPct val="150000"/>
            </a:lnSpc>
          </a:pPr>
          <a:r>
            <a:rPr lang="en-US" altLang="zh-CN" sz="1800" dirty="0">
              <a:ea typeface="宋体" panose="02010600030101010101" pitchFamily="2" charset="-122"/>
            </a:rPr>
            <a:t>Wine/WABI/</a:t>
          </a:r>
          <a:r>
            <a:rPr lang="en-US" altLang="zh-CN" sz="1800" dirty="0" err="1">
              <a:ea typeface="宋体" panose="02010600030101010101" pitchFamily="2" charset="-122"/>
            </a:rPr>
            <a:t>LxRun</a:t>
          </a:r>
          <a:r>
            <a:rPr lang="en-US" altLang="zh-CN" sz="1800" dirty="0">
              <a:ea typeface="宋体" panose="02010600030101010101" pitchFamily="2" charset="-122"/>
            </a:rPr>
            <a:t>/Visual </a:t>
          </a:r>
          <a:r>
            <a:rPr lang="en-US" altLang="zh-CN" sz="1800" dirty="0" err="1">
              <a:ea typeface="宋体" panose="02010600030101010101" pitchFamily="2" charset="-122"/>
            </a:rPr>
            <a:t>MainWin</a:t>
          </a:r>
          <a:r>
            <a:rPr lang="en-US" altLang="zh-CN" sz="1800" dirty="0">
              <a:ea typeface="宋体" panose="02010600030101010101" pitchFamily="2" charset="-122"/>
            </a:rPr>
            <a:t> </a:t>
          </a:r>
        </a:p>
      </dgm:t>
    </dgm:pt>
    <dgm:pt modelId="{422C827D-0B19-4C63-9A2D-8E5F5FD887C1}" cxnId="{D4156325-FE13-4D20-990D-B652B4BA0489}" type="parTrans">
      <dgm:prSet/>
      <dgm:spPr/>
      <dgm:t>
        <a:bodyPr/>
        <a:lstStyle/>
        <a:p>
          <a:pPr>
            <a:lnSpc>
              <a:spcPct val="150000"/>
            </a:lnSpc>
          </a:pPr>
          <a:endParaRPr lang="zh-CN" altLang="en-US" sz="1800"/>
        </a:p>
      </dgm:t>
    </dgm:pt>
    <dgm:pt modelId="{59539763-548C-49E7-9372-D064D946A7AE}" cxnId="{D4156325-FE13-4D20-990D-B652B4BA0489}" type="sibTrans">
      <dgm:prSet/>
      <dgm:spPr/>
      <dgm:t>
        <a:bodyPr/>
        <a:lstStyle/>
        <a:p>
          <a:pPr>
            <a:lnSpc>
              <a:spcPct val="150000"/>
            </a:lnSpc>
          </a:pPr>
          <a:endParaRPr lang="zh-CN" altLang="en-US" sz="1800"/>
        </a:p>
      </dgm:t>
    </dgm:pt>
    <dgm:pt modelId="{2979FF1B-C301-4790-AA3E-0A29AEBFF90A}">
      <dgm:prSet custT="1"/>
      <dgm:spPr>
        <a:gradFill flip="none" rotWithShape="1">
          <a:gsLst>
            <a:gs pos="0">
              <a:srgbClr val="FFFF00">
                <a:alpha val="81000"/>
              </a:srgbClr>
            </a:gs>
            <a:gs pos="50000">
              <a:srgbClr val="9CB86E"/>
            </a:gs>
            <a:gs pos="100000">
              <a:srgbClr val="156B13"/>
            </a:gs>
          </a:gsLst>
          <a:lin ang="6000000" scaled="0"/>
          <a:tileRect/>
        </a:gradFill>
      </dgm:spPr>
      <dgm:t>
        <a:bodyPr/>
        <a:lstStyle/>
        <a:p>
          <a:pPr>
            <a:lnSpc>
              <a:spcPct val="150000"/>
            </a:lnSpc>
          </a:pPr>
          <a:r>
            <a:rPr lang="en-US" altLang="zh-CN" sz="1800" dirty="0">
              <a:ea typeface="宋体" panose="02010600030101010101" pitchFamily="2" charset="-122"/>
            </a:rPr>
            <a:t>Application (Programming Language) Level</a:t>
          </a:r>
        </a:p>
      </dgm:t>
    </dgm:pt>
    <dgm:pt modelId="{7FEAB4CF-6C0D-43EE-83BB-7FFAF8F20719}" cxnId="{0824B675-7B2A-47DE-9B8A-A542BEDAEB4F}" type="parTrans">
      <dgm:prSet/>
      <dgm:spPr/>
      <dgm:t>
        <a:bodyPr/>
        <a:lstStyle/>
        <a:p>
          <a:pPr>
            <a:lnSpc>
              <a:spcPct val="150000"/>
            </a:lnSpc>
          </a:pPr>
          <a:endParaRPr lang="zh-CN" altLang="en-US" sz="1800"/>
        </a:p>
      </dgm:t>
    </dgm:pt>
    <dgm:pt modelId="{B7AC650F-6ECC-45FE-B578-C141DD578D5B}" cxnId="{0824B675-7B2A-47DE-9B8A-A542BEDAEB4F}" type="sibTrans">
      <dgm:prSet/>
      <dgm:spPr/>
      <dgm:t>
        <a:bodyPr/>
        <a:lstStyle/>
        <a:p>
          <a:pPr>
            <a:lnSpc>
              <a:spcPct val="150000"/>
            </a:lnSpc>
          </a:pPr>
          <a:endParaRPr lang="zh-CN" altLang="en-US" sz="1800"/>
        </a:p>
      </dgm:t>
    </dgm:pt>
    <dgm:pt modelId="{B07E9AB4-3FE4-4B54-9F1E-95DE94DB3BA3}">
      <dgm:prSet custT="1"/>
      <dgm:spPr>
        <a:noFill/>
        <a:ln>
          <a:solidFill>
            <a:srgbClr val="002060">
              <a:alpha val="56000"/>
            </a:srgbClr>
          </a:solidFill>
        </a:ln>
      </dgm:spPr>
      <dgm:t>
        <a:bodyPr/>
        <a:lstStyle/>
        <a:p>
          <a:pPr>
            <a:lnSpc>
              <a:spcPct val="150000"/>
            </a:lnSpc>
          </a:pPr>
          <a:r>
            <a:rPr lang="en-US" altLang="zh-CN" sz="1800" dirty="0">
              <a:ea typeface="宋体" panose="02010600030101010101" pitchFamily="2" charset="-122"/>
            </a:rPr>
            <a:t>JVM/.NET CLI/Parrot</a:t>
          </a:r>
        </a:p>
      </dgm:t>
    </dgm:pt>
    <dgm:pt modelId="{4DE933C2-2E38-4A4C-AFC0-BB811CB61342}" cxnId="{B977AF62-9E9B-473B-B3CE-49E40176BF8F}" type="parTrans">
      <dgm:prSet/>
      <dgm:spPr/>
      <dgm:t>
        <a:bodyPr/>
        <a:lstStyle/>
        <a:p>
          <a:pPr>
            <a:lnSpc>
              <a:spcPct val="150000"/>
            </a:lnSpc>
          </a:pPr>
          <a:endParaRPr lang="zh-CN" altLang="en-US" sz="1800"/>
        </a:p>
      </dgm:t>
    </dgm:pt>
    <dgm:pt modelId="{9F676D61-F6C6-4325-91CB-BCE8528C1400}" cxnId="{B977AF62-9E9B-473B-B3CE-49E40176BF8F}" type="sibTrans">
      <dgm:prSet/>
      <dgm:spPr/>
      <dgm:t>
        <a:bodyPr/>
        <a:lstStyle/>
        <a:p>
          <a:pPr>
            <a:lnSpc>
              <a:spcPct val="150000"/>
            </a:lnSpc>
          </a:pPr>
          <a:endParaRPr lang="zh-CN" altLang="en-US" sz="1800"/>
        </a:p>
      </dgm:t>
    </dgm:pt>
    <dgm:pt modelId="{1D5C8E94-22CF-42A0-B083-8AFC7D1783B9}" type="pres">
      <dgm:prSet presAssocID="{543CD26D-9F70-4961-BBD6-63D7C51E99F2}" presName="linear" presStyleCnt="0">
        <dgm:presLayoutVars>
          <dgm:dir/>
          <dgm:animLvl val="lvl"/>
          <dgm:resizeHandles val="exact"/>
        </dgm:presLayoutVars>
      </dgm:prSet>
      <dgm:spPr/>
    </dgm:pt>
    <dgm:pt modelId="{FD0552EA-AAB5-41B7-A5E1-8556A7DD2308}" type="pres">
      <dgm:prSet presAssocID="{52ED06E6-67CE-4478-8FFC-1021F7695227}" presName="parentLin" presStyleCnt="0"/>
      <dgm:spPr/>
    </dgm:pt>
    <dgm:pt modelId="{136B3EA5-6D5B-4CE4-8A2B-725850E7C361}" type="pres">
      <dgm:prSet presAssocID="{52ED06E6-67CE-4478-8FFC-1021F7695227}" presName="parentLeftMargin" presStyleLbl="node1" presStyleIdx="0" presStyleCnt="5"/>
      <dgm:spPr/>
    </dgm:pt>
    <dgm:pt modelId="{7A51FAD8-539B-4824-BB27-E9CC2495B379}" type="pres">
      <dgm:prSet presAssocID="{52ED06E6-67CE-4478-8FFC-1021F7695227}" presName="parentText" presStyleLbl="node1" presStyleIdx="0" presStyleCnt="5" custScaleY="157642" custLinFactNeighborY="-6234">
        <dgm:presLayoutVars>
          <dgm:chMax val="0"/>
          <dgm:bulletEnabled val="1"/>
        </dgm:presLayoutVars>
      </dgm:prSet>
      <dgm:spPr/>
    </dgm:pt>
    <dgm:pt modelId="{29DD2C8B-57BE-4CFB-920B-778031D6DA1F}" type="pres">
      <dgm:prSet presAssocID="{52ED06E6-67CE-4478-8FFC-1021F7695227}" presName="negativeSpace" presStyleCnt="0"/>
      <dgm:spPr/>
    </dgm:pt>
    <dgm:pt modelId="{318892FB-68DE-4724-AB13-1D0EAC8EA1D7}" type="pres">
      <dgm:prSet presAssocID="{52ED06E6-67CE-4478-8FFC-1021F7695227}" presName="childText" presStyleLbl="conFgAcc1" presStyleIdx="0" presStyleCnt="5">
        <dgm:presLayoutVars>
          <dgm:bulletEnabled val="1"/>
        </dgm:presLayoutVars>
      </dgm:prSet>
      <dgm:spPr/>
    </dgm:pt>
    <dgm:pt modelId="{1F16B69F-A096-4998-BE15-8A80EE60BE4C}" type="pres">
      <dgm:prSet presAssocID="{3E177E8E-AB3A-4204-BBE4-3D1C44949EF0}" presName="spaceBetweenRectangles" presStyleCnt="0"/>
      <dgm:spPr/>
    </dgm:pt>
    <dgm:pt modelId="{1A8E0326-9C6F-43A0-8BB8-9862E83AE8EE}" type="pres">
      <dgm:prSet presAssocID="{9EDBA6A0-FE5C-4823-A0D4-29A0A0E2011E}" presName="parentLin" presStyleCnt="0"/>
      <dgm:spPr/>
    </dgm:pt>
    <dgm:pt modelId="{3BD529DF-C986-4574-ADCD-AFB911CFF969}" type="pres">
      <dgm:prSet presAssocID="{9EDBA6A0-FE5C-4823-A0D4-29A0A0E2011E}" presName="parentLeftMargin" presStyleLbl="node1" presStyleIdx="0" presStyleCnt="5"/>
      <dgm:spPr/>
    </dgm:pt>
    <dgm:pt modelId="{F67C0311-8B15-4517-A120-B2A138E60CF8}" type="pres">
      <dgm:prSet presAssocID="{9EDBA6A0-FE5C-4823-A0D4-29A0A0E2011E}" presName="parentText" presStyleLbl="node1" presStyleIdx="1" presStyleCnt="5" custScaleY="157642" custLinFactNeighborY="-5">
        <dgm:presLayoutVars>
          <dgm:chMax val="0"/>
          <dgm:bulletEnabled val="1"/>
        </dgm:presLayoutVars>
      </dgm:prSet>
      <dgm:spPr/>
    </dgm:pt>
    <dgm:pt modelId="{62F3F6B8-0B21-4301-AD08-8288688B6B73}" type="pres">
      <dgm:prSet presAssocID="{9EDBA6A0-FE5C-4823-A0D4-29A0A0E2011E}" presName="negativeSpace" presStyleCnt="0"/>
      <dgm:spPr/>
    </dgm:pt>
    <dgm:pt modelId="{50D48B5E-F194-45F6-8F2D-E7485C0328D7}" type="pres">
      <dgm:prSet presAssocID="{9EDBA6A0-FE5C-4823-A0D4-29A0A0E2011E}" presName="childText" presStyleLbl="conFgAcc1" presStyleIdx="1" presStyleCnt="5">
        <dgm:presLayoutVars>
          <dgm:bulletEnabled val="1"/>
        </dgm:presLayoutVars>
      </dgm:prSet>
      <dgm:spPr/>
    </dgm:pt>
    <dgm:pt modelId="{DC058319-BDCF-425B-B05F-EBD5DA35E463}" type="pres">
      <dgm:prSet presAssocID="{8B12FDCD-33B6-4EB2-83F9-2136010AA23E}" presName="spaceBetweenRectangles" presStyleCnt="0"/>
      <dgm:spPr/>
    </dgm:pt>
    <dgm:pt modelId="{05CB9CDA-890B-40AD-A9DD-457B8ABE4FE1}" type="pres">
      <dgm:prSet presAssocID="{88C7BC41-0936-458B-951A-E26955F9D95E}" presName="parentLin" presStyleCnt="0"/>
      <dgm:spPr/>
    </dgm:pt>
    <dgm:pt modelId="{6A65E00F-1BBA-453F-939C-E6FD6BE780BA}" type="pres">
      <dgm:prSet presAssocID="{88C7BC41-0936-458B-951A-E26955F9D95E}" presName="parentLeftMargin" presStyleLbl="node1" presStyleIdx="1" presStyleCnt="5"/>
      <dgm:spPr/>
    </dgm:pt>
    <dgm:pt modelId="{482DAAED-E7C2-4393-B0C1-4FD392F03493}" type="pres">
      <dgm:prSet presAssocID="{88C7BC41-0936-458B-951A-E26955F9D95E}" presName="parentText" presStyleLbl="node1" presStyleIdx="2" presStyleCnt="5" custScaleY="157642" custLinFactNeighborY="5141">
        <dgm:presLayoutVars>
          <dgm:chMax val="0"/>
          <dgm:bulletEnabled val="1"/>
        </dgm:presLayoutVars>
      </dgm:prSet>
      <dgm:spPr/>
    </dgm:pt>
    <dgm:pt modelId="{353E397F-6C8A-480A-A165-4E0FC43426EF}" type="pres">
      <dgm:prSet presAssocID="{88C7BC41-0936-458B-951A-E26955F9D95E}" presName="negativeSpace" presStyleCnt="0"/>
      <dgm:spPr/>
    </dgm:pt>
    <dgm:pt modelId="{AFA4F385-399E-4DE9-B97E-6D11F5F4C634}" type="pres">
      <dgm:prSet presAssocID="{88C7BC41-0936-458B-951A-E26955F9D95E}" presName="childText" presStyleLbl="conFgAcc1" presStyleIdx="2" presStyleCnt="5">
        <dgm:presLayoutVars>
          <dgm:bulletEnabled val="1"/>
        </dgm:presLayoutVars>
      </dgm:prSet>
      <dgm:spPr/>
    </dgm:pt>
    <dgm:pt modelId="{77E5C32A-24B1-4433-B7FE-F17ACA48A319}" type="pres">
      <dgm:prSet presAssocID="{15E02C73-74FC-4DF1-8993-96AB30A340DC}" presName="spaceBetweenRectangles" presStyleCnt="0"/>
      <dgm:spPr/>
    </dgm:pt>
    <dgm:pt modelId="{C5927DBD-B42F-4409-B015-E7DB429381BC}" type="pres">
      <dgm:prSet presAssocID="{FB019704-D28B-4396-8717-579C35F7C2D9}" presName="parentLin" presStyleCnt="0"/>
      <dgm:spPr/>
    </dgm:pt>
    <dgm:pt modelId="{691C4263-7146-4AA6-A5C5-194BE721628A}" type="pres">
      <dgm:prSet presAssocID="{FB019704-D28B-4396-8717-579C35F7C2D9}" presName="parentLeftMargin" presStyleLbl="node1" presStyleIdx="2" presStyleCnt="5"/>
      <dgm:spPr/>
    </dgm:pt>
    <dgm:pt modelId="{72BA0880-AB23-49F4-8305-762DEE05E14C}" type="pres">
      <dgm:prSet presAssocID="{FB019704-D28B-4396-8717-579C35F7C2D9}" presName="parentText" presStyleLbl="node1" presStyleIdx="3" presStyleCnt="5" custScaleY="157642" custLinFactNeighborY="-5">
        <dgm:presLayoutVars>
          <dgm:chMax val="0"/>
          <dgm:bulletEnabled val="1"/>
        </dgm:presLayoutVars>
      </dgm:prSet>
      <dgm:spPr/>
    </dgm:pt>
    <dgm:pt modelId="{975D85A2-390D-4D1E-82A0-91DD9644E4A0}" type="pres">
      <dgm:prSet presAssocID="{FB019704-D28B-4396-8717-579C35F7C2D9}" presName="negativeSpace" presStyleCnt="0"/>
      <dgm:spPr/>
    </dgm:pt>
    <dgm:pt modelId="{4A670F46-352A-489D-AAE2-310876D5E8B9}" type="pres">
      <dgm:prSet presAssocID="{FB019704-D28B-4396-8717-579C35F7C2D9}" presName="childText" presStyleLbl="conFgAcc1" presStyleIdx="3" presStyleCnt="5">
        <dgm:presLayoutVars>
          <dgm:bulletEnabled val="1"/>
        </dgm:presLayoutVars>
      </dgm:prSet>
      <dgm:spPr/>
    </dgm:pt>
    <dgm:pt modelId="{16D4AC99-3098-4A5D-9059-6A6EB60DB28A}" type="pres">
      <dgm:prSet presAssocID="{1F81A183-C711-493A-B088-76D27A8F643C}" presName="spaceBetweenRectangles" presStyleCnt="0"/>
      <dgm:spPr/>
    </dgm:pt>
    <dgm:pt modelId="{791DF0AF-246B-4441-BA26-EE97AA2074AE}" type="pres">
      <dgm:prSet presAssocID="{2979FF1B-C301-4790-AA3E-0A29AEBFF90A}" presName="parentLin" presStyleCnt="0"/>
      <dgm:spPr/>
    </dgm:pt>
    <dgm:pt modelId="{FE3045C9-CFA1-4C07-9BE5-67CBDB9A29FC}" type="pres">
      <dgm:prSet presAssocID="{2979FF1B-C301-4790-AA3E-0A29AEBFF90A}" presName="parentLeftMargin" presStyleLbl="node1" presStyleIdx="3" presStyleCnt="5"/>
      <dgm:spPr/>
    </dgm:pt>
    <dgm:pt modelId="{DE312A2E-A3FE-4628-91FF-D2368DFFB8DF}" type="pres">
      <dgm:prSet presAssocID="{2979FF1B-C301-4790-AA3E-0A29AEBFF90A}" presName="parentText" presStyleLbl="node1" presStyleIdx="4" presStyleCnt="5" custScaleY="157642" custLinFactNeighborY="-10296">
        <dgm:presLayoutVars>
          <dgm:chMax val="0"/>
          <dgm:bulletEnabled val="1"/>
        </dgm:presLayoutVars>
      </dgm:prSet>
      <dgm:spPr/>
    </dgm:pt>
    <dgm:pt modelId="{E87B7DE2-9AF7-4D1A-8BCA-8A142321DFDE}" type="pres">
      <dgm:prSet presAssocID="{2979FF1B-C301-4790-AA3E-0A29AEBFF90A}" presName="negativeSpace" presStyleCnt="0"/>
      <dgm:spPr/>
    </dgm:pt>
    <dgm:pt modelId="{E7DE56F9-BF36-4AC7-A1AA-A46D0CB5E074}" type="pres">
      <dgm:prSet presAssocID="{2979FF1B-C301-4790-AA3E-0A29AEBFF90A}" presName="childText" presStyleLbl="conFgAcc1" presStyleIdx="4" presStyleCnt="5">
        <dgm:presLayoutVars>
          <dgm:bulletEnabled val="1"/>
        </dgm:presLayoutVars>
      </dgm:prSet>
      <dgm:spPr/>
    </dgm:pt>
  </dgm:ptLst>
  <dgm:cxnLst>
    <dgm:cxn modelId="{4FB56D12-5885-4973-9FD7-8FA44B48D69B}" srcId="{543CD26D-9F70-4961-BBD6-63D7C51E99F2}" destId="{FB019704-D28B-4396-8717-579C35F7C2D9}" srcOrd="3" destOrd="0" parTransId="{823153B5-FEFC-4E0C-A126-6A4F3AED2D38}" sibTransId="{1F81A183-C711-493A-B088-76D27A8F643C}"/>
    <dgm:cxn modelId="{9D0CC319-1FA5-42A4-8E23-E516C6A80218}" type="presOf" srcId="{B50F569E-C18E-4EB5-A2F9-B553FEE7C7C1}" destId="{AFA4F385-399E-4DE9-B97E-6D11F5F4C634}" srcOrd="0" destOrd="0" presId="urn:microsoft.com/office/officeart/2005/8/layout/list1#1"/>
    <dgm:cxn modelId="{D4156325-FE13-4D20-990D-B652B4BA0489}" srcId="{FB019704-D28B-4396-8717-579C35F7C2D9}" destId="{9461EEB4-BD64-4596-B452-74893A00F8A5}" srcOrd="0" destOrd="0" parTransId="{422C827D-0B19-4C63-9A2D-8E5F5FD887C1}" sibTransId="{59539763-548C-49E7-9372-D064D946A7AE}"/>
    <dgm:cxn modelId="{A8544C35-514E-4985-AB43-9FA773572EA3}" srcId="{543CD26D-9F70-4961-BBD6-63D7C51E99F2}" destId="{52ED06E6-67CE-4478-8FFC-1021F7695227}" srcOrd="0" destOrd="0" parTransId="{4E3DC39A-C081-4DD7-B3D7-76768B162EB7}" sibTransId="{3E177E8E-AB3A-4204-BBE4-3D1C44949EF0}"/>
    <dgm:cxn modelId="{86CFCF37-EEE1-49C1-8706-9C47EF0586D6}" type="presOf" srcId="{88C7BC41-0936-458B-951A-E26955F9D95E}" destId="{6A65E00F-1BBA-453F-939C-E6FD6BE780BA}" srcOrd="0" destOrd="0" presId="urn:microsoft.com/office/officeart/2005/8/layout/list1#1"/>
    <dgm:cxn modelId="{7631523B-95C6-4D7E-AEEA-BAC66F732829}" type="presOf" srcId="{2979FF1B-C301-4790-AA3E-0A29AEBFF90A}" destId="{FE3045C9-CFA1-4C07-9BE5-67CBDB9A29FC}" srcOrd="0" destOrd="0" presId="urn:microsoft.com/office/officeart/2005/8/layout/list1#1"/>
    <dgm:cxn modelId="{4471515C-3E12-4BBC-9C8C-377B221EB3E0}" srcId="{543CD26D-9F70-4961-BBD6-63D7C51E99F2}" destId="{9EDBA6A0-FE5C-4823-A0D4-29A0A0E2011E}" srcOrd="1" destOrd="0" parTransId="{A2A4A3CC-FB43-4C3F-A372-2238CBFA6552}" sibTransId="{8B12FDCD-33B6-4EB2-83F9-2136010AA23E}"/>
    <dgm:cxn modelId="{B977AF62-9E9B-473B-B3CE-49E40176BF8F}" srcId="{2979FF1B-C301-4790-AA3E-0A29AEBFF90A}" destId="{B07E9AB4-3FE4-4B54-9F1E-95DE94DB3BA3}" srcOrd="0" destOrd="0" parTransId="{4DE933C2-2E38-4A4C-AFC0-BB811CB61342}" sibTransId="{9F676D61-F6C6-4325-91CB-BCE8528C1400}"/>
    <dgm:cxn modelId="{22739344-7C9A-4500-8E36-B13287501F47}" srcId="{88C7BC41-0936-458B-951A-E26955F9D95E}" destId="{B50F569E-C18E-4EB5-A2F9-B553FEE7C7C1}" srcOrd="0" destOrd="0" parTransId="{1DBC0B82-5F94-4221-95A8-A25C831B9887}" sibTransId="{0DD67E35-FC71-4979-92B8-D4C5230B7D33}"/>
    <dgm:cxn modelId="{AD8F1B4E-A7CE-40AE-945D-74BD954D4A81}" type="presOf" srcId="{2979FF1B-C301-4790-AA3E-0A29AEBFF90A}" destId="{DE312A2E-A3FE-4628-91FF-D2368DFFB8DF}" srcOrd="1" destOrd="0" presId="urn:microsoft.com/office/officeart/2005/8/layout/list1#1"/>
    <dgm:cxn modelId="{5765E571-6EEB-47EA-A048-02BDF9E7A0AB}" type="presOf" srcId="{543CD26D-9F70-4961-BBD6-63D7C51E99F2}" destId="{1D5C8E94-22CF-42A0-B083-8AFC7D1783B9}" srcOrd="0" destOrd="0" presId="urn:microsoft.com/office/officeart/2005/8/layout/list1#1"/>
    <dgm:cxn modelId="{0824B675-7B2A-47DE-9B8A-A542BEDAEB4F}" srcId="{543CD26D-9F70-4961-BBD6-63D7C51E99F2}" destId="{2979FF1B-C301-4790-AA3E-0A29AEBFF90A}" srcOrd="4" destOrd="0" parTransId="{7FEAB4CF-6C0D-43EE-83BB-7FFAF8F20719}" sibTransId="{B7AC650F-6ECC-45FE-B578-C141DD578D5B}"/>
    <dgm:cxn modelId="{5E051899-4B5D-4C7A-9BFD-4F8ADCE92390}" type="presOf" srcId="{9EDBA6A0-FE5C-4823-A0D4-29A0A0E2011E}" destId="{3BD529DF-C986-4574-ADCD-AFB911CFF969}" srcOrd="0" destOrd="0" presId="urn:microsoft.com/office/officeart/2005/8/layout/list1#1"/>
    <dgm:cxn modelId="{EE94F6A5-C2F6-46F7-AF07-7651DC1E6246}" type="presOf" srcId="{52ED06E6-67CE-4478-8FFC-1021F7695227}" destId="{136B3EA5-6D5B-4CE4-8A2B-725850E7C361}" srcOrd="0" destOrd="0" presId="urn:microsoft.com/office/officeart/2005/8/layout/list1#1"/>
    <dgm:cxn modelId="{FFA6BBA9-DC97-4B6E-A083-C19DFA20A382}" srcId="{52ED06E6-67CE-4478-8FFC-1021F7695227}" destId="{2A4EBAE3-0FD4-40B5-A7AC-9C06BCCED131}" srcOrd="0" destOrd="0" parTransId="{38AE7568-E8ED-4157-8BDB-580D683D846F}" sibTransId="{705441A5-C9AF-429D-BC38-C3E9A4E8CA2A}"/>
    <dgm:cxn modelId="{01384AC6-16E8-4E65-9F48-DFE141FE0AF3}" type="presOf" srcId="{7A5DB465-74E6-4224-B89C-1B20B0C0425F}" destId="{50D48B5E-F194-45F6-8F2D-E7485C0328D7}" srcOrd="0" destOrd="0" presId="urn:microsoft.com/office/officeart/2005/8/layout/list1#1"/>
    <dgm:cxn modelId="{3D94EBCC-4218-4026-8315-F0643C6BA180}" type="presOf" srcId="{9EDBA6A0-FE5C-4823-A0D4-29A0A0E2011E}" destId="{F67C0311-8B15-4517-A120-B2A138E60CF8}" srcOrd="1" destOrd="0" presId="urn:microsoft.com/office/officeart/2005/8/layout/list1#1"/>
    <dgm:cxn modelId="{644073D6-FCA6-414C-B4E6-D306101231AC}" type="presOf" srcId="{88C7BC41-0936-458B-951A-E26955F9D95E}" destId="{482DAAED-E7C2-4393-B0C1-4FD392F03493}" srcOrd="1" destOrd="0" presId="urn:microsoft.com/office/officeart/2005/8/layout/list1#1"/>
    <dgm:cxn modelId="{80F95CDA-371A-42F2-BD32-4C36286B2228}" type="presOf" srcId="{9461EEB4-BD64-4596-B452-74893A00F8A5}" destId="{4A670F46-352A-489D-AAE2-310876D5E8B9}" srcOrd="0" destOrd="0" presId="urn:microsoft.com/office/officeart/2005/8/layout/list1#1"/>
    <dgm:cxn modelId="{C5C0B0DA-4F3A-46D2-8B6E-569398674F2F}" srcId="{9EDBA6A0-FE5C-4823-A0D4-29A0A0E2011E}" destId="{7A5DB465-74E6-4224-B89C-1B20B0C0425F}" srcOrd="0" destOrd="0" parTransId="{7E855AB6-EC76-4651-BFB4-F07EED99D74D}" sibTransId="{82411C8D-7325-408C-8FDC-344E13901F26}"/>
    <dgm:cxn modelId="{4937EFE0-341A-4B44-8C4C-90E07687CCBD}" type="presOf" srcId="{FB019704-D28B-4396-8717-579C35F7C2D9}" destId="{691C4263-7146-4AA6-A5C5-194BE721628A}" srcOrd="0" destOrd="0" presId="urn:microsoft.com/office/officeart/2005/8/layout/list1#1"/>
    <dgm:cxn modelId="{37675EE6-5B9E-4D96-9F13-BCC6876B80CF}" type="presOf" srcId="{FB019704-D28B-4396-8717-579C35F7C2D9}" destId="{72BA0880-AB23-49F4-8305-762DEE05E14C}" srcOrd="1" destOrd="0" presId="urn:microsoft.com/office/officeart/2005/8/layout/list1#1"/>
    <dgm:cxn modelId="{A95608F0-E096-461A-BF8E-BAC87C5DF871}" type="presOf" srcId="{2A4EBAE3-0FD4-40B5-A7AC-9C06BCCED131}" destId="{318892FB-68DE-4724-AB13-1D0EAC8EA1D7}" srcOrd="0" destOrd="0" presId="urn:microsoft.com/office/officeart/2005/8/layout/list1#1"/>
    <dgm:cxn modelId="{D327E6F1-4EB7-4FA2-BA5B-A5700FF15383}" srcId="{543CD26D-9F70-4961-BBD6-63D7C51E99F2}" destId="{88C7BC41-0936-458B-951A-E26955F9D95E}" srcOrd="2" destOrd="0" parTransId="{01240489-D0C5-4250-9345-262685C3A73F}" sibTransId="{15E02C73-74FC-4DF1-8993-96AB30A340DC}"/>
    <dgm:cxn modelId="{E8E162F4-9FA4-4D90-A516-6E088206867D}" type="presOf" srcId="{52ED06E6-67CE-4478-8FFC-1021F7695227}" destId="{7A51FAD8-539B-4824-BB27-E9CC2495B379}" srcOrd="1" destOrd="0" presId="urn:microsoft.com/office/officeart/2005/8/layout/list1#1"/>
    <dgm:cxn modelId="{2B4499FF-B38C-406F-B512-EF880533E45E}" type="presOf" srcId="{B07E9AB4-3FE4-4B54-9F1E-95DE94DB3BA3}" destId="{E7DE56F9-BF36-4AC7-A1AA-A46D0CB5E074}" srcOrd="0" destOrd="0" presId="urn:microsoft.com/office/officeart/2005/8/layout/list1#1"/>
    <dgm:cxn modelId="{019A8D0C-C08D-4BDF-BC14-9E950A3B55E2}" type="presParOf" srcId="{1D5C8E94-22CF-42A0-B083-8AFC7D1783B9}" destId="{FD0552EA-AAB5-41B7-A5E1-8556A7DD2308}" srcOrd="0" destOrd="0" presId="urn:microsoft.com/office/officeart/2005/8/layout/list1#1"/>
    <dgm:cxn modelId="{75F45D6C-E6A2-4C5B-89EF-F61B93C33AF0}" type="presParOf" srcId="{FD0552EA-AAB5-41B7-A5E1-8556A7DD2308}" destId="{136B3EA5-6D5B-4CE4-8A2B-725850E7C361}" srcOrd="0" destOrd="0" presId="urn:microsoft.com/office/officeart/2005/8/layout/list1#1"/>
    <dgm:cxn modelId="{7971F571-821B-41DC-AD9D-A5AB5841F82D}" type="presParOf" srcId="{FD0552EA-AAB5-41B7-A5E1-8556A7DD2308}" destId="{7A51FAD8-539B-4824-BB27-E9CC2495B379}" srcOrd="1" destOrd="0" presId="urn:microsoft.com/office/officeart/2005/8/layout/list1#1"/>
    <dgm:cxn modelId="{294DDE1A-BB7C-41E9-8D2B-1AB53499FEF5}" type="presParOf" srcId="{1D5C8E94-22CF-42A0-B083-8AFC7D1783B9}" destId="{29DD2C8B-57BE-4CFB-920B-778031D6DA1F}" srcOrd="1" destOrd="0" presId="urn:microsoft.com/office/officeart/2005/8/layout/list1#1"/>
    <dgm:cxn modelId="{075F659B-927D-4677-8AAA-F750A726723A}" type="presParOf" srcId="{1D5C8E94-22CF-42A0-B083-8AFC7D1783B9}" destId="{318892FB-68DE-4724-AB13-1D0EAC8EA1D7}" srcOrd="2" destOrd="0" presId="urn:microsoft.com/office/officeart/2005/8/layout/list1#1"/>
    <dgm:cxn modelId="{4035EF24-FFBB-4E52-80E1-27FF90C97BFF}" type="presParOf" srcId="{1D5C8E94-22CF-42A0-B083-8AFC7D1783B9}" destId="{1F16B69F-A096-4998-BE15-8A80EE60BE4C}" srcOrd="3" destOrd="0" presId="urn:microsoft.com/office/officeart/2005/8/layout/list1#1"/>
    <dgm:cxn modelId="{4192439B-C07B-4DF4-A31F-B04205BDE1F5}" type="presParOf" srcId="{1D5C8E94-22CF-42A0-B083-8AFC7D1783B9}" destId="{1A8E0326-9C6F-43A0-8BB8-9862E83AE8EE}" srcOrd="4" destOrd="0" presId="urn:microsoft.com/office/officeart/2005/8/layout/list1#1"/>
    <dgm:cxn modelId="{C610ECE1-124A-4951-A5BB-E3B7922E2BF7}" type="presParOf" srcId="{1A8E0326-9C6F-43A0-8BB8-9862E83AE8EE}" destId="{3BD529DF-C986-4574-ADCD-AFB911CFF969}" srcOrd="0" destOrd="0" presId="urn:microsoft.com/office/officeart/2005/8/layout/list1#1"/>
    <dgm:cxn modelId="{73CA567C-0045-47E6-99D6-1683B4AB9276}" type="presParOf" srcId="{1A8E0326-9C6F-43A0-8BB8-9862E83AE8EE}" destId="{F67C0311-8B15-4517-A120-B2A138E60CF8}" srcOrd="1" destOrd="0" presId="urn:microsoft.com/office/officeart/2005/8/layout/list1#1"/>
    <dgm:cxn modelId="{C9DFAA22-C0B3-4536-A0CF-247484216E58}" type="presParOf" srcId="{1D5C8E94-22CF-42A0-B083-8AFC7D1783B9}" destId="{62F3F6B8-0B21-4301-AD08-8288688B6B73}" srcOrd="5" destOrd="0" presId="urn:microsoft.com/office/officeart/2005/8/layout/list1#1"/>
    <dgm:cxn modelId="{38B2A2B3-8B66-4387-9D43-8C3E01B8BED2}" type="presParOf" srcId="{1D5C8E94-22CF-42A0-B083-8AFC7D1783B9}" destId="{50D48B5E-F194-45F6-8F2D-E7485C0328D7}" srcOrd="6" destOrd="0" presId="urn:microsoft.com/office/officeart/2005/8/layout/list1#1"/>
    <dgm:cxn modelId="{E4529859-B0A5-41FF-954B-FF26C6564FFC}" type="presParOf" srcId="{1D5C8E94-22CF-42A0-B083-8AFC7D1783B9}" destId="{DC058319-BDCF-425B-B05F-EBD5DA35E463}" srcOrd="7" destOrd="0" presId="urn:microsoft.com/office/officeart/2005/8/layout/list1#1"/>
    <dgm:cxn modelId="{F1B9BDE1-B9D5-4493-85D7-339B2FC647DF}" type="presParOf" srcId="{1D5C8E94-22CF-42A0-B083-8AFC7D1783B9}" destId="{05CB9CDA-890B-40AD-A9DD-457B8ABE4FE1}" srcOrd="8" destOrd="0" presId="urn:microsoft.com/office/officeart/2005/8/layout/list1#1"/>
    <dgm:cxn modelId="{D6435928-A9C0-4ED2-BBF5-1D9E9EFAB161}" type="presParOf" srcId="{05CB9CDA-890B-40AD-A9DD-457B8ABE4FE1}" destId="{6A65E00F-1BBA-453F-939C-E6FD6BE780BA}" srcOrd="0" destOrd="0" presId="urn:microsoft.com/office/officeart/2005/8/layout/list1#1"/>
    <dgm:cxn modelId="{768E9D79-F90F-4385-90F4-E6FBE4D1B000}" type="presParOf" srcId="{05CB9CDA-890B-40AD-A9DD-457B8ABE4FE1}" destId="{482DAAED-E7C2-4393-B0C1-4FD392F03493}" srcOrd="1" destOrd="0" presId="urn:microsoft.com/office/officeart/2005/8/layout/list1#1"/>
    <dgm:cxn modelId="{8B5D02BF-0F75-4607-8D4A-68D8F3390A20}" type="presParOf" srcId="{1D5C8E94-22CF-42A0-B083-8AFC7D1783B9}" destId="{353E397F-6C8A-480A-A165-4E0FC43426EF}" srcOrd="9" destOrd="0" presId="urn:microsoft.com/office/officeart/2005/8/layout/list1#1"/>
    <dgm:cxn modelId="{5549FAA7-B95B-4DCF-AAC4-AAB16F4434BC}" type="presParOf" srcId="{1D5C8E94-22CF-42A0-B083-8AFC7D1783B9}" destId="{AFA4F385-399E-4DE9-B97E-6D11F5F4C634}" srcOrd="10" destOrd="0" presId="urn:microsoft.com/office/officeart/2005/8/layout/list1#1"/>
    <dgm:cxn modelId="{F3808DEB-7047-43F0-A1A2-36FB447EBD59}" type="presParOf" srcId="{1D5C8E94-22CF-42A0-B083-8AFC7D1783B9}" destId="{77E5C32A-24B1-4433-B7FE-F17ACA48A319}" srcOrd="11" destOrd="0" presId="urn:microsoft.com/office/officeart/2005/8/layout/list1#1"/>
    <dgm:cxn modelId="{09DEBEE2-18BB-4D4D-99C5-B5A71F8C3DB7}" type="presParOf" srcId="{1D5C8E94-22CF-42A0-B083-8AFC7D1783B9}" destId="{C5927DBD-B42F-4409-B015-E7DB429381BC}" srcOrd="12" destOrd="0" presId="urn:microsoft.com/office/officeart/2005/8/layout/list1#1"/>
    <dgm:cxn modelId="{61AE8666-61B7-4BC0-A19B-2153BDCBEEE1}" type="presParOf" srcId="{C5927DBD-B42F-4409-B015-E7DB429381BC}" destId="{691C4263-7146-4AA6-A5C5-194BE721628A}" srcOrd="0" destOrd="0" presId="urn:microsoft.com/office/officeart/2005/8/layout/list1#1"/>
    <dgm:cxn modelId="{618904BB-5B30-4B83-ABB8-C2366FE9E516}" type="presParOf" srcId="{C5927DBD-B42F-4409-B015-E7DB429381BC}" destId="{72BA0880-AB23-49F4-8305-762DEE05E14C}" srcOrd="1" destOrd="0" presId="urn:microsoft.com/office/officeart/2005/8/layout/list1#1"/>
    <dgm:cxn modelId="{4ECD402A-CF5D-4695-A1F5-82F785272D08}" type="presParOf" srcId="{1D5C8E94-22CF-42A0-B083-8AFC7D1783B9}" destId="{975D85A2-390D-4D1E-82A0-91DD9644E4A0}" srcOrd="13" destOrd="0" presId="urn:microsoft.com/office/officeart/2005/8/layout/list1#1"/>
    <dgm:cxn modelId="{F9DDA4B3-A169-436F-9138-2651FA1F89C4}" type="presParOf" srcId="{1D5C8E94-22CF-42A0-B083-8AFC7D1783B9}" destId="{4A670F46-352A-489D-AAE2-310876D5E8B9}" srcOrd="14" destOrd="0" presId="urn:microsoft.com/office/officeart/2005/8/layout/list1#1"/>
    <dgm:cxn modelId="{A175A121-2C14-4FE1-AE27-B788ADC56F8A}" type="presParOf" srcId="{1D5C8E94-22CF-42A0-B083-8AFC7D1783B9}" destId="{16D4AC99-3098-4A5D-9059-6A6EB60DB28A}" srcOrd="15" destOrd="0" presId="urn:microsoft.com/office/officeart/2005/8/layout/list1#1"/>
    <dgm:cxn modelId="{6E77AEFB-45B4-4BE0-8775-5D316B4C4AE7}" type="presParOf" srcId="{1D5C8E94-22CF-42A0-B083-8AFC7D1783B9}" destId="{791DF0AF-246B-4441-BA26-EE97AA2074AE}" srcOrd="16" destOrd="0" presId="urn:microsoft.com/office/officeart/2005/8/layout/list1#1"/>
    <dgm:cxn modelId="{424CD4EE-33AF-4B88-838F-D72B62884537}" type="presParOf" srcId="{791DF0AF-246B-4441-BA26-EE97AA2074AE}" destId="{FE3045C9-CFA1-4C07-9BE5-67CBDB9A29FC}" srcOrd="0" destOrd="0" presId="urn:microsoft.com/office/officeart/2005/8/layout/list1#1"/>
    <dgm:cxn modelId="{08C36EBA-EBA4-4026-A765-CBE2EE11D8B4}" type="presParOf" srcId="{791DF0AF-246B-4441-BA26-EE97AA2074AE}" destId="{DE312A2E-A3FE-4628-91FF-D2368DFFB8DF}" srcOrd="1" destOrd="0" presId="urn:microsoft.com/office/officeart/2005/8/layout/list1#1"/>
    <dgm:cxn modelId="{BF9616F1-4C9E-4E74-A3D4-C9D3AD969330}" type="presParOf" srcId="{1D5C8E94-22CF-42A0-B083-8AFC7D1783B9}" destId="{E87B7DE2-9AF7-4D1A-8BCA-8A142321DFDE}" srcOrd="17" destOrd="0" presId="urn:microsoft.com/office/officeart/2005/8/layout/list1#1"/>
    <dgm:cxn modelId="{1C9FD573-09F6-48CF-896A-83ED2A060B10}" type="presParOf" srcId="{1D5C8E94-22CF-42A0-B083-8AFC7D1783B9}" destId="{E7DE56F9-BF36-4AC7-A1AA-A46D0CB5E074}" srcOrd="18" destOrd="0" presId="urn:microsoft.com/office/officeart/2005/8/layout/list1#1"/>
  </dgm:cxnLst>
  <dgm:bg>
    <a:noFill/>
  </dgm:bg>
  <dgm:whole>
    <a:ln>
      <a:solidFill>
        <a:srgbClr val="FFC000"/>
      </a:solidFill>
    </a:ln>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069186" cy="4800600"/>
        <a:chOff x="0" y="0"/>
        <a:chExt cx="9069186" cy="4800600"/>
      </a:xfrm>
    </dsp:grpSpPr>
    <dsp:sp modelId="{318892FB-68DE-4724-AB13-1D0EAC8EA1D7}">
      <dsp:nvSpPr>
        <dsp:cNvPr id="5" name="矩形 4"/>
        <dsp:cNvSpPr/>
      </dsp:nvSpPr>
      <dsp:spPr bwMode="white">
        <a:xfrm>
          <a:off x="0" y="294103"/>
          <a:ext cx="9069186" cy="643255"/>
        </a:xfrm>
        <a:prstGeom prst="rect">
          <a:avLst/>
        </a:prstGeom>
        <a:noFill/>
        <a:ln>
          <a:solidFill>
            <a:srgbClr val="002060">
              <a:alpha val="56000"/>
            </a:srgbClr>
          </a:solidFill>
        </a:ln>
      </dsp:spPr>
      <dsp:style>
        <a:lnRef idx="1">
          <a:schemeClr val="accent4">
            <a:hueOff val="0"/>
            <a:satOff val="0"/>
            <a:lumOff val="0"/>
            <a:alpha val="100000"/>
          </a:schemeClr>
        </a:lnRef>
        <a:fillRef idx="1">
          <a:schemeClr val="lt1">
            <a:alpha val="90000"/>
          </a:schemeClr>
        </a:fillRef>
        <a:effectRef idx="0">
          <a:scrgbClr r="0" g="0" b="0"/>
        </a:effectRef>
        <a:fontRef idx="minor"/>
      </dsp:style>
      <dsp:txBody>
        <a:bodyPr lIns="703869" tIns="104139" rIns="703869" bIns="128016" anchor="t"/>
        <a:lstStyle>
          <a:lvl1pPr algn="l">
            <a:defRPr sz="5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marL="171450" lvl="1" indent="-171450">
            <a:lnSpc>
              <a:spcPct val="150000"/>
            </a:lnSpc>
            <a:spcBef>
              <a:spcPct val="0"/>
            </a:spcBef>
            <a:spcAft>
              <a:spcPct val="15000"/>
            </a:spcAft>
            <a:buChar char="•"/>
          </a:pPr>
          <a:r>
            <a:rPr lang="en-US" altLang="zh-CN" sz="1800" dirty="0" err="1">
              <a:solidFill>
                <a:schemeClr val="dk1"/>
              </a:solidFill>
              <a:ea typeface="宋体" panose="02010600030101010101" pitchFamily="2" charset="-122"/>
            </a:rPr>
            <a:t>Bochs</a:t>
          </a:r>
          <a:r>
            <a:rPr lang="en-US" altLang="zh-CN" sz="1800" dirty="0">
              <a:solidFill>
                <a:schemeClr val="dk1"/>
              </a:solidFill>
              <a:ea typeface="宋体" panose="02010600030101010101" pitchFamily="2" charset="-122"/>
            </a:rPr>
            <a:t>/Crusoe/</a:t>
          </a:r>
          <a:r>
            <a:rPr lang="en-US" altLang="zh-CN" sz="1800" dirty="0" err="1">
              <a:solidFill>
                <a:schemeClr val="dk1"/>
              </a:solidFill>
              <a:ea typeface="宋体" panose="02010600030101010101" pitchFamily="2" charset="-122"/>
            </a:rPr>
            <a:t>Qemu</a:t>
          </a:r>
          <a:r>
            <a:rPr lang="en-US" altLang="zh-CN" sz="1800" dirty="0">
              <a:solidFill>
                <a:schemeClr val="dk1"/>
              </a:solidFill>
              <a:ea typeface="宋体" panose="02010600030101010101" pitchFamily="2" charset="-122"/>
            </a:rPr>
            <a:t>/BIRD/Dynamo</a:t>
          </a:r>
          <a:endParaRPr>
            <a:solidFill>
              <a:schemeClr val="dk1"/>
            </a:solidFill>
          </a:endParaRPr>
        </a:p>
      </dsp:txBody>
      <dsp:txXfrm>
        <a:off x="0" y="294103"/>
        <a:ext cx="9069186" cy="643255"/>
      </dsp:txXfrm>
    </dsp:sp>
    <dsp:sp modelId="{7A51FAD8-539B-4824-BB27-E9CC2495B379}">
      <dsp:nvSpPr>
        <dsp:cNvPr id="4" name="圆角矩形 3"/>
        <dsp:cNvSpPr/>
      </dsp:nvSpPr>
      <dsp:spPr bwMode="white">
        <a:xfrm>
          <a:off x="453459" y="126022"/>
          <a:ext cx="6348430" cy="232680"/>
        </a:xfrm>
        <a:prstGeom prst="roundRect">
          <a:avLst/>
        </a:prstGeom>
        <a:gradFill flip="none" rotWithShape="1">
          <a:gsLst>
            <a:gs pos="0">
              <a:srgbClr val="FFFF00">
                <a:alpha val="81000"/>
              </a:srgbClr>
            </a:gs>
            <a:gs pos="50000">
              <a:srgbClr val="9CB86E"/>
            </a:gs>
            <a:gs pos="100000">
              <a:srgbClr val="156B13"/>
            </a:gs>
          </a:gsLst>
          <a:lin ang="6000000" scaled="0"/>
          <a:tileRect/>
        </a:gradFill>
        <a:sp3d prstMaterial="dkEdge">
          <a:bevelT w="8200" h="38100"/>
        </a:sp3d>
      </dsp:spPr>
      <dsp:style>
        <a:lnRef idx="0">
          <a:schemeClr val="lt1"/>
        </a:lnRef>
        <a:fillRef idx="2">
          <a:schemeClr val="accent4">
            <a:hueOff val="0"/>
            <a:satOff val="0"/>
            <a:lumOff val="0"/>
            <a:alpha val="100000"/>
          </a:schemeClr>
        </a:fillRef>
        <a:effectRef idx="1">
          <a:scrgbClr r="0" g="0" b="0"/>
        </a:effectRef>
        <a:fontRef idx="minor">
          <a:schemeClr val="dk1"/>
        </a:fontRef>
      </dsp:style>
      <dsp:txBody>
        <a:bodyPr lIns="239955" tIns="0" rIns="239955" bIns="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50000"/>
            </a:lnSpc>
            <a:spcBef>
              <a:spcPct val="0"/>
            </a:spcBef>
            <a:spcAft>
              <a:spcPct val="35000"/>
            </a:spcAft>
          </a:pPr>
          <a:r>
            <a:rPr lang="en-US" altLang="zh-CN" sz="1800" dirty="0">
              <a:ea typeface="宋体" panose="02010600030101010101" pitchFamily="2" charset="-122"/>
            </a:rPr>
            <a:t>Instruction Set Architecture Level</a:t>
          </a:r>
          <a:endParaRPr lang="zh-CN" altLang="en-US" sz="1800" dirty="0"/>
        </a:p>
      </dsp:txBody>
      <dsp:txXfrm>
        <a:off x="453459" y="126022"/>
        <a:ext cx="6348430" cy="232680"/>
      </dsp:txXfrm>
    </dsp:sp>
    <dsp:sp modelId="{50D48B5E-F194-45F6-8F2D-E7485C0328D7}">
      <dsp:nvSpPr>
        <dsp:cNvPr id="8" name="矩形 7"/>
        <dsp:cNvSpPr/>
      </dsp:nvSpPr>
      <dsp:spPr bwMode="white">
        <a:xfrm>
          <a:off x="0" y="1123238"/>
          <a:ext cx="9069186" cy="1054735"/>
        </a:xfrm>
        <a:prstGeom prst="rect">
          <a:avLst/>
        </a:prstGeom>
        <a:noFill/>
        <a:ln>
          <a:solidFill>
            <a:srgbClr val="002060">
              <a:alpha val="56000"/>
            </a:srgbClr>
          </a:solidFill>
        </a:ln>
      </dsp:spPr>
      <dsp:style>
        <a:lnRef idx="1">
          <a:schemeClr val="accent4">
            <a:hueOff val="2325000"/>
            <a:satOff val="12255"/>
            <a:lumOff val="19412"/>
            <a:alpha val="100000"/>
          </a:schemeClr>
        </a:lnRef>
        <a:fillRef idx="1">
          <a:schemeClr val="lt1">
            <a:alpha val="90000"/>
          </a:schemeClr>
        </a:fillRef>
        <a:effectRef idx="0">
          <a:scrgbClr r="0" g="0" b="0"/>
        </a:effectRef>
        <a:fontRef idx="minor"/>
      </dsp:style>
      <dsp:txBody>
        <a:bodyPr lIns="703869" tIns="104139" rIns="703869" bIns="128016" anchor="t"/>
        <a:lstStyle>
          <a:lvl1pPr algn="l">
            <a:defRPr sz="5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marL="171450" lvl="1" indent="-171450">
            <a:lnSpc>
              <a:spcPct val="150000"/>
            </a:lnSpc>
            <a:spcBef>
              <a:spcPct val="0"/>
            </a:spcBef>
            <a:spcAft>
              <a:spcPct val="15000"/>
            </a:spcAft>
            <a:buChar char="•"/>
          </a:pPr>
          <a:r>
            <a:rPr lang="en-US" altLang="zh-CN" sz="1800" dirty="0">
              <a:solidFill>
                <a:schemeClr val="dk1"/>
              </a:solidFill>
              <a:ea typeface="宋体" panose="02010600030101010101" pitchFamily="2" charset="-122"/>
            </a:rPr>
            <a:t>VMWare/Virtual PC/Denali/</a:t>
          </a:r>
          <a:r>
            <a:rPr lang="en-US" altLang="zh-CN" sz="1800" dirty="0" err="1">
              <a:solidFill>
                <a:schemeClr val="dk1"/>
              </a:solidFill>
              <a:ea typeface="宋体" panose="02010600030101010101" pitchFamily="2" charset="-122"/>
            </a:rPr>
            <a:t>Xen</a:t>
          </a:r>
          <a:r>
            <a:rPr lang="en-US" altLang="zh-CN" sz="1800" dirty="0">
              <a:solidFill>
                <a:schemeClr val="dk1"/>
              </a:solidFill>
              <a:ea typeface="宋体" panose="02010600030101010101" pitchFamily="2" charset="-122"/>
            </a:rPr>
            <a:t>/L4/Plex86/User-mode Linux/Cooperative Linux</a:t>
          </a:r>
          <a:endParaRPr>
            <a:solidFill>
              <a:schemeClr val="dk1"/>
            </a:solidFill>
          </a:endParaRPr>
        </a:p>
      </dsp:txBody>
      <dsp:txXfrm>
        <a:off x="0" y="1123238"/>
        <a:ext cx="9069186" cy="1054735"/>
      </dsp:txXfrm>
    </dsp:sp>
    <dsp:sp modelId="{F67C0311-8B15-4517-A120-B2A138E60CF8}">
      <dsp:nvSpPr>
        <dsp:cNvPr id="7" name="圆角矩形 6"/>
        <dsp:cNvSpPr/>
      </dsp:nvSpPr>
      <dsp:spPr bwMode="white">
        <a:xfrm>
          <a:off x="453459" y="964351"/>
          <a:ext cx="6348430" cy="232680"/>
        </a:xfrm>
        <a:prstGeom prst="roundRect">
          <a:avLst/>
        </a:prstGeom>
        <a:gradFill flip="none" rotWithShape="1">
          <a:gsLst>
            <a:gs pos="0">
              <a:srgbClr val="FFFF00">
                <a:alpha val="81000"/>
              </a:srgbClr>
            </a:gs>
            <a:gs pos="50000">
              <a:srgbClr val="9CB86E"/>
            </a:gs>
            <a:gs pos="100000">
              <a:srgbClr val="156B13"/>
            </a:gs>
          </a:gsLst>
          <a:lin ang="6000000" scaled="0"/>
          <a:tileRect/>
        </a:gradFill>
        <a:sp3d prstMaterial="dkEdge">
          <a:bevelT w="8200" h="38100"/>
        </a:sp3d>
      </dsp:spPr>
      <dsp:style>
        <a:lnRef idx="0">
          <a:schemeClr val="lt1"/>
        </a:lnRef>
        <a:fillRef idx="2">
          <a:schemeClr val="accent4">
            <a:hueOff val="2325000"/>
            <a:satOff val="12255"/>
            <a:lumOff val="19412"/>
            <a:alpha val="100000"/>
          </a:schemeClr>
        </a:fillRef>
        <a:effectRef idx="1">
          <a:scrgbClr r="0" g="0" b="0"/>
        </a:effectRef>
        <a:fontRef idx="minor">
          <a:schemeClr val="dk1"/>
        </a:fontRef>
      </dsp:style>
      <dsp:txBody>
        <a:bodyPr lIns="239955" tIns="0" rIns="239955" bIns="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50000"/>
            </a:lnSpc>
            <a:spcBef>
              <a:spcPct val="0"/>
            </a:spcBef>
            <a:spcAft>
              <a:spcPct val="35000"/>
            </a:spcAft>
          </a:pPr>
          <a:r>
            <a:rPr lang="en-US" altLang="zh-CN" sz="1800" dirty="0">
              <a:ea typeface="宋体" panose="02010600030101010101" pitchFamily="2" charset="-122"/>
            </a:rPr>
            <a:t>Hardware Abstraction Layer (HAL) Level</a:t>
          </a:r>
        </a:p>
      </dsp:txBody>
      <dsp:txXfrm>
        <a:off x="453459" y="964351"/>
        <a:ext cx="6348430" cy="232680"/>
      </dsp:txXfrm>
    </dsp:sp>
    <dsp:sp modelId="{AFA4F385-399E-4DE9-B97E-6D11F5F4C634}">
      <dsp:nvSpPr>
        <dsp:cNvPr id="11" name="矩形 10"/>
        <dsp:cNvSpPr/>
      </dsp:nvSpPr>
      <dsp:spPr bwMode="white">
        <a:xfrm>
          <a:off x="0" y="2363852"/>
          <a:ext cx="9069186" cy="643255"/>
        </a:xfrm>
        <a:prstGeom prst="rect">
          <a:avLst/>
        </a:prstGeom>
        <a:noFill/>
        <a:ln>
          <a:solidFill>
            <a:srgbClr val="002060">
              <a:alpha val="56000"/>
            </a:srgbClr>
          </a:solidFill>
        </a:ln>
      </dsp:spPr>
      <dsp:style>
        <a:lnRef idx="1">
          <a:schemeClr val="accent4">
            <a:hueOff val="4650000"/>
            <a:satOff val="24510"/>
            <a:lumOff val="38824"/>
            <a:alpha val="100000"/>
          </a:schemeClr>
        </a:lnRef>
        <a:fillRef idx="1">
          <a:schemeClr val="lt1">
            <a:alpha val="90000"/>
          </a:schemeClr>
        </a:fillRef>
        <a:effectRef idx="0">
          <a:scrgbClr r="0" g="0" b="0"/>
        </a:effectRef>
        <a:fontRef idx="minor"/>
      </dsp:style>
      <dsp:txBody>
        <a:bodyPr lIns="703869" tIns="104139" rIns="703869" bIns="128016" anchor="t"/>
        <a:lstStyle>
          <a:lvl1pPr algn="l">
            <a:defRPr sz="5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marL="171450" lvl="1" indent="-171450">
            <a:lnSpc>
              <a:spcPct val="150000"/>
            </a:lnSpc>
            <a:spcBef>
              <a:spcPct val="0"/>
            </a:spcBef>
            <a:spcAft>
              <a:spcPct val="15000"/>
            </a:spcAft>
            <a:buChar char="•"/>
          </a:pPr>
          <a:r>
            <a:rPr lang="en-US" altLang="zh-CN" sz="1800" dirty="0">
              <a:solidFill>
                <a:schemeClr val="dk1"/>
              </a:solidFill>
              <a:ea typeface="宋体" panose="02010600030101010101" pitchFamily="2" charset="-122"/>
            </a:rPr>
            <a:t>Jail/Virtual Environment/</a:t>
          </a:r>
          <a:r>
            <a:rPr lang="en-US" altLang="zh-CN" sz="1800" dirty="0" err="1">
              <a:solidFill>
                <a:schemeClr val="dk1"/>
              </a:solidFill>
              <a:ea typeface="宋体" panose="02010600030101010101" pitchFamily="2" charset="-122"/>
            </a:rPr>
            <a:t>Ensim’s</a:t>
          </a:r>
          <a:r>
            <a:rPr lang="en-US" altLang="zh-CN" sz="1800" dirty="0">
              <a:solidFill>
                <a:schemeClr val="dk1"/>
              </a:solidFill>
              <a:ea typeface="宋体" panose="02010600030101010101" pitchFamily="2" charset="-122"/>
            </a:rPr>
            <a:t> VPS/FVM</a:t>
          </a:r>
          <a:endParaRPr>
            <a:solidFill>
              <a:schemeClr val="dk1"/>
            </a:solidFill>
          </a:endParaRPr>
        </a:p>
      </dsp:txBody>
      <dsp:txXfrm>
        <a:off x="0" y="2363852"/>
        <a:ext cx="9069186" cy="643255"/>
      </dsp:txXfrm>
    </dsp:sp>
    <dsp:sp modelId="{482DAAED-E7C2-4393-B0C1-4FD392F03493}">
      <dsp:nvSpPr>
        <dsp:cNvPr id="10" name="圆角矩形 9"/>
        <dsp:cNvSpPr/>
      </dsp:nvSpPr>
      <dsp:spPr bwMode="white">
        <a:xfrm>
          <a:off x="453459" y="2212561"/>
          <a:ext cx="6348430" cy="232680"/>
        </a:xfrm>
        <a:prstGeom prst="roundRect">
          <a:avLst/>
        </a:prstGeom>
        <a:gradFill flip="none" rotWithShape="1">
          <a:gsLst>
            <a:gs pos="0">
              <a:srgbClr val="FFFF00">
                <a:alpha val="81000"/>
              </a:srgbClr>
            </a:gs>
            <a:gs pos="50000">
              <a:srgbClr val="9CB86E"/>
            </a:gs>
            <a:gs pos="100000">
              <a:srgbClr val="156B13"/>
            </a:gs>
          </a:gsLst>
          <a:lin ang="6000000" scaled="0"/>
          <a:tileRect/>
        </a:gradFill>
        <a:sp3d prstMaterial="dkEdge">
          <a:bevelT w="8200" h="38100"/>
        </a:sp3d>
      </dsp:spPr>
      <dsp:style>
        <a:lnRef idx="0">
          <a:schemeClr val="lt1"/>
        </a:lnRef>
        <a:fillRef idx="2">
          <a:schemeClr val="accent4">
            <a:hueOff val="4650000"/>
            <a:satOff val="24510"/>
            <a:lumOff val="38824"/>
            <a:alpha val="100000"/>
          </a:schemeClr>
        </a:fillRef>
        <a:effectRef idx="1">
          <a:scrgbClr r="0" g="0" b="0"/>
        </a:effectRef>
        <a:fontRef idx="minor">
          <a:schemeClr val="dk1"/>
        </a:fontRef>
      </dsp:style>
      <dsp:txBody>
        <a:bodyPr lIns="239955" tIns="0" rIns="239955" bIns="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50000"/>
            </a:lnSpc>
            <a:spcBef>
              <a:spcPct val="0"/>
            </a:spcBef>
            <a:spcAft>
              <a:spcPct val="35000"/>
            </a:spcAft>
          </a:pPr>
          <a:r>
            <a:rPr lang="en-US" altLang="zh-CN" sz="1800" dirty="0">
              <a:ea typeface="宋体" panose="02010600030101010101" pitchFamily="2" charset="-122"/>
            </a:rPr>
            <a:t>Operating System Level</a:t>
          </a:r>
        </a:p>
      </dsp:txBody>
      <dsp:txXfrm>
        <a:off x="453459" y="2212561"/>
        <a:ext cx="6348430" cy="232680"/>
      </dsp:txXfrm>
    </dsp:sp>
    <dsp:sp modelId="{4A670F46-352A-489D-AAE2-310876D5E8B9}">
      <dsp:nvSpPr>
        <dsp:cNvPr id="14" name="矩形 13"/>
        <dsp:cNvSpPr/>
      </dsp:nvSpPr>
      <dsp:spPr bwMode="white">
        <a:xfrm>
          <a:off x="0" y="3192987"/>
          <a:ext cx="9069186" cy="643255"/>
        </a:xfrm>
        <a:prstGeom prst="rect">
          <a:avLst/>
        </a:prstGeom>
        <a:noFill/>
        <a:ln>
          <a:solidFill>
            <a:srgbClr val="002060">
              <a:alpha val="56000"/>
            </a:srgbClr>
          </a:solidFill>
        </a:ln>
      </dsp:spPr>
      <dsp:style>
        <a:lnRef idx="1">
          <a:schemeClr val="accent4">
            <a:hueOff val="6975000"/>
            <a:satOff val="36765"/>
            <a:lumOff val="58235"/>
            <a:alpha val="100000"/>
          </a:schemeClr>
        </a:lnRef>
        <a:fillRef idx="1">
          <a:schemeClr val="lt1">
            <a:alpha val="90000"/>
          </a:schemeClr>
        </a:fillRef>
        <a:effectRef idx="0">
          <a:scrgbClr r="0" g="0" b="0"/>
        </a:effectRef>
        <a:fontRef idx="minor"/>
      </dsp:style>
      <dsp:txBody>
        <a:bodyPr lIns="703869" tIns="104139" rIns="703869" bIns="128016" anchor="t"/>
        <a:lstStyle>
          <a:lvl1pPr algn="l">
            <a:defRPr sz="5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marL="171450" lvl="1" indent="-171450">
            <a:lnSpc>
              <a:spcPct val="150000"/>
            </a:lnSpc>
            <a:spcBef>
              <a:spcPct val="0"/>
            </a:spcBef>
            <a:spcAft>
              <a:spcPct val="15000"/>
            </a:spcAft>
            <a:buChar char="•"/>
          </a:pPr>
          <a:r>
            <a:rPr lang="en-US" altLang="zh-CN" sz="1800" dirty="0">
              <a:solidFill>
                <a:schemeClr val="dk1"/>
              </a:solidFill>
              <a:ea typeface="宋体" panose="02010600030101010101" pitchFamily="2" charset="-122"/>
            </a:rPr>
            <a:t>Wine/WABI/</a:t>
          </a:r>
          <a:r>
            <a:rPr lang="en-US" altLang="zh-CN" sz="1800" dirty="0" err="1">
              <a:solidFill>
                <a:schemeClr val="dk1"/>
              </a:solidFill>
              <a:ea typeface="宋体" panose="02010600030101010101" pitchFamily="2" charset="-122"/>
            </a:rPr>
            <a:t>LxRun</a:t>
          </a:r>
          <a:r>
            <a:rPr lang="en-US" altLang="zh-CN" sz="1800" dirty="0">
              <a:solidFill>
                <a:schemeClr val="dk1"/>
              </a:solidFill>
              <a:ea typeface="宋体" panose="02010600030101010101" pitchFamily="2" charset="-122"/>
            </a:rPr>
            <a:t>/Visual </a:t>
          </a:r>
          <a:r>
            <a:rPr lang="en-US" altLang="zh-CN" sz="1800" dirty="0" err="1">
              <a:solidFill>
                <a:schemeClr val="dk1"/>
              </a:solidFill>
              <a:ea typeface="宋体" panose="02010600030101010101" pitchFamily="2" charset="-122"/>
            </a:rPr>
            <a:t>MainWin</a:t>
          </a:r>
          <a:r>
            <a:rPr lang="en-US" altLang="zh-CN" sz="1800" dirty="0">
              <a:solidFill>
                <a:schemeClr val="dk1"/>
              </a:solidFill>
              <a:ea typeface="宋体" panose="02010600030101010101" pitchFamily="2" charset="-122"/>
            </a:rPr>
            <a:t> </a:t>
          </a:r>
          <a:endParaRPr>
            <a:solidFill>
              <a:schemeClr val="dk1"/>
            </a:solidFill>
          </a:endParaRPr>
        </a:p>
      </dsp:txBody>
      <dsp:txXfrm>
        <a:off x="0" y="3192987"/>
        <a:ext cx="9069186" cy="643255"/>
      </dsp:txXfrm>
    </dsp:sp>
    <dsp:sp modelId="{72BA0880-AB23-49F4-8305-762DEE05E14C}">
      <dsp:nvSpPr>
        <dsp:cNvPr id="13" name="圆角矩形 12"/>
        <dsp:cNvSpPr/>
      </dsp:nvSpPr>
      <dsp:spPr bwMode="white">
        <a:xfrm>
          <a:off x="453459" y="3034100"/>
          <a:ext cx="6348430" cy="232680"/>
        </a:xfrm>
        <a:prstGeom prst="roundRect">
          <a:avLst/>
        </a:prstGeom>
        <a:gradFill flip="none" rotWithShape="1">
          <a:gsLst>
            <a:gs pos="0">
              <a:srgbClr val="FFFF00">
                <a:alpha val="81000"/>
              </a:srgbClr>
            </a:gs>
            <a:gs pos="50000">
              <a:srgbClr val="9CB86E"/>
            </a:gs>
            <a:gs pos="100000">
              <a:srgbClr val="156B13"/>
            </a:gs>
          </a:gsLst>
          <a:lin ang="6000000" scaled="0"/>
          <a:tileRect/>
        </a:gradFill>
        <a:sp3d prstMaterial="dkEdge">
          <a:bevelT w="8200" h="38100"/>
        </a:sp3d>
      </dsp:spPr>
      <dsp:style>
        <a:lnRef idx="0">
          <a:schemeClr val="lt1"/>
        </a:lnRef>
        <a:fillRef idx="2">
          <a:schemeClr val="accent4">
            <a:hueOff val="6975000"/>
            <a:satOff val="36765"/>
            <a:lumOff val="58235"/>
            <a:alpha val="100000"/>
          </a:schemeClr>
        </a:fillRef>
        <a:effectRef idx="1">
          <a:scrgbClr r="0" g="0" b="0"/>
        </a:effectRef>
        <a:fontRef idx="minor">
          <a:schemeClr val="dk1"/>
        </a:fontRef>
      </dsp:style>
      <dsp:txBody>
        <a:bodyPr lIns="239955" tIns="0" rIns="239955" bIns="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50000"/>
            </a:lnSpc>
            <a:spcBef>
              <a:spcPct val="0"/>
            </a:spcBef>
            <a:spcAft>
              <a:spcPct val="35000"/>
            </a:spcAft>
          </a:pPr>
          <a:r>
            <a:rPr lang="en-US" altLang="zh-CN" sz="1800" dirty="0">
              <a:ea typeface="宋体" panose="02010600030101010101" pitchFamily="2" charset="-122"/>
            </a:rPr>
            <a:t>Library (user-level API) Level </a:t>
          </a:r>
        </a:p>
      </dsp:txBody>
      <dsp:txXfrm>
        <a:off x="453459" y="3034100"/>
        <a:ext cx="6348430" cy="232680"/>
      </dsp:txXfrm>
    </dsp:sp>
    <dsp:sp modelId="{E7DE56F9-BF36-4AC7-A1AA-A46D0CB5E074}">
      <dsp:nvSpPr>
        <dsp:cNvPr id="17" name="矩形 16"/>
        <dsp:cNvSpPr/>
      </dsp:nvSpPr>
      <dsp:spPr bwMode="white">
        <a:xfrm>
          <a:off x="0" y="4022121"/>
          <a:ext cx="9069186" cy="643255"/>
        </a:xfrm>
        <a:prstGeom prst="rect">
          <a:avLst/>
        </a:prstGeom>
        <a:noFill/>
        <a:ln>
          <a:solidFill>
            <a:srgbClr val="002060">
              <a:alpha val="56000"/>
            </a:srgbClr>
          </a:solidFill>
        </a:ln>
      </dsp:spPr>
      <dsp:style>
        <a:lnRef idx="1">
          <a:schemeClr val="accent4">
            <a:hueOff val="9300000"/>
            <a:satOff val="49020"/>
            <a:lumOff val="77647"/>
            <a:alpha val="100000"/>
          </a:schemeClr>
        </a:lnRef>
        <a:fillRef idx="1">
          <a:schemeClr val="lt1">
            <a:alpha val="90000"/>
          </a:schemeClr>
        </a:fillRef>
        <a:effectRef idx="0">
          <a:scrgbClr r="0" g="0" b="0"/>
        </a:effectRef>
        <a:fontRef idx="minor"/>
      </dsp:style>
      <dsp:txBody>
        <a:bodyPr lIns="703869" tIns="104139" rIns="703869" bIns="128016" anchor="t"/>
        <a:lstStyle>
          <a:lvl1pPr algn="l">
            <a:defRPr sz="500"/>
          </a:lvl1pPr>
          <a:lvl2pPr marL="57150" indent="-57150" algn="l">
            <a:defRPr sz="500"/>
          </a:lvl2pPr>
          <a:lvl3pPr marL="114300" indent="-57150" algn="l">
            <a:defRPr sz="500"/>
          </a:lvl3pPr>
          <a:lvl4pPr marL="171450" indent="-57150" algn="l">
            <a:defRPr sz="500"/>
          </a:lvl4pPr>
          <a:lvl5pPr marL="228600" indent="-57150" algn="l">
            <a:defRPr sz="500"/>
          </a:lvl5pPr>
          <a:lvl6pPr marL="285750" indent="-57150" algn="l">
            <a:defRPr sz="500"/>
          </a:lvl6pPr>
          <a:lvl7pPr marL="342900" indent="-57150" algn="l">
            <a:defRPr sz="500"/>
          </a:lvl7pPr>
          <a:lvl8pPr marL="400050" indent="-57150" algn="l">
            <a:defRPr sz="500"/>
          </a:lvl8pPr>
          <a:lvl9pPr marL="457200" indent="-57150" algn="l">
            <a:defRPr sz="500"/>
          </a:lvl9pPr>
        </a:lstStyle>
        <a:p>
          <a:pPr marL="171450" lvl="1" indent="-171450">
            <a:lnSpc>
              <a:spcPct val="150000"/>
            </a:lnSpc>
            <a:spcBef>
              <a:spcPct val="0"/>
            </a:spcBef>
            <a:spcAft>
              <a:spcPct val="15000"/>
            </a:spcAft>
            <a:buChar char="•"/>
          </a:pPr>
          <a:r>
            <a:rPr lang="en-US" altLang="zh-CN" sz="1800" dirty="0">
              <a:solidFill>
                <a:schemeClr val="dk1"/>
              </a:solidFill>
              <a:ea typeface="宋体" panose="02010600030101010101" pitchFamily="2" charset="-122"/>
            </a:rPr>
            <a:t>JVM/.NET CLI/Parrot</a:t>
          </a:r>
          <a:endParaRPr>
            <a:solidFill>
              <a:schemeClr val="dk1"/>
            </a:solidFill>
          </a:endParaRPr>
        </a:p>
      </dsp:txBody>
      <dsp:txXfrm>
        <a:off x="0" y="4022121"/>
        <a:ext cx="9069186" cy="643255"/>
      </dsp:txXfrm>
    </dsp:sp>
    <dsp:sp modelId="{DE312A2E-A3FE-4628-91FF-D2368DFFB8DF}">
      <dsp:nvSpPr>
        <dsp:cNvPr id="16" name="圆角矩形 15"/>
        <dsp:cNvSpPr/>
      </dsp:nvSpPr>
      <dsp:spPr bwMode="white">
        <a:xfrm>
          <a:off x="453459" y="3848045"/>
          <a:ext cx="6348430" cy="232680"/>
        </a:xfrm>
        <a:prstGeom prst="roundRect">
          <a:avLst/>
        </a:prstGeom>
        <a:gradFill flip="none" rotWithShape="1">
          <a:gsLst>
            <a:gs pos="0">
              <a:srgbClr val="FFFF00">
                <a:alpha val="81000"/>
              </a:srgbClr>
            </a:gs>
            <a:gs pos="50000">
              <a:srgbClr val="9CB86E"/>
            </a:gs>
            <a:gs pos="100000">
              <a:srgbClr val="156B13"/>
            </a:gs>
          </a:gsLst>
          <a:lin ang="6000000" scaled="0"/>
          <a:tileRect/>
        </a:gradFill>
        <a:sp3d prstMaterial="dkEdge">
          <a:bevelT w="8200" h="38100"/>
        </a:sp3d>
      </dsp:spPr>
      <dsp:style>
        <a:lnRef idx="0">
          <a:schemeClr val="lt1"/>
        </a:lnRef>
        <a:fillRef idx="2">
          <a:schemeClr val="accent4">
            <a:hueOff val="9300000"/>
            <a:satOff val="49020"/>
            <a:lumOff val="77647"/>
            <a:alpha val="100000"/>
          </a:schemeClr>
        </a:fillRef>
        <a:effectRef idx="1">
          <a:scrgbClr r="0" g="0" b="0"/>
        </a:effectRef>
        <a:fontRef idx="minor">
          <a:schemeClr val="dk1"/>
        </a:fontRef>
      </dsp:style>
      <dsp:txBody>
        <a:bodyPr lIns="239955" tIns="0" rIns="239955" bIns="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50000"/>
            </a:lnSpc>
            <a:spcBef>
              <a:spcPct val="0"/>
            </a:spcBef>
            <a:spcAft>
              <a:spcPct val="35000"/>
            </a:spcAft>
          </a:pPr>
          <a:r>
            <a:rPr lang="en-US" altLang="zh-CN" sz="1800" dirty="0">
              <a:ea typeface="宋体" panose="02010600030101010101" pitchFamily="2" charset="-122"/>
            </a:rPr>
            <a:t>Application (Programming Language) Level</a:t>
          </a:r>
        </a:p>
      </dsp:txBody>
      <dsp:txXfrm>
        <a:off x="453459" y="3848045"/>
        <a:ext cx="6348430" cy="232680"/>
      </dsp:txXfrm>
    </dsp:sp>
    <dsp:sp modelId="{136B3EA5-6D5B-4CE4-8A2B-725850E7C361}">
      <dsp:nvSpPr>
        <dsp:cNvPr id="3" name="矩形 2" hidden="1"/>
        <dsp:cNvSpPr/>
      </dsp:nvSpPr>
      <dsp:spPr>
        <a:xfrm>
          <a:off x="0" y="135224"/>
          <a:ext cx="453459" cy="232680"/>
        </a:xfrm>
        <a:prstGeom prst="rect">
          <a:avLst/>
        </a:prstGeom>
      </dsp:spPr>
      <dsp:txXfrm>
        <a:off x="0" y="135224"/>
        <a:ext cx="453459" cy="232680"/>
      </dsp:txXfrm>
    </dsp:sp>
    <dsp:sp modelId="{3BD529DF-C986-4574-ADCD-AFB911CFF969}">
      <dsp:nvSpPr>
        <dsp:cNvPr id="6" name="矩形 5" hidden="1"/>
        <dsp:cNvSpPr/>
      </dsp:nvSpPr>
      <dsp:spPr>
        <a:xfrm>
          <a:off x="0" y="964358"/>
          <a:ext cx="453459" cy="232680"/>
        </a:xfrm>
        <a:prstGeom prst="rect">
          <a:avLst/>
        </a:prstGeom>
      </dsp:spPr>
      <dsp:txXfrm>
        <a:off x="0" y="964358"/>
        <a:ext cx="453459" cy="232680"/>
      </dsp:txXfrm>
    </dsp:sp>
    <dsp:sp modelId="{6A65E00F-1BBA-453F-939C-E6FD6BE780BA}">
      <dsp:nvSpPr>
        <dsp:cNvPr id="9" name="矩形 8" hidden="1"/>
        <dsp:cNvSpPr/>
      </dsp:nvSpPr>
      <dsp:spPr>
        <a:xfrm>
          <a:off x="0" y="2204973"/>
          <a:ext cx="453459" cy="232680"/>
        </a:xfrm>
        <a:prstGeom prst="rect">
          <a:avLst/>
        </a:prstGeom>
      </dsp:spPr>
      <dsp:txXfrm>
        <a:off x="0" y="2204973"/>
        <a:ext cx="453459" cy="232680"/>
      </dsp:txXfrm>
    </dsp:sp>
    <dsp:sp modelId="{691C4263-7146-4AA6-A5C5-194BE721628A}">
      <dsp:nvSpPr>
        <dsp:cNvPr id="12" name="矩形 11" hidden="1"/>
        <dsp:cNvSpPr/>
      </dsp:nvSpPr>
      <dsp:spPr>
        <a:xfrm>
          <a:off x="0" y="3034107"/>
          <a:ext cx="453459" cy="232680"/>
        </a:xfrm>
        <a:prstGeom prst="rect">
          <a:avLst/>
        </a:prstGeom>
      </dsp:spPr>
      <dsp:txXfrm>
        <a:off x="0" y="3034107"/>
        <a:ext cx="453459" cy="232680"/>
      </dsp:txXfrm>
    </dsp:sp>
    <dsp:sp modelId="{FE3045C9-CFA1-4C07-9BE5-67CBDB9A29FC}">
      <dsp:nvSpPr>
        <dsp:cNvPr id="15" name="矩形 14" hidden="1"/>
        <dsp:cNvSpPr/>
      </dsp:nvSpPr>
      <dsp:spPr>
        <a:xfrm>
          <a:off x="0" y="3863242"/>
          <a:ext cx="453459" cy="232680"/>
        </a:xfrm>
        <a:prstGeom prst="rect">
          <a:avLst/>
        </a:prstGeom>
      </dsp:spPr>
      <dsp:txXfrm>
        <a:off x="0" y="3863242"/>
        <a:ext cx="453459" cy="232680"/>
      </dsp:txXfrm>
    </dsp:sp>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83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83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83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83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前一章：面向通信的分布式系统</a:t>
            </a:r>
            <a:r>
              <a:rPr lang="zh-CN" altLang="en-US"/>
              <a:t>泛型；</a:t>
            </a:r>
            <a:endParaRPr lang="zh-CN" altLang="en-US"/>
          </a:p>
          <a:p>
            <a:r>
              <a:rPr lang="zh-CN" altLang="en-US"/>
              <a:t>通信发生在进程</a:t>
            </a:r>
            <a:r>
              <a:rPr lang="zh-CN" altLang="en-US"/>
              <a:t>之间；</a:t>
            </a:r>
            <a:endParaRPr lang="zh-CN" altLang="en-US"/>
          </a:p>
          <a:p>
            <a:r>
              <a:rPr lang="zh-CN" altLang="en-US"/>
              <a:t>本章：分布式系统中，进程扮演的</a:t>
            </a:r>
            <a:r>
              <a:rPr lang="zh-CN" altLang="en-US"/>
              <a:t>角色；</a:t>
            </a:r>
            <a:endParaRPr lang="zh-CN" altLang="en-US"/>
          </a:p>
          <a:p>
            <a:endParaRPr lang="zh-CN" altLang="en-US"/>
          </a:p>
          <a:p>
            <a:r>
              <a:rPr lang="zh-CN" altLang="en-US"/>
              <a:t>大纲：进程，</a:t>
            </a:r>
            <a:r>
              <a:rPr lang="zh-CN" altLang="en-US"/>
              <a:t>线程，</a:t>
            </a:r>
            <a:endParaRPr lang="zh-CN" altLang="en-US"/>
          </a:p>
          <a:p>
            <a:endParaRPr lang="zh-CN" altLang="en-US"/>
          </a:p>
          <a:p>
            <a:r>
              <a:rPr lang="en-US" altLang="zh-CN"/>
              <a:t>client-server</a:t>
            </a:r>
            <a:r>
              <a:rPr lang="zh-CN" altLang="en-US"/>
              <a:t>泛型下的多线程技术；目的：通信和处理并行，</a:t>
            </a:r>
            <a:r>
              <a:rPr lang="zh-CN" altLang="en-US"/>
              <a:t>提高效率；</a:t>
            </a:r>
            <a:endParaRPr lang="zh-CN" altLang="en-US"/>
          </a:p>
          <a:p>
            <a:endParaRPr lang="zh-CN" altLang="en-US"/>
          </a:p>
          <a:p>
            <a:r>
              <a:rPr lang="zh-CN" altLang="en-US"/>
              <a:t>进程固定</a:t>
            </a:r>
            <a:r>
              <a:rPr lang="en-US" altLang="zh-CN"/>
              <a:t>-</a:t>
            </a:r>
            <a:r>
              <a:rPr lang="zh-CN" altLang="en-US"/>
              <a:t>进程迁移，目的：负载</a:t>
            </a:r>
            <a:r>
              <a:rPr lang="zh-CN" altLang="en-US"/>
              <a:t>均衡；提升</a:t>
            </a:r>
            <a:r>
              <a:rPr lang="zh-CN" altLang="en-US"/>
              <a:t>效率；</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b="1" dirty="0">
                <a:ea typeface="宋体" panose="02010600030101010101" pitchFamily="2" charset="-122"/>
                <a:sym typeface="+mn-ea"/>
              </a:rPr>
              <a:t>进程，线程：操作系统概念，进程调度和管理，操作系统最重要</a:t>
            </a:r>
            <a:r>
              <a:rPr lang="zh-CN" altLang="en-US" b="1" dirty="0">
                <a:ea typeface="宋体" panose="02010600030101010101" pitchFamily="2" charset="-122"/>
                <a:sym typeface="+mn-ea"/>
              </a:rPr>
              <a:t>概念</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进程</a:t>
            </a:r>
            <a:r>
              <a:rPr lang="en-US" altLang="zh-CN" b="1" dirty="0">
                <a:ea typeface="宋体" panose="02010600030101010101" pitchFamily="2" charset="-122"/>
                <a:sym typeface="+mn-ea"/>
              </a:rPr>
              <a:t>+</a:t>
            </a:r>
            <a:r>
              <a:rPr lang="zh-CN" altLang="en-US" b="1" dirty="0">
                <a:ea typeface="宋体" panose="02010600030101010101" pitchFamily="2" charset="-122"/>
                <a:sym typeface="+mn-ea"/>
              </a:rPr>
              <a:t>线程：程序运行时的形态；</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进程间：隔离性强，</a:t>
            </a:r>
            <a:r>
              <a:rPr lang="zh-CN" altLang="en-US" b="1" dirty="0">
                <a:ea typeface="宋体" panose="02010600030101010101" pitchFamily="2" charset="-122"/>
                <a:sym typeface="+mn-ea"/>
              </a:rPr>
              <a:t>互不干扰；</a:t>
            </a:r>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线程：一个进程内又分为多个线程；只面向</a:t>
            </a:r>
            <a:r>
              <a:rPr lang="en-US" altLang="zh-CN" b="1" dirty="0">
                <a:ea typeface="宋体" panose="02010600030101010101" pitchFamily="2" charset="-122"/>
                <a:sym typeface="+mn-ea"/>
              </a:rPr>
              <a:t>CPU</a:t>
            </a:r>
            <a:r>
              <a:rPr lang="zh-CN" altLang="en-US" b="1" dirty="0">
                <a:ea typeface="宋体" panose="02010600030101010101" pitchFamily="2" charset="-122"/>
                <a:sym typeface="+mn-ea"/>
              </a:rPr>
              <a:t>，为了并行处理多个</a:t>
            </a:r>
            <a:r>
              <a:rPr lang="zh-CN" altLang="en-US" b="1" dirty="0">
                <a:ea typeface="宋体" panose="02010600030101010101" pitchFamily="2" charset="-122"/>
                <a:sym typeface="+mn-ea"/>
              </a:rPr>
              <a:t>计算任务</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线程：同一地址</a:t>
            </a:r>
            <a:r>
              <a:rPr lang="zh-CN" altLang="en-US" b="1" dirty="0">
                <a:ea typeface="宋体" panose="02010600030101010101" pitchFamily="2" charset="-122"/>
                <a:sym typeface="+mn-ea"/>
              </a:rPr>
              <a:t>空间？</a:t>
            </a:r>
            <a:endParaRPr lang="zh-CN" altLang="en-US" b="1" dirty="0">
              <a:ea typeface="宋体" panose="02010600030101010101" pitchFamily="2" charset="-122"/>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b="1" dirty="0">
                <a:ea typeface="宋体" panose="02010600030101010101" pitchFamily="2" charset="-122"/>
                <a:sym typeface="+mn-ea"/>
              </a:rPr>
              <a:t>提高进程执行效率，不必使进程因等待某事件而阻塞：线程实现细粒度并发或并行；</a:t>
            </a:r>
            <a:r>
              <a:rPr lang="en-US" altLang="zh-CN" b="1" dirty="0">
                <a:ea typeface="宋体" panose="02010600030101010101" pitchFamily="2" charset="-122"/>
                <a:sym typeface="+mn-ea"/>
              </a:rPr>
              <a:t>server</a:t>
            </a:r>
            <a:r>
              <a:rPr lang="zh-CN" altLang="en-US" b="1" dirty="0">
                <a:ea typeface="宋体" panose="02010600030101010101" pitchFamily="2" charset="-122"/>
                <a:sym typeface="+mn-ea"/>
              </a:rPr>
              <a:t>举例：监听和后台处理无法</a:t>
            </a:r>
            <a:r>
              <a:rPr lang="zh-CN" altLang="en-US" b="1" dirty="0">
                <a:ea typeface="宋体" panose="02010600030101010101" pitchFamily="2" charset="-122"/>
                <a:sym typeface="+mn-ea"/>
              </a:rPr>
              <a:t>并行</a:t>
            </a:r>
            <a:endParaRPr lang="zh-CN" altLang="en-US" b="1" dirty="0">
              <a:ea typeface="宋体" panose="02010600030101010101" pitchFamily="2" charset="-122"/>
              <a:sym typeface="+mn-ea"/>
            </a:endParaRPr>
          </a:p>
          <a:p>
            <a:endParaRPr lang="zh-CN" altLang="en-US"/>
          </a:p>
          <a:p>
            <a:r>
              <a:rPr lang="zh-CN" altLang="en-US"/>
              <a:t>更好的利用多核架构：</a:t>
            </a:r>
            <a:r>
              <a:rPr lang="zh-CN" altLang="en-US" b="1" dirty="0">
                <a:ea typeface="宋体" panose="02010600030101010101" pitchFamily="2" charset="-122"/>
                <a:sym typeface="+mn-ea"/>
              </a:rPr>
              <a:t>多处理</a:t>
            </a:r>
            <a:r>
              <a:rPr lang="en-US" altLang="zh-CN" b="1" dirty="0">
                <a:ea typeface="宋体" panose="02010600030101010101" pitchFamily="2" charset="-122"/>
                <a:sym typeface="+mn-ea"/>
              </a:rPr>
              <a:t>/</a:t>
            </a:r>
            <a:r>
              <a:rPr lang="zh-CN" altLang="en-US" b="1" dirty="0">
                <a:ea typeface="宋体" panose="02010600030101010101" pitchFamily="2" charset="-122"/>
                <a:sym typeface="+mn-ea"/>
              </a:rPr>
              <a:t>多核线程并行执行</a:t>
            </a:r>
            <a:r>
              <a:rPr lang="en-US" altLang="zh-CN" b="1" dirty="0">
                <a:ea typeface="宋体" panose="02010600030101010101" pitchFamily="2" charset="-122"/>
                <a:sym typeface="+mn-ea"/>
              </a:rPr>
              <a:t>;</a:t>
            </a:r>
            <a:r>
              <a:rPr lang="zh-CN" altLang="en-US" b="1" dirty="0">
                <a:ea typeface="宋体" panose="02010600030101010101" pitchFamily="2" charset="-122"/>
                <a:sym typeface="+mn-ea"/>
              </a:rPr>
              <a:t>？？多线程自动分配</a:t>
            </a:r>
            <a:r>
              <a:rPr lang="en-US" altLang="zh-CN" b="1" dirty="0">
                <a:ea typeface="宋体" panose="02010600030101010101" pitchFamily="2" charset="-122"/>
                <a:sym typeface="+mn-ea"/>
              </a:rPr>
              <a:t>CPU</a:t>
            </a:r>
            <a:r>
              <a:rPr lang="zh-CN" altLang="en-US" b="1" dirty="0">
                <a:ea typeface="宋体" panose="02010600030101010101" pitchFamily="2" charset="-122"/>
                <a:sym typeface="+mn-ea"/>
              </a:rPr>
              <a:t>？</a:t>
            </a:r>
            <a:endParaRPr lang="en-US" altLang="zh-CN" b="1" dirty="0">
              <a:ea typeface="宋体" panose="02010600030101010101" pitchFamily="2" charset="-122"/>
              <a:sym typeface="+mn-ea"/>
            </a:endParaRPr>
          </a:p>
          <a:p>
            <a:endParaRPr lang="en-US" altLang="zh-CN" b="1" dirty="0">
              <a:ea typeface="宋体" panose="02010600030101010101" pitchFamily="2" charset="-122"/>
              <a:sym typeface="+mn-ea"/>
            </a:endParaRPr>
          </a:p>
          <a:p>
            <a:r>
              <a:rPr lang="zh-CN" altLang="en-US" b="1" dirty="0">
                <a:ea typeface="宋体" panose="02010600030101010101" pitchFamily="2" charset="-122"/>
                <a:sym typeface="+mn-ea"/>
              </a:rPr>
              <a:t>不需要上下文切换：</a:t>
            </a:r>
            <a:r>
              <a:rPr lang="en-US" altLang="zh-CN" b="1" dirty="0">
                <a:ea typeface="宋体" panose="02010600030101010101" pitchFamily="2" charset="-122"/>
                <a:sym typeface="+mn-ea"/>
              </a:rPr>
              <a:t>ITC</a:t>
            </a:r>
            <a:r>
              <a:rPr lang="zh-CN" altLang="en-US" b="1" dirty="0">
                <a:ea typeface="宋体" panose="02010600030101010101" pitchFamily="2" charset="-122"/>
                <a:sym typeface="+mn-ea"/>
              </a:rPr>
              <a:t>可通过数据共享实现；进程间通信的原语封装为系统调用（信号量，</a:t>
            </a:r>
            <a:r>
              <a:rPr lang="zh-CN" altLang="en-US" b="1" dirty="0">
                <a:ea typeface="宋体" panose="02010600030101010101" pitchFamily="2" charset="-122"/>
                <a:sym typeface="+mn-ea"/>
              </a:rPr>
              <a:t>管程）；（好处：进程间同步由操作系统管理，进程多，需要系统统一</a:t>
            </a:r>
            <a:r>
              <a:rPr lang="zh-CN" altLang="en-US" b="1" dirty="0">
                <a:ea typeface="宋体" panose="02010600030101010101" pitchFamily="2" charset="-122"/>
                <a:sym typeface="+mn-ea"/>
              </a:rPr>
              <a:t>管理）</a:t>
            </a:r>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线程</a:t>
            </a:r>
            <a:r>
              <a:rPr lang="zh-CN" altLang="en-US" b="1" dirty="0">
                <a:ea typeface="宋体" panose="02010600030101010101" pitchFamily="2" charset="-122"/>
                <a:sym typeface="+mn-ea"/>
              </a:rPr>
              <a:t>（线程间同步需要编程实现，复杂，线程数</a:t>
            </a:r>
            <a:r>
              <a:rPr lang="zh-CN" altLang="en-US" b="1" dirty="0">
                <a:ea typeface="宋体" panose="02010600030101010101" pitchFamily="2" charset="-122"/>
                <a:sym typeface="+mn-ea"/>
              </a:rPr>
              <a:t>少）</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应用逻辑需要一组相互协作的任务完成：举例？？</a:t>
            </a:r>
            <a:endParaRPr lang="zh-CN" altLang="en-US" b="1" dirty="0">
              <a:ea typeface="宋体" panose="02010600030101010101" pitchFamily="2" charset="-122"/>
              <a:sym typeface="+mn-ea"/>
            </a:endParaRPr>
          </a:p>
          <a:p>
            <a:endParaRPr lang="zh-CN" altLang="en-US" b="1" dirty="0">
              <a:ea typeface="宋体" panose="02010600030101010101" pitchFamily="2" charset="-122"/>
              <a:sym typeface="+mn-ea"/>
            </a:endParaRPr>
          </a:p>
          <a:p>
            <a:r>
              <a:rPr lang="zh-CN" altLang="en-US" b="1" dirty="0">
                <a:ea typeface="宋体" panose="02010600030101010101" pitchFamily="2" charset="-122"/>
                <a:sym typeface="+mn-ea"/>
              </a:rPr>
              <a:t>？？？</a:t>
            </a:r>
            <a:endParaRPr lang="en-US" altLang="zh-CN" b="1" dirty="0">
              <a:ea typeface="宋体" panose="02010600030101010101" pitchFamily="2" charset="-12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dirty="0">
                <a:ea typeface="宋体" panose="02010600030101010101" pitchFamily="2" charset="-122"/>
                <a:sym typeface="+mn-ea"/>
              </a:rPr>
              <a:t>JAVA</a:t>
            </a:r>
            <a:r>
              <a:rPr lang="zh-CN" altLang="en-US" dirty="0">
                <a:ea typeface="宋体" panose="02010600030101010101" pitchFamily="2" charset="-122"/>
                <a:sym typeface="+mn-ea"/>
              </a:rPr>
              <a:t>，死锁</a:t>
            </a:r>
            <a:endParaRPr lang="en-US" altLang="zh-CN" dirty="0">
              <a:ea typeface="宋体" panose="02010600030101010101" pitchFamily="2" charset="-122"/>
              <a:sym typeface="+mn-ea"/>
            </a:endParaRPr>
          </a:p>
          <a:p>
            <a:endParaRPr lang="en-US" altLang="zh-CN" dirty="0">
              <a:ea typeface="宋体" panose="02010600030101010101" pitchFamily="2" charset="-122"/>
              <a:sym typeface="+mn-ea"/>
            </a:endParaRPr>
          </a:p>
          <a:p>
            <a:endParaRPr lang="zh-CN" altLang="en-US" dirty="0">
              <a:ea typeface="宋体" panose="02010600030101010101" pitchFamily="2" charset="-122"/>
              <a:sym typeface="+mn-ea"/>
            </a:endParaRP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上下文切换代价小，容易造成整个进程的阻塞？？？</a:t>
            </a:r>
            <a:endParaRPr lang="zh-CN" altLang="en-US" dirty="0">
              <a:ea typeface="宋体" panose="02010600030101010101" pitchFamily="2" charset="-122"/>
              <a:sym typeface="+mn-ea"/>
            </a:endParaRPr>
          </a:p>
          <a:p>
            <a:endParaRPr lang="zh-CN" altLang="en-US"/>
          </a:p>
          <a:p>
            <a:r>
              <a:rPr lang="zh-CN" altLang="en-US" dirty="0">
                <a:ea typeface="宋体" panose="02010600030101010101" pitchFamily="2" charset="-122"/>
                <a:sym typeface="+mn-ea"/>
              </a:rPr>
              <a:t>不会导致进程的阻塞，上下文切换代价高</a:t>
            </a:r>
            <a:r>
              <a:rPr lang="en-US" altLang="zh-CN" dirty="0">
                <a:ea typeface="宋体" panose="02010600030101010101" pitchFamily="2" charset="-122"/>
                <a:sym typeface="+mn-ea"/>
              </a:rPr>
              <a:t>?</a:t>
            </a:r>
            <a:r>
              <a:rPr lang="zh-CN" altLang="en-US" dirty="0">
                <a:ea typeface="宋体" panose="02010600030101010101" pitchFamily="2" charset="-122"/>
                <a:sym typeface="+mn-ea"/>
              </a:rPr>
              <a:t>？？</a:t>
            </a:r>
            <a:endParaRPr lang="en-US" altLang="zh-CN" dirty="0">
              <a:ea typeface="宋体" panose="02010600030101010101" pitchFamily="2" charset="-122"/>
              <a:sym typeface="+mn-ea"/>
            </a:endParaRPr>
          </a:p>
          <a:p>
            <a:endParaRPr lang="en-US" altLang="zh-CN" dirty="0">
              <a:ea typeface="宋体" panose="02010600030101010101" pitchFamily="2" charset="-122"/>
              <a:sym typeface="+mn-ea"/>
            </a:endParaRPr>
          </a:p>
          <a:p>
            <a:r>
              <a:rPr lang="en-US" altLang="zh-CN" dirty="0">
                <a:ea typeface="宋体" panose="02010600030101010101" pitchFamily="2" charset="-122"/>
                <a:sym typeface="+mn-ea"/>
              </a:rPr>
              <a:t>LWP?</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8195" name="Rectangle 2"/>
          <p:cNvSpPr>
            <a:spLocks noRot="1" noTextEdit="1"/>
          </p:cNvSpPr>
          <p:nvPr>
            <p:ph type="sldImg"/>
          </p:nvPr>
        </p:nvSpPr>
        <p:spPr/>
      </p:sp>
      <p:sp>
        <p:nvSpPr>
          <p:cNvPr id="8196" name="Rectangle 3"/>
          <p:cNvSpPr>
            <a:spLocks noGrp="1"/>
          </p:cNvSpPr>
          <p:nvPr>
            <p:ph type="body"/>
          </p:nvPr>
        </p:nvSpPr>
        <p:spPr/>
        <p:txBody>
          <a:bodyPr wrap="square" lIns="91440" tIns="45720" rIns="91440" bIns="45720" anchor="t" anchorCtr="0"/>
          <a:p>
            <a:pPr lvl="0" eaLnBrk="1" hangingPunct="1"/>
            <a:r>
              <a:rPr lang="en-US" altLang="zh-CN" dirty="0">
                <a:latin typeface="Book Antiqua" panose="02040602050305030304" pitchFamily="18" charset="0"/>
                <a:ea typeface="宋体" panose="02010600030101010101" pitchFamily="2" charset="-122"/>
                <a:sym typeface="+mn-ea"/>
              </a:rPr>
              <a:t>data packet?</a:t>
            </a:r>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0243" name="Rectangle 2"/>
          <p:cNvSpPr>
            <a:spLocks noRot="1" noTextEdit="1"/>
          </p:cNvSpPr>
          <p:nvPr>
            <p:ph type="sldImg"/>
          </p:nvPr>
        </p:nvSpPr>
        <p:spPr/>
      </p:sp>
      <p:sp>
        <p:nvSpPr>
          <p:cNvPr id="10244" name="Rectangle 3"/>
          <p:cNvSpPr>
            <a:spLocks noGrp="1"/>
          </p:cNvSpPr>
          <p:nvPr>
            <p:ph type="body"/>
          </p:nvPr>
        </p:nvSpPr>
        <p:spPr/>
        <p:txBody>
          <a:bodyPr wrap="square" lIns="91440" tIns="45720" rIns="91440" bIns="45720" anchor="t" anchorCtr="0"/>
          <a:p>
            <a:pPr lvl="0" eaLnBrk="1" hangingPunct="1"/>
            <a:r>
              <a:rPr lang="zh-CN" altLang="en-US" dirty="0">
                <a:latin typeface="Book Antiqua" panose="02040602050305030304" pitchFamily="18" charset="0"/>
                <a:ea typeface="宋体" panose="02010600030101010101" pitchFamily="2" charset="-122"/>
                <a:sym typeface="+mn-ea"/>
              </a:rPr>
              <a:t>线程就绪队列：以什么为单位？</a:t>
            </a:r>
            <a:r>
              <a:rPr lang="en-US" altLang="zh-CN" dirty="0">
                <a:latin typeface="Book Antiqua" panose="02040602050305030304" pitchFamily="18" charset="0"/>
                <a:ea typeface="宋体" panose="02010600030101010101" pitchFamily="2" charset="-122"/>
                <a:sym typeface="+mn-ea"/>
              </a:rPr>
              <a:t>cache</a:t>
            </a:r>
            <a:r>
              <a:rPr lang="zh-CN" altLang="en-US" dirty="0">
                <a:latin typeface="Book Antiqua" panose="02040602050305030304" pitchFamily="18" charset="0"/>
                <a:ea typeface="宋体" panose="02010600030101010101" pitchFamily="2" charset="-122"/>
                <a:sym typeface="+mn-ea"/>
              </a:rPr>
              <a:t>里存的</a:t>
            </a:r>
            <a:r>
              <a:rPr lang="zh-CN" altLang="en-US" dirty="0">
                <a:latin typeface="Book Antiqua" panose="02040602050305030304" pitchFamily="18" charset="0"/>
                <a:ea typeface="宋体" panose="02010600030101010101" pitchFamily="2" charset="-122"/>
                <a:sym typeface="+mn-ea"/>
              </a:rPr>
              <a:t>是什么？</a:t>
            </a:r>
            <a:endParaRPr lang="zh-CN" altLang="en-US" dirty="0">
              <a:latin typeface="Book Antiqua" panose="02040602050305030304" pitchFamily="18" charset="0"/>
              <a:ea typeface="宋体" panose="02010600030101010101" pitchFamily="2" charset="-122"/>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线程在分布式系统中的</a:t>
            </a:r>
            <a:r>
              <a:rPr lang="zh-CN" altLang="en-US"/>
              <a:t>应用</a:t>
            </a:r>
            <a:endParaRPr lang="zh-CN" altLang="en-US"/>
          </a:p>
          <a:p>
            <a:endParaRPr lang="zh-CN" altLang="en-US"/>
          </a:p>
          <a:p>
            <a:r>
              <a:rPr lang="zh-CN" altLang="en-US"/>
              <a:t>进程通信：网络；延迟大，通信时干别的</a:t>
            </a:r>
            <a:r>
              <a:rPr lang="zh-CN" altLang="en-US"/>
              <a:t>事情；</a:t>
            </a:r>
            <a:endParaRPr lang="zh-CN" altLang="en-US"/>
          </a:p>
          <a:p>
            <a:endParaRPr lang="zh-CN" altLang="en-US"/>
          </a:p>
          <a:p>
            <a:r>
              <a:rPr lang="zh-CN" altLang="en-US"/>
              <a:t>通信和处理</a:t>
            </a:r>
            <a:r>
              <a:rPr lang="zh-CN" altLang="en-US"/>
              <a:t>并行；</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单机：进程间通信（同一</a:t>
            </a:r>
            <a:r>
              <a:rPr lang="zh-CN" altLang="en-US"/>
              <a:t>机器）</a:t>
            </a:r>
            <a:endParaRPr lang="zh-CN" altLang="en-US"/>
          </a:p>
          <a:p>
            <a:r>
              <a:rPr lang="zh-CN" altLang="en-US">
                <a:sym typeface="+mn-ea"/>
              </a:rPr>
              <a:t>分布式系统：进程间通信（</a:t>
            </a:r>
            <a:r>
              <a:rPr lang="zh-CN" altLang="en-US">
                <a:sym typeface="+mn-ea"/>
              </a:rPr>
              <a:t>网络）</a:t>
            </a:r>
            <a:endParaRPr lang="zh-CN" altLang="en-US"/>
          </a:p>
          <a:p>
            <a:endParaRPr lang="zh-CN" altLang="en-US"/>
          </a:p>
          <a:p>
            <a:endParaRPr lang="zh-CN" altLang="en-US"/>
          </a:p>
          <a:p>
            <a:r>
              <a:rPr lang="zh-CN" altLang="en-US"/>
              <a:t>每个线程建立一个连接取页面的一部分，通过调用</a:t>
            </a:r>
            <a:r>
              <a:rPr lang="en-US" altLang="zh-CN"/>
              <a:t>blocking</a:t>
            </a:r>
            <a:r>
              <a:rPr lang="zh-CN" altLang="en-US"/>
              <a:t>系统</a:t>
            </a:r>
            <a:r>
              <a:rPr lang="zh-CN" altLang="en-US"/>
              <a:t>调用；</a:t>
            </a:r>
            <a:endParaRPr lang="zh-CN" altLang="en-US"/>
          </a:p>
          <a:p>
            <a:r>
              <a:rPr lang="zh-CN" altLang="en-US"/>
              <a:t>后台多个服务器复制多个</a:t>
            </a:r>
            <a:r>
              <a:rPr lang="en-US" altLang="zh-CN"/>
              <a:t>server</a:t>
            </a:r>
            <a:r>
              <a:rPr lang="zh-CN" altLang="en-US"/>
              <a:t>，每个连接一个</a:t>
            </a:r>
            <a:r>
              <a:rPr lang="en-US" altLang="zh-CN"/>
              <a:t>server</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客户端应用：用户接口：负责和用户</a:t>
            </a:r>
            <a:r>
              <a:rPr lang="zh-CN" altLang="en-US"/>
              <a:t>交互；</a:t>
            </a:r>
            <a:endParaRPr lang="zh-CN" altLang="en-US"/>
          </a:p>
          <a:p>
            <a:endParaRPr lang="zh-CN" altLang="en-US"/>
          </a:p>
          <a:p>
            <a:r>
              <a:rPr lang="zh-CN" altLang="en-US"/>
              <a:t>服务器端应用：负责处理具体应用</a:t>
            </a:r>
            <a:r>
              <a:rPr lang="zh-CN" altLang="en-US"/>
              <a:t>任务；</a:t>
            </a:r>
            <a:endParaRPr lang="zh-CN" altLang="en-US"/>
          </a:p>
          <a:p>
            <a:endParaRPr lang="zh-CN" altLang="en-US"/>
          </a:p>
          <a:p>
            <a:endParaRPr lang="zh-CN" altLang="en-US"/>
          </a:p>
          <a:p>
            <a:endParaRPr lang="zh-CN" altLang="en-US"/>
          </a:p>
          <a:p>
            <a:r>
              <a:rPr lang="zh-CN" altLang="en-US"/>
              <a:t>专有：效率高，面向特定</a:t>
            </a:r>
            <a:r>
              <a:rPr lang="zh-CN" altLang="en-US"/>
              <a:t>应用</a:t>
            </a:r>
            <a:endParaRPr lang="zh-CN" altLang="en-US"/>
          </a:p>
          <a:p>
            <a:endParaRPr lang="zh-CN" altLang="en-US"/>
          </a:p>
          <a:p>
            <a:r>
              <a:rPr lang="zh-CN" altLang="en-US"/>
              <a:t>通用：效率低，向上</a:t>
            </a:r>
            <a:r>
              <a:rPr lang="zh-CN" altLang="en-US"/>
              <a:t>透明</a:t>
            </a:r>
            <a:endParaRPr lang="zh-CN" altLang="en-US"/>
          </a:p>
          <a:p>
            <a:endParaRPr lang="zh-CN" altLang="en-US"/>
          </a:p>
          <a:p>
            <a:endParaRPr lang="zh-CN" altLang="en-US"/>
          </a:p>
          <a:p>
            <a:r>
              <a:rPr lang="zh-CN" altLang="en-US"/>
              <a:t>面向通信的分布式系统</a:t>
            </a:r>
            <a:r>
              <a:rPr lang="zh-CN" altLang="en-US"/>
              <a:t>泛型</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dirty="0">
                <a:solidFill>
                  <a:srgbClr val="FF0000"/>
                </a:solidFill>
                <a:ea typeface="宋体" panose="02010600030101010101" pitchFamily="2" charset="-122"/>
                <a:sym typeface="+mn-ea"/>
              </a:rPr>
              <a:t>硬件</a:t>
            </a:r>
            <a:r>
              <a:rPr lang="zh-CN" altLang="en-US" dirty="0">
                <a:solidFill>
                  <a:srgbClr val="FF0000"/>
                </a:solidFill>
                <a:ea typeface="宋体" panose="02010600030101010101" pitchFamily="2" charset="-122"/>
                <a:sym typeface="+mn-ea"/>
              </a:rPr>
              <a:t>设备：屏幕，键盘，鼠标；</a:t>
            </a:r>
            <a:endParaRPr lang="zh-CN" altLang="en-US" dirty="0">
              <a:solidFill>
                <a:srgbClr val="FF0000"/>
              </a:solidFill>
              <a:ea typeface="宋体" panose="02010600030101010101" pitchFamily="2" charset="-122"/>
              <a:sym typeface="+mn-ea"/>
            </a:endParaRPr>
          </a:p>
          <a:p>
            <a:r>
              <a:rPr lang="zh-CN" altLang="en-US" dirty="0">
                <a:solidFill>
                  <a:srgbClr val="FF0000"/>
                </a:solidFill>
                <a:ea typeface="宋体" panose="02010600030101010101" pitchFamily="2" charset="-122"/>
                <a:sym typeface="+mn-ea"/>
              </a:rPr>
              <a:t>用户端接口：</a:t>
            </a:r>
            <a:r>
              <a:rPr lang="zh-CN" altLang="en-US" dirty="0">
                <a:solidFill>
                  <a:srgbClr val="FF0000"/>
                </a:solidFill>
                <a:ea typeface="宋体" panose="02010600030101010101" pitchFamily="2" charset="-122"/>
                <a:sym typeface="+mn-ea"/>
              </a:rPr>
              <a:t>接受用户输入，并在屏幕上显示输出</a:t>
            </a:r>
            <a:r>
              <a:rPr lang="zh-CN" altLang="en-US" dirty="0">
                <a:solidFill>
                  <a:srgbClr val="FF0000"/>
                </a:solidFill>
                <a:ea typeface="宋体" panose="02010600030101010101" pitchFamily="2" charset="-122"/>
                <a:sym typeface="+mn-ea"/>
              </a:rPr>
              <a:t>结果；</a:t>
            </a:r>
            <a:endParaRPr lang="zh-CN" altLang="en-US" dirty="0">
              <a:solidFill>
                <a:srgbClr val="FF0000"/>
              </a:solidFill>
              <a:ea typeface="宋体" panose="02010600030101010101" pitchFamily="2" charset="-122"/>
              <a:sym typeface="+mn-ea"/>
            </a:endParaRPr>
          </a:p>
          <a:p>
            <a:endParaRPr lang="zh-CN" altLang="en-US" dirty="0">
              <a:solidFill>
                <a:srgbClr val="FF0000"/>
              </a:solidFill>
              <a:ea typeface="宋体" panose="02010600030101010101" pitchFamily="2" charset="-122"/>
              <a:sym typeface="+mn-ea"/>
            </a:endParaRPr>
          </a:p>
          <a:p>
            <a:r>
              <a:rPr lang="zh-CN" altLang="en-US" dirty="0">
                <a:solidFill>
                  <a:srgbClr val="FF0000"/>
                </a:solidFill>
                <a:ea typeface="宋体" panose="02010600030101010101" pitchFamily="2" charset="-122"/>
                <a:sym typeface="+mn-ea"/>
              </a:rPr>
              <a:t>通过</a:t>
            </a:r>
            <a:r>
              <a:rPr lang="en-US" altLang="zh-CN" dirty="0">
                <a:solidFill>
                  <a:srgbClr val="FF0000"/>
                </a:solidFill>
                <a:ea typeface="宋体" panose="02010600030101010101" pitchFamily="2" charset="-122"/>
                <a:sym typeface="+mn-ea"/>
              </a:rPr>
              <a:t>X</a:t>
            </a:r>
            <a:r>
              <a:rPr lang="zh-CN" altLang="en-US" dirty="0">
                <a:solidFill>
                  <a:srgbClr val="FF0000"/>
                </a:solidFill>
                <a:ea typeface="宋体" panose="02010600030101010101" pitchFamily="2" charset="-122"/>
                <a:sym typeface="+mn-ea"/>
              </a:rPr>
              <a:t>协议和远端中间件</a:t>
            </a:r>
            <a:r>
              <a:rPr lang="en-US" altLang="zh-CN" dirty="0">
                <a:solidFill>
                  <a:srgbClr val="FF0000"/>
                </a:solidFill>
                <a:ea typeface="宋体" panose="02010600030101010101" pitchFamily="2" charset="-122"/>
                <a:sym typeface="+mn-ea"/>
              </a:rPr>
              <a:t>Xlib</a:t>
            </a:r>
            <a:r>
              <a:rPr lang="zh-CN" altLang="en-US" dirty="0">
                <a:solidFill>
                  <a:srgbClr val="FF0000"/>
                </a:solidFill>
                <a:ea typeface="宋体" panose="02010600030101010101" pitchFamily="2" charset="-122"/>
                <a:sym typeface="+mn-ea"/>
              </a:rPr>
              <a:t>交互：远端</a:t>
            </a:r>
            <a:r>
              <a:rPr lang="en-US" altLang="zh-CN" dirty="0">
                <a:solidFill>
                  <a:srgbClr val="FF0000"/>
                </a:solidFill>
                <a:ea typeface="宋体" panose="02010600030101010101" pitchFamily="2" charset="-122"/>
                <a:sym typeface="+mn-ea"/>
              </a:rPr>
              <a:t>application</a:t>
            </a:r>
            <a:r>
              <a:rPr lang="zh-CN" altLang="en-US" dirty="0">
                <a:solidFill>
                  <a:srgbClr val="FF0000"/>
                </a:solidFill>
                <a:ea typeface="宋体" panose="02010600030101010101" pitchFamily="2" charset="-122"/>
                <a:sym typeface="+mn-ea"/>
              </a:rPr>
              <a:t>；</a:t>
            </a:r>
            <a:r>
              <a:rPr lang="en-US" altLang="zh-CN" dirty="0">
                <a:solidFill>
                  <a:srgbClr val="FF0000"/>
                </a:solidFill>
                <a:ea typeface="宋体" panose="02010600030101010101" pitchFamily="2" charset="-122"/>
                <a:sym typeface="+mn-ea"/>
              </a:rPr>
              <a:t>windows  manager</a:t>
            </a:r>
            <a:r>
              <a:rPr lang="zh-CN" altLang="en-US" dirty="0">
                <a:solidFill>
                  <a:srgbClr val="FF0000"/>
                </a:solidFill>
                <a:ea typeface="宋体" panose="02010600030101010101" pitchFamily="2" charset="-122"/>
                <a:sym typeface="+mn-ea"/>
              </a:rPr>
              <a:t>：规定前端窗口显示格式；</a:t>
            </a:r>
            <a:r>
              <a:rPr lang="en-US" altLang="zh-CN" dirty="0">
                <a:solidFill>
                  <a:srgbClr val="FF0000"/>
                </a:solidFill>
                <a:ea typeface="宋体" panose="02010600030101010101" pitchFamily="2" charset="-122"/>
                <a:sym typeface="+mn-ea"/>
              </a:rPr>
              <a:t>application</a:t>
            </a:r>
            <a:r>
              <a:rPr lang="zh-CN" altLang="en-US" dirty="0">
                <a:solidFill>
                  <a:srgbClr val="FF0000"/>
                </a:solidFill>
                <a:ea typeface="宋体" panose="02010600030101010101" pitchFamily="2" charset="-122"/>
                <a:sym typeface="+mn-ea"/>
              </a:rPr>
              <a:t>：以窗口形式</a:t>
            </a:r>
            <a:r>
              <a:rPr lang="zh-CN" altLang="en-US" dirty="0">
                <a:solidFill>
                  <a:srgbClr val="FF0000"/>
                </a:solidFill>
                <a:ea typeface="宋体" panose="02010600030101010101" pitchFamily="2" charset="-122"/>
                <a:sym typeface="+mn-ea"/>
              </a:rPr>
              <a:t>输入输出；</a:t>
            </a:r>
            <a:endParaRPr lang="zh-CN" altLang="en-US" dirty="0">
              <a:solidFill>
                <a:srgbClr val="FF0000"/>
              </a:solidFill>
              <a:ea typeface="宋体" panose="02010600030101010101" pitchFamily="2" charset="-122"/>
              <a:sym typeface="+mn-ea"/>
            </a:endParaRPr>
          </a:p>
          <a:p>
            <a:endParaRPr lang="zh-CN" altLang="en-US" dirty="0">
              <a:solidFill>
                <a:srgbClr val="FF0000"/>
              </a:solidFill>
              <a:ea typeface="宋体" panose="02010600030101010101" pitchFamily="2" charset="-122"/>
              <a:sym typeface="+mn-ea"/>
            </a:endParaRPr>
          </a:p>
          <a:p>
            <a:r>
              <a:rPr lang="zh-CN" altLang="en-US" dirty="0">
                <a:solidFill>
                  <a:srgbClr val="FF0000"/>
                </a:solidFill>
                <a:ea typeface="宋体" panose="02010600030101010101" pitchFamily="2" charset="-122"/>
                <a:sym typeface="+mn-ea"/>
              </a:rPr>
              <a:t>特点：</a:t>
            </a:r>
            <a:r>
              <a:rPr lang="en-US" altLang="zh-CN" dirty="0">
                <a:solidFill>
                  <a:srgbClr val="FF0000"/>
                </a:solidFill>
                <a:ea typeface="宋体" panose="02010600030101010101" pitchFamily="2" charset="-122"/>
                <a:sym typeface="+mn-ea"/>
              </a:rPr>
              <a:t>client</a:t>
            </a:r>
            <a:r>
              <a:rPr lang="zh-CN" altLang="en-US" dirty="0">
                <a:solidFill>
                  <a:srgbClr val="FF0000"/>
                </a:solidFill>
                <a:ea typeface="宋体" panose="02010600030101010101" pitchFamily="2" charset="-122"/>
                <a:sym typeface="+mn-ea"/>
              </a:rPr>
              <a:t>端极简；隐藏通信透明性；</a:t>
            </a:r>
            <a:endParaRPr lang="en-US" altLang="zh-CN" dirty="0">
              <a:solidFill>
                <a:srgbClr val="FF0000"/>
              </a:solidFill>
              <a:ea typeface="宋体" panose="02010600030101010101" pitchFamily="2" charset="-122"/>
              <a:sym typeface="+mn-ea"/>
            </a:endParaRPr>
          </a:p>
          <a:p>
            <a:endParaRPr lang="en-US" altLang="zh-CN" dirty="0">
              <a:solidFill>
                <a:srgbClr val="FF0000"/>
              </a:solidFill>
              <a:ea typeface="宋体" panose="02010600030101010101" pitchFamily="2" charset="-122"/>
              <a:sym typeface="+mn-ea"/>
            </a:endParaRPr>
          </a:p>
          <a:p>
            <a:endParaRPr lang="en-US" altLang="zh-CN" dirty="0">
              <a:solidFill>
                <a:srgbClr val="FF0000"/>
              </a:solidFill>
              <a:ea typeface="宋体" panose="02010600030101010101" pitchFamily="2" charset="-122"/>
              <a:sym typeface="+mn-ea"/>
            </a:endParaRPr>
          </a:p>
          <a:p>
            <a:r>
              <a:rPr lang="en-US" altLang="zh-CN" dirty="0">
                <a:solidFill>
                  <a:srgbClr val="FF0000"/>
                </a:solidFill>
                <a:ea typeface="宋体" panose="02010600030101010101" pitchFamily="2" charset="-122"/>
                <a:sym typeface="+mn-ea"/>
              </a:rPr>
              <a:t>Compound Documents:</a:t>
            </a:r>
            <a:endParaRPr lang="en-US" altLang="zh-CN" dirty="0">
              <a:solidFill>
                <a:srgbClr val="FF0000"/>
              </a:solidFill>
              <a:ea typeface="宋体" panose="02010600030101010101" pitchFamily="2" charset="-122"/>
              <a:sym typeface="+mn-ea"/>
            </a:endParaRPr>
          </a:p>
          <a:p>
            <a:endParaRPr lang="zh-CN" altLang="en-US"/>
          </a:p>
          <a:p>
            <a:r>
              <a:rPr lang="en-US" altLang="zh-CN" dirty="0">
                <a:solidFill>
                  <a:srgbClr val="FF0000"/>
                </a:solidFill>
                <a:ea typeface="宋体" panose="02010600030101010101" pitchFamily="2" charset="-122"/>
                <a:sym typeface="+mn-ea"/>
              </a:rPr>
              <a:t>Drag-and-drop</a:t>
            </a:r>
            <a:r>
              <a:rPr lang="zh-CN" altLang="en-US" dirty="0">
                <a:solidFill>
                  <a:srgbClr val="FF0000"/>
                </a:solidFill>
                <a:ea typeface="宋体" panose="02010600030101010101" pitchFamily="2" charset="-122"/>
                <a:sym typeface="+mn-ea"/>
              </a:rPr>
              <a:t>：把后端文件在前端显示为按钮，支持对按钮的拖拽操作；</a:t>
            </a:r>
            <a:endParaRPr lang="en-US" altLang="zh-CN" dirty="0">
              <a:solidFill>
                <a:srgbClr val="FF0000"/>
              </a:solidFill>
              <a:ea typeface="宋体" panose="02010600030101010101" pitchFamily="2" charset="-122"/>
              <a:sym typeface="+mn-ea"/>
            </a:endParaRPr>
          </a:p>
          <a:p>
            <a:r>
              <a:rPr lang="en-US" altLang="zh-CN" dirty="0">
                <a:solidFill>
                  <a:srgbClr val="FF0000"/>
                </a:solidFill>
                <a:ea typeface="宋体" panose="02010600030101010101" pitchFamily="2" charset="-122"/>
                <a:sym typeface="+mn-ea"/>
              </a:rPr>
              <a:t>In-place editing</a:t>
            </a:r>
            <a:r>
              <a:rPr lang="zh-CN" altLang="en-US" dirty="0">
                <a:solidFill>
                  <a:srgbClr val="FF0000"/>
                </a:solidFill>
                <a:ea typeface="宋体" panose="02010600030101010101" pitchFamily="2" charset="-122"/>
                <a:sym typeface="+mn-ea"/>
              </a:rPr>
              <a:t>：编辑包含文字和图片的文件；</a:t>
            </a:r>
            <a:endParaRPr lang="en-US" altLang="zh-CN" dirty="0">
              <a:solidFill>
                <a:srgbClr val="FF0000"/>
              </a:solidFill>
              <a:ea typeface="宋体" panose="02010600030101010101" pitchFamily="2"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client</a:t>
            </a:r>
            <a:r>
              <a:rPr lang="zh-CN" altLang="en-US"/>
              <a:t>端增加中间件：例如：</a:t>
            </a:r>
            <a:r>
              <a:rPr lang="en-US" altLang="zh-CN"/>
              <a:t>client stub</a:t>
            </a:r>
            <a:r>
              <a:rPr lang="zh-CN" altLang="en-US"/>
              <a:t>；通过在</a:t>
            </a:r>
            <a:r>
              <a:rPr lang="en-US" altLang="zh-CN"/>
              <a:t>client</a:t>
            </a:r>
            <a:r>
              <a:rPr lang="zh-CN" altLang="en-US"/>
              <a:t>端执行更多业务逻辑来实现分布式</a:t>
            </a:r>
            <a:r>
              <a:rPr lang="zh-CN" altLang="en-US"/>
              <a:t>透明性；</a:t>
            </a:r>
            <a:endParaRPr lang="zh-CN" altLang="en-US"/>
          </a:p>
          <a:p>
            <a:endParaRPr lang="zh-CN" altLang="en-US"/>
          </a:p>
          <a:p>
            <a:r>
              <a:rPr lang="zh-CN" altLang="en-US"/>
              <a:t>举例：复制透明性：发送请求</a:t>
            </a:r>
            <a:r>
              <a:rPr lang="en-US" altLang="zh-CN"/>
              <a:t>-</a:t>
            </a:r>
            <a:r>
              <a:rPr lang="zh-CN" altLang="en-US"/>
              <a:t>复制多个请求</a:t>
            </a:r>
            <a:r>
              <a:rPr lang="en-US" altLang="zh-CN"/>
              <a:t>-</a:t>
            </a:r>
            <a:r>
              <a:rPr lang="zh-CN" altLang="en-US"/>
              <a:t>选择一个</a:t>
            </a:r>
            <a:r>
              <a:rPr lang="zh-CN" altLang="en-US"/>
              <a:t>回应</a:t>
            </a:r>
            <a:endParaRPr lang="zh-CN" altLang="en-US"/>
          </a:p>
          <a:p>
            <a:r>
              <a:rPr lang="zh-CN" altLang="en-US"/>
              <a:t>失败透明性：连接失败，重复连接，或换一个继续</a:t>
            </a:r>
            <a:r>
              <a:rPr lang="zh-CN" altLang="en-US"/>
              <a:t>连接</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server</a:t>
            </a:r>
            <a:r>
              <a:rPr lang="zh-CN" altLang="en-US"/>
              <a:t>进程：提供一种</a:t>
            </a:r>
            <a:r>
              <a:rPr lang="zh-CN" altLang="en-US"/>
              <a:t>服务；</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sym typeface="+mn-ea"/>
              </a:rPr>
              <a:t>派遣者模式的</a:t>
            </a:r>
            <a:r>
              <a:rPr lang="zh-CN" altLang="en-US">
                <a:sym typeface="+mn-ea"/>
              </a:rPr>
              <a:t>好处：</a:t>
            </a:r>
            <a:endParaRPr lang="zh-CN" altLang="en-US">
              <a:sym typeface="+mn-ea"/>
            </a:endParaRPr>
          </a:p>
          <a:p>
            <a:endParaRPr lang="zh-CN" altLang="en-US">
              <a:sym typeface="+mn-ea"/>
            </a:endParaRPr>
          </a:p>
          <a:p>
            <a:r>
              <a:rPr lang="zh-CN" altLang="en-US">
                <a:sym typeface="+mn-ea"/>
              </a:rPr>
              <a:t>通信和处理并行；毫秒</a:t>
            </a:r>
            <a:endParaRPr lang="zh-CN" altLang="en-US">
              <a:sym typeface="+mn-ea"/>
            </a:endParaRP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在</a:t>
            </a:r>
            <a:r>
              <a:rPr lang="en-US" altLang="zh-CN" dirty="0">
                <a:ea typeface="宋体" panose="02010600030101010101" pitchFamily="2" charset="-122"/>
                <a:sym typeface="+mn-ea"/>
              </a:rPr>
              <a:t>8ms</a:t>
            </a:r>
            <a:r>
              <a:rPr lang="zh-CN" altLang="en-US" dirty="0">
                <a:ea typeface="宋体" panose="02010600030101010101" pitchFamily="2" charset="-122"/>
                <a:sym typeface="+mn-ea"/>
              </a:rPr>
              <a:t>的时候，另一个线程就会处理完一个</a:t>
            </a:r>
            <a:r>
              <a:rPr lang="en-US" altLang="zh-CN" dirty="0">
                <a:ea typeface="宋体" panose="02010600030101010101" pitchFamily="2" charset="-122"/>
                <a:sym typeface="+mn-ea"/>
              </a:rPr>
              <a:t>2ms</a:t>
            </a:r>
            <a:r>
              <a:rPr lang="zh-CN" altLang="en-US" dirty="0">
                <a:ea typeface="宋体" panose="02010600030101010101" pitchFamily="2" charset="-122"/>
                <a:sym typeface="+mn-ea"/>
              </a:rPr>
              <a:t>的请求然后等待，所以</a:t>
            </a:r>
            <a:r>
              <a:rPr lang="en-US" altLang="zh-CN" dirty="0">
                <a:ea typeface="宋体" panose="02010600030101010101" pitchFamily="2" charset="-122"/>
                <a:sym typeface="+mn-ea"/>
              </a:rPr>
              <a:t>8ms</a:t>
            </a:r>
            <a:r>
              <a:rPr lang="zh-CN" altLang="en-US" dirty="0">
                <a:ea typeface="宋体" panose="02010600030101010101" pitchFamily="2" charset="-122"/>
                <a:sym typeface="+mn-ea"/>
              </a:rPr>
              <a:t>过后马上就会处理等待中的请求，所以是每</a:t>
            </a:r>
            <a:r>
              <a:rPr lang="en-US" altLang="zh-CN" dirty="0">
                <a:ea typeface="宋体" panose="02010600030101010101" pitchFamily="2" charset="-122"/>
                <a:sym typeface="+mn-ea"/>
              </a:rPr>
              <a:t>8ms</a:t>
            </a:r>
            <a:r>
              <a:rPr lang="zh-CN" altLang="en-US" dirty="0">
                <a:ea typeface="宋体" panose="02010600030101010101" pitchFamily="2" charset="-122"/>
                <a:sym typeface="+mn-ea"/>
              </a:rPr>
              <a:t>处理一个请求；</a:t>
            </a:r>
            <a:endParaRPr lang="en-US" altLang="zh-CN" dirty="0">
              <a:ea typeface="宋体" panose="02010600030101010101" pitchFamily="2" charset="-122"/>
              <a:sym typeface="+mn-ea"/>
            </a:endParaRPr>
          </a:p>
          <a:p>
            <a:endParaRPr lang="en-US" altLang="zh-CN" dirty="0">
              <a:ea typeface="宋体" panose="02010600030101010101" pitchFamily="2" charset="-122"/>
              <a:sym typeface="+mn-ea"/>
            </a:endParaRPr>
          </a:p>
          <a:p>
            <a:r>
              <a:rPr lang="en-US" altLang="zh-CN" dirty="0">
                <a:ea typeface="宋体" panose="02010600030101010101" pitchFamily="2" charset="-122"/>
                <a:sym typeface="+mn-ea"/>
              </a:rPr>
              <a:t>75%</a:t>
            </a:r>
            <a:r>
              <a:rPr lang="zh-CN" altLang="en-US" dirty="0">
                <a:ea typeface="宋体" panose="02010600030101010101" pitchFamily="2" charset="-122"/>
                <a:sym typeface="+mn-ea"/>
              </a:rPr>
              <a:t>的情况下，</a:t>
            </a:r>
            <a:r>
              <a:rPr lang="en-US" altLang="zh-CN" dirty="0">
                <a:ea typeface="宋体" panose="02010600030101010101" pitchFamily="2" charset="-122"/>
                <a:sym typeface="+mn-ea"/>
              </a:rPr>
              <a:t>2</a:t>
            </a:r>
            <a:r>
              <a:rPr lang="zh-CN" altLang="en-US" dirty="0">
                <a:ea typeface="宋体" panose="02010600030101010101" pitchFamily="2" charset="-122"/>
                <a:sym typeface="+mn-ea"/>
              </a:rPr>
              <a:t>秒的处理速度</a:t>
            </a:r>
            <a:r>
              <a:rPr lang="zh-CN" altLang="en-US" dirty="0">
                <a:ea typeface="宋体" panose="02010600030101010101" pitchFamily="2" charset="-122"/>
                <a:sym typeface="+mn-ea"/>
              </a:rPr>
              <a:t>呢？？？</a:t>
            </a:r>
            <a:endParaRPr lang="zh-CN" altLang="en-US" dirty="0">
              <a:ea typeface="宋体" panose="02010600030101010101" pitchFamily="2" charset="-122"/>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ln>
                  <a:noFill/>
                </a:ln>
                <a:effectLst/>
                <a:latin typeface="Arial" panose="020B0604020202020204" pitchFamily="34" charset="0"/>
                <a:ea typeface="宋体" panose="02010600030101010101" pitchFamily="2" charset="-122"/>
                <a:sym typeface="+mn-ea"/>
              </a:rPr>
              <a:t>Threads</a:t>
            </a:r>
            <a:r>
              <a:rPr lang="zh-CN" altLang="en-US">
                <a:ln>
                  <a:noFill/>
                </a:ln>
                <a:effectLst/>
                <a:latin typeface="Arial" panose="020B0604020202020204" pitchFamily="34" charset="0"/>
                <a:ea typeface="宋体" panose="02010600030101010101" pitchFamily="2" charset="-122"/>
                <a:sym typeface="+mn-ea"/>
              </a:rPr>
              <a:t>：</a:t>
            </a:r>
            <a:r>
              <a:rPr lang="en-US" altLang="zh-CN" dirty="0">
                <a:ln>
                  <a:noFill/>
                </a:ln>
                <a:effectLst/>
                <a:latin typeface="Arial" panose="020B0604020202020204" pitchFamily="34" charset="0"/>
                <a:ea typeface="宋体" panose="02010600030101010101" pitchFamily="2" charset="-122"/>
                <a:sym typeface="+mn-ea"/>
              </a:rPr>
              <a:t>blocking system calls</a:t>
            </a:r>
            <a:r>
              <a:rPr lang="zh-CN" altLang="en-US" dirty="0">
                <a:ln>
                  <a:noFill/>
                </a:ln>
                <a:effectLst/>
                <a:latin typeface="Arial" panose="020B0604020202020204" pitchFamily="34" charset="0"/>
                <a:ea typeface="宋体" panose="02010600030101010101" pitchFamily="2" charset="-122"/>
                <a:sym typeface="+mn-ea"/>
              </a:rPr>
              <a:t>？？？</a:t>
            </a:r>
            <a:endParaRPr kumimoji="0" lang="en-US" altLang="zh-CN"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endParaRPr lang="en-US" altLang="zh-CN" dirty="0">
              <a:ln>
                <a:noFill/>
              </a:ln>
              <a:effectLst/>
              <a:latin typeface="Arial" panose="020B0604020202020204" pitchFamily="34" charset="0"/>
              <a:ea typeface="宋体" panose="02010600030101010101" pitchFamily="2" charset="-122"/>
              <a:sym typeface="+mn-ea"/>
            </a:endParaRPr>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server</a:t>
            </a:r>
            <a:r>
              <a:rPr lang="zh-CN" altLang="en-US"/>
              <a:t>：一个进程：提供一个服务，为一群</a:t>
            </a:r>
            <a:r>
              <a:rPr lang="en-US" altLang="zh-CN"/>
              <a:t>clients</a:t>
            </a:r>
            <a:r>
              <a:rPr lang="zh-CN" altLang="en-US"/>
              <a:t>；</a:t>
            </a:r>
            <a:endParaRPr lang="zh-CN" altLang="en-US"/>
          </a:p>
          <a:p>
            <a:endParaRPr lang="zh-CN" altLang="en-US"/>
          </a:p>
          <a:p>
            <a:r>
              <a:rPr lang="zh-CN" altLang="en-US"/>
              <a:t>并发：多线程</a:t>
            </a:r>
            <a:r>
              <a:rPr lang="en-US" altLang="zh-CN"/>
              <a:t>server</a:t>
            </a:r>
            <a:endParaRPr lang="zh-CN" altLang="en-US"/>
          </a:p>
          <a:p>
            <a:endParaRPr lang="zh-CN" altLang="en-US"/>
          </a:p>
          <a:p>
            <a:r>
              <a:rPr lang="zh-CN" altLang="en-US"/>
              <a:t>无状态：</a:t>
            </a:r>
            <a:endParaRPr lang="zh-CN" altLang="en-US"/>
          </a:p>
          <a:p>
            <a:endParaRPr lang="zh-CN" altLang="en-US"/>
          </a:p>
          <a:p>
            <a:r>
              <a:rPr lang="zh-CN" altLang="en-US"/>
              <a:t>有状态：文件系统：为访问文件的用户维持表：存储访问文件的</a:t>
            </a:r>
            <a:r>
              <a:rPr lang="zh-CN" altLang="en-US"/>
              <a:t>信息；</a:t>
            </a:r>
            <a:endParaRPr lang="zh-CN" altLang="en-US"/>
          </a:p>
          <a:p>
            <a:endParaRPr lang="zh-CN" altLang="en-US"/>
          </a:p>
          <a:p>
            <a:r>
              <a:rPr lang="zh-CN" altLang="en-US"/>
              <a:t>好处：效率高；坏处：坏了后</a:t>
            </a:r>
            <a:r>
              <a:rPr lang="zh-CN" altLang="en-US"/>
              <a:t>难以恢复；</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client</a:t>
            </a:r>
            <a:r>
              <a:rPr lang="zh-CN" altLang="en-US"/>
              <a:t>如何</a:t>
            </a:r>
            <a:r>
              <a:rPr lang="en-US" altLang="zh-CN"/>
              <a:t>contact server</a:t>
            </a:r>
            <a:r>
              <a:rPr lang="zh-CN" altLang="en-US"/>
              <a:t>？</a:t>
            </a:r>
            <a:endParaRPr lang="zh-CN" altLang="en-US"/>
          </a:p>
          <a:p>
            <a:endParaRPr lang="zh-CN" altLang="en-US"/>
          </a:p>
          <a:p>
            <a:r>
              <a:rPr lang="zh-CN" altLang="en-US"/>
              <a:t>一台机器上多个端口；</a:t>
            </a:r>
            <a:r>
              <a:rPr lang="en-US" altLang="zh-CN"/>
              <a:t>server</a:t>
            </a:r>
            <a:r>
              <a:rPr lang="zh-CN" altLang="en-US"/>
              <a:t>地址：机器网络地址</a:t>
            </a:r>
            <a:r>
              <a:rPr lang="en-US" altLang="zh-CN"/>
              <a:t>+server</a:t>
            </a:r>
            <a:r>
              <a:rPr lang="zh-CN" altLang="en-US"/>
              <a:t>端口；</a:t>
            </a:r>
            <a:endParaRPr lang="zh-CN" altLang="en-US"/>
          </a:p>
          <a:p>
            <a:endParaRPr lang="zh-CN" altLang="en-US"/>
          </a:p>
          <a:p>
            <a:r>
              <a:rPr lang="zh-CN" altLang="en-US">
                <a:sym typeface="+mn-ea"/>
              </a:rPr>
              <a:t>机器网络地址：通过目录服务（一个公共</a:t>
            </a:r>
            <a:r>
              <a:rPr lang="zh-CN" altLang="en-US">
                <a:sym typeface="+mn-ea"/>
              </a:rPr>
              <a:t>独立机器）</a:t>
            </a:r>
            <a:endParaRPr lang="zh-CN" altLang="en-US">
              <a:sym typeface="+mn-ea"/>
            </a:endParaRPr>
          </a:p>
          <a:p>
            <a:endParaRPr lang="zh-CN" altLang="en-US">
              <a:sym typeface="+mn-ea"/>
            </a:endParaRPr>
          </a:p>
          <a:p>
            <a:r>
              <a:rPr lang="en-US" altLang="zh-CN">
                <a:sym typeface="+mn-ea"/>
              </a:rPr>
              <a:t>server</a:t>
            </a:r>
            <a:r>
              <a:rPr lang="zh-CN" altLang="en-US">
                <a:sym typeface="+mn-ea"/>
              </a:rPr>
              <a:t>端口：守护进程维护端口表，通过守护进程</a:t>
            </a:r>
            <a:r>
              <a:rPr lang="zh-CN" altLang="en-US">
                <a:sym typeface="+mn-ea"/>
              </a:rPr>
              <a:t>查看；</a:t>
            </a:r>
            <a:endParaRPr lang="zh-CN" altLang="en-US">
              <a:sym typeface="+mn-ea"/>
            </a:endParaRPr>
          </a:p>
          <a:p>
            <a:endParaRPr lang="zh-CN" altLang="en-US">
              <a:sym typeface="+mn-ea"/>
            </a:endParaRPr>
          </a:p>
          <a:p>
            <a:r>
              <a:rPr lang="zh-CN" altLang="en-US">
                <a:sym typeface="+mn-ea"/>
              </a:rPr>
              <a:t>超级</a:t>
            </a:r>
            <a:r>
              <a:rPr lang="en-US" altLang="zh-CN">
                <a:sym typeface="+mn-ea"/>
              </a:rPr>
              <a:t>server</a:t>
            </a:r>
            <a:r>
              <a:rPr lang="zh-CN" altLang="en-US">
                <a:sym typeface="+mn-ea"/>
              </a:rPr>
              <a:t>进程：监听所有端口，来请求时启动一个</a:t>
            </a:r>
            <a:r>
              <a:rPr lang="en-US" altLang="zh-CN">
                <a:sym typeface="+mn-ea"/>
              </a:rPr>
              <a:t>server</a:t>
            </a:r>
            <a:r>
              <a:rPr lang="zh-CN" altLang="en-US">
                <a:sym typeface="+mn-ea"/>
              </a:rPr>
              <a:t>进程处理，然后</a:t>
            </a:r>
            <a:r>
              <a:rPr lang="zh-CN" altLang="en-US">
                <a:sym typeface="+mn-ea"/>
              </a:rPr>
              <a:t>结束；</a:t>
            </a:r>
            <a:endParaRPr lang="zh-CN" altLang="en-US">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server</a:t>
            </a:r>
            <a:r>
              <a:rPr lang="zh-CN" altLang="en-US"/>
              <a:t>组织形式：</a:t>
            </a:r>
            <a:endParaRPr lang="zh-CN" altLang="en-US"/>
          </a:p>
          <a:p>
            <a:endParaRPr lang="zh-CN" altLang="en-US"/>
          </a:p>
          <a:p>
            <a:r>
              <a:rPr lang="zh-CN" altLang="en-US"/>
              <a:t>后台数据库：只靠本地文件系统是不够</a:t>
            </a:r>
            <a:r>
              <a:rPr lang="zh-CN" altLang="en-US"/>
              <a:t>的</a:t>
            </a:r>
            <a:endParaRPr lang="zh-CN" altLang="en-US"/>
          </a:p>
          <a:p>
            <a:endParaRPr lang="zh-CN" altLang="en-US"/>
          </a:p>
          <a:p>
            <a:r>
              <a:rPr lang="en-US" altLang="zh-CN" kern="0" noProof="0" dirty="0">
                <a:ln>
                  <a:noFill/>
                </a:ln>
                <a:effectLst/>
                <a:uLnTx/>
                <a:uFillTx/>
                <a:latin typeface="+mn-lt"/>
                <a:ea typeface="宋体" panose="02010600030101010101" pitchFamily="2" charset="-122"/>
                <a:sym typeface="+mn-ea"/>
              </a:rPr>
              <a:t>TCP handoff</a:t>
            </a:r>
            <a:r>
              <a:rPr lang="zh-CN" altLang="en-US" kern="0" noProof="0" dirty="0">
                <a:ln>
                  <a:noFill/>
                </a:ln>
                <a:effectLst/>
                <a:uLnTx/>
                <a:uFillTx/>
                <a:latin typeface="+mn-lt"/>
                <a:ea typeface="宋体" panose="02010600030101010101" pitchFamily="2" charset="-122"/>
                <a:sym typeface="+mn-ea"/>
              </a:rPr>
              <a:t>？？？</a:t>
            </a:r>
            <a:endParaRPr lang="zh-CN" altLang="en-US" kern="0" noProof="0" dirty="0">
              <a:ln>
                <a:noFill/>
              </a:ln>
              <a:effectLst/>
              <a:uLnTx/>
              <a:uFillTx/>
              <a:latin typeface="+mn-lt"/>
              <a:ea typeface="宋体" panose="02010600030101010101" pitchFamily="2" charset="-122"/>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另外服务器端的设计需求：负载均衡，目的：性能</a:t>
            </a:r>
            <a:r>
              <a:rPr lang="zh-CN" altLang="en-US"/>
              <a:t>优化；</a:t>
            </a:r>
            <a:endParaRPr lang="zh-CN" altLang="en-US"/>
          </a:p>
          <a:p>
            <a:endParaRPr lang="zh-CN" altLang="en-US"/>
          </a:p>
          <a:p>
            <a:r>
              <a:rPr lang="zh-CN" altLang="en-US" dirty="0">
                <a:ea typeface="宋体" panose="02010600030101010101" pitchFamily="2" charset="-122"/>
                <a:sym typeface="+mn-ea"/>
              </a:rPr>
              <a:t>动态负载？？？</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4579" name="Rectangle 2"/>
          <p:cNvSpPr>
            <a:spLocks noRot="1" noTextEdit="1"/>
          </p:cNvSpPr>
          <p:nvPr>
            <p:ph type="sldImg"/>
          </p:nvPr>
        </p:nvSpPr>
        <p:spPr/>
      </p:sp>
      <p:sp>
        <p:nvSpPr>
          <p:cNvPr id="24580" name="Rectangle 3"/>
          <p:cNvSpPr>
            <a:spLocks noGrp="1"/>
          </p:cNvSpPr>
          <p:nvPr>
            <p:ph type="body"/>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6627" name="Rectangle 2"/>
          <p:cNvSpPr>
            <a:spLocks noRot="1" noTextEdit="1"/>
          </p:cNvSpPr>
          <p:nvPr>
            <p:ph type="sldImg"/>
          </p:nvPr>
        </p:nvSpPr>
        <p:spPr/>
      </p:sp>
      <p:sp>
        <p:nvSpPr>
          <p:cNvPr id="26628" name="Rectangle 3"/>
          <p:cNvSpPr>
            <a:spLocks noGrp="1"/>
          </p:cNvSpPr>
          <p:nvPr>
            <p:ph type="body"/>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28675" name="Rectangle 2"/>
          <p:cNvSpPr>
            <a:spLocks noRot="1" noTextEdit="1"/>
          </p:cNvSpPr>
          <p:nvPr>
            <p:ph type="sldImg"/>
          </p:nvPr>
        </p:nvSpPr>
        <p:spPr/>
      </p:sp>
      <p:sp>
        <p:nvSpPr>
          <p:cNvPr id="28676" name="Rectangle 3"/>
          <p:cNvSpPr>
            <a:spLocks noGrp="1"/>
          </p:cNvSpPr>
          <p:nvPr>
            <p:ph type="body"/>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
        <p:nvSpPr>
          <p:cNvPr id="30723" name="Rectangle 2"/>
          <p:cNvSpPr>
            <a:spLocks noRot="1" noTextEdit="1"/>
          </p:cNvSpPr>
          <p:nvPr>
            <p:ph type="sldImg"/>
          </p:nvPr>
        </p:nvSpPr>
        <p:spPr/>
      </p:sp>
      <p:sp>
        <p:nvSpPr>
          <p:cNvPr id="30724" name="Rectangle 3"/>
          <p:cNvSpPr>
            <a:spLocks noGrp="1"/>
          </p:cNvSpPr>
          <p:nvPr>
            <p:ph type="body"/>
          </p:nvPr>
        </p:nvSpPr>
        <p:spPr/>
        <p:txBody>
          <a:bodyPr wrap="square" lIns="91440" tIns="45720" rIns="91440" bIns="45720" anchor="t" anchorCtr="0"/>
          <a:p>
            <a:pPr lvl="0"/>
            <a:r>
              <a:rPr lang="en-US" altLang="zh-CN" dirty="0">
                <a:ea typeface="宋体" panose="02010600030101010101" pitchFamily="2" charset="-122"/>
              </a:rPr>
              <a:t>client-server</a:t>
            </a:r>
            <a:r>
              <a:rPr lang="zh-CN" altLang="en-US" dirty="0">
                <a:ea typeface="宋体" panose="02010600030101010101" pitchFamily="2" charset="-122"/>
              </a:rPr>
              <a:t>下的一种</a:t>
            </a:r>
            <a:r>
              <a:rPr lang="zh-CN" altLang="en-US" dirty="0">
                <a:ea typeface="宋体" panose="02010600030101010101" pitchFamily="2" charset="-122"/>
              </a:rPr>
              <a:t>泛型：</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en-US" altLang="zh-CN" dirty="0">
                <a:ea typeface="宋体" panose="02010600030101010101" pitchFamily="2" charset="-122"/>
                <a:sym typeface="+mn-ea"/>
              </a:rPr>
              <a:t>Cache</a:t>
            </a:r>
            <a:r>
              <a:rPr lang="zh-CN" altLang="en-US" dirty="0">
                <a:ea typeface="宋体" panose="02010600030101010101" pitchFamily="2" charset="-122"/>
                <a:sym typeface="+mn-ea"/>
              </a:rPr>
              <a:t>和</a:t>
            </a:r>
            <a:r>
              <a:rPr lang="en-US" altLang="zh-CN" dirty="0">
                <a:ea typeface="宋体" panose="02010600030101010101" pitchFamily="2" charset="-122"/>
                <a:sym typeface="+mn-ea"/>
              </a:rPr>
              <a:t>Load balancer</a:t>
            </a:r>
            <a:r>
              <a:rPr lang="zh-CN" altLang="en-US" dirty="0">
                <a:ea typeface="宋体" panose="02010600030101010101" pitchFamily="2" charset="-122"/>
                <a:sym typeface="+mn-ea"/>
              </a:rPr>
              <a:t>的</a:t>
            </a:r>
            <a:r>
              <a:rPr lang="zh-CN" altLang="en-US" dirty="0">
                <a:ea typeface="宋体" panose="02010600030101010101" pitchFamily="2" charset="-122"/>
                <a:sym typeface="+mn-ea"/>
              </a:rPr>
              <a:t>关系？？？</a:t>
            </a:r>
            <a:endParaRPr lang="zh-CN" altLang="en-US" dirty="0">
              <a:ea typeface="宋体" panose="02010600030101010101" pitchFamily="2" charset="-122"/>
              <a:sym typeface="+mn-ea"/>
            </a:endParaRPr>
          </a:p>
          <a:p>
            <a:pPr lvl="0"/>
            <a:r>
              <a:rPr lang="en-US" altLang="zh-CN" dirty="0">
                <a:ea typeface="宋体" panose="02010600030101010101" pitchFamily="2" charset="-122"/>
                <a:sym typeface="+mn-ea"/>
              </a:rPr>
              <a:t>Transparent proxy</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lvl="0"/>
            <a:r>
              <a:rPr lang="en-US" altLang="zh-CN" dirty="0">
                <a:ea typeface="宋体" panose="02010600030101010101" pitchFamily="2" charset="-122"/>
                <a:sym typeface="+mn-ea"/>
              </a:rPr>
              <a:t>Transparent reverse proxy</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传递数据</a:t>
            </a:r>
            <a:r>
              <a:rPr lang="en-US" altLang="zh-CN"/>
              <a:t>-</a:t>
            </a:r>
            <a:r>
              <a:rPr lang="zh-CN" altLang="en-US"/>
              <a:t>传递程序</a:t>
            </a:r>
            <a:endParaRPr lang="zh-CN" altLang="en-US"/>
          </a:p>
          <a:p>
            <a:endParaRPr lang="zh-CN" altLang="en-US"/>
          </a:p>
          <a:p>
            <a:r>
              <a:rPr lang="zh-CN" altLang="en-US"/>
              <a:t>和进程的关系：在分布式系统中以进程迁移的形式</a:t>
            </a:r>
            <a:r>
              <a:rPr lang="zh-CN" altLang="en-US"/>
              <a:t>进行；</a:t>
            </a:r>
            <a:endParaRPr lang="zh-CN" altLang="en-US"/>
          </a:p>
          <a:p>
            <a:endParaRPr lang="zh-CN" altLang="en-US"/>
          </a:p>
          <a:p>
            <a:endParaRPr lang="zh-CN" altLang="en-US"/>
          </a:p>
          <a:p>
            <a:r>
              <a:rPr lang="zh-CN" altLang="en-US"/>
              <a:t>好处：</a:t>
            </a:r>
            <a:endParaRPr lang="zh-CN" altLang="en-US"/>
          </a:p>
          <a:p>
            <a:r>
              <a:rPr lang="zh-CN" altLang="en-US"/>
              <a:t>代码</a:t>
            </a:r>
            <a:r>
              <a:rPr lang="en-US" altLang="zh-CN"/>
              <a:t>0</a:t>
            </a:r>
            <a:r>
              <a:rPr lang="zh-CN" altLang="en-US"/>
              <a:t>开发；</a:t>
            </a:r>
            <a:endParaRPr lang="zh-CN" altLang="en-US"/>
          </a:p>
          <a:p>
            <a:endParaRPr lang="zh-CN" altLang="en-US"/>
          </a:p>
          <a:p>
            <a:r>
              <a:rPr lang="zh-CN" altLang="en-US"/>
              <a:t>性能优化；</a:t>
            </a:r>
            <a:r>
              <a:rPr lang="en-US" altLang="zh-CN"/>
              <a:t>client</a:t>
            </a:r>
            <a:r>
              <a:rPr lang="zh-CN" altLang="en-US"/>
              <a:t>应用程序需要处理大量存储于</a:t>
            </a:r>
            <a:r>
              <a:rPr lang="en-US" altLang="zh-CN"/>
              <a:t>server</a:t>
            </a:r>
            <a:r>
              <a:rPr lang="zh-CN" altLang="en-US"/>
              <a:t>端的数据库，原始：传输数据到</a:t>
            </a:r>
            <a:r>
              <a:rPr lang="en-US" altLang="zh-CN"/>
              <a:t>client</a:t>
            </a:r>
            <a:r>
              <a:rPr lang="zh-CN" altLang="en-US"/>
              <a:t>端处理；优化：迁移部分</a:t>
            </a:r>
            <a:r>
              <a:rPr lang="en-US" altLang="zh-CN"/>
              <a:t>client</a:t>
            </a:r>
            <a:r>
              <a:rPr lang="zh-CN" altLang="en-US"/>
              <a:t>代码到</a:t>
            </a:r>
            <a:r>
              <a:rPr lang="en-US" altLang="zh-CN"/>
              <a:t>server</a:t>
            </a:r>
            <a:r>
              <a:rPr lang="zh-CN" altLang="en-US"/>
              <a:t>端运行，只返回</a:t>
            </a:r>
            <a:r>
              <a:rPr lang="zh-CN" altLang="en-US"/>
              <a:t>结果；</a:t>
            </a:r>
            <a:endParaRPr lang="zh-CN" altLang="en-US"/>
          </a:p>
          <a:p>
            <a:endParaRPr lang="zh-CN" altLang="en-US"/>
          </a:p>
          <a:p>
            <a:endParaRPr lang="zh-CN" altLang="en-US"/>
          </a:p>
          <a:p>
            <a:endParaRPr lang="zh-CN" altLang="en-US"/>
          </a:p>
          <a:p>
            <a:endParaRPr lang="zh-CN" altLang="en-US"/>
          </a:p>
          <a:p>
            <a:endParaRPr lang="zh-CN" altLang="en-US"/>
          </a:p>
          <a:p>
            <a:r>
              <a:rPr lang="zh-CN" altLang="en-US"/>
              <a:t>并行执行；一个</a:t>
            </a:r>
            <a:r>
              <a:rPr lang="en-US" altLang="zh-CN"/>
              <a:t>web</a:t>
            </a:r>
            <a:r>
              <a:rPr lang="zh-CN" altLang="en-US"/>
              <a:t>查找程序</a:t>
            </a:r>
            <a:r>
              <a:rPr lang="en-US" altLang="zh-CN"/>
              <a:t>: </a:t>
            </a:r>
            <a:r>
              <a:rPr lang="zh-CN" altLang="en-US"/>
              <a:t>复制多份以后在多个服务器上并行</a:t>
            </a:r>
            <a:r>
              <a:rPr lang="zh-CN" altLang="en-US"/>
              <a:t>查找；</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代码段：</a:t>
            </a:r>
            <a:r>
              <a:rPr lang="zh-CN" altLang="en-US"/>
              <a:t>指令</a:t>
            </a:r>
            <a:endParaRPr lang="zh-CN" altLang="en-US"/>
          </a:p>
          <a:p>
            <a:r>
              <a:rPr lang="zh-CN" altLang="en-US"/>
              <a:t>资源段：</a:t>
            </a:r>
            <a:endParaRPr lang="zh-CN" altLang="en-US"/>
          </a:p>
          <a:p>
            <a:r>
              <a:rPr lang="zh-CN" altLang="en-US"/>
              <a:t>执行段：执行状态，数据，堆栈，</a:t>
            </a:r>
            <a:r>
              <a:rPr lang="zh-CN" altLang="en-US"/>
              <a:t>计数器</a:t>
            </a:r>
            <a:endParaRPr lang="zh-CN" altLang="en-US"/>
          </a:p>
          <a:p>
            <a:endParaRPr lang="zh-CN" altLang="en-US"/>
          </a:p>
          <a:p>
            <a:r>
              <a:rPr lang="zh-CN" altLang="en-US"/>
              <a:t>弱迁移：只转移代码段，迁移后</a:t>
            </a:r>
            <a:r>
              <a:rPr lang="zh-CN" altLang="en-US"/>
              <a:t>重新开始</a:t>
            </a:r>
            <a:endParaRPr lang="zh-CN" altLang="en-US"/>
          </a:p>
          <a:p>
            <a:endParaRPr lang="zh-CN" altLang="en-US"/>
          </a:p>
          <a:p>
            <a:r>
              <a:rPr lang="zh-CN" altLang="en-US">
                <a:sym typeface="+mn-ea"/>
              </a:rPr>
              <a:t>强迁移：代码段</a:t>
            </a:r>
            <a:r>
              <a:rPr lang="en-US" altLang="zh-CN">
                <a:sym typeface="+mn-ea"/>
              </a:rPr>
              <a:t>+</a:t>
            </a:r>
            <a:r>
              <a:rPr lang="zh-CN" altLang="en-US">
                <a:sym typeface="+mn-ea"/>
              </a:rPr>
              <a:t>执行段，迁移后继续计算</a:t>
            </a:r>
            <a:endParaRPr lang="zh-CN" altLang="en-US">
              <a:sym typeface="+mn-ea"/>
            </a:endParaRPr>
          </a:p>
          <a:p>
            <a:endParaRPr lang="zh-CN" altLang="en-US">
              <a:sym typeface="+mn-ea"/>
            </a:endParaRPr>
          </a:p>
          <a:p>
            <a:r>
              <a:rPr lang="en-US" altLang="zh-CN">
                <a:sym typeface="+mn-ea"/>
              </a:rPr>
              <a:t>sender</a:t>
            </a:r>
            <a:r>
              <a:rPr lang="zh-CN" altLang="en-US">
                <a:sym typeface="+mn-ea"/>
              </a:rPr>
              <a:t>：从代码初始地开始</a:t>
            </a:r>
            <a:r>
              <a:rPr lang="zh-CN" altLang="en-US">
                <a:sym typeface="+mn-ea"/>
              </a:rPr>
              <a:t>迁移；</a:t>
            </a:r>
            <a:endParaRPr lang="zh-CN" altLang="en-US">
              <a:sym typeface="+mn-ea"/>
            </a:endParaRPr>
          </a:p>
          <a:p>
            <a:r>
              <a:rPr lang="en-US" altLang="zh-CN">
                <a:sym typeface="+mn-ea"/>
              </a:rPr>
              <a:t>receiver</a:t>
            </a:r>
            <a:r>
              <a:rPr lang="zh-CN" altLang="en-US">
                <a:sym typeface="+mn-ea"/>
              </a:rPr>
              <a:t>：由迁移目标机发起</a:t>
            </a:r>
            <a:endParaRPr lang="zh-CN" altLang="en-US">
              <a:sym typeface="+mn-ea"/>
            </a:endParaRPr>
          </a:p>
          <a:p>
            <a:endParaRPr lang="zh-CN" altLang="en-US">
              <a:sym typeface="+mn-ea"/>
            </a:endParaRPr>
          </a:p>
          <a:p>
            <a:r>
              <a:rPr lang="en-US" altLang="zh-CN">
                <a:sym typeface="+mn-ea"/>
              </a:rPr>
              <a:t>excute at target process</a:t>
            </a:r>
            <a:r>
              <a:rPr lang="zh-CN" altLang="en-US">
                <a:sym typeface="+mn-ea"/>
              </a:rPr>
              <a:t>（加入目标</a:t>
            </a:r>
            <a:r>
              <a:rPr lang="zh-CN" altLang="en-US">
                <a:sym typeface="+mn-ea"/>
              </a:rPr>
              <a:t>地址空间？？）？</a:t>
            </a:r>
            <a:r>
              <a:rPr lang="en-US" altLang="zh-CN">
                <a:sym typeface="+mn-ea"/>
              </a:rPr>
              <a:t>excute </a:t>
            </a:r>
            <a:r>
              <a:rPr lang="en-US" altLang="zh-CN">
                <a:sym typeface="+mn-ea"/>
              </a:rPr>
              <a:t>in seperate process?  migrate process???? JAVA applet????</a:t>
            </a:r>
            <a:endParaRPr lang="zh-CN" altLang="en-US">
              <a:sym typeface="+mn-ea"/>
            </a:endParaRPr>
          </a:p>
          <a:p>
            <a:r>
              <a:rPr lang="zh-CN" altLang="en-US">
                <a:sym typeface="+mn-ea"/>
              </a:rPr>
              <a:t>进程迁移，进程克隆（执行片段如何</a:t>
            </a:r>
            <a:r>
              <a:rPr lang="zh-CN" altLang="en-US">
                <a:sym typeface="+mn-ea"/>
              </a:rPr>
              <a:t>迁移？）；</a:t>
            </a:r>
            <a:endParaRPr lang="zh-CN" altLang="en-US"/>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a:t>JAVA</a:t>
            </a:r>
            <a:r>
              <a:rPr lang="zh-CN" altLang="en-US"/>
              <a:t>编写的</a:t>
            </a:r>
            <a:r>
              <a:rPr lang="en-US" altLang="zh-CN"/>
              <a:t>web server</a:t>
            </a:r>
            <a:r>
              <a:rPr lang="zh-CN" altLang="en-US"/>
              <a:t>？</a:t>
            </a:r>
            <a:r>
              <a:rPr lang="en-US" altLang="zh-CN"/>
              <a:t>applet</a:t>
            </a:r>
            <a:r>
              <a:rPr lang="zh-CN" altLang="en-US"/>
              <a:t>下载到本地后干嘛？</a:t>
            </a:r>
            <a:r>
              <a:rPr lang="zh-CN" altLang="en-US"/>
              <a:t>举例？</a:t>
            </a:r>
            <a:endParaRPr lang="zh-CN" altLang="en-US"/>
          </a:p>
          <a:p>
            <a:endParaRPr lang="zh-CN" altLang="en-US"/>
          </a:p>
          <a:p>
            <a:r>
              <a:rPr lang="zh-CN" altLang="en-US"/>
              <a:t>接收者发起</a:t>
            </a:r>
            <a:r>
              <a:rPr lang="zh-CN" altLang="en-US"/>
              <a:t>的，</a:t>
            </a:r>
            <a:endParaRPr lang="zh-CN" altLang="en-US"/>
          </a:p>
          <a:p>
            <a:endParaRPr lang="zh-CN" altLang="en-US"/>
          </a:p>
          <a:p>
            <a:r>
              <a:rPr lang="en-US" altLang="zh-CN"/>
              <a:t>let</a:t>
            </a:r>
            <a:r>
              <a:rPr lang="zh-CN" altLang="en-US"/>
              <a:t>：不能访问本地资源的；语句</a:t>
            </a:r>
            <a:r>
              <a:rPr lang="zh-CN" altLang="en-US"/>
              <a:t>限制</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dirty="0">
                <a:ea typeface="宋体" panose="02010600030101010101" pitchFamily="2" charset="-122"/>
                <a:sym typeface="+mn-ea"/>
              </a:rPr>
              <a:t>By identifier</a:t>
            </a:r>
            <a:r>
              <a:rPr lang="zh-CN" altLang="en-US" dirty="0">
                <a:ea typeface="宋体" panose="02010600030101010101" pitchFamily="2" charset="-122"/>
                <a:sym typeface="+mn-ea"/>
              </a:rPr>
              <a:t>：通过</a:t>
            </a:r>
            <a:r>
              <a:rPr lang="en-US" altLang="zh-CN" dirty="0">
                <a:ea typeface="宋体" panose="02010600030101010101" pitchFamily="2" charset="-122"/>
                <a:sym typeface="+mn-ea"/>
              </a:rPr>
              <a:t>id</a:t>
            </a:r>
            <a:r>
              <a:rPr lang="zh-CN" altLang="en-US" dirty="0">
                <a:ea typeface="宋体" panose="02010600030101010101" pitchFamily="2" charset="-122"/>
                <a:sym typeface="+mn-ea"/>
              </a:rPr>
              <a:t>指向其唯一标识</a:t>
            </a:r>
            <a:r>
              <a:rPr lang="zh-CN" altLang="en-US" dirty="0">
                <a:ea typeface="宋体" panose="02010600030101010101" pitchFamily="2" charset="-122"/>
                <a:sym typeface="+mn-ea"/>
              </a:rPr>
              <a:t>的资源，精确要求那个指向的</a:t>
            </a:r>
            <a:r>
              <a:rPr lang="zh-CN" altLang="en-US" dirty="0">
                <a:ea typeface="宋体" panose="02010600030101010101" pitchFamily="2" charset="-122"/>
                <a:sym typeface="+mn-ea"/>
              </a:rPr>
              <a:t>资源</a:t>
            </a:r>
            <a:endParaRPr lang="zh-CN" altLang="en-US" dirty="0">
              <a:ea typeface="宋体" panose="02010600030101010101" pitchFamily="2" charset="-122"/>
              <a:sym typeface="+mn-ea"/>
            </a:endParaRPr>
          </a:p>
          <a:p>
            <a:endParaRPr lang="zh-CN" altLang="en-US" dirty="0">
              <a:ea typeface="宋体" panose="02010600030101010101" pitchFamily="2" charset="-122"/>
              <a:sym typeface="+mn-ea"/>
            </a:endParaRPr>
          </a:p>
          <a:p>
            <a:r>
              <a:rPr lang="en-US" altLang="zh-CN" dirty="0">
                <a:ea typeface="宋体" panose="02010600030101010101" pitchFamily="2" charset="-122"/>
                <a:sym typeface="+mn-ea"/>
              </a:rPr>
              <a:t>By value</a:t>
            </a:r>
            <a:r>
              <a:rPr lang="zh-CN" altLang="en-US" dirty="0">
                <a:ea typeface="宋体" panose="02010600030101010101" pitchFamily="2" charset="-122"/>
                <a:sym typeface="+mn-ea"/>
              </a:rPr>
              <a:t>：只需要那个资源返回的</a:t>
            </a:r>
            <a:r>
              <a:rPr lang="zh-CN" altLang="en-US" dirty="0">
                <a:ea typeface="宋体" panose="02010600030101010101" pitchFamily="2" charset="-122"/>
                <a:sym typeface="+mn-ea"/>
              </a:rPr>
              <a:t>值；</a:t>
            </a:r>
            <a:endParaRPr lang="zh-CN" altLang="en-US" dirty="0">
              <a:ea typeface="宋体" panose="02010600030101010101" pitchFamily="2" charset="-122"/>
              <a:sym typeface="+mn-ea"/>
            </a:endParaRPr>
          </a:p>
          <a:p>
            <a:endParaRPr lang="zh-CN" altLang="en-US" dirty="0">
              <a:ea typeface="宋体" panose="02010600030101010101" pitchFamily="2" charset="-122"/>
              <a:sym typeface="+mn-ea"/>
            </a:endParaRPr>
          </a:p>
          <a:p>
            <a:r>
              <a:rPr lang="en-US" altLang="zh-CN" dirty="0">
                <a:ea typeface="宋体" panose="02010600030101010101" pitchFamily="2" charset="-122"/>
                <a:sym typeface="+mn-ea"/>
              </a:rPr>
              <a:t>By type</a:t>
            </a:r>
            <a:r>
              <a:rPr lang="zh-CN" altLang="en-US" dirty="0">
                <a:ea typeface="宋体" panose="02010600030101010101" pitchFamily="2" charset="-122"/>
                <a:sym typeface="+mn-ea"/>
              </a:rPr>
              <a:t>：只需要某一类</a:t>
            </a:r>
            <a:r>
              <a:rPr lang="zh-CN" altLang="en-US" dirty="0">
                <a:ea typeface="宋体" panose="02010600030101010101" pitchFamily="2" charset="-122"/>
                <a:sym typeface="+mn-ea"/>
              </a:rPr>
              <a:t>资源；</a:t>
            </a:r>
            <a:endParaRPr lang="zh-CN" altLang="en-US" dirty="0">
              <a:ea typeface="宋体" panose="02010600030101010101" pitchFamily="2" charset="-122"/>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en-US" altLang="zh-CN" dirty="0">
                <a:ea typeface="宋体" panose="02010600030101010101" pitchFamily="2" charset="-122"/>
                <a:sym typeface="+mn-ea"/>
              </a:rPr>
              <a:t>GR</a:t>
            </a:r>
            <a:r>
              <a:rPr lang="zh-CN" altLang="en-US" dirty="0">
                <a:ea typeface="宋体" panose="02010600030101010101" pitchFamily="2" charset="-122"/>
                <a:sym typeface="+mn-ea"/>
              </a:rPr>
              <a:t>：资源无法迁移，远程引用</a:t>
            </a:r>
            <a:endParaRPr lang="zh-CN" altLang="en-US" dirty="0">
              <a:ea typeface="宋体" panose="02010600030101010101" pitchFamily="2" charset="-122"/>
              <a:sym typeface="+mn-ea"/>
            </a:endParaRPr>
          </a:p>
          <a:p>
            <a:endParaRPr lang="zh-CN" altLang="en-US"/>
          </a:p>
          <a:p>
            <a:r>
              <a:rPr lang="en-US" altLang="zh-CN" dirty="0">
                <a:ea typeface="宋体" panose="02010600030101010101" pitchFamily="2" charset="-122"/>
                <a:sym typeface="+mn-ea"/>
              </a:rPr>
              <a:t>MV</a:t>
            </a:r>
            <a:r>
              <a:rPr lang="zh-CN" altLang="en-US" dirty="0">
                <a:ea typeface="宋体" panose="02010600030101010101" pitchFamily="2" charset="-122"/>
                <a:sym typeface="+mn-ea"/>
              </a:rPr>
              <a:t>：</a:t>
            </a:r>
            <a:r>
              <a:rPr lang="zh-CN" altLang="en-US" dirty="0">
                <a:ea typeface="宋体" panose="02010600030101010101" pitchFamily="2" charset="-122"/>
                <a:sym typeface="+mn-ea"/>
              </a:rPr>
              <a:t>资源可以迁移</a:t>
            </a:r>
            <a:endParaRPr lang="en-US" altLang="zh-CN" dirty="0">
              <a:ea typeface="宋体" panose="02010600030101010101" pitchFamily="2" charset="-122"/>
              <a:sym typeface="+mn-ea"/>
            </a:endParaRPr>
          </a:p>
          <a:p>
            <a:endParaRPr lang="zh-CN" altLang="en-US"/>
          </a:p>
          <a:p>
            <a:r>
              <a:rPr lang="en-US" altLang="zh-CN" dirty="0">
                <a:ea typeface="宋体" panose="02010600030101010101" pitchFamily="2" charset="-122"/>
                <a:sym typeface="+mn-ea"/>
              </a:rPr>
              <a:t>CP</a:t>
            </a:r>
            <a:r>
              <a:rPr lang="zh-CN" altLang="en-US" dirty="0">
                <a:ea typeface="宋体" panose="02010600030101010101" pitchFamily="2" charset="-122"/>
                <a:sym typeface="+mn-ea"/>
              </a:rPr>
              <a:t>：</a:t>
            </a:r>
            <a:r>
              <a:rPr lang="zh-CN" altLang="en-US" dirty="0">
                <a:ea typeface="宋体" panose="02010600030101010101" pitchFamily="2" charset="-122"/>
                <a:sym typeface="+mn-ea"/>
              </a:rPr>
              <a:t>为第二种绑定设计的，可以节约迁移带宽</a:t>
            </a:r>
            <a:endParaRPr lang="en-US" altLang="zh-CN" dirty="0">
              <a:ea typeface="宋体" panose="02010600030101010101" pitchFamily="2" charset="-122"/>
              <a:sym typeface="+mn-ea"/>
            </a:endParaRPr>
          </a:p>
          <a:p>
            <a:endParaRPr lang="zh-CN" altLang="en-US"/>
          </a:p>
          <a:p>
            <a:r>
              <a:rPr lang="en-US" altLang="zh-CN" dirty="0">
                <a:ea typeface="宋体" panose="02010600030101010101" pitchFamily="2" charset="-122"/>
                <a:sym typeface="+mn-ea"/>
              </a:rPr>
              <a:t>RB</a:t>
            </a:r>
            <a:r>
              <a:rPr lang="zh-CN" altLang="en-US" dirty="0">
                <a:ea typeface="宋体" panose="02010600030101010101" pitchFamily="2" charset="-122"/>
                <a:sym typeface="+mn-ea"/>
              </a:rPr>
              <a:t>：资源没法</a:t>
            </a:r>
            <a:r>
              <a:rPr lang="zh-CN" altLang="en-US" dirty="0">
                <a:ea typeface="宋体" panose="02010600030101010101" pitchFamily="2" charset="-122"/>
                <a:sym typeface="+mn-ea"/>
              </a:rPr>
              <a:t>迁移；</a:t>
            </a:r>
            <a:endParaRPr lang="zh-CN" altLang="en-US" dirty="0">
              <a:ea typeface="宋体" panose="02010600030101010101" pitchFamily="2" charset="-122"/>
              <a:sym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硬件不同，机器指令</a:t>
            </a:r>
            <a:r>
              <a:rPr lang="zh-CN" altLang="en-US"/>
              <a:t>不同；</a:t>
            </a:r>
            <a:endParaRPr lang="zh-CN" altLang="en-US"/>
          </a:p>
          <a:p>
            <a:endParaRPr lang="zh-CN" altLang="en-US"/>
          </a:p>
          <a:p>
            <a:r>
              <a:rPr lang="zh-CN" altLang="en-US"/>
              <a:t>脚本语言：中间</a:t>
            </a:r>
            <a:r>
              <a:rPr lang="zh-CN" altLang="en-US"/>
              <a:t>语言；</a:t>
            </a:r>
            <a:endParaRPr lang="zh-CN" altLang="en-US"/>
          </a:p>
          <a:p>
            <a:endParaRPr lang="zh-CN" altLang="en-US"/>
          </a:p>
          <a:p>
            <a:r>
              <a:rPr lang="en-US" altLang="zh-CN"/>
              <a:t>C</a:t>
            </a:r>
            <a:r>
              <a:rPr lang="zh-CN" altLang="en-US"/>
              <a:t>、</a:t>
            </a:r>
            <a:r>
              <a:rPr lang="en-US" altLang="zh-CN"/>
              <a:t>JAVA</a:t>
            </a:r>
            <a:endParaRPr lang="zh-CN" altLang="en-US"/>
          </a:p>
          <a:p>
            <a:r>
              <a:rPr lang="zh-CN" altLang="en-US"/>
              <a:t>代码段</a:t>
            </a:r>
            <a:r>
              <a:rPr lang="zh-CN" altLang="en-US"/>
              <a:t>迁移；</a:t>
            </a:r>
            <a:endParaRPr lang="zh-CN" altLang="en-US"/>
          </a:p>
          <a:p>
            <a:r>
              <a:rPr lang="zh-CN" altLang="en-US"/>
              <a:t>执行段迁移：只迁移和硬件无关的数据：实时维持一个迁移段：进行替换，数据和机器</a:t>
            </a:r>
            <a:r>
              <a:rPr lang="zh-CN" altLang="en-US"/>
              <a:t>无关；</a:t>
            </a:r>
            <a:endParaRPr lang="zh-CN" altLang="en-US"/>
          </a:p>
          <a:p>
            <a:endParaRPr lang="zh-CN" altLang="en-US"/>
          </a:p>
          <a:p>
            <a:r>
              <a:rPr lang="zh-CN" altLang="en-US"/>
              <a:t>导致：调用子例程结束，或者刚开始调用子例程时才能</a:t>
            </a:r>
            <a:r>
              <a:rPr lang="zh-CN" altLang="en-US"/>
              <a:t>迁移；？？？？</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5G</a:t>
            </a:r>
            <a:r>
              <a:rPr lang="zh-CN" altLang="en-US" dirty="0">
                <a:ea typeface="宋体" panose="02010600030101010101" pitchFamily="2" charset="-122"/>
              </a:rPr>
              <a:t>环境下边缘节点的虚拟化技术</a:t>
            </a:r>
            <a:endParaRPr lang="zh-CN" altLang="en-US" dirty="0">
              <a:ea typeface="宋体" panose="02010600030101010101" pitchFamily="2" charset="-122"/>
            </a:endParaRPr>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0" y="5715000"/>
            <a:ext cx="4495800" cy="838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648200" y="5715000"/>
            <a:ext cx="4495800" cy="838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1143000"/>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0" y="5715000"/>
            <a:ext cx="9144000" cy="838200"/>
          </a:xfrm>
        </p:spPr>
        <p:txBody>
          <a:bodyPr vert="horz" wrap="square" lIns="91440" tIns="45720" rIns="91440" bIns="45720" numCol="1" anchor="t" anchorCtr="0" compatLnSpc="1"/>
          <a:lstStyle/>
          <a:p>
            <a:pPr marL="342900" marR="0" lvl="0" indent="-342900" algn="ctr" defTabSz="914400" rtl="0" eaLnBrk="0" fontAlgn="base" latinLnBrk="0" hangingPunct="0">
              <a:lnSpc>
                <a:spcPct val="100000"/>
              </a:lnSpc>
              <a:spcBef>
                <a:spcPct val="20000"/>
              </a:spcBef>
              <a:spcAft>
                <a:spcPct val="0"/>
              </a:spcAft>
              <a:buClr>
                <a:schemeClr val="accent2"/>
              </a:buClr>
              <a:buSzTx/>
              <a:buFontTx/>
              <a:buChar char="•"/>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7" name="Rectangle 3"/>
          <p:cNvSpPr>
            <a:spLocks noGrp="1"/>
          </p:cNvSpPr>
          <p:nvPr>
            <p:ph type="body"/>
          </p:nvPr>
        </p:nvSpPr>
        <p:spPr>
          <a:xfrm>
            <a:off x="0" y="5715000"/>
            <a:ext cx="9144000" cy="838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ea typeface="宋体" panose="02010600030101010101" pitchFamily="2" charset="-122"/>
              </a:defRPr>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7.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48.wmf"/><Relationship Id="rId1" Type="http://schemas.openxmlformats.org/officeDocument/2006/relationships/oleObject" Target="../embeddings/oleObject6.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7.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8.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p:nvPr>
        </p:nvSpPr>
        <p:spPr>
          <a:xfrm>
            <a:off x="685800" y="2286000"/>
            <a:ext cx="7772400" cy="1143000"/>
          </a:xfrm>
        </p:spPr>
        <p:txBody>
          <a:bodyPr vert="horz" wrap="square" lIns="91440" tIns="45720" rIns="91440" bIns="45720" anchor="ctr" anchorCtr="0"/>
          <a:p>
            <a:pPr eaLnBrk="1" hangingPunct="1">
              <a:buClrTx/>
              <a:buSzTx/>
              <a:buFontTx/>
            </a:pPr>
            <a:r>
              <a:rPr lang="en-US" altLang="zh-CN" dirty="0">
                <a:ea typeface="宋体" panose="02010600030101010101" pitchFamily="2" charset="-122"/>
              </a:rPr>
              <a:t>Processes</a:t>
            </a:r>
            <a:endParaRPr lang="en-US" altLang="zh-CN" dirty="0">
              <a:ea typeface="宋体" panose="02010600030101010101" pitchFamily="2" charset="-122"/>
            </a:endParaRPr>
          </a:p>
        </p:txBody>
      </p:sp>
      <p:sp>
        <p:nvSpPr>
          <p:cNvPr id="3075" name="Rectangle 3"/>
          <p:cNvSpPr>
            <a:spLocks noGrp="1"/>
          </p:cNvSpPr>
          <p:nvPr>
            <p:ph type="subTitle" idx="1"/>
          </p:nvPr>
        </p:nvSpPr>
        <p:spPr/>
        <p:txBody>
          <a:bodyPr vert="horz" wrap="square" lIns="91440" tIns="45720" rIns="91440" bIns="45720" anchor="t" anchorCtr="0"/>
          <a:p>
            <a:pPr eaLnBrk="1" hangingPunct="1">
              <a:buSzTx/>
              <a:buFontTx/>
            </a:pPr>
            <a:r>
              <a:rPr lang="en-US" altLang="zh-CN" dirty="0">
                <a:latin typeface="+mn-lt"/>
                <a:ea typeface="宋体" panose="02010600030101010101" pitchFamily="2" charset="-122"/>
                <a:cs typeface="+mn-cs"/>
              </a:rPr>
              <a:t>Chapter 4</a:t>
            </a:r>
            <a:endParaRPr lang="en-US" altLang="zh-CN" dirty="0">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1440" tIns="45720" rIns="91440" bIns="45720" anchor="ctr" anchorCtr="0"/>
          <a:p>
            <a:pPr eaLnBrk="1" hangingPunct="1"/>
            <a:r>
              <a:rPr lang="en-US" altLang="zh-CN" sz="4000" dirty="0">
                <a:ea typeface="宋体" panose="02010600030101010101" pitchFamily="2" charset="-122"/>
              </a:rPr>
              <a:t>Correlative Concepts</a:t>
            </a:r>
            <a:endParaRPr lang="zh-CN" altLang="en-US" sz="4000" b="1" dirty="0">
              <a:solidFill>
                <a:srgbClr val="FF0066"/>
              </a:solidFill>
              <a:ea typeface="宋体" panose="02010600030101010101" pitchFamily="2" charset="-122"/>
            </a:endParaRPr>
          </a:p>
        </p:txBody>
      </p:sp>
      <p:graphicFrame>
        <p:nvGraphicFramePr>
          <p:cNvPr id="4099" name="Object 4"/>
          <p:cNvGraphicFramePr>
            <a:graphicFrameLocks noChangeAspect="1"/>
          </p:cNvGraphicFramePr>
          <p:nvPr/>
        </p:nvGraphicFramePr>
        <p:xfrm>
          <a:off x="490538" y="2709863"/>
          <a:ext cx="8283575" cy="3097212"/>
        </p:xfrm>
        <a:graphic>
          <a:graphicData uri="http://schemas.openxmlformats.org/presentationml/2006/ole">
            <mc:AlternateContent xmlns:mc="http://schemas.openxmlformats.org/markup-compatibility/2006">
              <mc:Choice xmlns:v="urn:schemas-microsoft-com:vml" Requires="v">
                <p:oleObj spid="_x0000_s3076" name="" r:id="rId1" imgW="4178935" imgH="1751330" progId="Visio.Drawing.11">
                  <p:embed/>
                </p:oleObj>
              </mc:Choice>
              <mc:Fallback>
                <p:oleObj name="" r:id="rId1" imgW="4178935" imgH="1751330" progId="Visio.Drawing.11">
                  <p:embed/>
                  <p:pic>
                    <p:nvPicPr>
                      <p:cNvPr id="0" name="图片 3075"/>
                      <p:cNvPicPr/>
                      <p:nvPr/>
                    </p:nvPicPr>
                    <p:blipFill>
                      <a:blip r:embed="rId2"/>
                      <a:stretch>
                        <a:fillRect/>
                      </a:stretch>
                    </p:blipFill>
                    <p:spPr>
                      <a:xfrm>
                        <a:off x="490538" y="2709863"/>
                        <a:ext cx="8283575" cy="3097212"/>
                      </a:xfrm>
                      <a:prstGeom prst="rect">
                        <a:avLst/>
                      </a:prstGeom>
                      <a:noFill/>
                      <a:ln w="38100">
                        <a:noFill/>
                        <a:miter/>
                      </a:ln>
                    </p:spPr>
                  </p:pic>
                </p:oleObj>
              </mc:Fallback>
            </mc:AlternateContent>
          </a:graphicData>
        </a:graphic>
      </p:graphicFrame>
      <p:sp>
        <p:nvSpPr>
          <p:cNvPr id="4100" name="Rectangle 5"/>
          <p:cNvSpPr/>
          <p:nvPr/>
        </p:nvSpPr>
        <p:spPr>
          <a:xfrm>
            <a:off x="2181225" y="5842000"/>
            <a:ext cx="4979988"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323850" algn="l" eaLnBrk="1" hangingPunct="1">
              <a:lnSpc>
                <a:spcPct val="150000"/>
              </a:lnSpc>
              <a:spcBef>
                <a:spcPct val="0"/>
              </a:spcBef>
              <a:buClrTx/>
              <a:buNone/>
            </a:pPr>
            <a:r>
              <a:rPr lang="zh-CN" altLang="en-US" sz="2000" dirty="0">
                <a:ea typeface="宋体" panose="02010600030101010101" pitchFamily="2" charset="-122"/>
              </a:rPr>
              <a:t> (</a:t>
            </a:r>
            <a:r>
              <a:rPr lang="en-US" altLang="zh-CN" sz="2000" dirty="0">
                <a:ea typeface="宋体" panose="02010600030101010101" pitchFamily="2" charset="-122"/>
              </a:rPr>
              <a:t>a) </a:t>
            </a:r>
            <a:r>
              <a:rPr lang="zh-CN" altLang="en-US" sz="2000" dirty="0">
                <a:ea typeface="宋体" panose="02010600030101010101" pitchFamily="2" charset="-122"/>
              </a:rPr>
              <a:t>三个进程，每一个进程有一个线程</a:t>
            </a:r>
            <a:endParaRPr lang="zh-CN" altLang="en-US" sz="2000" dirty="0">
              <a:ea typeface="宋体" panose="02010600030101010101" pitchFamily="2" charset="-122"/>
            </a:endParaRPr>
          </a:p>
          <a:p>
            <a:pPr marL="0" lvl="0" indent="323850" algn="l">
              <a:lnSpc>
                <a:spcPct val="150000"/>
              </a:lnSpc>
              <a:spcBef>
                <a:spcPct val="0"/>
              </a:spcBef>
              <a:buClrTx/>
              <a:buNone/>
            </a:pPr>
            <a:r>
              <a:rPr lang="zh-CN" altLang="en-US" sz="2000" dirty="0">
                <a:ea typeface="宋体" panose="02010600030101010101" pitchFamily="2" charset="-122"/>
              </a:rPr>
              <a:t> (</a:t>
            </a:r>
            <a:r>
              <a:rPr lang="en-US" altLang="zh-CN" sz="2000" dirty="0">
                <a:ea typeface="宋体" panose="02010600030101010101" pitchFamily="2" charset="-122"/>
              </a:rPr>
              <a:t>b) </a:t>
            </a:r>
            <a:r>
              <a:rPr lang="zh-CN" altLang="en-US" sz="2000" dirty="0">
                <a:ea typeface="宋体" panose="02010600030101010101" pitchFamily="2" charset="-122"/>
              </a:rPr>
              <a:t>一个进程有三个线程</a:t>
            </a:r>
            <a:endParaRPr lang="zh-CN" altLang="en-US" sz="2000" dirty="0">
              <a:ea typeface="宋体" panose="02010600030101010101" pitchFamily="2" charset="-122"/>
            </a:endParaRPr>
          </a:p>
        </p:txBody>
      </p:sp>
      <p:sp>
        <p:nvSpPr>
          <p:cNvPr id="4101" name="矩形 4"/>
          <p:cNvSpPr/>
          <p:nvPr/>
        </p:nvSpPr>
        <p:spPr>
          <a:xfrm>
            <a:off x="236538" y="1149350"/>
            <a:ext cx="8764587" cy="12779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None/>
            </a:pPr>
            <a:r>
              <a:rPr lang="zh-CN" altLang="en-US" sz="2200" b="1" dirty="0">
                <a:ea typeface="宋体" panose="02010600030101010101" pitchFamily="2" charset="-122"/>
              </a:rPr>
              <a:t>进程：</a:t>
            </a:r>
            <a:r>
              <a:rPr lang="zh-CN" altLang="en-US" sz="2200" dirty="0">
                <a:ea typeface="宋体" panose="02010600030101010101" pitchFamily="2" charset="-122"/>
              </a:rPr>
              <a:t>程序一次执行过程，资源</a:t>
            </a:r>
            <a:r>
              <a:rPr lang="en-US" altLang="zh-CN" sz="2200" dirty="0">
                <a:ea typeface="宋体" panose="02010600030101010101" pitchFamily="2" charset="-122"/>
              </a:rPr>
              <a:t>(CPU</a:t>
            </a:r>
            <a:r>
              <a:rPr lang="zh-CN" altLang="en-US" sz="2200" dirty="0">
                <a:ea typeface="宋体" panose="02010600030101010101" pitchFamily="2" charset="-122"/>
              </a:rPr>
              <a:t>、存储器、</a:t>
            </a:r>
            <a:r>
              <a:rPr lang="en-US" altLang="zh-CN" sz="2200" dirty="0">
                <a:ea typeface="宋体" panose="02010600030101010101" pitchFamily="2" charset="-122"/>
              </a:rPr>
              <a:t>I/O</a:t>
            </a:r>
            <a:r>
              <a:rPr lang="zh-CN" altLang="en-US" sz="2200" dirty="0">
                <a:ea typeface="宋体" panose="02010600030101010101" pitchFamily="2" charset="-122"/>
              </a:rPr>
              <a:t>及文件</a:t>
            </a:r>
            <a:r>
              <a:rPr lang="en-US" altLang="zh-CN" sz="2200" dirty="0">
                <a:ea typeface="宋体" panose="02010600030101010101" pitchFamily="2" charset="-122"/>
              </a:rPr>
              <a:t>)</a:t>
            </a:r>
            <a:r>
              <a:rPr lang="zh-CN" altLang="en-US" sz="2200" dirty="0">
                <a:ea typeface="宋体" panose="02010600030101010101" pitchFamily="2" charset="-122"/>
              </a:rPr>
              <a:t>分配单位；</a:t>
            </a:r>
            <a:endParaRPr lang="en-US" altLang="zh-CN" sz="2200" dirty="0">
              <a:ea typeface="宋体" panose="02010600030101010101" pitchFamily="2" charset="-122"/>
            </a:endParaRPr>
          </a:p>
          <a:p>
            <a:pPr marL="0" lvl="0" indent="0" algn="l" eaLnBrk="1" hangingPunct="1">
              <a:lnSpc>
                <a:spcPct val="150000"/>
              </a:lnSpc>
              <a:spcBef>
                <a:spcPct val="50000"/>
              </a:spcBef>
              <a:buClrTx/>
              <a:buNone/>
            </a:pPr>
            <a:r>
              <a:rPr lang="zh-CN" altLang="en-US" sz="2200" b="1" dirty="0">
                <a:ea typeface="宋体" panose="02010600030101010101" pitchFamily="2" charset="-122"/>
              </a:rPr>
              <a:t>线程：</a:t>
            </a:r>
            <a:r>
              <a:rPr lang="en-US" altLang="zh-CN" sz="2200" dirty="0">
                <a:ea typeface="宋体" panose="02010600030101010101" pitchFamily="2" charset="-122"/>
              </a:rPr>
              <a:t>CPU</a:t>
            </a:r>
            <a:r>
              <a:rPr lang="zh-CN" altLang="en-US" sz="2200" dirty="0">
                <a:ea typeface="宋体" panose="02010600030101010101" pitchFamily="2" charset="-122"/>
              </a:rPr>
              <a:t>分配单位</a:t>
            </a:r>
            <a:endParaRPr lang="en-US" altLang="zh-CN" sz="2200"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0" y="0"/>
            <a:ext cx="9144000" cy="881063"/>
          </a:xfrm>
        </p:spPr>
        <p:txBody>
          <a:bodyPr vert="horz" wrap="square" lIns="91440" tIns="45720" rIns="91440" bIns="45720" anchor="ctr" anchorCtr="0"/>
          <a:p>
            <a:pPr eaLnBrk="1" hangingPunct="1"/>
            <a:r>
              <a:rPr lang="en-US" altLang="zh-CN" sz="4000" dirty="0">
                <a:ea typeface="宋体" panose="02010600030101010101" pitchFamily="2" charset="-122"/>
              </a:rPr>
              <a:t>Correlative Concepts</a:t>
            </a:r>
            <a:endParaRPr lang="zh-CN" altLang="en-US" sz="4000" dirty="0">
              <a:ea typeface="宋体" panose="02010600030101010101" pitchFamily="2" charset="-122"/>
            </a:endParaRPr>
          </a:p>
        </p:txBody>
      </p:sp>
      <p:sp>
        <p:nvSpPr>
          <p:cNvPr id="129027" name="Rectangle 3"/>
          <p:cNvSpPr>
            <a:spLocks noGrp="1"/>
          </p:cNvSpPr>
          <p:nvPr>
            <p:ph idx="1"/>
          </p:nvPr>
        </p:nvSpPr>
        <p:spPr>
          <a:xfrm>
            <a:off x="334963" y="1411288"/>
            <a:ext cx="8443912" cy="2168525"/>
          </a:xfrm>
        </p:spPr>
        <p:txBody>
          <a:bodyPr vert="horz" wrap="square" lIns="91440" tIns="45720" rIns="91440" bIns="45720" anchor="t" anchorCtr="0"/>
          <a:p>
            <a:pPr algn="l" eaLnBrk="1" hangingPunct="1">
              <a:lnSpc>
                <a:spcPct val="150000"/>
              </a:lnSpc>
              <a:buFont typeface="Wingdings" panose="05000000000000000000" pitchFamily="2" charset="2"/>
              <a:buChar char="Ø"/>
            </a:pPr>
            <a:r>
              <a:rPr lang="zh-CN" altLang="en-US" sz="2000" b="1" dirty="0">
                <a:ea typeface="宋体" panose="02010600030101010101" pitchFamily="2" charset="-122"/>
              </a:rPr>
              <a:t>提高进程执行效率，不必使进程因等待某事件而阻塞</a:t>
            </a:r>
            <a:r>
              <a:rPr lang="en-US" altLang="zh-CN" sz="2000" b="1" dirty="0">
                <a:ea typeface="宋体" panose="02010600030101010101" pitchFamily="2" charset="-122"/>
              </a:rPr>
              <a:t>;</a:t>
            </a:r>
            <a:endParaRPr lang="en-US" altLang="zh-CN" sz="2000" b="1" dirty="0">
              <a:ea typeface="宋体" panose="02010600030101010101" pitchFamily="2" charset="-122"/>
            </a:endParaRPr>
          </a:p>
          <a:p>
            <a:pPr algn="l" eaLnBrk="1" hangingPunct="1">
              <a:lnSpc>
                <a:spcPct val="150000"/>
              </a:lnSpc>
              <a:buFont typeface="Wingdings" panose="05000000000000000000" pitchFamily="2" charset="2"/>
              <a:buChar char="Ø"/>
            </a:pPr>
            <a:r>
              <a:rPr lang="zh-CN" altLang="en-US" sz="2000" b="1" dirty="0">
                <a:ea typeface="宋体" panose="02010600030101010101" pitchFamily="2" charset="-122"/>
              </a:rPr>
              <a:t>多处理</a:t>
            </a:r>
            <a:r>
              <a:rPr lang="en-US" altLang="zh-CN" sz="2000" b="1" dirty="0">
                <a:ea typeface="宋体" panose="02010600030101010101" pitchFamily="2" charset="-122"/>
              </a:rPr>
              <a:t>/</a:t>
            </a:r>
            <a:r>
              <a:rPr lang="zh-CN" altLang="en-US" sz="2000" b="1" dirty="0">
                <a:ea typeface="宋体" panose="02010600030101010101" pitchFamily="2" charset="-122"/>
              </a:rPr>
              <a:t>多核线程并行执行</a:t>
            </a:r>
            <a:r>
              <a:rPr lang="en-US" altLang="zh-CN" sz="2000" b="1" dirty="0">
                <a:ea typeface="宋体" panose="02010600030101010101" pitchFamily="2" charset="-122"/>
              </a:rPr>
              <a:t>;</a:t>
            </a:r>
            <a:endParaRPr lang="en-US" altLang="zh-CN" sz="2000" b="1" dirty="0">
              <a:ea typeface="宋体" panose="02010600030101010101" pitchFamily="2" charset="-122"/>
            </a:endParaRPr>
          </a:p>
          <a:p>
            <a:pPr algn="l" eaLnBrk="1" hangingPunct="1">
              <a:lnSpc>
                <a:spcPct val="150000"/>
              </a:lnSpc>
              <a:buFont typeface="Wingdings" panose="05000000000000000000" pitchFamily="2" charset="2"/>
              <a:buChar char="Ø"/>
            </a:pPr>
            <a:r>
              <a:rPr lang="en-US" altLang="zh-CN" sz="2000" b="1" dirty="0">
                <a:ea typeface="宋体" panose="02010600030101010101" pitchFamily="2" charset="-122"/>
              </a:rPr>
              <a:t>IPC</a:t>
            </a:r>
            <a:r>
              <a:rPr lang="zh-CN" altLang="en-US" sz="2000" b="1" dirty="0">
                <a:ea typeface="宋体" panose="02010600030101010101" pitchFamily="2" charset="-122"/>
              </a:rPr>
              <a:t>需要内核干预，上下文切换代价高，</a:t>
            </a:r>
            <a:r>
              <a:rPr lang="en-US" altLang="zh-CN" sz="2000" b="1" dirty="0">
                <a:ea typeface="宋体" panose="02010600030101010101" pitchFamily="2" charset="-122"/>
              </a:rPr>
              <a:t>ITC</a:t>
            </a:r>
            <a:r>
              <a:rPr lang="zh-CN" altLang="en-US" sz="2000" b="1" dirty="0">
                <a:ea typeface="宋体" panose="02010600030101010101" pitchFamily="2" charset="-122"/>
              </a:rPr>
              <a:t>可通过数据共享实现；</a:t>
            </a:r>
            <a:endParaRPr lang="zh-CN" altLang="en-US" sz="2000" b="1" dirty="0">
              <a:ea typeface="宋体" panose="02010600030101010101" pitchFamily="2" charset="-122"/>
            </a:endParaRPr>
          </a:p>
          <a:p>
            <a:pPr algn="l" eaLnBrk="1" hangingPunct="1">
              <a:lnSpc>
                <a:spcPct val="150000"/>
              </a:lnSpc>
              <a:buFont typeface="Wingdings" panose="05000000000000000000" pitchFamily="2" charset="2"/>
              <a:buChar char="Ø"/>
            </a:pPr>
            <a:r>
              <a:rPr lang="zh-CN" altLang="en-US" sz="2000" b="1" dirty="0">
                <a:ea typeface="宋体" panose="02010600030101010101" pitchFamily="2" charset="-122"/>
              </a:rPr>
              <a:t>应用逻辑需要一组相互协作的任务完成。</a:t>
            </a:r>
            <a:endParaRPr lang="zh-CN" altLang="en-US" sz="2000" b="1" dirty="0">
              <a:ea typeface="宋体" panose="02010600030101010101" pitchFamily="2" charset="-122"/>
            </a:endParaRPr>
          </a:p>
          <a:p>
            <a:pPr algn="l" eaLnBrk="1" hangingPunct="1">
              <a:lnSpc>
                <a:spcPct val="150000"/>
              </a:lnSpc>
              <a:buFont typeface="Wingdings" panose="05000000000000000000" pitchFamily="2" charset="2"/>
              <a:buNone/>
            </a:pPr>
            <a:r>
              <a:rPr lang="zh-CN" altLang="en-US" sz="2000" b="1" dirty="0">
                <a:ea typeface="宋体" panose="02010600030101010101" pitchFamily="2" charset="-122"/>
              </a:rPr>
              <a:t>    </a:t>
            </a:r>
            <a:endParaRPr lang="zh-CN" altLang="en-US" sz="2000" b="1" dirty="0">
              <a:ea typeface="宋体" panose="02010600030101010101" pitchFamily="2" charset="-122"/>
            </a:endParaRPr>
          </a:p>
        </p:txBody>
      </p:sp>
      <p:sp>
        <p:nvSpPr>
          <p:cNvPr id="5124" name="Rectangle 4"/>
          <p:cNvSpPr/>
          <p:nvPr/>
        </p:nvSpPr>
        <p:spPr>
          <a:xfrm>
            <a:off x="0" y="720725"/>
            <a:ext cx="3209925" cy="6556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ct val="150000"/>
              </a:lnSpc>
              <a:buNone/>
            </a:pPr>
            <a:r>
              <a:rPr lang="zh-CN" altLang="en-US" sz="2800" b="1" i="1" dirty="0">
                <a:ea typeface="宋体" panose="02010600030101010101" pitchFamily="2" charset="-122"/>
              </a:rPr>
              <a:t>为什么引入线程</a:t>
            </a:r>
            <a:r>
              <a:rPr lang="en-US" altLang="zh-CN" sz="2800" dirty="0">
                <a:ea typeface="宋体" panose="02010600030101010101" pitchFamily="2" charset="-122"/>
              </a:rPr>
              <a:t>:  </a:t>
            </a:r>
            <a:endParaRPr lang="en-US" altLang="zh-CN" sz="2800" dirty="0">
              <a:ea typeface="宋体" panose="02010600030101010101" pitchFamily="2" charset="-122"/>
            </a:endParaRPr>
          </a:p>
        </p:txBody>
      </p:sp>
      <p:pic>
        <p:nvPicPr>
          <p:cNvPr id="5125" name="Picture 4" descr="03-01"/>
          <p:cNvPicPr>
            <a:picLocks noChangeAspect="1"/>
          </p:cNvPicPr>
          <p:nvPr/>
        </p:nvPicPr>
        <p:blipFill>
          <a:blip r:embed="rId1"/>
          <a:stretch>
            <a:fillRect/>
          </a:stretch>
        </p:blipFill>
        <p:spPr>
          <a:xfrm>
            <a:off x="3436938" y="3579813"/>
            <a:ext cx="5646737" cy="2876550"/>
          </a:xfrm>
          <a:prstGeom prst="rect">
            <a:avLst/>
          </a:prstGeom>
          <a:noFill/>
          <a:ln w="9525">
            <a:noFill/>
          </a:ln>
        </p:spPr>
      </p:pic>
      <p:sp>
        <p:nvSpPr>
          <p:cNvPr id="5126" name="矩形 6"/>
          <p:cNvSpPr/>
          <p:nvPr/>
        </p:nvSpPr>
        <p:spPr>
          <a:xfrm>
            <a:off x="236538" y="3898900"/>
            <a:ext cx="3138487" cy="17541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None/>
            </a:pPr>
            <a:r>
              <a:rPr lang="zh-CN" altLang="en-US" sz="1800" b="1" dirty="0">
                <a:ea typeface="宋体" panose="02010600030101010101" pitchFamily="2" charset="-122"/>
              </a:rPr>
              <a:t>线程实现细粒度并发或并行</a:t>
            </a:r>
            <a:r>
              <a:rPr lang="en-US" altLang="zh-CN" sz="1800" b="1" dirty="0">
                <a:ea typeface="宋体" panose="02010600030101010101" pitchFamily="2" charset="-122"/>
              </a:rPr>
              <a:t>:   </a:t>
            </a:r>
            <a:r>
              <a:rPr lang="zh-CN" altLang="en-US" sz="1800" b="1" dirty="0">
                <a:ea typeface="宋体" panose="02010600030101010101" pitchFamily="2" charset="-122"/>
              </a:rPr>
              <a:t>通过共享进程地址空间，更好支持（</a:t>
            </a:r>
            <a:r>
              <a:rPr lang="en-US" altLang="zh-CN" sz="1800" b="1" dirty="0">
                <a:ea typeface="宋体" panose="02010600030101010101" pitchFamily="2" charset="-122"/>
              </a:rPr>
              <a:t>SMP</a:t>
            </a:r>
            <a:r>
              <a:rPr lang="zh-CN" altLang="en-US" sz="1800" b="1"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多核，减小上下文切换等开销。 </a:t>
            </a:r>
            <a:endParaRPr lang="zh-CN" altLang="en-US" sz="1800" dirty="0">
              <a:ea typeface="宋体" panose="02010600030101010101" pitchFamily="2" charset="-122"/>
            </a:endParaRPr>
          </a:p>
        </p:txBody>
      </p:sp>
      <p:sp>
        <p:nvSpPr>
          <p:cNvPr id="5127" name="矩形 7"/>
          <p:cNvSpPr/>
          <p:nvPr/>
        </p:nvSpPr>
        <p:spPr>
          <a:xfrm>
            <a:off x="4721225" y="6519863"/>
            <a:ext cx="3565525" cy="33813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Thread Usage in Nondistributed Systems</a:t>
            </a:r>
            <a:endParaRPr lang="zh-CN" altLang="en-US" sz="16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9027">
                                            <p:txEl>
                                              <p:charRg st="0" end="25"/>
                                            </p:txEl>
                                          </p:spTgt>
                                        </p:tgtEl>
                                        <p:attrNameLst>
                                          <p:attrName>style.visibility</p:attrName>
                                        </p:attrNameLst>
                                      </p:cBhvr>
                                      <p:to>
                                        <p:strVal val="visible"/>
                                      </p:to>
                                    </p:set>
                                    <p:anim calcmode="lin" valueType="num">
                                      <p:cBhvr additive="base">
                                        <p:cTn id="7" dur="500" fill="hold"/>
                                        <p:tgtEl>
                                          <p:spTgt spid="129027">
                                            <p:txEl>
                                              <p:charRg st="0" end="2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9027">
                                            <p:txEl>
                                              <p:charRg st="0" end="2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9027">
                                            <p:txEl>
                                              <p:charRg st="25" end="39"/>
                                            </p:txEl>
                                          </p:spTgt>
                                        </p:tgtEl>
                                        <p:attrNameLst>
                                          <p:attrName>style.visibility</p:attrName>
                                        </p:attrNameLst>
                                      </p:cBhvr>
                                      <p:to>
                                        <p:strVal val="visible"/>
                                      </p:to>
                                    </p:set>
                                    <p:anim calcmode="lin" valueType="num">
                                      <p:cBhvr additive="base">
                                        <p:cTn id="13" dur="500" fill="hold"/>
                                        <p:tgtEl>
                                          <p:spTgt spid="129027">
                                            <p:txEl>
                                              <p:charRg st="25" end="3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9027">
                                            <p:txEl>
                                              <p:charRg st="25" end="3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9027">
                                            <p:txEl>
                                              <p:charRg st="39" end="72"/>
                                            </p:txEl>
                                          </p:spTgt>
                                        </p:tgtEl>
                                        <p:attrNameLst>
                                          <p:attrName>style.visibility</p:attrName>
                                        </p:attrNameLst>
                                      </p:cBhvr>
                                      <p:to>
                                        <p:strVal val="visible"/>
                                      </p:to>
                                    </p:set>
                                    <p:anim calcmode="lin" valueType="num">
                                      <p:cBhvr additive="base">
                                        <p:cTn id="19" dur="500" fill="hold"/>
                                        <p:tgtEl>
                                          <p:spTgt spid="129027">
                                            <p:txEl>
                                              <p:charRg st="39" end="7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9027">
                                            <p:txEl>
                                              <p:charRg st="39" end="7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9027">
                                            <p:txEl>
                                              <p:charRg st="72" end="91"/>
                                            </p:txEl>
                                          </p:spTgt>
                                        </p:tgtEl>
                                        <p:attrNameLst>
                                          <p:attrName>style.visibility</p:attrName>
                                        </p:attrNameLst>
                                      </p:cBhvr>
                                      <p:to>
                                        <p:strVal val="visible"/>
                                      </p:to>
                                    </p:set>
                                    <p:anim calcmode="lin" valueType="num">
                                      <p:cBhvr additive="base">
                                        <p:cTn id="25" dur="500" fill="hold"/>
                                        <p:tgtEl>
                                          <p:spTgt spid="129027">
                                            <p:txEl>
                                              <p:charRg st="72" end="9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9027">
                                            <p:txEl>
                                              <p:charRg st="72" end="9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9027">
                                            <p:txEl>
                                              <p:charRg st="91" end="96"/>
                                            </p:txEl>
                                          </p:spTgt>
                                        </p:tgtEl>
                                        <p:attrNameLst>
                                          <p:attrName>style.visibility</p:attrName>
                                        </p:attrNameLst>
                                      </p:cBhvr>
                                      <p:to>
                                        <p:strVal val="visible"/>
                                      </p:to>
                                    </p:set>
                                    <p:anim calcmode="lin" valueType="num">
                                      <p:cBhvr additive="base">
                                        <p:cTn id="31" dur="500" fill="hold"/>
                                        <p:tgtEl>
                                          <p:spTgt spid="129027">
                                            <p:txEl>
                                              <p:charRg st="91" end="9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9027">
                                            <p:txEl>
                                              <p:charRg st="91" end="9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0" y="0"/>
            <a:ext cx="9144000" cy="765175"/>
          </a:xfrm>
        </p:spPr>
        <p:txBody>
          <a:bodyPr vert="horz" wrap="square" lIns="91440" tIns="45720" rIns="91440" bIns="45720" anchor="ctr" anchorCtr="0"/>
          <a:p>
            <a:pPr eaLnBrk="1" hangingPunct="1"/>
            <a:r>
              <a:rPr lang="en-US" altLang="zh-CN" sz="4000" dirty="0">
                <a:ea typeface="宋体" panose="02010600030101010101" pitchFamily="2" charset="-122"/>
              </a:rPr>
              <a:t>Thread Implementation</a:t>
            </a:r>
            <a:endParaRPr lang="zh-CN" altLang="en-US" sz="4000" dirty="0">
              <a:ea typeface="宋体" panose="02010600030101010101" pitchFamily="2" charset="-122"/>
            </a:endParaRPr>
          </a:p>
        </p:txBody>
      </p:sp>
      <p:sp>
        <p:nvSpPr>
          <p:cNvPr id="6147" name="Rectangle 3"/>
          <p:cNvSpPr>
            <a:spLocks noGrp="1"/>
          </p:cNvSpPr>
          <p:nvPr>
            <p:ph idx="1"/>
          </p:nvPr>
        </p:nvSpPr>
        <p:spPr>
          <a:xfrm>
            <a:off x="58738" y="765175"/>
            <a:ext cx="9026525" cy="1455738"/>
          </a:xfrm>
        </p:spPr>
        <p:txBody>
          <a:bodyPr vert="horz" wrap="square" lIns="91440" tIns="45720" rIns="91440" bIns="45720" anchor="t" anchorCtr="0"/>
          <a:p>
            <a:pPr algn="l" eaLnBrk="1" hangingPunct="1">
              <a:lnSpc>
                <a:spcPct val="150000"/>
              </a:lnSpc>
              <a:buFont typeface="Wingdings" panose="05000000000000000000" pitchFamily="2" charset="2"/>
              <a:buChar char="Ø"/>
            </a:pPr>
            <a:r>
              <a:rPr lang="en-US" altLang="zh-CN" sz="1800" dirty="0">
                <a:ea typeface="宋体" panose="02010600030101010101" pitchFamily="2" charset="-122"/>
              </a:rPr>
              <a:t>user-level. </a:t>
            </a:r>
            <a:r>
              <a:rPr lang="zh-CN" altLang="en-US" sz="1800" dirty="0">
                <a:ea typeface="宋体" panose="02010600030101010101" pitchFamily="2" charset="-122"/>
              </a:rPr>
              <a:t>用户模式下执行线程库；上下文切换代价小，容易造成整个进程的阻塞；</a:t>
            </a:r>
            <a:endParaRPr lang="zh-CN" altLang="en-US" sz="1800" dirty="0">
              <a:ea typeface="宋体" panose="02010600030101010101" pitchFamily="2" charset="-122"/>
            </a:endParaRPr>
          </a:p>
          <a:p>
            <a:pPr algn="l" eaLnBrk="1" hangingPunct="1">
              <a:lnSpc>
                <a:spcPct val="150000"/>
              </a:lnSpc>
              <a:buFont typeface="Wingdings" panose="05000000000000000000" pitchFamily="2" charset="2"/>
              <a:buChar char="Ø"/>
            </a:pPr>
            <a:r>
              <a:rPr lang="en-US" altLang="zh-CN" sz="1800" dirty="0">
                <a:ea typeface="宋体" panose="02010600030101010101" pitchFamily="2" charset="-122"/>
              </a:rPr>
              <a:t> kernel-level.</a:t>
            </a:r>
            <a:r>
              <a:rPr lang="zh-CN" altLang="en-US" sz="1800" dirty="0">
                <a:ea typeface="宋体" panose="02010600030101010101" pitchFamily="2" charset="-122"/>
              </a:rPr>
              <a:t>内核管理的线程库；不会导致进程的阻塞，上下文切换代价高；</a:t>
            </a:r>
            <a:endParaRPr lang="zh-CN" altLang="en-US" sz="1800" dirty="0">
              <a:ea typeface="宋体" panose="02010600030101010101" pitchFamily="2" charset="-122"/>
            </a:endParaRPr>
          </a:p>
          <a:p>
            <a:pPr algn="l" eaLnBrk="1" hangingPunct="1">
              <a:lnSpc>
                <a:spcPct val="150000"/>
              </a:lnSpc>
              <a:buFont typeface="Wingdings" panose="05000000000000000000" pitchFamily="2" charset="2"/>
              <a:buChar char="Ø"/>
            </a:pPr>
            <a:r>
              <a:rPr lang="zh-CN" altLang="en-US" sz="1800" dirty="0">
                <a:ea typeface="宋体" panose="02010600030101010101" pitchFamily="2" charset="-122"/>
              </a:rPr>
              <a:t>混合方式，通过</a:t>
            </a:r>
            <a:r>
              <a:rPr lang="en-US" altLang="zh-CN" sz="1800" dirty="0">
                <a:ea typeface="宋体" panose="02010600030101010101" pitchFamily="2" charset="-122"/>
              </a:rPr>
              <a:t>LWP</a:t>
            </a:r>
            <a:r>
              <a:rPr lang="zh-CN" altLang="en-US" sz="1800" dirty="0">
                <a:ea typeface="宋体" panose="02010600030101010101" pitchFamily="2" charset="-122"/>
              </a:rPr>
              <a:t>进行线程管理。</a:t>
            </a:r>
            <a:endParaRPr lang="zh-CN" altLang="en-US" sz="1800" dirty="0">
              <a:ea typeface="宋体" panose="02010600030101010101" pitchFamily="2" charset="-122"/>
            </a:endParaRPr>
          </a:p>
        </p:txBody>
      </p:sp>
      <p:sp>
        <p:nvSpPr>
          <p:cNvPr id="4" name="Rectangle 3"/>
          <p:cNvSpPr txBox="1">
            <a:spLocks noChangeArrowheads="1"/>
          </p:cNvSpPr>
          <p:nvPr/>
        </p:nvSpPr>
        <p:spPr bwMode="auto">
          <a:xfrm>
            <a:off x="317500" y="5672138"/>
            <a:ext cx="3746500" cy="6953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Combining kernel-level lightweight </a:t>
            </a:r>
            <a:b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b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processes and user-level threads.</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6149" name="Picture 4" descr="03-02"/>
          <p:cNvPicPr>
            <a:picLocks noChangeAspect="1"/>
          </p:cNvPicPr>
          <p:nvPr/>
        </p:nvPicPr>
        <p:blipFill>
          <a:blip r:embed="rId1"/>
          <a:stretch>
            <a:fillRect/>
          </a:stretch>
        </p:blipFill>
        <p:spPr>
          <a:xfrm>
            <a:off x="217488" y="2478088"/>
            <a:ext cx="4254500" cy="2936875"/>
          </a:xfrm>
          <a:prstGeom prst="rect">
            <a:avLst/>
          </a:prstGeom>
          <a:noFill/>
          <a:ln w="9525">
            <a:noFill/>
          </a:ln>
        </p:spPr>
      </p:pic>
      <p:pic>
        <p:nvPicPr>
          <p:cNvPr id="6150" name="Picture 3"/>
          <p:cNvPicPr>
            <a:picLocks noChangeAspect="1"/>
          </p:cNvPicPr>
          <p:nvPr/>
        </p:nvPicPr>
        <p:blipFill>
          <a:blip r:embed="rId2"/>
          <a:srcRect l="645" t="16856" r="511" b="16856"/>
          <a:stretch>
            <a:fillRect/>
          </a:stretch>
        </p:blipFill>
        <p:spPr>
          <a:xfrm>
            <a:off x="4370388" y="2220913"/>
            <a:ext cx="4583112" cy="3340100"/>
          </a:xfrm>
          <a:prstGeom prst="rect">
            <a:avLst/>
          </a:prstGeom>
          <a:noFill/>
          <a:ln w="9525">
            <a:noFill/>
          </a:ln>
        </p:spPr>
      </p:pic>
      <p:sp>
        <p:nvSpPr>
          <p:cNvPr id="7" name="Rectangle 2"/>
          <p:cNvSpPr txBox="1">
            <a:spLocks noChangeArrowheads="1"/>
          </p:cNvSpPr>
          <p:nvPr/>
        </p:nvSpPr>
        <p:spPr bwMode="auto">
          <a:xfrm>
            <a:off x="5700713" y="5910263"/>
            <a:ext cx="1920875" cy="357188"/>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sym typeface="+mn-ea"/>
              </a:rPr>
              <a:t>Solaris threads</a:t>
            </a:r>
            <a:endParaRPr kumimoji="0" lang="zh-CN" altLang="en-US" sz="2000" b="0" i="0" u="none" strike="noStrike" kern="0" cap="none" spc="0" normalizeH="0" baseline="0" noProof="0" dirty="0">
              <a:ln>
                <a:noFill/>
              </a:ln>
              <a:solidFill>
                <a:schemeClr val="tx1"/>
              </a:solidFill>
              <a:effectLst/>
              <a:uLnTx/>
              <a:uFillTx/>
              <a:latin typeface="+mj-lt"/>
              <a:ea typeface="宋体" panose="02010600030101010101" pitchFamily="2" charset="-122"/>
              <a:cs typeface="+mj-cs"/>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2"/>
          <p:cNvSpPr txBox="1"/>
          <p:nvPr/>
        </p:nvSpPr>
        <p:spPr>
          <a:xfrm>
            <a:off x="1600200" y="3505200"/>
            <a:ext cx="3962400"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1800" dirty="0">
              <a:latin typeface="Arial" panose="020B0604020202020204" pitchFamily="34" charset="0"/>
              <a:ea typeface="宋体" panose="02010600030101010101" pitchFamily="2" charset="-122"/>
            </a:endParaRPr>
          </a:p>
        </p:txBody>
      </p:sp>
      <p:sp>
        <p:nvSpPr>
          <p:cNvPr id="7171" name="Rectangle 4"/>
          <p:cNvSpPr/>
          <p:nvPr/>
        </p:nvSpPr>
        <p:spPr>
          <a:xfrm>
            <a:off x="239713" y="0"/>
            <a:ext cx="8761412" cy="1233488"/>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20000"/>
              </a:lnSpc>
              <a:spcBef>
                <a:spcPct val="0"/>
              </a:spcBef>
              <a:buClrTx/>
              <a:buNone/>
            </a:pPr>
            <a:r>
              <a:rPr lang="en-US" altLang="zh-CN" sz="2400" b="1" dirty="0">
                <a:solidFill>
                  <a:srgbClr val="FF0000"/>
                </a:solidFill>
                <a:latin typeface="Bookman Old Style" panose="02050604050505020204" pitchFamily="18" charset="0"/>
                <a:ea typeface="宋体" panose="02010600030101010101" pitchFamily="2" charset="-122"/>
              </a:rPr>
              <a:t>CMP—Chip Multi-Processing </a:t>
            </a:r>
            <a:r>
              <a:rPr lang="zh-CN" altLang="en-US" sz="2400" b="1" dirty="0">
                <a:solidFill>
                  <a:srgbClr val="FF0000"/>
                </a:solidFill>
                <a:latin typeface="Bookman Old Style" panose="02050604050505020204" pitchFamily="18" charset="0"/>
                <a:ea typeface="宋体" panose="02010600030101010101" pitchFamily="2" charset="-122"/>
              </a:rPr>
              <a:t>芯片多处理技术，多核处理器</a:t>
            </a:r>
            <a:r>
              <a:rPr lang="en-US" altLang="zh-CN" sz="2400" b="1" dirty="0">
                <a:solidFill>
                  <a:srgbClr val="FF0000"/>
                </a:solidFill>
                <a:latin typeface="Bookman Old Style" panose="02050604050505020204" pitchFamily="18" charset="0"/>
                <a:ea typeface="宋体" panose="02010600030101010101" pitchFamily="2" charset="-122"/>
              </a:rPr>
              <a:t>Multicore</a:t>
            </a:r>
            <a:r>
              <a:rPr lang="zh-CN" altLang="en-US" sz="2400" b="1" dirty="0">
                <a:solidFill>
                  <a:srgbClr val="FF0000"/>
                </a:solidFill>
                <a:latin typeface="Bookman Old Style" panose="02050604050505020204" pitchFamily="18" charset="0"/>
                <a:ea typeface="宋体" panose="02010600030101010101" pitchFamily="2" charset="-122"/>
              </a:rPr>
              <a:t>，为线程并行化而设计，主要有三种方案</a:t>
            </a:r>
            <a:r>
              <a:rPr lang="en-US" altLang="zh-CN" sz="2400" b="1" dirty="0">
                <a:solidFill>
                  <a:srgbClr val="FF0000"/>
                </a:solidFill>
                <a:latin typeface="Bookman Old Style" panose="02050604050505020204" pitchFamily="18" charset="0"/>
                <a:ea typeface="宋体" panose="02010600030101010101" pitchFamily="2" charset="-122"/>
              </a:rPr>
              <a:t>:</a:t>
            </a:r>
            <a:endParaRPr lang="en-US" altLang="zh-CN" sz="2400" dirty="0">
              <a:solidFill>
                <a:srgbClr val="FF0000"/>
              </a:solidFill>
              <a:latin typeface="Bookman Old Style" panose="02050604050505020204" pitchFamily="18" charset="0"/>
              <a:ea typeface="宋体" panose="02010600030101010101" pitchFamily="2" charset="-122"/>
            </a:endParaRPr>
          </a:p>
        </p:txBody>
      </p:sp>
      <p:sp>
        <p:nvSpPr>
          <p:cNvPr id="7172" name="Text Box 6"/>
          <p:cNvSpPr txBox="1"/>
          <p:nvPr/>
        </p:nvSpPr>
        <p:spPr>
          <a:xfrm>
            <a:off x="327025" y="1338263"/>
            <a:ext cx="212248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2000" dirty="0">
                <a:latin typeface="Book Antiqua" panose="02040602050305030304" pitchFamily="18" charset="0"/>
                <a:ea typeface="宋体" panose="02010600030101010101" pitchFamily="2" charset="-122"/>
              </a:rPr>
              <a:t>1</a:t>
            </a:r>
            <a:r>
              <a:rPr lang="zh-CN" altLang="en-US" sz="2000" dirty="0">
                <a:latin typeface="Book Antiqua" panose="02040602050305030304" pitchFamily="18" charset="0"/>
                <a:ea typeface="宋体" panose="02010600030101010101" pitchFamily="2" charset="-122"/>
              </a:rPr>
              <a:t>）</a:t>
            </a:r>
            <a:r>
              <a:rPr lang="en-US" altLang="zh-CN" sz="2000" dirty="0">
                <a:latin typeface="Book Antiqua" panose="02040602050305030304" pitchFamily="18" charset="0"/>
                <a:ea typeface="宋体" panose="02010600030101010101" pitchFamily="2" charset="-122"/>
              </a:rPr>
              <a:t>Shared Cache</a:t>
            </a:r>
            <a:endParaRPr lang="en-US" altLang="zh-CN" sz="2000" dirty="0">
              <a:latin typeface="Book Antiqua" panose="02040602050305030304" pitchFamily="18" charset="0"/>
              <a:ea typeface="宋体" panose="02010600030101010101" pitchFamily="2" charset="-122"/>
            </a:endParaRPr>
          </a:p>
        </p:txBody>
      </p:sp>
      <p:pic>
        <p:nvPicPr>
          <p:cNvPr id="7173" name="Picture 7" descr="3"/>
          <p:cNvPicPr>
            <a:picLocks noChangeAspect="1"/>
          </p:cNvPicPr>
          <p:nvPr/>
        </p:nvPicPr>
        <p:blipFill>
          <a:blip r:embed="rId1"/>
          <a:stretch>
            <a:fillRect/>
          </a:stretch>
        </p:blipFill>
        <p:spPr>
          <a:xfrm>
            <a:off x="342900" y="1984375"/>
            <a:ext cx="2541588" cy="2928938"/>
          </a:xfrm>
          <a:prstGeom prst="rect">
            <a:avLst/>
          </a:prstGeom>
          <a:noFill/>
          <a:ln w="9525">
            <a:noFill/>
          </a:ln>
        </p:spPr>
      </p:pic>
      <p:sp>
        <p:nvSpPr>
          <p:cNvPr id="7174" name="Text Box 8"/>
          <p:cNvSpPr txBox="1"/>
          <p:nvPr/>
        </p:nvSpPr>
        <p:spPr>
          <a:xfrm>
            <a:off x="557213" y="5060950"/>
            <a:ext cx="2379662" cy="1384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400" dirty="0">
                <a:latin typeface="Arial" panose="020B0604020202020204" pitchFamily="34" charset="0"/>
                <a:ea typeface="宋体" panose="02010600030101010101" pitchFamily="2" charset="-122"/>
              </a:rPr>
              <a:t>Production</a:t>
            </a:r>
            <a:r>
              <a:rPr lang="zh-CN" altLang="en-US" sz="1400" dirty="0">
                <a:latin typeface="Arial" panose="020B0604020202020204" pitchFamily="34" charset="0"/>
                <a:ea typeface="宋体" panose="02010600030101010101" pitchFamily="2" charset="-122"/>
              </a:rPr>
              <a:t>：</a:t>
            </a:r>
            <a:endParaRPr lang="zh-CN" altLang="en-US" sz="1400"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400" i="1" dirty="0">
                <a:latin typeface="Arial" panose="020B0604020202020204" pitchFamily="34" charset="0"/>
                <a:ea typeface="宋体" panose="02010600030101010101" pitchFamily="2" charset="-122"/>
              </a:rPr>
              <a:t>IBM POWER4/5 family </a:t>
            </a:r>
            <a:endParaRPr lang="en-US" altLang="zh-CN" sz="1400" i="1"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400" i="1" dirty="0">
                <a:latin typeface="Arial" panose="020B0604020202020204" pitchFamily="34" charset="0"/>
                <a:ea typeface="宋体" panose="02010600030101010101" pitchFamily="2" charset="-122"/>
              </a:rPr>
              <a:t>Sun UltraSPARC-IV</a:t>
            </a:r>
            <a:endParaRPr lang="en-US" altLang="zh-CN" sz="1400" i="1"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400" i="1" dirty="0">
                <a:latin typeface="Arial" panose="020B0604020202020204" pitchFamily="34" charset="0"/>
                <a:ea typeface="宋体" panose="02010600030101010101" pitchFamily="2" charset="-122"/>
              </a:rPr>
              <a:t>Fujitsu SPARC64-VI</a:t>
            </a:r>
            <a:endParaRPr lang="en-US" altLang="zh-CN" sz="1400" i="1"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400" i="1" dirty="0">
                <a:latin typeface="Arial" panose="020B0604020202020204" pitchFamily="34" charset="0"/>
                <a:ea typeface="宋体" panose="02010600030101010101" pitchFamily="2" charset="-122"/>
              </a:rPr>
              <a:t>Sun Niagara</a:t>
            </a:r>
            <a:endParaRPr lang="en-US" altLang="zh-CN" sz="1400" i="1"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400" i="1" dirty="0">
                <a:latin typeface="Arial" panose="020B0604020202020204" pitchFamily="34" charset="0"/>
                <a:ea typeface="宋体" panose="02010600030101010101" pitchFamily="2" charset="-122"/>
              </a:rPr>
              <a:t>Intel Yonah/Merom family</a:t>
            </a:r>
            <a:endParaRPr lang="en-US" altLang="zh-CN" sz="1400" i="1" dirty="0">
              <a:latin typeface="Arial" panose="020B0604020202020204" pitchFamily="34" charset="0"/>
              <a:ea typeface="宋体" panose="02010600030101010101" pitchFamily="2" charset="-122"/>
            </a:endParaRPr>
          </a:p>
        </p:txBody>
      </p:sp>
      <p:sp>
        <p:nvSpPr>
          <p:cNvPr id="7175" name="Text Box 5"/>
          <p:cNvSpPr txBox="1"/>
          <p:nvPr/>
        </p:nvSpPr>
        <p:spPr>
          <a:xfrm>
            <a:off x="2933700" y="1322388"/>
            <a:ext cx="2928938"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2000" dirty="0">
                <a:latin typeface="Book Antiqua" panose="02040602050305030304" pitchFamily="18" charset="0"/>
                <a:ea typeface="宋体" panose="02010600030101010101" pitchFamily="2" charset="-122"/>
              </a:rPr>
              <a:t>2</a:t>
            </a:r>
            <a:r>
              <a:rPr lang="zh-CN" altLang="en-US" sz="2000" dirty="0">
                <a:latin typeface="Book Antiqua" panose="02040602050305030304" pitchFamily="18" charset="0"/>
                <a:ea typeface="宋体" panose="02010600030101010101" pitchFamily="2" charset="-122"/>
              </a:rPr>
              <a:t>）</a:t>
            </a:r>
            <a:r>
              <a:rPr lang="en-US" altLang="zh-CN" sz="2000" dirty="0">
                <a:latin typeface="Book Antiqua" panose="02040602050305030304" pitchFamily="18" charset="0"/>
                <a:ea typeface="宋体" panose="02010600030101010101" pitchFamily="2" charset="-122"/>
              </a:rPr>
              <a:t>Shared I/O Interface</a:t>
            </a:r>
            <a:endParaRPr lang="en-US" altLang="zh-CN" sz="2000" dirty="0">
              <a:latin typeface="Book Antiqua" panose="02040602050305030304" pitchFamily="18" charset="0"/>
              <a:ea typeface="宋体" panose="02010600030101010101" pitchFamily="2" charset="-122"/>
            </a:endParaRPr>
          </a:p>
        </p:txBody>
      </p:sp>
      <p:sp>
        <p:nvSpPr>
          <p:cNvPr id="7176" name="Text Box 6"/>
          <p:cNvSpPr txBox="1"/>
          <p:nvPr/>
        </p:nvSpPr>
        <p:spPr>
          <a:xfrm>
            <a:off x="3295650" y="5289550"/>
            <a:ext cx="2565400" cy="830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600" dirty="0">
                <a:latin typeface="Arial" panose="020B0604020202020204" pitchFamily="34" charset="0"/>
                <a:ea typeface="宋体" panose="02010600030101010101" pitchFamily="2" charset="-122"/>
              </a:rPr>
              <a:t>Production</a:t>
            </a:r>
            <a:r>
              <a:rPr lang="zh-CN" altLang="en-US" sz="1600" dirty="0">
                <a:latin typeface="Arial" panose="020B0604020202020204" pitchFamily="34" charset="0"/>
                <a:ea typeface="宋体" panose="02010600030101010101" pitchFamily="2" charset="-122"/>
              </a:rPr>
              <a:t>：</a:t>
            </a:r>
            <a:endParaRPr lang="zh-CN" altLang="en-US" sz="1600"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600" i="1" dirty="0">
                <a:latin typeface="Arial" panose="020B0604020202020204" pitchFamily="34" charset="0"/>
                <a:ea typeface="宋体" panose="02010600030101010101" pitchFamily="2" charset="-122"/>
              </a:rPr>
              <a:t>Intel Itanium2</a:t>
            </a:r>
            <a:endParaRPr lang="en-US" altLang="zh-CN" sz="1600" i="1"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600" i="1" dirty="0">
                <a:latin typeface="Arial" panose="020B0604020202020204" pitchFamily="34" charset="0"/>
                <a:ea typeface="宋体" panose="02010600030101010101" pitchFamily="2" charset="-122"/>
              </a:rPr>
              <a:t>AMD dual-core Opteron</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p:txBody>
      </p:sp>
      <p:pic>
        <p:nvPicPr>
          <p:cNvPr id="7177" name="Picture 7" descr="1"/>
          <p:cNvPicPr>
            <a:picLocks noChangeAspect="1"/>
          </p:cNvPicPr>
          <p:nvPr/>
        </p:nvPicPr>
        <p:blipFill>
          <a:blip r:embed="rId2"/>
          <a:stretch>
            <a:fillRect/>
          </a:stretch>
        </p:blipFill>
        <p:spPr>
          <a:xfrm>
            <a:off x="3260725" y="1985963"/>
            <a:ext cx="2578100" cy="2905125"/>
          </a:xfrm>
          <a:prstGeom prst="rect">
            <a:avLst/>
          </a:prstGeom>
          <a:noFill/>
          <a:ln w="9525">
            <a:noFill/>
          </a:ln>
        </p:spPr>
      </p:pic>
      <p:sp>
        <p:nvSpPr>
          <p:cNvPr id="7178" name="Text Box 6"/>
          <p:cNvSpPr txBox="1"/>
          <p:nvPr/>
        </p:nvSpPr>
        <p:spPr>
          <a:xfrm>
            <a:off x="6140450" y="1314450"/>
            <a:ext cx="2733675"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2000" dirty="0">
                <a:latin typeface="Book Antiqua" panose="02040602050305030304" pitchFamily="18" charset="0"/>
                <a:ea typeface="宋体" panose="02010600030101010101" pitchFamily="2" charset="-122"/>
              </a:rPr>
              <a:t>3</a:t>
            </a:r>
            <a:r>
              <a:rPr lang="zh-CN" altLang="en-US" sz="2000" dirty="0">
                <a:latin typeface="Book Antiqua" panose="02040602050305030304" pitchFamily="18" charset="0"/>
                <a:ea typeface="宋体" panose="02010600030101010101" pitchFamily="2" charset="-122"/>
              </a:rPr>
              <a:t>）</a:t>
            </a:r>
            <a:r>
              <a:rPr lang="en-US" altLang="zh-CN" sz="2000" dirty="0">
                <a:latin typeface="Book Antiqua" panose="02040602050305030304" pitchFamily="18" charset="0"/>
                <a:ea typeface="宋体" panose="02010600030101010101" pitchFamily="2" charset="-122"/>
              </a:rPr>
              <a:t>Shared data packet</a:t>
            </a:r>
            <a:endParaRPr lang="en-US" altLang="zh-CN" sz="2000" dirty="0">
              <a:latin typeface="Book Antiqua" panose="02040602050305030304" pitchFamily="18" charset="0"/>
              <a:ea typeface="宋体" panose="02010600030101010101" pitchFamily="2" charset="-122"/>
            </a:endParaRPr>
          </a:p>
        </p:txBody>
      </p:sp>
      <p:sp>
        <p:nvSpPr>
          <p:cNvPr id="7179" name="Text Box 7"/>
          <p:cNvSpPr txBox="1"/>
          <p:nvPr/>
        </p:nvSpPr>
        <p:spPr>
          <a:xfrm>
            <a:off x="6262688" y="5424488"/>
            <a:ext cx="2363787" cy="584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600" dirty="0">
                <a:latin typeface="Arial" panose="020B0604020202020204" pitchFamily="34" charset="0"/>
                <a:ea typeface="宋体" panose="02010600030101010101" pitchFamily="2" charset="-122"/>
              </a:rPr>
              <a:t>Production</a:t>
            </a:r>
            <a:r>
              <a:rPr lang="zh-CN" altLang="en-US" sz="1600" dirty="0">
                <a:latin typeface="Arial" panose="020B0604020202020204" pitchFamily="34" charset="0"/>
                <a:ea typeface="宋体" panose="02010600030101010101" pitchFamily="2" charset="-122"/>
              </a:rPr>
              <a:t>：</a:t>
            </a:r>
            <a:endParaRPr lang="zh-CN" altLang="en-US" sz="1600" dirty="0">
              <a:latin typeface="Arial" panose="020B0604020202020204" pitchFamily="34" charset="0"/>
              <a:ea typeface="宋体" panose="02010600030101010101" pitchFamily="2" charset="-122"/>
            </a:endParaRPr>
          </a:p>
          <a:p>
            <a:pPr marL="0" lvl="0" indent="0" algn="l" eaLnBrk="1" hangingPunct="1">
              <a:spcBef>
                <a:spcPct val="0"/>
              </a:spcBef>
              <a:buClrTx/>
              <a:buNone/>
            </a:pPr>
            <a:r>
              <a:rPr lang="en-US" altLang="zh-CN" sz="1600" i="1" dirty="0">
                <a:latin typeface="Arial" panose="020B0604020202020204" pitchFamily="34" charset="0"/>
                <a:ea typeface="宋体" panose="02010600030101010101" pitchFamily="2" charset="-122"/>
              </a:rPr>
              <a:t>Intel Pentium D</a:t>
            </a:r>
            <a:r>
              <a:rPr lang="en-US" altLang="zh-CN" sz="1600" dirty="0">
                <a:latin typeface="Arial" panose="020B0604020202020204" pitchFamily="34" charset="0"/>
                <a:ea typeface="宋体" panose="02010600030101010101" pitchFamily="2" charset="-122"/>
              </a:rPr>
              <a:t> </a:t>
            </a:r>
            <a:endParaRPr lang="en-US" altLang="zh-CN" sz="1600" dirty="0">
              <a:latin typeface="Arial" panose="020B0604020202020204" pitchFamily="34" charset="0"/>
              <a:ea typeface="宋体" panose="02010600030101010101" pitchFamily="2" charset="-122"/>
            </a:endParaRPr>
          </a:p>
        </p:txBody>
      </p:sp>
      <p:pic>
        <p:nvPicPr>
          <p:cNvPr id="7180" name="Picture 8" descr="2"/>
          <p:cNvPicPr>
            <a:picLocks noChangeAspect="1"/>
          </p:cNvPicPr>
          <p:nvPr/>
        </p:nvPicPr>
        <p:blipFill>
          <a:blip r:embed="rId3"/>
          <a:stretch>
            <a:fillRect/>
          </a:stretch>
        </p:blipFill>
        <p:spPr>
          <a:xfrm>
            <a:off x="6092825" y="2005013"/>
            <a:ext cx="2693988" cy="29019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381000" y="279400"/>
            <a:ext cx="7997825" cy="706438"/>
          </a:xfrm>
        </p:spPr>
        <p:txBody>
          <a:bodyPr vert="horz" wrap="square" lIns="91440" tIns="45720" rIns="91440" bIns="45720" anchor="ctr" anchorCtr="0"/>
          <a:p>
            <a:pPr algn="l" eaLnBrk="1" hangingPunct="1"/>
            <a:r>
              <a:rPr lang="en-US" altLang="zh-CN" sz="2400" dirty="0">
                <a:latin typeface="Bookman Old Style" panose="02050604050505020204" pitchFamily="18" charset="0"/>
                <a:ea typeface="宋体" panose="02010600030101010101" pitchFamily="2" charset="-122"/>
              </a:rPr>
              <a:t> </a:t>
            </a:r>
            <a:r>
              <a:rPr lang="en-US" altLang="zh-CN" sz="2400" b="1" dirty="0">
                <a:latin typeface="Bookman Old Style" panose="02050604050505020204" pitchFamily="18" charset="0"/>
                <a:ea typeface="宋体" panose="02010600030101010101" pitchFamily="2" charset="-122"/>
              </a:rPr>
              <a:t>CMPOS</a:t>
            </a:r>
            <a:r>
              <a:rPr lang="en-US" altLang="zh-CN" sz="2400" dirty="0">
                <a:latin typeface="Bookman Old Style" panose="02050604050505020204" pitchFamily="18" charset="0"/>
                <a:ea typeface="宋体" panose="02010600030101010101" pitchFamily="2" charset="-122"/>
              </a:rPr>
              <a:t>— Chip Multi-Processor Operating System</a:t>
            </a:r>
            <a:endParaRPr lang="en-US" altLang="zh-CN" sz="2400" dirty="0">
              <a:latin typeface="Bookman Old Style" panose="02050604050505020204" pitchFamily="18" charset="0"/>
              <a:ea typeface="宋体" panose="02010600030101010101" pitchFamily="2" charset="-122"/>
            </a:endParaRPr>
          </a:p>
        </p:txBody>
      </p:sp>
      <p:sp>
        <p:nvSpPr>
          <p:cNvPr id="9219" name="Text Box 6"/>
          <p:cNvSpPr txBox="1"/>
          <p:nvPr/>
        </p:nvSpPr>
        <p:spPr>
          <a:xfrm>
            <a:off x="141288" y="1100138"/>
            <a:ext cx="3603625" cy="3683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Book Antiqua" panose="02040602050305030304" pitchFamily="18" charset="0"/>
                <a:ea typeface="宋体" panose="02010600030101010101" pitchFamily="2" charset="-122"/>
              </a:rPr>
              <a:t>1</a:t>
            </a:r>
            <a:r>
              <a:rPr lang="zh-CN" altLang="en-US" sz="1800" dirty="0">
                <a:latin typeface="Book Antiqua" panose="02040602050305030304" pitchFamily="18" charset="0"/>
                <a:ea typeface="宋体" panose="02010600030101010101" pitchFamily="2" charset="-122"/>
              </a:rPr>
              <a:t>）</a:t>
            </a:r>
            <a:r>
              <a:rPr lang="en-US" altLang="zh-CN" sz="1800" dirty="0">
                <a:latin typeface="Book Antiqua" panose="02040602050305030304" pitchFamily="18" charset="0"/>
                <a:ea typeface="宋体" panose="02010600030101010101" pitchFamily="2" charset="-122"/>
              </a:rPr>
              <a:t>Processes Scheduling for Task</a:t>
            </a:r>
            <a:endParaRPr lang="en-US" altLang="zh-CN" sz="1800" dirty="0">
              <a:latin typeface="Book Antiqua" panose="02040602050305030304" pitchFamily="18" charset="0"/>
              <a:ea typeface="宋体" panose="02010600030101010101" pitchFamily="2" charset="-122"/>
            </a:endParaRPr>
          </a:p>
        </p:txBody>
      </p:sp>
      <p:sp>
        <p:nvSpPr>
          <p:cNvPr id="9220" name="Text Box 8"/>
          <p:cNvSpPr txBox="1"/>
          <p:nvPr/>
        </p:nvSpPr>
        <p:spPr>
          <a:xfrm>
            <a:off x="501650" y="1539875"/>
            <a:ext cx="4362450" cy="21701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Font typeface="Wingdings" panose="05000000000000000000" pitchFamily="2" charset="2"/>
              <a:buChar char="Ø"/>
            </a:pPr>
            <a:r>
              <a:rPr lang="zh-CN" altLang="en-US" sz="1800" b="1" dirty="0">
                <a:latin typeface="Bookman Old Style" panose="02050604050505020204" pitchFamily="18" charset="0"/>
                <a:ea typeface="宋体" panose="02010600030101010101" pitchFamily="2" charset="-122"/>
              </a:rPr>
              <a:t>单用户单任务</a:t>
            </a:r>
            <a:endParaRPr lang="zh-CN" altLang="en-US" sz="1800" b="1" dirty="0">
              <a:latin typeface="Bookman Old Style" panose="02050604050505020204" pitchFamily="18" charset="0"/>
              <a:ea typeface="宋体" panose="02010600030101010101" pitchFamily="2" charset="-122"/>
            </a:endParaRPr>
          </a:p>
          <a:p>
            <a:pPr marL="0" lvl="0" indent="0" algn="l" eaLnBrk="1" hangingPunct="1">
              <a:lnSpc>
                <a:spcPct val="150000"/>
              </a:lnSpc>
              <a:spcBef>
                <a:spcPct val="50000"/>
              </a:spcBef>
              <a:buClrTx/>
              <a:buFont typeface="Wingdings" panose="05000000000000000000" pitchFamily="2" charset="2"/>
              <a:buChar char="Ø"/>
            </a:pP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单用户多任务（</a:t>
            </a:r>
            <a:r>
              <a:rPr lang="en-US" altLang="zh-CN" sz="1800" b="1" dirty="0">
                <a:latin typeface="Bookman Old Style" panose="02050604050505020204" pitchFamily="18" charset="0"/>
                <a:ea typeface="宋体" panose="02010600030101010101" pitchFamily="2" charset="-122"/>
                <a:sym typeface="Wingdings" panose="05000000000000000000" pitchFamily="2" charset="2"/>
              </a:rPr>
              <a:t>DOS</a:t>
            </a: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a:t>
            </a:r>
            <a:endParaRPr lang="zh-CN" altLang="en-US" sz="1800" b="1" dirty="0">
              <a:latin typeface="Bookman Old Style" panose="02050604050505020204" pitchFamily="18" charset="0"/>
              <a:ea typeface="宋体" panose="02010600030101010101" pitchFamily="2" charset="-122"/>
              <a:sym typeface="Wingdings" panose="05000000000000000000" pitchFamily="2" charset="2"/>
            </a:endParaRPr>
          </a:p>
          <a:p>
            <a:pPr marL="0" lvl="0" indent="0" algn="l" eaLnBrk="1" hangingPunct="1">
              <a:lnSpc>
                <a:spcPct val="150000"/>
              </a:lnSpc>
              <a:spcBef>
                <a:spcPct val="50000"/>
              </a:spcBef>
              <a:buClrTx/>
              <a:buFont typeface="Wingdings" panose="05000000000000000000" pitchFamily="2" charset="2"/>
              <a:buChar char="Ø"/>
            </a:pP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多用户多任务（</a:t>
            </a:r>
            <a:r>
              <a:rPr lang="en-US" altLang="zh-CN" sz="1800" b="1" dirty="0">
                <a:latin typeface="Bookman Old Style" panose="02050604050505020204" pitchFamily="18" charset="0"/>
                <a:ea typeface="宋体" panose="02010600030101010101" pitchFamily="2" charset="-122"/>
                <a:sym typeface="Wingdings" panose="05000000000000000000" pitchFamily="2" charset="2"/>
              </a:rPr>
              <a:t>Linux</a:t>
            </a: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a:t>
            </a:r>
            <a:endParaRPr lang="zh-CN" altLang="en-US" sz="1800" b="1" dirty="0">
              <a:latin typeface="Bookman Old Style" panose="02050604050505020204" pitchFamily="18" charset="0"/>
              <a:ea typeface="宋体" panose="02010600030101010101" pitchFamily="2" charset="-122"/>
              <a:sym typeface="Wingdings" panose="05000000000000000000" pitchFamily="2" charset="2"/>
            </a:endParaRPr>
          </a:p>
          <a:p>
            <a:pPr marL="0" lvl="0" indent="0" algn="l" eaLnBrk="1" hangingPunct="1">
              <a:lnSpc>
                <a:spcPct val="150000"/>
              </a:lnSpc>
              <a:spcBef>
                <a:spcPct val="50000"/>
              </a:spcBef>
              <a:buClrTx/>
              <a:buFont typeface="Wingdings" panose="05000000000000000000" pitchFamily="2" charset="2"/>
              <a:buChar char="Ø"/>
            </a:pP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多用户多任务多核（</a:t>
            </a:r>
            <a:r>
              <a:rPr lang="en-US" altLang="zh-CN" sz="1800" b="1" dirty="0">
                <a:latin typeface="Bookman Old Style" panose="02050604050505020204" pitchFamily="18" charset="0"/>
                <a:ea typeface="宋体" panose="02010600030101010101" pitchFamily="2" charset="-122"/>
                <a:sym typeface="Wingdings" panose="05000000000000000000" pitchFamily="2" charset="2"/>
              </a:rPr>
              <a:t>CMPOS</a:t>
            </a: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a:t>
            </a:r>
            <a:endParaRPr lang="zh-CN" altLang="en-US" sz="1800" b="1" dirty="0">
              <a:latin typeface="Bookman Old Style" panose="02050604050505020204" pitchFamily="18" charset="0"/>
              <a:ea typeface="宋体" panose="02010600030101010101" pitchFamily="2" charset="-122"/>
            </a:endParaRPr>
          </a:p>
        </p:txBody>
      </p:sp>
      <p:sp>
        <p:nvSpPr>
          <p:cNvPr id="9221" name="Text Box 6"/>
          <p:cNvSpPr txBox="1"/>
          <p:nvPr/>
        </p:nvSpPr>
        <p:spPr>
          <a:xfrm>
            <a:off x="4259263" y="1762125"/>
            <a:ext cx="4756150" cy="369888"/>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en-US" altLang="zh-CN" sz="1800" dirty="0">
                <a:latin typeface="Book Antiqua" panose="02040602050305030304" pitchFamily="18" charset="0"/>
                <a:ea typeface="宋体" panose="02010600030101010101" pitchFamily="2" charset="-122"/>
              </a:rPr>
              <a:t>2</a:t>
            </a:r>
            <a:r>
              <a:rPr lang="zh-CN" altLang="en-US" sz="1800" dirty="0">
                <a:latin typeface="Book Antiqua" panose="02040602050305030304" pitchFamily="18" charset="0"/>
                <a:ea typeface="宋体" panose="02010600030101010101" pitchFamily="2" charset="-122"/>
              </a:rPr>
              <a:t>）</a:t>
            </a:r>
            <a:r>
              <a:rPr lang="en-US" altLang="zh-CN" sz="1800" dirty="0">
                <a:latin typeface="Book Antiqua" panose="02040602050305030304" pitchFamily="18" charset="0"/>
                <a:ea typeface="宋体" panose="02010600030101010101" pitchFamily="2" charset="-122"/>
              </a:rPr>
              <a:t>Processes Scheduling for Low C</a:t>
            </a:r>
            <a:r>
              <a:rPr lang="en-US" altLang="en-US" sz="1800" dirty="0">
                <a:latin typeface="Book Antiqua" panose="02040602050305030304" pitchFamily="18" charset="0"/>
                <a:ea typeface="宋体" panose="02010600030101010101" pitchFamily="2" charset="-122"/>
              </a:rPr>
              <a:t>onsume</a:t>
            </a:r>
            <a:r>
              <a:rPr lang="en-US" altLang="zh-CN" sz="1800" dirty="0">
                <a:latin typeface="Book Antiqua" panose="02040602050305030304" pitchFamily="18" charset="0"/>
                <a:ea typeface="宋体" panose="02010600030101010101" pitchFamily="2" charset="-122"/>
              </a:rPr>
              <a:t>d</a:t>
            </a:r>
            <a:endParaRPr lang="en-US" altLang="zh-CN" sz="1800" dirty="0">
              <a:latin typeface="Book Antiqua" panose="02040602050305030304" pitchFamily="18" charset="0"/>
              <a:ea typeface="宋体" panose="02010600030101010101" pitchFamily="2" charset="-122"/>
            </a:endParaRPr>
          </a:p>
        </p:txBody>
      </p:sp>
      <p:sp>
        <p:nvSpPr>
          <p:cNvPr id="9222" name="Text Box 8"/>
          <p:cNvSpPr txBox="1"/>
          <p:nvPr/>
        </p:nvSpPr>
        <p:spPr>
          <a:xfrm>
            <a:off x="4619625" y="2319338"/>
            <a:ext cx="4179888" cy="7858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zh-CN" altLang="en-US" sz="1800" b="1" dirty="0">
                <a:latin typeface="Bookman Old Style" panose="02050604050505020204" pitchFamily="18" charset="0"/>
                <a:ea typeface="宋体" panose="02010600030101010101" pitchFamily="2" charset="-122"/>
              </a:rPr>
              <a:t>一定条件下的最高效率调度</a:t>
            </a:r>
            <a:endParaRPr lang="zh-CN" altLang="en-US" sz="1800" b="1" dirty="0">
              <a:latin typeface="Bookman Old Style" panose="02050604050505020204" pitchFamily="18" charset="0"/>
              <a:ea typeface="宋体" panose="02010600030101010101" pitchFamily="2" charset="-122"/>
            </a:endParaRPr>
          </a:p>
          <a:p>
            <a:pPr marL="0" lvl="0" indent="0" algn="l" eaLnBrk="1" hangingPunct="1">
              <a:spcBef>
                <a:spcPct val="50000"/>
              </a:spcBef>
              <a:buClrTx/>
              <a:buNone/>
            </a:pPr>
            <a:r>
              <a:rPr lang="zh-CN" altLang="en-US" sz="1800" b="1" dirty="0">
                <a:latin typeface="Bookman Old Style" panose="02050604050505020204" pitchFamily="18" charset="0"/>
                <a:ea typeface="宋体" panose="02010600030101010101" pitchFamily="2" charset="-122"/>
              </a:rPr>
              <a:t>－</a:t>
            </a:r>
            <a:r>
              <a:rPr lang="zh-CN" altLang="en-US" sz="1800" b="1" dirty="0">
                <a:latin typeface="Bookman Old Style" panose="02050604050505020204" pitchFamily="18" charset="0"/>
                <a:ea typeface="宋体" panose="02010600030101010101" pitchFamily="2" charset="-122"/>
                <a:sym typeface="Wingdings" panose="05000000000000000000" pitchFamily="2" charset="2"/>
              </a:rPr>
              <a:t>一定条件下的最低功耗调度</a:t>
            </a:r>
            <a:endParaRPr lang="zh-CN" altLang="en-US" sz="1800" b="1" dirty="0">
              <a:latin typeface="Bookman Old Style" panose="02050604050505020204" pitchFamily="18" charset="0"/>
              <a:ea typeface="宋体" panose="02010600030101010101" pitchFamily="2" charset="-122"/>
            </a:endParaRPr>
          </a:p>
        </p:txBody>
      </p:sp>
      <p:grpSp>
        <p:nvGrpSpPr>
          <p:cNvPr id="9223" name="Group 4"/>
          <p:cNvGrpSpPr/>
          <p:nvPr/>
        </p:nvGrpSpPr>
        <p:grpSpPr>
          <a:xfrm>
            <a:off x="207963" y="4264025"/>
            <a:ext cx="4322762" cy="1592263"/>
            <a:chOff x="1045" y="1656"/>
            <a:chExt cx="3407" cy="1358"/>
          </a:xfrm>
        </p:grpSpPr>
        <p:sp>
          <p:nvSpPr>
            <p:cNvPr id="9246" name="Oval 5"/>
            <p:cNvSpPr/>
            <p:nvPr/>
          </p:nvSpPr>
          <p:spPr>
            <a:xfrm>
              <a:off x="2278" y="1698"/>
              <a:ext cx="2174" cy="757"/>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400" dirty="0">
                <a:ea typeface="宋体" panose="02010600030101010101" pitchFamily="2" charset="-122"/>
              </a:endParaRPr>
            </a:p>
          </p:txBody>
        </p:sp>
        <p:grpSp>
          <p:nvGrpSpPr>
            <p:cNvPr id="9247" name="Group 6"/>
            <p:cNvGrpSpPr/>
            <p:nvPr/>
          </p:nvGrpSpPr>
          <p:grpSpPr>
            <a:xfrm>
              <a:off x="1045" y="1656"/>
              <a:ext cx="3193" cy="1358"/>
              <a:chOff x="1512" y="1264"/>
              <a:chExt cx="2376" cy="777"/>
            </a:xfrm>
          </p:grpSpPr>
          <p:grpSp>
            <p:nvGrpSpPr>
              <p:cNvPr id="9248" name="Group 7"/>
              <p:cNvGrpSpPr/>
              <p:nvPr/>
            </p:nvGrpSpPr>
            <p:grpSpPr>
              <a:xfrm>
                <a:off x="1512" y="1264"/>
                <a:ext cx="2376" cy="777"/>
                <a:chOff x="3780" y="3163"/>
                <a:chExt cx="5939" cy="1943"/>
              </a:xfrm>
            </p:grpSpPr>
            <p:sp>
              <p:nvSpPr>
                <p:cNvPr id="9250" name="Text Box 8"/>
                <p:cNvSpPr txBox="1"/>
                <p:nvPr/>
              </p:nvSpPr>
              <p:spPr>
                <a:xfrm>
                  <a:off x="7380" y="4638"/>
                  <a:ext cx="198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400" dirty="0">
                      <a:ea typeface="宋体" panose="02010600030101010101" pitchFamily="2" charset="-122"/>
                    </a:rPr>
                    <a:t>　</a:t>
                  </a:r>
                  <a:r>
                    <a:rPr lang="en-US" altLang="zh-CN" sz="1400" dirty="0">
                      <a:ea typeface="宋体" panose="02010600030101010101" pitchFamily="2" charset="-122"/>
                    </a:rPr>
                    <a:t>Memory</a:t>
                  </a:r>
                  <a:endParaRPr lang="en-US" altLang="zh-CN" sz="1400" dirty="0">
                    <a:ea typeface="宋体" panose="02010600030101010101" pitchFamily="2" charset="-122"/>
                  </a:endParaRPr>
                </a:p>
              </p:txBody>
            </p:sp>
            <p:sp>
              <p:nvSpPr>
                <p:cNvPr id="9251" name="Text Box 9"/>
                <p:cNvSpPr txBox="1"/>
                <p:nvPr/>
              </p:nvSpPr>
              <p:spPr>
                <a:xfrm>
                  <a:off x="6300" y="3546"/>
                  <a:ext cx="720" cy="46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400" dirty="0">
                      <a:ea typeface="宋体" panose="02010600030101010101" pitchFamily="2" charset="-122"/>
                    </a:rPr>
                    <a:t>PE</a:t>
                  </a:r>
                  <a:endParaRPr lang="en-US" altLang="zh-CN" sz="1400" dirty="0">
                    <a:ea typeface="宋体" panose="02010600030101010101" pitchFamily="2" charset="-122"/>
                  </a:endParaRPr>
                </a:p>
              </p:txBody>
            </p:sp>
            <p:sp>
              <p:nvSpPr>
                <p:cNvPr id="9252" name="Text Box 10"/>
                <p:cNvSpPr txBox="1"/>
                <p:nvPr/>
              </p:nvSpPr>
              <p:spPr>
                <a:xfrm>
                  <a:off x="7380" y="3546"/>
                  <a:ext cx="720" cy="46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400" dirty="0">
                      <a:ea typeface="宋体" panose="02010600030101010101" pitchFamily="2" charset="-122"/>
                    </a:rPr>
                    <a:t>PE</a:t>
                  </a:r>
                  <a:endParaRPr lang="en-US" altLang="zh-CN" sz="1400" dirty="0">
                    <a:ea typeface="宋体" panose="02010600030101010101" pitchFamily="2" charset="-122"/>
                  </a:endParaRPr>
                </a:p>
              </p:txBody>
            </p:sp>
            <p:sp>
              <p:nvSpPr>
                <p:cNvPr id="9253" name="Text Box 11"/>
                <p:cNvSpPr txBox="1"/>
                <p:nvPr/>
              </p:nvSpPr>
              <p:spPr>
                <a:xfrm>
                  <a:off x="9000" y="3546"/>
                  <a:ext cx="719" cy="46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400" dirty="0">
                      <a:ea typeface="宋体" panose="02010600030101010101" pitchFamily="2" charset="-122"/>
                    </a:rPr>
                    <a:t>PE</a:t>
                  </a:r>
                  <a:endParaRPr lang="en-US" altLang="zh-CN" sz="1400" dirty="0">
                    <a:ea typeface="宋体" panose="02010600030101010101" pitchFamily="2" charset="-122"/>
                  </a:endParaRPr>
                </a:p>
              </p:txBody>
            </p:sp>
            <p:cxnSp>
              <p:nvCxnSpPr>
                <p:cNvPr id="9254" name="AutoShape 12"/>
                <p:cNvCxnSpPr>
                  <a:stCxn id="9253" idx="2"/>
                  <a:endCxn id="9250" idx="0"/>
                </p:cNvCxnSpPr>
                <p:nvPr/>
              </p:nvCxnSpPr>
              <p:spPr>
                <a:xfrm flipH="1">
                  <a:off x="8370" y="4015"/>
                  <a:ext cx="990" cy="623"/>
                </a:xfrm>
                <a:prstGeom prst="straightConnector1">
                  <a:avLst/>
                </a:prstGeom>
                <a:ln w="9525" cap="flat" cmpd="sng">
                  <a:solidFill>
                    <a:srgbClr val="000000"/>
                  </a:solidFill>
                  <a:prstDash val="solid"/>
                  <a:headEnd type="triangle" w="med" len="med"/>
                  <a:tailEnd type="triangle" w="med" len="med"/>
                </a:ln>
              </p:spPr>
            </p:cxnSp>
            <p:sp>
              <p:nvSpPr>
                <p:cNvPr id="9255" name="Text Box 13"/>
                <p:cNvSpPr txBox="1"/>
                <p:nvPr/>
              </p:nvSpPr>
              <p:spPr>
                <a:xfrm>
                  <a:off x="3780" y="4638"/>
                  <a:ext cx="306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400" dirty="0">
                      <a:ea typeface="宋体" panose="02010600030101010101" pitchFamily="2" charset="-122"/>
                    </a:rPr>
                    <a:t>进程就绪队列</a:t>
                  </a:r>
                  <a:endParaRPr lang="zh-CN" altLang="en-US" sz="1400" dirty="0">
                    <a:ea typeface="宋体" panose="02010600030101010101" pitchFamily="2" charset="-122"/>
                  </a:endParaRPr>
                </a:p>
              </p:txBody>
            </p:sp>
            <p:cxnSp>
              <p:nvCxnSpPr>
                <p:cNvPr id="9256" name="AutoShape 14"/>
                <p:cNvCxnSpPr>
                  <a:stCxn id="9251" idx="2"/>
                  <a:endCxn id="9250" idx="0"/>
                </p:cNvCxnSpPr>
                <p:nvPr/>
              </p:nvCxnSpPr>
              <p:spPr>
                <a:xfrm>
                  <a:off x="6660" y="4015"/>
                  <a:ext cx="1710" cy="623"/>
                </a:xfrm>
                <a:prstGeom prst="straightConnector1">
                  <a:avLst/>
                </a:prstGeom>
                <a:ln w="9525" cap="flat" cmpd="sng">
                  <a:solidFill>
                    <a:srgbClr val="000000"/>
                  </a:solidFill>
                  <a:prstDash val="solid"/>
                  <a:headEnd type="triangle" w="med" len="med"/>
                  <a:tailEnd type="triangle" w="med" len="med"/>
                </a:ln>
              </p:spPr>
            </p:cxnSp>
            <p:sp>
              <p:nvSpPr>
                <p:cNvPr id="9257" name="Line 15"/>
                <p:cNvSpPr/>
                <p:nvPr/>
              </p:nvSpPr>
              <p:spPr>
                <a:xfrm>
                  <a:off x="6480" y="4638"/>
                  <a:ext cx="1" cy="468"/>
                </a:xfrm>
                <a:prstGeom prst="line">
                  <a:avLst/>
                </a:prstGeom>
                <a:ln w="9525" cap="flat" cmpd="sng">
                  <a:solidFill>
                    <a:srgbClr val="000000"/>
                  </a:solidFill>
                  <a:prstDash val="solid"/>
                  <a:headEnd type="none" w="med" len="med"/>
                  <a:tailEnd type="none" w="med" len="med"/>
                </a:ln>
              </p:spPr>
            </p:sp>
            <p:sp>
              <p:nvSpPr>
                <p:cNvPr id="9258" name="Line 16"/>
                <p:cNvSpPr/>
                <p:nvPr/>
              </p:nvSpPr>
              <p:spPr>
                <a:xfrm>
                  <a:off x="6120" y="4638"/>
                  <a:ext cx="1" cy="468"/>
                </a:xfrm>
                <a:prstGeom prst="line">
                  <a:avLst/>
                </a:prstGeom>
                <a:ln w="9525" cap="flat" cmpd="sng">
                  <a:solidFill>
                    <a:srgbClr val="000000"/>
                  </a:solidFill>
                  <a:prstDash val="solid"/>
                  <a:headEnd type="none" w="med" len="med"/>
                  <a:tailEnd type="none" w="med" len="med"/>
                </a:ln>
              </p:spPr>
            </p:sp>
            <p:sp>
              <p:nvSpPr>
                <p:cNvPr id="9259" name="Line 17"/>
                <p:cNvSpPr/>
                <p:nvPr/>
              </p:nvSpPr>
              <p:spPr>
                <a:xfrm>
                  <a:off x="5760" y="4638"/>
                  <a:ext cx="1" cy="468"/>
                </a:xfrm>
                <a:prstGeom prst="line">
                  <a:avLst/>
                </a:prstGeom>
                <a:ln w="9525" cap="flat" cmpd="sng">
                  <a:solidFill>
                    <a:srgbClr val="000000"/>
                  </a:solidFill>
                  <a:prstDash val="solid"/>
                  <a:headEnd type="none" w="med" len="med"/>
                  <a:tailEnd type="none" w="med" len="med"/>
                </a:ln>
              </p:spPr>
            </p:sp>
            <p:sp>
              <p:nvSpPr>
                <p:cNvPr id="9260" name="Line 18"/>
                <p:cNvSpPr/>
                <p:nvPr/>
              </p:nvSpPr>
              <p:spPr>
                <a:xfrm>
                  <a:off x="5400" y="4638"/>
                  <a:ext cx="1" cy="468"/>
                </a:xfrm>
                <a:prstGeom prst="line">
                  <a:avLst/>
                </a:prstGeom>
                <a:ln w="9525" cap="flat" cmpd="sng">
                  <a:solidFill>
                    <a:srgbClr val="000000"/>
                  </a:solidFill>
                  <a:prstDash val="solid"/>
                  <a:headEnd type="none" w="med" len="med"/>
                  <a:tailEnd type="none" w="med" len="med"/>
                </a:ln>
              </p:spPr>
            </p:sp>
            <p:sp>
              <p:nvSpPr>
                <p:cNvPr id="9261" name="AutoShape 19"/>
                <p:cNvSpPr/>
                <p:nvPr/>
              </p:nvSpPr>
              <p:spPr>
                <a:xfrm>
                  <a:off x="4680" y="3546"/>
                  <a:ext cx="1440" cy="109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262" name="Text Box 20"/>
                <p:cNvSpPr txBox="1"/>
                <p:nvPr/>
              </p:nvSpPr>
              <p:spPr>
                <a:xfrm>
                  <a:off x="3792" y="3163"/>
                  <a:ext cx="1461" cy="413"/>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600" dirty="0">
                      <a:ea typeface="宋体" panose="02010600030101010101" pitchFamily="2" charset="-122"/>
                    </a:rPr>
                    <a:t>进程调度</a:t>
                  </a:r>
                  <a:endParaRPr lang="zh-CN" altLang="en-US" sz="1600" dirty="0">
                    <a:ea typeface="宋体" panose="02010600030101010101" pitchFamily="2" charset="-122"/>
                  </a:endParaRPr>
                </a:p>
              </p:txBody>
            </p:sp>
          </p:grpSp>
          <p:cxnSp>
            <p:nvCxnSpPr>
              <p:cNvPr id="9249" name="AutoShape 21"/>
              <p:cNvCxnSpPr>
                <a:stCxn id="9251" idx="2"/>
                <a:endCxn id="9250" idx="0"/>
              </p:cNvCxnSpPr>
              <p:nvPr/>
            </p:nvCxnSpPr>
            <p:spPr>
              <a:xfrm>
                <a:off x="3096" y="1606"/>
                <a:ext cx="252" cy="249"/>
              </a:xfrm>
              <a:prstGeom prst="straightConnector1">
                <a:avLst/>
              </a:prstGeom>
              <a:ln w="9525" cap="flat" cmpd="sng">
                <a:solidFill>
                  <a:srgbClr val="000000"/>
                </a:solidFill>
                <a:prstDash val="solid"/>
                <a:headEnd type="triangle" w="med" len="med"/>
                <a:tailEnd type="triangle" w="med" len="med"/>
              </a:ln>
            </p:spPr>
          </p:cxnSp>
        </p:grpSp>
      </p:grpSp>
      <p:grpSp>
        <p:nvGrpSpPr>
          <p:cNvPr id="9224" name="组合 73"/>
          <p:cNvGrpSpPr/>
          <p:nvPr/>
        </p:nvGrpSpPr>
        <p:grpSpPr>
          <a:xfrm>
            <a:off x="4775200" y="4116388"/>
            <a:ext cx="4154488" cy="1836737"/>
            <a:chOff x="1752739" y="4165776"/>
            <a:chExt cx="6351145" cy="1835639"/>
          </a:xfrm>
        </p:grpSpPr>
        <p:grpSp>
          <p:nvGrpSpPr>
            <p:cNvPr id="9226" name="组合 74"/>
            <p:cNvGrpSpPr/>
            <p:nvPr/>
          </p:nvGrpSpPr>
          <p:grpSpPr>
            <a:xfrm>
              <a:off x="1752739" y="4165776"/>
              <a:ext cx="6351145" cy="1835639"/>
              <a:chOff x="1519982" y="3658699"/>
              <a:chExt cx="6351145" cy="1835639"/>
            </a:xfrm>
          </p:grpSpPr>
          <p:sp>
            <p:nvSpPr>
              <p:cNvPr id="9228" name="Oval 5"/>
              <p:cNvSpPr/>
              <p:nvPr/>
            </p:nvSpPr>
            <p:spPr>
              <a:xfrm>
                <a:off x="3801687" y="3658699"/>
                <a:ext cx="2314575" cy="1069975"/>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nvGrpSpPr>
              <p:cNvPr id="9229" name="组合 77"/>
              <p:cNvGrpSpPr/>
              <p:nvPr/>
            </p:nvGrpSpPr>
            <p:grpSpPr>
              <a:xfrm>
                <a:off x="1519982" y="3824288"/>
                <a:ext cx="6351145" cy="1670050"/>
                <a:chOff x="1519982" y="3824288"/>
                <a:chExt cx="6351145" cy="1670050"/>
              </a:xfrm>
            </p:grpSpPr>
            <p:grpSp>
              <p:nvGrpSpPr>
                <p:cNvPr id="9230" name="Group 7"/>
                <p:cNvGrpSpPr/>
                <p:nvPr/>
              </p:nvGrpSpPr>
              <p:grpSpPr>
                <a:xfrm>
                  <a:off x="1519982" y="3835400"/>
                  <a:ext cx="5511056" cy="1658938"/>
                  <a:chOff x="4076" y="3078"/>
                  <a:chExt cx="5284" cy="2028"/>
                </a:xfrm>
              </p:grpSpPr>
              <p:sp>
                <p:nvSpPr>
                  <p:cNvPr id="9234" name="Text Box 8"/>
                  <p:cNvSpPr txBox="1"/>
                  <p:nvPr/>
                </p:nvSpPr>
                <p:spPr>
                  <a:xfrm>
                    <a:off x="7380" y="4638"/>
                    <a:ext cx="198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200" dirty="0">
                        <a:ea typeface="宋体" panose="02010600030101010101" pitchFamily="2" charset="-122"/>
                      </a:rPr>
                      <a:t>　</a:t>
                    </a:r>
                    <a:r>
                      <a:rPr lang="en-US" altLang="zh-CN" sz="1200" dirty="0">
                        <a:ea typeface="宋体" panose="02010600030101010101" pitchFamily="2" charset="-122"/>
                      </a:rPr>
                      <a:t>Memory</a:t>
                    </a:r>
                    <a:endParaRPr lang="en-US" altLang="zh-CN" sz="1200" dirty="0">
                      <a:ea typeface="宋体" panose="02010600030101010101" pitchFamily="2" charset="-122"/>
                    </a:endParaRPr>
                  </a:p>
                </p:txBody>
              </p:sp>
              <p:sp>
                <p:nvSpPr>
                  <p:cNvPr id="9235" name="Text Box 9"/>
                  <p:cNvSpPr txBox="1"/>
                  <p:nvPr/>
                </p:nvSpPr>
                <p:spPr>
                  <a:xfrm>
                    <a:off x="6885" y="3546"/>
                    <a:ext cx="893" cy="46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Cache</a:t>
                    </a:r>
                    <a:endParaRPr lang="en-US" altLang="zh-CN" sz="1200" dirty="0">
                      <a:ea typeface="宋体" panose="02010600030101010101" pitchFamily="2" charset="-122"/>
                    </a:endParaRPr>
                  </a:p>
                </p:txBody>
              </p:sp>
              <p:sp>
                <p:nvSpPr>
                  <p:cNvPr id="9236" name="Text Box 10"/>
                  <p:cNvSpPr txBox="1"/>
                  <p:nvPr/>
                </p:nvSpPr>
                <p:spPr>
                  <a:xfrm>
                    <a:off x="6615" y="3078"/>
                    <a:ext cx="720" cy="46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CPU</a:t>
                    </a:r>
                    <a:endParaRPr lang="en-US" altLang="zh-CN" sz="1200" dirty="0">
                      <a:ea typeface="宋体" panose="02010600030101010101" pitchFamily="2" charset="-122"/>
                    </a:endParaRPr>
                  </a:p>
                </p:txBody>
              </p:sp>
              <p:cxnSp>
                <p:nvCxnSpPr>
                  <p:cNvPr id="9237" name="AutoShape 12"/>
                  <p:cNvCxnSpPr>
                    <a:endCxn id="9234" idx="0"/>
                  </p:cNvCxnSpPr>
                  <p:nvPr/>
                </p:nvCxnSpPr>
                <p:spPr>
                  <a:xfrm flipH="1">
                    <a:off x="8370" y="4015"/>
                    <a:ext cx="990" cy="623"/>
                  </a:xfrm>
                  <a:prstGeom prst="straightConnector1">
                    <a:avLst/>
                  </a:prstGeom>
                  <a:ln w="9525" cap="flat" cmpd="sng">
                    <a:solidFill>
                      <a:srgbClr val="000000"/>
                    </a:solidFill>
                    <a:prstDash val="solid"/>
                    <a:headEnd type="triangle" w="med" len="med"/>
                    <a:tailEnd type="triangle" w="med" len="med"/>
                  </a:ln>
                </p:spPr>
              </p:cxnSp>
              <p:sp>
                <p:nvSpPr>
                  <p:cNvPr id="9238" name="Text Box 13"/>
                  <p:cNvSpPr txBox="1"/>
                  <p:nvPr/>
                </p:nvSpPr>
                <p:spPr>
                  <a:xfrm>
                    <a:off x="4076" y="4638"/>
                    <a:ext cx="2835"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200" dirty="0">
                        <a:ea typeface="宋体" panose="02010600030101010101" pitchFamily="2" charset="-122"/>
                      </a:rPr>
                      <a:t>线程就绪队列</a:t>
                    </a:r>
                    <a:endParaRPr lang="zh-CN" altLang="en-US" sz="1200" dirty="0">
                      <a:ea typeface="宋体" panose="02010600030101010101" pitchFamily="2" charset="-122"/>
                    </a:endParaRPr>
                  </a:p>
                </p:txBody>
              </p:sp>
              <p:cxnSp>
                <p:nvCxnSpPr>
                  <p:cNvPr id="9239" name="AutoShape 14"/>
                  <p:cNvCxnSpPr>
                    <a:stCxn id="9235" idx="2"/>
                    <a:endCxn id="9234" idx="0"/>
                  </p:cNvCxnSpPr>
                  <p:nvPr/>
                </p:nvCxnSpPr>
                <p:spPr>
                  <a:xfrm>
                    <a:off x="7332" y="4006"/>
                    <a:ext cx="1038" cy="632"/>
                  </a:xfrm>
                  <a:prstGeom prst="straightConnector1">
                    <a:avLst/>
                  </a:prstGeom>
                  <a:ln w="9525" cap="flat" cmpd="sng">
                    <a:solidFill>
                      <a:srgbClr val="000000"/>
                    </a:solidFill>
                    <a:prstDash val="solid"/>
                    <a:headEnd type="triangle" w="med" len="med"/>
                    <a:tailEnd type="triangle" w="med" len="med"/>
                  </a:ln>
                </p:spPr>
              </p:cxnSp>
              <p:sp>
                <p:nvSpPr>
                  <p:cNvPr id="9240" name="Line 15"/>
                  <p:cNvSpPr/>
                  <p:nvPr/>
                </p:nvSpPr>
                <p:spPr>
                  <a:xfrm>
                    <a:off x="6408" y="4638"/>
                    <a:ext cx="1" cy="468"/>
                  </a:xfrm>
                  <a:prstGeom prst="line">
                    <a:avLst/>
                  </a:prstGeom>
                  <a:ln w="9525" cap="flat" cmpd="sng">
                    <a:solidFill>
                      <a:srgbClr val="000000"/>
                    </a:solidFill>
                    <a:prstDash val="solid"/>
                    <a:headEnd type="none" w="med" len="med"/>
                    <a:tailEnd type="none" w="med" len="med"/>
                  </a:ln>
                </p:spPr>
              </p:sp>
              <p:sp>
                <p:nvSpPr>
                  <p:cNvPr id="9241" name="Line 16"/>
                  <p:cNvSpPr/>
                  <p:nvPr/>
                </p:nvSpPr>
                <p:spPr>
                  <a:xfrm>
                    <a:off x="6120" y="4638"/>
                    <a:ext cx="1" cy="468"/>
                  </a:xfrm>
                  <a:prstGeom prst="line">
                    <a:avLst/>
                  </a:prstGeom>
                  <a:ln w="9525" cap="flat" cmpd="sng">
                    <a:solidFill>
                      <a:srgbClr val="000000"/>
                    </a:solidFill>
                    <a:prstDash val="solid"/>
                    <a:headEnd type="none" w="med" len="med"/>
                    <a:tailEnd type="none" w="med" len="med"/>
                  </a:ln>
                </p:spPr>
              </p:sp>
              <p:sp>
                <p:nvSpPr>
                  <p:cNvPr id="9242" name="Line 17"/>
                  <p:cNvSpPr/>
                  <p:nvPr/>
                </p:nvSpPr>
                <p:spPr>
                  <a:xfrm>
                    <a:off x="5760" y="4638"/>
                    <a:ext cx="1" cy="468"/>
                  </a:xfrm>
                  <a:prstGeom prst="line">
                    <a:avLst/>
                  </a:prstGeom>
                  <a:ln w="9525" cap="flat" cmpd="sng">
                    <a:solidFill>
                      <a:srgbClr val="000000"/>
                    </a:solidFill>
                    <a:prstDash val="solid"/>
                    <a:headEnd type="none" w="med" len="med"/>
                    <a:tailEnd type="none" w="med" len="med"/>
                  </a:ln>
                </p:spPr>
              </p:sp>
              <p:sp>
                <p:nvSpPr>
                  <p:cNvPr id="9243" name="Line 18"/>
                  <p:cNvSpPr/>
                  <p:nvPr/>
                </p:nvSpPr>
                <p:spPr>
                  <a:xfrm>
                    <a:off x="6666" y="4626"/>
                    <a:ext cx="1" cy="468"/>
                  </a:xfrm>
                  <a:prstGeom prst="line">
                    <a:avLst/>
                  </a:prstGeom>
                  <a:ln w="9525" cap="flat" cmpd="sng">
                    <a:solidFill>
                      <a:srgbClr val="000000"/>
                    </a:solidFill>
                    <a:prstDash val="solid"/>
                    <a:headEnd type="none" w="med" len="med"/>
                    <a:tailEnd type="none" w="med" len="med"/>
                  </a:ln>
                </p:spPr>
              </p:sp>
              <p:sp>
                <p:nvSpPr>
                  <p:cNvPr id="9244" name="AutoShape 19"/>
                  <p:cNvSpPr/>
                  <p:nvPr/>
                </p:nvSpPr>
                <p:spPr>
                  <a:xfrm>
                    <a:off x="4680" y="3546"/>
                    <a:ext cx="1762" cy="109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9245" name="Text Box 20"/>
                  <p:cNvSpPr txBox="1"/>
                  <p:nvPr/>
                </p:nvSpPr>
                <p:spPr>
                  <a:xfrm>
                    <a:off x="4269" y="3091"/>
                    <a:ext cx="1624"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zh-CN" altLang="en-US" sz="1400" dirty="0">
                        <a:ea typeface="宋体" panose="02010600030101010101" pitchFamily="2" charset="-122"/>
                      </a:rPr>
                      <a:t>线程调度</a:t>
                    </a:r>
                    <a:endParaRPr lang="zh-CN" altLang="en-US" sz="1400" dirty="0">
                      <a:ea typeface="宋体" panose="02010600030101010101" pitchFamily="2" charset="-122"/>
                    </a:endParaRPr>
                  </a:p>
                </p:txBody>
              </p:sp>
            </p:grpSp>
            <p:sp>
              <p:nvSpPr>
                <p:cNvPr id="9231" name="Text Box 10"/>
                <p:cNvSpPr txBox="1"/>
                <p:nvPr/>
              </p:nvSpPr>
              <p:spPr>
                <a:xfrm>
                  <a:off x="7120239" y="3830638"/>
                  <a:ext cx="750888" cy="3841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CPU</a:t>
                  </a:r>
                  <a:endParaRPr lang="en-US" altLang="zh-CN" sz="1200" dirty="0">
                    <a:ea typeface="宋体" panose="02010600030101010101" pitchFamily="2" charset="-122"/>
                  </a:endParaRPr>
                </a:p>
              </p:txBody>
            </p:sp>
            <p:sp>
              <p:nvSpPr>
                <p:cNvPr id="9232" name="Text Box 10"/>
                <p:cNvSpPr txBox="1"/>
                <p:nvPr/>
              </p:nvSpPr>
              <p:spPr>
                <a:xfrm>
                  <a:off x="6369050" y="3824288"/>
                  <a:ext cx="750888" cy="3841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CPU</a:t>
                  </a:r>
                  <a:endParaRPr lang="en-US" altLang="zh-CN" sz="1200" dirty="0">
                    <a:ea typeface="宋体" panose="02010600030101010101" pitchFamily="2" charset="-122"/>
                  </a:endParaRPr>
                </a:p>
              </p:txBody>
            </p:sp>
            <p:sp>
              <p:nvSpPr>
                <p:cNvPr id="9233" name="Text Box 9"/>
                <p:cNvSpPr txBox="1"/>
                <p:nvPr/>
              </p:nvSpPr>
              <p:spPr>
                <a:xfrm>
                  <a:off x="6702425" y="4210050"/>
                  <a:ext cx="866775" cy="384175"/>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Cache</a:t>
                  </a:r>
                  <a:endParaRPr lang="en-US" altLang="zh-CN" sz="1200" dirty="0">
                    <a:ea typeface="宋体" panose="02010600030101010101" pitchFamily="2" charset="-122"/>
                  </a:endParaRPr>
                </a:p>
              </p:txBody>
            </p:sp>
          </p:grpSp>
        </p:grpSp>
        <p:sp>
          <p:nvSpPr>
            <p:cNvPr id="9227" name="Text Box 10"/>
            <p:cNvSpPr txBox="1"/>
            <p:nvPr/>
          </p:nvSpPr>
          <p:spPr>
            <a:xfrm>
              <a:off x="5157982" y="4337715"/>
              <a:ext cx="750939" cy="38365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200" dirty="0">
                  <a:ea typeface="宋体" panose="02010600030101010101" pitchFamily="2" charset="-122"/>
                </a:rPr>
                <a:t>CPU</a:t>
              </a:r>
              <a:endParaRPr lang="en-US" altLang="zh-CN" sz="1200" dirty="0">
                <a:ea typeface="宋体" panose="02010600030101010101" pitchFamily="2" charset="-122"/>
              </a:endParaRPr>
            </a:p>
          </p:txBody>
        </p:sp>
      </p:grpSp>
      <p:sp>
        <p:nvSpPr>
          <p:cNvPr id="95" name="Rectangle 2"/>
          <p:cNvSpPr txBox="1">
            <a:spLocks noChangeArrowheads="1"/>
          </p:cNvSpPr>
          <p:nvPr/>
        </p:nvSpPr>
        <p:spPr bwMode="auto">
          <a:xfrm>
            <a:off x="2825750" y="6143625"/>
            <a:ext cx="4132263" cy="51435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多处理机</a:t>
            </a:r>
            <a:r>
              <a:rPr kumimoji="0" lang="en-US" altLang="zh-CN" sz="24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a:t>
            </a:r>
            <a:r>
              <a:rPr kumimoji="0" lang="zh-CN" altLang="en-US" sz="2400" b="1"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多核中的并行执行</a:t>
            </a:r>
            <a:endParaRPr kumimoji="0" lang="zh-CN" altLang="en-US" sz="2400" b="1"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1673225" y="93663"/>
            <a:ext cx="4918075" cy="430212"/>
          </a:xfrm>
        </p:spPr>
        <p:txBody>
          <a:bodyPr vert="horz" wrap="square" lIns="91440" tIns="45720" rIns="91440" bIns="45720" anchor="ctr" anchorCtr="0"/>
          <a:p>
            <a:pPr eaLnBrk="1" hangingPunct="1"/>
            <a:r>
              <a:rPr lang="zh-CN" altLang="en-US" sz="4000" b="1" dirty="0">
                <a:ea typeface="宋体" panose="02010600030101010101" pitchFamily="2" charset="-122"/>
              </a:rPr>
              <a:t>线程合作方式</a:t>
            </a:r>
            <a:endParaRPr lang="zh-CN" altLang="en-US" sz="4000" dirty="0">
              <a:ea typeface="宋体" panose="02010600030101010101" pitchFamily="2" charset="-122"/>
            </a:endParaRPr>
          </a:p>
        </p:txBody>
      </p:sp>
      <p:sp>
        <p:nvSpPr>
          <p:cNvPr id="11267" name="Rectangle 3"/>
          <p:cNvSpPr/>
          <p:nvPr/>
        </p:nvSpPr>
        <p:spPr>
          <a:xfrm>
            <a:off x="646113" y="4356100"/>
            <a:ext cx="7599362" cy="4016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323850" algn="just" eaLnBrk="1" hangingPunct="1">
              <a:spcBef>
                <a:spcPct val="0"/>
              </a:spcBef>
              <a:buClrTx/>
              <a:buNone/>
            </a:pPr>
            <a:r>
              <a:rPr lang="zh-CN" altLang="en-US" sz="2000" dirty="0">
                <a:ea typeface="宋体" panose="02010600030101010101" pitchFamily="2" charset="-122"/>
              </a:rPr>
              <a:t>（</a:t>
            </a:r>
            <a:r>
              <a:rPr lang="en-US" altLang="zh-CN" sz="2000" dirty="0">
                <a:ea typeface="宋体" panose="02010600030101010101" pitchFamily="2" charset="-122"/>
              </a:rPr>
              <a:t>a）</a:t>
            </a:r>
            <a:r>
              <a:rPr lang="zh-CN" altLang="en-US" sz="2000" dirty="0">
                <a:ea typeface="宋体" panose="02010600030101010101" pitchFamily="2" charset="-122"/>
              </a:rPr>
              <a:t>派遣者/工作者模式        (</a:t>
            </a:r>
            <a:r>
              <a:rPr lang="en-US" altLang="zh-CN" sz="2000" dirty="0">
                <a:ea typeface="宋体" panose="02010600030101010101" pitchFamily="2" charset="-122"/>
              </a:rPr>
              <a:t>b)</a:t>
            </a:r>
            <a:r>
              <a:rPr lang="zh-CN" altLang="en-US" sz="2000" dirty="0">
                <a:ea typeface="宋体" panose="02010600030101010101" pitchFamily="2" charset="-122"/>
              </a:rPr>
              <a:t>团队模式            (</a:t>
            </a:r>
            <a:r>
              <a:rPr lang="en-US" altLang="zh-CN" sz="2000" dirty="0">
                <a:ea typeface="宋体" panose="02010600030101010101" pitchFamily="2" charset="-122"/>
              </a:rPr>
              <a:t>c) </a:t>
            </a:r>
            <a:r>
              <a:rPr lang="zh-CN" altLang="en-US" sz="2000" dirty="0">
                <a:ea typeface="宋体" panose="02010600030101010101" pitchFamily="2" charset="-122"/>
              </a:rPr>
              <a:t>管道模式</a:t>
            </a:r>
            <a:endParaRPr lang="zh-CN" altLang="en-US" sz="2000" dirty="0">
              <a:ea typeface="宋体" panose="02010600030101010101" pitchFamily="2" charset="-122"/>
            </a:endParaRPr>
          </a:p>
        </p:txBody>
      </p:sp>
      <p:graphicFrame>
        <p:nvGraphicFramePr>
          <p:cNvPr id="11268" name="Object 4"/>
          <p:cNvGraphicFramePr>
            <a:graphicFrameLocks noChangeAspect="1"/>
          </p:cNvGraphicFramePr>
          <p:nvPr/>
        </p:nvGraphicFramePr>
        <p:xfrm>
          <a:off x="228600" y="671513"/>
          <a:ext cx="8478838" cy="3560762"/>
        </p:xfrm>
        <a:graphic>
          <a:graphicData uri="http://schemas.openxmlformats.org/presentationml/2006/ole">
            <mc:AlternateContent xmlns:mc="http://schemas.openxmlformats.org/markup-compatibility/2006">
              <mc:Choice xmlns:v="urn:schemas-microsoft-com:vml" Requires="v">
                <p:oleObj spid="_x0000_s3077" name="" r:id="rId1" imgW="5539740" imgH="2378710" progId="Visio.Drawing.11">
                  <p:embed/>
                </p:oleObj>
              </mc:Choice>
              <mc:Fallback>
                <p:oleObj name="" r:id="rId1" imgW="5539740" imgH="2378710" progId="Visio.Drawing.11">
                  <p:embed/>
                  <p:pic>
                    <p:nvPicPr>
                      <p:cNvPr id="0" name="图片 3076"/>
                      <p:cNvPicPr/>
                      <p:nvPr/>
                    </p:nvPicPr>
                    <p:blipFill>
                      <a:blip r:embed="rId2"/>
                      <a:stretch>
                        <a:fillRect/>
                      </a:stretch>
                    </p:blipFill>
                    <p:spPr>
                      <a:xfrm>
                        <a:off x="228600" y="671513"/>
                        <a:ext cx="8478838" cy="3560762"/>
                      </a:xfrm>
                      <a:prstGeom prst="rect">
                        <a:avLst/>
                      </a:prstGeom>
                      <a:noFill/>
                      <a:ln w="38100">
                        <a:noFill/>
                        <a:miter/>
                      </a:ln>
                    </p:spPr>
                  </p:pic>
                </p:oleObj>
              </mc:Fallback>
            </mc:AlternateContent>
          </a:graphicData>
        </a:graphic>
      </p:graphicFrame>
      <p:sp>
        <p:nvSpPr>
          <p:cNvPr id="5" name="Rectangle 8"/>
          <p:cNvSpPr txBox="1">
            <a:spLocks noChangeArrowheads="1"/>
          </p:cNvSpPr>
          <p:nvPr/>
        </p:nvSpPr>
        <p:spPr bwMode="auto">
          <a:xfrm>
            <a:off x="0" y="5340350"/>
            <a:ext cx="4165600" cy="563563"/>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Thread in Distributed Systems</a:t>
            </a:r>
            <a:endParaRPr kumimoji="0" lang="zh-CN" altLang="en-US"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11270" name="Rectangle 9"/>
          <p:cNvSpPr>
            <a:spLocks noGrp="1"/>
          </p:cNvSpPr>
          <p:nvPr>
            <p:ph idx="1"/>
          </p:nvPr>
        </p:nvSpPr>
        <p:spPr>
          <a:xfrm>
            <a:off x="4316413" y="5200650"/>
            <a:ext cx="4749800" cy="1406525"/>
          </a:xfrm>
        </p:spPr>
        <p:txBody>
          <a:bodyPr vert="horz" wrap="square" lIns="91440" tIns="45720" rIns="91440" bIns="45720" anchor="t" anchorCtr="0"/>
          <a:p>
            <a:pPr marL="609600" indent="-609600" algn="l" eaLnBrk="1" hangingPunct="1">
              <a:lnSpc>
                <a:spcPct val="150000"/>
              </a:lnSpc>
              <a:buFont typeface="Wingdings" panose="05000000000000000000" pitchFamily="2" charset="2"/>
              <a:buChar char="Ø"/>
            </a:pPr>
            <a:r>
              <a:rPr lang="zh-CN" altLang="en-US" sz="2000" b="1" dirty="0">
                <a:ea typeface="宋体" panose="02010600030101010101" pitchFamily="2" charset="-122"/>
              </a:rPr>
              <a:t>开发高效率的客户端和服务器</a:t>
            </a:r>
            <a:endParaRPr lang="zh-CN" altLang="en-US" sz="2000" b="1" dirty="0">
              <a:ea typeface="宋体" panose="02010600030101010101" pitchFamily="2" charset="-122"/>
            </a:endParaRPr>
          </a:p>
          <a:p>
            <a:pPr marL="990600" lvl="1" indent="-533400" eaLnBrk="1" hangingPunct="1">
              <a:lnSpc>
                <a:spcPct val="150000"/>
              </a:lnSpc>
              <a:buFont typeface="Wingdings" panose="05000000000000000000" pitchFamily="2" charset="2"/>
              <a:buChar char="u"/>
            </a:pPr>
            <a:r>
              <a:rPr lang="en-US" altLang="zh-CN" sz="2000" b="1" dirty="0">
                <a:ea typeface="宋体" panose="02010600030101010101" pitchFamily="2" charset="-122"/>
              </a:rPr>
              <a:t>Multithreaded Clients </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990600" lvl="1" indent="-533400" eaLnBrk="1" hangingPunct="1">
              <a:lnSpc>
                <a:spcPct val="150000"/>
              </a:lnSpc>
              <a:buFont typeface="Wingdings" panose="05000000000000000000" pitchFamily="2" charset="2"/>
              <a:buChar char="u"/>
            </a:pPr>
            <a:r>
              <a:rPr lang="en-US" altLang="zh-CN" sz="2000" b="1" dirty="0">
                <a:ea typeface="宋体" panose="02010600030101010101" pitchFamily="2" charset="-122"/>
              </a:rPr>
              <a:t>Multithreaded Servers </a:t>
            </a:r>
            <a:r>
              <a:rPr lang="zh-CN" altLang="en-US" sz="2000" b="1" dirty="0">
                <a:ea typeface="宋体" panose="02010600030101010101" pitchFamily="2" charset="-122"/>
              </a:rPr>
              <a:t>；</a:t>
            </a:r>
            <a:endParaRPr lang="en-US" altLang="zh-CN" sz="2000" b="1"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CLIENT</a:t>
            </a:r>
            <a:endParaRPr lang="en-US" altLang="zh-CN" dirty="0">
              <a:ea typeface="宋体" panose="02010600030101010101" pitchFamily="2" charset="-122"/>
            </a:endParaRPr>
          </a:p>
        </p:txBody>
      </p:sp>
      <p:sp>
        <p:nvSpPr>
          <p:cNvPr id="12291" name="Rectangle 3"/>
          <p:cNvSpPr>
            <a:spLocks noGrp="1"/>
          </p:cNvSpPr>
          <p:nvPr>
            <p:ph idx="1"/>
          </p:nvPr>
        </p:nvSpPr>
        <p:spPr>
          <a:xfrm>
            <a:off x="417513" y="1143000"/>
            <a:ext cx="7878762" cy="2557463"/>
          </a:xfrm>
        </p:spPr>
        <p:txBody>
          <a:bodyPr vert="horz" wrap="square" lIns="91440" tIns="45720" rIns="91440" bIns="45720" anchor="t" anchorCtr="0"/>
          <a:p>
            <a:pPr marL="352425" indent="-352425" algn="l" eaLnBrk="1" hangingPunct="1">
              <a:lnSpc>
                <a:spcPct val="120000"/>
              </a:lnSpc>
              <a:buNone/>
            </a:pPr>
            <a:r>
              <a:rPr lang="en-US" altLang="zh-CN" sz="2800" dirty="0">
                <a:ea typeface="宋体" panose="02010600030101010101" pitchFamily="2" charset="-122"/>
              </a:rPr>
              <a:t>Client-Server Model and Roles:</a:t>
            </a:r>
            <a:endParaRPr lang="en-US" altLang="zh-CN" sz="2800" dirty="0">
              <a:ea typeface="宋体" panose="02010600030101010101" pitchFamily="2" charset="-122"/>
            </a:endParaRPr>
          </a:p>
          <a:p>
            <a:pPr marL="352425" indent="-352425" algn="l" eaLnBrk="1" hangingPunct="1">
              <a:lnSpc>
                <a:spcPct val="120000"/>
              </a:lnSpc>
            </a:pPr>
            <a:r>
              <a:rPr lang="en-US" altLang="zh-CN" sz="2800" dirty="0">
                <a:ea typeface="宋体" panose="02010600030101010101" pitchFamily="2" charset="-122"/>
              </a:rPr>
              <a:t>A major </a:t>
            </a:r>
            <a:r>
              <a:rPr lang="zh-CN" altLang="en-US" sz="2800" dirty="0">
                <a:ea typeface="宋体" panose="02010600030101010101" pitchFamily="2" charset="-122"/>
              </a:rPr>
              <a:t> </a:t>
            </a:r>
            <a:r>
              <a:rPr lang="en-US" altLang="zh-CN" sz="2800" dirty="0">
                <a:ea typeface="宋体" panose="02010600030101010101" pitchFamily="2" charset="-122"/>
              </a:rPr>
              <a:t>task of most clients-----to interact with a human user and a remote server</a:t>
            </a:r>
            <a:endParaRPr lang="en-US" altLang="zh-CN" sz="2800" dirty="0">
              <a:ea typeface="宋体" panose="02010600030101010101" pitchFamily="2" charset="-122"/>
            </a:endParaRPr>
          </a:p>
          <a:p>
            <a:pPr marL="352425" indent="-352425" algn="l" eaLnBrk="1" hangingPunct="1">
              <a:lnSpc>
                <a:spcPct val="120000"/>
              </a:lnSpc>
            </a:pPr>
            <a:r>
              <a:rPr lang="en-US" altLang="zh-CN" sz="2800" dirty="0">
                <a:ea typeface="宋体" panose="02010600030101010101" pitchFamily="2" charset="-122"/>
              </a:rPr>
              <a:t>Client: User Interface   </a:t>
            </a:r>
            <a:endParaRPr lang="en-US" altLang="zh-CN" sz="2800" dirty="0">
              <a:ea typeface="宋体" panose="02010600030101010101" pitchFamily="2" charset="-122"/>
            </a:endParaRPr>
          </a:p>
        </p:txBody>
      </p:sp>
      <p:sp>
        <p:nvSpPr>
          <p:cNvPr id="12292" name="Rectangle 2"/>
          <p:cNvSpPr txBox="1"/>
          <p:nvPr/>
        </p:nvSpPr>
        <p:spPr>
          <a:xfrm>
            <a:off x="682625" y="4351338"/>
            <a:ext cx="5972175" cy="454025"/>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endParaRPr lang="zh-CN" altLang="en-US" sz="2800" dirty="0">
              <a:solidFill>
                <a:srgbClr val="FF0000"/>
              </a:solidFill>
              <a:ea typeface="宋体" panose="02010600030101010101" pitchFamily="2" charset="-122"/>
            </a:endParaRPr>
          </a:p>
        </p:txBody>
      </p:sp>
      <p:sp>
        <p:nvSpPr>
          <p:cNvPr id="12293" name="Rectangle 3"/>
          <p:cNvSpPr txBox="1"/>
          <p:nvPr/>
        </p:nvSpPr>
        <p:spPr>
          <a:xfrm>
            <a:off x="196850" y="3463925"/>
            <a:ext cx="8320088" cy="1774825"/>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609600" lvl="0" indent="-609600" algn="l" eaLnBrk="1" hangingPunct="1">
              <a:lnSpc>
                <a:spcPct val="150000"/>
              </a:lnSpc>
              <a:buFont typeface="Wingdings" panose="05000000000000000000" pitchFamily="2" charset="2"/>
              <a:buChar char="Ø"/>
            </a:pPr>
            <a:r>
              <a:rPr lang="zh-CN" altLang="en-US" sz="2400" b="1" dirty="0">
                <a:ea typeface="宋体" panose="02010600030101010101" pitchFamily="2" charset="-122"/>
              </a:rPr>
              <a:t>通过</a:t>
            </a:r>
            <a:r>
              <a:rPr lang="en-US" altLang="zh-CN" sz="2400" b="1" dirty="0">
                <a:ea typeface="宋体" panose="02010600030101010101" pitchFamily="2" charset="-122"/>
              </a:rPr>
              <a:t>Multithreaded Clients</a:t>
            </a:r>
            <a:r>
              <a:rPr lang="zh-CN" altLang="en-US" sz="2400" b="1" dirty="0">
                <a:ea typeface="宋体" panose="02010600030101010101" pitchFamily="2" charset="-122"/>
              </a:rPr>
              <a:t>可以隐藏通信时间延迟，提高透明性效果，例如</a:t>
            </a:r>
            <a:r>
              <a:rPr lang="en-US" altLang="zh-CN" sz="2400" b="1" dirty="0">
                <a:ea typeface="宋体" panose="02010600030101010101" pitchFamily="2" charset="-122"/>
              </a:rPr>
              <a:t>:  Web</a:t>
            </a:r>
            <a:r>
              <a:rPr lang="zh-CN" altLang="en-US" sz="2400" b="1" dirty="0">
                <a:ea typeface="宋体" panose="02010600030101010101" pitchFamily="2" charset="-122"/>
              </a:rPr>
              <a:t>浏览器就是利用线程通过渐进显示方式实现隐藏通信时间延迟；</a:t>
            </a:r>
            <a:endParaRPr lang="zh-CN" altLang="en-US" sz="2400" b="1"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Networked User Interfaces</a:t>
            </a:r>
            <a:endParaRPr lang="en-US" altLang="zh-CN" dirty="0">
              <a:ea typeface="宋体" panose="02010600030101010101" pitchFamily="2" charset="-122"/>
            </a:endParaRPr>
          </a:p>
        </p:txBody>
      </p:sp>
      <p:sp>
        <p:nvSpPr>
          <p:cNvPr id="13315" name="Rectangle 3"/>
          <p:cNvSpPr>
            <a:spLocks noGrp="1"/>
          </p:cNvSpPr>
          <p:nvPr>
            <p:ph idx="1"/>
          </p:nvPr>
        </p:nvSpPr>
        <p:spPr>
          <a:xfrm>
            <a:off x="306388" y="5019675"/>
            <a:ext cx="3708400" cy="838200"/>
          </a:xfrm>
        </p:spPr>
        <p:txBody>
          <a:bodyPr vert="horz" wrap="square" lIns="91440" tIns="45720" rIns="91440" bIns="45720" anchor="t" anchorCtr="0"/>
          <a:p>
            <a:pPr marL="514350" indent="-514350" eaLnBrk="1" hangingPunct="1">
              <a:buNone/>
            </a:pPr>
            <a:r>
              <a:rPr lang="en-US" altLang="zh-CN" sz="2400" dirty="0">
                <a:ea typeface="宋体" panose="02010600030101010101" pitchFamily="2" charset="-122"/>
              </a:rPr>
              <a:t>      A networked application with its own protocol.</a:t>
            </a:r>
            <a:endParaRPr lang="en-US" altLang="zh-CN" sz="2400" dirty="0">
              <a:ea typeface="宋体" panose="02010600030101010101" pitchFamily="2" charset="-122"/>
            </a:endParaRPr>
          </a:p>
        </p:txBody>
      </p:sp>
      <p:pic>
        <p:nvPicPr>
          <p:cNvPr id="13316" name="Picture 4" descr="03-08"/>
          <p:cNvPicPr>
            <a:picLocks noChangeAspect="1"/>
          </p:cNvPicPr>
          <p:nvPr/>
        </p:nvPicPr>
        <p:blipFill>
          <a:blip r:embed="rId1"/>
          <a:srcRect r="50230"/>
          <a:stretch>
            <a:fillRect/>
          </a:stretch>
        </p:blipFill>
        <p:spPr>
          <a:xfrm>
            <a:off x="306388" y="1360488"/>
            <a:ext cx="4013200" cy="3516312"/>
          </a:xfrm>
          <a:prstGeom prst="rect">
            <a:avLst/>
          </a:prstGeom>
          <a:noFill/>
          <a:ln w="9525">
            <a:noFill/>
          </a:ln>
        </p:spPr>
      </p:pic>
      <p:sp>
        <p:nvSpPr>
          <p:cNvPr id="5" name="Rectangle 3"/>
          <p:cNvSpPr txBox="1">
            <a:spLocks noChangeArrowheads="1"/>
          </p:cNvSpPr>
          <p:nvPr/>
        </p:nvSpPr>
        <p:spPr bwMode="auto">
          <a:xfrm>
            <a:off x="4422775" y="5114925"/>
            <a:ext cx="4383088" cy="8382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A general solution to allow access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to remote applications.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p:txBody>
      </p:sp>
      <p:pic>
        <p:nvPicPr>
          <p:cNvPr id="13318" name="Picture 4" descr="03-08"/>
          <p:cNvPicPr>
            <a:picLocks noChangeAspect="1"/>
          </p:cNvPicPr>
          <p:nvPr/>
        </p:nvPicPr>
        <p:blipFill>
          <a:blip r:embed="rId1"/>
          <a:srcRect l="50462"/>
          <a:stretch>
            <a:fillRect/>
          </a:stretch>
        </p:blipFill>
        <p:spPr>
          <a:xfrm>
            <a:off x="4498975" y="1360488"/>
            <a:ext cx="4306888" cy="3516312"/>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Example: The XWindow System</a:t>
            </a:r>
            <a:endParaRPr lang="en-US" altLang="zh-CN" dirty="0">
              <a:ea typeface="宋体" panose="02010600030101010101" pitchFamily="2" charset="-122"/>
            </a:endParaRPr>
          </a:p>
        </p:txBody>
      </p:sp>
      <p:pic>
        <p:nvPicPr>
          <p:cNvPr id="14339" name="Picture 4" descr="03-09"/>
          <p:cNvPicPr>
            <a:picLocks noChangeAspect="1"/>
          </p:cNvPicPr>
          <p:nvPr/>
        </p:nvPicPr>
        <p:blipFill>
          <a:blip r:embed="rId1"/>
          <a:stretch>
            <a:fillRect/>
          </a:stretch>
        </p:blipFill>
        <p:spPr>
          <a:xfrm>
            <a:off x="514350" y="1152525"/>
            <a:ext cx="8193088" cy="3562350"/>
          </a:xfrm>
          <a:prstGeom prst="rect">
            <a:avLst/>
          </a:prstGeom>
          <a:noFill/>
          <a:ln w="9525">
            <a:noFill/>
          </a:ln>
        </p:spPr>
      </p:pic>
      <p:sp>
        <p:nvSpPr>
          <p:cNvPr id="14340" name="Rectangle 3"/>
          <p:cNvSpPr>
            <a:spLocks noGrp="1"/>
          </p:cNvSpPr>
          <p:nvPr>
            <p:ph idx="1"/>
          </p:nvPr>
        </p:nvSpPr>
        <p:spPr>
          <a:xfrm>
            <a:off x="330200" y="3963988"/>
            <a:ext cx="5541963" cy="541337"/>
          </a:xfrm>
        </p:spPr>
        <p:txBody>
          <a:bodyPr vert="horz" wrap="square" lIns="91440" tIns="45720" rIns="91440" bIns="45720" anchor="t" anchorCtr="0"/>
          <a:p>
            <a:pPr eaLnBrk="1" hangingPunct="1">
              <a:buNone/>
            </a:pPr>
            <a:r>
              <a:rPr lang="en-US" altLang="zh-CN" sz="2000" dirty="0">
                <a:ea typeface="宋体" panose="02010600030101010101" pitchFamily="2" charset="-122"/>
              </a:rPr>
              <a:t>The basic organization of the X Window System.</a:t>
            </a:r>
            <a:endParaRPr lang="en-US" altLang="zh-CN" sz="2000" dirty="0">
              <a:ea typeface="宋体" panose="02010600030101010101" pitchFamily="2" charset="-122"/>
            </a:endParaRPr>
          </a:p>
        </p:txBody>
      </p:sp>
      <p:sp>
        <p:nvSpPr>
          <p:cNvPr id="14341" name="Rectangle 9"/>
          <p:cNvSpPr txBox="1"/>
          <p:nvPr/>
        </p:nvSpPr>
        <p:spPr>
          <a:xfrm>
            <a:off x="422275" y="4835525"/>
            <a:ext cx="6894513" cy="1668463"/>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None/>
            </a:pPr>
            <a:r>
              <a:rPr lang="en-US" altLang="zh-CN" sz="2200" dirty="0">
                <a:solidFill>
                  <a:srgbClr val="FF0000"/>
                </a:solidFill>
                <a:ea typeface="宋体" panose="02010600030101010101" pitchFamily="2" charset="-122"/>
              </a:rPr>
              <a:t>Compound Documents (like text, images, spreadsheets, etc)</a:t>
            </a:r>
            <a:endParaRPr lang="en-US" altLang="zh-CN" sz="2200" dirty="0">
              <a:solidFill>
                <a:srgbClr val="FF0000"/>
              </a:solidFill>
              <a:ea typeface="宋体" panose="02010600030101010101" pitchFamily="2" charset="-122"/>
            </a:endParaRPr>
          </a:p>
          <a:p>
            <a:pPr marL="342900" lvl="0" indent="-342900" algn="l" eaLnBrk="1" hangingPunct="1">
              <a:buNone/>
            </a:pPr>
            <a:r>
              <a:rPr lang="en-US" altLang="zh-CN" sz="2200" dirty="0">
                <a:solidFill>
                  <a:srgbClr val="FF0000"/>
                </a:solidFill>
                <a:ea typeface="宋体" panose="02010600030101010101" pitchFamily="2" charset="-122"/>
              </a:rPr>
              <a:t>     1. Drag-and-drop;</a:t>
            </a:r>
            <a:endParaRPr lang="en-US" altLang="zh-CN" sz="2200" dirty="0">
              <a:solidFill>
                <a:srgbClr val="FF0000"/>
              </a:solidFill>
              <a:ea typeface="宋体" panose="02010600030101010101" pitchFamily="2" charset="-122"/>
            </a:endParaRPr>
          </a:p>
          <a:p>
            <a:pPr marL="342900" lvl="0" indent="-342900" algn="l" eaLnBrk="1" hangingPunct="1">
              <a:buNone/>
            </a:pPr>
            <a:r>
              <a:rPr lang="en-US" altLang="zh-CN" sz="2200" dirty="0">
                <a:solidFill>
                  <a:srgbClr val="FF0000"/>
                </a:solidFill>
                <a:ea typeface="宋体" panose="02010600030101010101" pitchFamily="2" charset="-122"/>
              </a:rPr>
              <a:t>     2. In-place editing;</a:t>
            </a:r>
            <a:endParaRPr lang="en-US" altLang="zh-CN" sz="2200" dirty="0">
              <a:solidFill>
                <a:srgbClr val="FF0000"/>
              </a:solidFill>
              <a:ea typeface="宋体" panose="02010600030101010101" pitchFamily="2" charset="-122"/>
            </a:endParaRPr>
          </a:p>
          <a:p>
            <a:pPr marL="342900" lvl="0" indent="-342900" algn="l" eaLnBrk="1" hangingPunct="1">
              <a:buNone/>
            </a:pPr>
            <a:r>
              <a:rPr lang="zh-CN" altLang="en-US" sz="2200" dirty="0">
                <a:solidFill>
                  <a:srgbClr val="FF0000"/>
                </a:solidFill>
                <a:ea typeface="宋体" panose="02010600030101010101" pitchFamily="2" charset="-122"/>
              </a:rPr>
              <a:t>其他桌面云等</a:t>
            </a:r>
            <a:r>
              <a:rPr lang="en-US" altLang="zh-CN" sz="2200" dirty="0">
                <a:solidFill>
                  <a:srgbClr val="FF0000"/>
                </a:solidFill>
                <a:ea typeface="宋体" panose="02010600030101010101" pitchFamily="2" charset="-122"/>
              </a:rPr>
              <a:t>;</a:t>
            </a:r>
            <a:endParaRPr lang="en-US" altLang="zh-CN" sz="2200" dirty="0">
              <a:solidFill>
                <a:srgbClr val="FF0000"/>
              </a:solidFill>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0" y="82550"/>
            <a:ext cx="9144000" cy="590550"/>
          </a:xfrm>
        </p:spPr>
        <p:txBody>
          <a:bodyPr vert="horz" wrap="square" lIns="91440" tIns="45720" rIns="91440" bIns="45720" anchor="ctr" anchorCtr="0"/>
          <a:p>
            <a:pPr eaLnBrk="1" hangingPunct="1"/>
            <a:r>
              <a:rPr lang="en-US" altLang="zh-CN" sz="2800" dirty="0">
                <a:ea typeface="宋体" panose="02010600030101010101" pitchFamily="2" charset="-122"/>
              </a:rPr>
              <a:t>Client-Side Software for Distribution Transparency</a:t>
            </a:r>
            <a:endParaRPr lang="en-US" altLang="zh-CN" sz="2800" dirty="0">
              <a:ea typeface="宋体" panose="02010600030101010101" pitchFamily="2" charset="-122"/>
            </a:endParaRPr>
          </a:p>
        </p:txBody>
      </p:sp>
      <p:sp>
        <p:nvSpPr>
          <p:cNvPr id="15363" name="Rectangle 3"/>
          <p:cNvSpPr>
            <a:spLocks noGrp="1"/>
          </p:cNvSpPr>
          <p:nvPr>
            <p:ph idx="1"/>
          </p:nvPr>
        </p:nvSpPr>
        <p:spPr>
          <a:xfrm>
            <a:off x="373063" y="5616575"/>
            <a:ext cx="3941762" cy="722313"/>
          </a:xfrm>
        </p:spPr>
        <p:txBody>
          <a:bodyPr vert="horz" wrap="square" lIns="91440" tIns="45720" rIns="91440" bIns="45720" anchor="t" anchorCtr="0"/>
          <a:p>
            <a:pPr algn="l" eaLnBrk="1" hangingPunct="1">
              <a:buNone/>
            </a:pPr>
            <a:r>
              <a:rPr lang="en-US" altLang="zh-CN" sz="2000" dirty="0">
                <a:ea typeface="宋体" panose="02010600030101010101" pitchFamily="2" charset="-122"/>
              </a:rPr>
              <a:t>1.  Transparent replication of a server using a client-side solution.</a:t>
            </a:r>
            <a:endParaRPr lang="en-US" altLang="zh-CN" sz="2000" dirty="0">
              <a:ea typeface="宋体" panose="02010600030101010101" pitchFamily="2" charset="-122"/>
            </a:endParaRPr>
          </a:p>
        </p:txBody>
      </p:sp>
      <p:pic>
        <p:nvPicPr>
          <p:cNvPr id="15364" name="Picture 4" descr="03-10"/>
          <p:cNvPicPr>
            <a:picLocks noChangeAspect="1"/>
          </p:cNvPicPr>
          <p:nvPr/>
        </p:nvPicPr>
        <p:blipFill>
          <a:blip r:embed="rId1"/>
          <a:stretch>
            <a:fillRect/>
          </a:stretch>
        </p:blipFill>
        <p:spPr>
          <a:xfrm>
            <a:off x="158750" y="2279650"/>
            <a:ext cx="4370388" cy="3040063"/>
          </a:xfrm>
          <a:prstGeom prst="rect">
            <a:avLst/>
          </a:prstGeom>
          <a:noFill/>
          <a:ln w="9525">
            <a:noFill/>
          </a:ln>
        </p:spPr>
      </p:pic>
      <p:sp>
        <p:nvSpPr>
          <p:cNvPr id="15365" name="Rectangle 5"/>
          <p:cNvSpPr/>
          <p:nvPr/>
        </p:nvSpPr>
        <p:spPr>
          <a:xfrm>
            <a:off x="406400" y="784225"/>
            <a:ext cx="7534275" cy="1495425"/>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buNone/>
            </a:pPr>
            <a:r>
              <a:rPr lang="zh-CN" altLang="en-US" sz="2400" b="1" dirty="0">
                <a:ea typeface="宋体" panose="02010600030101010101" pitchFamily="2" charset="-122"/>
              </a:rPr>
              <a:t>实现分布透明性的策略</a:t>
            </a:r>
            <a:r>
              <a:rPr lang="en-US" altLang="zh-CN" sz="2400" b="1" dirty="0">
                <a:ea typeface="宋体" panose="02010600030101010101" pitchFamily="2" charset="-122"/>
              </a:rPr>
              <a:t>:</a:t>
            </a:r>
            <a:r>
              <a:rPr lang="zh-CN" altLang="en-US" sz="2400" b="1" dirty="0">
                <a:ea typeface="宋体" panose="02010600030101010101" pitchFamily="2" charset="-122"/>
              </a:rPr>
              <a:t> </a:t>
            </a:r>
            <a:endParaRPr lang="en-US" altLang="zh-CN" sz="2400" b="1" dirty="0">
              <a:ea typeface="宋体" panose="02010600030101010101" pitchFamily="2" charset="-122"/>
            </a:endParaRPr>
          </a:p>
          <a:p>
            <a:pPr marL="1256030" lvl="1" indent="-533400" eaLnBrk="1" hangingPunct="1">
              <a:buFont typeface="Arial" panose="020B0604020202020204" pitchFamily="34" charset="0"/>
              <a:buAutoNum type="arabicPeriod"/>
            </a:pPr>
            <a:r>
              <a:rPr lang="en-US" altLang="zh-CN" sz="2400" dirty="0">
                <a:ea typeface="宋体" panose="02010600030101010101" pitchFamily="2" charset="-122"/>
              </a:rPr>
              <a:t>Client-side solution.</a:t>
            </a:r>
            <a:endParaRPr lang="en-US" altLang="zh-CN" sz="2400" dirty="0">
              <a:ea typeface="宋体" panose="02010600030101010101" pitchFamily="2" charset="-122"/>
            </a:endParaRPr>
          </a:p>
          <a:p>
            <a:pPr marL="1256030" lvl="1" indent="-533400" eaLnBrk="1" hangingPunct="1">
              <a:buFont typeface="Arial" panose="020B0604020202020204" pitchFamily="34" charset="0"/>
              <a:buAutoNum type="arabicPeriod"/>
            </a:pPr>
            <a:r>
              <a:rPr lang="en-US" altLang="zh-CN" sz="2400" dirty="0">
                <a:ea typeface="宋体" panose="02010600030101010101" pitchFamily="2" charset="-122"/>
              </a:rPr>
              <a:t>Naming System (next chapter)</a:t>
            </a:r>
            <a:endParaRPr lang="en-US" altLang="zh-CN" sz="2400" dirty="0">
              <a:ea typeface="宋体" panose="02010600030101010101" pitchFamily="2" charset="-122"/>
            </a:endParaRPr>
          </a:p>
          <a:p>
            <a:pPr marL="0" lvl="0" indent="0" algn="l" eaLnBrk="1" hangingPunct="1">
              <a:buNone/>
            </a:pP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6" name="Rectangle 3"/>
          <p:cNvSpPr txBox="1">
            <a:spLocks noChangeArrowheads="1"/>
          </p:cNvSpPr>
          <p:nvPr/>
        </p:nvSpPr>
        <p:spPr bwMode="auto">
          <a:xfrm>
            <a:off x="4697413" y="5603875"/>
            <a:ext cx="4189413" cy="9763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  A possible approach to transparent replication of a remote object using a client-side solution(</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客户代理</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p:txBody>
      </p:sp>
      <p:pic>
        <p:nvPicPr>
          <p:cNvPr id="15367" name="Picture 4"/>
          <p:cNvPicPr>
            <a:picLocks noChangeAspect="1"/>
          </p:cNvPicPr>
          <p:nvPr/>
        </p:nvPicPr>
        <p:blipFill>
          <a:blip r:embed="rId2"/>
          <a:srcRect l="34848" t="44864" r="33138" b="38217"/>
          <a:stretch>
            <a:fillRect/>
          </a:stretch>
        </p:blipFill>
        <p:spPr>
          <a:xfrm>
            <a:off x="4848225" y="2279650"/>
            <a:ext cx="4229100" cy="3214688"/>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6" name="Picture 2"/>
          <p:cNvPicPr>
            <a:picLocks noChangeAspect="1"/>
          </p:cNvPicPr>
          <p:nvPr/>
        </p:nvPicPr>
        <p:blipFill>
          <a:blip r:embed="rId1"/>
          <a:srcRect l="27365" t="44109" r="24345" b="37613"/>
          <a:stretch>
            <a:fillRect/>
          </a:stretch>
        </p:blipFill>
        <p:spPr>
          <a:xfrm>
            <a:off x="309563" y="1295400"/>
            <a:ext cx="8605837" cy="4610100"/>
          </a:xfrm>
          <a:prstGeom prst="rect">
            <a:avLst/>
          </a:prstGeom>
          <a:noFill/>
          <a:ln w="9525">
            <a:noFill/>
          </a:ln>
        </p:spPr>
      </p:pic>
      <p:sp>
        <p:nvSpPr>
          <p:cNvPr id="16387" name="Rectangle 3"/>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Multithreaded Servers</a:t>
            </a:r>
            <a:endParaRPr lang="en-US" altLang="zh-CN" dirty="0">
              <a:ea typeface="宋体" panose="02010600030101010101" pitchFamily="2" charset="-122"/>
            </a:endParaRPr>
          </a:p>
        </p:txBody>
      </p:sp>
      <p:sp>
        <p:nvSpPr>
          <p:cNvPr id="16388" name="Rectangle 4"/>
          <p:cNvSpPr>
            <a:spLocks noGrp="1"/>
          </p:cNvSpPr>
          <p:nvPr>
            <p:ph idx="1"/>
          </p:nvPr>
        </p:nvSpPr>
        <p:spPr>
          <a:xfrm>
            <a:off x="0" y="5715000"/>
            <a:ext cx="9144000" cy="547688"/>
          </a:xfrm>
        </p:spPr>
        <p:txBody>
          <a:bodyPr vert="horz" wrap="square" lIns="91440" tIns="45720" rIns="91440" bIns="45720" anchor="t" anchorCtr="0"/>
          <a:p>
            <a:pPr eaLnBrk="1" hangingPunct="1">
              <a:buNone/>
            </a:pPr>
            <a:r>
              <a:rPr lang="en-US" altLang="zh-CN" sz="2400" dirty="0">
                <a:ea typeface="宋体" panose="02010600030101010101" pitchFamily="2" charset="-122"/>
              </a:rPr>
              <a:t>A multithreaded server organized in a dispatcher/worker model.</a:t>
            </a:r>
            <a:endParaRPr lang="en-US" altLang="zh-CN" sz="2400"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Multithreaded Servers</a:t>
            </a:r>
            <a:endParaRPr lang="en-US" altLang="zh-CN" dirty="0">
              <a:ea typeface="宋体" panose="02010600030101010101" pitchFamily="2" charset="-122"/>
            </a:endParaRPr>
          </a:p>
        </p:txBody>
      </p:sp>
      <p:sp>
        <p:nvSpPr>
          <p:cNvPr id="17411" name="Rectangle 5"/>
          <p:cNvSpPr/>
          <p:nvPr/>
        </p:nvSpPr>
        <p:spPr>
          <a:xfrm>
            <a:off x="4541838" y="1924050"/>
            <a:ext cx="4029075" cy="1339850"/>
          </a:xfrm>
          <a:prstGeom prst="rect">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None/>
            </a:pPr>
            <a:r>
              <a:rPr lang="zh-CN" altLang="en-US" sz="1800" dirty="0">
                <a:ea typeface="宋体" panose="02010600030101010101" pitchFamily="2" charset="-122"/>
              </a:rPr>
              <a:t>设</a:t>
            </a:r>
            <a:r>
              <a:rPr lang="en-US" altLang="zh-CN" sz="1800" dirty="0">
                <a:ea typeface="宋体" panose="02010600030101010101" pitchFamily="2" charset="-122"/>
              </a:rPr>
              <a:t>Server</a:t>
            </a:r>
            <a:r>
              <a:rPr lang="zh-CN" altLang="en-US" sz="1800" dirty="0">
                <a:ea typeface="宋体" panose="02010600030101010101" pitchFamily="2" charset="-122"/>
              </a:rPr>
              <a:t>处理速度为</a:t>
            </a:r>
            <a:r>
              <a:rPr lang="en-US" altLang="zh-CN" sz="1800" dirty="0">
                <a:ea typeface="宋体" panose="02010600030101010101" pitchFamily="2" charset="-122"/>
              </a:rPr>
              <a:t>1000ms/s</a:t>
            </a:r>
            <a:r>
              <a:rPr lang="zh-CN" altLang="en-US" sz="1800" dirty="0">
                <a:ea typeface="宋体" panose="02010600030101010101" pitchFamily="2" charset="-122"/>
              </a:rPr>
              <a:t>。每个请求端口有一个线程对应，请求处理时间需要</a:t>
            </a:r>
            <a:r>
              <a:rPr lang="en-US" altLang="zh-CN" sz="1800" dirty="0">
                <a:ea typeface="宋体" panose="02010600030101010101" pitchFamily="2" charset="-122"/>
              </a:rPr>
              <a:t>2ms</a:t>
            </a:r>
            <a:r>
              <a:rPr lang="zh-CN" altLang="en-US" sz="1800" dirty="0">
                <a:ea typeface="宋体" panose="02010600030101010101" pitchFamily="2" charset="-122"/>
              </a:rPr>
              <a:t>，读设备请求需要</a:t>
            </a:r>
            <a:r>
              <a:rPr lang="en-US" altLang="zh-CN" sz="1800" dirty="0">
                <a:ea typeface="宋体" panose="02010600030101010101" pitchFamily="2" charset="-122"/>
              </a:rPr>
              <a:t>8ms</a:t>
            </a:r>
            <a:r>
              <a:rPr lang="zh-CN" altLang="en-US" sz="1800" dirty="0">
                <a:ea typeface="宋体" panose="02010600030101010101" pitchFamily="2" charset="-122"/>
              </a:rPr>
              <a:t>。</a:t>
            </a:r>
            <a:endParaRPr lang="en-US" altLang="zh-CN" sz="1800" dirty="0">
              <a:ea typeface="宋体" panose="02010600030101010101" pitchFamily="2" charset="-122"/>
            </a:endParaRPr>
          </a:p>
        </p:txBody>
      </p:sp>
      <p:grpSp>
        <p:nvGrpSpPr>
          <p:cNvPr id="17412" name="Group 7"/>
          <p:cNvGrpSpPr/>
          <p:nvPr/>
        </p:nvGrpSpPr>
        <p:grpSpPr>
          <a:xfrm>
            <a:off x="301625" y="1122363"/>
            <a:ext cx="4819650" cy="2817812"/>
            <a:chOff x="4860" y="9396"/>
            <a:chExt cx="4860" cy="2652"/>
          </a:xfrm>
        </p:grpSpPr>
        <p:sp>
          <p:nvSpPr>
            <p:cNvPr id="17414" name="Text Box 8"/>
            <p:cNvSpPr txBox="1"/>
            <p:nvPr/>
          </p:nvSpPr>
          <p:spPr>
            <a:xfrm>
              <a:off x="4860" y="10332"/>
              <a:ext cx="90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dirty="0">
                  <a:ea typeface="宋体" panose="02010600030101010101" pitchFamily="2" charset="-122"/>
                </a:rPr>
                <a:t>请求</a:t>
              </a:r>
              <a:endParaRPr lang="zh-CN" altLang="en-US" sz="1600" dirty="0">
                <a:ea typeface="宋体" panose="02010600030101010101" pitchFamily="2" charset="-122"/>
              </a:endParaRPr>
            </a:p>
          </p:txBody>
        </p:sp>
        <p:sp>
          <p:nvSpPr>
            <p:cNvPr id="17415" name="Text Box 9"/>
            <p:cNvSpPr txBox="1"/>
            <p:nvPr/>
          </p:nvSpPr>
          <p:spPr>
            <a:xfrm>
              <a:off x="8100" y="9396"/>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8ms</a:t>
              </a:r>
              <a:endParaRPr lang="en-US" altLang="zh-CN" sz="1600" dirty="0">
                <a:ea typeface="宋体" panose="02010600030101010101" pitchFamily="2" charset="-122"/>
              </a:endParaRPr>
            </a:p>
          </p:txBody>
        </p:sp>
        <p:sp>
          <p:nvSpPr>
            <p:cNvPr id="17416" name="Text Box 10"/>
            <p:cNvSpPr txBox="1"/>
            <p:nvPr/>
          </p:nvSpPr>
          <p:spPr>
            <a:xfrm>
              <a:off x="9000" y="9396"/>
              <a:ext cx="7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I/O</a:t>
              </a:r>
              <a:endParaRPr lang="en-US" altLang="zh-CN" sz="1600" dirty="0">
                <a:ea typeface="宋体" panose="02010600030101010101" pitchFamily="2" charset="-122"/>
              </a:endParaRPr>
            </a:p>
          </p:txBody>
        </p:sp>
        <p:sp>
          <p:nvSpPr>
            <p:cNvPr id="17417" name="Text Box 11"/>
            <p:cNvSpPr txBox="1"/>
            <p:nvPr/>
          </p:nvSpPr>
          <p:spPr>
            <a:xfrm>
              <a:off x="5940" y="9396"/>
              <a:ext cx="1980" cy="2652"/>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dirty="0">
                  <a:ea typeface="宋体" panose="02010600030101010101" pitchFamily="2" charset="-122"/>
                </a:rPr>
                <a:t>端口</a:t>
              </a:r>
              <a:endParaRPr lang="zh-CN" altLang="en-US" sz="1600" dirty="0">
                <a:ea typeface="宋体" panose="02010600030101010101" pitchFamily="2" charset="-122"/>
              </a:endParaRPr>
            </a:p>
            <a:p>
              <a:pPr marL="0" lvl="0" indent="0" algn="just" eaLnBrk="1" hangingPunct="1">
                <a:spcBef>
                  <a:spcPct val="50000"/>
                </a:spcBef>
                <a:buClrTx/>
                <a:buNone/>
              </a:pPr>
              <a:endParaRPr lang="zh-CN" altLang="en-US" sz="1600" dirty="0">
                <a:ea typeface="宋体" panose="02010600030101010101" pitchFamily="2" charset="-122"/>
              </a:endParaRPr>
            </a:p>
            <a:p>
              <a:pPr marL="0" lvl="0" indent="0" algn="just" eaLnBrk="1" hangingPunct="1">
                <a:spcBef>
                  <a:spcPct val="50000"/>
                </a:spcBef>
                <a:buClrTx/>
                <a:buNone/>
              </a:pPr>
              <a:endParaRPr lang="zh-CN" altLang="en-US" sz="1600" dirty="0">
                <a:ea typeface="宋体" panose="02010600030101010101" pitchFamily="2" charset="-122"/>
              </a:endParaRPr>
            </a:p>
            <a:p>
              <a:pPr marL="0" lvl="0" indent="0" algn="just" eaLnBrk="1" hangingPunct="1">
                <a:spcBef>
                  <a:spcPct val="50000"/>
                </a:spcBef>
                <a:buClrTx/>
                <a:buNone/>
              </a:pPr>
              <a:r>
                <a:rPr lang="zh-CN" altLang="en-US" sz="1600" dirty="0">
                  <a:ea typeface="宋体" panose="02010600030101010101" pitchFamily="2" charset="-122"/>
                </a:rPr>
                <a:t>	  </a:t>
              </a:r>
              <a:r>
                <a:rPr lang="en-US" altLang="zh-CN" sz="1600" dirty="0">
                  <a:ea typeface="宋体" panose="02010600030101010101" pitchFamily="2" charset="-122"/>
                </a:rPr>
                <a:t>……</a:t>
              </a:r>
              <a:endParaRPr lang="en-US" altLang="zh-CN" sz="1600" dirty="0">
                <a:ea typeface="宋体" panose="02010600030101010101" pitchFamily="2" charset="-122"/>
              </a:endParaRPr>
            </a:p>
            <a:p>
              <a:pPr marL="0" lvl="0" indent="0" algn="just" eaLnBrk="1" hangingPunct="1">
                <a:spcBef>
                  <a:spcPct val="50000"/>
                </a:spcBef>
                <a:buClrTx/>
                <a:buNone/>
              </a:pPr>
              <a:r>
                <a:rPr lang="en-US" altLang="zh-CN" sz="1600" dirty="0">
                  <a:ea typeface="宋体" panose="02010600030101010101" pitchFamily="2" charset="-122"/>
                </a:rPr>
                <a:t>	     </a:t>
              </a:r>
              <a:endParaRPr lang="en-US" altLang="zh-CN" sz="1600" dirty="0">
                <a:ea typeface="宋体" panose="02010600030101010101" pitchFamily="2" charset="-122"/>
              </a:endParaRPr>
            </a:p>
            <a:p>
              <a:pPr marL="0" lvl="0" indent="0" algn="just" eaLnBrk="1" hangingPunct="1">
                <a:spcBef>
                  <a:spcPct val="50000"/>
                </a:spcBef>
                <a:buClrTx/>
                <a:buNone/>
              </a:pPr>
              <a:endParaRPr lang="en-US" altLang="zh-CN" sz="1600" dirty="0">
                <a:ea typeface="宋体" panose="02010600030101010101" pitchFamily="2" charset="-122"/>
              </a:endParaRPr>
            </a:p>
            <a:p>
              <a:pPr marL="0" lvl="0" indent="0" algn="just" eaLnBrk="1" hangingPunct="1">
                <a:spcBef>
                  <a:spcPct val="50000"/>
                </a:spcBef>
                <a:buClrTx/>
                <a:buNone/>
              </a:pPr>
              <a:r>
                <a:rPr lang="en-US" altLang="zh-CN" sz="1600" dirty="0">
                  <a:ea typeface="宋体" panose="02010600030101010101" pitchFamily="2" charset="-122"/>
                </a:rPr>
                <a:t>                  </a:t>
              </a:r>
              <a:r>
                <a:rPr lang="en-US" altLang="zh-CN" sz="1400" dirty="0">
                  <a:ea typeface="宋体" panose="02010600030101010101" pitchFamily="2" charset="-122"/>
                </a:rPr>
                <a:t>N</a:t>
              </a:r>
              <a:r>
                <a:rPr lang="zh-CN" altLang="en-US" sz="1400" dirty="0">
                  <a:ea typeface="宋体" panose="02010600030101010101" pitchFamily="2" charset="-122"/>
                </a:rPr>
                <a:t>个线程</a:t>
              </a:r>
              <a:endParaRPr lang="zh-CN" altLang="en-US" sz="1400" dirty="0">
                <a:ea typeface="宋体" panose="02010600030101010101" pitchFamily="2" charset="-122"/>
              </a:endParaRPr>
            </a:p>
            <a:p>
              <a:pPr marL="0" lvl="0" indent="0" algn="just" eaLnBrk="1" hangingPunct="1">
                <a:spcBef>
                  <a:spcPct val="50000"/>
                </a:spcBef>
                <a:buClrTx/>
                <a:buNone/>
              </a:pPr>
              <a:r>
                <a:rPr lang="en-US" altLang="zh-CN" sz="1600" dirty="0">
                  <a:ea typeface="宋体" panose="02010600030101010101" pitchFamily="2" charset="-122"/>
                </a:rPr>
                <a:t>Server</a:t>
              </a:r>
              <a:endParaRPr lang="en-US" altLang="zh-CN" sz="1600" dirty="0">
                <a:ea typeface="宋体" panose="02010600030101010101" pitchFamily="2" charset="-122"/>
              </a:endParaRPr>
            </a:p>
          </p:txBody>
        </p:sp>
        <p:sp>
          <p:nvSpPr>
            <p:cNvPr id="17418" name="Oval 12"/>
            <p:cNvSpPr/>
            <p:nvPr/>
          </p:nvSpPr>
          <p:spPr>
            <a:xfrm>
              <a:off x="6120" y="1048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sp>
          <p:nvSpPr>
            <p:cNvPr id="17419" name="Oval 13"/>
            <p:cNvSpPr/>
            <p:nvPr/>
          </p:nvSpPr>
          <p:spPr>
            <a:xfrm>
              <a:off x="7200" y="9552"/>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sp>
          <p:nvSpPr>
            <p:cNvPr id="17420" name="Oval 14"/>
            <p:cNvSpPr/>
            <p:nvPr/>
          </p:nvSpPr>
          <p:spPr>
            <a:xfrm>
              <a:off x="7200" y="10332"/>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sp>
          <p:nvSpPr>
            <p:cNvPr id="17421" name="Oval 15"/>
            <p:cNvSpPr/>
            <p:nvPr/>
          </p:nvSpPr>
          <p:spPr>
            <a:xfrm>
              <a:off x="7200" y="1126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sp>
          <p:nvSpPr>
            <p:cNvPr id="17422" name="Line 16"/>
            <p:cNvSpPr/>
            <p:nvPr/>
          </p:nvSpPr>
          <p:spPr>
            <a:xfrm>
              <a:off x="5400" y="10584"/>
              <a:ext cx="720" cy="0"/>
            </a:xfrm>
            <a:prstGeom prst="line">
              <a:avLst/>
            </a:prstGeom>
            <a:ln w="9525" cap="flat" cmpd="sng">
              <a:solidFill>
                <a:srgbClr val="000000"/>
              </a:solidFill>
              <a:prstDash val="solid"/>
              <a:headEnd type="none" w="med" len="med"/>
              <a:tailEnd type="triangle" w="med" len="med"/>
            </a:ln>
          </p:spPr>
        </p:sp>
        <p:sp>
          <p:nvSpPr>
            <p:cNvPr id="17423" name="Freeform 17"/>
            <p:cNvSpPr/>
            <p:nvPr/>
          </p:nvSpPr>
          <p:spPr>
            <a:xfrm>
              <a:off x="5940" y="9708"/>
              <a:ext cx="420" cy="780"/>
            </a:xfrm>
            <a:custGeom>
              <a:avLst/>
              <a:gdLst/>
              <a:ahLst/>
              <a:cxnLst>
                <a:cxn ang="0">
                  <a:pos x="210" y="0"/>
                </a:cxn>
                <a:cxn ang="0">
                  <a:pos x="390" y="156"/>
                </a:cxn>
                <a:cxn ang="0">
                  <a:pos x="30" y="312"/>
                </a:cxn>
                <a:cxn ang="0">
                  <a:pos x="210" y="624"/>
                </a:cxn>
                <a:cxn ang="0">
                  <a:pos x="210" y="780"/>
                </a:cxn>
              </a:cxnLst>
              <a:pathLst>
                <a:path w="420" h="780">
                  <a:moveTo>
                    <a:pt x="210" y="0"/>
                  </a:moveTo>
                  <a:cubicBezTo>
                    <a:pt x="315" y="52"/>
                    <a:pt x="420" y="104"/>
                    <a:pt x="390" y="156"/>
                  </a:cubicBezTo>
                  <a:cubicBezTo>
                    <a:pt x="360" y="208"/>
                    <a:pt x="60" y="234"/>
                    <a:pt x="30" y="312"/>
                  </a:cubicBezTo>
                  <a:cubicBezTo>
                    <a:pt x="0" y="390"/>
                    <a:pt x="180" y="546"/>
                    <a:pt x="210" y="624"/>
                  </a:cubicBezTo>
                  <a:cubicBezTo>
                    <a:pt x="240" y="702"/>
                    <a:pt x="225" y="741"/>
                    <a:pt x="210" y="780"/>
                  </a:cubicBezTo>
                </a:path>
              </a:pathLst>
            </a:custGeom>
            <a:noFill/>
            <a:ln w="9525" cap="flat" cmpd="sng">
              <a:solidFill>
                <a:srgbClr val="000000">
                  <a:alpha val="100000"/>
                </a:srgbClr>
              </a:solidFill>
              <a:prstDash val="solid"/>
              <a:round/>
              <a:headEnd type="none" w="med" len="med"/>
              <a:tailEnd type="arrow" w="med" len="med"/>
            </a:ln>
          </p:spPr>
          <p:txBody>
            <a:bodyPr/>
            <a:p>
              <a:endParaRPr lang="zh-CN" altLang="en-US"/>
            </a:p>
          </p:txBody>
        </p:sp>
        <p:sp>
          <p:nvSpPr>
            <p:cNvPr id="17424" name="Line 18"/>
            <p:cNvSpPr/>
            <p:nvPr/>
          </p:nvSpPr>
          <p:spPr>
            <a:xfrm>
              <a:off x="7380" y="9708"/>
              <a:ext cx="1620" cy="0"/>
            </a:xfrm>
            <a:prstGeom prst="line">
              <a:avLst/>
            </a:prstGeom>
            <a:ln w="9525" cap="flat" cmpd="sng">
              <a:solidFill>
                <a:srgbClr val="000000"/>
              </a:solidFill>
              <a:prstDash val="solid"/>
              <a:headEnd type="none" w="med" len="med"/>
              <a:tailEnd type="triangle" w="med" len="med"/>
            </a:ln>
          </p:spPr>
        </p:sp>
        <p:sp>
          <p:nvSpPr>
            <p:cNvPr id="17425" name="Line 19"/>
            <p:cNvSpPr/>
            <p:nvPr/>
          </p:nvSpPr>
          <p:spPr>
            <a:xfrm flipV="1">
              <a:off x="7380" y="9864"/>
              <a:ext cx="1620" cy="468"/>
            </a:xfrm>
            <a:prstGeom prst="line">
              <a:avLst/>
            </a:prstGeom>
            <a:ln w="9525" cap="flat" cmpd="sng">
              <a:solidFill>
                <a:srgbClr val="000000"/>
              </a:solidFill>
              <a:prstDash val="solid"/>
              <a:headEnd type="none" w="med" len="med"/>
              <a:tailEnd type="triangle" w="med" len="med"/>
            </a:ln>
          </p:spPr>
        </p:sp>
        <p:sp>
          <p:nvSpPr>
            <p:cNvPr id="17426" name="Line 20"/>
            <p:cNvSpPr/>
            <p:nvPr/>
          </p:nvSpPr>
          <p:spPr>
            <a:xfrm flipV="1">
              <a:off x="7380" y="9864"/>
              <a:ext cx="1800" cy="1404"/>
            </a:xfrm>
            <a:prstGeom prst="line">
              <a:avLst/>
            </a:prstGeom>
            <a:ln w="9525" cap="flat" cmpd="sng">
              <a:solidFill>
                <a:srgbClr val="000000"/>
              </a:solidFill>
              <a:prstDash val="solid"/>
              <a:headEnd type="none" w="med" len="med"/>
              <a:tailEnd type="triangle" w="med" len="med"/>
            </a:ln>
          </p:spPr>
        </p:sp>
        <p:sp>
          <p:nvSpPr>
            <p:cNvPr id="17427" name="Text Box 21"/>
            <p:cNvSpPr txBox="1"/>
            <p:nvPr/>
          </p:nvSpPr>
          <p:spPr>
            <a:xfrm>
              <a:off x="6480" y="9864"/>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2ms</a:t>
              </a:r>
              <a:endParaRPr lang="en-US" altLang="zh-CN" sz="1600" dirty="0">
                <a:ea typeface="宋体" panose="02010600030101010101" pitchFamily="2" charset="-122"/>
              </a:endParaRPr>
            </a:p>
          </p:txBody>
        </p:sp>
        <p:sp>
          <p:nvSpPr>
            <p:cNvPr id="17428" name="Line 22"/>
            <p:cNvSpPr/>
            <p:nvPr/>
          </p:nvSpPr>
          <p:spPr>
            <a:xfrm flipV="1">
              <a:off x="6300" y="9708"/>
              <a:ext cx="900" cy="780"/>
            </a:xfrm>
            <a:prstGeom prst="line">
              <a:avLst/>
            </a:prstGeom>
            <a:ln w="9525" cap="flat" cmpd="sng">
              <a:solidFill>
                <a:srgbClr val="000000"/>
              </a:solidFill>
              <a:prstDash val="dash"/>
              <a:headEnd type="none" w="med" len="med"/>
              <a:tailEnd type="triangle" w="med" len="med"/>
            </a:ln>
          </p:spPr>
        </p:sp>
        <p:sp>
          <p:nvSpPr>
            <p:cNvPr id="17429" name="Line 23"/>
            <p:cNvSpPr/>
            <p:nvPr/>
          </p:nvSpPr>
          <p:spPr>
            <a:xfrm flipV="1">
              <a:off x="6300" y="10413"/>
              <a:ext cx="900" cy="156"/>
            </a:xfrm>
            <a:prstGeom prst="line">
              <a:avLst/>
            </a:prstGeom>
            <a:ln w="9525" cap="flat" cmpd="sng">
              <a:solidFill>
                <a:srgbClr val="000000"/>
              </a:solidFill>
              <a:prstDash val="dash"/>
              <a:headEnd type="none" w="med" len="med"/>
              <a:tailEnd type="triangle" w="med" len="med"/>
            </a:ln>
          </p:spPr>
        </p:sp>
        <p:sp>
          <p:nvSpPr>
            <p:cNvPr id="17430" name="Line 24"/>
            <p:cNvSpPr/>
            <p:nvPr/>
          </p:nvSpPr>
          <p:spPr>
            <a:xfrm>
              <a:off x="6300" y="10644"/>
              <a:ext cx="900" cy="624"/>
            </a:xfrm>
            <a:prstGeom prst="line">
              <a:avLst/>
            </a:prstGeom>
            <a:ln w="9525" cap="flat" cmpd="sng">
              <a:solidFill>
                <a:srgbClr val="000000"/>
              </a:solidFill>
              <a:prstDash val="dash"/>
              <a:headEnd type="none" w="med" len="med"/>
              <a:tailEnd type="triangle" w="med" len="med"/>
            </a:ln>
          </p:spPr>
        </p:sp>
      </p:grpSp>
      <p:sp>
        <p:nvSpPr>
          <p:cNvPr id="17413" name="Rectangle 3"/>
          <p:cNvSpPr/>
          <p:nvPr/>
        </p:nvSpPr>
        <p:spPr>
          <a:xfrm>
            <a:off x="301625" y="4251325"/>
            <a:ext cx="8482013" cy="2432050"/>
          </a:xfrm>
          <a:prstGeom prst="rect">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0" indent="-457200" algn="l" eaLnBrk="1" hangingPunct="1">
              <a:spcBef>
                <a:spcPct val="50000"/>
              </a:spcBef>
              <a:buClrTx/>
              <a:buNone/>
            </a:pPr>
            <a:r>
              <a:rPr lang="en-US" altLang="zh-CN" sz="1600" dirty="0">
                <a:ea typeface="宋体" panose="02010600030101010101" pitchFamily="2" charset="-122"/>
              </a:rPr>
              <a:t>(1) </a:t>
            </a:r>
            <a:r>
              <a:rPr lang="zh-CN" altLang="en-US" sz="1600" dirty="0">
                <a:ea typeface="宋体" panose="02010600030101010101" pitchFamily="2" charset="-122"/>
              </a:rPr>
              <a:t>一个线程</a:t>
            </a:r>
            <a:r>
              <a:rPr lang="en-US" altLang="zh-CN" sz="1600" dirty="0">
                <a:ea typeface="宋体" panose="02010600030101010101" pitchFamily="2" charset="-122"/>
              </a:rPr>
              <a:t>(N=1) </a:t>
            </a:r>
            <a:r>
              <a:rPr lang="zh-CN" altLang="en-US" sz="1600" dirty="0">
                <a:ea typeface="宋体" panose="02010600030101010101" pitchFamily="2" charset="-122"/>
              </a:rPr>
              <a:t>，</a:t>
            </a:r>
            <a:r>
              <a:rPr lang="en-US" altLang="zh-CN" sz="1600" dirty="0">
                <a:ea typeface="宋体" panose="02010600030101010101" pitchFamily="2" charset="-122"/>
              </a:rPr>
              <a:t>Server</a:t>
            </a:r>
            <a:r>
              <a:rPr lang="zh-CN" altLang="en-US" sz="1600" dirty="0">
                <a:ea typeface="宋体" panose="02010600030101010101" pitchFamily="2" charset="-122"/>
              </a:rPr>
              <a:t>每秒可以处理的请求个数</a:t>
            </a:r>
            <a:r>
              <a:rPr lang="en-US" altLang="zh-CN" sz="1600" dirty="0">
                <a:ea typeface="宋体" panose="02010600030101010101" pitchFamily="2" charset="-122"/>
              </a:rPr>
              <a:t>: </a:t>
            </a:r>
            <a:endParaRPr lang="en-US" altLang="zh-CN" sz="1600" dirty="0">
              <a:ea typeface="宋体" panose="02010600030101010101" pitchFamily="2" charset="-122"/>
            </a:endParaRPr>
          </a:p>
          <a:p>
            <a:pPr marL="457200" lvl="0" indent="-457200" algn="l" eaLnBrk="1" hangingPunct="1">
              <a:spcBef>
                <a:spcPct val="50000"/>
              </a:spcBef>
              <a:buClrTx/>
              <a:buNone/>
            </a:pPr>
            <a:r>
              <a:rPr lang="en-US" altLang="zh-CN" sz="1600" dirty="0">
                <a:ea typeface="宋体" panose="02010600030101010101" pitchFamily="2" charset="-122"/>
              </a:rPr>
              <a:t>        1000ms/s÷(2ms+8ms)=100/s</a:t>
            </a:r>
            <a:endParaRPr lang="zh-CN" altLang="en-US" sz="1600" dirty="0">
              <a:ea typeface="宋体" panose="02010600030101010101" pitchFamily="2" charset="-122"/>
            </a:endParaRPr>
          </a:p>
          <a:p>
            <a:pPr marL="457200" lvl="0" indent="-457200" algn="l" eaLnBrk="1" hangingPunct="1">
              <a:spcBef>
                <a:spcPct val="50000"/>
              </a:spcBef>
              <a:buClrTx/>
              <a:buAutoNum type="arabicParenBoth" startAt="2"/>
            </a:pPr>
            <a:r>
              <a:rPr lang="zh-CN" altLang="en-US" sz="1600" dirty="0">
                <a:ea typeface="宋体" panose="02010600030101010101" pitchFamily="2" charset="-122"/>
              </a:rPr>
              <a:t>两个线程</a:t>
            </a:r>
            <a:r>
              <a:rPr lang="en-US" altLang="zh-CN" sz="1600" dirty="0">
                <a:ea typeface="宋体" panose="02010600030101010101" pitchFamily="2" charset="-122"/>
              </a:rPr>
              <a:t>(N=2)</a:t>
            </a:r>
            <a:r>
              <a:rPr lang="zh-CN" altLang="en-US" sz="1600" dirty="0">
                <a:ea typeface="宋体" panose="02010600030101010101" pitchFamily="2" charset="-122"/>
              </a:rPr>
              <a:t>，他们可以交替地使用</a:t>
            </a:r>
            <a:r>
              <a:rPr lang="en-US" altLang="zh-CN" sz="1600" dirty="0">
                <a:ea typeface="宋体" panose="02010600030101010101" pitchFamily="2" charset="-122"/>
              </a:rPr>
              <a:t>I/O</a:t>
            </a:r>
            <a:r>
              <a:rPr lang="zh-CN" altLang="en-US" sz="1600" dirty="0">
                <a:ea typeface="宋体" panose="02010600030101010101" pitchFamily="2" charset="-122"/>
              </a:rPr>
              <a:t>，此时</a:t>
            </a:r>
            <a:r>
              <a:rPr lang="en-US" altLang="zh-CN" sz="1600" dirty="0">
                <a:ea typeface="宋体" panose="02010600030101010101" pitchFamily="2" charset="-122"/>
              </a:rPr>
              <a:t>I/O</a:t>
            </a:r>
            <a:r>
              <a:rPr lang="zh-CN" altLang="en-US" sz="1600" dirty="0">
                <a:ea typeface="宋体" panose="02010600030101010101" pitchFamily="2" charset="-122"/>
              </a:rPr>
              <a:t>成为瓶颈，</a:t>
            </a:r>
            <a:r>
              <a:rPr lang="en-US" altLang="zh-CN" sz="1600" dirty="0">
                <a:ea typeface="宋体" panose="02010600030101010101" pitchFamily="2" charset="-122"/>
              </a:rPr>
              <a:t>Server</a:t>
            </a:r>
            <a:r>
              <a:rPr lang="zh-CN" altLang="en-US" sz="1600" dirty="0">
                <a:ea typeface="宋体" panose="02010600030101010101" pitchFamily="2" charset="-122"/>
              </a:rPr>
              <a:t>每秒可以处理的请求个数</a:t>
            </a:r>
            <a:r>
              <a:rPr lang="en-US" altLang="zh-CN" sz="1600" dirty="0">
                <a:ea typeface="宋体" panose="02010600030101010101" pitchFamily="2" charset="-122"/>
              </a:rPr>
              <a:t>: </a:t>
            </a:r>
            <a:endParaRPr lang="en-US" altLang="zh-CN" sz="1600" dirty="0">
              <a:ea typeface="宋体" panose="02010600030101010101" pitchFamily="2" charset="-122"/>
            </a:endParaRPr>
          </a:p>
          <a:p>
            <a:pPr marL="457200" lvl="0" indent="-457200" algn="l" eaLnBrk="1" hangingPunct="1">
              <a:spcBef>
                <a:spcPct val="50000"/>
              </a:spcBef>
              <a:buClrTx/>
              <a:buNone/>
            </a:pPr>
            <a:r>
              <a:rPr lang="en-US" altLang="zh-CN" sz="1600" dirty="0">
                <a:ea typeface="宋体" panose="02010600030101010101" pitchFamily="2" charset="-122"/>
              </a:rPr>
              <a:t>        1000ms÷8ms=125</a:t>
            </a:r>
            <a:r>
              <a:rPr lang="zh-CN" altLang="en-US" sz="1600" dirty="0">
                <a:ea typeface="宋体" panose="02010600030101010101" pitchFamily="2" charset="-122"/>
              </a:rPr>
              <a:t> </a:t>
            </a:r>
            <a:endParaRPr lang="zh-CN" altLang="en-US" sz="1600" dirty="0">
              <a:ea typeface="宋体" panose="02010600030101010101" pitchFamily="2" charset="-122"/>
            </a:endParaRPr>
          </a:p>
          <a:p>
            <a:pPr marL="457200" lvl="0" indent="-457200" algn="l" eaLnBrk="1" hangingPunct="1">
              <a:spcBef>
                <a:spcPct val="50000"/>
              </a:spcBef>
              <a:buClrTx/>
              <a:buNone/>
            </a:pPr>
            <a:r>
              <a:rPr lang="en-US" altLang="zh-CN" sz="1600" dirty="0">
                <a:ea typeface="宋体" panose="02010600030101010101" pitchFamily="2" charset="-122"/>
              </a:rPr>
              <a:t>(3)</a:t>
            </a:r>
            <a:r>
              <a:rPr lang="zh-CN" altLang="en-US" sz="1600" dirty="0">
                <a:ea typeface="宋体" panose="02010600030101010101" pitchFamily="2" charset="-122"/>
              </a:rPr>
              <a:t> </a:t>
            </a:r>
            <a:r>
              <a:rPr lang="en-US" altLang="zh-CN" sz="1600" dirty="0">
                <a:ea typeface="宋体" panose="02010600030101010101" pitchFamily="2" charset="-122"/>
              </a:rPr>
              <a:t>I/O</a:t>
            </a:r>
            <a:r>
              <a:rPr lang="zh-CN" altLang="en-US" sz="1600" dirty="0">
                <a:ea typeface="宋体" panose="02010600030101010101" pitchFamily="2" charset="-122"/>
              </a:rPr>
              <a:t>使用磁盘缓冲区，且命中率为</a:t>
            </a:r>
            <a:r>
              <a:rPr lang="en-US" altLang="zh-CN" sz="1600" dirty="0">
                <a:ea typeface="宋体" panose="02010600030101010101" pitchFamily="2" charset="-122"/>
              </a:rPr>
              <a:t>75%</a:t>
            </a:r>
            <a:r>
              <a:rPr lang="zh-CN" altLang="en-US" sz="1600" dirty="0">
                <a:ea typeface="宋体" panose="02010600030101010101" pitchFamily="2" charset="-122"/>
              </a:rPr>
              <a:t>，则</a:t>
            </a:r>
            <a:r>
              <a:rPr lang="en-US" altLang="zh-CN" sz="1600" dirty="0">
                <a:ea typeface="宋体" panose="02010600030101010101" pitchFamily="2" charset="-122"/>
              </a:rPr>
              <a:t>Server</a:t>
            </a:r>
            <a:r>
              <a:rPr lang="zh-CN" altLang="en-US" sz="1600" dirty="0">
                <a:ea typeface="宋体" panose="02010600030101010101" pitchFamily="2" charset="-122"/>
              </a:rPr>
              <a:t>每秒可以处理的请求个数</a:t>
            </a:r>
            <a:r>
              <a:rPr lang="en-US" altLang="zh-CN" sz="1600" dirty="0">
                <a:ea typeface="宋体" panose="02010600030101010101" pitchFamily="2" charset="-122"/>
              </a:rPr>
              <a:t>: </a:t>
            </a:r>
            <a:endParaRPr lang="en-US" altLang="zh-CN" sz="1600" dirty="0">
              <a:ea typeface="宋体" panose="02010600030101010101" pitchFamily="2" charset="-122"/>
            </a:endParaRPr>
          </a:p>
          <a:p>
            <a:pPr marL="457200" lvl="0" indent="-457200" algn="l" eaLnBrk="1" hangingPunct="1">
              <a:spcBef>
                <a:spcPct val="50000"/>
              </a:spcBef>
              <a:buClrTx/>
              <a:buNone/>
            </a:pPr>
            <a:r>
              <a:rPr lang="en-US" altLang="zh-CN" sz="1600" dirty="0">
                <a:ea typeface="宋体" panose="02010600030101010101" pitchFamily="2" charset="-122"/>
              </a:rPr>
              <a:t>       1000ms÷(75%*0ms+25%*8ms)=1000/2=500</a:t>
            </a:r>
            <a:endParaRPr lang="zh-CN" altLang="en-US" sz="1600"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a:spLocks noGrp="1"/>
          </p:cNvSpPr>
          <p:nvPr>
            <p:ph idx="1"/>
          </p:nvPr>
        </p:nvSpPr>
        <p:spPr>
          <a:xfrm>
            <a:off x="590550" y="1320800"/>
            <a:ext cx="5746750" cy="544513"/>
          </a:xfrm>
        </p:spPr>
        <p:txBody>
          <a:bodyPr vert="horz" wrap="square" lIns="91440" tIns="45720" rIns="91440" bIns="45720" anchor="t" anchorCtr="0"/>
          <a:p>
            <a:pPr algn="l" eaLnBrk="1" hangingPunct="1">
              <a:lnSpc>
                <a:spcPct val="90000"/>
              </a:lnSpc>
              <a:buNone/>
            </a:pPr>
            <a:r>
              <a:rPr lang="en-US" altLang="zh-CN" dirty="0">
                <a:ea typeface="宋体" panose="02010600030101010101" pitchFamily="2" charset="-122"/>
              </a:rPr>
              <a:t>Three ways to construct a server.</a:t>
            </a:r>
            <a:endParaRPr lang="en-US" altLang="zh-CN" dirty="0">
              <a:ea typeface="宋体" panose="02010600030101010101" pitchFamily="2" charset="-122"/>
            </a:endParaRPr>
          </a:p>
        </p:txBody>
      </p:sp>
      <p:graphicFrame>
        <p:nvGraphicFramePr>
          <p:cNvPr id="59421" name="Group 29"/>
          <p:cNvGraphicFramePr>
            <a:graphicFrameLocks noGrp="1"/>
          </p:cNvGraphicFramePr>
          <p:nvPr/>
        </p:nvGraphicFramePr>
        <p:xfrm>
          <a:off x="285750" y="2225675"/>
          <a:ext cx="8547100" cy="3001963"/>
        </p:xfrm>
        <a:graphic>
          <a:graphicData uri="http://schemas.openxmlformats.org/drawingml/2006/table">
            <a:tbl>
              <a:tblPr/>
              <a:tblGrid>
                <a:gridCol w="3170563"/>
                <a:gridCol w="5376537"/>
              </a:tblGrid>
              <a:tr h="69634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Model</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Characteristics</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098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Single-threaded process</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 parallelism, blocking system calls</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804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Threads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Parallelism, blocking system calls</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57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Finite-state machine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Parallelism, </a:t>
                      </a:r>
                      <a:r>
                        <a:rPr kumimoji="0" lang="en-US" altLang="zh-CN" sz="2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nonblocking</a:t>
                      </a: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system calls(</a:t>
                      </a: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可重入</a:t>
                      </a: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6" marR="91426" marT="45730" marB="4573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52" name="Rectangle 25"/>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Multithreaded Servers (3)</a:t>
            </a:r>
            <a:endParaRPr lang="en-US" altLang="zh-CN"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0" y="0"/>
            <a:ext cx="9144000" cy="914400"/>
          </a:xfrm>
        </p:spPr>
        <p:txBody>
          <a:bodyPr vert="horz" wrap="square" lIns="91440" tIns="45720" rIns="91440" bIns="45720" anchor="ctr" anchorCtr="0"/>
          <a:p>
            <a:pPr eaLnBrk="1" hangingPunct="1"/>
            <a:r>
              <a:rPr lang="en-US" altLang="zh-CN" dirty="0">
                <a:ea typeface="宋体" panose="02010600030101010101" pitchFamily="2" charset="-122"/>
              </a:rPr>
              <a:t>General Design Issues</a:t>
            </a:r>
            <a:endParaRPr lang="en-US" altLang="zh-CN" dirty="0">
              <a:ea typeface="宋体" panose="02010600030101010101" pitchFamily="2" charset="-122"/>
            </a:endParaRPr>
          </a:p>
        </p:txBody>
      </p:sp>
      <p:sp>
        <p:nvSpPr>
          <p:cNvPr id="19459" name="Rectangle 3"/>
          <p:cNvSpPr>
            <a:spLocks noGrp="1"/>
          </p:cNvSpPr>
          <p:nvPr>
            <p:ph idx="1"/>
          </p:nvPr>
        </p:nvSpPr>
        <p:spPr>
          <a:xfrm>
            <a:off x="255588" y="850900"/>
            <a:ext cx="8763000" cy="5849938"/>
          </a:xfrm>
        </p:spPr>
        <p:txBody>
          <a:bodyPr vert="horz" wrap="square" lIns="91440" tIns="45720" rIns="91440" bIns="45720" anchor="t" anchorCtr="0"/>
          <a:p>
            <a:pPr marL="609600" indent="-609600" algn="l" eaLnBrk="1" hangingPunct="1">
              <a:lnSpc>
                <a:spcPct val="150000"/>
              </a:lnSpc>
              <a:buFontTx/>
              <a:buAutoNum type="arabicPeriod"/>
            </a:pPr>
            <a:r>
              <a:rPr lang="en-US" altLang="zh-CN" sz="2600" dirty="0">
                <a:solidFill>
                  <a:srgbClr val="FF0000"/>
                </a:solidFill>
                <a:ea typeface="宋体" panose="02010600030101010101" pitchFamily="2" charset="-122"/>
              </a:rPr>
              <a:t>Iterative server——</a:t>
            </a:r>
            <a:r>
              <a:rPr lang="en-US" altLang="zh-CN" sz="2600" dirty="0">
                <a:ea typeface="宋体" panose="02010600030101010101" pitchFamily="2" charset="-122"/>
              </a:rPr>
              <a:t>the server itself handles the client request and, if necessary, returns a response to the requesting client.</a:t>
            </a:r>
            <a:endParaRPr lang="en-US" altLang="zh-CN" sz="2600" dirty="0">
              <a:ea typeface="宋体" panose="02010600030101010101" pitchFamily="2" charset="-122"/>
            </a:endParaRPr>
          </a:p>
          <a:p>
            <a:pPr marL="609600" indent="-609600" algn="l" eaLnBrk="1" hangingPunct="1">
              <a:lnSpc>
                <a:spcPct val="150000"/>
              </a:lnSpc>
              <a:buFontTx/>
              <a:buAutoNum type="arabicPeriod"/>
            </a:pPr>
            <a:r>
              <a:rPr lang="en-US" altLang="zh-CN" sz="2600" dirty="0">
                <a:solidFill>
                  <a:srgbClr val="FF0000"/>
                </a:solidFill>
                <a:ea typeface="宋体" panose="02010600030101010101" pitchFamily="2" charset="-122"/>
              </a:rPr>
              <a:t>Concurrent server——</a:t>
            </a:r>
            <a:r>
              <a:rPr lang="en-US" altLang="zh-CN" sz="2600" dirty="0">
                <a:ea typeface="宋体" panose="02010600030101010101" pitchFamily="2" charset="-122"/>
              </a:rPr>
              <a:t>the server passes the client  request to a separate thread or another process, after which it immediately waits for the next incoming request.</a:t>
            </a:r>
            <a:endParaRPr lang="en-US" altLang="zh-CN" sz="2600" dirty="0">
              <a:ea typeface="宋体" panose="02010600030101010101" pitchFamily="2" charset="-122"/>
            </a:endParaRPr>
          </a:p>
          <a:p>
            <a:pPr lvl="1" eaLnBrk="1" hangingPunct="1">
              <a:lnSpc>
                <a:spcPct val="150000"/>
              </a:lnSpc>
              <a:buFont typeface="Wingdings" panose="05000000000000000000" pitchFamily="2" charset="2"/>
              <a:buChar char="u"/>
            </a:pPr>
            <a:r>
              <a:rPr lang="en-US" altLang="zh-CN" sz="2600" dirty="0">
                <a:solidFill>
                  <a:srgbClr val="FF0000"/>
                </a:solidFill>
                <a:ea typeface="宋体" panose="02010600030101010101" pitchFamily="2" charset="-122"/>
              </a:rPr>
              <a:t>Stateless server</a:t>
            </a:r>
            <a:r>
              <a:rPr lang="en-US" altLang="zh-CN" sz="2600" dirty="0">
                <a:ea typeface="宋体" panose="02010600030101010101" pitchFamily="2" charset="-122"/>
              </a:rPr>
              <a:t>——</a:t>
            </a:r>
            <a:r>
              <a:rPr lang="zh-CN" altLang="en-US" sz="2600" dirty="0">
                <a:ea typeface="宋体" panose="02010600030101010101" pitchFamily="2" charset="-122"/>
              </a:rPr>
              <a:t>服务器端不保留每次通信的信息，例如：</a:t>
            </a:r>
            <a:r>
              <a:rPr lang="en-US" altLang="zh-CN" sz="2600" dirty="0">
                <a:ea typeface="宋体" panose="02010600030101010101" pitchFamily="2" charset="-122"/>
              </a:rPr>
              <a:t>A web server (HTTP request).</a:t>
            </a:r>
            <a:endParaRPr lang="en-US" altLang="zh-CN" sz="2600" dirty="0">
              <a:ea typeface="宋体" panose="02010600030101010101" pitchFamily="2" charset="-122"/>
            </a:endParaRPr>
          </a:p>
          <a:p>
            <a:pPr lvl="1" eaLnBrk="1" hangingPunct="1">
              <a:lnSpc>
                <a:spcPct val="150000"/>
              </a:lnSpc>
              <a:buFont typeface="Wingdings" panose="05000000000000000000" pitchFamily="2" charset="2"/>
              <a:buChar char="u"/>
            </a:pPr>
            <a:r>
              <a:rPr lang="en-US" altLang="zh-CN" sz="2600" dirty="0">
                <a:solidFill>
                  <a:srgbClr val="FF0000"/>
                </a:solidFill>
                <a:ea typeface="宋体" panose="02010600030101010101" pitchFamily="2" charset="-122"/>
              </a:rPr>
              <a:t>Stateful server</a:t>
            </a:r>
            <a:r>
              <a:rPr lang="en-US" altLang="zh-CN" sz="2600" dirty="0">
                <a:ea typeface="宋体" panose="02010600030101010101" pitchFamily="2" charset="-122"/>
              </a:rPr>
              <a:t> ——</a:t>
            </a:r>
            <a:r>
              <a:rPr lang="zh-CN" altLang="en-US" sz="2600" dirty="0">
                <a:ea typeface="宋体" panose="02010600030101010101" pitchFamily="2" charset="-122"/>
              </a:rPr>
              <a:t>服务器端保留每次通信的信息</a:t>
            </a:r>
            <a:r>
              <a:rPr lang="en-US" altLang="zh-CN" sz="2600" dirty="0">
                <a:ea typeface="宋体" panose="02010600030101010101" pitchFamily="2" charset="-122"/>
              </a:rPr>
              <a:t>; </a:t>
            </a:r>
            <a:endParaRPr lang="en-US" altLang="zh-CN" sz="2600"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General Design Issues (1)</a:t>
            </a:r>
            <a:endParaRPr lang="en-US" altLang="zh-CN" dirty="0">
              <a:ea typeface="宋体" panose="02010600030101010101" pitchFamily="2" charset="-122"/>
            </a:endParaRPr>
          </a:p>
        </p:txBody>
      </p:sp>
      <p:sp>
        <p:nvSpPr>
          <p:cNvPr id="20483" name="Rectangle 3"/>
          <p:cNvSpPr>
            <a:spLocks noGrp="1"/>
          </p:cNvSpPr>
          <p:nvPr>
            <p:ph idx="1"/>
          </p:nvPr>
        </p:nvSpPr>
        <p:spPr>
          <a:xfrm>
            <a:off x="423863" y="4918075"/>
            <a:ext cx="3776662" cy="658813"/>
          </a:xfrm>
        </p:spPr>
        <p:txBody>
          <a:bodyPr vert="horz" wrap="square" lIns="91440" tIns="45720" rIns="91440" bIns="45720" anchor="t" anchorCtr="0"/>
          <a:p>
            <a:pPr eaLnBrk="1" hangingPunct="1">
              <a:buNone/>
            </a:pPr>
            <a:r>
              <a:rPr lang="en-US" altLang="zh-CN" sz="2000" dirty="0">
                <a:ea typeface="宋体" panose="02010600030101010101" pitchFamily="2" charset="-122"/>
              </a:rPr>
              <a:t>(a) Client-to-server binding using a daemon.</a:t>
            </a:r>
            <a:endParaRPr lang="en-US" altLang="zh-CN" sz="2000" dirty="0">
              <a:ea typeface="宋体" panose="02010600030101010101" pitchFamily="2" charset="-122"/>
            </a:endParaRPr>
          </a:p>
        </p:txBody>
      </p:sp>
      <p:pic>
        <p:nvPicPr>
          <p:cNvPr id="20484" name="Picture 4" descr="03-11"/>
          <p:cNvPicPr>
            <a:picLocks noChangeAspect="1"/>
          </p:cNvPicPr>
          <p:nvPr/>
        </p:nvPicPr>
        <p:blipFill>
          <a:blip r:embed="rId1"/>
          <a:srcRect b="55522"/>
          <a:stretch>
            <a:fillRect/>
          </a:stretch>
        </p:blipFill>
        <p:spPr>
          <a:xfrm>
            <a:off x="263525" y="1608138"/>
            <a:ext cx="4098925" cy="3073400"/>
          </a:xfrm>
          <a:prstGeom prst="rect">
            <a:avLst/>
          </a:prstGeom>
          <a:noFill/>
          <a:ln w="9525">
            <a:noFill/>
          </a:ln>
        </p:spPr>
      </p:pic>
      <p:sp>
        <p:nvSpPr>
          <p:cNvPr id="20485" name="Rectangle 3"/>
          <p:cNvSpPr txBox="1"/>
          <p:nvPr/>
        </p:nvSpPr>
        <p:spPr>
          <a:xfrm>
            <a:off x="4732338" y="4918075"/>
            <a:ext cx="4121150" cy="547688"/>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buNone/>
            </a:pPr>
            <a:r>
              <a:rPr lang="en-US" altLang="zh-CN" sz="2000" dirty="0">
                <a:ea typeface="宋体" panose="02010600030101010101" pitchFamily="2" charset="-122"/>
              </a:rPr>
              <a:t>(b) Client-to-server binding using a superserver.</a:t>
            </a:r>
            <a:endParaRPr lang="en-US" altLang="zh-CN" sz="2000" dirty="0">
              <a:ea typeface="宋体" panose="02010600030101010101" pitchFamily="2" charset="-122"/>
            </a:endParaRPr>
          </a:p>
        </p:txBody>
      </p:sp>
      <p:pic>
        <p:nvPicPr>
          <p:cNvPr id="20486" name="Picture 4" descr="03-11"/>
          <p:cNvPicPr>
            <a:picLocks noChangeAspect="1"/>
          </p:cNvPicPr>
          <p:nvPr/>
        </p:nvPicPr>
        <p:blipFill>
          <a:blip r:embed="rId1"/>
          <a:srcRect t="50955"/>
          <a:stretch>
            <a:fillRect/>
          </a:stretch>
        </p:blipFill>
        <p:spPr>
          <a:xfrm>
            <a:off x="4649788" y="1389063"/>
            <a:ext cx="4137025" cy="31940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0" y="0"/>
            <a:ext cx="9144000" cy="596900"/>
          </a:xfrm>
        </p:spPr>
        <p:txBody>
          <a:bodyPr vert="horz" wrap="square" lIns="91440" tIns="45720" rIns="91440" bIns="45720" anchor="ctr" anchorCtr="0"/>
          <a:p>
            <a:pPr eaLnBrk="1" hangingPunct="1"/>
            <a:r>
              <a:rPr lang="en-US" altLang="zh-CN" dirty="0">
                <a:ea typeface="宋体" panose="02010600030101010101" pitchFamily="2" charset="-122"/>
              </a:rPr>
              <a:t>Server Clusters</a:t>
            </a:r>
            <a:endParaRPr lang="en-US" altLang="zh-CN" dirty="0">
              <a:ea typeface="宋体" panose="02010600030101010101" pitchFamily="2" charset="-122"/>
            </a:endParaRPr>
          </a:p>
        </p:txBody>
      </p:sp>
      <p:sp>
        <p:nvSpPr>
          <p:cNvPr id="21507" name="Rectangle 3"/>
          <p:cNvSpPr>
            <a:spLocks noGrp="1"/>
          </p:cNvSpPr>
          <p:nvPr>
            <p:ph idx="1"/>
          </p:nvPr>
        </p:nvSpPr>
        <p:spPr>
          <a:xfrm>
            <a:off x="174625" y="596900"/>
            <a:ext cx="5969000" cy="433388"/>
          </a:xfrm>
        </p:spPr>
        <p:txBody>
          <a:bodyPr vert="horz" wrap="square" lIns="91440" tIns="45720" rIns="91440" bIns="45720" anchor="t" anchorCtr="0"/>
          <a:p>
            <a:pPr eaLnBrk="1" hangingPunct="1">
              <a:buNone/>
            </a:pPr>
            <a:r>
              <a:rPr lang="en-US" altLang="zh-CN" sz="2000" dirty="0">
                <a:ea typeface="宋体" panose="02010600030101010101" pitchFamily="2" charset="-122"/>
              </a:rPr>
              <a:t>The general organization of a three-tiered server cluster.</a:t>
            </a:r>
            <a:endParaRPr lang="en-US" altLang="zh-CN" sz="2000" dirty="0">
              <a:ea typeface="宋体" panose="02010600030101010101" pitchFamily="2" charset="-122"/>
            </a:endParaRPr>
          </a:p>
        </p:txBody>
      </p:sp>
      <p:pic>
        <p:nvPicPr>
          <p:cNvPr id="21508" name="Picture 4" descr="03-12"/>
          <p:cNvPicPr>
            <a:picLocks noChangeAspect="1"/>
          </p:cNvPicPr>
          <p:nvPr/>
        </p:nvPicPr>
        <p:blipFill>
          <a:blip r:embed="rId1"/>
          <a:stretch>
            <a:fillRect/>
          </a:stretch>
        </p:blipFill>
        <p:spPr>
          <a:xfrm>
            <a:off x="955675" y="1095375"/>
            <a:ext cx="7081838" cy="2662238"/>
          </a:xfrm>
          <a:prstGeom prst="rect">
            <a:avLst/>
          </a:prstGeom>
          <a:noFill/>
          <a:ln w="9525">
            <a:noFill/>
          </a:ln>
        </p:spPr>
      </p:pic>
      <p:sp>
        <p:nvSpPr>
          <p:cNvPr id="5" name="Rectangle 3"/>
          <p:cNvSpPr txBox="1">
            <a:spLocks noChangeArrowheads="1"/>
          </p:cNvSpPr>
          <p:nvPr/>
        </p:nvSpPr>
        <p:spPr bwMode="auto">
          <a:xfrm>
            <a:off x="0" y="3757613"/>
            <a:ext cx="8586788" cy="4000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principle of TCP handoff, which is totally transparent from the client's point of view</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21510" name="Picture 4" descr="03-13"/>
          <p:cNvPicPr>
            <a:picLocks noChangeAspect="1"/>
          </p:cNvPicPr>
          <p:nvPr/>
        </p:nvPicPr>
        <p:blipFill>
          <a:blip r:embed="rId2"/>
          <a:stretch>
            <a:fillRect/>
          </a:stretch>
        </p:blipFill>
        <p:spPr>
          <a:xfrm>
            <a:off x="1144588" y="4349750"/>
            <a:ext cx="5348287" cy="2468563"/>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Process in Distributed Systems.</a:t>
            </a:r>
            <a:endParaRPr lang="en-US" altLang="zh-CN" dirty="0">
              <a:ea typeface="宋体" panose="02010600030101010101" pitchFamily="2" charset="-122"/>
            </a:endParaRPr>
          </a:p>
        </p:txBody>
      </p:sp>
      <p:sp>
        <p:nvSpPr>
          <p:cNvPr id="22531" name="Rectangle 3"/>
          <p:cNvSpPr>
            <a:spLocks noGrp="1"/>
          </p:cNvSpPr>
          <p:nvPr>
            <p:ph idx="1"/>
          </p:nvPr>
        </p:nvSpPr>
        <p:spPr>
          <a:xfrm>
            <a:off x="585788" y="1296988"/>
            <a:ext cx="7972425" cy="2360612"/>
          </a:xfrm>
        </p:spPr>
        <p:txBody>
          <a:bodyPr vert="horz" wrap="square" lIns="91440" tIns="45720" rIns="91440" bIns="45720" anchor="t" anchorCtr="0"/>
          <a:p>
            <a:pPr marL="609600" indent="-609600" algn="l" eaLnBrk="1" hangingPunct="1">
              <a:lnSpc>
                <a:spcPct val="150000"/>
              </a:lnSpc>
              <a:buNone/>
            </a:pPr>
            <a:r>
              <a:rPr lang="en-US" altLang="zh-CN" sz="2800" dirty="0">
                <a:ea typeface="宋体" panose="02010600030101010101" pitchFamily="2" charset="-122"/>
              </a:rPr>
              <a:t>Improving System Performance</a:t>
            </a:r>
            <a:endParaRPr lang="en-US" altLang="zh-CN" sz="2800" dirty="0">
              <a:ea typeface="宋体" panose="02010600030101010101" pitchFamily="2" charset="-122"/>
            </a:endParaRPr>
          </a:p>
          <a:p>
            <a:pPr marL="1009650" lvl="1" indent="-609600" eaLnBrk="1" hangingPunct="1">
              <a:lnSpc>
                <a:spcPct val="150000"/>
              </a:lnSpc>
              <a:buFont typeface="Wingdings" panose="05000000000000000000" pitchFamily="2" charset="2"/>
              <a:buChar char="u"/>
            </a:pPr>
            <a:r>
              <a:rPr lang="zh-CN" altLang="en-US" dirty="0">
                <a:ea typeface="宋体" panose="02010600030101010101" pitchFamily="2" charset="-122"/>
              </a:rPr>
              <a:t>通过</a:t>
            </a:r>
            <a:r>
              <a:rPr lang="zh-CN" altLang="en-US" dirty="0">
                <a:solidFill>
                  <a:srgbClr val="FF0000"/>
                </a:solidFill>
                <a:ea typeface="宋体" panose="02010600030101010101" pitchFamily="2" charset="-122"/>
              </a:rPr>
              <a:t>任务负载平衡</a:t>
            </a:r>
            <a:r>
              <a:rPr lang="zh-CN" altLang="en-US" dirty="0">
                <a:ea typeface="宋体" panose="02010600030101010101" pitchFamily="2" charset="-122"/>
              </a:rPr>
              <a:t>提高整个系统性能；</a:t>
            </a:r>
            <a:endParaRPr lang="zh-CN" altLang="en-US" dirty="0">
              <a:ea typeface="宋体" panose="02010600030101010101" pitchFamily="2" charset="-122"/>
            </a:endParaRPr>
          </a:p>
          <a:p>
            <a:pPr marL="1009650" lvl="1" indent="-609600" eaLnBrk="1" hangingPunct="1">
              <a:lnSpc>
                <a:spcPct val="150000"/>
              </a:lnSpc>
              <a:buFont typeface="Wingdings" panose="05000000000000000000" pitchFamily="2" charset="2"/>
              <a:buChar char="u"/>
            </a:pPr>
            <a:r>
              <a:rPr lang="zh-CN" altLang="en-US" dirty="0">
                <a:ea typeface="宋体" panose="02010600030101010101" pitchFamily="2" charset="-122"/>
              </a:rPr>
              <a:t>通过</a:t>
            </a:r>
            <a:r>
              <a:rPr lang="zh-CN" altLang="en-US" dirty="0">
                <a:solidFill>
                  <a:srgbClr val="FF0000"/>
                </a:solidFill>
                <a:ea typeface="宋体" panose="02010600030101010101" pitchFamily="2" charset="-122"/>
              </a:rPr>
              <a:t>任务</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计算迁移</a:t>
            </a:r>
            <a:r>
              <a:rPr lang="zh-CN" altLang="en-US" dirty="0">
                <a:ea typeface="宋体" panose="02010600030101010101" pitchFamily="2" charset="-122"/>
              </a:rPr>
              <a:t>实现任务动态负载</a:t>
            </a:r>
            <a:r>
              <a:rPr lang="zh-CN" altLang="en-US" dirty="0">
                <a:ea typeface="宋体" panose="02010600030101010101" pitchFamily="2" charset="-122"/>
              </a:rPr>
              <a:t>平衡；</a:t>
            </a:r>
            <a:endParaRPr lang="zh-CN" altLang="en-US"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0" y="0"/>
            <a:ext cx="9144000" cy="746125"/>
          </a:xfrm>
        </p:spPr>
        <p:txBody>
          <a:bodyPr vert="horz" wrap="square" lIns="91440" tIns="45720" rIns="91440" bIns="45720" anchor="ctr" anchorCtr="0"/>
          <a:p>
            <a:r>
              <a:rPr lang="en-US" altLang="zh-CN" dirty="0">
                <a:ea typeface="宋体" panose="02010600030101010101" pitchFamily="2" charset="-122"/>
              </a:rPr>
              <a:t>load balancing</a:t>
            </a:r>
            <a:endParaRPr lang="en-US" altLang="zh-CN" dirty="0">
              <a:ea typeface="宋体" panose="02010600030101010101" pitchFamily="2" charset="-122"/>
            </a:endParaRPr>
          </a:p>
        </p:txBody>
      </p:sp>
      <p:sp>
        <p:nvSpPr>
          <p:cNvPr id="23555" name="Rectangle 3"/>
          <p:cNvSpPr>
            <a:spLocks noGrp="1"/>
          </p:cNvSpPr>
          <p:nvPr>
            <p:ph idx="1"/>
          </p:nvPr>
        </p:nvSpPr>
        <p:spPr>
          <a:xfrm>
            <a:off x="173038" y="958850"/>
            <a:ext cx="8648700" cy="1265238"/>
          </a:xfrm>
        </p:spPr>
        <p:txBody>
          <a:bodyPr vert="horz" wrap="square" lIns="91440" tIns="45720" rIns="91440" bIns="45720" anchor="t" anchorCtr="0"/>
          <a:p>
            <a:pPr algn="l">
              <a:lnSpc>
                <a:spcPct val="150000"/>
              </a:lnSpc>
              <a:buFont typeface="Wingdings" panose="05000000000000000000" pitchFamily="2" charset="2"/>
              <a:buChar char="u"/>
            </a:pPr>
            <a:r>
              <a:rPr lang="en-US" altLang="zh-CN" sz="1800" dirty="0">
                <a:ea typeface="宋体" panose="02010600030101010101" pitchFamily="2" charset="-122"/>
              </a:rPr>
              <a:t>Load balancing is a technique to distributed work between many computers, processes, hard disks or other resources in order to get optimal resource utilization, maximize throughput, and decrease computing time.</a:t>
            </a:r>
            <a:endParaRPr lang="en-US" altLang="zh-CN" sz="1800" dirty="0">
              <a:ea typeface="宋体" panose="02010600030101010101" pitchFamily="2" charset="-122"/>
            </a:endParaRPr>
          </a:p>
        </p:txBody>
      </p:sp>
      <p:graphicFrame>
        <p:nvGraphicFramePr>
          <p:cNvPr id="23556" name="Object 2"/>
          <p:cNvGraphicFramePr>
            <a:graphicFrameLocks noChangeAspect="1"/>
          </p:cNvGraphicFramePr>
          <p:nvPr/>
        </p:nvGraphicFramePr>
        <p:xfrm>
          <a:off x="0" y="3163888"/>
          <a:ext cx="3898900" cy="2270125"/>
        </p:xfrm>
        <a:graphic>
          <a:graphicData uri="http://schemas.openxmlformats.org/presentationml/2006/ole">
            <mc:AlternateContent xmlns:mc="http://schemas.openxmlformats.org/markup-compatibility/2006">
              <mc:Choice xmlns:v="urn:schemas-microsoft-com:vml" Requires="v">
                <p:oleObj spid="_x0000_s3077" name="" r:id="rId1" imgW="3962400" imgH="2276475" progId="Paint.Picture">
                  <p:embed/>
                </p:oleObj>
              </mc:Choice>
              <mc:Fallback>
                <p:oleObj name="" r:id="rId1" imgW="3962400" imgH="2276475" progId="Paint.Picture">
                  <p:embed/>
                  <p:pic>
                    <p:nvPicPr>
                      <p:cNvPr id="0" name="图片 3076"/>
                      <p:cNvPicPr/>
                      <p:nvPr/>
                    </p:nvPicPr>
                    <p:blipFill>
                      <a:blip r:embed="rId2"/>
                      <a:stretch>
                        <a:fillRect/>
                      </a:stretch>
                    </p:blipFill>
                    <p:spPr>
                      <a:xfrm>
                        <a:off x="0" y="3163888"/>
                        <a:ext cx="3898900" cy="2270125"/>
                      </a:xfrm>
                      <a:prstGeom prst="rect">
                        <a:avLst/>
                      </a:prstGeom>
                      <a:noFill/>
                      <a:ln w="38100">
                        <a:noFill/>
                        <a:miter/>
                      </a:ln>
                    </p:spPr>
                  </p:pic>
                </p:oleObj>
              </mc:Fallback>
            </mc:AlternateContent>
          </a:graphicData>
        </a:graphic>
      </p:graphicFrame>
      <p:sp>
        <p:nvSpPr>
          <p:cNvPr id="23557" name="矩形 4"/>
          <p:cNvSpPr/>
          <p:nvPr/>
        </p:nvSpPr>
        <p:spPr>
          <a:xfrm>
            <a:off x="0" y="3216275"/>
            <a:ext cx="3030538" cy="3381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Server Farm with a load balancer</a:t>
            </a:r>
            <a:endParaRPr lang="zh-CN" altLang="en-US" sz="1600" dirty="0">
              <a:ea typeface="宋体" panose="02010600030101010101" pitchFamily="2" charset="-122"/>
            </a:endParaRPr>
          </a:p>
        </p:txBody>
      </p:sp>
      <p:sp>
        <p:nvSpPr>
          <p:cNvPr id="23558" name="矩形 8"/>
          <p:cNvSpPr/>
          <p:nvPr/>
        </p:nvSpPr>
        <p:spPr>
          <a:xfrm>
            <a:off x="247650" y="2259013"/>
            <a:ext cx="8763000" cy="9223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150000"/>
              </a:lnSpc>
              <a:spcBef>
                <a:spcPct val="50000"/>
              </a:spcBef>
              <a:buClrTx/>
              <a:buFont typeface="Wingdings" panose="05000000000000000000" pitchFamily="2" charset="2"/>
              <a:buChar char="u"/>
            </a:pPr>
            <a:r>
              <a:rPr lang="en-US" altLang="zh-CN" sz="1800" dirty="0">
                <a:ea typeface="宋体" panose="02010600030101010101" pitchFamily="2" charset="-122"/>
              </a:rPr>
              <a:t>Load Balancer – Software &amp; hardware, such as a multilayer switch or a Domain Name System server. </a:t>
            </a:r>
            <a:endParaRPr lang="en-US" altLang="zh-CN" sz="1800" dirty="0">
              <a:ea typeface="宋体" panose="02010600030101010101" pitchFamily="2" charset="-122"/>
            </a:endParaRPr>
          </a:p>
        </p:txBody>
      </p:sp>
      <p:pic>
        <p:nvPicPr>
          <p:cNvPr id="23559" name="图片 7" descr="dbb44aed2e738bd41ed5d873a18b87d6267f9e2f0608c1c0.jpg"/>
          <p:cNvPicPr>
            <a:picLocks noChangeAspect="1"/>
          </p:cNvPicPr>
          <p:nvPr/>
        </p:nvPicPr>
        <p:blipFill>
          <a:blip r:embed="rId3"/>
          <a:stretch>
            <a:fillRect/>
          </a:stretch>
        </p:blipFill>
        <p:spPr>
          <a:xfrm>
            <a:off x="3649663" y="2720975"/>
            <a:ext cx="5494337" cy="3398838"/>
          </a:xfrm>
          <a:prstGeom prst="rect">
            <a:avLst/>
          </a:prstGeom>
          <a:noFill/>
          <a:ln w="9525">
            <a:noFill/>
          </a:ln>
        </p:spPr>
      </p:pic>
      <p:pic>
        <p:nvPicPr>
          <p:cNvPr id="23560" name="图片 3" descr="DNSfigure.gif"/>
          <p:cNvPicPr>
            <a:picLocks noChangeAspect="1"/>
          </p:cNvPicPr>
          <p:nvPr/>
        </p:nvPicPr>
        <p:blipFill>
          <a:blip r:embed="rId4"/>
          <a:stretch>
            <a:fillRect/>
          </a:stretch>
        </p:blipFill>
        <p:spPr>
          <a:xfrm>
            <a:off x="392113" y="5499100"/>
            <a:ext cx="5934075" cy="1295400"/>
          </a:xfrm>
          <a:prstGeom prst="rect">
            <a:avLst/>
          </a:prstGeom>
          <a:noFill/>
          <a:ln w="9525">
            <a:noFill/>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p:txBody>
          <a:bodyPr vert="horz" wrap="square" lIns="91440" tIns="45720" rIns="91440" bIns="45720" anchor="ctr" anchorCtr="0"/>
          <a:p>
            <a:r>
              <a:rPr lang="en-US" altLang="zh-CN" sz="3200" dirty="0">
                <a:ea typeface="宋体" panose="02010600030101010101" pitchFamily="2" charset="-122"/>
              </a:rPr>
              <a:t>Understanding the Load Balancer</a:t>
            </a:r>
            <a:endParaRPr lang="en-US" altLang="zh-CN" sz="3200" dirty="0">
              <a:ea typeface="宋体" panose="02010600030101010101" pitchFamily="2" charset="-122"/>
            </a:endParaRPr>
          </a:p>
        </p:txBody>
      </p:sp>
      <p:sp>
        <p:nvSpPr>
          <p:cNvPr id="25603" name="Rectangle 3"/>
          <p:cNvSpPr>
            <a:spLocks noGrp="1"/>
          </p:cNvSpPr>
          <p:nvPr>
            <p:ph idx="1"/>
          </p:nvPr>
        </p:nvSpPr>
        <p:spPr>
          <a:xfrm>
            <a:off x="196850" y="890588"/>
            <a:ext cx="8653463" cy="5726112"/>
          </a:xfrm>
        </p:spPr>
        <p:txBody>
          <a:bodyPr vert="horz" wrap="square" lIns="91440" tIns="45720" rIns="91440" bIns="45720" anchor="t" anchorCtr="0"/>
          <a:p>
            <a:pPr algn="l">
              <a:lnSpc>
                <a:spcPct val="150000"/>
              </a:lnSpc>
              <a:buFont typeface="Wingdings" panose="05000000000000000000" pitchFamily="2" charset="2"/>
              <a:buChar char="l"/>
            </a:pPr>
            <a:r>
              <a:rPr lang="en-US" altLang="zh-CN" sz="1800" dirty="0">
                <a:ea typeface="宋体" panose="02010600030101010101" pitchFamily="2" charset="-122"/>
              </a:rPr>
              <a:t>Load Balancer does not works in the application level;</a:t>
            </a:r>
            <a:r>
              <a:rPr lang="zh-CN" altLang="en-US" sz="1800" dirty="0">
                <a:ea typeface="宋体" panose="02010600030101010101" pitchFamily="2" charset="-122"/>
              </a:rPr>
              <a:t> </a:t>
            </a:r>
            <a:r>
              <a:rPr lang="zh-CN" altLang="en-US" sz="1800" b="1" dirty="0">
                <a:ea typeface="宋体" panose="02010600030101010101" pitchFamily="2" charset="-122"/>
              </a:rPr>
              <a:t>通常支持的负载均衡算法</a:t>
            </a:r>
            <a:r>
              <a:rPr lang="en-US" altLang="zh-CN" sz="1800" b="1" dirty="0">
                <a:ea typeface="宋体" panose="02010600030101010101" pitchFamily="2" charset="-122"/>
              </a:rPr>
              <a:t>:</a:t>
            </a:r>
            <a:endParaRPr lang="zh-CN" altLang="en-US"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依序</a:t>
            </a:r>
            <a:r>
              <a:rPr lang="en-US" altLang="zh-CN" sz="1800" dirty="0">
                <a:ea typeface="宋体" panose="02010600030101010101" pitchFamily="2" charset="-122"/>
              </a:rPr>
              <a:t>Round Robin</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比重</a:t>
            </a:r>
            <a:r>
              <a:rPr lang="en-US" altLang="zh-CN" sz="1800" dirty="0">
                <a:ea typeface="宋体" panose="02010600030101010101" pitchFamily="2" charset="-122"/>
              </a:rPr>
              <a:t>Weighted Round Robin</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流量比例</a:t>
            </a:r>
            <a:r>
              <a:rPr lang="en-US" altLang="zh-CN" sz="1800" dirty="0">
                <a:ea typeface="宋体" panose="02010600030101010101" pitchFamily="2" charset="-122"/>
              </a:rPr>
              <a:t>Traffic</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使用者端</a:t>
            </a:r>
            <a:r>
              <a:rPr lang="en-US" altLang="zh-CN" sz="1800" dirty="0">
                <a:ea typeface="宋体" panose="02010600030101010101" pitchFamily="2" charset="-122"/>
              </a:rPr>
              <a:t>User</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应用类别</a:t>
            </a:r>
            <a:r>
              <a:rPr lang="en-US" altLang="zh-CN" sz="1800" dirty="0">
                <a:ea typeface="宋体" panose="02010600030101010101" pitchFamily="2" charset="-122"/>
              </a:rPr>
              <a:t>Application</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联机数量</a:t>
            </a:r>
            <a:r>
              <a:rPr lang="en-US" altLang="zh-CN" sz="1800" dirty="0">
                <a:ea typeface="宋体" panose="02010600030101010101" pitchFamily="2" charset="-122"/>
              </a:rPr>
              <a:t>Session</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服务类别</a:t>
            </a:r>
            <a:r>
              <a:rPr lang="en-US" altLang="zh-CN" sz="1800" dirty="0">
                <a:ea typeface="宋体" panose="02010600030101010101" pitchFamily="2" charset="-122"/>
              </a:rPr>
              <a:t>Service</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zh-CN" altLang="en-US" sz="1800" dirty="0">
                <a:ea typeface="宋体" panose="02010600030101010101" pitchFamily="2" charset="-122"/>
              </a:rPr>
              <a:t>自动分配</a:t>
            </a:r>
            <a:r>
              <a:rPr lang="en-US" altLang="zh-CN" sz="1800" dirty="0">
                <a:ea typeface="宋体" panose="02010600030101010101" pitchFamily="2" charset="-122"/>
              </a:rPr>
              <a:t>Auto Mode</a:t>
            </a:r>
            <a:endParaRPr lang="en-US" altLang="zh-CN" sz="1800" dirty="0">
              <a:ea typeface="宋体" panose="02010600030101010101" pitchFamily="2" charset="-122"/>
            </a:endParaRPr>
          </a:p>
          <a:p>
            <a:pPr lvl="1">
              <a:lnSpc>
                <a:spcPct val="150000"/>
              </a:lnSpc>
              <a:buFont typeface="Wingdings" panose="05000000000000000000" pitchFamily="2" charset="2"/>
              <a:buChar char="u"/>
            </a:pPr>
            <a:r>
              <a:rPr lang="en-US" altLang="zh-CN" sz="1800" dirty="0">
                <a:ea typeface="宋体" panose="02010600030101010101" pitchFamily="2" charset="-122"/>
              </a:rPr>
              <a:t>……</a:t>
            </a:r>
            <a:endParaRPr lang="en-US" altLang="zh-CN" sz="1800" dirty="0">
              <a:ea typeface="宋体" panose="02010600030101010101" pitchFamily="2" charset="-122"/>
            </a:endParaRPr>
          </a:p>
          <a:p>
            <a:pPr algn="l">
              <a:lnSpc>
                <a:spcPct val="150000"/>
              </a:lnSpc>
              <a:buFont typeface="Wingdings" panose="05000000000000000000" pitchFamily="2" charset="2"/>
              <a:buChar char="l"/>
            </a:pPr>
            <a:r>
              <a:rPr lang="zh-CN" altLang="en-US" sz="1800" dirty="0">
                <a:ea typeface="宋体" panose="02010600030101010101" pitchFamily="2" charset="-122"/>
              </a:rPr>
              <a:t>一般系统提供多种负载均衡算法，可依需求自行设定负载均衡规则，而网络存取依据所设定的规则，执行网络流量负载均衡导引。</a:t>
            </a:r>
            <a:endParaRPr lang="en-US" altLang="zh-CN" sz="1800" dirty="0">
              <a:ea typeface="宋体" panose="02010600030101010101" pitchFamily="2" charset="-122"/>
            </a:endParaRPr>
          </a:p>
        </p:txBody>
      </p:sp>
      <p:sp>
        <p:nvSpPr>
          <p:cNvPr id="4" name="Rectangle 3"/>
          <p:cNvSpPr txBox="1">
            <a:spLocks noChangeArrowheads="1"/>
          </p:cNvSpPr>
          <p:nvPr/>
        </p:nvSpPr>
        <p:spPr bwMode="auto">
          <a:xfrm>
            <a:off x="4324350" y="1681163"/>
            <a:ext cx="4525963" cy="32559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Various other functions like</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Server load balancing;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Firewall load balancing;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Transparent cache switching;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Server protection;</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Fault Tolerance;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0" y="0"/>
            <a:ext cx="9144000" cy="1179513"/>
          </a:xfrm>
        </p:spPr>
        <p:txBody>
          <a:bodyPr vert="horz" wrap="square" lIns="91440" tIns="45720" rIns="91440" bIns="45720" anchor="ctr" anchorCtr="0"/>
          <a:p>
            <a:r>
              <a:rPr lang="en-US" altLang="zh-CN" dirty="0">
                <a:ea typeface="宋体" panose="02010600030101010101" pitchFamily="2" charset="-122"/>
              </a:rPr>
              <a:t>Application – </a:t>
            </a:r>
            <a:br>
              <a:rPr lang="en-US" altLang="zh-CN" dirty="0">
                <a:ea typeface="宋体" panose="02010600030101010101" pitchFamily="2" charset="-122"/>
              </a:rPr>
            </a:br>
            <a:r>
              <a:rPr lang="en-US" altLang="zh-CN" dirty="0">
                <a:ea typeface="宋体" panose="02010600030101010101" pitchFamily="2" charset="-122"/>
              </a:rPr>
              <a:t>Global Server Load Balancing</a:t>
            </a:r>
            <a:endParaRPr lang="en-US" altLang="zh-CN" dirty="0">
              <a:ea typeface="宋体" panose="02010600030101010101" pitchFamily="2" charset="-122"/>
            </a:endParaRPr>
          </a:p>
        </p:txBody>
      </p:sp>
      <p:sp>
        <p:nvSpPr>
          <p:cNvPr id="27651" name="Rectangle 3"/>
          <p:cNvSpPr>
            <a:spLocks noGrp="1"/>
          </p:cNvSpPr>
          <p:nvPr>
            <p:ph idx="1"/>
          </p:nvPr>
        </p:nvSpPr>
        <p:spPr>
          <a:xfrm>
            <a:off x="1020763" y="5126038"/>
            <a:ext cx="6942137" cy="1328737"/>
          </a:xfrm>
        </p:spPr>
        <p:txBody>
          <a:bodyPr vert="horz" wrap="square" lIns="91440" tIns="45720" rIns="91440" bIns="45720" anchor="t" anchorCtr="0"/>
          <a:p>
            <a:pPr algn="l"/>
            <a:r>
              <a:rPr lang="en-US" altLang="zh-CN" sz="1800" dirty="0">
                <a:ea typeface="宋体" panose="02010600030101010101" pitchFamily="2" charset="-122"/>
              </a:rPr>
              <a:t>Site selection based on the following [2]</a:t>
            </a:r>
            <a:endParaRPr lang="en-US" altLang="zh-CN" sz="1800" dirty="0">
              <a:ea typeface="宋体" panose="02010600030101010101" pitchFamily="2" charset="-122"/>
            </a:endParaRPr>
          </a:p>
          <a:p>
            <a:pPr lvl="1"/>
            <a:r>
              <a:rPr lang="en-US" altLang="zh-CN" sz="1800" dirty="0">
                <a:ea typeface="宋体" panose="02010600030101010101" pitchFamily="2" charset="-122"/>
              </a:rPr>
              <a:t>Site health conditions</a:t>
            </a:r>
            <a:endParaRPr lang="en-US" altLang="zh-CN" sz="1800" dirty="0">
              <a:ea typeface="宋体" panose="02010600030101010101" pitchFamily="2" charset="-122"/>
            </a:endParaRPr>
          </a:p>
          <a:p>
            <a:pPr lvl="1"/>
            <a:r>
              <a:rPr lang="en-US" altLang="zh-CN" sz="1800" dirty="0">
                <a:ea typeface="宋体" panose="02010600030101010101" pitchFamily="2" charset="-122"/>
              </a:rPr>
              <a:t>Site response time</a:t>
            </a:r>
            <a:endParaRPr lang="en-US" altLang="zh-CN" sz="1800" dirty="0">
              <a:ea typeface="宋体" panose="02010600030101010101" pitchFamily="2" charset="-122"/>
            </a:endParaRPr>
          </a:p>
          <a:p>
            <a:pPr lvl="1"/>
            <a:r>
              <a:rPr lang="en-US" altLang="zh-CN" sz="1800" dirty="0">
                <a:ea typeface="宋体" panose="02010600030101010101" pitchFamily="2" charset="-122"/>
              </a:rPr>
              <a:t>Site Loading time</a:t>
            </a:r>
            <a:endParaRPr lang="en-US" altLang="zh-CN" sz="2000" dirty="0">
              <a:ea typeface="宋体" panose="02010600030101010101" pitchFamily="2" charset="-122"/>
            </a:endParaRPr>
          </a:p>
        </p:txBody>
      </p:sp>
      <p:graphicFrame>
        <p:nvGraphicFramePr>
          <p:cNvPr id="27652" name="Object 2"/>
          <p:cNvGraphicFramePr>
            <a:graphicFrameLocks noChangeAspect="1"/>
          </p:cNvGraphicFramePr>
          <p:nvPr>
            <p:ph idx="1"/>
          </p:nvPr>
        </p:nvGraphicFramePr>
        <p:xfrm>
          <a:off x="1073150" y="1314450"/>
          <a:ext cx="6826250" cy="3533775"/>
        </p:xfrm>
        <a:graphic>
          <a:graphicData uri="http://schemas.openxmlformats.org/presentationml/2006/ole">
            <mc:AlternateContent xmlns:mc="http://schemas.openxmlformats.org/markup-compatibility/2006">
              <mc:Choice xmlns:v="urn:schemas-microsoft-com:vml" Requires="v">
                <p:oleObj spid="_x0000_s3076" name="" r:id="rId1" imgW="3743325" imgH="2790825" progId="Paint.Picture">
                  <p:embed/>
                </p:oleObj>
              </mc:Choice>
              <mc:Fallback>
                <p:oleObj name="" r:id="rId1" imgW="3743325" imgH="2790825" progId="Paint.Picture">
                  <p:embed/>
                  <p:pic>
                    <p:nvPicPr>
                      <p:cNvPr id="0" name="图片 3075"/>
                      <p:cNvPicPr/>
                      <p:nvPr/>
                    </p:nvPicPr>
                    <p:blipFill>
                      <a:blip r:embed="rId2"/>
                      <a:srcRect/>
                      <a:stretch>
                        <a:fillRect/>
                      </a:stretch>
                    </p:blipFill>
                    <p:spPr>
                      <a:xfrm>
                        <a:off x="1073150" y="1314450"/>
                        <a:ext cx="6826250" cy="3533775"/>
                      </a:xfrm>
                      <a:prstGeom prst="rect">
                        <a:avLst/>
                      </a:prstGeom>
                      <a:noFill/>
                      <a:ln w="38100">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0" y="0"/>
            <a:ext cx="9144000" cy="847725"/>
          </a:xfrm>
        </p:spPr>
        <p:txBody>
          <a:bodyPr vert="horz" wrap="square" lIns="91440" tIns="45720" rIns="91440" bIns="45720" anchor="ctr" anchorCtr="0"/>
          <a:p>
            <a:r>
              <a:rPr lang="en-US" altLang="zh-CN" dirty="0">
                <a:ea typeface="宋体" panose="02010600030101010101" pitchFamily="2" charset="-122"/>
              </a:rPr>
              <a:t>Application – Web Caching</a:t>
            </a:r>
            <a:endParaRPr lang="en-US" altLang="zh-CN" dirty="0">
              <a:ea typeface="宋体" panose="02010600030101010101" pitchFamily="2" charset="-122"/>
            </a:endParaRPr>
          </a:p>
        </p:txBody>
      </p:sp>
      <p:sp>
        <p:nvSpPr>
          <p:cNvPr id="29699" name="Rectangle 3"/>
          <p:cNvSpPr>
            <a:spLocks noGrp="1"/>
          </p:cNvSpPr>
          <p:nvPr>
            <p:ph idx="1"/>
          </p:nvPr>
        </p:nvSpPr>
        <p:spPr>
          <a:xfrm>
            <a:off x="166688" y="815975"/>
            <a:ext cx="8977312" cy="2009775"/>
          </a:xfrm>
        </p:spPr>
        <p:txBody>
          <a:bodyPr vert="horz" wrap="square" lIns="91440" tIns="45720" rIns="91440" bIns="45720" anchor="t" anchorCtr="0"/>
          <a:p>
            <a:pPr algn="l"/>
            <a:r>
              <a:rPr lang="en-US" altLang="zh-CN" sz="2000" dirty="0">
                <a:ea typeface="宋体" panose="02010600030101010101" pitchFamily="2" charset="-122"/>
              </a:rPr>
              <a:t>Caches can be installed and utilized with the Load balancers in the following ways </a:t>
            </a:r>
            <a:endParaRPr lang="en-US" altLang="zh-CN" sz="2000" dirty="0">
              <a:ea typeface="宋体" panose="02010600030101010101" pitchFamily="2" charset="-122"/>
            </a:endParaRPr>
          </a:p>
          <a:p>
            <a:pPr lvl="1"/>
            <a:r>
              <a:rPr lang="en-US" altLang="zh-CN" sz="2000" dirty="0">
                <a:ea typeface="宋体" panose="02010600030101010101" pitchFamily="2" charset="-122"/>
              </a:rPr>
              <a:t>Forward proxy for client acceleration</a:t>
            </a:r>
            <a:r>
              <a:rPr lang="zh-CN" altLang="en-US" sz="1600" dirty="0">
                <a:ea typeface="宋体" panose="02010600030101010101" pitchFamily="2" charset="-122"/>
              </a:rPr>
              <a:t>（对请求进行简化或者其他处理）</a:t>
            </a:r>
            <a:endParaRPr lang="en-US" altLang="zh-CN" sz="1600" dirty="0">
              <a:ea typeface="宋体" panose="02010600030101010101" pitchFamily="2" charset="-122"/>
            </a:endParaRPr>
          </a:p>
          <a:p>
            <a:pPr lvl="1"/>
            <a:r>
              <a:rPr lang="en-US" altLang="zh-CN" sz="2000" dirty="0">
                <a:ea typeface="宋体" panose="02010600030101010101" pitchFamily="2" charset="-122"/>
              </a:rPr>
              <a:t>Transparent proxy for client acceleration</a:t>
            </a:r>
            <a:r>
              <a:rPr lang="zh-CN" altLang="en-US" sz="1600" dirty="0">
                <a:ea typeface="宋体" panose="02010600030101010101" pitchFamily="2" charset="-122"/>
              </a:rPr>
              <a:t>（客户端不知道代理服务器的存在）</a:t>
            </a:r>
            <a:endParaRPr lang="en-US" altLang="zh-CN" sz="1600" dirty="0">
              <a:ea typeface="宋体" panose="02010600030101010101" pitchFamily="2" charset="-122"/>
            </a:endParaRPr>
          </a:p>
          <a:p>
            <a:pPr lvl="1"/>
            <a:r>
              <a:rPr lang="en-US" altLang="zh-CN" sz="2000" dirty="0">
                <a:ea typeface="宋体" panose="02010600030101010101" pitchFamily="2" charset="-122"/>
              </a:rPr>
              <a:t>Reverse proxy for server acceleration</a:t>
            </a:r>
            <a:r>
              <a:rPr lang="zh-CN" altLang="en-US" sz="1600" dirty="0">
                <a:ea typeface="宋体" panose="02010600030101010101" pitchFamily="2" charset="-122"/>
              </a:rPr>
              <a:t>（</a:t>
            </a:r>
            <a:r>
              <a:rPr lang="en-US" altLang="zh-CN" sz="1600" dirty="0">
                <a:ea typeface="宋体" panose="02010600030101010101" pitchFamily="2" charset="-122"/>
              </a:rPr>
              <a:t>CDN </a:t>
            </a:r>
            <a:r>
              <a:rPr lang="zh-CN" altLang="en-US" sz="1600" dirty="0">
                <a:ea typeface="宋体" panose="02010600030101010101" pitchFamily="2" charset="-122"/>
              </a:rPr>
              <a:t>的一种实现）</a:t>
            </a:r>
            <a:endParaRPr lang="en-US" altLang="zh-CN" sz="1600" dirty="0">
              <a:ea typeface="宋体" panose="02010600030101010101" pitchFamily="2" charset="-122"/>
            </a:endParaRPr>
          </a:p>
          <a:p>
            <a:pPr lvl="1"/>
            <a:r>
              <a:rPr lang="en-US" altLang="zh-CN" sz="2000" dirty="0">
                <a:ea typeface="宋体" panose="02010600030101010101" pitchFamily="2" charset="-122"/>
              </a:rPr>
              <a:t>Transparent reverse proxy for server acceleration </a:t>
            </a:r>
            <a:endParaRPr lang="en-US" altLang="zh-CN" sz="2000" dirty="0">
              <a:ea typeface="宋体" panose="02010600030101010101" pitchFamily="2" charset="-122"/>
            </a:endParaRPr>
          </a:p>
        </p:txBody>
      </p:sp>
      <p:sp>
        <p:nvSpPr>
          <p:cNvPr id="29700" name="矩形 5"/>
          <p:cNvSpPr/>
          <p:nvPr/>
        </p:nvSpPr>
        <p:spPr>
          <a:xfrm>
            <a:off x="387350" y="3575050"/>
            <a:ext cx="1741488" cy="338138"/>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Transparent proxy </a:t>
            </a:r>
            <a:endParaRPr lang="zh-CN" altLang="en-US" sz="1600" dirty="0">
              <a:ea typeface="宋体" panose="02010600030101010101" pitchFamily="2" charset="-122"/>
            </a:endParaRPr>
          </a:p>
        </p:txBody>
      </p:sp>
      <p:sp>
        <p:nvSpPr>
          <p:cNvPr id="29701" name="矩形 2"/>
          <p:cNvSpPr/>
          <p:nvPr/>
        </p:nvSpPr>
        <p:spPr>
          <a:xfrm>
            <a:off x="6380163" y="5938838"/>
            <a:ext cx="2409825" cy="746125"/>
          </a:xfrm>
          <a:prstGeom prst="rect">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nvGrpSpPr>
          <p:cNvPr id="29702" name="组合 1"/>
          <p:cNvGrpSpPr/>
          <p:nvPr/>
        </p:nvGrpSpPr>
        <p:grpSpPr>
          <a:xfrm>
            <a:off x="2354263" y="2913063"/>
            <a:ext cx="6257925" cy="2419350"/>
            <a:chOff x="2362576" y="3780083"/>
            <a:chExt cx="6257549" cy="2419899"/>
          </a:xfrm>
        </p:grpSpPr>
        <p:pic>
          <p:nvPicPr>
            <p:cNvPr id="29706" name="图片 1"/>
            <p:cNvPicPr>
              <a:picLocks noChangeAspect="1"/>
            </p:cNvPicPr>
            <p:nvPr/>
          </p:nvPicPr>
          <p:blipFill>
            <a:blip r:embed="rId1"/>
            <a:stretch>
              <a:fillRect/>
            </a:stretch>
          </p:blipFill>
          <p:spPr>
            <a:xfrm>
              <a:off x="2362576" y="3780083"/>
              <a:ext cx="6032500" cy="2419899"/>
            </a:xfrm>
            <a:prstGeom prst="rect">
              <a:avLst/>
            </a:prstGeom>
            <a:noFill/>
            <a:ln w="9525">
              <a:noFill/>
            </a:ln>
          </p:spPr>
        </p:pic>
        <p:sp>
          <p:nvSpPr>
            <p:cNvPr id="29707" name="矩形 3"/>
            <p:cNvSpPr/>
            <p:nvPr/>
          </p:nvSpPr>
          <p:spPr>
            <a:xfrm>
              <a:off x="6242050" y="5796483"/>
              <a:ext cx="2378075" cy="373062"/>
            </a:xfrm>
            <a:prstGeom prst="rect">
              <a:avLst/>
            </a:prstGeom>
            <a:solidFill>
              <a:schemeClr val="bg1"/>
            </a:solid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sp>
        <p:nvSpPr>
          <p:cNvPr id="29703" name="矩形 4"/>
          <p:cNvSpPr/>
          <p:nvPr/>
        </p:nvSpPr>
        <p:spPr>
          <a:xfrm>
            <a:off x="6075363" y="2144713"/>
            <a:ext cx="2711450" cy="998537"/>
          </a:xfrm>
          <a:prstGeom prst="rect">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11" name="Rectangle 2"/>
          <p:cNvSpPr txBox="1">
            <a:spLocks noChangeArrowheads="1"/>
          </p:cNvSpPr>
          <p:nvPr/>
        </p:nvSpPr>
        <p:spPr bwMode="auto">
          <a:xfrm>
            <a:off x="42863" y="5708650"/>
            <a:ext cx="4171950" cy="460375"/>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Application – Load Balancing in Java</a:t>
            </a:r>
            <a:endParaRPr kumimoji="0" lang="en-US" altLang="zh-CN" sz="20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12" name="Rectangle 3"/>
          <p:cNvSpPr txBox="1">
            <a:spLocks noChangeArrowheads="1"/>
          </p:cNvSpPr>
          <p:nvPr/>
        </p:nvSpPr>
        <p:spPr bwMode="auto">
          <a:xfrm>
            <a:off x="4338638" y="5521325"/>
            <a:ext cx="4713288" cy="10636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Load Balancing for Servlets and JSPs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Load Balancing for EJBs and RMI Objects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Load Balancing for JDBC Connections </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a:spLocks noGrp="1"/>
          </p:cNvSpPr>
          <p:nvPr>
            <p:ph type="title"/>
          </p:nvPr>
        </p:nvSpPr>
        <p:spPr>
          <a:xfrm>
            <a:off x="0" y="0"/>
            <a:ext cx="5935663" cy="765175"/>
          </a:xfrm>
        </p:spPr>
        <p:txBody>
          <a:bodyPr vert="horz" wrap="square" lIns="91440" tIns="45720" rIns="91440" bIns="45720" anchor="ctr" anchorCtr="0"/>
          <a:p>
            <a:pPr eaLnBrk="1" hangingPunct="1"/>
            <a:r>
              <a:rPr lang="en-US" altLang="zh-CN" sz="3600" dirty="0">
                <a:ea typeface="宋体" panose="02010600030101010101" pitchFamily="2" charset="-122"/>
              </a:rPr>
              <a:t>Reasons for Migrating Code</a:t>
            </a:r>
            <a:endParaRPr lang="en-US" altLang="zh-CN" sz="3600" dirty="0">
              <a:ea typeface="宋体" panose="02010600030101010101" pitchFamily="2" charset="-122"/>
            </a:endParaRPr>
          </a:p>
        </p:txBody>
      </p:sp>
      <p:sp>
        <p:nvSpPr>
          <p:cNvPr id="31747" name="Rectangle 8"/>
          <p:cNvSpPr>
            <a:spLocks noGrp="1"/>
          </p:cNvSpPr>
          <p:nvPr>
            <p:ph idx="1"/>
          </p:nvPr>
        </p:nvSpPr>
        <p:spPr>
          <a:xfrm>
            <a:off x="5561013" y="1303338"/>
            <a:ext cx="3582987" cy="2836862"/>
          </a:xfrm>
        </p:spPr>
        <p:txBody>
          <a:bodyPr vert="horz" wrap="square" lIns="91440" tIns="45720" rIns="91440" bIns="45720" anchor="t" anchorCtr="0"/>
          <a:p>
            <a:pPr algn="l" eaLnBrk="1" hangingPunct="1">
              <a:lnSpc>
                <a:spcPct val="150000"/>
              </a:lnSpc>
              <a:buFont typeface="Wingdings" panose="05000000000000000000" pitchFamily="2" charset="2"/>
              <a:buChar char="u"/>
            </a:pPr>
            <a:r>
              <a:rPr lang="en-US" altLang="zh-CN" sz="2000" dirty="0">
                <a:ea typeface="宋体" panose="02010600030101010101" pitchFamily="2" charset="-122"/>
              </a:rPr>
              <a:t>The principle of dynamically configuring a client to communicate to a server.  </a:t>
            </a:r>
            <a:endParaRPr lang="en-US" altLang="zh-CN" sz="20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000" dirty="0">
                <a:ea typeface="宋体" panose="02010600030101010101" pitchFamily="2" charset="-122"/>
              </a:rPr>
              <a:t>The client first fetches the necessary software, and then invokes the server.</a:t>
            </a:r>
            <a:endParaRPr lang="en-US" altLang="zh-CN" sz="2000" dirty="0">
              <a:ea typeface="宋体" panose="02010600030101010101" pitchFamily="2" charset="-122"/>
            </a:endParaRPr>
          </a:p>
        </p:txBody>
      </p:sp>
      <p:pic>
        <p:nvPicPr>
          <p:cNvPr id="31748" name="Picture 9"/>
          <p:cNvPicPr>
            <a:picLocks noChangeAspect="1"/>
          </p:cNvPicPr>
          <p:nvPr/>
        </p:nvPicPr>
        <p:blipFill>
          <a:blip r:embed="rId1"/>
          <a:srcRect l="33351" t="44260" r="30573" b="39426"/>
          <a:stretch>
            <a:fillRect/>
          </a:stretch>
        </p:blipFill>
        <p:spPr>
          <a:xfrm>
            <a:off x="0" y="677863"/>
            <a:ext cx="5561013" cy="3148012"/>
          </a:xfrm>
          <a:prstGeom prst="rect">
            <a:avLst/>
          </a:prstGeom>
          <a:noFill/>
          <a:ln w="9525">
            <a:noFill/>
          </a:ln>
        </p:spPr>
      </p:pic>
      <p:sp>
        <p:nvSpPr>
          <p:cNvPr id="5" name="Rectangle 2"/>
          <p:cNvSpPr txBox="1">
            <a:spLocks noChangeArrowheads="1"/>
          </p:cNvSpPr>
          <p:nvPr/>
        </p:nvSpPr>
        <p:spPr bwMode="auto">
          <a:xfrm>
            <a:off x="6350" y="4048125"/>
            <a:ext cx="4413250" cy="60960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Models for Code Migration</a:t>
            </a:r>
            <a:endParaRPr kumimoji="0" lang="en-US" altLang="zh-CN"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6" name="Rectangle 3"/>
          <p:cNvSpPr txBox="1">
            <a:spLocks noChangeArrowheads="1"/>
          </p:cNvSpPr>
          <p:nvPr/>
        </p:nvSpPr>
        <p:spPr bwMode="auto">
          <a:xfrm>
            <a:off x="0" y="4879975"/>
            <a:ext cx="8839200" cy="160813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34925" algn="l" defTabSz="914400" rtl="0" eaLnBrk="1" fontAlgn="base" latinLnBrk="0" hangingPunct="1">
              <a:lnSpc>
                <a:spcPct val="100000"/>
              </a:lnSpc>
              <a:spcBef>
                <a:spcPct val="20000"/>
              </a:spcBef>
              <a:spcAft>
                <a:spcPct val="0"/>
              </a:spcAft>
              <a:buClr>
                <a:schemeClr val="accent2"/>
              </a:buClr>
              <a:buSzTx/>
              <a:buFontTx/>
              <a:buNone/>
              <a:tabLst>
                <a:tab pos="1147445" algn="l"/>
              </a:tabLst>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Fuggetta</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et al.,  1998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提出的一个框架</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process consists of three segments: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34925" algn="l" defTabSz="914400" rtl="0" eaLnBrk="1" fontAlgn="base" latinLnBrk="0" hangingPunct="1">
              <a:lnSpc>
                <a:spcPct val="100000"/>
              </a:lnSpc>
              <a:spcBef>
                <a:spcPct val="20000"/>
              </a:spcBef>
              <a:spcAft>
                <a:spcPct val="0"/>
              </a:spcAft>
              <a:buClr>
                <a:schemeClr val="accent2"/>
              </a:buClr>
              <a:buSzTx/>
              <a:buFontTx/>
              <a:buChar char="•"/>
              <a:tabLst>
                <a:tab pos="1147445" algn="l"/>
              </a:tabLst>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code segment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34925" algn="l" defTabSz="914400" rtl="0" eaLnBrk="1" fontAlgn="base" latinLnBrk="0" hangingPunct="1">
              <a:lnSpc>
                <a:spcPct val="100000"/>
              </a:lnSpc>
              <a:spcBef>
                <a:spcPct val="20000"/>
              </a:spcBef>
              <a:spcAft>
                <a:spcPct val="0"/>
              </a:spcAft>
              <a:buClr>
                <a:schemeClr val="accent2"/>
              </a:buClr>
              <a:buSzTx/>
              <a:buFontTx/>
              <a:buChar char="•"/>
              <a:tabLst>
                <a:tab pos="1147445" algn="l"/>
              </a:tabLst>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resource segment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34925" algn="l" defTabSz="914400" rtl="0" eaLnBrk="1" fontAlgn="base" latinLnBrk="0" hangingPunct="1">
              <a:lnSpc>
                <a:spcPct val="100000"/>
              </a:lnSpc>
              <a:spcBef>
                <a:spcPct val="20000"/>
              </a:spcBef>
              <a:spcAft>
                <a:spcPct val="0"/>
              </a:spcAft>
              <a:buClr>
                <a:schemeClr val="accent2"/>
              </a:buClr>
              <a:buSzTx/>
              <a:buFontTx/>
              <a:buChar char="•"/>
              <a:tabLst>
                <a:tab pos="1147445" algn="l"/>
              </a:tabLst>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execution segment------including the current execution state of a process.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615950" y="173038"/>
            <a:ext cx="7805738" cy="815975"/>
          </a:xfrm>
        </p:spPr>
        <p:txBody>
          <a:bodyPr vert="horz" wrap="square" lIns="91440" tIns="45720" rIns="91440" bIns="45720" anchor="ctr" anchorCtr="0"/>
          <a:p>
            <a:pPr eaLnBrk="1" hangingPunct="1"/>
            <a:r>
              <a:rPr lang="en-US" altLang="zh-CN" dirty="0">
                <a:ea typeface="宋体" panose="02010600030101010101" pitchFamily="2" charset="-122"/>
              </a:rPr>
              <a:t>Models for Code Migration</a:t>
            </a:r>
            <a:endParaRPr lang="en-US" altLang="zh-CN" dirty="0">
              <a:ea typeface="宋体" panose="02010600030101010101" pitchFamily="2" charset="-122"/>
            </a:endParaRPr>
          </a:p>
        </p:txBody>
      </p:sp>
      <p:sp>
        <p:nvSpPr>
          <p:cNvPr id="32771" name="Rectangle 3"/>
          <p:cNvSpPr>
            <a:spLocks noGrp="1"/>
          </p:cNvSpPr>
          <p:nvPr>
            <p:ph idx="1"/>
          </p:nvPr>
        </p:nvSpPr>
        <p:spPr>
          <a:xfrm>
            <a:off x="960438" y="6186488"/>
            <a:ext cx="7361237" cy="544512"/>
          </a:xfrm>
        </p:spPr>
        <p:txBody>
          <a:bodyPr vert="horz" wrap="square" lIns="91440" tIns="45720" rIns="91440" bIns="45720" anchor="t" anchorCtr="0"/>
          <a:p>
            <a:pPr eaLnBrk="1" hangingPunct="1">
              <a:buNone/>
            </a:pPr>
            <a:r>
              <a:rPr lang="en-US" altLang="zh-CN" sz="2800" dirty="0">
                <a:ea typeface="宋体" panose="02010600030101010101" pitchFamily="2" charset="-122"/>
              </a:rPr>
              <a:t>Alternatives for code migration.</a:t>
            </a:r>
            <a:endParaRPr lang="en-US" altLang="zh-CN" sz="2800" dirty="0">
              <a:ea typeface="宋体" panose="02010600030101010101" pitchFamily="2" charset="-122"/>
            </a:endParaRPr>
          </a:p>
        </p:txBody>
      </p:sp>
      <p:grpSp>
        <p:nvGrpSpPr>
          <p:cNvPr id="32772" name="Group 9"/>
          <p:cNvGrpSpPr/>
          <p:nvPr/>
        </p:nvGrpSpPr>
        <p:grpSpPr>
          <a:xfrm>
            <a:off x="482600" y="1150027"/>
            <a:ext cx="8350250" cy="4752975"/>
            <a:chOff x="311" y="745"/>
            <a:chExt cx="5116" cy="2686"/>
          </a:xfrm>
        </p:grpSpPr>
        <p:grpSp>
          <p:nvGrpSpPr>
            <p:cNvPr id="32773" name="Group 8"/>
            <p:cNvGrpSpPr/>
            <p:nvPr/>
          </p:nvGrpSpPr>
          <p:grpSpPr>
            <a:xfrm>
              <a:off x="311" y="745"/>
              <a:ext cx="4712" cy="2686"/>
              <a:chOff x="119" y="745"/>
              <a:chExt cx="4712" cy="2686"/>
            </a:xfrm>
          </p:grpSpPr>
          <p:pic>
            <p:nvPicPr>
              <p:cNvPr id="32775" name="Picture 4"/>
              <p:cNvPicPr>
                <a:picLocks noChangeAspect="1"/>
              </p:cNvPicPr>
              <p:nvPr/>
            </p:nvPicPr>
            <p:blipFill>
              <a:blip r:embed="rId1"/>
              <a:srcRect l="24345" t="42296" r="20952" b="35951"/>
              <a:stretch>
                <a:fillRect/>
              </a:stretch>
            </p:blipFill>
            <p:spPr>
              <a:xfrm>
                <a:off x="119" y="745"/>
                <a:ext cx="4712" cy="2686"/>
              </a:xfrm>
              <a:prstGeom prst="rect">
                <a:avLst/>
              </a:prstGeom>
              <a:noFill/>
              <a:ln w="9525">
                <a:noFill/>
              </a:ln>
            </p:spPr>
          </p:pic>
          <p:sp>
            <p:nvSpPr>
              <p:cNvPr id="32776" name="Rectangle 5"/>
              <p:cNvSpPr/>
              <p:nvPr/>
            </p:nvSpPr>
            <p:spPr>
              <a:xfrm>
                <a:off x="225" y="932"/>
                <a:ext cx="1809" cy="359"/>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rgbClr val="FF0066"/>
                    </a:solidFill>
                    <a:ea typeface="宋体" panose="02010600030101010101" pitchFamily="2" charset="-122"/>
                  </a:rPr>
                  <a:t>(code segment)</a:t>
                </a:r>
                <a:endParaRPr lang="en-US" altLang="zh-CN" sz="1800" dirty="0">
                  <a:solidFill>
                    <a:srgbClr val="FF0066"/>
                  </a:solidFill>
                  <a:ea typeface="宋体" panose="02010600030101010101" pitchFamily="2" charset="-122"/>
                </a:endParaRPr>
              </a:p>
              <a:p>
                <a:pPr marL="0" lvl="0" indent="0" eaLnBrk="1" hangingPunct="1">
                  <a:spcBef>
                    <a:spcPct val="0"/>
                  </a:spcBef>
                  <a:buClrTx/>
                  <a:buNone/>
                </a:pPr>
                <a:r>
                  <a:rPr lang="en-US" altLang="zh-CN" sz="1800" dirty="0">
                    <a:solidFill>
                      <a:srgbClr val="FF0066"/>
                    </a:solidFill>
                    <a:ea typeface="宋体" panose="02010600030101010101" pitchFamily="2" charset="-122"/>
                  </a:rPr>
                  <a:t>Start from its initial state</a:t>
                </a:r>
                <a:endParaRPr lang="en-US" altLang="zh-CN" sz="1800" dirty="0">
                  <a:solidFill>
                    <a:srgbClr val="FF0066"/>
                  </a:solidFill>
                  <a:ea typeface="宋体" panose="02010600030101010101" pitchFamily="2" charset="-122"/>
                </a:endParaRPr>
              </a:p>
            </p:txBody>
          </p:sp>
          <p:sp>
            <p:nvSpPr>
              <p:cNvPr id="32777" name="Rectangle 6"/>
              <p:cNvSpPr/>
              <p:nvPr/>
            </p:nvSpPr>
            <p:spPr>
              <a:xfrm>
                <a:off x="214" y="2926"/>
                <a:ext cx="1825" cy="39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solidFill>
                      <a:srgbClr val="FF0066"/>
                    </a:solidFill>
                    <a:ea typeface="宋体" panose="02010600030101010101" pitchFamily="2" charset="-122"/>
                  </a:rPr>
                  <a:t>(execution segment)</a:t>
                </a:r>
                <a:endParaRPr lang="en-US" altLang="zh-CN" sz="2000" dirty="0">
                  <a:solidFill>
                    <a:srgbClr val="FF0066"/>
                  </a:solidFill>
                  <a:ea typeface="宋体" panose="02010600030101010101" pitchFamily="2" charset="-122"/>
                </a:endParaRPr>
              </a:p>
              <a:p>
                <a:pPr marL="0" lvl="0" indent="0" eaLnBrk="1" hangingPunct="1">
                  <a:spcBef>
                    <a:spcPct val="0"/>
                  </a:spcBef>
                  <a:buClrTx/>
                  <a:buNone/>
                </a:pPr>
                <a:r>
                  <a:rPr lang="en-US" altLang="zh-CN" sz="2000" dirty="0">
                    <a:solidFill>
                      <a:srgbClr val="FF0066"/>
                    </a:solidFill>
                    <a:ea typeface="宋体" panose="02010600030101010101" pitchFamily="2" charset="-122"/>
                  </a:rPr>
                  <a:t>Resume  where it left off</a:t>
                </a:r>
                <a:endParaRPr lang="zh-CN" altLang="en-US" sz="2000" dirty="0">
                  <a:solidFill>
                    <a:srgbClr val="FF0066"/>
                  </a:solidFill>
                  <a:ea typeface="宋体" panose="02010600030101010101" pitchFamily="2" charset="-122"/>
                </a:endParaRPr>
              </a:p>
            </p:txBody>
          </p:sp>
        </p:grpSp>
        <p:sp>
          <p:nvSpPr>
            <p:cNvPr id="32774" name="Rectangle 7"/>
            <p:cNvSpPr/>
            <p:nvPr/>
          </p:nvSpPr>
          <p:spPr>
            <a:xfrm>
              <a:off x="4587" y="1393"/>
              <a:ext cx="840" cy="209"/>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ea typeface="宋体" panose="02010600030101010101" pitchFamily="2" charset="-122"/>
                </a:rPr>
                <a:t>(</a:t>
              </a:r>
              <a:r>
                <a:rPr lang="en-US" altLang="zh-CN" sz="1800" dirty="0">
                  <a:solidFill>
                    <a:srgbClr val="FF0000"/>
                  </a:solidFill>
                  <a:ea typeface="宋体" panose="02010600030101010101" pitchFamily="2" charset="-122"/>
                </a:rPr>
                <a:t>Java applet</a:t>
              </a:r>
              <a:r>
                <a:rPr lang="en-US" altLang="zh-CN" sz="1800" dirty="0">
                  <a:ea typeface="宋体" panose="02010600030101010101" pitchFamily="2" charset="-122"/>
                </a:rPr>
                <a:t>)</a:t>
              </a:r>
              <a:endParaRPr lang="zh-CN" altLang="en-US" sz="1800" dirty="0">
                <a:ea typeface="宋体" panose="02010600030101010101" pitchFamily="2"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0" y="0"/>
            <a:ext cx="6765925" cy="698500"/>
          </a:xfrm>
        </p:spPr>
        <p:txBody>
          <a:bodyPr vert="horz" wrap="square" lIns="91440" tIns="45720" rIns="91440" bIns="45720" anchor="ctr" anchorCtr="0"/>
          <a:p>
            <a:pPr eaLnBrk="1" hangingPunct="1"/>
            <a:r>
              <a:rPr lang="zh-CN" altLang="en-US" sz="4000" dirty="0">
                <a:ea typeface="宋体" panose="02010600030101010101" pitchFamily="2" charset="-122"/>
              </a:rPr>
              <a:t>代码迁移实例：</a:t>
            </a:r>
            <a:r>
              <a:rPr lang="en-US" altLang="zh-CN" sz="4000" dirty="0">
                <a:ea typeface="宋体" panose="02010600030101010101" pitchFamily="2" charset="-122"/>
              </a:rPr>
              <a:t>Java Applet</a:t>
            </a:r>
            <a:endParaRPr lang="en-US" altLang="zh-CN" sz="4000" dirty="0">
              <a:ea typeface="宋体" panose="02010600030101010101" pitchFamily="2" charset="-122"/>
            </a:endParaRPr>
          </a:p>
        </p:txBody>
      </p:sp>
      <p:sp>
        <p:nvSpPr>
          <p:cNvPr id="33795" name="Rectangle 3"/>
          <p:cNvSpPr>
            <a:spLocks noGrp="1"/>
          </p:cNvSpPr>
          <p:nvPr>
            <p:ph idx="1"/>
          </p:nvPr>
        </p:nvSpPr>
        <p:spPr>
          <a:xfrm>
            <a:off x="360363" y="1003300"/>
            <a:ext cx="8218487" cy="3648075"/>
          </a:xfrm>
        </p:spPr>
        <p:txBody>
          <a:bodyPr vert="horz" wrap="square" lIns="91440" tIns="45720" rIns="91440" bIns="45720" anchor="t" anchorCtr="0"/>
          <a:p>
            <a:pPr algn="l">
              <a:buNone/>
            </a:pPr>
            <a:r>
              <a:rPr lang="zh-CN" altLang="en-US" sz="2000" dirty="0">
                <a:ea typeface="宋体" panose="02010600030101010101" pitchFamily="2" charset="-122"/>
              </a:rPr>
              <a:t>带有一个</a:t>
            </a:r>
            <a:r>
              <a:rPr lang="en-US" altLang="zh-CN" sz="2000" dirty="0">
                <a:ea typeface="宋体" panose="02010600030101010101" pitchFamily="2" charset="-122"/>
              </a:rPr>
              <a:t>Applet</a:t>
            </a:r>
            <a:r>
              <a:rPr lang="zh-CN" altLang="en-US" sz="2000" dirty="0">
                <a:ea typeface="宋体" panose="02010600030101010101" pitchFamily="2" charset="-122"/>
              </a:rPr>
              <a:t>的主页</a:t>
            </a:r>
            <a:endParaRPr lang="zh-CN" altLang="en-US"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&lt;html&gt;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&lt;title&gt; An Example Homepage &lt;/title&gt;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&lt;h1&gt; Welcome to my homepage! &lt;/h1&gt;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This is an example homepage</a:t>
            </a:r>
            <a:r>
              <a:rPr lang="zh-CN" altLang="en-US" sz="2000" dirty="0">
                <a:ea typeface="宋体" panose="02010600030101010101" pitchFamily="2" charset="-122"/>
              </a:rPr>
              <a:t>， </a:t>
            </a:r>
            <a:r>
              <a:rPr lang="en-US" altLang="zh-CN" sz="2000" dirty="0">
                <a:ea typeface="宋体" panose="02010600030101010101" pitchFamily="2" charset="-122"/>
              </a:rPr>
              <a:t>you can see an applet in it</a:t>
            </a:r>
            <a:r>
              <a:rPr lang="zh-CN" altLang="en-US" sz="2000" dirty="0">
                <a:ea typeface="宋体" panose="02010600030101010101" pitchFamily="2" charset="-122"/>
              </a:rPr>
              <a:t>。</a:t>
            </a:r>
            <a:endParaRPr lang="zh-CN" altLang="en-US"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&lt;p&gt; &lt;br&gt;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&lt;applet code=“Example.class” width = 300 height=300&gt;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&lt;param name = img value="example.gif"&gt;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&lt;/applet&gt;</a:t>
            </a:r>
            <a:endParaRPr lang="en-US" altLang="zh-CN" sz="2000" dirty="0">
              <a:ea typeface="宋体" panose="02010600030101010101" pitchFamily="2" charset="-122"/>
            </a:endParaRPr>
          </a:p>
          <a:p>
            <a:pPr algn="l">
              <a:buFont typeface="Times New Roman" panose="02020603050405020304" pitchFamily="18" charset="0"/>
              <a:buAutoNum type="arabicPeriod"/>
            </a:pPr>
            <a:r>
              <a:rPr lang="en-US" altLang="zh-CN" sz="2000" dirty="0">
                <a:ea typeface="宋体" panose="02010600030101010101" pitchFamily="2" charset="-122"/>
              </a:rPr>
              <a:t>&lt;/html&gt;</a:t>
            </a:r>
            <a:endParaRPr lang="en-US" altLang="zh-CN" sz="2000" dirty="0">
              <a:ea typeface="宋体" panose="02010600030101010101" pitchFamily="2" charset="-122"/>
            </a:endParaRPr>
          </a:p>
        </p:txBody>
      </p:sp>
      <p:sp>
        <p:nvSpPr>
          <p:cNvPr id="33796" name="矩形 3"/>
          <p:cNvSpPr/>
          <p:nvPr/>
        </p:nvSpPr>
        <p:spPr>
          <a:xfrm>
            <a:off x="471488" y="4791075"/>
            <a:ext cx="7516812"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None/>
            </a:pPr>
            <a:r>
              <a:rPr lang="zh-CN" altLang="en-US" sz="2000" dirty="0">
                <a:ea typeface="宋体" panose="02010600030101010101" pitchFamily="2" charset="-122"/>
              </a:rPr>
              <a:t>用户访问网页时</a:t>
            </a:r>
            <a:r>
              <a:rPr lang="en-US" altLang="zh-CN" sz="2000" dirty="0">
                <a:ea typeface="宋体" panose="02010600030101010101" pitchFamily="2" charset="-122"/>
              </a:rPr>
              <a:t>, Applet</a:t>
            </a:r>
            <a:r>
              <a:rPr lang="zh-CN" altLang="en-US" sz="2000" dirty="0">
                <a:ea typeface="宋体" panose="02010600030101010101" pitchFamily="2" charset="-122"/>
              </a:rPr>
              <a:t>被下载到用户的计算机上执行。执行速度不受网络带宽等存取速度限制。</a:t>
            </a:r>
            <a:endParaRPr lang="zh-CN" altLang="en-US" sz="2000"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1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Migration and Local Resources</a:t>
            </a:r>
            <a:endParaRPr lang="en-US" altLang="zh-CN" dirty="0">
              <a:ea typeface="宋体" panose="02010600030101010101" pitchFamily="2" charset="-122"/>
            </a:endParaRPr>
          </a:p>
        </p:txBody>
      </p:sp>
      <p:sp>
        <p:nvSpPr>
          <p:cNvPr id="34819" name="Text Box 34"/>
          <p:cNvSpPr txBox="1"/>
          <p:nvPr/>
        </p:nvSpPr>
        <p:spPr>
          <a:xfrm>
            <a:off x="509588" y="1203325"/>
            <a:ext cx="8315325" cy="49244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274955" lvl="0" indent="-274955" algn="l" eaLnBrk="1" hangingPunct="1">
              <a:spcBef>
                <a:spcPct val="50000"/>
              </a:spcBef>
              <a:buClrTx/>
              <a:buNone/>
            </a:pPr>
            <a:r>
              <a:rPr lang="en-US" altLang="zh-CN" sz="2400" b="1" dirty="0">
                <a:latin typeface="Arial" panose="020B0604020202020204" pitchFamily="34" charset="0"/>
                <a:ea typeface="宋体" panose="02010600030101010101" pitchFamily="2" charset="-122"/>
              </a:rPr>
              <a:t>Process-to-resource bindings</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资源是否同进程一同迁移</a:t>
            </a: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p>
            <a:pPr marL="274955" lvl="0" indent="-274955" algn="l" eaLnBrk="1" hangingPunct="1">
              <a:spcBef>
                <a:spcPct val="50000"/>
              </a:spcBef>
              <a:buClrTx/>
              <a:buNone/>
            </a:pPr>
            <a:endParaRPr lang="en-US" altLang="zh-CN" sz="2000" b="1" dirty="0">
              <a:latin typeface="Arial" panose="020B0604020202020204" pitchFamily="34" charset="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1. By identifier-----like URL</a:t>
            </a:r>
            <a:r>
              <a:rPr lang="en-US" altLang="zh-CN" sz="2000" dirty="0">
                <a:ea typeface="宋体" panose="02010600030101010101" pitchFamily="2" charset="-122"/>
              </a:rPr>
              <a:t>(</a:t>
            </a:r>
            <a:r>
              <a:rPr lang="zh-CN" altLang="en-US" sz="2000" dirty="0">
                <a:ea typeface="宋体" panose="02010600030101010101" pitchFamily="2" charset="-122"/>
              </a:rPr>
              <a:t>强绑定方式</a:t>
            </a:r>
            <a:r>
              <a:rPr lang="en-US" altLang="zh-CN" sz="2000" dirty="0">
                <a:ea typeface="宋体" panose="02010600030101010101" pitchFamily="2" charset="-122"/>
              </a:rPr>
              <a:t>)</a:t>
            </a:r>
            <a:endParaRPr lang="en-US" altLang="zh-CN" sz="2000" dirty="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2. By value-----like standard libraries: C,Java etc </a:t>
            </a:r>
            <a:r>
              <a:rPr lang="en-US" altLang="zh-CN" sz="2000" dirty="0">
                <a:ea typeface="宋体" panose="02010600030101010101" pitchFamily="2" charset="-122"/>
              </a:rPr>
              <a:t>(</a:t>
            </a:r>
            <a:r>
              <a:rPr lang="zh-CN" altLang="en-US" sz="2000" dirty="0">
                <a:ea typeface="宋体" panose="02010600030101010101" pitchFamily="2" charset="-122"/>
              </a:rPr>
              <a:t>较弱绑定方式</a:t>
            </a:r>
            <a:r>
              <a:rPr lang="en-US" altLang="zh-CN" sz="2000" dirty="0">
                <a:ea typeface="宋体" panose="02010600030101010101" pitchFamily="2" charset="-122"/>
              </a:rPr>
              <a:t>)</a:t>
            </a:r>
            <a:endParaRPr lang="en-US" altLang="zh-CN" sz="2000" dirty="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3. By type------like monitors, printers </a:t>
            </a:r>
            <a:r>
              <a:rPr lang="en-US" altLang="zh-CN" sz="2000" dirty="0">
                <a:ea typeface="宋体" panose="02010600030101010101" pitchFamily="2" charset="-122"/>
              </a:rPr>
              <a:t>(</a:t>
            </a:r>
            <a:r>
              <a:rPr lang="zh-CN" altLang="en-US" sz="2000" dirty="0">
                <a:ea typeface="宋体" panose="02010600030101010101" pitchFamily="2" charset="-122"/>
              </a:rPr>
              <a:t>弱绑定方式</a:t>
            </a:r>
            <a:r>
              <a:rPr lang="en-US" altLang="zh-CN" sz="2000" dirty="0">
                <a:ea typeface="宋体" panose="02010600030101010101" pitchFamily="2" charset="-122"/>
              </a:rPr>
              <a:t>)</a:t>
            </a:r>
            <a:endParaRPr lang="en-US" altLang="zh-CN" sz="2000" dirty="0">
              <a:ea typeface="宋体" panose="02010600030101010101" pitchFamily="2" charset="-122"/>
            </a:endParaRPr>
          </a:p>
          <a:p>
            <a:pPr marL="274955" lvl="0" indent="-274955" algn="l" eaLnBrk="1" hangingPunct="1">
              <a:spcBef>
                <a:spcPct val="0"/>
              </a:spcBef>
              <a:buClrTx/>
              <a:buNone/>
            </a:pPr>
            <a:endParaRPr lang="en-US" altLang="zh-CN" sz="2000" dirty="0">
              <a:ea typeface="宋体" panose="02010600030101010101" pitchFamily="2" charset="-122"/>
            </a:endParaRPr>
          </a:p>
          <a:p>
            <a:pPr marL="274955" lvl="0" indent="-274955" algn="l" eaLnBrk="1" hangingPunct="1">
              <a:spcBef>
                <a:spcPct val="0"/>
              </a:spcBef>
              <a:buClrTx/>
              <a:buNone/>
            </a:pPr>
            <a:r>
              <a:rPr lang="en-US" altLang="zh-CN" sz="2400" b="1" dirty="0">
                <a:latin typeface="Arial" panose="020B0604020202020204" pitchFamily="34" charset="0"/>
                <a:ea typeface="宋体" panose="02010600030101010101" pitchFamily="2" charset="-122"/>
              </a:rPr>
              <a:t>Resource-to-machine bindings</a:t>
            </a:r>
            <a:r>
              <a:rPr lang="en-US" altLang="zh-CN" sz="2000" b="1" dirty="0">
                <a:latin typeface="Arial" panose="020B0604020202020204" pitchFamily="34" charset="0"/>
                <a:ea typeface="宋体" panose="02010600030101010101" pitchFamily="2" charset="-122"/>
              </a:rPr>
              <a:t>:(</a:t>
            </a:r>
            <a:r>
              <a:rPr lang="zh-CN" altLang="en-US" sz="2000" b="1" dirty="0">
                <a:latin typeface="Arial" panose="020B0604020202020204" pitchFamily="34" charset="0"/>
                <a:ea typeface="宋体" panose="02010600030101010101" pitchFamily="2" charset="-122"/>
              </a:rPr>
              <a:t>资源与机器的关系</a:t>
            </a: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p>
            <a:pPr marL="274955" lvl="0" indent="-274955" algn="l" eaLnBrk="1" hangingPunct="1">
              <a:spcBef>
                <a:spcPct val="0"/>
              </a:spcBef>
              <a:buClrTx/>
              <a:buNone/>
            </a:pPr>
            <a:endParaRPr lang="en-US" altLang="zh-CN" sz="2400" dirty="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1. Unattached resources------may be easily moved between different machines, such as data, file, and so on.</a:t>
            </a:r>
            <a:endParaRPr lang="en-US" altLang="zh-CN" sz="2400" dirty="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2. Fastened resources------moving or copying may be possible, but only at relatively high cost. Like Web sites, Databases.</a:t>
            </a:r>
            <a:endParaRPr lang="en-US" altLang="zh-CN" sz="2400" dirty="0">
              <a:ea typeface="宋体" panose="02010600030101010101" pitchFamily="2" charset="-122"/>
            </a:endParaRPr>
          </a:p>
          <a:p>
            <a:pPr marL="274955" lvl="0" indent="-274955" algn="l" eaLnBrk="1" hangingPunct="1">
              <a:spcBef>
                <a:spcPct val="0"/>
              </a:spcBef>
              <a:buClrTx/>
              <a:buNone/>
            </a:pPr>
            <a:r>
              <a:rPr lang="en-US" altLang="zh-CN" sz="2400" dirty="0">
                <a:ea typeface="宋体" panose="02010600030101010101" pitchFamily="2" charset="-122"/>
              </a:rPr>
              <a:t>3. Fixed resources------cannot be moved.</a:t>
            </a:r>
            <a:endParaRPr lang="en-US" altLang="zh-CN" sz="2400"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p:txBody>
          <a:bodyPr vert="horz" wrap="square" lIns="91440" tIns="45720" rIns="91440" bIns="45720" anchor="ctr" anchorCtr="0"/>
          <a:p>
            <a:pPr eaLnBrk="1" hangingPunct="1"/>
            <a:r>
              <a:rPr lang="en-US" altLang="zh-CN" dirty="0">
                <a:ea typeface="宋体" panose="02010600030101010101" pitchFamily="2" charset="-122"/>
              </a:rPr>
              <a:t>Migration and Local Resources</a:t>
            </a:r>
            <a:endParaRPr lang="en-US" altLang="zh-CN" dirty="0">
              <a:ea typeface="宋体" panose="02010600030101010101" pitchFamily="2" charset="-122"/>
            </a:endParaRPr>
          </a:p>
        </p:txBody>
      </p:sp>
      <p:sp>
        <p:nvSpPr>
          <p:cNvPr id="35843" name="Rectangle 3"/>
          <p:cNvSpPr>
            <a:spLocks noGrp="1"/>
          </p:cNvSpPr>
          <p:nvPr>
            <p:ph idx="1"/>
          </p:nvPr>
        </p:nvSpPr>
        <p:spPr>
          <a:xfrm>
            <a:off x="838200" y="5513388"/>
            <a:ext cx="7797800" cy="1122362"/>
          </a:xfrm>
        </p:spPr>
        <p:txBody>
          <a:bodyPr vert="horz" wrap="square" lIns="91440" tIns="45720" rIns="91440" bIns="45720" anchor="t" anchorCtr="0"/>
          <a:p>
            <a:pPr algn="l" eaLnBrk="1" hangingPunct="1">
              <a:buNone/>
            </a:pPr>
            <a:r>
              <a:rPr lang="en-US" altLang="zh-CN" sz="2400" dirty="0">
                <a:ea typeface="宋体" panose="02010600030101010101" pitchFamily="2" charset="-122"/>
              </a:rPr>
              <a:t>Actions to be taken with respect to the references to local resources when migrating code to another machine.</a:t>
            </a:r>
            <a:endParaRPr lang="en-US" altLang="zh-CN" sz="2400" dirty="0">
              <a:ea typeface="宋体" panose="02010600030101010101" pitchFamily="2" charset="-122"/>
            </a:endParaRPr>
          </a:p>
        </p:txBody>
      </p:sp>
      <p:graphicFrame>
        <p:nvGraphicFramePr>
          <p:cNvPr id="70684" name="Group 28"/>
          <p:cNvGraphicFramePr>
            <a:graphicFrameLocks noGrp="1"/>
          </p:cNvGraphicFramePr>
          <p:nvPr/>
        </p:nvGraphicFramePr>
        <p:xfrm>
          <a:off x="1603375" y="1854200"/>
          <a:ext cx="7188200" cy="1968500"/>
        </p:xfrm>
        <a:graphic>
          <a:graphicData uri="http://schemas.openxmlformats.org/drawingml/2006/table">
            <a:tbl>
              <a:tblPr/>
              <a:tblGrid>
                <a:gridCol w="1547813"/>
                <a:gridCol w="2058987"/>
                <a:gridCol w="1858963"/>
                <a:gridCol w="1722437"/>
              </a:tblGrid>
              <a:tr h="614363">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Unattached</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Fastened</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Fixed</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54137">
                <a:tc>
                  <a:txBody>
                    <a:bodyPr/>
                    <a:lstStyle/>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By identifier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By value</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By type</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MV (or GR)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CP ( or MV, GR)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RB (or GR, CP)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GR (or MV)</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GR (or CP)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RB (or GR, CP)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20000"/>
                        </a:lnSpc>
                        <a:spcBef>
                          <a:spcPct val="20000"/>
                        </a:spcBef>
                        <a:spcAft>
                          <a:spcPct val="0"/>
                        </a:spcAft>
                        <a:buClr>
                          <a:schemeClr val="accent2"/>
                        </a:buClr>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RB (or GR)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861" name="Text Box 21"/>
          <p:cNvSpPr txBox="1"/>
          <p:nvPr/>
        </p:nvSpPr>
        <p:spPr>
          <a:xfrm>
            <a:off x="2933700" y="1231900"/>
            <a:ext cx="4071938" cy="3667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latin typeface="Arial" panose="020B0604020202020204" pitchFamily="34" charset="0"/>
                <a:ea typeface="宋体" panose="02010600030101010101" pitchFamily="2" charset="-122"/>
              </a:rPr>
              <a:t>Resource-to machine binding</a:t>
            </a:r>
            <a:endParaRPr lang="en-US" altLang="zh-CN" sz="1800" b="1" dirty="0">
              <a:latin typeface="Arial" panose="020B0604020202020204" pitchFamily="34" charset="0"/>
              <a:ea typeface="宋体" panose="02010600030101010101" pitchFamily="2" charset="-122"/>
            </a:endParaRPr>
          </a:p>
        </p:txBody>
      </p:sp>
      <p:sp>
        <p:nvSpPr>
          <p:cNvPr id="35862" name="Text Box 22"/>
          <p:cNvSpPr txBox="1"/>
          <p:nvPr/>
        </p:nvSpPr>
        <p:spPr>
          <a:xfrm>
            <a:off x="0" y="2354263"/>
            <a:ext cx="1495425" cy="9159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r" eaLnBrk="1" hangingPunct="1">
              <a:spcBef>
                <a:spcPct val="50000"/>
              </a:spcBef>
              <a:buClrTx/>
              <a:buNone/>
            </a:pPr>
            <a:r>
              <a:rPr lang="en-US" altLang="zh-CN" sz="1800" b="1" dirty="0">
                <a:latin typeface="Arial" panose="020B0604020202020204" pitchFamily="34" charset="0"/>
                <a:ea typeface="宋体" panose="02010600030101010101" pitchFamily="2" charset="-122"/>
              </a:rPr>
              <a:t>Process-to-resource binding</a:t>
            </a:r>
            <a:endParaRPr lang="en-US" altLang="zh-CN" sz="1800" b="1" dirty="0">
              <a:latin typeface="Arial" panose="020B0604020202020204" pitchFamily="34" charset="0"/>
              <a:ea typeface="宋体" panose="02010600030101010101" pitchFamily="2" charset="-122"/>
            </a:endParaRPr>
          </a:p>
        </p:txBody>
      </p:sp>
      <p:sp>
        <p:nvSpPr>
          <p:cNvPr id="35863" name="Rectangle 23"/>
          <p:cNvSpPr/>
          <p:nvPr/>
        </p:nvSpPr>
        <p:spPr>
          <a:xfrm>
            <a:off x="2236788" y="3960813"/>
            <a:ext cx="5410200" cy="151765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None/>
            </a:pPr>
            <a:r>
              <a:rPr lang="en-US" altLang="zh-CN" sz="2000" dirty="0">
                <a:ea typeface="宋体" panose="02010600030101010101" pitchFamily="2" charset="-122"/>
              </a:rPr>
              <a:t>GR    Establish a global system wide reference</a:t>
            </a:r>
            <a:endParaRPr lang="en-US" altLang="zh-CN" sz="2000" dirty="0">
              <a:ea typeface="宋体" panose="02010600030101010101" pitchFamily="2" charset="-122"/>
            </a:endParaRPr>
          </a:p>
          <a:p>
            <a:pPr marL="342900" lvl="0" indent="-342900" algn="l" eaLnBrk="1" hangingPunct="1">
              <a:buNone/>
            </a:pPr>
            <a:r>
              <a:rPr lang="en-US" altLang="zh-CN" sz="2000" dirty="0">
                <a:ea typeface="宋体" panose="02010600030101010101" pitchFamily="2" charset="-122"/>
              </a:rPr>
              <a:t>MV    Move the resource</a:t>
            </a:r>
            <a:endParaRPr lang="en-US" altLang="zh-CN" sz="2000" dirty="0">
              <a:ea typeface="宋体" panose="02010600030101010101" pitchFamily="2" charset="-122"/>
            </a:endParaRPr>
          </a:p>
          <a:p>
            <a:pPr marL="342900" lvl="0" indent="-342900" algn="l" eaLnBrk="1" hangingPunct="1">
              <a:buNone/>
            </a:pPr>
            <a:r>
              <a:rPr lang="en-US" altLang="zh-CN" sz="2000" dirty="0">
                <a:ea typeface="宋体" panose="02010600030101010101" pitchFamily="2" charset="-122"/>
              </a:rPr>
              <a:t>CP      Copy the value of the resource</a:t>
            </a:r>
            <a:endParaRPr lang="en-US" altLang="zh-CN" sz="2000" dirty="0">
              <a:ea typeface="宋体" panose="02010600030101010101" pitchFamily="2" charset="-122"/>
            </a:endParaRPr>
          </a:p>
          <a:p>
            <a:pPr marL="342900" lvl="0" indent="-342900" algn="l" eaLnBrk="1" hangingPunct="1">
              <a:buNone/>
            </a:pPr>
            <a:r>
              <a:rPr lang="en-US" altLang="zh-CN" sz="2000" dirty="0">
                <a:ea typeface="宋体" panose="02010600030101010101" pitchFamily="2" charset="-122"/>
              </a:rPr>
              <a:t>RB     Rebind process to locally available resource</a:t>
            </a:r>
            <a:endParaRPr lang="en-US" altLang="zh-CN" sz="2000"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0" y="0"/>
            <a:ext cx="9144000" cy="739775"/>
          </a:xfrm>
        </p:spPr>
        <p:txBody>
          <a:bodyPr vert="horz" wrap="square" lIns="91440" tIns="45720" rIns="91440" bIns="45720" anchor="ctr" anchorCtr="0"/>
          <a:p>
            <a:pPr eaLnBrk="1" hangingPunct="1"/>
            <a:r>
              <a:rPr lang="en-US" altLang="zh-CN" dirty="0">
                <a:ea typeface="宋体" panose="02010600030101010101" pitchFamily="2" charset="-122"/>
              </a:rPr>
              <a:t>Migration in Heterogeneous Systems</a:t>
            </a:r>
            <a:endParaRPr lang="en-US" altLang="zh-CN" dirty="0">
              <a:ea typeface="宋体" panose="02010600030101010101" pitchFamily="2" charset="-122"/>
            </a:endParaRPr>
          </a:p>
        </p:txBody>
      </p:sp>
      <p:sp>
        <p:nvSpPr>
          <p:cNvPr id="36867" name="Rectangle 3"/>
          <p:cNvSpPr>
            <a:spLocks noGrp="1"/>
          </p:cNvSpPr>
          <p:nvPr>
            <p:ph idx="1"/>
          </p:nvPr>
        </p:nvSpPr>
        <p:spPr>
          <a:xfrm>
            <a:off x="407988" y="739775"/>
            <a:ext cx="7997825" cy="1757363"/>
          </a:xfrm>
        </p:spPr>
        <p:txBody>
          <a:bodyPr vert="horz" wrap="square" lIns="91440" tIns="45720" rIns="91440" bIns="45720" anchor="t" anchorCtr="0"/>
          <a:p>
            <a:pPr marL="352425" indent="-352425" algn="l" eaLnBrk="1" hangingPunct="1">
              <a:lnSpc>
                <a:spcPct val="130000"/>
              </a:lnSpc>
              <a:buNone/>
            </a:pPr>
            <a:r>
              <a:rPr lang="zh-CN" altLang="en-US" sz="1800" dirty="0">
                <a:ea typeface="宋体" panose="02010600030101010101" pitchFamily="2" charset="-122"/>
              </a:rPr>
              <a:t>受目标机器</a:t>
            </a:r>
            <a:r>
              <a:rPr lang="en-US" altLang="zh-CN" sz="1800" dirty="0">
                <a:ea typeface="宋体" panose="02010600030101010101" pitchFamily="2" charset="-122"/>
              </a:rPr>
              <a:t>(</a:t>
            </a:r>
            <a:r>
              <a:rPr lang="zh-CN" altLang="en-US" sz="1800" dirty="0">
                <a:ea typeface="宋体" panose="02010600030101010101" pitchFamily="2" charset="-122"/>
              </a:rPr>
              <a:t>异构</a:t>
            </a:r>
            <a:r>
              <a:rPr lang="en-US" altLang="zh-CN" sz="1800" dirty="0">
                <a:ea typeface="宋体" panose="02010600030101010101" pitchFamily="2" charset="-122"/>
              </a:rPr>
              <a:t>)</a:t>
            </a:r>
            <a:r>
              <a:rPr lang="zh-CN" altLang="en-US" sz="1800" dirty="0">
                <a:ea typeface="宋体" panose="02010600030101010101" pitchFamily="2" charset="-122"/>
              </a:rPr>
              <a:t>的限制，必须能够支持迁移程序的执行：</a:t>
            </a:r>
            <a:endParaRPr lang="en-US" altLang="zh-CN" sz="1800" dirty="0">
              <a:ea typeface="宋体" panose="02010600030101010101" pitchFamily="2" charset="-122"/>
            </a:endParaRPr>
          </a:p>
          <a:p>
            <a:pPr marL="352425" indent="-352425" algn="l" eaLnBrk="1" hangingPunct="1">
              <a:lnSpc>
                <a:spcPct val="130000"/>
              </a:lnSpc>
              <a:buFont typeface="Wingdings" panose="05000000000000000000" pitchFamily="2" charset="2"/>
              <a:buChar char="Ø"/>
            </a:pPr>
            <a:r>
              <a:rPr lang="zh-CN" altLang="en-US" sz="1800" dirty="0">
                <a:ea typeface="宋体" panose="02010600030101010101" pitchFamily="2" charset="-122"/>
              </a:rPr>
              <a:t>脚本语言在虚拟机上的执行</a:t>
            </a:r>
            <a:r>
              <a:rPr lang="en-US" altLang="zh-CN" sz="1800" dirty="0">
                <a:ea typeface="宋体" panose="02010600030101010101" pitchFamily="2" charset="-122"/>
              </a:rPr>
              <a:t>. </a:t>
            </a:r>
            <a:endParaRPr lang="en-US" altLang="zh-CN" sz="1800" dirty="0">
              <a:ea typeface="宋体" panose="02010600030101010101" pitchFamily="2" charset="-122"/>
            </a:endParaRPr>
          </a:p>
          <a:p>
            <a:pPr marL="352425" indent="-352425" algn="l" eaLnBrk="1" hangingPunct="1">
              <a:lnSpc>
                <a:spcPct val="130000"/>
              </a:lnSpc>
              <a:buFont typeface="Wingdings" panose="05000000000000000000" pitchFamily="2" charset="2"/>
              <a:buChar char="Ø"/>
            </a:pPr>
            <a:r>
              <a:rPr lang="en-US" altLang="zh-CN" sz="1800" dirty="0">
                <a:ea typeface="宋体" panose="02010600030101010101" pitchFamily="2" charset="-122"/>
              </a:rPr>
              <a:t>Code migration is restricted to specific points in the execution of a program. </a:t>
            </a:r>
            <a:r>
              <a:rPr lang="zh-CN" altLang="en-US" sz="1800" dirty="0">
                <a:ea typeface="宋体" panose="02010600030101010101" pitchFamily="2" charset="-122"/>
              </a:rPr>
              <a:t>例如</a:t>
            </a:r>
            <a:r>
              <a:rPr lang="en-US" altLang="zh-CN" sz="1800" dirty="0">
                <a:ea typeface="宋体" panose="02010600030101010101" pitchFamily="2" charset="-122"/>
              </a:rPr>
              <a:t>:</a:t>
            </a:r>
            <a:r>
              <a:rPr lang="zh-CN" altLang="en-US" sz="1800" dirty="0">
                <a:ea typeface="宋体" panose="02010600030101010101" pitchFamily="2" charset="-122"/>
              </a:rPr>
              <a:t>只能调用下一个子例程才能迁移</a:t>
            </a:r>
            <a:r>
              <a:rPr lang="en-US" altLang="zh-CN" sz="1800" dirty="0">
                <a:ea typeface="宋体" panose="02010600030101010101" pitchFamily="2" charset="-122"/>
              </a:rPr>
              <a:t>.</a:t>
            </a:r>
            <a:endParaRPr lang="en-US" altLang="zh-CN" sz="1800" dirty="0">
              <a:ea typeface="宋体" panose="02010600030101010101" pitchFamily="2" charset="-122"/>
            </a:endParaRPr>
          </a:p>
          <a:p>
            <a:pPr marL="352425" indent="-352425" algn="l" eaLnBrk="1" hangingPunct="1">
              <a:lnSpc>
                <a:spcPct val="130000"/>
              </a:lnSpc>
              <a:buFont typeface="Wingdings" panose="05000000000000000000" pitchFamily="2" charset="2"/>
              <a:buChar char="Ø"/>
            </a:pPr>
            <a:endParaRPr lang="en-US" altLang="zh-CN" sz="1800" dirty="0">
              <a:ea typeface="宋体" panose="02010600030101010101" pitchFamily="2" charset="-122"/>
            </a:endParaRPr>
          </a:p>
        </p:txBody>
      </p:sp>
      <p:sp>
        <p:nvSpPr>
          <p:cNvPr id="4" name="Rectangle 3"/>
          <p:cNvSpPr txBox="1">
            <a:spLocks noChangeArrowheads="1"/>
          </p:cNvSpPr>
          <p:nvPr/>
        </p:nvSpPr>
        <p:spPr bwMode="auto">
          <a:xfrm>
            <a:off x="838200" y="6097588"/>
            <a:ext cx="7567613" cy="7604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principle of maintaining a migration stack to support migration of an execution segment in a heterogeneous environment</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6869" name="Picture 5"/>
          <p:cNvPicPr>
            <a:picLocks noChangeAspect="1"/>
          </p:cNvPicPr>
          <p:nvPr/>
        </p:nvPicPr>
        <p:blipFill>
          <a:blip r:embed="rId1"/>
          <a:srcRect l="21379" t="37009" r="19455" b="31117"/>
          <a:stretch>
            <a:fillRect/>
          </a:stretch>
        </p:blipFill>
        <p:spPr>
          <a:xfrm>
            <a:off x="319088" y="2312988"/>
            <a:ext cx="8324850" cy="3784600"/>
          </a:xfrm>
          <a:prstGeom prst="rect">
            <a:avLst/>
          </a:prstGeom>
          <a:noFill/>
          <a:ln w="9525">
            <a:noFill/>
          </a:ln>
        </p:spPr>
      </p:pic>
      <p:sp>
        <p:nvSpPr>
          <p:cNvPr id="36870" name="矩形 1"/>
          <p:cNvSpPr/>
          <p:nvPr/>
        </p:nvSpPr>
        <p:spPr>
          <a:xfrm>
            <a:off x="5594350" y="3455988"/>
            <a:ext cx="1420813" cy="2778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zh-CN" altLang="en-US" sz="1200" dirty="0">
                <a:ea typeface="宋体" panose="02010600030101010101" pitchFamily="2" charset="-122"/>
              </a:rPr>
              <a:t>不在一个地址空间</a:t>
            </a:r>
            <a:endParaRPr lang="zh-CN" altLang="en-US" sz="1200" dirty="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ctr" anchorCtr="0"/>
          <a:p>
            <a:pPr eaLnBrk="1" hangingPunct="1"/>
            <a:r>
              <a:rPr lang="en-US" altLang="zh-CN" sz="3600" dirty="0">
                <a:ea typeface="宋体" panose="02010600030101010101" pitchFamily="2" charset="-122"/>
              </a:rPr>
              <a:t>Overview of Code Migration in D'Agents (1)</a:t>
            </a:r>
            <a:endParaRPr lang="en-US" altLang="zh-CN" sz="3600" dirty="0">
              <a:ea typeface="宋体" panose="02010600030101010101" pitchFamily="2" charset="-122"/>
            </a:endParaRPr>
          </a:p>
        </p:txBody>
      </p:sp>
      <p:sp>
        <p:nvSpPr>
          <p:cNvPr id="37891" name="Rectangle 3"/>
          <p:cNvSpPr>
            <a:spLocks noGrp="1"/>
          </p:cNvSpPr>
          <p:nvPr>
            <p:ph idx="1"/>
          </p:nvPr>
        </p:nvSpPr>
        <p:spPr>
          <a:xfrm>
            <a:off x="846138" y="5518150"/>
            <a:ext cx="7451725" cy="706438"/>
          </a:xfrm>
        </p:spPr>
        <p:txBody>
          <a:bodyPr vert="horz" wrap="square" lIns="91440" tIns="45720" rIns="91440" bIns="45720" anchor="t" anchorCtr="0"/>
          <a:p>
            <a:pPr algn="l" eaLnBrk="1" hangingPunct="1">
              <a:buNone/>
            </a:pPr>
            <a:r>
              <a:rPr lang="en-US" altLang="zh-CN" sz="2000" dirty="0">
                <a:ea typeface="宋体" panose="02010600030101010101" pitchFamily="2" charset="-122"/>
              </a:rPr>
              <a:t>A simple example of a Tcl agent in D'Agents submitting a script to a remote machine (adapted from [gray.r95])</a:t>
            </a:r>
            <a:endParaRPr lang="en-US" altLang="zh-CN" sz="2000" dirty="0">
              <a:ea typeface="宋体" panose="02010600030101010101" pitchFamily="2" charset="-122"/>
            </a:endParaRPr>
          </a:p>
        </p:txBody>
      </p:sp>
      <p:sp>
        <p:nvSpPr>
          <p:cNvPr id="37892" name="Text Box 4"/>
          <p:cNvSpPr txBox="1"/>
          <p:nvPr/>
        </p:nvSpPr>
        <p:spPr>
          <a:xfrm>
            <a:off x="361950" y="2436813"/>
            <a:ext cx="8367713" cy="26781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rPr>
              <a:t>proc factorial n {</a:t>
            </a:r>
            <a:br>
              <a:rPr lang="en-US" altLang="zh-CN" sz="1600" dirty="0">
                <a:latin typeface="Arial" panose="020B0604020202020204" pitchFamily="34" charset="0"/>
                <a:ea typeface="宋体" panose="02010600030101010101" pitchFamily="2" charset="-122"/>
              </a:rPr>
            </a:br>
            <a:r>
              <a:rPr lang="en-US" altLang="zh-CN" sz="1600" dirty="0">
                <a:latin typeface="Arial" panose="020B0604020202020204" pitchFamily="34" charset="0"/>
                <a:ea typeface="宋体" panose="02010600030101010101" pitchFamily="2" charset="-122"/>
              </a:rPr>
              <a:t>       if ($n </a:t>
            </a:r>
            <a:r>
              <a:rPr lang="en-US" altLang="zh-CN" sz="1600" dirty="0">
                <a:latin typeface="Arial" panose="020B0604020202020204" pitchFamily="34" charset="0"/>
                <a:ea typeface="宋体" panose="02010600030101010101" pitchFamily="2" charset="-122"/>
                <a:sym typeface="Symbol" panose="05050102010706020507" pitchFamily="18" charset="2"/>
              </a:rPr>
              <a:t> 1) { return 1; }		# fac(1) = 1</a:t>
            </a:r>
            <a:br>
              <a:rPr lang="en-US" altLang="zh-CN" sz="1600" dirty="0">
                <a:latin typeface="Arial" panose="020B0604020202020204" pitchFamily="34" charset="0"/>
                <a:ea typeface="宋体" panose="02010600030101010101" pitchFamily="2" charset="-122"/>
                <a:sym typeface="Symbol" panose="05050102010706020507" pitchFamily="18" charset="2"/>
              </a:rPr>
            </a:br>
            <a:r>
              <a:rPr lang="en-US" altLang="zh-CN" sz="1600" dirty="0">
                <a:latin typeface="Arial" panose="020B0604020202020204" pitchFamily="34" charset="0"/>
                <a:ea typeface="宋体" panose="02010600030101010101" pitchFamily="2" charset="-122"/>
                <a:sym typeface="Symbol" panose="05050102010706020507" pitchFamily="18" charset="2"/>
              </a:rPr>
              <a:t>       expr $n * [ factorial [expr $n – 1] ]   	# fac(n) = n * fac(n – 1)</a:t>
            </a:r>
            <a:endParaRPr lang="en-US" altLang="zh-CN" sz="1600" dirty="0">
              <a:latin typeface="Arial" panose="020B0604020202020204" pitchFamily="34" charset="0"/>
              <a:ea typeface="宋体" panose="02010600030101010101" pitchFamily="2" charset="-122"/>
              <a:sym typeface="Symbol" panose="05050102010706020507" pitchFamily="18" charset="2"/>
            </a:endParaRPr>
          </a:p>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sym typeface="Symbol" panose="05050102010706020507" pitchFamily="18" charset="2"/>
              </a:rPr>
              <a:t>}</a:t>
            </a:r>
            <a:endParaRPr lang="en-US" altLang="zh-CN" sz="1600" dirty="0">
              <a:latin typeface="Arial" panose="020B0604020202020204" pitchFamily="34" charset="0"/>
              <a:ea typeface="宋体" panose="02010600030101010101" pitchFamily="2" charset="-122"/>
              <a:sym typeface="Symbol" panose="05050102010706020507" pitchFamily="18" charset="2"/>
            </a:endParaRPr>
          </a:p>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sym typeface="Symbol" panose="05050102010706020507" pitchFamily="18" charset="2"/>
              </a:rPr>
              <a:t>set number … 	# tells which factorial to compute</a:t>
            </a:r>
            <a:endParaRPr lang="en-US" altLang="zh-CN" sz="1600" dirty="0">
              <a:latin typeface="Arial" panose="020B0604020202020204" pitchFamily="34" charset="0"/>
              <a:ea typeface="宋体" panose="02010600030101010101" pitchFamily="2" charset="-122"/>
              <a:sym typeface="Symbol" panose="05050102010706020507" pitchFamily="18" charset="2"/>
            </a:endParaRPr>
          </a:p>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sym typeface="Symbol" panose="05050102010706020507" pitchFamily="18" charset="2"/>
              </a:rPr>
              <a:t>set machine … 	# identify the target machine</a:t>
            </a:r>
            <a:endParaRPr lang="en-US" altLang="zh-CN" sz="1600" dirty="0">
              <a:latin typeface="Arial" panose="020B0604020202020204" pitchFamily="34" charset="0"/>
              <a:ea typeface="宋体" panose="02010600030101010101" pitchFamily="2" charset="-122"/>
              <a:sym typeface="Symbol" panose="05050102010706020507" pitchFamily="18" charset="2"/>
            </a:endParaRPr>
          </a:p>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sym typeface="Symbol" panose="05050102010706020507" pitchFamily="18" charset="2"/>
              </a:rPr>
              <a:t>agent_submit $machine –procs factorial –vars number –script {factorial $number }</a:t>
            </a:r>
            <a:endParaRPr lang="en-US" altLang="zh-CN" sz="1600" dirty="0">
              <a:latin typeface="Arial" panose="020B0604020202020204" pitchFamily="34" charset="0"/>
              <a:ea typeface="宋体" panose="02010600030101010101" pitchFamily="2" charset="-122"/>
              <a:sym typeface="Symbol" panose="05050102010706020507" pitchFamily="18" charset="2"/>
            </a:endParaRPr>
          </a:p>
          <a:p>
            <a:pPr marL="0" lvl="0" indent="0" algn="l" eaLnBrk="1" hangingPunct="1">
              <a:spcBef>
                <a:spcPct val="50000"/>
              </a:spcBef>
              <a:buClrTx/>
              <a:buNone/>
            </a:pPr>
            <a:r>
              <a:rPr lang="en-US" altLang="zh-CN" sz="1600" dirty="0">
                <a:latin typeface="Arial" panose="020B0604020202020204" pitchFamily="34" charset="0"/>
                <a:ea typeface="宋体" panose="02010600030101010101" pitchFamily="2" charset="-122"/>
                <a:sym typeface="Symbol" panose="05050102010706020507" pitchFamily="18" charset="2"/>
              </a:rPr>
              <a:t>agent_receive …	# receive the results (left unspecified for simplicity)</a:t>
            </a:r>
            <a:endParaRPr lang="en-US" altLang="zh-CN" sz="1600" dirty="0">
              <a:latin typeface="Arial" panose="020B0604020202020204" pitchFamily="34" charset="0"/>
              <a:ea typeface="宋体" panose="02010600030101010101" pitchFamily="2" charset="-122"/>
            </a:endParaRPr>
          </a:p>
        </p:txBody>
      </p:sp>
      <p:sp>
        <p:nvSpPr>
          <p:cNvPr id="37893" name="Rectangle 3"/>
          <p:cNvSpPr txBox="1"/>
          <p:nvPr/>
        </p:nvSpPr>
        <p:spPr>
          <a:xfrm>
            <a:off x="0" y="984250"/>
            <a:ext cx="8978900" cy="1317625"/>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None/>
            </a:pPr>
            <a:r>
              <a:rPr lang="en-US" altLang="zh-CN" sz="2000" dirty="0">
                <a:ea typeface="宋体" panose="02010600030101010101" pitchFamily="2" charset="-122"/>
              </a:rPr>
              <a:t>Example: D'Agents </a:t>
            </a:r>
            <a:endParaRPr lang="en-US" altLang="zh-CN" sz="2000" dirty="0">
              <a:ea typeface="宋体" panose="02010600030101010101" pitchFamily="2" charset="-122"/>
            </a:endParaRPr>
          </a:p>
          <a:p>
            <a:pPr marL="342900" lvl="0" indent="-342900" algn="l" eaLnBrk="1" hangingPunct="1">
              <a:buFont typeface="Wingdings" panose="05000000000000000000" pitchFamily="2" charset="2"/>
              <a:buChar char="u"/>
            </a:pPr>
            <a:r>
              <a:rPr lang="en-US" altLang="zh-CN" sz="2000" dirty="0">
                <a:ea typeface="宋体" panose="02010600030101010101" pitchFamily="2" charset="-122"/>
              </a:rPr>
              <a:t>A middleware platform that supports various forms of code migration</a:t>
            </a:r>
            <a:r>
              <a:rPr lang="zh-CN" altLang="en-US" sz="2000" dirty="0">
                <a:ea typeface="宋体" panose="02010600030101010101" pitchFamily="2" charset="-122"/>
              </a:rPr>
              <a:t>。</a:t>
            </a:r>
            <a:endParaRPr lang="en-US" altLang="zh-CN" sz="2000" dirty="0">
              <a:ea typeface="宋体" panose="02010600030101010101" pitchFamily="2" charset="-122"/>
            </a:endParaRPr>
          </a:p>
          <a:p>
            <a:pPr marL="342900" lvl="0" indent="-342900" algn="l" eaLnBrk="1" hangingPunct="1">
              <a:buFont typeface="Wingdings" panose="05000000000000000000" pitchFamily="2" charset="2"/>
              <a:buChar char="u"/>
            </a:pPr>
            <a:r>
              <a:rPr lang="en-US" altLang="zh-CN" sz="2000" dirty="0">
                <a:ea typeface="宋体" panose="02010600030101010101" pitchFamily="2" charset="-122"/>
              </a:rPr>
              <a:t>An agent in D’Agents is a program that can migrate between different machine. </a:t>
            </a:r>
            <a:endParaRPr lang="en-US" altLang="zh-CN" sz="2000"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3"/>
          <p:cNvSpPr>
            <a:spLocks noGrp="1" noChangeArrowheads="1"/>
          </p:cNvSpPr>
          <p:nvPr>
            <p:ph idx="1"/>
          </p:nvPr>
        </p:nvSpPr>
        <p:spPr>
          <a:xfrm>
            <a:off x="0" y="2755900"/>
            <a:ext cx="9144000" cy="3744913"/>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Tx/>
              <a:buNone/>
              <a:defRPr/>
            </a:pPr>
            <a:r>
              <a:rPr kumimoji="0" lang="en-US" altLang="zh-CN" sz="36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Definitions</a:t>
            </a:r>
            <a:endParaRPr kumimoji="0" lang="en-US" altLang="zh-CN" sz="36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a:p>
            <a:pPr marL="0" marR="0" lvl="0" indent="0" algn="l" defTabSz="914400" rtl="0" eaLnBrk="0" fontAlgn="base" latinLnBrk="0" hangingPunct="0">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layer mapping its</a:t>
            </a: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 visible interface and resources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onto the interface and resources of the underlying layer or system on which it is implemented.</a:t>
            </a: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使得底层资源可见</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Purposes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rPr>
              <a:t>Abstraction</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—to simplify the use of the underlying resource (e.g., by removing details of the resource’s structure);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rPr>
              <a:t>Replication</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—to create multiple instances of the resource (e.g., to simplify management or allocation);</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000" b="0" i="0" u="none" strike="noStrike" kern="0" cap="none" spc="0" normalizeH="0" baseline="0" noProof="0" dirty="0">
                <a:ln>
                  <a:noFill/>
                </a:ln>
                <a:solidFill>
                  <a:srgbClr val="FF0000"/>
                </a:solidFill>
                <a:effectLst/>
                <a:uLnTx/>
                <a:uFillTx/>
                <a:latin typeface="+mn-lt"/>
                <a:ea typeface="宋体" panose="02010600030101010101" pitchFamily="2" charset="-122"/>
              </a:rPr>
              <a:t>Isolation</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rPr>
              <a:t>—to separate the uses which clients make of the underlying resources (e.g., to improve security).</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
        <p:nvSpPr>
          <p:cNvPr id="4" name="Rectangle 2"/>
          <p:cNvSpPr txBox="1">
            <a:spLocks noChangeArrowheads="1"/>
          </p:cNvSpPr>
          <p:nvPr/>
        </p:nvSpPr>
        <p:spPr bwMode="auto">
          <a:xfrm>
            <a:off x="-25400" y="88900"/>
            <a:ext cx="2743200" cy="557213"/>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Virtualization</a:t>
            </a:r>
            <a:endParaRPr kumimoji="0" lang="en-US" altLang="zh-CN" sz="36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5" name="Rectangle 3"/>
          <p:cNvSpPr txBox="1">
            <a:spLocks noChangeArrowheads="1"/>
          </p:cNvSpPr>
          <p:nvPr/>
        </p:nvSpPr>
        <p:spPr bwMode="auto">
          <a:xfrm>
            <a:off x="274638" y="723900"/>
            <a:ext cx="8420100" cy="9969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50000"/>
              </a:lnSpc>
              <a:spcBef>
                <a:spcPct val="20000"/>
              </a:spcBef>
              <a:spcAft>
                <a:spcPct val="0"/>
              </a:spcAft>
              <a:buClr>
                <a:schemeClr val="accent2"/>
              </a:buClr>
              <a:buSzTx/>
              <a:buFontTx/>
              <a:buChar char="•"/>
              <a:defRPr/>
            </a:pP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虚拟化在</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70</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年代出现：操作系统中的虚拟处理机和虚拟存储器等，虚拟化技术可以将一个物理资源模拟成多个逻辑资源，使一台物理机部署多个应用，每个应用都独立运行在一个虚拟机里；网络技术的发展促进了这项技术的应用（一虚多、多虚一），比如云计算等。</a:t>
            </a:r>
            <a:endPar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Architecture &amp; Interfaces</a:t>
            </a:r>
            <a:endParaRPr lang="en-US" altLang="zh-CN" dirty="0">
              <a:ea typeface="宋体" panose="02010600030101010101" pitchFamily="2" charset="-122"/>
            </a:endParaRPr>
          </a:p>
        </p:txBody>
      </p:sp>
      <p:sp>
        <p:nvSpPr>
          <p:cNvPr id="39939" name="Rectangle 3"/>
          <p:cNvSpPr>
            <a:spLocks noGrp="1"/>
          </p:cNvSpPr>
          <p:nvPr>
            <p:ph idx="1"/>
          </p:nvPr>
        </p:nvSpPr>
        <p:spPr>
          <a:xfrm>
            <a:off x="3956050" y="1382713"/>
            <a:ext cx="5019675" cy="1047750"/>
          </a:xfrm>
        </p:spPr>
        <p:txBody>
          <a:bodyPr vert="horz" wrap="square" lIns="91440" tIns="45720" rIns="91440" bIns="45720" anchor="t" anchorCtr="0"/>
          <a:p>
            <a:pPr algn="l">
              <a:lnSpc>
                <a:spcPct val="90000"/>
              </a:lnSpc>
              <a:buFont typeface="Wingdings" panose="05000000000000000000" pitchFamily="2" charset="2"/>
              <a:buChar char="u"/>
            </a:pPr>
            <a:r>
              <a:rPr lang="en-US" altLang="zh-CN" sz="1800" dirty="0">
                <a:ea typeface="宋体" panose="02010600030101010101" pitchFamily="2" charset="-122"/>
              </a:rPr>
              <a:t>Architecture: formal specification of a system’s interface and the logical behavior of its visible resources.</a:t>
            </a:r>
            <a:endParaRPr lang="en-US" altLang="zh-CN" sz="1800" dirty="0">
              <a:ea typeface="宋体" panose="02010600030101010101" pitchFamily="2" charset="-122"/>
            </a:endParaRPr>
          </a:p>
        </p:txBody>
      </p:sp>
      <p:grpSp>
        <p:nvGrpSpPr>
          <p:cNvPr id="39940" name="组合 1"/>
          <p:cNvGrpSpPr/>
          <p:nvPr/>
        </p:nvGrpSpPr>
        <p:grpSpPr>
          <a:xfrm>
            <a:off x="4229100" y="2476500"/>
            <a:ext cx="4665663" cy="2625725"/>
            <a:chOff x="2192338" y="1905000"/>
            <a:chExt cx="4779962" cy="2751138"/>
          </a:xfrm>
        </p:grpSpPr>
        <p:grpSp>
          <p:nvGrpSpPr>
            <p:cNvPr id="39947" name="Group 28"/>
            <p:cNvGrpSpPr/>
            <p:nvPr/>
          </p:nvGrpSpPr>
          <p:grpSpPr>
            <a:xfrm>
              <a:off x="2990850" y="1905000"/>
              <a:ext cx="3589338" cy="2751138"/>
              <a:chOff x="864" y="1056"/>
              <a:chExt cx="2261" cy="1733"/>
            </a:xfrm>
          </p:grpSpPr>
          <p:sp>
            <p:nvSpPr>
              <p:cNvPr id="39965" name="Rectangle 4"/>
              <p:cNvSpPr/>
              <p:nvPr/>
            </p:nvSpPr>
            <p:spPr>
              <a:xfrm>
                <a:off x="864" y="2160"/>
                <a:ext cx="2256" cy="629"/>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39966" name="Text Box 5"/>
              <p:cNvSpPr txBox="1"/>
              <p:nvPr/>
            </p:nvSpPr>
            <p:spPr>
              <a:xfrm>
                <a:off x="1616" y="2496"/>
                <a:ext cx="638" cy="174"/>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i="1" dirty="0">
                    <a:latin typeface="Arial Black" panose="020B0A04020102020204" pitchFamily="34" charset="0"/>
                    <a:ea typeface="宋体" panose="02010600030101010101" pitchFamily="2" charset="-122"/>
                  </a:rPr>
                  <a:t>Hardware</a:t>
                </a:r>
                <a:endParaRPr lang="en-US" altLang="zh-CN" sz="1200" i="1" dirty="0">
                  <a:latin typeface="Arial Black" panose="020B0A04020102020204" pitchFamily="34" charset="0"/>
                  <a:ea typeface="宋体" panose="02010600030101010101" pitchFamily="2" charset="-122"/>
                </a:endParaRPr>
              </a:p>
            </p:txBody>
          </p:sp>
          <p:sp>
            <p:nvSpPr>
              <p:cNvPr id="39967" name="Text Box 6"/>
              <p:cNvSpPr txBox="1"/>
              <p:nvPr/>
            </p:nvSpPr>
            <p:spPr>
              <a:xfrm>
                <a:off x="1249" y="2160"/>
                <a:ext cx="719" cy="17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latin typeface="Arial Black" panose="020B0A04020102020204" pitchFamily="34" charset="0"/>
                    <a:ea typeface="宋体" panose="02010600030101010101" pitchFamily="2" charset="-122"/>
                  </a:rPr>
                  <a:t>System ISA</a:t>
                </a:r>
                <a:endParaRPr lang="en-US" altLang="zh-CN" sz="1200" dirty="0">
                  <a:latin typeface="Arial Black" panose="020B0A04020102020204" pitchFamily="34" charset="0"/>
                  <a:ea typeface="宋体" panose="02010600030101010101" pitchFamily="2" charset="-122"/>
                </a:endParaRPr>
              </a:p>
            </p:txBody>
          </p:sp>
          <p:sp>
            <p:nvSpPr>
              <p:cNvPr id="39968" name="Text Box 7"/>
              <p:cNvSpPr txBox="1"/>
              <p:nvPr/>
            </p:nvSpPr>
            <p:spPr>
              <a:xfrm>
                <a:off x="2496" y="2160"/>
                <a:ext cx="575" cy="17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latin typeface="Arial Black" panose="020B0A04020102020204" pitchFamily="34" charset="0"/>
                    <a:ea typeface="宋体" panose="02010600030101010101" pitchFamily="2" charset="-122"/>
                  </a:rPr>
                  <a:t>User ISA</a:t>
                </a:r>
                <a:endParaRPr lang="en-US" altLang="zh-CN" sz="1200" dirty="0">
                  <a:latin typeface="Arial Black" panose="020B0A04020102020204" pitchFamily="34" charset="0"/>
                  <a:ea typeface="宋体" panose="02010600030101010101" pitchFamily="2" charset="-122"/>
                </a:endParaRPr>
              </a:p>
            </p:txBody>
          </p:sp>
          <p:sp>
            <p:nvSpPr>
              <p:cNvPr id="39969" name="Rectangle 8"/>
              <p:cNvSpPr/>
              <p:nvPr/>
            </p:nvSpPr>
            <p:spPr>
              <a:xfrm>
                <a:off x="864" y="1680"/>
                <a:ext cx="1488" cy="48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39970" name="Text Box 9"/>
              <p:cNvSpPr txBox="1"/>
              <p:nvPr/>
            </p:nvSpPr>
            <p:spPr>
              <a:xfrm>
                <a:off x="909" y="1680"/>
                <a:ext cx="672" cy="349"/>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i="1" dirty="0">
                    <a:latin typeface="Arial Black" panose="020B0A04020102020204" pitchFamily="34" charset="0"/>
                    <a:ea typeface="宋体" panose="02010600030101010101" pitchFamily="2" charset="-122"/>
                  </a:rPr>
                  <a:t>Operating </a:t>
                </a:r>
                <a:endParaRPr lang="en-US" altLang="zh-CN" sz="1200" i="1" dirty="0">
                  <a:latin typeface="Arial Black" panose="020B0A04020102020204" pitchFamily="34" charset="0"/>
                  <a:ea typeface="宋体" panose="02010600030101010101" pitchFamily="2" charset="-122"/>
                </a:endParaRPr>
              </a:p>
              <a:p>
                <a:pPr marL="0" lvl="0" indent="0" eaLnBrk="1" hangingPunct="1">
                  <a:spcBef>
                    <a:spcPct val="50000"/>
                  </a:spcBef>
                  <a:buClrTx/>
                  <a:buNone/>
                </a:pPr>
                <a:r>
                  <a:rPr lang="en-US" altLang="zh-CN" sz="1200" i="1" dirty="0">
                    <a:latin typeface="Arial Black" panose="020B0A04020102020204" pitchFamily="34" charset="0"/>
                    <a:ea typeface="宋体" panose="02010600030101010101" pitchFamily="2" charset="-122"/>
                  </a:rPr>
                  <a:t>System</a:t>
                </a:r>
                <a:endParaRPr lang="en-US" altLang="zh-CN" sz="1200" i="1" dirty="0">
                  <a:latin typeface="Arial Black" panose="020B0A04020102020204" pitchFamily="34" charset="0"/>
                  <a:ea typeface="宋体" panose="02010600030101010101" pitchFamily="2" charset="-122"/>
                </a:endParaRPr>
              </a:p>
            </p:txBody>
          </p:sp>
          <p:grpSp>
            <p:nvGrpSpPr>
              <p:cNvPr id="39971" name="Group 15"/>
              <p:cNvGrpSpPr/>
              <p:nvPr/>
            </p:nvGrpSpPr>
            <p:grpSpPr>
              <a:xfrm>
                <a:off x="1560" y="1413"/>
                <a:ext cx="675" cy="363"/>
                <a:chOff x="1217" y="1173"/>
                <a:chExt cx="675" cy="363"/>
              </a:xfrm>
            </p:grpSpPr>
            <p:sp>
              <p:nvSpPr>
                <p:cNvPr id="39978" name="Text Box 10"/>
                <p:cNvSpPr txBox="1"/>
                <p:nvPr/>
              </p:nvSpPr>
              <p:spPr>
                <a:xfrm>
                  <a:off x="1217" y="1173"/>
                  <a:ext cx="675" cy="174"/>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ea typeface="宋体" panose="02010600030101010101" pitchFamily="2" charset="-122"/>
                    </a:rPr>
                    <a:t>System   Calls</a:t>
                  </a:r>
                  <a:endParaRPr lang="en-US" altLang="zh-CN" sz="1200" dirty="0">
                    <a:ea typeface="宋体" panose="02010600030101010101" pitchFamily="2" charset="-122"/>
                  </a:endParaRPr>
                </a:p>
              </p:txBody>
            </p:sp>
            <p:sp>
              <p:nvSpPr>
                <p:cNvPr id="39979" name="Line 11"/>
                <p:cNvSpPr/>
                <p:nvPr/>
              </p:nvSpPr>
              <p:spPr>
                <a:xfrm>
                  <a:off x="1296" y="1344"/>
                  <a:ext cx="0" cy="192"/>
                </a:xfrm>
                <a:prstGeom prst="line">
                  <a:avLst/>
                </a:prstGeom>
                <a:ln w="9525" cap="flat" cmpd="sng">
                  <a:solidFill>
                    <a:schemeClr val="tx1"/>
                  </a:solidFill>
                  <a:prstDash val="solid"/>
                  <a:headEnd type="none" w="med" len="med"/>
                  <a:tailEnd type="triangle" w="med" len="med"/>
                </a:ln>
              </p:spPr>
            </p:sp>
            <p:sp>
              <p:nvSpPr>
                <p:cNvPr id="39980" name="Line 12"/>
                <p:cNvSpPr/>
                <p:nvPr/>
              </p:nvSpPr>
              <p:spPr>
                <a:xfrm>
                  <a:off x="1488" y="1344"/>
                  <a:ext cx="0" cy="192"/>
                </a:xfrm>
                <a:prstGeom prst="line">
                  <a:avLst/>
                </a:prstGeom>
                <a:ln w="9525" cap="flat" cmpd="sng">
                  <a:solidFill>
                    <a:schemeClr val="tx1"/>
                  </a:solidFill>
                  <a:prstDash val="solid"/>
                  <a:headEnd type="none" w="med" len="med"/>
                  <a:tailEnd type="triangle" w="med" len="med"/>
                </a:ln>
              </p:spPr>
            </p:sp>
            <p:sp>
              <p:nvSpPr>
                <p:cNvPr id="39981" name="Line 13"/>
                <p:cNvSpPr/>
                <p:nvPr/>
              </p:nvSpPr>
              <p:spPr>
                <a:xfrm>
                  <a:off x="1728" y="1344"/>
                  <a:ext cx="0" cy="192"/>
                </a:xfrm>
                <a:prstGeom prst="line">
                  <a:avLst/>
                </a:prstGeom>
                <a:ln w="9525" cap="flat" cmpd="sng">
                  <a:solidFill>
                    <a:schemeClr val="tx1"/>
                  </a:solidFill>
                  <a:prstDash val="solid"/>
                  <a:headEnd type="none" w="med" len="med"/>
                  <a:tailEnd type="triangle" w="med" len="med"/>
                </a:ln>
              </p:spPr>
            </p:sp>
          </p:grpSp>
          <p:sp>
            <p:nvSpPr>
              <p:cNvPr id="39972" name="Rectangle 14"/>
              <p:cNvSpPr/>
              <p:nvPr/>
            </p:nvSpPr>
            <p:spPr>
              <a:xfrm>
                <a:off x="864" y="1296"/>
                <a:ext cx="1056" cy="38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39973" name="Text Box 16"/>
              <p:cNvSpPr txBox="1"/>
              <p:nvPr/>
            </p:nvSpPr>
            <p:spPr>
              <a:xfrm>
                <a:off x="909" y="1344"/>
                <a:ext cx="588" cy="174"/>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i="1" dirty="0">
                    <a:latin typeface="Arial Black" panose="020B0A04020102020204" pitchFamily="34" charset="0"/>
                    <a:ea typeface="宋体" panose="02010600030101010101" pitchFamily="2" charset="-122"/>
                  </a:rPr>
                  <a:t>Libraries</a:t>
                </a:r>
                <a:endParaRPr lang="en-US" altLang="zh-CN" sz="1200" i="1" dirty="0">
                  <a:latin typeface="Arial Black" panose="020B0A04020102020204" pitchFamily="34" charset="0"/>
                  <a:ea typeface="宋体" panose="02010600030101010101" pitchFamily="2" charset="-122"/>
                </a:endParaRPr>
              </a:p>
            </p:txBody>
          </p:sp>
          <p:sp>
            <p:nvSpPr>
              <p:cNvPr id="39974" name="Line 17"/>
              <p:cNvSpPr/>
              <p:nvPr/>
            </p:nvSpPr>
            <p:spPr>
              <a:xfrm flipV="1">
                <a:off x="864" y="1056"/>
                <a:ext cx="0" cy="240"/>
              </a:xfrm>
              <a:prstGeom prst="line">
                <a:avLst/>
              </a:prstGeom>
              <a:ln w="9525" cap="flat" cmpd="sng">
                <a:solidFill>
                  <a:schemeClr val="tx1"/>
                </a:solidFill>
                <a:prstDash val="solid"/>
                <a:headEnd type="none" w="med" len="med"/>
                <a:tailEnd type="none" w="med" len="med"/>
              </a:ln>
            </p:spPr>
          </p:sp>
          <p:sp>
            <p:nvSpPr>
              <p:cNvPr id="39975" name="Line 18"/>
              <p:cNvSpPr/>
              <p:nvPr/>
            </p:nvSpPr>
            <p:spPr>
              <a:xfrm>
                <a:off x="864" y="1056"/>
                <a:ext cx="2256" cy="0"/>
              </a:xfrm>
              <a:prstGeom prst="line">
                <a:avLst/>
              </a:prstGeom>
              <a:ln w="9525" cap="flat" cmpd="sng">
                <a:solidFill>
                  <a:schemeClr val="tx1"/>
                </a:solidFill>
                <a:prstDash val="solid"/>
                <a:headEnd type="none" w="med" len="med"/>
                <a:tailEnd type="none" w="med" len="med"/>
              </a:ln>
            </p:spPr>
          </p:sp>
          <p:sp>
            <p:nvSpPr>
              <p:cNvPr id="39976" name="Line 19"/>
              <p:cNvSpPr/>
              <p:nvPr/>
            </p:nvSpPr>
            <p:spPr>
              <a:xfrm flipV="1">
                <a:off x="3120" y="1056"/>
                <a:ext cx="0" cy="1104"/>
              </a:xfrm>
              <a:prstGeom prst="line">
                <a:avLst/>
              </a:prstGeom>
              <a:ln w="9525" cap="flat" cmpd="sng">
                <a:solidFill>
                  <a:schemeClr val="tx1"/>
                </a:solidFill>
                <a:prstDash val="solid"/>
                <a:headEnd type="none" w="med" len="med"/>
                <a:tailEnd type="none" w="med" len="med"/>
              </a:ln>
            </p:spPr>
          </p:sp>
          <p:sp>
            <p:nvSpPr>
              <p:cNvPr id="39977" name="Text Box 21"/>
              <p:cNvSpPr txBox="1"/>
              <p:nvPr/>
            </p:nvSpPr>
            <p:spPr>
              <a:xfrm>
                <a:off x="2352" y="1104"/>
                <a:ext cx="773" cy="17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i="1" dirty="0">
                    <a:latin typeface="Arial Black" panose="020B0A04020102020204" pitchFamily="34" charset="0"/>
                    <a:ea typeface="宋体" panose="02010600030101010101" pitchFamily="2" charset="-122"/>
                  </a:rPr>
                  <a:t>Applications</a:t>
                </a:r>
                <a:endParaRPr lang="en-US" altLang="zh-CN" sz="1200" i="1" dirty="0">
                  <a:latin typeface="Arial Black" panose="020B0A04020102020204" pitchFamily="34" charset="0"/>
                  <a:ea typeface="宋体" panose="02010600030101010101" pitchFamily="2" charset="-122"/>
                </a:endParaRPr>
              </a:p>
            </p:txBody>
          </p:sp>
        </p:grpSp>
        <p:grpSp>
          <p:nvGrpSpPr>
            <p:cNvPr id="39948" name="Group 54"/>
            <p:cNvGrpSpPr/>
            <p:nvPr/>
          </p:nvGrpSpPr>
          <p:grpSpPr>
            <a:xfrm>
              <a:off x="2197100" y="3352795"/>
              <a:ext cx="4775200" cy="276225"/>
              <a:chOff x="1384" y="2112"/>
              <a:chExt cx="3008" cy="174"/>
            </a:xfrm>
          </p:grpSpPr>
          <p:sp>
            <p:nvSpPr>
              <p:cNvPr id="39963" name="Line 23"/>
              <p:cNvSpPr/>
              <p:nvPr/>
            </p:nvSpPr>
            <p:spPr>
              <a:xfrm>
                <a:off x="1656" y="2256"/>
                <a:ext cx="2736" cy="0"/>
              </a:xfrm>
              <a:prstGeom prst="line">
                <a:avLst/>
              </a:prstGeom>
              <a:ln w="38100" cap="flat" cmpd="sng">
                <a:solidFill>
                  <a:srgbClr val="FF0000"/>
                </a:solidFill>
                <a:prstDash val="solid"/>
                <a:headEnd type="none" w="med" len="med"/>
                <a:tailEnd type="none" w="med" len="med"/>
              </a:ln>
            </p:spPr>
          </p:sp>
          <p:sp>
            <p:nvSpPr>
              <p:cNvPr id="39964" name="Text Box 24"/>
              <p:cNvSpPr txBox="1"/>
              <p:nvPr/>
            </p:nvSpPr>
            <p:spPr>
              <a:xfrm>
                <a:off x="1384" y="2112"/>
                <a:ext cx="277" cy="174"/>
              </a:xfrm>
              <a:prstGeom prst="rect">
                <a:avLst/>
              </a:prstGeom>
              <a:noFill/>
              <a:ln w="38100">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b="1" dirty="0">
                    <a:solidFill>
                      <a:srgbClr val="FF0000"/>
                    </a:solidFill>
                    <a:ea typeface="宋体" panose="02010600030101010101" pitchFamily="2" charset="-122"/>
                  </a:rPr>
                  <a:t>ISA</a:t>
                </a:r>
                <a:endParaRPr lang="en-US" altLang="zh-CN" sz="1200" b="1" dirty="0">
                  <a:solidFill>
                    <a:srgbClr val="FF0000"/>
                  </a:solidFill>
                  <a:ea typeface="宋体" panose="02010600030101010101" pitchFamily="2" charset="-122"/>
                </a:endParaRPr>
              </a:p>
            </p:txBody>
          </p:sp>
        </p:grpSp>
        <p:grpSp>
          <p:nvGrpSpPr>
            <p:cNvPr id="39949" name="Group 53"/>
            <p:cNvGrpSpPr/>
            <p:nvPr/>
          </p:nvGrpSpPr>
          <p:grpSpPr>
            <a:xfrm>
              <a:off x="2212975" y="2605088"/>
              <a:ext cx="4740275" cy="900112"/>
              <a:chOff x="1394" y="1641"/>
              <a:chExt cx="2986" cy="567"/>
            </a:xfrm>
          </p:grpSpPr>
          <p:grpSp>
            <p:nvGrpSpPr>
              <p:cNvPr id="39958" name="Group 45"/>
              <p:cNvGrpSpPr/>
              <p:nvPr/>
            </p:nvGrpSpPr>
            <p:grpSpPr>
              <a:xfrm>
                <a:off x="1692" y="1776"/>
                <a:ext cx="2688" cy="432"/>
                <a:chOff x="672" y="1632"/>
                <a:chExt cx="2688" cy="432"/>
              </a:xfrm>
            </p:grpSpPr>
            <p:sp>
              <p:nvSpPr>
                <p:cNvPr id="39960" name="Line 25"/>
                <p:cNvSpPr/>
                <p:nvPr/>
              </p:nvSpPr>
              <p:spPr>
                <a:xfrm>
                  <a:off x="672" y="1632"/>
                  <a:ext cx="1824" cy="0"/>
                </a:xfrm>
                <a:prstGeom prst="line">
                  <a:avLst/>
                </a:prstGeom>
                <a:ln w="38100" cap="flat" cmpd="sng">
                  <a:solidFill>
                    <a:srgbClr val="3399FF"/>
                  </a:solidFill>
                  <a:prstDash val="solid"/>
                  <a:headEnd type="none" w="med" len="med"/>
                  <a:tailEnd type="none" w="med" len="med"/>
                </a:ln>
              </p:spPr>
            </p:sp>
            <p:sp>
              <p:nvSpPr>
                <p:cNvPr id="39961" name="Line 26"/>
                <p:cNvSpPr/>
                <p:nvPr/>
              </p:nvSpPr>
              <p:spPr>
                <a:xfrm>
                  <a:off x="2496" y="1632"/>
                  <a:ext cx="0" cy="432"/>
                </a:xfrm>
                <a:prstGeom prst="line">
                  <a:avLst/>
                </a:prstGeom>
                <a:ln w="38100" cap="flat" cmpd="sng">
                  <a:solidFill>
                    <a:srgbClr val="3399FF"/>
                  </a:solidFill>
                  <a:prstDash val="solid"/>
                  <a:headEnd type="none" w="med" len="med"/>
                  <a:tailEnd type="none" w="med" len="med"/>
                </a:ln>
              </p:spPr>
            </p:sp>
            <p:sp>
              <p:nvSpPr>
                <p:cNvPr id="39962" name="Line 32"/>
                <p:cNvSpPr/>
                <p:nvPr/>
              </p:nvSpPr>
              <p:spPr>
                <a:xfrm>
                  <a:off x="2496" y="2064"/>
                  <a:ext cx="864" cy="0"/>
                </a:xfrm>
                <a:prstGeom prst="line">
                  <a:avLst/>
                </a:prstGeom>
                <a:ln w="38100" cap="flat" cmpd="sng">
                  <a:solidFill>
                    <a:srgbClr val="3399FF"/>
                  </a:solidFill>
                  <a:prstDash val="solid"/>
                  <a:headEnd type="none" w="med" len="med"/>
                  <a:tailEnd type="none" w="med" len="med"/>
                </a:ln>
              </p:spPr>
            </p:sp>
          </p:grpSp>
          <p:sp>
            <p:nvSpPr>
              <p:cNvPr id="39959" name="Text Box 34"/>
              <p:cNvSpPr txBox="1"/>
              <p:nvPr/>
            </p:nvSpPr>
            <p:spPr>
              <a:xfrm>
                <a:off x="1394" y="1641"/>
                <a:ext cx="288" cy="174"/>
              </a:xfrm>
              <a:prstGeom prst="rect">
                <a:avLst/>
              </a:prstGeom>
              <a:noFill/>
              <a:ln w="38100">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b="1" dirty="0">
                    <a:solidFill>
                      <a:srgbClr val="3399FF"/>
                    </a:solidFill>
                    <a:ea typeface="宋体" panose="02010600030101010101" pitchFamily="2" charset="-122"/>
                  </a:rPr>
                  <a:t>ABI</a:t>
                </a:r>
                <a:endParaRPr lang="en-US" altLang="zh-CN" sz="1200" b="1" dirty="0">
                  <a:solidFill>
                    <a:srgbClr val="3399FF"/>
                  </a:solidFill>
                  <a:ea typeface="宋体" panose="02010600030101010101" pitchFamily="2" charset="-122"/>
                </a:endParaRPr>
              </a:p>
            </p:txBody>
          </p:sp>
        </p:grpSp>
        <p:grpSp>
          <p:nvGrpSpPr>
            <p:cNvPr id="39950" name="Group 52"/>
            <p:cNvGrpSpPr/>
            <p:nvPr/>
          </p:nvGrpSpPr>
          <p:grpSpPr>
            <a:xfrm>
              <a:off x="2192338" y="1995488"/>
              <a:ext cx="4760913" cy="1433512"/>
              <a:chOff x="1381" y="1257"/>
              <a:chExt cx="2999" cy="903"/>
            </a:xfrm>
          </p:grpSpPr>
          <p:sp>
            <p:nvSpPr>
              <p:cNvPr id="39951" name="Text Box 40"/>
              <p:cNvSpPr txBox="1"/>
              <p:nvPr/>
            </p:nvSpPr>
            <p:spPr>
              <a:xfrm>
                <a:off x="1381" y="1257"/>
                <a:ext cx="283" cy="174"/>
              </a:xfrm>
              <a:prstGeom prst="rect">
                <a:avLst/>
              </a:prstGeom>
              <a:noFill/>
              <a:ln w="38100">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b="1" dirty="0">
                    <a:solidFill>
                      <a:srgbClr val="66FF33"/>
                    </a:solidFill>
                    <a:ea typeface="宋体" panose="02010600030101010101" pitchFamily="2" charset="-122"/>
                  </a:rPr>
                  <a:t>API</a:t>
                </a:r>
                <a:endParaRPr lang="en-US" altLang="zh-CN" sz="1200" b="1" dirty="0">
                  <a:solidFill>
                    <a:srgbClr val="66FF33"/>
                  </a:solidFill>
                  <a:ea typeface="宋体" panose="02010600030101010101" pitchFamily="2" charset="-122"/>
                </a:endParaRPr>
              </a:p>
            </p:txBody>
          </p:sp>
          <p:grpSp>
            <p:nvGrpSpPr>
              <p:cNvPr id="39952" name="Group 44"/>
              <p:cNvGrpSpPr/>
              <p:nvPr/>
            </p:nvGrpSpPr>
            <p:grpSpPr>
              <a:xfrm>
                <a:off x="1692" y="1392"/>
                <a:ext cx="2688" cy="768"/>
                <a:chOff x="672" y="1248"/>
                <a:chExt cx="2688" cy="768"/>
              </a:xfrm>
            </p:grpSpPr>
            <p:sp>
              <p:nvSpPr>
                <p:cNvPr id="39953" name="Line 37"/>
                <p:cNvSpPr/>
                <p:nvPr/>
              </p:nvSpPr>
              <p:spPr>
                <a:xfrm>
                  <a:off x="1968" y="1248"/>
                  <a:ext cx="0" cy="336"/>
                </a:xfrm>
                <a:prstGeom prst="line">
                  <a:avLst/>
                </a:prstGeom>
                <a:ln w="38100" cap="flat" cmpd="sng">
                  <a:solidFill>
                    <a:srgbClr val="66FF33"/>
                  </a:solidFill>
                  <a:prstDash val="solid"/>
                  <a:headEnd type="none" w="med" len="med"/>
                  <a:tailEnd type="none" w="med" len="med"/>
                </a:ln>
              </p:spPr>
            </p:sp>
            <p:sp>
              <p:nvSpPr>
                <p:cNvPr id="39954" name="Line 36"/>
                <p:cNvSpPr/>
                <p:nvPr/>
              </p:nvSpPr>
              <p:spPr>
                <a:xfrm>
                  <a:off x="672" y="1248"/>
                  <a:ext cx="1296" cy="0"/>
                </a:xfrm>
                <a:prstGeom prst="line">
                  <a:avLst/>
                </a:prstGeom>
                <a:ln w="38100" cap="flat" cmpd="sng">
                  <a:solidFill>
                    <a:srgbClr val="66FF33"/>
                  </a:solidFill>
                  <a:prstDash val="solid"/>
                  <a:headEnd type="none" w="med" len="med"/>
                  <a:tailEnd type="none" w="med" len="med"/>
                </a:ln>
              </p:spPr>
            </p:sp>
            <p:sp>
              <p:nvSpPr>
                <p:cNvPr id="39955" name="Line 38"/>
                <p:cNvSpPr/>
                <p:nvPr/>
              </p:nvSpPr>
              <p:spPr>
                <a:xfrm>
                  <a:off x="1968" y="1584"/>
                  <a:ext cx="624" cy="0"/>
                </a:xfrm>
                <a:prstGeom prst="line">
                  <a:avLst/>
                </a:prstGeom>
                <a:ln w="38100" cap="flat" cmpd="sng">
                  <a:solidFill>
                    <a:srgbClr val="66FF33"/>
                  </a:solidFill>
                  <a:prstDash val="solid"/>
                  <a:headEnd type="none" w="med" len="med"/>
                  <a:tailEnd type="none" w="med" len="med"/>
                </a:ln>
              </p:spPr>
            </p:sp>
            <p:sp>
              <p:nvSpPr>
                <p:cNvPr id="39956" name="Line 41"/>
                <p:cNvSpPr/>
                <p:nvPr/>
              </p:nvSpPr>
              <p:spPr>
                <a:xfrm>
                  <a:off x="2592" y="1584"/>
                  <a:ext cx="0" cy="432"/>
                </a:xfrm>
                <a:prstGeom prst="line">
                  <a:avLst/>
                </a:prstGeom>
                <a:ln w="38100" cap="flat" cmpd="sng">
                  <a:solidFill>
                    <a:srgbClr val="66FF33"/>
                  </a:solidFill>
                  <a:prstDash val="solid"/>
                  <a:headEnd type="none" w="med" len="med"/>
                  <a:tailEnd type="none" w="med" len="med"/>
                </a:ln>
              </p:spPr>
            </p:sp>
            <p:sp>
              <p:nvSpPr>
                <p:cNvPr id="39957" name="Line 42"/>
                <p:cNvSpPr/>
                <p:nvPr/>
              </p:nvSpPr>
              <p:spPr>
                <a:xfrm>
                  <a:off x="2592" y="2016"/>
                  <a:ext cx="768" cy="0"/>
                </a:xfrm>
                <a:prstGeom prst="line">
                  <a:avLst/>
                </a:prstGeom>
                <a:ln w="38100" cap="flat" cmpd="sng">
                  <a:solidFill>
                    <a:srgbClr val="66FF33"/>
                  </a:solidFill>
                  <a:prstDash val="solid"/>
                  <a:headEnd type="none" w="med" len="med"/>
                  <a:tailEnd type="none" w="med" len="med"/>
                </a:ln>
              </p:spPr>
            </p:sp>
          </p:grpSp>
        </p:grpSp>
      </p:grpSp>
      <p:grpSp>
        <p:nvGrpSpPr>
          <p:cNvPr id="39941" name="组合 2"/>
          <p:cNvGrpSpPr/>
          <p:nvPr/>
        </p:nvGrpSpPr>
        <p:grpSpPr>
          <a:xfrm>
            <a:off x="4387850" y="5375275"/>
            <a:ext cx="4513263" cy="1219200"/>
            <a:chOff x="457200" y="5105400"/>
            <a:chExt cx="5181600" cy="1219200"/>
          </a:xfrm>
        </p:grpSpPr>
        <p:sp>
          <p:nvSpPr>
            <p:cNvPr id="39944" name="Rectangle 47"/>
            <p:cNvSpPr/>
            <p:nvPr/>
          </p:nvSpPr>
          <p:spPr>
            <a:xfrm>
              <a:off x="457200" y="5105400"/>
              <a:ext cx="5181600" cy="4572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90000"/>
                </a:lnSpc>
                <a:buClr>
                  <a:schemeClr val="accent1"/>
                </a:buClr>
                <a:buSzPct val="75000"/>
                <a:buFont typeface="Wingdings" panose="05000000000000000000" pitchFamily="2" charset="2"/>
                <a:buChar char="n"/>
              </a:pPr>
              <a:r>
                <a:rPr lang="en-US" altLang="zh-CN" sz="1800" b="1" dirty="0">
                  <a:solidFill>
                    <a:srgbClr val="66FF33"/>
                  </a:solidFill>
                  <a:ea typeface="宋体" panose="02010600030101010101" pitchFamily="2" charset="-122"/>
                </a:rPr>
                <a:t>API</a:t>
              </a:r>
              <a:r>
                <a:rPr lang="en-US" altLang="zh-CN" sz="1800" dirty="0">
                  <a:ea typeface="宋体" panose="02010600030101010101" pitchFamily="2" charset="-122"/>
                </a:rPr>
                <a:t> – application programming interface</a:t>
              </a:r>
              <a:endParaRPr lang="en-US" altLang="zh-CN" sz="1800" dirty="0">
                <a:ea typeface="宋体" panose="02010600030101010101" pitchFamily="2" charset="-122"/>
              </a:endParaRPr>
            </a:p>
          </p:txBody>
        </p:sp>
        <p:sp>
          <p:nvSpPr>
            <p:cNvPr id="39945" name="Rectangle 50"/>
            <p:cNvSpPr/>
            <p:nvPr/>
          </p:nvSpPr>
          <p:spPr>
            <a:xfrm>
              <a:off x="457200" y="5486400"/>
              <a:ext cx="4495800" cy="4572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90000"/>
                </a:lnSpc>
                <a:buClr>
                  <a:schemeClr val="accent1"/>
                </a:buClr>
                <a:buSzPct val="75000"/>
                <a:buFont typeface="Wingdings" panose="05000000000000000000" pitchFamily="2" charset="2"/>
                <a:buChar char="n"/>
              </a:pPr>
              <a:r>
                <a:rPr lang="en-US" altLang="zh-CN" sz="1800" b="1" dirty="0">
                  <a:solidFill>
                    <a:srgbClr val="3399FF"/>
                  </a:solidFill>
                  <a:ea typeface="宋体" panose="02010600030101010101" pitchFamily="2" charset="-122"/>
                </a:rPr>
                <a:t>ABI</a:t>
              </a:r>
              <a:r>
                <a:rPr lang="en-US" altLang="zh-CN" sz="1800" dirty="0">
                  <a:ea typeface="宋体" panose="02010600030101010101" pitchFamily="2" charset="-122"/>
                </a:rPr>
                <a:t> – application binary interface</a:t>
              </a:r>
              <a:endParaRPr lang="en-US" altLang="zh-CN" sz="1800" dirty="0">
                <a:ea typeface="宋体" panose="02010600030101010101" pitchFamily="2" charset="-122"/>
              </a:endParaRPr>
            </a:p>
            <a:p>
              <a:pPr marL="342900" lvl="0" indent="-342900" algn="l" eaLnBrk="1" hangingPunct="1">
                <a:lnSpc>
                  <a:spcPct val="90000"/>
                </a:lnSpc>
                <a:buClr>
                  <a:schemeClr val="accent1"/>
                </a:buClr>
                <a:buSzPct val="75000"/>
                <a:buFont typeface="Wingdings" panose="05000000000000000000" pitchFamily="2" charset="2"/>
                <a:buNone/>
              </a:pPr>
              <a:endParaRPr lang="en-US" altLang="zh-CN" sz="1800" dirty="0">
                <a:ea typeface="宋体" panose="02010600030101010101" pitchFamily="2" charset="-122"/>
              </a:endParaRPr>
            </a:p>
          </p:txBody>
        </p:sp>
        <p:sp>
          <p:nvSpPr>
            <p:cNvPr id="39946" name="Rectangle 51"/>
            <p:cNvSpPr/>
            <p:nvPr/>
          </p:nvSpPr>
          <p:spPr>
            <a:xfrm>
              <a:off x="457200" y="5867400"/>
              <a:ext cx="4495800" cy="4572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90000"/>
                </a:lnSpc>
                <a:buClr>
                  <a:schemeClr val="accent1"/>
                </a:buClr>
                <a:buSzPct val="75000"/>
                <a:buFont typeface="Wingdings" panose="05000000000000000000" pitchFamily="2" charset="2"/>
                <a:buChar char="n"/>
              </a:pPr>
              <a:r>
                <a:rPr lang="en-US" altLang="zh-CN" sz="1800" b="1" dirty="0">
                  <a:solidFill>
                    <a:srgbClr val="FF0000"/>
                  </a:solidFill>
                  <a:ea typeface="宋体" panose="02010600030101010101" pitchFamily="2" charset="-122"/>
                </a:rPr>
                <a:t>ISA</a:t>
              </a:r>
              <a:r>
                <a:rPr lang="en-US" altLang="zh-CN" sz="1800" dirty="0">
                  <a:ea typeface="宋体" panose="02010600030101010101" pitchFamily="2" charset="-122"/>
                </a:rPr>
                <a:t> – instruction set architecture</a:t>
              </a:r>
              <a:endParaRPr lang="en-US" altLang="zh-CN" sz="1800" dirty="0">
                <a:ea typeface="宋体" panose="02010600030101010101" pitchFamily="2" charset="-122"/>
              </a:endParaRPr>
            </a:p>
          </p:txBody>
        </p:sp>
      </p:grpSp>
      <p:sp>
        <p:nvSpPr>
          <p:cNvPr id="44" name="Rectangle 3"/>
          <p:cNvSpPr txBox="1">
            <a:spLocks noChangeArrowheads="1"/>
          </p:cNvSpPr>
          <p:nvPr/>
        </p:nvSpPr>
        <p:spPr bwMode="auto">
          <a:xfrm>
            <a:off x="407988" y="1347788"/>
            <a:ext cx="3432175" cy="6223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Various interfaces offered by computer systems.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39943" name="Picture 4" descr="03-06"/>
          <p:cNvPicPr>
            <a:picLocks noChangeAspect="1"/>
          </p:cNvPicPr>
          <p:nvPr/>
        </p:nvPicPr>
        <p:blipFill>
          <a:blip r:embed="rId1"/>
          <a:stretch>
            <a:fillRect/>
          </a:stretch>
        </p:blipFill>
        <p:spPr>
          <a:xfrm>
            <a:off x="176213" y="2640013"/>
            <a:ext cx="3956050" cy="236855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Levels of Virtualization</a:t>
            </a:r>
            <a:endParaRPr lang="zh-CN" altLang="en-US" dirty="0">
              <a:ea typeface="宋体" panose="02010600030101010101" pitchFamily="2" charset="-122"/>
            </a:endParaRPr>
          </a:p>
        </p:txBody>
      </p:sp>
      <p:graphicFrame>
        <p:nvGraphicFramePr>
          <p:cNvPr id="4" name="内容占位符 3"/>
          <p:cNvGraphicFramePr>
            <a:graphicFrameLocks noGrp="1"/>
          </p:cNvGraphicFramePr>
          <p:nvPr>
            <p:ph idx="1"/>
          </p:nvPr>
        </p:nvGraphicFramePr>
        <p:xfrm>
          <a:off x="-1" y="1405269"/>
          <a:ext cx="9069186" cy="48006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0964" name="下箭头 1"/>
          <p:cNvSpPr/>
          <p:nvPr/>
        </p:nvSpPr>
        <p:spPr>
          <a:xfrm>
            <a:off x="8678863" y="1928813"/>
            <a:ext cx="198437" cy="3400425"/>
          </a:xfrm>
          <a:prstGeom prst="downArrow">
            <a:avLst>
              <a:gd name="adj1" fmla="val 50000"/>
              <a:gd name="adj2" fmla="val 50297"/>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40965" name="下箭头 2"/>
          <p:cNvSpPr/>
          <p:nvPr/>
        </p:nvSpPr>
        <p:spPr>
          <a:xfrm>
            <a:off x="8396288" y="1720850"/>
            <a:ext cx="223837" cy="3608388"/>
          </a:xfrm>
          <a:prstGeom prst="downArrow">
            <a:avLst>
              <a:gd name="adj1" fmla="val 50000"/>
              <a:gd name="adj2" fmla="val 50152"/>
            </a:avLst>
          </a:prstGeom>
          <a:solidFill>
            <a:srgbClr val="92D050"/>
          </a:solid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Origins - Principles</a:t>
            </a:r>
            <a:endParaRPr lang="en-US" altLang="zh-CN" dirty="0">
              <a:ea typeface="宋体" panose="02010600030101010101" pitchFamily="2" charset="-122"/>
            </a:endParaRPr>
          </a:p>
        </p:txBody>
      </p:sp>
      <p:sp>
        <p:nvSpPr>
          <p:cNvPr id="41987" name="Rectangle 3"/>
          <p:cNvSpPr>
            <a:spLocks noGrp="1"/>
          </p:cNvSpPr>
          <p:nvPr>
            <p:ph idx="1"/>
          </p:nvPr>
        </p:nvSpPr>
        <p:spPr>
          <a:xfrm>
            <a:off x="171450" y="3697288"/>
            <a:ext cx="4378325" cy="2951162"/>
          </a:xfrm>
        </p:spPr>
        <p:txBody>
          <a:bodyPr vert="horz" wrap="square" lIns="91440" tIns="45720" rIns="91440" bIns="45720" anchor="t" anchorCtr="0"/>
          <a:p>
            <a:pPr algn="l">
              <a:lnSpc>
                <a:spcPct val="80000"/>
              </a:lnSpc>
            </a:pPr>
            <a:r>
              <a:rPr lang="en-US" altLang="zh-CN" sz="1600" dirty="0">
                <a:ea typeface="宋体" panose="02010600030101010101" pitchFamily="2" charset="-122"/>
              </a:rPr>
              <a:t>Efficiency(</a:t>
            </a:r>
            <a:r>
              <a:rPr lang="zh-CN" altLang="en-US" sz="1400" dirty="0">
                <a:ea typeface="宋体" panose="02010600030101010101" pitchFamily="2" charset="-122"/>
              </a:rPr>
              <a:t>无害指令应直接在硬件上执行</a:t>
            </a:r>
            <a:r>
              <a:rPr lang="en-US" altLang="zh-CN" sz="1600" dirty="0">
                <a:ea typeface="宋体" panose="02010600030101010101" pitchFamily="2" charset="-122"/>
              </a:rPr>
              <a:t>)</a:t>
            </a:r>
            <a:endParaRPr lang="en-US" altLang="zh-CN" sz="1600" dirty="0">
              <a:ea typeface="宋体" panose="02010600030101010101" pitchFamily="2" charset="-122"/>
            </a:endParaRPr>
          </a:p>
          <a:p>
            <a:pPr lvl="1">
              <a:lnSpc>
                <a:spcPct val="80000"/>
              </a:lnSpc>
            </a:pPr>
            <a:r>
              <a:rPr lang="en-US" altLang="zh-CN" sz="1600" dirty="0">
                <a:ea typeface="宋体" panose="02010600030101010101" pitchFamily="2" charset="-122"/>
              </a:rPr>
              <a:t>Innocuous instructions should execute directly on the hardware;</a:t>
            </a:r>
            <a:endParaRPr lang="en-US" altLang="zh-CN" sz="1600" dirty="0">
              <a:ea typeface="宋体" panose="02010600030101010101" pitchFamily="2" charset="-122"/>
            </a:endParaRPr>
          </a:p>
          <a:p>
            <a:pPr algn="l">
              <a:lnSpc>
                <a:spcPct val="80000"/>
              </a:lnSpc>
            </a:pPr>
            <a:r>
              <a:rPr lang="en-US" altLang="zh-CN" sz="1600" dirty="0">
                <a:ea typeface="宋体" panose="02010600030101010101" pitchFamily="2" charset="-122"/>
              </a:rPr>
              <a:t>Resource control(</a:t>
            </a:r>
            <a:r>
              <a:rPr lang="zh-CN" altLang="en-US" sz="1400" dirty="0">
                <a:ea typeface="宋体" panose="02010600030101010101" pitchFamily="2" charset="-122"/>
              </a:rPr>
              <a:t>不会影响系统资源</a:t>
            </a:r>
            <a:r>
              <a:rPr lang="en-US" altLang="zh-CN" sz="1600" dirty="0">
                <a:ea typeface="宋体" panose="02010600030101010101" pitchFamily="2" charset="-122"/>
              </a:rPr>
              <a:t>)</a:t>
            </a:r>
            <a:endParaRPr lang="en-US" altLang="zh-CN" sz="1600" dirty="0">
              <a:ea typeface="宋体" panose="02010600030101010101" pitchFamily="2" charset="-122"/>
            </a:endParaRPr>
          </a:p>
          <a:p>
            <a:pPr lvl="1">
              <a:lnSpc>
                <a:spcPct val="80000"/>
              </a:lnSpc>
            </a:pPr>
            <a:r>
              <a:rPr lang="en-US" altLang="zh-CN" sz="1600" dirty="0">
                <a:ea typeface="宋体" panose="02010600030101010101" pitchFamily="2" charset="-122"/>
              </a:rPr>
              <a:t>Executed programs may not affect the system resources;</a:t>
            </a:r>
            <a:endParaRPr lang="en-US" altLang="zh-CN" sz="1600" dirty="0">
              <a:ea typeface="宋体" panose="02010600030101010101" pitchFamily="2" charset="-122"/>
            </a:endParaRPr>
          </a:p>
          <a:p>
            <a:pPr algn="l">
              <a:lnSpc>
                <a:spcPct val="80000"/>
              </a:lnSpc>
            </a:pPr>
            <a:r>
              <a:rPr lang="en-US" altLang="zh-CN" sz="1600" dirty="0">
                <a:ea typeface="宋体" panose="02010600030101010101" pitchFamily="2" charset="-122"/>
              </a:rPr>
              <a:t>Equivalence</a:t>
            </a:r>
            <a:r>
              <a:rPr lang="en-US" altLang="zh-CN" sz="1400" dirty="0">
                <a:ea typeface="宋体" panose="02010600030101010101" pitchFamily="2" charset="-122"/>
              </a:rPr>
              <a:t>(</a:t>
            </a:r>
            <a:r>
              <a:rPr lang="zh-CN" altLang="en-US" sz="1400" dirty="0">
                <a:ea typeface="宋体" panose="02010600030101010101" pitchFamily="2" charset="-122"/>
              </a:rPr>
              <a:t>在</a:t>
            </a:r>
            <a:r>
              <a:rPr lang="en-US" altLang="zh-CN" sz="1400" dirty="0">
                <a:ea typeface="宋体" panose="02010600030101010101" pitchFamily="2" charset="-122"/>
              </a:rPr>
              <a:t>VMM</a:t>
            </a:r>
            <a:r>
              <a:rPr lang="zh-CN" altLang="en-US" sz="1400" dirty="0">
                <a:ea typeface="宋体" panose="02010600030101010101" pitchFamily="2" charset="-122"/>
              </a:rPr>
              <a:t>执行的程序的行为与程序直接在硬件上执行相同</a:t>
            </a:r>
            <a:r>
              <a:rPr lang="en-US" altLang="zh-CN" sz="1400" dirty="0">
                <a:ea typeface="宋体" panose="02010600030101010101" pitchFamily="2" charset="-122"/>
              </a:rPr>
              <a:t>)</a:t>
            </a:r>
            <a:endParaRPr lang="en-US" altLang="zh-CN" sz="1400" dirty="0">
              <a:ea typeface="宋体" panose="02010600030101010101" pitchFamily="2" charset="-122"/>
            </a:endParaRPr>
          </a:p>
          <a:p>
            <a:pPr lvl="1">
              <a:lnSpc>
                <a:spcPct val="80000"/>
              </a:lnSpc>
            </a:pPr>
            <a:r>
              <a:rPr lang="en-US" altLang="zh-CN" sz="1600" dirty="0">
                <a:ea typeface="宋体" panose="02010600030101010101" pitchFamily="2" charset="-122"/>
              </a:rPr>
              <a:t>The behavior of a program executing under the VMM should be the same as if the program were executed directly on the hardware (except possibly for timing and resource availability);</a:t>
            </a:r>
            <a:endParaRPr lang="en-US" altLang="zh-CN" sz="1600" dirty="0">
              <a:ea typeface="宋体" panose="02010600030101010101" pitchFamily="2" charset="-122"/>
            </a:endParaRPr>
          </a:p>
        </p:txBody>
      </p:sp>
      <p:pic>
        <p:nvPicPr>
          <p:cNvPr id="41988" name="Picture 4"/>
          <p:cNvPicPr>
            <a:picLocks noChangeAspect="1"/>
          </p:cNvPicPr>
          <p:nvPr/>
        </p:nvPicPr>
        <p:blipFill>
          <a:blip r:embed="rId1"/>
          <a:stretch>
            <a:fillRect/>
          </a:stretch>
        </p:blipFill>
        <p:spPr>
          <a:xfrm>
            <a:off x="4583113" y="977900"/>
            <a:ext cx="4124325" cy="5264150"/>
          </a:xfrm>
          <a:prstGeom prst="rect">
            <a:avLst/>
          </a:prstGeom>
          <a:noFill/>
          <a:ln w="9525">
            <a:noFill/>
          </a:ln>
        </p:spPr>
      </p:pic>
      <p:sp>
        <p:nvSpPr>
          <p:cNvPr id="41989" name="Text Box 5"/>
          <p:cNvSpPr txBox="1"/>
          <p:nvPr/>
        </p:nvSpPr>
        <p:spPr>
          <a:xfrm>
            <a:off x="4519613" y="6275388"/>
            <a:ext cx="4176712" cy="2746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ea typeface="宋体" panose="02010600030101010101" pitchFamily="2" charset="-122"/>
              </a:rPr>
              <a:t>Communications of the ACM, vol 17, no 7, 1974, pp.412-421</a:t>
            </a:r>
            <a:endParaRPr lang="en-US" altLang="zh-CN" sz="1200" dirty="0">
              <a:ea typeface="宋体" panose="02010600030101010101" pitchFamily="2" charset="-122"/>
            </a:endParaRPr>
          </a:p>
        </p:txBody>
      </p:sp>
      <p:pic>
        <p:nvPicPr>
          <p:cNvPr id="41990" name="Picture 6"/>
          <p:cNvPicPr>
            <a:picLocks noChangeAspect="1"/>
          </p:cNvPicPr>
          <p:nvPr/>
        </p:nvPicPr>
        <p:blipFill>
          <a:blip r:embed="rId2"/>
          <a:stretch>
            <a:fillRect/>
          </a:stretch>
        </p:blipFill>
        <p:spPr>
          <a:xfrm>
            <a:off x="808038" y="1012825"/>
            <a:ext cx="3011487" cy="2322513"/>
          </a:xfrm>
          <a:prstGeom prst="rect">
            <a:avLst/>
          </a:prstGeom>
          <a:noFill/>
          <a:ln w="9525">
            <a:noFill/>
          </a:ln>
        </p:spPr>
      </p:pic>
      <p:sp>
        <p:nvSpPr>
          <p:cNvPr id="41991" name="Text Box 8"/>
          <p:cNvSpPr txBox="1"/>
          <p:nvPr/>
        </p:nvSpPr>
        <p:spPr>
          <a:xfrm>
            <a:off x="488950" y="3324225"/>
            <a:ext cx="3613150" cy="274638"/>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ea typeface="宋体" panose="02010600030101010101" pitchFamily="2" charset="-122"/>
              </a:rPr>
              <a:t>“an </a:t>
            </a:r>
            <a:r>
              <a:rPr lang="en-US" altLang="zh-CN" sz="1200" i="1" dirty="0">
                <a:ea typeface="宋体" panose="02010600030101010101" pitchFamily="2" charset="-122"/>
              </a:rPr>
              <a:t>efficient, isolated duplicate</a:t>
            </a:r>
            <a:r>
              <a:rPr lang="en-US" altLang="zh-CN" sz="1200" dirty="0">
                <a:ea typeface="宋体" panose="02010600030101010101" pitchFamily="2" charset="-122"/>
              </a:rPr>
              <a:t> of the real machine”</a:t>
            </a:r>
            <a:endParaRPr lang="en-US" altLang="zh-CN" sz="1200" dirty="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Origins - Technology</a:t>
            </a:r>
            <a:endParaRPr lang="en-US" altLang="zh-CN" dirty="0">
              <a:ea typeface="宋体" panose="02010600030101010101" pitchFamily="2" charset="-122"/>
            </a:endParaRPr>
          </a:p>
        </p:txBody>
      </p:sp>
      <p:sp>
        <p:nvSpPr>
          <p:cNvPr id="43011" name="Rectangle 3"/>
          <p:cNvSpPr>
            <a:spLocks noGrp="1"/>
          </p:cNvSpPr>
          <p:nvPr>
            <p:ph idx="1"/>
          </p:nvPr>
        </p:nvSpPr>
        <p:spPr>
          <a:xfrm>
            <a:off x="0" y="4454525"/>
            <a:ext cx="6019800" cy="1524000"/>
          </a:xfrm>
        </p:spPr>
        <p:txBody>
          <a:bodyPr vert="horz" wrap="square" lIns="91440" tIns="45720" rIns="91440" bIns="45720" anchor="t" anchorCtr="0"/>
          <a:p>
            <a:pPr algn="l">
              <a:lnSpc>
                <a:spcPct val="80000"/>
              </a:lnSpc>
            </a:pPr>
            <a:r>
              <a:rPr lang="en-US" altLang="zh-CN" sz="1400" dirty="0">
                <a:ea typeface="宋体" panose="02010600030101010101" pitchFamily="2" charset="-122"/>
              </a:rPr>
              <a:t>Concurrent execution of multiple production operating systems</a:t>
            </a:r>
            <a:endParaRPr lang="en-US" altLang="zh-CN" sz="1400" dirty="0">
              <a:ea typeface="宋体" panose="02010600030101010101" pitchFamily="2" charset="-122"/>
            </a:endParaRPr>
          </a:p>
          <a:p>
            <a:pPr algn="l">
              <a:lnSpc>
                <a:spcPct val="80000"/>
              </a:lnSpc>
            </a:pPr>
            <a:r>
              <a:rPr lang="en-US" altLang="zh-CN" sz="1400" dirty="0">
                <a:ea typeface="宋体" panose="02010600030101010101" pitchFamily="2" charset="-122"/>
              </a:rPr>
              <a:t>Testing and development of experimental systems</a:t>
            </a:r>
            <a:endParaRPr lang="en-US" altLang="zh-CN" sz="1400" dirty="0">
              <a:ea typeface="宋体" panose="02010600030101010101" pitchFamily="2" charset="-122"/>
            </a:endParaRPr>
          </a:p>
          <a:p>
            <a:pPr algn="l">
              <a:lnSpc>
                <a:spcPct val="80000"/>
              </a:lnSpc>
            </a:pPr>
            <a:r>
              <a:rPr lang="en-US" altLang="zh-CN" sz="1400" dirty="0">
                <a:ea typeface="宋体" panose="02010600030101010101" pitchFamily="2" charset="-122"/>
              </a:rPr>
              <a:t>Adoption of new systems with continued use of legacy systems </a:t>
            </a:r>
            <a:endParaRPr lang="en-US" altLang="zh-CN" sz="1400" dirty="0">
              <a:ea typeface="宋体" panose="02010600030101010101" pitchFamily="2" charset="-122"/>
            </a:endParaRPr>
          </a:p>
          <a:p>
            <a:pPr algn="l">
              <a:lnSpc>
                <a:spcPct val="80000"/>
              </a:lnSpc>
            </a:pPr>
            <a:r>
              <a:rPr lang="en-US" altLang="zh-CN" sz="1400" dirty="0">
                <a:ea typeface="宋体" panose="02010600030101010101" pitchFamily="2" charset="-122"/>
              </a:rPr>
              <a:t>Ability to accommodate applications requiring special-purpose OS</a:t>
            </a:r>
            <a:endParaRPr lang="en-US" altLang="zh-CN" sz="1400" dirty="0">
              <a:ea typeface="宋体" panose="02010600030101010101" pitchFamily="2" charset="-122"/>
            </a:endParaRPr>
          </a:p>
          <a:p>
            <a:pPr algn="l">
              <a:lnSpc>
                <a:spcPct val="80000"/>
              </a:lnSpc>
            </a:pPr>
            <a:r>
              <a:rPr lang="en-US" altLang="zh-CN" sz="1400" dirty="0">
                <a:ea typeface="宋体" panose="02010600030101010101" pitchFamily="2" charset="-122"/>
              </a:rPr>
              <a:t>Introduced notions of “handshake” and “virtual-equals-real mode” to allow sharing of resource control information with CP</a:t>
            </a:r>
            <a:endParaRPr lang="en-US" altLang="zh-CN" sz="1400" dirty="0">
              <a:ea typeface="宋体" panose="02010600030101010101" pitchFamily="2" charset="-122"/>
            </a:endParaRPr>
          </a:p>
          <a:p>
            <a:pPr algn="l">
              <a:lnSpc>
                <a:spcPct val="80000"/>
              </a:lnSpc>
            </a:pPr>
            <a:r>
              <a:rPr lang="en-US" altLang="zh-CN" sz="1400" dirty="0">
                <a:ea typeface="宋体" panose="02010600030101010101" pitchFamily="2" charset="-122"/>
              </a:rPr>
              <a:t>Leveraged ability to co-design hardware, VMM, and guestOS</a:t>
            </a:r>
            <a:endParaRPr lang="en-US" altLang="zh-CN" sz="1400" dirty="0">
              <a:ea typeface="宋体" panose="02010600030101010101" pitchFamily="2" charset="-122"/>
            </a:endParaRPr>
          </a:p>
        </p:txBody>
      </p:sp>
      <p:pic>
        <p:nvPicPr>
          <p:cNvPr id="43012" name="Picture 4"/>
          <p:cNvPicPr>
            <a:picLocks noChangeAspect="1"/>
          </p:cNvPicPr>
          <p:nvPr/>
        </p:nvPicPr>
        <p:blipFill>
          <a:blip r:embed="rId1"/>
          <a:stretch>
            <a:fillRect/>
          </a:stretch>
        </p:blipFill>
        <p:spPr>
          <a:xfrm>
            <a:off x="3243263" y="1217613"/>
            <a:ext cx="5900737" cy="2457450"/>
          </a:xfrm>
          <a:prstGeom prst="rect">
            <a:avLst/>
          </a:prstGeom>
          <a:noFill/>
          <a:ln w="9525">
            <a:noFill/>
          </a:ln>
        </p:spPr>
      </p:pic>
      <p:sp>
        <p:nvSpPr>
          <p:cNvPr id="43013" name="Text Box 6"/>
          <p:cNvSpPr txBox="1"/>
          <p:nvPr/>
        </p:nvSpPr>
        <p:spPr>
          <a:xfrm>
            <a:off x="5154613" y="3700463"/>
            <a:ext cx="3687762" cy="27463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200" dirty="0">
                <a:ea typeface="宋体" panose="02010600030101010101" pitchFamily="2" charset="-122"/>
              </a:rPr>
              <a:t>IBM Systems Journal, vol. 18, no. 1, 1979, pp. 4-17.</a:t>
            </a:r>
            <a:endParaRPr lang="en-US" altLang="zh-CN" sz="1200" dirty="0">
              <a:ea typeface="宋体" panose="02010600030101010101" pitchFamily="2" charset="-122"/>
            </a:endParaRPr>
          </a:p>
        </p:txBody>
      </p:sp>
      <p:pic>
        <p:nvPicPr>
          <p:cNvPr id="43014" name="Picture 8"/>
          <p:cNvPicPr>
            <a:picLocks noChangeAspect="1"/>
          </p:cNvPicPr>
          <p:nvPr/>
        </p:nvPicPr>
        <p:blipFill>
          <a:blip r:embed="rId2"/>
          <a:stretch>
            <a:fillRect/>
          </a:stretch>
        </p:blipFill>
        <p:spPr>
          <a:xfrm>
            <a:off x="6202363" y="4191000"/>
            <a:ext cx="2487612" cy="2508250"/>
          </a:xfrm>
          <a:prstGeom prst="rect">
            <a:avLst/>
          </a:prstGeom>
          <a:noFill/>
          <a:ln w="9525">
            <a:noFill/>
          </a:ln>
        </p:spPr>
      </p:pic>
      <p:grpSp>
        <p:nvGrpSpPr>
          <p:cNvPr id="43015" name="Group 1"/>
          <p:cNvGrpSpPr>
            <a:grpSpLocks noChangeAspect="1"/>
          </p:cNvGrpSpPr>
          <p:nvPr/>
        </p:nvGrpSpPr>
        <p:grpSpPr>
          <a:xfrm>
            <a:off x="0" y="1520825"/>
            <a:ext cx="4629150" cy="2720975"/>
            <a:chOff x="1800" y="1518"/>
            <a:chExt cx="8280" cy="3900"/>
          </a:xfrm>
        </p:grpSpPr>
        <p:sp>
          <p:nvSpPr>
            <p:cNvPr id="43016" name="AutoShape 12"/>
            <p:cNvSpPr>
              <a:spLocks noChangeAspect="1" noTextEdit="1"/>
            </p:cNvSpPr>
            <p:nvPr/>
          </p:nvSpPr>
          <p:spPr>
            <a:xfrm>
              <a:off x="1800" y="1518"/>
              <a:ext cx="8280" cy="3900"/>
            </a:xfrm>
            <a:prstGeom prst="rect">
              <a:avLst/>
            </a:prstGeom>
            <a:noFill/>
            <a:ln w="9525">
              <a:noFill/>
            </a:ln>
          </p:spPr>
          <p:txBody>
            <a:bodyPr/>
            <a:p>
              <a:endParaRPr lang="zh-CN" altLang="en-US"/>
            </a:p>
          </p:txBody>
        </p:sp>
        <p:sp>
          <p:nvSpPr>
            <p:cNvPr id="43017" name="AutoShape 11"/>
            <p:cNvSpPr/>
            <p:nvPr/>
          </p:nvSpPr>
          <p:spPr>
            <a:xfrm>
              <a:off x="2850" y="4170"/>
              <a:ext cx="6405" cy="780"/>
            </a:xfrm>
            <a:prstGeom prst="roundRect">
              <a:avLst>
                <a:gd name="adj" fmla="val 16667"/>
              </a:avLst>
            </a:prstGeom>
            <a:gradFill rotWithShape="1">
              <a:gsLst>
                <a:gs pos="0">
                  <a:srgbClr val="007600"/>
                </a:gs>
                <a:gs pos="50000">
                  <a:srgbClr val="00FF00"/>
                </a:gs>
                <a:gs pos="100000">
                  <a:srgbClr val="007600"/>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IBM Mainframe</a:t>
              </a:r>
              <a:endParaRPr lang="en-US" altLang="zh-CN" sz="1400" dirty="0">
                <a:ea typeface="宋体" panose="02010600030101010101" pitchFamily="2" charset="-122"/>
              </a:endParaRPr>
            </a:p>
          </p:txBody>
        </p:sp>
        <p:sp>
          <p:nvSpPr>
            <p:cNvPr id="43018" name="AutoShape 10"/>
            <p:cNvSpPr/>
            <p:nvPr/>
          </p:nvSpPr>
          <p:spPr>
            <a:xfrm>
              <a:off x="2850" y="3390"/>
              <a:ext cx="6405" cy="780"/>
            </a:xfrm>
            <a:prstGeom prst="roundRect">
              <a:avLst>
                <a:gd name="adj" fmla="val 16667"/>
              </a:avLst>
            </a:prstGeom>
            <a:gradFill rotWithShape="1">
              <a:gsLst>
                <a:gs pos="0">
                  <a:srgbClr val="760000"/>
                </a:gs>
                <a:gs pos="50000">
                  <a:srgbClr val="FF0000"/>
                </a:gs>
                <a:gs pos="100000">
                  <a:srgbClr val="760000"/>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IBM VM/370</a:t>
              </a:r>
              <a:endParaRPr lang="en-US" altLang="zh-CN" sz="1400" dirty="0">
                <a:ea typeface="宋体" panose="02010600030101010101" pitchFamily="2" charset="-122"/>
              </a:endParaRPr>
            </a:p>
          </p:txBody>
        </p:sp>
        <p:sp>
          <p:nvSpPr>
            <p:cNvPr id="43019" name="AutoShape 9"/>
            <p:cNvSpPr/>
            <p:nvPr/>
          </p:nvSpPr>
          <p:spPr>
            <a:xfrm>
              <a:off x="2850" y="2610"/>
              <a:ext cx="1575" cy="780"/>
            </a:xfrm>
            <a:prstGeom prst="roundRect">
              <a:avLst>
                <a:gd name="adj" fmla="val 16667"/>
              </a:avLst>
            </a:prstGeom>
            <a:gradFill rotWithShape="1">
              <a:gsLst>
                <a:gs pos="0">
                  <a:srgbClr val="5E7676"/>
                </a:gs>
                <a:gs pos="50000">
                  <a:srgbClr val="CCFFFF"/>
                </a:gs>
                <a:gs pos="100000">
                  <a:srgbClr val="5E7676"/>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CMS</a:t>
              </a:r>
              <a:endParaRPr lang="en-US" altLang="zh-CN" sz="1400" dirty="0">
                <a:ea typeface="宋体" panose="02010600030101010101" pitchFamily="2" charset="-122"/>
              </a:endParaRPr>
            </a:p>
          </p:txBody>
        </p:sp>
        <p:sp>
          <p:nvSpPr>
            <p:cNvPr id="43020" name="AutoShape 8"/>
            <p:cNvSpPr/>
            <p:nvPr/>
          </p:nvSpPr>
          <p:spPr>
            <a:xfrm>
              <a:off x="4425" y="2610"/>
              <a:ext cx="1575" cy="780"/>
            </a:xfrm>
            <a:prstGeom prst="roundRect">
              <a:avLst>
                <a:gd name="adj" fmla="val 16667"/>
              </a:avLst>
            </a:prstGeom>
            <a:gradFill rotWithShape="1">
              <a:gsLst>
                <a:gs pos="0">
                  <a:srgbClr val="5E7676"/>
                </a:gs>
                <a:gs pos="50000">
                  <a:srgbClr val="CCFFFF"/>
                </a:gs>
                <a:gs pos="100000">
                  <a:srgbClr val="5E7676"/>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VMS</a:t>
              </a:r>
              <a:endParaRPr lang="en-US" altLang="zh-CN" sz="1400" dirty="0">
                <a:ea typeface="宋体" panose="02010600030101010101" pitchFamily="2" charset="-122"/>
              </a:endParaRPr>
            </a:p>
          </p:txBody>
        </p:sp>
        <p:sp>
          <p:nvSpPr>
            <p:cNvPr id="43021" name="AutoShape 7"/>
            <p:cNvSpPr/>
            <p:nvPr/>
          </p:nvSpPr>
          <p:spPr>
            <a:xfrm>
              <a:off x="6000" y="2610"/>
              <a:ext cx="1575" cy="780"/>
            </a:xfrm>
            <a:prstGeom prst="roundRect">
              <a:avLst>
                <a:gd name="adj" fmla="val 16667"/>
              </a:avLst>
            </a:prstGeom>
            <a:gradFill rotWithShape="1">
              <a:gsLst>
                <a:gs pos="0">
                  <a:srgbClr val="5E7676"/>
                </a:gs>
                <a:gs pos="50000">
                  <a:srgbClr val="CCFFFF"/>
                </a:gs>
                <a:gs pos="100000">
                  <a:srgbClr val="5E7676"/>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VMS</a:t>
              </a:r>
              <a:endParaRPr lang="en-US" altLang="zh-CN" sz="1400" dirty="0">
                <a:ea typeface="宋体" panose="02010600030101010101" pitchFamily="2" charset="-122"/>
              </a:endParaRPr>
            </a:p>
          </p:txBody>
        </p:sp>
        <p:sp>
          <p:nvSpPr>
            <p:cNvPr id="43022" name="AutoShape 6"/>
            <p:cNvSpPr/>
            <p:nvPr/>
          </p:nvSpPr>
          <p:spPr>
            <a:xfrm>
              <a:off x="7575" y="2610"/>
              <a:ext cx="1680" cy="780"/>
            </a:xfrm>
            <a:prstGeom prst="roundRect">
              <a:avLst>
                <a:gd name="adj" fmla="val 16667"/>
              </a:avLst>
            </a:prstGeom>
            <a:gradFill rotWithShape="1">
              <a:gsLst>
                <a:gs pos="0">
                  <a:srgbClr val="5E7676"/>
                </a:gs>
                <a:gs pos="50000">
                  <a:srgbClr val="CCFFFF"/>
                </a:gs>
                <a:gs pos="100000">
                  <a:srgbClr val="5E7676"/>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CMS</a:t>
              </a:r>
              <a:endParaRPr lang="en-US" altLang="zh-CN" sz="1400" dirty="0">
                <a:ea typeface="宋体" panose="02010600030101010101" pitchFamily="2" charset="-122"/>
              </a:endParaRPr>
            </a:p>
          </p:txBody>
        </p:sp>
        <p:sp>
          <p:nvSpPr>
            <p:cNvPr id="43023" name="AutoShape 5"/>
            <p:cNvSpPr/>
            <p:nvPr/>
          </p:nvSpPr>
          <p:spPr>
            <a:xfrm>
              <a:off x="2850" y="1830"/>
              <a:ext cx="1575" cy="780"/>
            </a:xfrm>
            <a:prstGeom prst="roundRect">
              <a:avLst>
                <a:gd name="adj" fmla="val 16667"/>
              </a:avLst>
            </a:prstGeom>
            <a:gradFill rotWithShape="1">
              <a:gsLst>
                <a:gs pos="0">
                  <a:srgbClr val="765E47"/>
                </a:gs>
                <a:gs pos="50000">
                  <a:srgbClr val="FFCC99"/>
                </a:gs>
                <a:gs pos="100000">
                  <a:srgbClr val="765E47"/>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App</a:t>
              </a:r>
              <a:endParaRPr lang="en-US" altLang="zh-CN" sz="1400" dirty="0">
                <a:ea typeface="宋体" panose="02010600030101010101" pitchFamily="2" charset="-122"/>
              </a:endParaRPr>
            </a:p>
          </p:txBody>
        </p:sp>
        <p:sp>
          <p:nvSpPr>
            <p:cNvPr id="43024" name="AutoShape 4"/>
            <p:cNvSpPr/>
            <p:nvPr/>
          </p:nvSpPr>
          <p:spPr>
            <a:xfrm>
              <a:off x="4425" y="1830"/>
              <a:ext cx="1575" cy="780"/>
            </a:xfrm>
            <a:prstGeom prst="roundRect">
              <a:avLst>
                <a:gd name="adj" fmla="val 16667"/>
              </a:avLst>
            </a:prstGeom>
            <a:gradFill rotWithShape="1">
              <a:gsLst>
                <a:gs pos="0">
                  <a:srgbClr val="765E47"/>
                </a:gs>
                <a:gs pos="50000">
                  <a:srgbClr val="FFCC99"/>
                </a:gs>
                <a:gs pos="100000">
                  <a:srgbClr val="765E47"/>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App</a:t>
              </a:r>
              <a:endParaRPr lang="en-US" altLang="zh-CN" sz="1400" dirty="0">
                <a:ea typeface="宋体" panose="02010600030101010101" pitchFamily="2" charset="-122"/>
              </a:endParaRPr>
            </a:p>
          </p:txBody>
        </p:sp>
        <p:sp>
          <p:nvSpPr>
            <p:cNvPr id="43025" name="AutoShape 3"/>
            <p:cNvSpPr/>
            <p:nvPr/>
          </p:nvSpPr>
          <p:spPr>
            <a:xfrm>
              <a:off x="6000" y="1830"/>
              <a:ext cx="1575" cy="780"/>
            </a:xfrm>
            <a:prstGeom prst="roundRect">
              <a:avLst>
                <a:gd name="adj" fmla="val 16667"/>
              </a:avLst>
            </a:prstGeom>
            <a:gradFill rotWithShape="1">
              <a:gsLst>
                <a:gs pos="0">
                  <a:srgbClr val="765E47"/>
                </a:gs>
                <a:gs pos="50000">
                  <a:srgbClr val="FFCC99"/>
                </a:gs>
                <a:gs pos="100000">
                  <a:srgbClr val="765E47"/>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App</a:t>
              </a:r>
              <a:endParaRPr lang="en-US" altLang="zh-CN" sz="1400" dirty="0">
                <a:ea typeface="宋体" panose="02010600030101010101" pitchFamily="2" charset="-122"/>
              </a:endParaRPr>
            </a:p>
          </p:txBody>
        </p:sp>
        <p:sp>
          <p:nvSpPr>
            <p:cNvPr id="43026" name="AutoShape 2"/>
            <p:cNvSpPr/>
            <p:nvPr/>
          </p:nvSpPr>
          <p:spPr>
            <a:xfrm>
              <a:off x="7575" y="1830"/>
              <a:ext cx="1680" cy="780"/>
            </a:xfrm>
            <a:prstGeom prst="roundRect">
              <a:avLst>
                <a:gd name="adj" fmla="val 16667"/>
              </a:avLst>
            </a:prstGeom>
            <a:gradFill rotWithShape="1">
              <a:gsLst>
                <a:gs pos="0">
                  <a:srgbClr val="765E47"/>
                </a:gs>
                <a:gs pos="50000">
                  <a:srgbClr val="FFCC99"/>
                </a:gs>
                <a:gs pos="100000">
                  <a:srgbClr val="765E47"/>
                </a:gs>
              </a:gsLst>
              <a:lin ang="5400000" scaled="1"/>
              <a:tileRect/>
            </a:gra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400" dirty="0">
                  <a:ea typeface="宋体" panose="02010600030101010101" pitchFamily="2" charset="-122"/>
                </a:rPr>
                <a:t>APP</a:t>
              </a:r>
              <a:endParaRPr lang="en-US" altLang="zh-CN" sz="1400" dirty="0">
                <a:ea typeface="宋体" panose="02010600030101010101" pitchFamily="2"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0" y="0"/>
            <a:ext cx="9144000" cy="714375"/>
          </a:xfrm>
        </p:spPr>
        <p:txBody>
          <a:bodyPr vert="horz" wrap="square" lIns="91440" tIns="45720" rIns="91440" bIns="45720" anchor="ctr" anchorCtr="0"/>
          <a:p>
            <a:pPr eaLnBrk="1" hangingPunct="1"/>
            <a:r>
              <a:rPr lang="en-US" altLang="zh-CN" sz="3600" dirty="0">
                <a:ea typeface="宋体" panose="02010600030101010101" pitchFamily="2" charset="-122"/>
              </a:rPr>
              <a:t>The Role of Virtualization</a:t>
            </a:r>
            <a:endParaRPr lang="en-US" altLang="zh-CN" sz="3600" dirty="0">
              <a:ea typeface="宋体" panose="02010600030101010101" pitchFamily="2" charset="-122"/>
            </a:endParaRPr>
          </a:p>
        </p:txBody>
      </p:sp>
      <p:sp>
        <p:nvSpPr>
          <p:cNvPr id="44035" name="Rectangle 3"/>
          <p:cNvSpPr>
            <a:spLocks noGrp="1"/>
          </p:cNvSpPr>
          <p:nvPr>
            <p:ph idx="1"/>
          </p:nvPr>
        </p:nvSpPr>
        <p:spPr>
          <a:xfrm>
            <a:off x="1417638" y="3360738"/>
            <a:ext cx="6508750" cy="806450"/>
          </a:xfrm>
        </p:spPr>
        <p:txBody>
          <a:bodyPr vert="horz" wrap="square" lIns="91440" tIns="45720" rIns="91440" bIns="45720" anchor="t" anchorCtr="0"/>
          <a:p>
            <a:pPr marL="457200" indent="-457200" algn="l" eaLnBrk="1" hangingPunct="1">
              <a:buFontTx/>
              <a:buAutoNum type="alphaLcParenBoth"/>
            </a:pPr>
            <a:r>
              <a:rPr lang="en-US" altLang="zh-CN" sz="1600" dirty="0">
                <a:ea typeface="宋体" panose="02010600030101010101" pitchFamily="2" charset="-122"/>
              </a:rPr>
              <a:t>General organization between a program, interface, and system. </a:t>
            </a:r>
            <a:endParaRPr lang="en-US" altLang="zh-CN" sz="1600" dirty="0">
              <a:ea typeface="宋体" panose="02010600030101010101" pitchFamily="2" charset="-122"/>
            </a:endParaRPr>
          </a:p>
          <a:p>
            <a:pPr marL="457200" indent="-457200" algn="l" eaLnBrk="1" hangingPunct="1">
              <a:buFontTx/>
              <a:buAutoNum type="alphaLcParenBoth"/>
            </a:pPr>
            <a:r>
              <a:rPr lang="en-US" altLang="zh-CN" sz="1600" dirty="0">
                <a:ea typeface="宋体" panose="02010600030101010101" pitchFamily="2" charset="-122"/>
              </a:rPr>
              <a:t>General organization of virtualizing system A on top of system B.</a:t>
            </a:r>
            <a:endParaRPr lang="en-US" altLang="zh-CN" sz="1600" dirty="0">
              <a:ea typeface="宋体" panose="02010600030101010101" pitchFamily="2" charset="-122"/>
            </a:endParaRPr>
          </a:p>
        </p:txBody>
      </p:sp>
      <p:pic>
        <p:nvPicPr>
          <p:cNvPr id="44036" name="Picture 4" descr="03-05"/>
          <p:cNvPicPr>
            <a:picLocks noChangeAspect="1"/>
          </p:cNvPicPr>
          <p:nvPr/>
        </p:nvPicPr>
        <p:blipFill>
          <a:blip r:embed="rId1"/>
          <a:srcRect t="22076" r="61249"/>
          <a:stretch>
            <a:fillRect/>
          </a:stretch>
        </p:blipFill>
        <p:spPr>
          <a:xfrm>
            <a:off x="1065213" y="968375"/>
            <a:ext cx="3762375" cy="2090738"/>
          </a:xfrm>
          <a:prstGeom prst="rect">
            <a:avLst/>
          </a:prstGeom>
          <a:noFill/>
          <a:ln w="9525">
            <a:noFill/>
          </a:ln>
        </p:spPr>
      </p:pic>
      <p:pic>
        <p:nvPicPr>
          <p:cNvPr id="44037" name="Picture 5" descr="03-05"/>
          <p:cNvPicPr>
            <a:picLocks noChangeAspect="1"/>
          </p:cNvPicPr>
          <p:nvPr/>
        </p:nvPicPr>
        <p:blipFill>
          <a:blip r:embed="rId1"/>
          <a:srcRect l="60950"/>
          <a:stretch>
            <a:fillRect/>
          </a:stretch>
        </p:blipFill>
        <p:spPr>
          <a:xfrm>
            <a:off x="4827588" y="803275"/>
            <a:ext cx="3568700" cy="2530475"/>
          </a:xfrm>
          <a:prstGeom prst="rect">
            <a:avLst/>
          </a:prstGeom>
          <a:noFill/>
          <a:ln w="9525">
            <a:noFill/>
          </a:ln>
        </p:spPr>
      </p:pic>
      <p:sp>
        <p:nvSpPr>
          <p:cNvPr id="44038" name="矩形 5"/>
          <p:cNvSpPr/>
          <p:nvPr/>
        </p:nvSpPr>
        <p:spPr>
          <a:xfrm>
            <a:off x="523875" y="4535488"/>
            <a:ext cx="8296275" cy="17541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None/>
            </a:pPr>
            <a:r>
              <a:rPr lang="zh-CN" altLang="en-US" sz="1800" b="1" dirty="0">
                <a:solidFill>
                  <a:srgbClr val="FF0000"/>
                </a:solidFill>
                <a:ea typeface="宋体" panose="02010600030101010101" pitchFamily="2" charset="-122"/>
              </a:rPr>
              <a:t>虚拟化技术的优点：</a:t>
            </a:r>
            <a:endParaRPr lang="zh-CN" altLang="en-US" sz="1800" b="1" dirty="0">
              <a:solidFill>
                <a:srgbClr val="FF0000"/>
              </a:solidFill>
              <a:ea typeface="宋体" panose="02010600030101010101" pitchFamily="2" charset="-122"/>
            </a:endParaRPr>
          </a:p>
          <a:p>
            <a:pPr marL="742950" lvl="1" indent="-285750">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资源池</a:t>
            </a:r>
            <a:r>
              <a:rPr lang="en-US" altLang="zh-CN" sz="1800" dirty="0">
                <a:ea typeface="宋体" panose="02010600030101010101" pitchFamily="2" charset="-122"/>
              </a:rPr>
              <a:t>——</a:t>
            </a:r>
            <a:r>
              <a:rPr lang="zh-CN" altLang="en-US" sz="1800" dirty="0">
                <a:ea typeface="宋体" panose="02010600030101010101" pitchFamily="2" charset="-122"/>
              </a:rPr>
              <a:t>物理资源可映射给不同的虚拟机（物理资源如何复用？）；</a:t>
            </a:r>
            <a:endParaRPr lang="zh-CN" altLang="en-US" sz="1800" dirty="0">
              <a:ea typeface="宋体" panose="02010600030101010101" pitchFamily="2" charset="-122"/>
            </a:endParaRPr>
          </a:p>
          <a:p>
            <a:pPr marL="742950" lvl="1" indent="-285750">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扩展容易</a:t>
            </a:r>
            <a:r>
              <a:rPr lang="en-US" altLang="zh-CN" sz="1800" dirty="0">
                <a:ea typeface="宋体" panose="02010600030101010101" pitchFamily="2" charset="-122"/>
              </a:rPr>
              <a:t>——</a:t>
            </a:r>
            <a:r>
              <a:rPr lang="zh-CN" altLang="en-US" sz="1800" dirty="0">
                <a:ea typeface="宋体" panose="02010600030101010101" pitchFamily="2" charset="-122"/>
              </a:rPr>
              <a:t>增加物理机或者虚拟机即可，虚拟机可以复制；</a:t>
            </a:r>
            <a:endParaRPr lang="zh-CN" altLang="en-US" sz="1800" dirty="0">
              <a:ea typeface="宋体" panose="02010600030101010101" pitchFamily="2" charset="-122"/>
            </a:endParaRPr>
          </a:p>
          <a:p>
            <a:pPr marL="742950" lvl="1" indent="-285750">
              <a:lnSpc>
                <a:spcPct val="150000"/>
              </a:lnSpc>
              <a:spcBef>
                <a:spcPct val="0"/>
              </a:spcBef>
              <a:buClrTx/>
              <a:buFont typeface="Wingdings" panose="05000000000000000000" pitchFamily="2" charset="2"/>
              <a:buChar char="u"/>
            </a:pPr>
            <a:r>
              <a:rPr lang="zh-CN" altLang="en-US" sz="1800" dirty="0">
                <a:ea typeface="宋体" panose="02010600030101010101" pitchFamily="2" charset="-122"/>
              </a:rPr>
              <a:t>云化容易</a:t>
            </a:r>
            <a:r>
              <a:rPr lang="en-US" altLang="zh-CN" sz="1800" dirty="0">
                <a:ea typeface="宋体" panose="02010600030101010101" pitchFamily="2" charset="-122"/>
              </a:rPr>
              <a:t>——</a:t>
            </a:r>
            <a:r>
              <a:rPr lang="zh-CN" altLang="en-US" sz="1800" dirty="0">
                <a:ea typeface="宋体" panose="02010600030101010101" pitchFamily="2" charset="-122"/>
              </a:rPr>
              <a:t>亚马孙</a:t>
            </a:r>
            <a:r>
              <a:rPr lang="en-US" altLang="zh-CN" sz="1800" dirty="0">
                <a:ea typeface="宋体" panose="02010600030101010101" pitchFamily="2" charset="-122"/>
              </a:rPr>
              <a:t>AWS</a:t>
            </a:r>
            <a:r>
              <a:rPr lang="zh-CN" altLang="en-US" sz="1800" dirty="0">
                <a:ea typeface="宋体" panose="02010600030101010101" pitchFamily="2" charset="-122"/>
              </a:rPr>
              <a:t>，阿里云，谷歌云等；</a:t>
            </a:r>
            <a:endParaRPr lang="zh-CN" altLang="en-US" sz="1800"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2592388" y="104775"/>
            <a:ext cx="3355975" cy="654050"/>
          </a:xfrm>
        </p:spPr>
        <p:txBody>
          <a:bodyPr vert="horz" wrap="square" lIns="91440" tIns="45720" rIns="91440" bIns="45720" anchor="ctr" anchorCtr="0"/>
          <a:p>
            <a:pPr eaLnBrk="1" hangingPunct="1"/>
            <a:r>
              <a:rPr lang="zh-CN" altLang="en-US" sz="3600" dirty="0">
                <a:ea typeface="宋体" panose="02010600030101010101" pitchFamily="2" charset="-122"/>
              </a:rPr>
              <a:t>虚拟机的分类</a:t>
            </a:r>
            <a:endParaRPr lang="en-US" altLang="zh-CN" sz="3600" dirty="0">
              <a:ea typeface="宋体" panose="02010600030101010101" pitchFamily="2" charset="-122"/>
            </a:endParaRPr>
          </a:p>
        </p:txBody>
      </p:sp>
      <p:sp>
        <p:nvSpPr>
          <p:cNvPr id="45059" name="矩形 5"/>
          <p:cNvSpPr/>
          <p:nvPr/>
        </p:nvSpPr>
        <p:spPr>
          <a:xfrm>
            <a:off x="125413" y="758825"/>
            <a:ext cx="8910637" cy="30464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285750" lvl="0" indent="-285750" algn="l">
              <a:lnSpc>
                <a:spcPct val="150000"/>
              </a:lnSpc>
              <a:spcBef>
                <a:spcPct val="0"/>
              </a:spcBef>
              <a:buClrTx/>
              <a:buFont typeface="Wingdings" panose="05000000000000000000" pitchFamily="2" charset="2"/>
              <a:buChar char="u"/>
            </a:pPr>
            <a:r>
              <a:rPr lang="zh-CN" altLang="en-US" sz="1600" dirty="0">
                <a:ea typeface="宋体" panose="02010600030101010101" pitchFamily="2" charset="-122"/>
              </a:rPr>
              <a:t>称为</a:t>
            </a:r>
            <a:r>
              <a:rPr lang="en-US" altLang="zh-CN" sz="1600" dirty="0">
                <a:ea typeface="宋体" panose="02010600030101010101" pitchFamily="2" charset="-122"/>
              </a:rPr>
              <a:t>“</a:t>
            </a:r>
            <a:r>
              <a:rPr lang="en-US" altLang="zh-CN" sz="1600" dirty="0">
                <a:solidFill>
                  <a:srgbClr val="333333"/>
                </a:solidFill>
                <a:latin typeface="Helvetica Neue"/>
                <a:ea typeface="宋体" panose="02010600030101010101" pitchFamily="2" charset="-122"/>
              </a:rPr>
              <a:t>Hypervisor”</a:t>
            </a:r>
            <a:r>
              <a:rPr lang="zh-CN" altLang="en-US" sz="1600" dirty="0">
                <a:solidFill>
                  <a:srgbClr val="333333"/>
                </a:solidFill>
                <a:latin typeface="Helvetica Neue"/>
                <a:ea typeface="宋体" panose="02010600030101010101" pitchFamily="2" charset="-122"/>
              </a:rPr>
              <a:t>（虚拟机监控程序，或</a:t>
            </a:r>
            <a:r>
              <a:rPr lang="en-US" altLang="zh-CN" sz="1600" dirty="0">
                <a:solidFill>
                  <a:srgbClr val="333333"/>
                </a:solidFill>
                <a:latin typeface="Helvetica Neue"/>
                <a:ea typeface="宋体" panose="02010600030101010101" pitchFamily="2" charset="-122"/>
              </a:rPr>
              <a:t>Virtual Machine Monitor</a:t>
            </a:r>
            <a:r>
              <a:rPr lang="en-US" altLang="zh-CN" sz="1600" b="1" dirty="0">
                <a:ea typeface="宋体" panose="02010600030101010101" pitchFamily="2" charset="-122"/>
              </a:rPr>
              <a:t>-</a:t>
            </a:r>
            <a:r>
              <a:rPr lang="en-US" altLang="zh-CN" sz="1600" dirty="0">
                <a:solidFill>
                  <a:srgbClr val="333333"/>
                </a:solidFill>
                <a:latin typeface="Helvetica Neue"/>
                <a:ea typeface="宋体" panose="02010600030101010101" pitchFamily="2" charset="-122"/>
              </a:rPr>
              <a:t>VMM</a:t>
            </a:r>
            <a:r>
              <a:rPr lang="zh-CN" altLang="en-US" sz="1600" dirty="0">
                <a:solidFill>
                  <a:srgbClr val="333333"/>
                </a:solidFill>
                <a:latin typeface="Helvetica Neue"/>
                <a:ea typeface="宋体" panose="02010600030101010101" pitchFamily="2" charset="-122"/>
              </a:rPr>
              <a:t>）的软件将一个硬件系统划分为不同的、单独安全环境，即虚拟机（</a:t>
            </a:r>
            <a:r>
              <a:rPr lang="en-US" altLang="zh-CN" sz="1600" dirty="0">
                <a:solidFill>
                  <a:srgbClr val="333333"/>
                </a:solidFill>
                <a:latin typeface="Helvetica Neue"/>
                <a:ea typeface="宋体" panose="02010600030101010101" pitchFamily="2" charset="-122"/>
              </a:rPr>
              <a:t>VM</a:t>
            </a:r>
            <a:r>
              <a:rPr lang="zh-CN" altLang="en-US" sz="1600" dirty="0">
                <a:solidFill>
                  <a:srgbClr val="333333"/>
                </a:solidFill>
                <a:latin typeface="Helvetica Neue"/>
                <a:ea typeface="宋体" panose="02010600030101010101" pitchFamily="2" charset="-122"/>
              </a:rPr>
              <a:t>）。</a:t>
            </a:r>
            <a:r>
              <a:rPr lang="zh-CN" altLang="en-US" sz="1600" dirty="0">
                <a:ea typeface="宋体" panose="02010600030101010101" pitchFamily="2" charset="-122"/>
              </a:rPr>
              <a:t>通过</a:t>
            </a:r>
            <a:r>
              <a:rPr lang="en-US" altLang="zh-CN" sz="1600" dirty="0">
                <a:ea typeface="宋体" panose="02010600030101010101" pitchFamily="2" charset="-122"/>
              </a:rPr>
              <a:t>Hypervisor</a:t>
            </a:r>
            <a:r>
              <a:rPr lang="zh-CN" altLang="en-US" sz="1600" dirty="0">
                <a:ea typeface="宋体" panose="02010600030101010101" pitchFamily="2" charset="-122"/>
              </a:rPr>
              <a:t>可以创建不同的虚拟机，例如：给</a:t>
            </a:r>
            <a:r>
              <a:rPr lang="en-US" altLang="zh-CN" sz="1600" dirty="0">
                <a:ea typeface="宋体" panose="02010600030101010101" pitchFamily="2" charset="-122"/>
              </a:rPr>
              <a:t>A</a:t>
            </a:r>
            <a:r>
              <a:rPr lang="zh-CN" altLang="en-US" sz="1600" dirty="0">
                <a:ea typeface="宋体" panose="02010600030101010101" pitchFamily="2" charset="-122"/>
              </a:rPr>
              <a:t>虚拟机使用</a:t>
            </a:r>
            <a:r>
              <a:rPr lang="en-US" altLang="zh-CN" sz="1600" dirty="0">
                <a:ea typeface="宋体" panose="02010600030101010101" pitchFamily="2" charset="-122"/>
              </a:rPr>
              <a:t>2</a:t>
            </a:r>
            <a:r>
              <a:rPr lang="zh-CN" altLang="en-US" sz="1600" dirty="0">
                <a:ea typeface="宋体" panose="02010600030101010101" pitchFamily="2" charset="-122"/>
              </a:rPr>
              <a:t>个</a:t>
            </a:r>
            <a:r>
              <a:rPr lang="en-US" altLang="zh-CN" sz="1600" dirty="0">
                <a:ea typeface="宋体" panose="02010600030101010101" pitchFamily="2" charset="-122"/>
              </a:rPr>
              <a:t>cpu</a:t>
            </a:r>
            <a:r>
              <a:rPr lang="zh-CN" altLang="en-US" sz="1600" dirty="0">
                <a:ea typeface="宋体" panose="02010600030101010101" pitchFamily="2" charset="-122"/>
              </a:rPr>
              <a:t>、</a:t>
            </a:r>
            <a:r>
              <a:rPr lang="en-US" altLang="zh-CN" sz="1600" dirty="0">
                <a:ea typeface="宋体" panose="02010600030101010101" pitchFamily="2" charset="-122"/>
              </a:rPr>
              <a:t>8g</a:t>
            </a:r>
            <a:r>
              <a:rPr lang="zh-CN" altLang="en-US" sz="1600" dirty="0">
                <a:ea typeface="宋体" panose="02010600030101010101" pitchFamily="2" charset="-122"/>
              </a:rPr>
              <a:t>内存、</a:t>
            </a:r>
            <a:r>
              <a:rPr lang="en-US" altLang="zh-CN" sz="1600" dirty="0">
                <a:ea typeface="宋体" panose="02010600030101010101" pitchFamily="2" charset="-122"/>
              </a:rPr>
              <a:t>100g</a:t>
            </a:r>
            <a:r>
              <a:rPr lang="zh-CN" altLang="en-US" sz="1600" dirty="0">
                <a:ea typeface="宋体" panose="02010600030101010101" pitchFamily="2" charset="-122"/>
              </a:rPr>
              <a:t>磁盘，给</a:t>
            </a:r>
            <a:r>
              <a:rPr lang="en-US" altLang="zh-CN" sz="1600" dirty="0">
                <a:ea typeface="宋体" panose="02010600030101010101" pitchFamily="2" charset="-122"/>
              </a:rPr>
              <a:t>B</a:t>
            </a:r>
            <a:r>
              <a:rPr lang="zh-CN" altLang="en-US" sz="1600" dirty="0">
                <a:ea typeface="宋体" panose="02010600030101010101" pitchFamily="2" charset="-122"/>
              </a:rPr>
              <a:t>虚拟机使用</a:t>
            </a:r>
            <a:r>
              <a:rPr lang="en-US" altLang="zh-CN" sz="1600" dirty="0">
                <a:ea typeface="宋体" panose="02010600030101010101" pitchFamily="2" charset="-122"/>
              </a:rPr>
              <a:t>4</a:t>
            </a:r>
            <a:r>
              <a:rPr lang="zh-CN" altLang="en-US" sz="1600" dirty="0">
                <a:ea typeface="宋体" panose="02010600030101010101" pitchFamily="2" charset="-122"/>
              </a:rPr>
              <a:t>个</a:t>
            </a:r>
            <a:r>
              <a:rPr lang="en-US" altLang="zh-CN" sz="1600" dirty="0">
                <a:ea typeface="宋体" panose="02010600030101010101" pitchFamily="2" charset="-122"/>
              </a:rPr>
              <a:t>cpu</a:t>
            </a:r>
            <a:r>
              <a:rPr lang="zh-CN" altLang="en-US" sz="1600" dirty="0">
                <a:ea typeface="宋体" panose="02010600030101010101" pitchFamily="2" charset="-122"/>
              </a:rPr>
              <a:t>、</a:t>
            </a:r>
            <a:r>
              <a:rPr lang="en-US" altLang="zh-CN" sz="1600" dirty="0">
                <a:ea typeface="宋体" panose="02010600030101010101" pitchFamily="2" charset="-122"/>
              </a:rPr>
              <a:t>16g</a:t>
            </a:r>
            <a:r>
              <a:rPr lang="zh-CN" altLang="en-US" sz="1600" dirty="0">
                <a:ea typeface="宋体" panose="02010600030101010101" pitchFamily="2" charset="-122"/>
              </a:rPr>
              <a:t>内存、</a:t>
            </a:r>
            <a:r>
              <a:rPr lang="en-US" altLang="zh-CN" sz="1600" dirty="0">
                <a:ea typeface="宋体" panose="02010600030101010101" pitchFamily="2" charset="-122"/>
              </a:rPr>
              <a:t>300g</a:t>
            </a:r>
            <a:r>
              <a:rPr lang="zh-CN" altLang="en-US" sz="1600" dirty="0">
                <a:ea typeface="宋体" panose="02010600030101010101" pitchFamily="2" charset="-122"/>
              </a:rPr>
              <a:t>磁盘等，并且可以同时运行多个操作系统。</a:t>
            </a:r>
            <a:endParaRPr lang="en-US" altLang="zh-CN" sz="1600" dirty="0">
              <a:ea typeface="宋体" panose="02010600030101010101" pitchFamily="2" charset="-122"/>
            </a:endParaRPr>
          </a:p>
          <a:p>
            <a:pPr marL="285750" lvl="0" indent="-285750" algn="l">
              <a:lnSpc>
                <a:spcPct val="150000"/>
              </a:lnSpc>
              <a:spcBef>
                <a:spcPct val="0"/>
              </a:spcBef>
              <a:buClrTx/>
              <a:buFont typeface="Wingdings" panose="05000000000000000000" pitchFamily="2" charset="2"/>
              <a:buChar char="u"/>
            </a:pPr>
            <a:r>
              <a:rPr lang="en-US" altLang="zh-CN" sz="1600" dirty="0">
                <a:solidFill>
                  <a:srgbClr val="333333"/>
                </a:solidFill>
                <a:latin typeface="Helvetica Neue"/>
                <a:ea typeface="宋体" panose="02010600030101010101" pitchFamily="2" charset="-122"/>
              </a:rPr>
              <a:t>Hypervisor</a:t>
            </a:r>
            <a:r>
              <a:rPr lang="zh-CN" altLang="en-US" sz="1600" dirty="0">
                <a:solidFill>
                  <a:srgbClr val="4D4D4D"/>
                </a:solidFill>
                <a:latin typeface="-apple-system"/>
                <a:ea typeface="宋体" panose="02010600030101010101" pitchFamily="2" charset="-122"/>
              </a:rPr>
              <a:t>目前有三种架构：</a:t>
            </a:r>
            <a:endParaRPr lang="en-US" altLang="zh-CN" sz="1600" dirty="0">
              <a:solidFill>
                <a:srgbClr val="4D4D4D"/>
              </a:solidFill>
              <a:latin typeface="-apple-system"/>
              <a:ea typeface="宋体" panose="02010600030101010101" pitchFamily="2" charset="-122"/>
            </a:endParaRPr>
          </a:p>
          <a:p>
            <a:pPr marL="285750" lvl="0" indent="-285750" algn="l">
              <a:lnSpc>
                <a:spcPct val="150000"/>
              </a:lnSpc>
              <a:spcBef>
                <a:spcPct val="0"/>
              </a:spcBef>
              <a:buClrTx/>
              <a:buNone/>
            </a:pPr>
            <a:r>
              <a:rPr lang="en-US" altLang="zh-CN" sz="1600" dirty="0">
                <a:ea typeface="宋体" panose="02010600030101010101" pitchFamily="2" charset="-122"/>
              </a:rPr>
              <a:t>     (a) </a:t>
            </a:r>
            <a:r>
              <a:rPr lang="zh-CN" altLang="en-US" sz="1600" dirty="0">
                <a:ea typeface="宋体" panose="02010600030101010101" pitchFamily="2" charset="-122"/>
              </a:rPr>
              <a:t>运行在系统硬件上，创建硬件全仿真实例，称为“裸机”型；</a:t>
            </a:r>
            <a:endParaRPr lang="en-US" altLang="zh-CN" sz="1600" dirty="0">
              <a:ea typeface="宋体" panose="02010600030101010101" pitchFamily="2" charset="-122"/>
            </a:endParaRPr>
          </a:p>
          <a:p>
            <a:pPr marL="285750" lvl="0" indent="-285750" algn="l">
              <a:lnSpc>
                <a:spcPct val="150000"/>
              </a:lnSpc>
              <a:spcBef>
                <a:spcPct val="0"/>
              </a:spcBef>
              <a:buClrTx/>
              <a:buNone/>
            </a:pPr>
            <a:r>
              <a:rPr lang="en-US" altLang="zh-CN" sz="1600" dirty="0">
                <a:ea typeface="宋体" panose="02010600030101010101" pitchFamily="2" charset="-122"/>
              </a:rPr>
              <a:t>     (b) </a:t>
            </a:r>
            <a:r>
              <a:rPr lang="zh-CN" altLang="en-US" sz="1600" dirty="0">
                <a:ea typeface="宋体" panose="02010600030101010101" pitchFamily="2" charset="-122"/>
              </a:rPr>
              <a:t>运行在操作系统上，创建硬件全仿真实例，称为“托管（宿主）”型；</a:t>
            </a:r>
            <a:endParaRPr lang="en-US" altLang="zh-CN" sz="1600" dirty="0">
              <a:ea typeface="宋体" panose="02010600030101010101" pitchFamily="2" charset="-122"/>
            </a:endParaRPr>
          </a:p>
          <a:p>
            <a:pPr marL="285750" lvl="0" indent="-285750" algn="l">
              <a:lnSpc>
                <a:spcPct val="150000"/>
              </a:lnSpc>
              <a:spcBef>
                <a:spcPct val="0"/>
              </a:spcBef>
              <a:buClrTx/>
              <a:buNone/>
            </a:pPr>
            <a:r>
              <a:rPr lang="en-US" altLang="zh-CN" sz="1600" dirty="0">
                <a:ea typeface="宋体" panose="02010600030101010101" pitchFamily="2" charset="-122"/>
              </a:rPr>
              <a:t>     (c) </a:t>
            </a:r>
            <a:r>
              <a:rPr lang="zh-CN" altLang="en-US" sz="1600" dirty="0">
                <a:ea typeface="宋体" panose="02010600030101010101" pitchFamily="2" charset="-122"/>
              </a:rPr>
              <a:t>运行在操作系统上，创建多个独立的程序运行环境（容器），被称为“操作系统虚拟化”；</a:t>
            </a:r>
            <a:endParaRPr lang="zh-CN" altLang="en-US" sz="1600" dirty="0">
              <a:ea typeface="宋体" panose="02010600030101010101" pitchFamily="2" charset="-122"/>
            </a:endParaRPr>
          </a:p>
        </p:txBody>
      </p:sp>
      <p:pic>
        <p:nvPicPr>
          <p:cNvPr id="45060" name="图片 3"/>
          <p:cNvPicPr>
            <a:picLocks noChangeAspect="1"/>
          </p:cNvPicPr>
          <p:nvPr/>
        </p:nvPicPr>
        <p:blipFill>
          <a:blip r:embed="rId1"/>
          <a:stretch>
            <a:fillRect/>
          </a:stretch>
        </p:blipFill>
        <p:spPr>
          <a:xfrm>
            <a:off x="955675" y="4078288"/>
            <a:ext cx="7232650" cy="2020887"/>
          </a:xfrm>
          <a:prstGeom prst="rect">
            <a:avLst/>
          </a:prstGeom>
          <a:noFill/>
          <a:ln w="9525">
            <a:noFill/>
          </a:ln>
        </p:spPr>
      </p:pic>
      <p:sp>
        <p:nvSpPr>
          <p:cNvPr id="45061" name="矩形 4"/>
          <p:cNvSpPr/>
          <p:nvPr/>
        </p:nvSpPr>
        <p:spPr>
          <a:xfrm>
            <a:off x="1746250" y="6061075"/>
            <a:ext cx="5892800" cy="508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None/>
            </a:pPr>
            <a:r>
              <a:rPr lang="zh-CN" altLang="en-US" sz="1800" dirty="0">
                <a:ea typeface="宋体" panose="02010600030101010101" pitchFamily="2" charset="-122"/>
              </a:rPr>
              <a:t>（</a:t>
            </a:r>
            <a:r>
              <a:rPr lang="en-US" altLang="zh-CN" sz="1800" dirty="0">
                <a:ea typeface="宋体" panose="02010600030101010101" pitchFamily="2" charset="-122"/>
              </a:rPr>
              <a:t>a</a:t>
            </a:r>
            <a:r>
              <a:rPr lang="zh-CN" altLang="en-US" sz="1800" dirty="0">
                <a:ea typeface="宋体" panose="02010600030101010101" pitchFamily="2" charset="-122"/>
              </a:rPr>
              <a:t>）                                 （</a:t>
            </a:r>
            <a:r>
              <a:rPr lang="en-US" altLang="zh-CN" sz="1800" dirty="0">
                <a:ea typeface="宋体" panose="02010600030101010101" pitchFamily="2" charset="-122"/>
              </a:rPr>
              <a:t>b</a:t>
            </a:r>
            <a:r>
              <a:rPr lang="zh-CN" altLang="en-US" sz="1800" dirty="0">
                <a:ea typeface="宋体" panose="02010600030101010101" pitchFamily="2" charset="-122"/>
              </a:rPr>
              <a:t>）                                 （</a:t>
            </a:r>
            <a:r>
              <a:rPr lang="en-US" altLang="zh-CN" sz="1800" dirty="0">
                <a:ea typeface="宋体" panose="02010600030101010101" pitchFamily="2" charset="-122"/>
              </a:rPr>
              <a:t>c</a:t>
            </a:r>
            <a:r>
              <a:rPr lang="zh-CN" altLang="en-US" sz="1800" dirty="0">
                <a:ea typeface="宋体" panose="02010600030101010101" pitchFamily="2" charset="-122"/>
              </a:rPr>
              <a:t>）</a:t>
            </a:r>
            <a:endParaRPr lang="zh-CN" altLang="en-US" sz="18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100013" y="-60325"/>
            <a:ext cx="9144000" cy="1174750"/>
          </a:xfrm>
        </p:spPr>
        <p:txBody>
          <a:bodyPr vert="horz" wrap="square" lIns="91440" tIns="45720" rIns="91440" bIns="45720" anchor="ctr" anchorCtr="0"/>
          <a:p>
            <a:r>
              <a:rPr lang="en-US" altLang="zh-CN" sz="3600" b="1" dirty="0">
                <a:ea typeface="宋体" panose="02010600030101010101" pitchFamily="2" charset="-122"/>
              </a:rPr>
              <a:t>Hypervisor/ </a:t>
            </a:r>
            <a:br>
              <a:rPr lang="en-US" altLang="zh-CN" sz="3600" b="1" dirty="0">
                <a:ea typeface="宋体" panose="02010600030101010101" pitchFamily="2" charset="-122"/>
              </a:rPr>
            </a:br>
            <a:r>
              <a:rPr lang="en-US" altLang="zh-CN" sz="3600" b="1" dirty="0">
                <a:ea typeface="宋体" panose="02010600030101010101" pitchFamily="2" charset="-122"/>
              </a:rPr>
              <a:t>Virtual Machine Monitor (VMM)</a:t>
            </a:r>
            <a:endParaRPr lang="en-US" altLang="zh-CN" sz="3600" b="1" dirty="0">
              <a:ea typeface="宋体" panose="02010600030101010101" pitchFamily="2" charset="-122"/>
            </a:endParaRPr>
          </a:p>
        </p:txBody>
      </p:sp>
      <p:sp>
        <p:nvSpPr>
          <p:cNvPr id="46083" name="Rectangle 3"/>
          <p:cNvSpPr>
            <a:spLocks noGrp="1"/>
          </p:cNvSpPr>
          <p:nvPr>
            <p:ph idx="1"/>
          </p:nvPr>
        </p:nvSpPr>
        <p:spPr>
          <a:xfrm>
            <a:off x="277813" y="1231900"/>
            <a:ext cx="8529637" cy="720725"/>
          </a:xfrm>
        </p:spPr>
        <p:txBody>
          <a:bodyPr vert="horz" wrap="square" lIns="91440" tIns="45720" rIns="91440" bIns="45720" anchor="t" anchorCtr="0"/>
          <a:p>
            <a:pPr marL="0" indent="0" algn="l" eaLnBrk="1" hangingPunct="1">
              <a:lnSpc>
                <a:spcPct val="150000"/>
              </a:lnSpc>
              <a:buNone/>
            </a:pPr>
            <a:r>
              <a:rPr lang="en-US" altLang="zh-CN" sz="2000" dirty="0">
                <a:ea typeface="宋体" panose="02010600030101010101" pitchFamily="2" charset="-122"/>
              </a:rPr>
              <a:t>       A virtual machine monitor( hypervisor) is a virtualization platform that allows multiple operating systems to run on a host computer at the same time.</a:t>
            </a:r>
            <a:endParaRPr lang="en-US" altLang="zh-CN" sz="2000" dirty="0">
              <a:ea typeface="宋体" panose="02010600030101010101" pitchFamily="2" charset="-122"/>
            </a:endParaRPr>
          </a:p>
        </p:txBody>
      </p:sp>
      <p:grpSp>
        <p:nvGrpSpPr>
          <p:cNvPr id="46084" name="组合 7"/>
          <p:cNvGrpSpPr/>
          <p:nvPr/>
        </p:nvGrpSpPr>
        <p:grpSpPr>
          <a:xfrm>
            <a:off x="1758950" y="3629025"/>
            <a:ext cx="5059363" cy="2692400"/>
            <a:chOff x="1857375" y="1155700"/>
            <a:chExt cx="5099050" cy="4260850"/>
          </a:xfrm>
        </p:grpSpPr>
        <p:pic>
          <p:nvPicPr>
            <p:cNvPr id="46086" name="Picture 4" descr="03-07"/>
            <p:cNvPicPr>
              <a:picLocks noChangeAspect="1"/>
            </p:cNvPicPr>
            <p:nvPr/>
          </p:nvPicPr>
          <p:blipFill>
            <a:blip r:embed="rId1"/>
            <a:srcRect l="52492"/>
            <a:stretch>
              <a:fillRect/>
            </a:stretch>
          </p:blipFill>
          <p:spPr>
            <a:xfrm>
              <a:off x="1857375" y="1155700"/>
              <a:ext cx="5099050" cy="4260850"/>
            </a:xfrm>
            <a:prstGeom prst="rect">
              <a:avLst/>
            </a:prstGeom>
            <a:noFill/>
            <a:ln w="9525">
              <a:noFill/>
            </a:ln>
          </p:spPr>
        </p:pic>
        <p:sp>
          <p:nvSpPr>
            <p:cNvPr id="46087" name="矩形 6"/>
            <p:cNvSpPr/>
            <p:nvPr/>
          </p:nvSpPr>
          <p:spPr>
            <a:xfrm>
              <a:off x="4593265" y="5135528"/>
              <a:ext cx="350874" cy="276999"/>
            </a:xfrm>
            <a:prstGeom prst="rect">
              <a:avLst/>
            </a:prstGeom>
            <a:solidFill>
              <a:schemeClr val="bg1"/>
            </a:solid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sp>
        <p:nvSpPr>
          <p:cNvPr id="46085" name="Rectangle 3"/>
          <p:cNvSpPr txBox="1"/>
          <p:nvPr/>
        </p:nvSpPr>
        <p:spPr>
          <a:xfrm>
            <a:off x="219075" y="2259013"/>
            <a:ext cx="8588375" cy="1063625"/>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1143000" lvl="2" indent="-228600">
              <a:lnSpc>
                <a:spcPct val="150000"/>
              </a:lnSpc>
              <a:buFont typeface="Wingdings" panose="05000000000000000000" pitchFamily="2" charset="2"/>
              <a:buChar char="ü"/>
            </a:pPr>
            <a:r>
              <a:rPr lang="en-US" altLang="zh-CN" sz="1800" dirty="0">
                <a:solidFill>
                  <a:srgbClr val="FF0000"/>
                </a:solidFill>
                <a:ea typeface="宋体" panose="02010600030101010101" pitchFamily="2" charset="-122"/>
              </a:rPr>
              <a:t>Host</a:t>
            </a:r>
            <a:r>
              <a:rPr lang="en-US" altLang="zh-CN" sz="1800" dirty="0">
                <a:ea typeface="宋体" panose="02010600030101010101" pitchFamily="2" charset="-122"/>
              </a:rPr>
              <a:t> – the machine and/or software on which the VMM is implemented</a:t>
            </a:r>
            <a:endParaRPr lang="en-US" altLang="zh-CN" sz="1800" dirty="0">
              <a:ea typeface="宋体" panose="02010600030101010101" pitchFamily="2" charset="-122"/>
            </a:endParaRPr>
          </a:p>
          <a:p>
            <a:pPr marL="1143000" lvl="2" indent="-228600">
              <a:lnSpc>
                <a:spcPct val="150000"/>
              </a:lnSpc>
              <a:buFont typeface="Wingdings" panose="05000000000000000000" pitchFamily="2" charset="2"/>
              <a:buChar char="ü"/>
            </a:pPr>
            <a:r>
              <a:rPr lang="en-US" altLang="zh-CN" sz="1800" dirty="0">
                <a:solidFill>
                  <a:srgbClr val="FF0000"/>
                </a:solidFill>
                <a:ea typeface="宋体" panose="02010600030101010101" pitchFamily="2" charset="-122"/>
              </a:rPr>
              <a:t>Guest </a:t>
            </a:r>
            <a:r>
              <a:rPr lang="en-US" altLang="zh-CN" sz="1800" dirty="0">
                <a:ea typeface="宋体" panose="02010600030101010101" pitchFamily="2" charset="-122"/>
              </a:rPr>
              <a:t>– the OS which executes under the control of the VMM</a:t>
            </a:r>
            <a:endParaRPr lang="en-US" altLang="zh-CN" sz="1800"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655638" y="53975"/>
            <a:ext cx="7597775" cy="792163"/>
          </a:xfrm>
        </p:spPr>
        <p:txBody>
          <a:bodyPr vert="horz" wrap="square" lIns="91440" tIns="45720" rIns="91440" bIns="45720" anchor="ctr" anchorCtr="0"/>
          <a:p>
            <a:r>
              <a:rPr lang="en-US" altLang="zh-CN" sz="3600" dirty="0">
                <a:ea typeface="宋体" panose="02010600030101010101" pitchFamily="2" charset="-122"/>
              </a:rPr>
              <a:t>VMM——</a:t>
            </a:r>
            <a:r>
              <a:rPr lang="zh-CN" altLang="en-US" sz="3600" dirty="0">
                <a:ea typeface="宋体" panose="02010600030101010101" pitchFamily="2" charset="-122"/>
              </a:rPr>
              <a:t>对应</a:t>
            </a:r>
            <a:r>
              <a:rPr lang="zh-CN" altLang="en-US" sz="3600" dirty="0">
                <a:latin typeface="Helvetica" pitchFamily="34" charset="0"/>
                <a:ea typeface="宋体" panose="02010600030101010101" pitchFamily="2" charset="-122"/>
              </a:rPr>
              <a:t>类型</a:t>
            </a:r>
            <a:r>
              <a:rPr lang="zh-CN" altLang="en-US" sz="3600" dirty="0">
                <a:ea typeface="宋体" panose="02010600030101010101" pitchFamily="2" charset="-122"/>
              </a:rPr>
              <a:t>（</a:t>
            </a:r>
            <a:r>
              <a:rPr lang="en-US" altLang="zh-CN" sz="3600" dirty="0">
                <a:ea typeface="宋体" panose="02010600030101010101" pitchFamily="2" charset="-122"/>
              </a:rPr>
              <a:t>a</a:t>
            </a:r>
            <a:r>
              <a:rPr lang="zh-CN" altLang="en-US" sz="3600" dirty="0">
                <a:ea typeface="宋体" panose="02010600030101010101" pitchFamily="2" charset="-122"/>
              </a:rPr>
              <a:t>）和（</a:t>
            </a:r>
            <a:r>
              <a:rPr lang="en-US" altLang="zh-CN" sz="3600" dirty="0">
                <a:ea typeface="宋体" panose="02010600030101010101" pitchFamily="2" charset="-122"/>
              </a:rPr>
              <a:t>b</a:t>
            </a:r>
            <a:r>
              <a:rPr lang="zh-CN" altLang="en-US" sz="3600" dirty="0">
                <a:ea typeface="宋体" panose="02010600030101010101" pitchFamily="2" charset="-122"/>
              </a:rPr>
              <a:t>）</a:t>
            </a:r>
            <a:endParaRPr lang="en-US" altLang="zh-CN" sz="3600" dirty="0">
              <a:ea typeface="宋体" panose="02010600030101010101" pitchFamily="2" charset="-122"/>
            </a:endParaRPr>
          </a:p>
        </p:txBody>
      </p:sp>
      <p:sp>
        <p:nvSpPr>
          <p:cNvPr id="47107" name="Rectangle 3"/>
          <p:cNvSpPr>
            <a:spLocks noGrp="1"/>
          </p:cNvSpPr>
          <p:nvPr>
            <p:ph idx="1"/>
          </p:nvPr>
        </p:nvSpPr>
        <p:spPr>
          <a:xfrm>
            <a:off x="192088" y="1049338"/>
            <a:ext cx="4089400" cy="533400"/>
          </a:xfrm>
        </p:spPr>
        <p:txBody>
          <a:bodyPr vert="horz" wrap="square" lIns="91440" tIns="45720" rIns="91440" bIns="45720" anchor="t" anchorCtr="0"/>
          <a:p>
            <a:pPr>
              <a:lnSpc>
                <a:spcPct val="90000"/>
              </a:lnSpc>
              <a:buFont typeface="Wingdings" panose="05000000000000000000" pitchFamily="2" charset="2"/>
              <a:buChar char="n"/>
            </a:pPr>
            <a:r>
              <a:rPr lang="en-US" altLang="zh-CN" sz="2400" dirty="0">
                <a:ea typeface="宋体" panose="02010600030101010101" pitchFamily="2" charset="-122"/>
              </a:rPr>
              <a:t>System</a:t>
            </a:r>
            <a:r>
              <a:rPr lang="zh-CN" altLang="en-US" sz="2400" dirty="0">
                <a:ea typeface="宋体" panose="02010600030101010101" pitchFamily="2" charset="-122"/>
              </a:rPr>
              <a:t>（对应（</a:t>
            </a:r>
            <a:r>
              <a:rPr lang="en-US" altLang="zh-CN" sz="2400" dirty="0">
                <a:ea typeface="宋体" panose="02010600030101010101" pitchFamily="2" charset="-122"/>
              </a:rPr>
              <a:t>a</a:t>
            </a:r>
            <a:r>
              <a:rPr lang="zh-CN" altLang="en-US" sz="2400" dirty="0">
                <a:ea typeface="宋体" panose="02010600030101010101" pitchFamily="2" charset="-122"/>
              </a:rPr>
              <a:t>））</a:t>
            </a:r>
            <a:endParaRPr lang="en-US" altLang="zh-CN" sz="2400" dirty="0">
              <a:ea typeface="宋体" panose="02010600030101010101" pitchFamily="2" charset="-122"/>
            </a:endParaRPr>
          </a:p>
        </p:txBody>
      </p:sp>
      <p:pic>
        <p:nvPicPr>
          <p:cNvPr id="47108" name="Picture 4"/>
          <p:cNvPicPr>
            <a:picLocks noChangeAspect="1"/>
          </p:cNvPicPr>
          <p:nvPr/>
        </p:nvPicPr>
        <p:blipFill>
          <a:blip r:embed="rId1"/>
          <a:stretch>
            <a:fillRect/>
          </a:stretch>
        </p:blipFill>
        <p:spPr>
          <a:xfrm>
            <a:off x="514350" y="4114800"/>
            <a:ext cx="3865563" cy="1978025"/>
          </a:xfrm>
          <a:prstGeom prst="rect">
            <a:avLst/>
          </a:prstGeom>
          <a:noFill/>
          <a:ln w="9525">
            <a:noFill/>
          </a:ln>
        </p:spPr>
      </p:pic>
      <p:pic>
        <p:nvPicPr>
          <p:cNvPr id="47109" name="Picture 5"/>
          <p:cNvPicPr>
            <a:picLocks noChangeAspect="1"/>
          </p:cNvPicPr>
          <p:nvPr/>
        </p:nvPicPr>
        <p:blipFill>
          <a:blip r:embed="rId2"/>
          <a:stretch>
            <a:fillRect/>
          </a:stretch>
        </p:blipFill>
        <p:spPr>
          <a:xfrm>
            <a:off x="533400" y="1457325"/>
            <a:ext cx="3921125" cy="1895475"/>
          </a:xfrm>
          <a:prstGeom prst="rect">
            <a:avLst/>
          </a:prstGeom>
          <a:noFill/>
          <a:ln w="9525">
            <a:noFill/>
          </a:ln>
        </p:spPr>
      </p:pic>
      <p:sp>
        <p:nvSpPr>
          <p:cNvPr id="41991" name="Rectangle 8"/>
          <p:cNvSpPr>
            <a:spLocks noChangeArrowheads="1"/>
          </p:cNvSpPr>
          <p:nvPr/>
        </p:nvSpPr>
        <p:spPr bwMode="auto">
          <a:xfrm>
            <a:off x="4071938" y="1566863"/>
            <a:ext cx="4811713" cy="1590675"/>
          </a:xfrm>
          <a:prstGeom prst="rect">
            <a:avLst/>
          </a:prstGeom>
          <a:noFill/>
          <a:ln w="9525">
            <a:noFill/>
            <a:miter lim="800000"/>
          </a:ln>
        </p:spPr>
        <p:txBody>
          <a:bodyPr/>
          <a:lstStyle/>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Provides ABI interface</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Efficient execution</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Can add OS-independent services (e.g., migration,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intrustion</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detection)</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p:txBody>
      </p:sp>
      <p:sp>
        <p:nvSpPr>
          <p:cNvPr id="41992" name="Rectangle 9"/>
          <p:cNvSpPr>
            <a:spLocks noChangeArrowheads="1"/>
          </p:cNvSpPr>
          <p:nvPr/>
        </p:nvSpPr>
        <p:spPr bwMode="auto">
          <a:xfrm>
            <a:off x="4103688" y="4078288"/>
            <a:ext cx="4540250" cy="1981200"/>
          </a:xfrm>
          <a:prstGeom prst="rect">
            <a:avLst/>
          </a:prstGeom>
          <a:noFill/>
          <a:ln w="9525">
            <a:noFill/>
            <a:miter lim="800000"/>
          </a:ln>
        </p:spPr>
        <p:txBody>
          <a:bodyPr/>
          <a:lstStyle/>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Provdes</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API interface</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Easier installation</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Leverage OS services (e.g., device drivers)</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Execution overhead (possibly mitigated by just-in-time compilation)</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p:txBody>
      </p:sp>
      <p:sp>
        <p:nvSpPr>
          <p:cNvPr id="47112" name="Rectangle 3"/>
          <p:cNvSpPr txBox="1"/>
          <p:nvPr/>
        </p:nvSpPr>
        <p:spPr>
          <a:xfrm>
            <a:off x="376238" y="3571875"/>
            <a:ext cx="3727450" cy="5334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eaLnBrk="1" hangingPunct="1">
              <a:lnSpc>
                <a:spcPct val="90000"/>
              </a:lnSpc>
              <a:buClr>
                <a:schemeClr val="accent1"/>
              </a:buClr>
              <a:buSzPct val="75000"/>
              <a:buFont typeface="Wingdings" panose="05000000000000000000" pitchFamily="2" charset="2"/>
              <a:buChar char="n"/>
            </a:pPr>
            <a:r>
              <a:rPr lang="en-US" altLang="zh-CN" sz="2400" dirty="0">
                <a:ea typeface="宋体" panose="02010600030101010101" pitchFamily="2" charset="-122"/>
              </a:rPr>
              <a:t>Process</a:t>
            </a:r>
            <a:r>
              <a:rPr lang="zh-CN" altLang="en-US" sz="2400" dirty="0">
                <a:ea typeface="宋体" panose="02010600030101010101" pitchFamily="2" charset="-122"/>
              </a:rPr>
              <a:t> （对应（</a:t>
            </a:r>
            <a:r>
              <a:rPr lang="en-US" altLang="zh-CN" sz="2400" dirty="0">
                <a:ea typeface="宋体" panose="02010600030101010101" pitchFamily="2" charset="-122"/>
              </a:rPr>
              <a:t>b</a:t>
            </a:r>
            <a:r>
              <a:rPr lang="zh-CN" altLang="en-US" sz="2400" dirty="0">
                <a:ea typeface="宋体" panose="02010600030101010101" pitchFamily="2" charset="-122"/>
              </a:rPr>
              <a:t>））</a:t>
            </a:r>
            <a:endParaRPr lang="en-US" altLang="zh-CN" sz="2400" dirty="0">
              <a:ea typeface="宋体" panose="02010600030101010101" pitchFamily="2" charset="-122"/>
            </a:endParaRPr>
          </a:p>
        </p:txBody>
      </p:sp>
      <p:sp>
        <p:nvSpPr>
          <p:cNvPr id="9" name="Rectangle 3"/>
          <p:cNvSpPr txBox="1">
            <a:spLocks noChangeArrowheads="1"/>
          </p:cNvSpPr>
          <p:nvPr/>
        </p:nvSpPr>
        <p:spPr bwMode="auto">
          <a:xfrm>
            <a:off x="376238" y="6059488"/>
            <a:ext cx="7548563" cy="7461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None/>
              <a:defRPr/>
            </a:pPr>
            <a:r>
              <a:rPr kumimoji="0" lang="en-US" altLang="zh-CN" sz="2000" b="0" i="0" u="none" strike="noStrike" kern="0" cap="none" spc="0" normalizeH="0" baseline="0" noProof="0">
                <a:ln>
                  <a:noFill/>
                </a:ln>
                <a:solidFill>
                  <a:srgbClr val="FF0000"/>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a:ln>
                  <a:noFill/>
                </a:ln>
                <a:solidFill>
                  <a:schemeClr val="tx1"/>
                </a:solidFill>
                <a:effectLst/>
                <a:uLnTx/>
                <a:uFillTx/>
                <a:latin typeface="+mn-lt"/>
                <a:ea typeface="宋体" panose="02010600030101010101" pitchFamily="2" charset="-122"/>
                <a:cs typeface="+mn-cs"/>
              </a:rPr>
              <a:t>A process virtual machine, with multiple instances  of (application, runtime) combinations.  Such as JVM.</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System-level Design Approaches</a:t>
            </a:r>
            <a:endParaRPr lang="en-US" altLang="zh-CN" dirty="0">
              <a:ea typeface="宋体" panose="02010600030101010101" pitchFamily="2" charset="-122"/>
            </a:endParaRPr>
          </a:p>
        </p:txBody>
      </p:sp>
      <p:sp>
        <p:nvSpPr>
          <p:cNvPr id="48131" name="Rectangle 3"/>
          <p:cNvSpPr>
            <a:spLocks noGrp="1"/>
          </p:cNvSpPr>
          <p:nvPr>
            <p:ph idx="1"/>
          </p:nvPr>
        </p:nvSpPr>
        <p:spPr>
          <a:xfrm>
            <a:off x="2727325" y="1295400"/>
            <a:ext cx="5197475" cy="1981200"/>
          </a:xfrm>
        </p:spPr>
        <p:txBody>
          <a:bodyPr vert="horz" wrap="square" lIns="91440" tIns="45720" rIns="91440" bIns="45720" anchor="t" anchorCtr="0"/>
          <a:p>
            <a:pPr algn="l">
              <a:lnSpc>
                <a:spcPct val="90000"/>
              </a:lnSpc>
              <a:buFont typeface="Wingdings" panose="05000000000000000000" pitchFamily="2" charset="2"/>
              <a:buChar char="n"/>
            </a:pPr>
            <a:r>
              <a:rPr lang="en-US" altLang="zh-CN" sz="1600" dirty="0">
                <a:ea typeface="宋体" panose="02010600030101010101" pitchFamily="2" charset="-122"/>
              </a:rPr>
              <a:t>Full virtualization (direct execution)</a:t>
            </a:r>
            <a:endParaRPr lang="en-US" altLang="zh-CN" sz="1600" dirty="0">
              <a:ea typeface="宋体" panose="02010600030101010101" pitchFamily="2" charset="-122"/>
            </a:endParaRPr>
          </a:p>
          <a:p>
            <a:pPr lvl="1">
              <a:lnSpc>
                <a:spcPct val="90000"/>
              </a:lnSpc>
              <a:buChar char="–"/>
            </a:pPr>
            <a:r>
              <a:rPr lang="en-US" altLang="zh-CN" sz="1600" dirty="0">
                <a:ea typeface="宋体" panose="02010600030101010101" pitchFamily="2" charset="-122"/>
              </a:rPr>
              <a:t>Exact hardware exposed to OS</a:t>
            </a:r>
            <a:endParaRPr lang="en-US" altLang="zh-CN" sz="1600" dirty="0">
              <a:ea typeface="宋体" panose="02010600030101010101" pitchFamily="2" charset="-122"/>
            </a:endParaRPr>
          </a:p>
          <a:p>
            <a:pPr lvl="1">
              <a:lnSpc>
                <a:spcPct val="90000"/>
              </a:lnSpc>
              <a:buChar char="–"/>
            </a:pPr>
            <a:r>
              <a:rPr lang="en-US" altLang="zh-CN" sz="1600" dirty="0">
                <a:ea typeface="宋体" panose="02010600030101010101" pitchFamily="2" charset="-122"/>
              </a:rPr>
              <a:t>Efficient execution</a:t>
            </a:r>
            <a:endParaRPr lang="en-US" altLang="zh-CN" sz="1600" dirty="0">
              <a:ea typeface="宋体" panose="02010600030101010101" pitchFamily="2" charset="-122"/>
            </a:endParaRPr>
          </a:p>
          <a:p>
            <a:pPr lvl="1">
              <a:lnSpc>
                <a:spcPct val="90000"/>
              </a:lnSpc>
              <a:buChar char="–"/>
            </a:pPr>
            <a:r>
              <a:rPr lang="en-US" altLang="zh-CN" sz="1600" dirty="0">
                <a:ea typeface="宋体" panose="02010600030101010101" pitchFamily="2" charset="-122"/>
              </a:rPr>
              <a:t>OS runs unchanged</a:t>
            </a:r>
            <a:endParaRPr lang="en-US" altLang="zh-CN" sz="1600" dirty="0">
              <a:ea typeface="宋体" panose="02010600030101010101" pitchFamily="2" charset="-122"/>
            </a:endParaRPr>
          </a:p>
          <a:p>
            <a:pPr lvl="1">
              <a:lnSpc>
                <a:spcPct val="90000"/>
              </a:lnSpc>
              <a:buChar char="–"/>
            </a:pPr>
            <a:r>
              <a:rPr lang="en-US" altLang="zh-CN" sz="1600" dirty="0">
                <a:ea typeface="宋体" panose="02010600030101010101" pitchFamily="2" charset="-122"/>
              </a:rPr>
              <a:t>Requires a “virtualizable” architecture</a:t>
            </a:r>
            <a:endParaRPr lang="en-US" altLang="zh-CN" sz="1600" dirty="0">
              <a:ea typeface="宋体" panose="02010600030101010101" pitchFamily="2" charset="-122"/>
            </a:endParaRPr>
          </a:p>
          <a:p>
            <a:pPr lvl="1">
              <a:lnSpc>
                <a:spcPct val="90000"/>
              </a:lnSpc>
              <a:buChar char="–"/>
            </a:pPr>
            <a:r>
              <a:rPr lang="en-US" altLang="zh-CN" sz="1600" dirty="0">
                <a:ea typeface="宋体" panose="02010600030101010101" pitchFamily="2" charset="-122"/>
              </a:rPr>
              <a:t>Example: VMWare</a:t>
            </a:r>
            <a:endParaRPr lang="en-US" altLang="zh-CN" sz="1600" dirty="0">
              <a:ea typeface="宋体" panose="02010600030101010101" pitchFamily="2" charset="-122"/>
            </a:endParaRPr>
          </a:p>
          <a:p>
            <a:pPr algn="l">
              <a:lnSpc>
                <a:spcPct val="90000"/>
              </a:lnSpc>
              <a:buFont typeface="Wingdings" panose="05000000000000000000" pitchFamily="2" charset="2"/>
              <a:buNone/>
            </a:pPr>
            <a:endParaRPr lang="en-US" altLang="zh-CN" sz="1600" dirty="0">
              <a:ea typeface="宋体" panose="02010600030101010101" pitchFamily="2" charset="-122"/>
            </a:endParaRPr>
          </a:p>
        </p:txBody>
      </p:sp>
      <p:pic>
        <p:nvPicPr>
          <p:cNvPr id="48132" name="Picture 4"/>
          <p:cNvPicPr>
            <a:picLocks noChangeAspect="1"/>
          </p:cNvPicPr>
          <p:nvPr/>
        </p:nvPicPr>
        <p:blipFill>
          <a:blip r:embed="rId1"/>
          <a:stretch>
            <a:fillRect/>
          </a:stretch>
        </p:blipFill>
        <p:spPr>
          <a:xfrm>
            <a:off x="304800" y="1295400"/>
            <a:ext cx="2257425" cy="1970088"/>
          </a:xfrm>
          <a:prstGeom prst="rect">
            <a:avLst/>
          </a:prstGeom>
          <a:noFill/>
          <a:ln w="9525">
            <a:noFill/>
          </a:ln>
        </p:spPr>
      </p:pic>
      <p:pic>
        <p:nvPicPr>
          <p:cNvPr id="48133" name="Picture 5"/>
          <p:cNvPicPr>
            <a:picLocks noChangeAspect="1"/>
          </p:cNvPicPr>
          <p:nvPr/>
        </p:nvPicPr>
        <p:blipFill>
          <a:blip r:embed="rId2"/>
          <a:stretch>
            <a:fillRect/>
          </a:stretch>
        </p:blipFill>
        <p:spPr>
          <a:xfrm>
            <a:off x="844550" y="3641725"/>
            <a:ext cx="2209800" cy="2165350"/>
          </a:xfrm>
          <a:prstGeom prst="rect">
            <a:avLst/>
          </a:prstGeom>
          <a:noFill/>
          <a:ln w="9525">
            <a:noFill/>
          </a:ln>
        </p:spPr>
      </p:pic>
      <p:sp>
        <p:nvSpPr>
          <p:cNvPr id="43014" name="Rectangle 7"/>
          <p:cNvSpPr>
            <a:spLocks noChangeArrowheads="1"/>
          </p:cNvSpPr>
          <p:nvPr/>
        </p:nvSpPr>
        <p:spPr bwMode="auto">
          <a:xfrm>
            <a:off x="3187700" y="3756025"/>
            <a:ext cx="5438775" cy="1752600"/>
          </a:xfrm>
          <a:prstGeom prst="rect">
            <a:avLst/>
          </a:prstGeom>
          <a:noFill/>
          <a:ln w="9525">
            <a:noFill/>
            <a:miter lim="800000"/>
          </a:ln>
        </p:spPr>
        <p:txBody>
          <a:bodyPr/>
          <a:lstStyle/>
          <a:p>
            <a:pPr marL="342900" marR="0" lvl="0" indent="-342900" algn="l" defTabSz="914400" rtl="0" eaLnBrk="1" fontAlgn="base" latinLnBrk="0" hangingPunct="1">
              <a:lnSpc>
                <a:spcPct val="90000"/>
              </a:lnSpc>
              <a:spcBef>
                <a:spcPct val="20000"/>
              </a:spcBef>
              <a:spcAft>
                <a:spcPct val="0"/>
              </a:spcAft>
              <a:buClr>
                <a:schemeClr val="accent1"/>
              </a:buClr>
              <a:buSzPct val="75000"/>
              <a:buFont typeface="Wingdings" panose="05000000000000000000" pitchFamily="2" charset="2"/>
              <a:buChar char="n"/>
              <a:defRPr/>
            </a:pP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rPr>
              <a:t>Para virtualization</a:t>
            </a: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Ø"/>
              <a:defRPr/>
            </a:pP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OS modified to execute under VMM</a:t>
            </a:r>
            <a:endPar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Ø"/>
              <a:defRPr/>
            </a:pP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Requires porting OS code</a:t>
            </a:r>
            <a:endPar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Ø"/>
              <a:defRPr/>
            </a:pP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Execution overhead</a:t>
            </a:r>
            <a:endPar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Ø"/>
              <a:defRPr/>
            </a:pP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Necessary for some (popular) architectures (e.g., x86)</a:t>
            </a:r>
            <a:endPar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Ø"/>
              <a:defRPr/>
            </a:pP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Examples: </a:t>
            </a:r>
            <a:r>
              <a:rPr kumimoji="0" lang="en-US" altLang="zh-CN" sz="16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sym typeface="+mn-ea"/>
              </a:rPr>
              <a:t>Xen</a:t>
            </a:r>
            <a:r>
              <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rPr>
              <a:t>, Denali</a:t>
            </a:r>
            <a:endParaRPr kumimoji="0" lang="en-US" altLang="zh-CN" sz="1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342900" marR="0" lvl="0" indent="-342900" algn="l" defTabSz="914400" rtl="0" eaLnBrk="1" fontAlgn="base" latinLnBrk="0" hangingPunct="1">
              <a:lnSpc>
                <a:spcPct val="90000"/>
              </a:lnSpc>
              <a:spcBef>
                <a:spcPct val="20000"/>
              </a:spcBef>
              <a:spcAft>
                <a:spcPct val="0"/>
              </a:spcAft>
              <a:buClr>
                <a:schemeClr val="accent1"/>
              </a:buClr>
              <a:buSzPct val="75000"/>
              <a:buFont typeface="Wingdings" panose="05000000000000000000" pitchFamily="2" charset="2"/>
              <a:buNone/>
              <a:defRPr/>
            </a:pPr>
            <a:endParaRPr kumimoji="0" lang="en-US" altLang="zh-CN" sz="1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a:p>
            <a:pPr marL="342900" marR="0" lvl="0" indent="-342900" algn="l" defTabSz="914400" rtl="0" eaLnBrk="1" fontAlgn="base" latinLnBrk="0" hangingPunct="1">
              <a:lnSpc>
                <a:spcPct val="90000"/>
              </a:lnSpc>
              <a:spcBef>
                <a:spcPct val="20000"/>
              </a:spcBef>
              <a:spcAft>
                <a:spcPct val="0"/>
              </a:spcAft>
              <a:buClr>
                <a:schemeClr val="accent1"/>
              </a:buClr>
              <a:buSzPct val="75000"/>
              <a:buFont typeface="Wingdings" panose="05000000000000000000" pitchFamily="2" charset="2"/>
              <a:buChar char="n"/>
              <a:defRPr/>
            </a:pPr>
            <a:endParaRPr kumimoji="0" lang="en-US" altLang="zh-CN" sz="26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图片 4" descr="image003.gif"/>
          <p:cNvPicPr>
            <a:picLocks noChangeAspect="1"/>
          </p:cNvPicPr>
          <p:nvPr/>
        </p:nvPicPr>
        <p:blipFill>
          <a:blip r:embed="rId1"/>
          <a:stretch>
            <a:fillRect/>
          </a:stretch>
        </p:blipFill>
        <p:spPr>
          <a:xfrm>
            <a:off x="4848225" y="1712913"/>
            <a:ext cx="4225925" cy="4040187"/>
          </a:xfrm>
          <a:prstGeom prst="rect">
            <a:avLst/>
          </a:prstGeom>
          <a:noFill/>
          <a:ln w="9525">
            <a:noFill/>
          </a:ln>
        </p:spPr>
      </p:pic>
      <p:pic>
        <p:nvPicPr>
          <p:cNvPr id="49155" name="图片 5" descr="%E6%9C%AA%E5%91%BD%E5%90%8D633714348559638750.JPG"/>
          <p:cNvPicPr>
            <a:picLocks noChangeAspect="1"/>
          </p:cNvPicPr>
          <p:nvPr/>
        </p:nvPicPr>
        <p:blipFill>
          <a:blip r:embed="rId2"/>
          <a:stretch>
            <a:fillRect/>
          </a:stretch>
        </p:blipFill>
        <p:spPr>
          <a:xfrm>
            <a:off x="0" y="881063"/>
            <a:ext cx="4848225" cy="3201987"/>
          </a:xfrm>
          <a:prstGeom prst="rect">
            <a:avLst/>
          </a:prstGeom>
          <a:noFill/>
          <a:ln w="9525">
            <a:noFill/>
          </a:ln>
        </p:spPr>
      </p:pic>
      <p:sp>
        <p:nvSpPr>
          <p:cNvPr id="49156" name="Rectangle 2"/>
          <p:cNvSpPr txBox="1"/>
          <p:nvPr/>
        </p:nvSpPr>
        <p:spPr>
          <a:xfrm>
            <a:off x="0" y="0"/>
            <a:ext cx="9144000" cy="776288"/>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en-US" altLang="zh-CN" sz="4400" dirty="0">
                <a:solidFill>
                  <a:srgbClr val="FF0000"/>
                </a:solidFill>
                <a:ea typeface="宋体" panose="02010600030101010101" pitchFamily="2" charset="-122"/>
              </a:rPr>
              <a:t>Memory Management</a:t>
            </a:r>
            <a:endParaRPr lang="en-US" altLang="zh-CN" sz="4400" dirty="0">
              <a:solidFill>
                <a:srgbClr val="FF0000"/>
              </a:solidFill>
              <a:ea typeface="宋体" panose="02010600030101010101" pitchFamily="2" charset="-122"/>
            </a:endParaRPr>
          </a:p>
        </p:txBody>
      </p:sp>
      <p:pic>
        <p:nvPicPr>
          <p:cNvPr id="49157" name="图片 8" descr="150227780.jpg"/>
          <p:cNvPicPr>
            <a:picLocks noChangeAspect="1"/>
          </p:cNvPicPr>
          <p:nvPr/>
        </p:nvPicPr>
        <p:blipFill>
          <a:blip r:embed="rId3"/>
          <a:stretch>
            <a:fillRect/>
          </a:stretch>
        </p:blipFill>
        <p:spPr>
          <a:xfrm>
            <a:off x="0" y="4083050"/>
            <a:ext cx="5019675" cy="277495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p:txBody>
          <a:bodyPr vert="horz" wrap="square" lIns="91440" tIns="45720" rIns="91440" bIns="45720" anchor="ctr" anchorCtr="0"/>
          <a:p>
            <a:r>
              <a:rPr lang="en-US" altLang="zh-CN" dirty="0">
                <a:ea typeface="宋体" panose="02010600030101010101" pitchFamily="2" charset="-122"/>
              </a:rPr>
              <a:t>Memory Management</a:t>
            </a:r>
            <a:endParaRPr lang="en-US" altLang="zh-CN" dirty="0">
              <a:ea typeface="宋体" panose="02010600030101010101" pitchFamily="2" charset="-122"/>
            </a:endParaRPr>
          </a:p>
        </p:txBody>
      </p:sp>
      <p:sp>
        <p:nvSpPr>
          <p:cNvPr id="218115" name="Rectangle 3"/>
          <p:cNvSpPr>
            <a:spLocks noGrp="1"/>
          </p:cNvSpPr>
          <p:nvPr>
            <p:ph idx="1"/>
          </p:nvPr>
        </p:nvSpPr>
        <p:spPr>
          <a:xfrm>
            <a:off x="6019800" y="4953000"/>
            <a:ext cx="2819400" cy="990600"/>
          </a:xfrm>
        </p:spPr>
        <p:txBody>
          <a:bodyPr vert="horz" wrap="square" lIns="91440" tIns="45720" rIns="91440" bIns="45720" anchor="t" anchorCtr="0"/>
          <a:p>
            <a:pPr algn="l">
              <a:lnSpc>
                <a:spcPct val="80000"/>
              </a:lnSpc>
            </a:pPr>
            <a:r>
              <a:rPr lang="en-US" altLang="zh-CN" sz="1700" dirty="0">
                <a:ea typeface="宋体" panose="02010600030101010101" pitchFamily="2" charset="-122"/>
              </a:rPr>
              <a:t>Isolation/protection of Guest OS address spaces</a:t>
            </a:r>
            <a:endParaRPr lang="en-US" altLang="zh-CN" sz="1700" dirty="0">
              <a:ea typeface="宋体" panose="02010600030101010101" pitchFamily="2" charset="-122"/>
            </a:endParaRPr>
          </a:p>
          <a:p>
            <a:pPr algn="l">
              <a:lnSpc>
                <a:spcPct val="80000"/>
              </a:lnSpc>
            </a:pPr>
            <a:r>
              <a:rPr lang="en-US" altLang="zh-CN" sz="1700" dirty="0">
                <a:ea typeface="宋体" panose="02010600030101010101" pitchFamily="2" charset="-122"/>
              </a:rPr>
              <a:t>Efficient MM address translation</a:t>
            </a:r>
            <a:endParaRPr lang="en-US" altLang="zh-CN" sz="1700" dirty="0">
              <a:ea typeface="宋体" panose="02010600030101010101" pitchFamily="2" charset="-122"/>
            </a:endParaRPr>
          </a:p>
        </p:txBody>
      </p:sp>
      <p:grpSp>
        <p:nvGrpSpPr>
          <p:cNvPr id="2" name="Group 117"/>
          <p:cNvGrpSpPr/>
          <p:nvPr/>
        </p:nvGrpSpPr>
        <p:grpSpPr>
          <a:xfrm>
            <a:off x="1219200" y="762000"/>
            <a:ext cx="2133600" cy="4084638"/>
            <a:chOff x="768" y="480"/>
            <a:chExt cx="1344" cy="2573"/>
          </a:xfrm>
        </p:grpSpPr>
        <p:sp>
          <p:nvSpPr>
            <p:cNvPr id="50241" name="Line 63"/>
            <p:cNvSpPr/>
            <p:nvPr/>
          </p:nvSpPr>
          <p:spPr>
            <a:xfrm flipH="1">
              <a:off x="1152" y="1181"/>
              <a:ext cx="960" cy="432"/>
            </a:xfrm>
            <a:prstGeom prst="line">
              <a:avLst/>
            </a:prstGeom>
            <a:ln w="9525" cap="flat" cmpd="sng">
              <a:solidFill>
                <a:schemeClr val="tx1"/>
              </a:solidFill>
              <a:prstDash val="dash"/>
              <a:headEnd type="none" w="med" len="med"/>
              <a:tailEnd type="none" w="med" len="med"/>
            </a:ln>
          </p:spPr>
        </p:sp>
        <p:sp>
          <p:nvSpPr>
            <p:cNvPr id="50242" name="Line 64"/>
            <p:cNvSpPr/>
            <p:nvPr/>
          </p:nvSpPr>
          <p:spPr>
            <a:xfrm flipH="1">
              <a:off x="1152" y="1325"/>
              <a:ext cx="960" cy="432"/>
            </a:xfrm>
            <a:prstGeom prst="line">
              <a:avLst/>
            </a:prstGeom>
            <a:ln w="9525" cap="flat" cmpd="sng">
              <a:solidFill>
                <a:schemeClr val="tx1"/>
              </a:solidFill>
              <a:prstDash val="dash"/>
              <a:headEnd type="none" w="med" len="med"/>
              <a:tailEnd type="none" w="med" len="med"/>
            </a:ln>
          </p:spPr>
        </p:sp>
        <p:grpSp>
          <p:nvGrpSpPr>
            <p:cNvPr id="50243" name="Group 116"/>
            <p:cNvGrpSpPr/>
            <p:nvPr/>
          </p:nvGrpSpPr>
          <p:grpSpPr>
            <a:xfrm>
              <a:off x="768" y="480"/>
              <a:ext cx="1344" cy="2573"/>
              <a:chOff x="768" y="480"/>
              <a:chExt cx="1344" cy="2573"/>
            </a:xfrm>
          </p:grpSpPr>
          <p:grpSp>
            <p:nvGrpSpPr>
              <p:cNvPr id="50244" name="Group 51"/>
              <p:cNvGrpSpPr/>
              <p:nvPr/>
            </p:nvGrpSpPr>
            <p:grpSpPr>
              <a:xfrm>
                <a:off x="816" y="749"/>
                <a:ext cx="336" cy="2304"/>
                <a:chOff x="1872" y="1248"/>
                <a:chExt cx="336" cy="2304"/>
              </a:xfrm>
            </p:grpSpPr>
            <p:grpSp>
              <p:nvGrpSpPr>
                <p:cNvPr id="50259" name="Group 29"/>
                <p:cNvGrpSpPr/>
                <p:nvPr/>
              </p:nvGrpSpPr>
              <p:grpSpPr>
                <a:xfrm>
                  <a:off x="1872" y="2400"/>
                  <a:ext cx="336" cy="1152"/>
                  <a:chOff x="3504" y="1392"/>
                  <a:chExt cx="336" cy="1152"/>
                </a:xfrm>
              </p:grpSpPr>
              <p:grpSp>
                <p:nvGrpSpPr>
                  <p:cNvPr id="50271" name="Group 30"/>
                  <p:cNvGrpSpPr/>
                  <p:nvPr/>
                </p:nvGrpSpPr>
                <p:grpSpPr>
                  <a:xfrm>
                    <a:off x="3504" y="1968"/>
                    <a:ext cx="336" cy="576"/>
                    <a:chOff x="4128" y="1392"/>
                    <a:chExt cx="336" cy="576"/>
                  </a:xfrm>
                </p:grpSpPr>
                <p:sp>
                  <p:nvSpPr>
                    <p:cNvPr id="50277" name="Rectangle 31"/>
                    <p:cNvSpPr/>
                    <p:nvPr/>
                  </p:nvSpPr>
                  <p:spPr>
                    <a:xfrm>
                      <a:off x="4128" y="1824"/>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8" name="Rectangle 32"/>
                    <p:cNvSpPr/>
                    <p:nvPr/>
                  </p:nvSpPr>
                  <p:spPr>
                    <a:xfrm>
                      <a:off x="4128" y="1680"/>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9" name="Rectangle 33"/>
                    <p:cNvSpPr/>
                    <p:nvPr/>
                  </p:nvSpPr>
                  <p:spPr>
                    <a:xfrm>
                      <a:off x="4128" y="1536"/>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80" name="Rectangle 34"/>
                    <p:cNvSpPr/>
                    <p:nvPr/>
                  </p:nvSpPr>
                  <p:spPr>
                    <a:xfrm>
                      <a:off x="4128" y="1392"/>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50272" name="Group 35"/>
                  <p:cNvGrpSpPr/>
                  <p:nvPr/>
                </p:nvGrpSpPr>
                <p:grpSpPr>
                  <a:xfrm>
                    <a:off x="3504" y="1392"/>
                    <a:ext cx="336" cy="576"/>
                    <a:chOff x="4128" y="1392"/>
                    <a:chExt cx="336" cy="576"/>
                  </a:xfrm>
                </p:grpSpPr>
                <p:sp>
                  <p:nvSpPr>
                    <p:cNvPr id="50273" name="Rectangle 36"/>
                    <p:cNvSpPr/>
                    <p:nvPr/>
                  </p:nvSpPr>
                  <p:spPr>
                    <a:xfrm>
                      <a:off x="4128" y="1824"/>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4" name="Rectangle 37"/>
                    <p:cNvSpPr/>
                    <p:nvPr/>
                  </p:nvSpPr>
                  <p:spPr>
                    <a:xfrm>
                      <a:off x="4128" y="1680"/>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5" name="Rectangle 38"/>
                    <p:cNvSpPr/>
                    <p:nvPr/>
                  </p:nvSpPr>
                  <p:spPr>
                    <a:xfrm>
                      <a:off x="4128" y="1536"/>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6" name="Rectangle 39"/>
                    <p:cNvSpPr/>
                    <p:nvPr/>
                  </p:nvSpPr>
                  <p:spPr>
                    <a:xfrm>
                      <a:off x="4128" y="1392"/>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grpSp>
              <p:nvGrpSpPr>
                <p:cNvPr id="50260" name="Group 40"/>
                <p:cNvGrpSpPr/>
                <p:nvPr/>
              </p:nvGrpSpPr>
              <p:grpSpPr>
                <a:xfrm>
                  <a:off x="1872" y="1248"/>
                  <a:ext cx="336" cy="1152"/>
                  <a:chOff x="3504" y="1392"/>
                  <a:chExt cx="336" cy="1152"/>
                </a:xfrm>
              </p:grpSpPr>
              <p:grpSp>
                <p:nvGrpSpPr>
                  <p:cNvPr id="50261" name="Group 41"/>
                  <p:cNvGrpSpPr/>
                  <p:nvPr/>
                </p:nvGrpSpPr>
                <p:grpSpPr>
                  <a:xfrm>
                    <a:off x="3504" y="1968"/>
                    <a:ext cx="336" cy="576"/>
                    <a:chOff x="4128" y="1392"/>
                    <a:chExt cx="336" cy="576"/>
                  </a:xfrm>
                </p:grpSpPr>
                <p:sp>
                  <p:nvSpPr>
                    <p:cNvPr id="50267" name="Rectangle 42"/>
                    <p:cNvSpPr/>
                    <p:nvPr/>
                  </p:nvSpPr>
                  <p:spPr>
                    <a:xfrm>
                      <a:off x="4128" y="1824"/>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68" name="Rectangle 43"/>
                    <p:cNvSpPr/>
                    <p:nvPr/>
                  </p:nvSpPr>
                  <p:spPr>
                    <a:xfrm>
                      <a:off x="4128" y="1680"/>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69" name="Rectangle 44"/>
                    <p:cNvSpPr/>
                    <p:nvPr/>
                  </p:nvSpPr>
                  <p:spPr>
                    <a:xfrm>
                      <a:off x="4128" y="1536"/>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70" name="Rectangle 45"/>
                    <p:cNvSpPr/>
                    <p:nvPr/>
                  </p:nvSpPr>
                  <p:spPr>
                    <a:xfrm>
                      <a:off x="4128" y="1392"/>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50262" name="Group 46"/>
                  <p:cNvGrpSpPr/>
                  <p:nvPr/>
                </p:nvGrpSpPr>
                <p:grpSpPr>
                  <a:xfrm>
                    <a:off x="3504" y="1392"/>
                    <a:ext cx="336" cy="576"/>
                    <a:chOff x="4128" y="1392"/>
                    <a:chExt cx="336" cy="576"/>
                  </a:xfrm>
                </p:grpSpPr>
                <p:sp>
                  <p:nvSpPr>
                    <p:cNvPr id="50263" name="Rectangle 47"/>
                    <p:cNvSpPr/>
                    <p:nvPr/>
                  </p:nvSpPr>
                  <p:spPr>
                    <a:xfrm>
                      <a:off x="4128" y="1824"/>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64" name="Rectangle 48"/>
                    <p:cNvSpPr/>
                    <p:nvPr/>
                  </p:nvSpPr>
                  <p:spPr>
                    <a:xfrm>
                      <a:off x="4128" y="1680"/>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65" name="Rectangle 49"/>
                    <p:cNvSpPr/>
                    <p:nvPr/>
                  </p:nvSpPr>
                  <p:spPr>
                    <a:xfrm>
                      <a:off x="4128" y="1536"/>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66" name="Rectangle 50"/>
                    <p:cNvSpPr/>
                    <p:nvPr/>
                  </p:nvSpPr>
                  <p:spPr>
                    <a:xfrm>
                      <a:off x="4128" y="1392"/>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grpSp>
          <p:sp>
            <p:nvSpPr>
              <p:cNvPr id="50245" name="Text Box 53"/>
              <p:cNvSpPr txBox="1"/>
              <p:nvPr/>
            </p:nvSpPr>
            <p:spPr>
              <a:xfrm>
                <a:off x="768" y="480"/>
                <a:ext cx="447" cy="28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ts val="1000"/>
                  </a:lnSpc>
                  <a:spcBef>
                    <a:spcPct val="50000"/>
                  </a:spcBef>
                  <a:buClrTx/>
                  <a:buNone/>
                </a:pPr>
                <a:r>
                  <a:rPr lang="en-US" altLang="zh-CN" sz="1200" dirty="0">
                    <a:ea typeface="宋体" panose="02010600030101010101" pitchFamily="2" charset="-122"/>
                  </a:rPr>
                  <a:t>VMM</a:t>
                </a:r>
                <a:endParaRPr lang="en-US" altLang="zh-CN" sz="1200" dirty="0">
                  <a:ea typeface="宋体" panose="02010600030101010101" pitchFamily="2" charset="-122"/>
                </a:endParaRPr>
              </a:p>
              <a:p>
                <a:pPr marL="0" lvl="0" indent="0" eaLnBrk="1" hangingPunct="1">
                  <a:lnSpc>
                    <a:spcPts val="1000"/>
                  </a:lnSpc>
                  <a:spcBef>
                    <a:spcPct val="50000"/>
                  </a:spcBef>
                  <a:buClrTx/>
                  <a:buNone/>
                </a:pPr>
                <a:r>
                  <a:rPr lang="en-US" altLang="zh-CN" sz="1200" dirty="0">
                    <a:ea typeface="宋体" panose="02010600030101010101" pitchFamily="2" charset="-122"/>
                  </a:rPr>
                  <a:t>machine</a:t>
                </a:r>
                <a:endParaRPr lang="en-US" altLang="zh-CN" sz="1200" dirty="0">
                  <a:ea typeface="宋体" panose="02010600030101010101" pitchFamily="2" charset="-122"/>
                </a:endParaRPr>
              </a:p>
            </p:txBody>
          </p:sp>
          <p:sp>
            <p:nvSpPr>
              <p:cNvPr id="50246" name="Line 65"/>
              <p:cNvSpPr/>
              <p:nvPr/>
            </p:nvSpPr>
            <p:spPr>
              <a:xfrm flipH="1" flipV="1">
                <a:off x="1152" y="893"/>
                <a:ext cx="960" cy="432"/>
              </a:xfrm>
              <a:prstGeom prst="line">
                <a:avLst/>
              </a:prstGeom>
              <a:ln w="9525" cap="flat" cmpd="sng">
                <a:solidFill>
                  <a:schemeClr val="tx1"/>
                </a:solidFill>
                <a:prstDash val="dash"/>
                <a:headEnd type="none" w="med" len="med"/>
                <a:tailEnd type="none" w="med" len="med"/>
              </a:ln>
            </p:spPr>
          </p:sp>
          <p:sp>
            <p:nvSpPr>
              <p:cNvPr id="50247" name="Line 66"/>
              <p:cNvSpPr/>
              <p:nvPr/>
            </p:nvSpPr>
            <p:spPr>
              <a:xfrm flipH="1" flipV="1">
                <a:off x="1152" y="1037"/>
                <a:ext cx="960" cy="432"/>
              </a:xfrm>
              <a:prstGeom prst="line">
                <a:avLst/>
              </a:prstGeom>
              <a:ln w="9525" cap="flat" cmpd="sng">
                <a:solidFill>
                  <a:schemeClr val="tx1"/>
                </a:solidFill>
                <a:prstDash val="dash"/>
                <a:headEnd type="none" w="med" len="med"/>
                <a:tailEnd type="none" w="med" len="med"/>
              </a:ln>
            </p:spPr>
          </p:sp>
          <p:sp>
            <p:nvSpPr>
              <p:cNvPr id="50248" name="Line 67"/>
              <p:cNvSpPr/>
              <p:nvPr/>
            </p:nvSpPr>
            <p:spPr>
              <a:xfrm flipH="1" flipV="1">
                <a:off x="1152" y="1181"/>
                <a:ext cx="960" cy="432"/>
              </a:xfrm>
              <a:prstGeom prst="line">
                <a:avLst/>
              </a:prstGeom>
              <a:ln w="9525" cap="flat" cmpd="sng">
                <a:solidFill>
                  <a:schemeClr val="tx1"/>
                </a:solidFill>
                <a:prstDash val="dash"/>
                <a:headEnd type="none" w="med" len="med"/>
                <a:tailEnd type="none" w="med" len="med"/>
              </a:ln>
            </p:spPr>
          </p:sp>
          <p:sp>
            <p:nvSpPr>
              <p:cNvPr id="50249" name="Line 68"/>
              <p:cNvSpPr/>
              <p:nvPr/>
            </p:nvSpPr>
            <p:spPr>
              <a:xfrm flipH="1" flipV="1">
                <a:off x="1152" y="1469"/>
                <a:ext cx="960" cy="720"/>
              </a:xfrm>
              <a:prstGeom prst="line">
                <a:avLst/>
              </a:prstGeom>
              <a:ln w="9525" cap="flat" cmpd="sng">
                <a:solidFill>
                  <a:schemeClr val="tx1"/>
                </a:solidFill>
                <a:prstDash val="dash"/>
                <a:headEnd type="none" w="med" len="med"/>
                <a:tailEnd type="none" w="med" len="med"/>
              </a:ln>
            </p:spPr>
          </p:sp>
          <p:sp>
            <p:nvSpPr>
              <p:cNvPr id="50250" name="Line 69"/>
              <p:cNvSpPr/>
              <p:nvPr/>
            </p:nvSpPr>
            <p:spPr>
              <a:xfrm flipH="1" flipV="1">
                <a:off x="1152" y="1613"/>
                <a:ext cx="960" cy="720"/>
              </a:xfrm>
              <a:prstGeom prst="line">
                <a:avLst/>
              </a:prstGeom>
              <a:ln w="9525" cap="flat" cmpd="sng">
                <a:solidFill>
                  <a:schemeClr val="tx1"/>
                </a:solidFill>
                <a:prstDash val="dash"/>
                <a:headEnd type="none" w="med" len="med"/>
                <a:tailEnd type="none" w="med" len="med"/>
              </a:ln>
            </p:spPr>
          </p:sp>
          <p:sp>
            <p:nvSpPr>
              <p:cNvPr id="50251" name="Line 70"/>
              <p:cNvSpPr/>
              <p:nvPr/>
            </p:nvSpPr>
            <p:spPr>
              <a:xfrm flipH="1">
                <a:off x="1152" y="1901"/>
                <a:ext cx="960" cy="864"/>
              </a:xfrm>
              <a:prstGeom prst="line">
                <a:avLst/>
              </a:prstGeom>
              <a:ln w="9525" cap="flat" cmpd="sng">
                <a:solidFill>
                  <a:schemeClr val="tx1"/>
                </a:solidFill>
                <a:prstDash val="dash"/>
                <a:headEnd type="none" w="med" len="med"/>
                <a:tailEnd type="none" w="med" len="med"/>
              </a:ln>
            </p:spPr>
          </p:sp>
          <p:sp>
            <p:nvSpPr>
              <p:cNvPr id="50252" name="Line 71"/>
              <p:cNvSpPr/>
              <p:nvPr/>
            </p:nvSpPr>
            <p:spPr>
              <a:xfrm flipH="1">
                <a:off x="1152" y="2045"/>
                <a:ext cx="960" cy="864"/>
              </a:xfrm>
              <a:prstGeom prst="line">
                <a:avLst/>
              </a:prstGeom>
              <a:ln w="9525" cap="flat" cmpd="sng">
                <a:solidFill>
                  <a:schemeClr val="tx1"/>
                </a:solidFill>
                <a:prstDash val="dash"/>
                <a:headEnd type="none" w="med" len="med"/>
                <a:tailEnd type="none" w="med" len="med"/>
              </a:ln>
            </p:spPr>
          </p:sp>
          <p:sp>
            <p:nvSpPr>
              <p:cNvPr id="50253" name="Line 72"/>
              <p:cNvSpPr/>
              <p:nvPr/>
            </p:nvSpPr>
            <p:spPr>
              <a:xfrm flipH="1">
                <a:off x="1152" y="2045"/>
                <a:ext cx="960" cy="288"/>
              </a:xfrm>
              <a:prstGeom prst="line">
                <a:avLst/>
              </a:prstGeom>
              <a:ln w="9525" cap="flat" cmpd="sng">
                <a:solidFill>
                  <a:schemeClr val="tx1"/>
                </a:solidFill>
                <a:prstDash val="dash"/>
                <a:headEnd type="none" w="med" len="med"/>
                <a:tailEnd type="none" w="med" len="med"/>
              </a:ln>
            </p:spPr>
          </p:sp>
          <p:sp>
            <p:nvSpPr>
              <p:cNvPr id="50254" name="Line 73"/>
              <p:cNvSpPr/>
              <p:nvPr/>
            </p:nvSpPr>
            <p:spPr>
              <a:xfrm flipH="1">
                <a:off x="1152" y="2189"/>
                <a:ext cx="960" cy="288"/>
              </a:xfrm>
              <a:prstGeom prst="line">
                <a:avLst/>
              </a:prstGeom>
              <a:ln w="9525" cap="flat" cmpd="sng">
                <a:solidFill>
                  <a:schemeClr val="tx1"/>
                </a:solidFill>
                <a:prstDash val="dash"/>
                <a:headEnd type="none" w="med" len="med"/>
                <a:tailEnd type="none" w="med" len="med"/>
              </a:ln>
            </p:spPr>
          </p:sp>
          <p:sp>
            <p:nvSpPr>
              <p:cNvPr id="50255" name="Line 74"/>
              <p:cNvSpPr/>
              <p:nvPr/>
            </p:nvSpPr>
            <p:spPr>
              <a:xfrm flipH="1">
                <a:off x="1152" y="1757"/>
                <a:ext cx="960" cy="144"/>
              </a:xfrm>
              <a:prstGeom prst="line">
                <a:avLst/>
              </a:prstGeom>
              <a:ln w="9525" cap="flat" cmpd="sng">
                <a:solidFill>
                  <a:schemeClr val="tx1"/>
                </a:solidFill>
                <a:prstDash val="dash"/>
                <a:headEnd type="none" w="med" len="med"/>
                <a:tailEnd type="none" w="med" len="med"/>
              </a:ln>
            </p:spPr>
          </p:sp>
          <p:sp>
            <p:nvSpPr>
              <p:cNvPr id="50256" name="Line 75"/>
              <p:cNvSpPr/>
              <p:nvPr/>
            </p:nvSpPr>
            <p:spPr>
              <a:xfrm flipH="1">
                <a:off x="1152" y="1901"/>
                <a:ext cx="960" cy="144"/>
              </a:xfrm>
              <a:prstGeom prst="line">
                <a:avLst/>
              </a:prstGeom>
              <a:ln w="9525" cap="flat" cmpd="sng">
                <a:solidFill>
                  <a:schemeClr val="tx1"/>
                </a:solidFill>
                <a:prstDash val="dash"/>
                <a:headEnd type="none" w="med" len="med"/>
                <a:tailEnd type="none" w="med" len="med"/>
              </a:ln>
            </p:spPr>
          </p:sp>
          <p:sp>
            <p:nvSpPr>
              <p:cNvPr id="50257" name="Line 76"/>
              <p:cNvSpPr/>
              <p:nvPr/>
            </p:nvSpPr>
            <p:spPr>
              <a:xfrm flipH="1" flipV="1">
                <a:off x="1152" y="1325"/>
                <a:ext cx="960" cy="288"/>
              </a:xfrm>
              <a:prstGeom prst="line">
                <a:avLst/>
              </a:prstGeom>
              <a:ln w="9525" cap="flat" cmpd="sng">
                <a:solidFill>
                  <a:schemeClr val="tx1"/>
                </a:solidFill>
                <a:prstDash val="dash"/>
                <a:headEnd type="none" w="med" len="med"/>
                <a:tailEnd type="none" w="med" len="med"/>
              </a:ln>
            </p:spPr>
          </p:sp>
          <p:sp>
            <p:nvSpPr>
              <p:cNvPr id="50258" name="Line 77"/>
              <p:cNvSpPr/>
              <p:nvPr/>
            </p:nvSpPr>
            <p:spPr>
              <a:xfrm flipH="1" flipV="1">
                <a:off x="1152" y="1469"/>
                <a:ext cx="960" cy="288"/>
              </a:xfrm>
              <a:prstGeom prst="line">
                <a:avLst/>
              </a:prstGeom>
              <a:ln w="9525" cap="flat" cmpd="sng">
                <a:solidFill>
                  <a:schemeClr val="tx1"/>
                </a:solidFill>
                <a:prstDash val="dash"/>
                <a:headEnd type="none" w="med" len="med"/>
                <a:tailEnd type="none" w="med" len="med"/>
              </a:ln>
            </p:spPr>
          </p:sp>
        </p:grpSp>
      </p:grpSp>
      <p:sp>
        <p:nvSpPr>
          <p:cNvPr id="218191" name="Text Box 79"/>
          <p:cNvSpPr txBox="1"/>
          <p:nvPr/>
        </p:nvSpPr>
        <p:spPr>
          <a:xfrm>
            <a:off x="2514600" y="4419600"/>
            <a:ext cx="658813" cy="3365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VMM</a:t>
            </a:r>
            <a:endParaRPr lang="en-US" altLang="zh-CN" sz="1600" dirty="0">
              <a:ea typeface="宋体" panose="02010600030101010101" pitchFamily="2" charset="-122"/>
            </a:endParaRPr>
          </a:p>
        </p:txBody>
      </p:sp>
      <p:sp>
        <p:nvSpPr>
          <p:cNvPr id="218192" name="Text Box 80"/>
          <p:cNvSpPr txBox="1"/>
          <p:nvPr/>
        </p:nvSpPr>
        <p:spPr>
          <a:xfrm>
            <a:off x="4267200" y="4343400"/>
            <a:ext cx="1020763" cy="3365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GuestOS</a:t>
            </a:r>
            <a:endParaRPr lang="en-US" altLang="zh-CN" sz="1600" dirty="0">
              <a:ea typeface="宋体" panose="02010600030101010101" pitchFamily="2" charset="-122"/>
            </a:endParaRPr>
          </a:p>
        </p:txBody>
      </p:sp>
      <p:cxnSp>
        <p:nvCxnSpPr>
          <p:cNvPr id="218195" name="AutoShape 83"/>
          <p:cNvCxnSpPr>
            <a:stCxn id="218191" idx="1"/>
          </p:cNvCxnSpPr>
          <p:nvPr/>
        </p:nvCxnSpPr>
        <p:spPr>
          <a:xfrm rot="-10800000" flipV="1">
            <a:off x="1562100" y="4587875"/>
            <a:ext cx="952500" cy="258763"/>
          </a:xfrm>
          <a:prstGeom prst="curvedConnector4">
            <a:avLst>
              <a:gd name="adj1" fmla="val 36000"/>
              <a:gd name="adj2" fmla="val 188343"/>
            </a:avLst>
          </a:prstGeom>
          <a:ln w="9525" cap="flat" cmpd="sng">
            <a:solidFill>
              <a:schemeClr val="tx1"/>
            </a:solidFill>
            <a:prstDash val="solid"/>
            <a:headEnd type="none" w="med" len="med"/>
            <a:tailEnd type="triangle" w="med" len="med"/>
          </a:ln>
        </p:spPr>
      </p:cxnSp>
      <p:cxnSp>
        <p:nvCxnSpPr>
          <p:cNvPr id="50184" name="AutoShape 84"/>
          <p:cNvCxnSpPr>
            <a:stCxn id="218191" idx="3"/>
            <a:endCxn id="50211" idx="2"/>
          </p:cNvCxnSpPr>
          <p:nvPr/>
        </p:nvCxnSpPr>
        <p:spPr>
          <a:xfrm flipV="1">
            <a:off x="3173413" y="3597275"/>
            <a:ext cx="463550" cy="990600"/>
          </a:xfrm>
          <a:prstGeom prst="curvedConnector2">
            <a:avLst/>
          </a:prstGeom>
          <a:ln w="9525" cap="flat" cmpd="sng">
            <a:solidFill>
              <a:schemeClr val="tx1"/>
            </a:solidFill>
            <a:prstDash val="solid"/>
            <a:headEnd type="none" w="med" len="med"/>
            <a:tailEnd type="triangle" w="med" len="med"/>
          </a:ln>
        </p:spPr>
      </p:cxnSp>
      <p:cxnSp>
        <p:nvCxnSpPr>
          <p:cNvPr id="50185" name="AutoShape 85"/>
          <p:cNvCxnSpPr>
            <a:stCxn id="218192" idx="1"/>
            <a:endCxn id="50211" idx="2"/>
          </p:cNvCxnSpPr>
          <p:nvPr/>
        </p:nvCxnSpPr>
        <p:spPr>
          <a:xfrm rot="10800000">
            <a:off x="3636963" y="3597275"/>
            <a:ext cx="630237" cy="914400"/>
          </a:xfrm>
          <a:prstGeom prst="curvedConnector2">
            <a:avLst/>
          </a:prstGeom>
          <a:ln w="9525" cap="flat" cmpd="sng">
            <a:solidFill>
              <a:schemeClr val="tx1"/>
            </a:solidFill>
            <a:prstDash val="solid"/>
            <a:headEnd type="none" w="med" len="med"/>
            <a:tailEnd type="triangle" w="med" len="med"/>
          </a:ln>
        </p:spPr>
      </p:cxnSp>
      <p:cxnSp>
        <p:nvCxnSpPr>
          <p:cNvPr id="50186" name="AutoShape 86"/>
          <p:cNvCxnSpPr>
            <a:stCxn id="218192" idx="3"/>
            <a:endCxn id="50215" idx="2"/>
          </p:cNvCxnSpPr>
          <p:nvPr/>
        </p:nvCxnSpPr>
        <p:spPr>
          <a:xfrm flipV="1">
            <a:off x="5287963" y="3065463"/>
            <a:ext cx="342900" cy="1446212"/>
          </a:xfrm>
          <a:prstGeom prst="curvedConnector2">
            <a:avLst/>
          </a:prstGeom>
          <a:ln w="9525" cap="flat" cmpd="sng">
            <a:solidFill>
              <a:schemeClr val="tx1"/>
            </a:solidFill>
            <a:prstDash val="solid"/>
            <a:headEnd type="none" w="med" len="med"/>
            <a:tailEnd type="triangle" w="med" len="med"/>
          </a:ln>
        </p:spPr>
      </p:cxnSp>
      <p:grpSp>
        <p:nvGrpSpPr>
          <p:cNvPr id="11" name="Group 110"/>
          <p:cNvGrpSpPr/>
          <p:nvPr/>
        </p:nvGrpSpPr>
        <p:grpSpPr>
          <a:xfrm>
            <a:off x="1836738" y="4953000"/>
            <a:ext cx="2125662" cy="1235075"/>
            <a:chOff x="1440" y="3120"/>
            <a:chExt cx="1339" cy="778"/>
          </a:xfrm>
        </p:grpSpPr>
        <p:grpSp>
          <p:nvGrpSpPr>
            <p:cNvPr id="50230" name="Group 97"/>
            <p:cNvGrpSpPr/>
            <p:nvPr/>
          </p:nvGrpSpPr>
          <p:grpSpPr>
            <a:xfrm>
              <a:off x="1680" y="3120"/>
              <a:ext cx="816" cy="528"/>
              <a:chOff x="3024" y="2928"/>
              <a:chExt cx="816" cy="528"/>
            </a:xfrm>
          </p:grpSpPr>
          <p:sp>
            <p:nvSpPr>
              <p:cNvPr id="50232" name="Rectangle 98"/>
              <p:cNvSpPr/>
              <p:nvPr/>
            </p:nvSpPr>
            <p:spPr>
              <a:xfrm>
                <a:off x="3264" y="2928"/>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33" name="Rectangle 99"/>
              <p:cNvSpPr/>
              <p:nvPr/>
            </p:nvSpPr>
            <p:spPr>
              <a:xfrm>
                <a:off x="3024"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34" name="Rectangle 100"/>
              <p:cNvSpPr/>
              <p:nvPr/>
            </p:nvSpPr>
            <p:spPr>
              <a:xfrm>
                <a:off x="3264"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35" name="Rectangle 101"/>
              <p:cNvSpPr/>
              <p:nvPr/>
            </p:nvSpPr>
            <p:spPr>
              <a:xfrm>
                <a:off x="3648"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36" name="Line 102"/>
              <p:cNvSpPr/>
              <p:nvPr/>
            </p:nvSpPr>
            <p:spPr>
              <a:xfrm>
                <a:off x="3120" y="3168"/>
                <a:ext cx="624" cy="0"/>
              </a:xfrm>
              <a:prstGeom prst="line">
                <a:avLst/>
              </a:prstGeom>
              <a:ln w="9525" cap="flat" cmpd="sng">
                <a:solidFill>
                  <a:schemeClr val="tx1"/>
                </a:solidFill>
                <a:prstDash val="solid"/>
                <a:headEnd type="none" w="med" len="med"/>
                <a:tailEnd type="none" w="med" len="med"/>
              </a:ln>
            </p:spPr>
          </p:sp>
          <p:sp>
            <p:nvSpPr>
              <p:cNvPr id="50237" name="Line 103"/>
              <p:cNvSpPr/>
              <p:nvPr/>
            </p:nvSpPr>
            <p:spPr>
              <a:xfrm>
                <a:off x="3120" y="3168"/>
                <a:ext cx="0" cy="96"/>
              </a:xfrm>
              <a:prstGeom prst="line">
                <a:avLst/>
              </a:prstGeom>
              <a:ln w="9525" cap="flat" cmpd="sng">
                <a:solidFill>
                  <a:schemeClr val="tx1"/>
                </a:solidFill>
                <a:prstDash val="solid"/>
                <a:headEnd type="none" w="med" len="med"/>
                <a:tailEnd type="none" w="med" len="med"/>
              </a:ln>
            </p:spPr>
          </p:sp>
          <p:sp>
            <p:nvSpPr>
              <p:cNvPr id="50238" name="Line 104"/>
              <p:cNvSpPr/>
              <p:nvPr/>
            </p:nvSpPr>
            <p:spPr>
              <a:xfrm flipV="1">
                <a:off x="3360" y="3168"/>
                <a:ext cx="0" cy="96"/>
              </a:xfrm>
              <a:prstGeom prst="line">
                <a:avLst/>
              </a:prstGeom>
              <a:ln w="9525" cap="flat" cmpd="sng">
                <a:solidFill>
                  <a:schemeClr val="tx1"/>
                </a:solidFill>
                <a:prstDash val="solid"/>
                <a:headEnd type="none" w="med" len="med"/>
                <a:tailEnd type="none" w="med" len="med"/>
              </a:ln>
            </p:spPr>
          </p:sp>
          <p:sp>
            <p:nvSpPr>
              <p:cNvPr id="50239" name="Line 105"/>
              <p:cNvSpPr/>
              <p:nvPr/>
            </p:nvSpPr>
            <p:spPr>
              <a:xfrm>
                <a:off x="3744" y="3168"/>
                <a:ext cx="0" cy="96"/>
              </a:xfrm>
              <a:prstGeom prst="line">
                <a:avLst/>
              </a:prstGeom>
              <a:ln w="9525" cap="flat" cmpd="sng">
                <a:solidFill>
                  <a:schemeClr val="tx1"/>
                </a:solidFill>
                <a:prstDash val="solid"/>
                <a:headEnd type="none" w="med" len="med"/>
                <a:tailEnd type="none" w="med" len="med"/>
              </a:ln>
            </p:spPr>
          </p:sp>
          <p:sp>
            <p:nvSpPr>
              <p:cNvPr id="50240" name="Line 106"/>
              <p:cNvSpPr/>
              <p:nvPr/>
            </p:nvSpPr>
            <p:spPr>
              <a:xfrm>
                <a:off x="3456" y="3072"/>
                <a:ext cx="0" cy="96"/>
              </a:xfrm>
              <a:prstGeom prst="line">
                <a:avLst/>
              </a:prstGeom>
              <a:ln w="9525" cap="flat" cmpd="sng">
                <a:solidFill>
                  <a:schemeClr val="tx1"/>
                </a:solidFill>
                <a:prstDash val="solid"/>
                <a:headEnd type="none" w="med" len="med"/>
                <a:tailEnd type="none" w="med" len="med"/>
              </a:ln>
            </p:spPr>
          </p:sp>
        </p:grpSp>
        <p:sp>
          <p:nvSpPr>
            <p:cNvPr id="50231" name="Text Box 107"/>
            <p:cNvSpPr txBox="1"/>
            <p:nvPr/>
          </p:nvSpPr>
          <p:spPr>
            <a:xfrm>
              <a:off x="1440" y="3686"/>
              <a:ext cx="1339" cy="21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“shadow” page tables</a:t>
              </a:r>
              <a:endParaRPr lang="en-US" altLang="zh-CN" sz="1600" dirty="0">
                <a:ea typeface="宋体" panose="02010600030101010101" pitchFamily="2" charset="-122"/>
              </a:endParaRPr>
            </a:p>
          </p:txBody>
        </p:sp>
      </p:grpSp>
      <p:grpSp>
        <p:nvGrpSpPr>
          <p:cNvPr id="13" name="Group 109"/>
          <p:cNvGrpSpPr/>
          <p:nvPr/>
        </p:nvGrpSpPr>
        <p:grpSpPr>
          <a:xfrm>
            <a:off x="4191000" y="4937125"/>
            <a:ext cx="1295400" cy="1235075"/>
            <a:chOff x="3024" y="2928"/>
            <a:chExt cx="816" cy="778"/>
          </a:xfrm>
        </p:grpSpPr>
        <p:grpSp>
          <p:nvGrpSpPr>
            <p:cNvPr id="50219" name="Group 96"/>
            <p:cNvGrpSpPr/>
            <p:nvPr/>
          </p:nvGrpSpPr>
          <p:grpSpPr>
            <a:xfrm>
              <a:off x="3024" y="2928"/>
              <a:ext cx="816" cy="528"/>
              <a:chOff x="3024" y="2928"/>
              <a:chExt cx="816" cy="528"/>
            </a:xfrm>
          </p:grpSpPr>
          <p:sp>
            <p:nvSpPr>
              <p:cNvPr id="50221" name="Rectangle 87"/>
              <p:cNvSpPr/>
              <p:nvPr/>
            </p:nvSpPr>
            <p:spPr>
              <a:xfrm>
                <a:off x="3264" y="2928"/>
                <a:ext cx="336"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22" name="Rectangle 88"/>
              <p:cNvSpPr/>
              <p:nvPr/>
            </p:nvSpPr>
            <p:spPr>
              <a:xfrm>
                <a:off x="3024"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23" name="Rectangle 89"/>
              <p:cNvSpPr/>
              <p:nvPr/>
            </p:nvSpPr>
            <p:spPr>
              <a:xfrm>
                <a:off x="3264"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24" name="Rectangle 90"/>
              <p:cNvSpPr/>
              <p:nvPr/>
            </p:nvSpPr>
            <p:spPr>
              <a:xfrm>
                <a:off x="3648" y="3264"/>
                <a:ext cx="192" cy="19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25" name="Line 91"/>
              <p:cNvSpPr/>
              <p:nvPr/>
            </p:nvSpPr>
            <p:spPr>
              <a:xfrm>
                <a:off x="3120" y="3168"/>
                <a:ext cx="624" cy="0"/>
              </a:xfrm>
              <a:prstGeom prst="line">
                <a:avLst/>
              </a:prstGeom>
              <a:ln w="9525" cap="flat" cmpd="sng">
                <a:solidFill>
                  <a:schemeClr val="tx1"/>
                </a:solidFill>
                <a:prstDash val="solid"/>
                <a:headEnd type="none" w="med" len="med"/>
                <a:tailEnd type="none" w="med" len="med"/>
              </a:ln>
            </p:spPr>
          </p:sp>
          <p:sp>
            <p:nvSpPr>
              <p:cNvPr id="50226" name="Line 92"/>
              <p:cNvSpPr/>
              <p:nvPr/>
            </p:nvSpPr>
            <p:spPr>
              <a:xfrm>
                <a:off x="3120" y="3168"/>
                <a:ext cx="0" cy="96"/>
              </a:xfrm>
              <a:prstGeom prst="line">
                <a:avLst/>
              </a:prstGeom>
              <a:ln w="9525" cap="flat" cmpd="sng">
                <a:solidFill>
                  <a:schemeClr val="tx1"/>
                </a:solidFill>
                <a:prstDash val="solid"/>
                <a:headEnd type="none" w="med" len="med"/>
                <a:tailEnd type="none" w="med" len="med"/>
              </a:ln>
            </p:spPr>
          </p:sp>
          <p:sp>
            <p:nvSpPr>
              <p:cNvPr id="50227" name="Line 93"/>
              <p:cNvSpPr/>
              <p:nvPr/>
            </p:nvSpPr>
            <p:spPr>
              <a:xfrm flipV="1">
                <a:off x="3360" y="3168"/>
                <a:ext cx="0" cy="96"/>
              </a:xfrm>
              <a:prstGeom prst="line">
                <a:avLst/>
              </a:prstGeom>
              <a:ln w="9525" cap="flat" cmpd="sng">
                <a:solidFill>
                  <a:schemeClr val="tx1"/>
                </a:solidFill>
                <a:prstDash val="solid"/>
                <a:headEnd type="none" w="med" len="med"/>
                <a:tailEnd type="none" w="med" len="med"/>
              </a:ln>
            </p:spPr>
          </p:sp>
          <p:sp>
            <p:nvSpPr>
              <p:cNvPr id="50228" name="Line 94"/>
              <p:cNvSpPr/>
              <p:nvPr/>
            </p:nvSpPr>
            <p:spPr>
              <a:xfrm>
                <a:off x="3744" y="3168"/>
                <a:ext cx="0" cy="96"/>
              </a:xfrm>
              <a:prstGeom prst="line">
                <a:avLst/>
              </a:prstGeom>
              <a:ln w="9525" cap="flat" cmpd="sng">
                <a:solidFill>
                  <a:schemeClr val="tx1"/>
                </a:solidFill>
                <a:prstDash val="solid"/>
                <a:headEnd type="none" w="med" len="med"/>
                <a:tailEnd type="none" w="med" len="med"/>
              </a:ln>
            </p:spPr>
          </p:sp>
          <p:sp>
            <p:nvSpPr>
              <p:cNvPr id="50229" name="Line 95"/>
              <p:cNvSpPr/>
              <p:nvPr/>
            </p:nvSpPr>
            <p:spPr>
              <a:xfrm>
                <a:off x="3456" y="3072"/>
                <a:ext cx="0" cy="96"/>
              </a:xfrm>
              <a:prstGeom prst="line">
                <a:avLst/>
              </a:prstGeom>
              <a:ln w="9525" cap="flat" cmpd="sng">
                <a:solidFill>
                  <a:schemeClr val="tx1"/>
                </a:solidFill>
                <a:prstDash val="solid"/>
                <a:headEnd type="none" w="med" len="med"/>
                <a:tailEnd type="none" w="med" len="med"/>
              </a:ln>
            </p:spPr>
          </p:sp>
        </p:grpSp>
        <p:sp>
          <p:nvSpPr>
            <p:cNvPr id="50220" name="Text Box 108"/>
            <p:cNvSpPr txBox="1"/>
            <p:nvPr/>
          </p:nvSpPr>
          <p:spPr>
            <a:xfrm>
              <a:off x="3024" y="3494"/>
              <a:ext cx="777" cy="21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page tables</a:t>
              </a:r>
              <a:endParaRPr lang="en-US" altLang="zh-CN" sz="1600" dirty="0">
                <a:ea typeface="宋体" panose="02010600030101010101" pitchFamily="2" charset="-122"/>
              </a:endParaRPr>
            </a:p>
          </p:txBody>
        </p:sp>
      </p:grpSp>
      <p:grpSp>
        <p:nvGrpSpPr>
          <p:cNvPr id="15" name="Group 115"/>
          <p:cNvGrpSpPr/>
          <p:nvPr/>
        </p:nvGrpSpPr>
        <p:grpSpPr>
          <a:xfrm>
            <a:off x="3240088" y="1350963"/>
            <a:ext cx="5037137" cy="2246312"/>
            <a:chOff x="2041" y="912"/>
            <a:chExt cx="3031" cy="1421"/>
          </a:xfrm>
        </p:grpSpPr>
        <p:grpSp>
          <p:nvGrpSpPr>
            <p:cNvPr id="50190" name="Group 111"/>
            <p:cNvGrpSpPr/>
            <p:nvPr/>
          </p:nvGrpSpPr>
          <p:grpSpPr>
            <a:xfrm>
              <a:off x="2041" y="912"/>
              <a:ext cx="1625" cy="1421"/>
              <a:chOff x="2233" y="864"/>
              <a:chExt cx="1625" cy="1421"/>
            </a:xfrm>
          </p:grpSpPr>
          <p:grpSp>
            <p:nvGrpSpPr>
              <p:cNvPr id="50193" name="Group 17"/>
              <p:cNvGrpSpPr/>
              <p:nvPr/>
            </p:nvGrpSpPr>
            <p:grpSpPr>
              <a:xfrm>
                <a:off x="3504" y="1373"/>
                <a:ext cx="336" cy="576"/>
                <a:chOff x="4128" y="1392"/>
                <a:chExt cx="336" cy="576"/>
              </a:xfrm>
            </p:grpSpPr>
            <p:sp>
              <p:nvSpPr>
                <p:cNvPr id="50215" name="Rectangle 13"/>
                <p:cNvSpPr/>
                <p:nvPr/>
              </p:nvSpPr>
              <p:spPr>
                <a:xfrm>
                  <a:off x="4128" y="1824"/>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6" name="Rectangle 14"/>
                <p:cNvSpPr/>
                <p:nvPr/>
              </p:nvSpPr>
              <p:spPr>
                <a:xfrm>
                  <a:off x="4128" y="1680"/>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7" name="Rectangle 15"/>
                <p:cNvSpPr/>
                <p:nvPr/>
              </p:nvSpPr>
              <p:spPr>
                <a:xfrm>
                  <a:off x="4128" y="1536"/>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8" name="Rectangle 16"/>
                <p:cNvSpPr/>
                <p:nvPr/>
              </p:nvSpPr>
              <p:spPr>
                <a:xfrm>
                  <a:off x="4128" y="1392"/>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50194" name="Group 28"/>
              <p:cNvGrpSpPr/>
              <p:nvPr/>
            </p:nvGrpSpPr>
            <p:grpSpPr>
              <a:xfrm>
                <a:off x="2304" y="1133"/>
                <a:ext cx="336" cy="1152"/>
                <a:chOff x="3504" y="1392"/>
                <a:chExt cx="336" cy="1152"/>
              </a:xfrm>
            </p:grpSpPr>
            <p:grpSp>
              <p:nvGrpSpPr>
                <p:cNvPr id="50205" name="Group 18"/>
                <p:cNvGrpSpPr/>
                <p:nvPr/>
              </p:nvGrpSpPr>
              <p:grpSpPr>
                <a:xfrm>
                  <a:off x="3504" y="1968"/>
                  <a:ext cx="336" cy="576"/>
                  <a:chOff x="4128" y="1392"/>
                  <a:chExt cx="336" cy="576"/>
                </a:xfrm>
              </p:grpSpPr>
              <p:sp>
                <p:nvSpPr>
                  <p:cNvPr id="50211" name="Rectangle 19"/>
                  <p:cNvSpPr/>
                  <p:nvPr/>
                </p:nvSpPr>
                <p:spPr>
                  <a:xfrm>
                    <a:off x="4128" y="1824"/>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2" name="Rectangle 20"/>
                  <p:cNvSpPr/>
                  <p:nvPr/>
                </p:nvSpPr>
                <p:spPr>
                  <a:xfrm>
                    <a:off x="4128" y="1680"/>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3" name="Rectangle 21"/>
                  <p:cNvSpPr/>
                  <p:nvPr/>
                </p:nvSpPr>
                <p:spPr>
                  <a:xfrm>
                    <a:off x="4128" y="1536"/>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4" name="Rectangle 22"/>
                  <p:cNvSpPr/>
                  <p:nvPr/>
                </p:nvSpPr>
                <p:spPr>
                  <a:xfrm>
                    <a:off x="4128" y="1392"/>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50206" name="Group 23"/>
                <p:cNvGrpSpPr/>
                <p:nvPr/>
              </p:nvGrpSpPr>
              <p:grpSpPr>
                <a:xfrm>
                  <a:off x="3504" y="1392"/>
                  <a:ext cx="336" cy="576"/>
                  <a:chOff x="4128" y="1392"/>
                  <a:chExt cx="336" cy="576"/>
                </a:xfrm>
              </p:grpSpPr>
              <p:sp>
                <p:nvSpPr>
                  <p:cNvPr id="50207" name="Rectangle 24"/>
                  <p:cNvSpPr/>
                  <p:nvPr/>
                </p:nvSpPr>
                <p:spPr>
                  <a:xfrm>
                    <a:off x="4128" y="1824"/>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08" name="Rectangle 25"/>
                  <p:cNvSpPr/>
                  <p:nvPr/>
                </p:nvSpPr>
                <p:spPr>
                  <a:xfrm>
                    <a:off x="4128" y="1680"/>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09" name="Rectangle 26"/>
                  <p:cNvSpPr/>
                  <p:nvPr/>
                </p:nvSpPr>
                <p:spPr>
                  <a:xfrm>
                    <a:off x="4128" y="1536"/>
                    <a:ext cx="336" cy="144"/>
                  </a:xfrm>
                  <a:prstGeom prst="rect">
                    <a:avLst/>
                  </a:prstGeom>
                  <a:solidFill>
                    <a:srgbClr val="3399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50210" name="Rectangle 27"/>
                  <p:cNvSpPr/>
                  <p:nvPr/>
                </p:nvSpPr>
                <p:spPr>
                  <a:xfrm>
                    <a:off x="4128" y="1392"/>
                    <a:ext cx="336" cy="144"/>
                  </a:xfrm>
                  <a:prstGeom prst="rect">
                    <a:avLst/>
                  </a:prstGeom>
                  <a:solidFill>
                    <a:srgbClr val="66FF33"/>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sp>
            <p:nvSpPr>
              <p:cNvPr id="50195" name="Text Box 52"/>
              <p:cNvSpPr txBox="1"/>
              <p:nvPr/>
            </p:nvSpPr>
            <p:spPr>
              <a:xfrm>
                <a:off x="3469" y="1104"/>
                <a:ext cx="389" cy="281"/>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ts val="1000"/>
                  </a:lnSpc>
                  <a:spcBef>
                    <a:spcPct val="50000"/>
                  </a:spcBef>
                  <a:buClrTx/>
                  <a:buNone/>
                </a:pPr>
                <a:r>
                  <a:rPr lang="en-US" altLang="zh-CN" sz="1200" dirty="0">
                    <a:ea typeface="宋体" panose="02010600030101010101" pitchFamily="2" charset="-122"/>
                  </a:rPr>
                  <a:t>process</a:t>
                </a:r>
                <a:endParaRPr lang="en-US" altLang="zh-CN" sz="1200" dirty="0">
                  <a:ea typeface="宋体" panose="02010600030101010101" pitchFamily="2" charset="-122"/>
                </a:endParaRPr>
              </a:p>
              <a:p>
                <a:pPr marL="0" lvl="0" indent="0" eaLnBrk="1" hangingPunct="1">
                  <a:lnSpc>
                    <a:spcPts val="1000"/>
                  </a:lnSpc>
                  <a:spcBef>
                    <a:spcPct val="50000"/>
                  </a:spcBef>
                  <a:buClrTx/>
                  <a:buNone/>
                </a:pPr>
                <a:r>
                  <a:rPr lang="en-US" altLang="zh-CN" sz="1200" dirty="0">
                    <a:ea typeface="宋体" panose="02010600030101010101" pitchFamily="2" charset="-122"/>
                  </a:rPr>
                  <a:t>virtual</a:t>
                </a:r>
                <a:endParaRPr lang="en-US" altLang="zh-CN" sz="1200" dirty="0">
                  <a:ea typeface="宋体" panose="02010600030101010101" pitchFamily="2" charset="-122"/>
                </a:endParaRPr>
              </a:p>
            </p:txBody>
          </p:sp>
          <p:sp>
            <p:nvSpPr>
              <p:cNvPr id="50196" name="Text Box 54"/>
              <p:cNvSpPr txBox="1"/>
              <p:nvPr/>
            </p:nvSpPr>
            <p:spPr>
              <a:xfrm>
                <a:off x="2233" y="864"/>
                <a:ext cx="421" cy="28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ts val="1000"/>
                  </a:lnSpc>
                  <a:spcBef>
                    <a:spcPct val="50000"/>
                  </a:spcBef>
                  <a:buClrTx/>
                  <a:buNone/>
                </a:pPr>
                <a:r>
                  <a:rPr lang="en-US" altLang="zh-CN" sz="1200" dirty="0">
                    <a:ea typeface="宋体" panose="02010600030101010101" pitchFamily="2" charset="-122"/>
                  </a:rPr>
                  <a:t>OS</a:t>
                </a:r>
                <a:endParaRPr lang="en-US" altLang="zh-CN" sz="1200" dirty="0">
                  <a:ea typeface="宋体" panose="02010600030101010101" pitchFamily="2" charset="-122"/>
                </a:endParaRPr>
              </a:p>
              <a:p>
                <a:pPr marL="0" lvl="0" indent="0" eaLnBrk="1" hangingPunct="1">
                  <a:lnSpc>
                    <a:spcPts val="1000"/>
                  </a:lnSpc>
                  <a:spcBef>
                    <a:spcPct val="50000"/>
                  </a:spcBef>
                  <a:buClrTx/>
                  <a:buNone/>
                </a:pPr>
                <a:r>
                  <a:rPr lang="en-US" altLang="zh-CN" sz="1200" dirty="0">
                    <a:ea typeface="宋体" panose="02010600030101010101" pitchFamily="2" charset="-122"/>
                  </a:rPr>
                  <a:t>physical</a:t>
                </a:r>
                <a:endParaRPr lang="en-US" altLang="zh-CN" sz="1200" dirty="0">
                  <a:ea typeface="宋体" panose="02010600030101010101" pitchFamily="2" charset="-122"/>
                </a:endParaRPr>
              </a:p>
            </p:txBody>
          </p:sp>
          <p:sp>
            <p:nvSpPr>
              <p:cNvPr id="50197" name="Line 55"/>
              <p:cNvSpPr/>
              <p:nvPr/>
            </p:nvSpPr>
            <p:spPr>
              <a:xfrm flipH="1">
                <a:off x="2640" y="1373"/>
                <a:ext cx="864" cy="192"/>
              </a:xfrm>
              <a:prstGeom prst="line">
                <a:avLst/>
              </a:prstGeom>
              <a:ln w="9525" cap="flat" cmpd="sng">
                <a:solidFill>
                  <a:schemeClr val="tx1"/>
                </a:solidFill>
                <a:prstDash val="dash"/>
                <a:headEnd type="none" w="med" len="med"/>
                <a:tailEnd type="none" w="med" len="med"/>
              </a:ln>
            </p:spPr>
          </p:sp>
          <p:sp>
            <p:nvSpPr>
              <p:cNvPr id="50198" name="Line 56"/>
              <p:cNvSpPr/>
              <p:nvPr/>
            </p:nvSpPr>
            <p:spPr>
              <a:xfrm flipH="1">
                <a:off x="2640" y="1517"/>
                <a:ext cx="864" cy="192"/>
              </a:xfrm>
              <a:prstGeom prst="line">
                <a:avLst/>
              </a:prstGeom>
              <a:ln w="9525" cap="flat" cmpd="sng">
                <a:solidFill>
                  <a:schemeClr val="tx1"/>
                </a:solidFill>
                <a:prstDash val="dash"/>
                <a:headEnd type="none" w="med" len="med"/>
                <a:tailEnd type="none" w="med" len="med"/>
              </a:ln>
            </p:spPr>
          </p:sp>
          <p:sp>
            <p:nvSpPr>
              <p:cNvPr id="50199" name="Line 57"/>
              <p:cNvSpPr/>
              <p:nvPr/>
            </p:nvSpPr>
            <p:spPr>
              <a:xfrm flipH="1" flipV="1">
                <a:off x="2640" y="1133"/>
                <a:ext cx="864" cy="384"/>
              </a:xfrm>
              <a:prstGeom prst="line">
                <a:avLst/>
              </a:prstGeom>
              <a:ln w="9525" cap="flat" cmpd="sng">
                <a:solidFill>
                  <a:schemeClr val="tx1"/>
                </a:solidFill>
                <a:prstDash val="dash"/>
                <a:headEnd type="none" w="med" len="med"/>
                <a:tailEnd type="none" w="med" len="med"/>
              </a:ln>
            </p:spPr>
          </p:sp>
          <p:sp>
            <p:nvSpPr>
              <p:cNvPr id="50200" name="Line 58"/>
              <p:cNvSpPr/>
              <p:nvPr/>
            </p:nvSpPr>
            <p:spPr>
              <a:xfrm flipH="1" flipV="1">
                <a:off x="2640" y="1277"/>
                <a:ext cx="864" cy="384"/>
              </a:xfrm>
              <a:prstGeom prst="line">
                <a:avLst/>
              </a:prstGeom>
              <a:ln w="9525" cap="flat" cmpd="sng">
                <a:solidFill>
                  <a:schemeClr val="tx1"/>
                </a:solidFill>
                <a:prstDash val="dash"/>
                <a:headEnd type="none" w="med" len="med"/>
                <a:tailEnd type="none" w="med" len="med"/>
              </a:ln>
            </p:spPr>
          </p:sp>
          <p:sp>
            <p:nvSpPr>
              <p:cNvPr id="50201" name="Line 59"/>
              <p:cNvSpPr/>
              <p:nvPr/>
            </p:nvSpPr>
            <p:spPr>
              <a:xfrm flipH="1">
                <a:off x="2640" y="1661"/>
                <a:ext cx="864" cy="192"/>
              </a:xfrm>
              <a:prstGeom prst="line">
                <a:avLst/>
              </a:prstGeom>
              <a:ln w="9525" cap="flat" cmpd="sng">
                <a:solidFill>
                  <a:schemeClr val="tx1"/>
                </a:solidFill>
                <a:prstDash val="dash"/>
                <a:headEnd type="none" w="med" len="med"/>
                <a:tailEnd type="none" w="med" len="med"/>
              </a:ln>
            </p:spPr>
          </p:sp>
          <p:sp>
            <p:nvSpPr>
              <p:cNvPr id="50202" name="Line 60"/>
              <p:cNvSpPr/>
              <p:nvPr/>
            </p:nvSpPr>
            <p:spPr>
              <a:xfrm flipH="1">
                <a:off x="2640" y="1805"/>
                <a:ext cx="864" cy="192"/>
              </a:xfrm>
              <a:prstGeom prst="line">
                <a:avLst/>
              </a:prstGeom>
              <a:ln w="9525" cap="flat" cmpd="sng">
                <a:solidFill>
                  <a:schemeClr val="tx1"/>
                </a:solidFill>
                <a:prstDash val="dash"/>
                <a:headEnd type="none" w="med" len="med"/>
                <a:tailEnd type="none" w="med" len="med"/>
              </a:ln>
            </p:spPr>
          </p:sp>
          <p:sp>
            <p:nvSpPr>
              <p:cNvPr id="50203" name="Line 61"/>
              <p:cNvSpPr/>
              <p:nvPr/>
            </p:nvSpPr>
            <p:spPr>
              <a:xfrm flipH="1">
                <a:off x="2640" y="1805"/>
                <a:ext cx="864" cy="336"/>
              </a:xfrm>
              <a:prstGeom prst="line">
                <a:avLst/>
              </a:prstGeom>
              <a:ln w="9525" cap="flat" cmpd="sng">
                <a:solidFill>
                  <a:schemeClr val="tx1"/>
                </a:solidFill>
                <a:prstDash val="dash"/>
                <a:headEnd type="none" w="med" len="med"/>
                <a:tailEnd type="none" w="med" len="med"/>
              </a:ln>
            </p:spPr>
          </p:sp>
          <p:sp>
            <p:nvSpPr>
              <p:cNvPr id="50204" name="Line 62"/>
              <p:cNvSpPr/>
              <p:nvPr/>
            </p:nvSpPr>
            <p:spPr>
              <a:xfrm flipH="1">
                <a:off x="2640" y="1949"/>
                <a:ext cx="864" cy="336"/>
              </a:xfrm>
              <a:prstGeom prst="line">
                <a:avLst/>
              </a:prstGeom>
              <a:ln w="9525" cap="flat" cmpd="sng">
                <a:solidFill>
                  <a:schemeClr val="tx1"/>
                </a:solidFill>
                <a:prstDash val="dash"/>
                <a:headEnd type="none" w="med" len="med"/>
                <a:tailEnd type="none" w="med" len="med"/>
              </a:ln>
            </p:spPr>
          </p:sp>
        </p:grpSp>
        <p:sp>
          <p:nvSpPr>
            <p:cNvPr id="50191" name="Text Box 113"/>
            <p:cNvSpPr txBox="1"/>
            <p:nvPr/>
          </p:nvSpPr>
          <p:spPr>
            <a:xfrm>
              <a:off x="4368" y="1152"/>
              <a:ext cx="704" cy="29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ts val="1000"/>
                </a:lnSpc>
                <a:spcBef>
                  <a:spcPct val="50000"/>
                </a:spcBef>
                <a:buClrTx/>
                <a:buNone/>
              </a:pPr>
              <a:r>
                <a:rPr lang="en-US" altLang="zh-CN" sz="1400" dirty="0">
                  <a:ea typeface="宋体" panose="02010600030101010101" pitchFamily="2" charset="-122"/>
                </a:rPr>
                <a:t>entity</a:t>
              </a:r>
              <a:endParaRPr lang="en-US" altLang="zh-CN" sz="1400" dirty="0">
                <a:ea typeface="宋体" panose="02010600030101010101" pitchFamily="2" charset="-122"/>
              </a:endParaRPr>
            </a:p>
            <a:p>
              <a:pPr marL="0" lvl="0" indent="0" eaLnBrk="1" hangingPunct="1">
                <a:lnSpc>
                  <a:spcPts val="1000"/>
                </a:lnSpc>
                <a:spcBef>
                  <a:spcPct val="50000"/>
                </a:spcBef>
                <a:buClrTx/>
                <a:buNone/>
              </a:pPr>
              <a:r>
                <a:rPr lang="en-US" altLang="zh-CN" sz="1400" dirty="0">
                  <a:ea typeface="宋体" panose="02010600030101010101" pitchFamily="2" charset="-122"/>
                </a:rPr>
                <a:t>address space</a:t>
              </a:r>
              <a:endParaRPr lang="en-US" altLang="zh-CN" sz="1400" dirty="0">
                <a:ea typeface="宋体" panose="02010600030101010101" pitchFamily="2" charset="-122"/>
              </a:endParaRPr>
            </a:p>
          </p:txBody>
        </p:sp>
        <p:sp>
          <p:nvSpPr>
            <p:cNvPr id="50192" name="Line 114"/>
            <p:cNvSpPr/>
            <p:nvPr/>
          </p:nvSpPr>
          <p:spPr>
            <a:xfrm>
              <a:off x="3744" y="1296"/>
              <a:ext cx="720" cy="0"/>
            </a:xfrm>
            <a:prstGeom prst="line">
              <a:avLst/>
            </a:prstGeom>
            <a:ln w="9525" cap="flat" cmpd="sng">
              <a:solidFill>
                <a:schemeClr val="tx1"/>
              </a:solidFill>
              <a:prstDash val="solid"/>
              <a:headEnd type="triangl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81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1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819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819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18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8115">
                                            <p:txEl>
                                              <p:charRg st="0" end="4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8115">
                                            <p:txEl>
                                              <p:charRg st="48" end="8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P spid="218191" grpId="0"/>
      <p:bldP spid="21819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9"/>
          <p:cNvSpPr txBox="1"/>
          <p:nvPr/>
        </p:nvSpPr>
        <p:spPr>
          <a:xfrm>
            <a:off x="374650" y="815975"/>
            <a:ext cx="8315325"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None/>
            </a:pPr>
            <a:r>
              <a:rPr lang="zh-CN" altLang="en-US" sz="2000" b="1" dirty="0">
                <a:latin typeface="宋体" panose="02010600030101010101" pitchFamily="2" charset="-122"/>
                <a:ea typeface="宋体" panose="02010600030101010101" pitchFamily="2" charset="-122"/>
              </a:rPr>
              <a:t>我们课题组设计实现了一种高性能虚拟化监控器</a:t>
            </a:r>
            <a:r>
              <a:rPr lang="en-US" altLang="zh-CN" sz="2000" b="1" dirty="0">
                <a:latin typeface="宋体" panose="02010600030101010101" pitchFamily="2" charset="-122"/>
                <a:ea typeface="宋体" panose="02010600030101010101" pitchFamily="2" charset="-122"/>
              </a:rPr>
              <a:t>——OSv: A High-performance and Light-weight VMM</a:t>
            </a:r>
            <a:endParaRPr lang="zh-CN" altLang="en-US" sz="2000" b="1" dirty="0">
              <a:latin typeface="宋体" panose="02010600030101010101" pitchFamily="2" charset="-122"/>
              <a:ea typeface="宋体" panose="02010600030101010101" pitchFamily="2" charset="-122"/>
            </a:endParaRPr>
          </a:p>
        </p:txBody>
      </p:sp>
      <p:sp>
        <p:nvSpPr>
          <p:cNvPr id="10" name="矩形 9"/>
          <p:cNvSpPr/>
          <p:nvPr/>
        </p:nvSpPr>
        <p:spPr>
          <a:xfrm>
            <a:off x="123827" y="2046672"/>
            <a:ext cx="4198791" cy="2086755"/>
          </a:xfrm>
          <a:prstGeom prst="rect">
            <a:avLst/>
          </a:prstGeom>
          <a:noFill/>
          <a:ln w="28575"/>
          <a:effectLst>
            <a:glow rad="63500">
              <a:schemeClr val="accent3">
                <a:satMod val="175000"/>
                <a:alpha val="40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Motivations:</a:t>
            </a:r>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Many-cores are common</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High performance for telecom and video service</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Current VMM  is insufficient</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Contributions:</a:t>
            </a:r>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——Low performance overhead (23% improvement)</a:t>
            </a: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——Lightweight VMM </a:t>
            </a:r>
            <a:r>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8000 lines of code)</a:t>
            </a: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图片 5"/>
          <p:cNvPicPr>
            <a:picLocks noChangeAspect="1"/>
          </p:cNvPicPr>
          <p:nvPr/>
        </p:nvPicPr>
        <p:blipFill>
          <a:blip r:embed="rId1"/>
          <a:srcRect/>
          <a:stretch>
            <a:fillRect/>
          </a:stretch>
        </p:blipFill>
        <p:spPr bwMode="auto">
          <a:xfrm>
            <a:off x="4531924" y="1715589"/>
            <a:ext cx="4512323" cy="318060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1207" name="图片 1"/>
          <p:cNvPicPr>
            <a:picLocks noChangeAspect="1"/>
          </p:cNvPicPr>
          <p:nvPr/>
        </p:nvPicPr>
        <p:blipFill>
          <a:blip r:embed="rId2"/>
          <a:stretch>
            <a:fillRect/>
          </a:stretch>
        </p:blipFill>
        <p:spPr>
          <a:xfrm>
            <a:off x="90488" y="4465638"/>
            <a:ext cx="2362200" cy="1647825"/>
          </a:xfrm>
          <a:prstGeom prst="rect">
            <a:avLst/>
          </a:prstGeom>
          <a:noFill/>
          <a:ln w="9525">
            <a:noFill/>
          </a:ln>
        </p:spPr>
      </p:pic>
      <p:pic>
        <p:nvPicPr>
          <p:cNvPr id="51208" name="图片 3"/>
          <p:cNvPicPr>
            <a:picLocks noChangeAspect="1"/>
          </p:cNvPicPr>
          <p:nvPr/>
        </p:nvPicPr>
        <p:blipFill>
          <a:blip r:embed="rId3"/>
          <a:stretch>
            <a:fillRect/>
          </a:stretch>
        </p:blipFill>
        <p:spPr>
          <a:xfrm>
            <a:off x="2509838" y="4506913"/>
            <a:ext cx="2012950" cy="1565275"/>
          </a:xfrm>
          <a:prstGeom prst="rect">
            <a:avLst/>
          </a:prstGeom>
          <a:noFill/>
          <a:ln w="9525">
            <a:noFill/>
          </a:ln>
        </p:spPr>
      </p:pic>
      <p:sp>
        <p:nvSpPr>
          <p:cNvPr id="51209" name="TextBox 20"/>
          <p:cNvSpPr txBox="1"/>
          <p:nvPr/>
        </p:nvSpPr>
        <p:spPr>
          <a:xfrm>
            <a:off x="503238" y="6137275"/>
            <a:ext cx="1603375" cy="5222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400" b="1" dirty="0">
                <a:ea typeface="微软雅黑" panose="020B0503020204020204" charset="-122"/>
              </a:rPr>
              <a:t>Performance:   SPECint 2006</a:t>
            </a:r>
            <a:endParaRPr lang="zh-CN" altLang="en-US" sz="1400" b="1" dirty="0">
              <a:ea typeface="微软雅黑" panose="020B0503020204020204" charset="-122"/>
            </a:endParaRPr>
          </a:p>
        </p:txBody>
      </p:sp>
      <p:sp>
        <p:nvSpPr>
          <p:cNvPr id="51210" name="TextBox 21"/>
          <p:cNvSpPr txBox="1"/>
          <p:nvPr/>
        </p:nvSpPr>
        <p:spPr>
          <a:xfrm>
            <a:off x="3205163" y="6169025"/>
            <a:ext cx="1327150" cy="523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1400" b="1" dirty="0">
                <a:ea typeface="微软雅黑" panose="020B0503020204020204" charset="-122"/>
              </a:rPr>
              <a:t>Throughput:  Memcached</a:t>
            </a:r>
            <a:endParaRPr lang="zh-CN" altLang="en-US" sz="1400" b="1" dirty="0">
              <a:ea typeface="微软雅黑" panose="020B0503020204020204" charset="-122"/>
            </a:endParaRPr>
          </a:p>
        </p:txBody>
      </p:sp>
      <p:sp>
        <p:nvSpPr>
          <p:cNvPr id="51211" name="矩形 1"/>
          <p:cNvSpPr/>
          <p:nvPr/>
        </p:nvSpPr>
        <p:spPr>
          <a:xfrm>
            <a:off x="5127625" y="5280025"/>
            <a:ext cx="3808413" cy="8318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lnSpc>
                <a:spcPct val="150000"/>
              </a:lnSpc>
              <a:spcBef>
                <a:spcPct val="0"/>
              </a:spcBef>
              <a:buClrTx/>
              <a:buNone/>
            </a:pPr>
            <a:r>
              <a:rPr lang="en-US" altLang="zh-CN" sz="1600" b="1" i="1" dirty="0">
                <a:ea typeface="宋体" panose="02010600030101010101" pitchFamily="2" charset="-122"/>
              </a:rPr>
              <a:t>Published on ACM  VEE 2013</a:t>
            </a:r>
            <a:r>
              <a:rPr lang="zh-CN" altLang="en-US" sz="1600" b="1" i="1" dirty="0">
                <a:ea typeface="宋体" panose="02010600030101010101" pitchFamily="2" charset="-122"/>
              </a:rPr>
              <a:t>，</a:t>
            </a:r>
            <a:r>
              <a:rPr lang="en-US" altLang="zh-CN" sz="1600" b="1" i="1" dirty="0">
                <a:ea typeface="宋体" panose="02010600030101010101" pitchFamily="2" charset="-122"/>
              </a:rPr>
              <a:t>VEE 2015</a:t>
            </a:r>
            <a:r>
              <a:rPr lang="zh-CN" altLang="en-US" sz="1600" b="1" i="1" dirty="0">
                <a:ea typeface="宋体" panose="02010600030101010101" pitchFamily="2" charset="-122"/>
              </a:rPr>
              <a:t>  </a:t>
            </a:r>
            <a:r>
              <a:rPr lang="en-US" altLang="zh-CN" sz="1600" b="1" i="1" dirty="0">
                <a:ea typeface="宋体" panose="02010600030101010101" pitchFamily="2" charset="-122"/>
              </a:rPr>
              <a:t>and FCS(Journal) 2014</a:t>
            </a:r>
            <a:endParaRPr lang="zh-CN" altLang="en-US" sz="1600" b="1" i="1" dirty="0">
              <a:ea typeface="宋体" panose="02010600030101010101" pitchFamily="2" charset="-122"/>
            </a:endParaRPr>
          </a:p>
        </p:txBody>
      </p:sp>
      <p:sp>
        <p:nvSpPr>
          <p:cNvPr id="51212" name="Rectangle 5"/>
          <p:cNvSpPr txBox="1"/>
          <p:nvPr/>
        </p:nvSpPr>
        <p:spPr>
          <a:xfrm>
            <a:off x="773113" y="174625"/>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en-US" altLang="zh-CN" sz="3600" b="1" dirty="0">
                <a:solidFill>
                  <a:srgbClr val="FF0000"/>
                </a:solidFill>
                <a:ea typeface="宋体" panose="02010600030101010101" pitchFamily="2" charset="-122"/>
              </a:rPr>
              <a:t>Virtual Machine Monitor (VMM)</a:t>
            </a:r>
            <a:endParaRPr lang="zh-CN" altLang="en-US" sz="3600" dirty="0">
              <a:solidFill>
                <a:srgbClr val="FF0000"/>
              </a:solidFill>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5"/>
          <p:cNvSpPr txBox="1"/>
          <p:nvPr/>
        </p:nvSpPr>
        <p:spPr>
          <a:xfrm>
            <a:off x="623888" y="136525"/>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zh-CN" altLang="en-US" sz="3600" dirty="0">
                <a:solidFill>
                  <a:srgbClr val="FF0000"/>
                </a:solidFill>
                <a:latin typeface="Helvetica" pitchFamily="34" charset="0"/>
                <a:ea typeface="宋体" panose="02010600030101010101" pitchFamily="2" charset="-122"/>
              </a:rPr>
              <a:t>容器技术（对应类型（</a:t>
            </a:r>
            <a:r>
              <a:rPr lang="en-US" altLang="zh-CN" sz="3600" dirty="0">
                <a:solidFill>
                  <a:srgbClr val="FF0000"/>
                </a:solidFill>
                <a:latin typeface="Helvetica" pitchFamily="34" charset="0"/>
                <a:ea typeface="宋体" panose="02010600030101010101" pitchFamily="2" charset="-122"/>
              </a:rPr>
              <a:t>c</a:t>
            </a:r>
            <a:r>
              <a:rPr lang="zh-CN" altLang="en-US" sz="3600" dirty="0">
                <a:solidFill>
                  <a:srgbClr val="FF0000"/>
                </a:solidFill>
                <a:latin typeface="Helvetica" pitchFamily="34" charset="0"/>
                <a:ea typeface="宋体" panose="02010600030101010101" pitchFamily="2" charset="-122"/>
              </a:rPr>
              <a:t>））</a:t>
            </a:r>
            <a:endParaRPr lang="zh-CN" altLang="en-US" sz="3600" dirty="0">
              <a:solidFill>
                <a:srgbClr val="FF0000"/>
              </a:solidFill>
              <a:ea typeface="宋体" panose="02010600030101010101" pitchFamily="2" charset="-122"/>
            </a:endParaRPr>
          </a:p>
        </p:txBody>
      </p:sp>
      <p:sp>
        <p:nvSpPr>
          <p:cNvPr id="53251" name="Rectangle 3"/>
          <p:cNvSpPr/>
          <p:nvPr/>
        </p:nvSpPr>
        <p:spPr>
          <a:xfrm>
            <a:off x="98425" y="692150"/>
            <a:ext cx="8918575" cy="3022600"/>
          </a:xfrm>
          <a:prstGeom prst="rect">
            <a:avLst/>
          </a:prstGeom>
          <a:solidFill>
            <a:srgbClr val="FFFFFF"/>
          </a:solidFill>
          <a:ln w="9525">
            <a:noFill/>
          </a:ln>
        </p:spPr>
        <p:txBody>
          <a:bodyPr lIns="0" tIns="152352" rIns="0" bIns="152352"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171450" lvl="0" indent="-171450" algn="l">
              <a:lnSpc>
                <a:spcPct val="150000"/>
              </a:lnSpc>
              <a:spcBef>
                <a:spcPct val="0"/>
              </a:spcBef>
              <a:buClrTx/>
              <a:buFont typeface="Wingdings" panose="05000000000000000000" pitchFamily="2" charset="2"/>
              <a:buChar char="u"/>
            </a:pPr>
            <a:r>
              <a:rPr lang="zh-CN" altLang="en-US" sz="1800" dirty="0">
                <a:solidFill>
                  <a:srgbClr val="121212"/>
                </a:solidFill>
                <a:latin typeface="宋体" panose="02010600030101010101" pitchFamily="2" charset="-122"/>
                <a:ea typeface="宋体" panose="02010600030101010101" pitchFamily="2" charset="-122"/>
              </a:rPr>
              <a:t>容器是一个进程运行环境（一种沙盒技术、与外界隔离、可以迁移）。</a:t>
            </a:r>
            <a:endParaRPr lang="en-US" altLang="zh-CN" sz="1800" dirty="0">
              <a:ea typeface="宋体" panose="02010600030101010101" pitchFamily="2" charset="-122"/>
            </a:endParaRPr>
          </a:p>
          <a:p>
            <a:pPr marL="742950" lvl="1" indent="-285750">
              <a:lnSpc>
                <a:spcPct val="150000"/>
              </a:lnSpc>
              <a:buChar char="–"/>
            </a:pPr>
            <a:r>
              <a:rPr lang="zh-CN" altLang="en-US" sz="1800" dirty="0">
                <a:ea typeface="宋体" panose="02010600030101010101" pitchFamily="2" charset="-122"/>
              </a:rPr>
              <a:t>共享一个</a:t>
            </a:r>
            <a:r>
              <a:rPr lang="en-US" altLang="zh-CN" sz="1800" dirty="0">
                <a:ea typeface="宋体" panose="02010600030101010101" pitchFamily="2" charset="-122"/>
              </a:rPr>
              <a:t>OS Kernel</a:t>
            </a:r>
            <a:r>
              <a:rPr lang="zh-CN" altLang="en-US" sz="1800" dirty="0">
                <a:ea typeface="宋体" panose="02010600030101010101" pitchFamily="2" charset="-122"/>
              </a:rPr>
              <a:t>（主流操作系统上）；</a:t>
            </a:r>
            <a:endParaRPr lang="zh-CN" altLang="en-US" sz="1800" dirty="0">
              <a:ea typeface="宋体" panose="02010600030101010101" pitchFamily="2" charset="-122"/>
            </a:endParaRPr>
          </a:p>
          <a:p>
            <a:pPr marL="742950" lvl="1" indent="-285750">
              <a:lnSpc>
                <a:spcPct val="150000"/>
              </a:lnSpc>
              <a:buChar char="–"/>
            </a:pPr>
            <a:r>
              <a:rPr lang="zh-CN" altLang="en-US" sz="1800" dirty="0">
                <a:ea typeface="宋体" panose="02010600030101010101" pitchFamily="2" charset="-122"/>
              </a:rPr>
              <a:t>对软件及其依赖环境的标准化打包；</a:t>
            </a:r>
            <a:endParaRPr lang="zh-CN" altLang="en-US" sz="1800" dirty="0">
              <a:ea typeface="宋体" panose="02010600030101010101" pitchFamily="2" charset="-122"/>
            </a:endParaRPr>
          </a:p>
          <a:p>
            <a:pPr marL="742950" lvl="1" indent="-285750">
              <a:lnSpc>
                <a:spcPct val="150000"/>
              </a:lnSpc>
              <a:buChar char="–"/>
            </a:pPr>
            <a:r>
              <a:rPr lang="zh-CN" altLang="en-US" sz="1800" dirty="0">
                <a:ea typeface="宋体" panose="02010600030101010101" pitchFamily="2" charset="-122"/>
              </a:rPr>
              <a:t>应用之间相互隔离；</a:t>
            </a:r>
            <a:endParaRPr lang="en-US" altLang="zh-CN" sz="1800" dirty="0">
              <a:ea typeface="宋体" panose="02010600030101010101" pitchFamily="2" charset="-122"/>
            </a:endParaRPr>
          </a:p>
          <a:p>
            <a:pPr marL="171450" lvl="0" indent="-171450" algn="l">
              <a:lnSpc>
                <a:spcPct val="150000"/>
              </a:lnSpc>
              <a:buFont typeface="Wingdings" panose="05000000000000000000" pitchFamily="2" charset="2"/>
              <a:buChar char="u"/>
            </a:pPr>
            <a:r>
              <a:rPr lang="zh-CN" altLang="en-US" sz="1800" dirty="0">
                <a:solidFill>
                  <a:srgbClr val="121212"/>
                </a:solidFill>
                <a:latin typeface="宋体" panose="02010600030101010101" pitchFamily="2" charset="-122"/>
                <a:ea typeface="宋体" panose="02010600030101010101" pitchFamily="2" charset="-122"/>
              </a:rPr>
              <a:t>可理解为一个装应用软件的箱子，里面有软件运行所需的依赖库和配置，开发人员可以把这个箱子搬到任何机器上，不影响里面软件的运行。</a:t>
            </a:r>
            <a:endParaRPr lang="en-US" altLang="zh-CN" sz="1800" dirty="0">
              <a:solidFill>
                <a:srgbClr val="121212"/>
              </a:solidFill>
              <a:latin typeface="宋体" panose="02010600030101010101" pitchFamily="2" charset="-122"/>
              <a:ea typeface="宋体" panose="02010600030101010101" pitchFamily="2" charset="-122"/>
            </a:endParaRPr>
          </a:p>
        </p:txBody>
      </p:sp>
      <p:pic>
        <p:nvPicPr>
          <p:cNvPr id="53252" name="图片 1"/>
          <p:cNvPicPr>
            <a:picLocks noChangeAspect="1"/>
          </p:cNvPicPr>
          <p:nvPr/>
        </p:nvPicPr>
        <p:blipFill>
          <a:blip r:embed="rId1"/>
          <a:stretch>
            <a:fillRect/>
          </a:stretch>
        </p:blipFill>
        <p:spPr>
          <a:xfrm>
            <a:off x="2751138" y="3795713"/>
            <a:ext cx="3213100" cy="2306637"/>
          </a:xfrm>
          <a:prstGeom prst="rect">
            <a:avLst/>
          </a:prstGeom>
          <a:noFill/>
          <a:ln w="9525">
            <a:noFill/>
          </a:ln>
        </p:spPr>
      </p:pic>
      <p:sp>
        <p:nvSpPr>
          <p:cNvPr id="53253" name="矩形 3"/>
          <p:cNvSpPr/>
          <p:nvPr/>
        </p:nvSpPr>
        <p:spPr>
          <a:xfrm>
            <a:off x="3275013" y="6022975"/>
            <a:ext cx="1504950" cy="508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1" indent="0">
              <a:lnSpc>
                <a:spcPct val="150000"/>
              </a:lnSpc>
              <a:spcBef>
                <a:spcPct val="0"/>
              </a:spcBef>
              <a:buClrTx/>
              <a:buNone/>
            </a:pPr>
            <a:r>
              <a:rPr lang="zh-CN" altLang="en-US" sz="1800" dirty="0">
                <a:ea typeface="宋体" panose="02010600030101010101" pitchFamily="2" charset="-122"/>
              </a:rPr>
              <a:t>容器</a:t>
            </a:r>
            <a:endParaRPr lang="zh-CN" altLang="en-US" sz="1800"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5"/>
          <p:cNvSpPr txBox="1"/>
          <p:nvPr/>
        </p:nvSpPr>
        <p:spPr>
          <a:xfrm>
            <a:off x="2560638" y="136525"/>
            <a:ext cx="3324225"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zh-CN" altLang="en-US" sz="3600" dirty="0">
                <a:solidFill>
                  <a:srgbClr val="FF0000"/>
                </a:solidFill>
                <a:latin typeface="Helvetica" pitchFamily="34" charset="0"/>
                <a:ea typeface="宋体" panose="02010600030101010101" pitchFamily="2" charset="-122"/>
              </a:rPr>
              <a:t>容器技术</a:t>
            </a:r>
            <a:endParaRPr lang="zh-CN" altLang="en-US" sz="3600" dirty="0">
              <a:solidFill>
                <a:srgbClr val="FF0000"/>
              </a:solidFill>
              <a:ea typeface="宋体" panose="02010600030101010101" pitchFamily="2" charset="-122"/>
            </a:endParaRPr>
          </a:p>
        </p:txBody>
      </p:sp>
      <p:sp>
        <p:nvSpPr>
          <p:cNvPr id="54275" name="Rectangle 3"/>
          <p:cNvSpPr/>
          <p:nvPr/>
        </p:nvSpPr>
        <p:spPr>
          <a:xfrm>
            <a:off x="288925" y="919163"/>
            <a:ext cx="8505825" cy="1490662"/>
          </a:xfrm>
          <a:prstGeom prst="rect">
            <a:avLst/>
          </a:prstGeom>
          <a:solidFill>
            <a:srgbClr val="FFFFFF"/>
          </a:solidFill>
          <a:ln w="9525">
            <a:noFill/>
          </a:ln>
        </p:spPr>
        <p:txBody>
          <a:bodyPr lIns="0" tIns="152352" rIns="0" bIns="152352"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171450" lvl="0" indent="-171450" algn="l">
              <a:lnSpc>
                <a:spcPct val="150000"/>
              </a:lnSpc>
              <a:spcBef>
                <a:spcPct val="0"/>
              </a:spcBef>
              <a:buClrTx/>
              <a:buFont typeface="Wingdings" panose="05000000000000000000" pitchFamily="2" charset="2"/>
              <a:buChar char="u"/>
            </a:pPr>
            <a:r>
              <a:rPr lang="zh-CN" altLang="en-US" sz="1800" dirty="0">
                <a:solidFill>
                  <a:srgbClr val="121212"/>
                </a:solidFill>
                <a:latin typeface="宋体" panose="02010600030101010101" pitchFamily="2" charset="-122"/>
                <a:ea typeface="宋体" panose="02010600030101010101" pitchFamily="2" charset="-122"/>
              </a:rPr>
              <a:t>从</a:t>
            </a:r>
            <a:r>
              <a:rPr lang="en-US" altLang="zh-CN" sz="1800" dirty="0">
                <a:solidFill>
                  <a:srgbClr val="121212"/>
                </a:solidFill>
                <a:latin typeface="宋体" panose="02010600030101010101" pitchFamily="2" charset="-122"/>
                <a:ea typeface="宋体" panose="02010600030101010101" pitchFamily="2" charset="-122"/>
              </a:rPr>
              <a:t>OS</a:t>
            </a:r>
            <a:r>
              <a:rPr lang="zh-CN" altLang="en-US" sz="1800" dirty="0">
                <a:solidFill>
                  <a:srgbClr val="121212"/>
                </a:solidFill>
                <a:latin typeface="宋体" panose="02010600030101010101" pitchFamily="2" charset="-122"/>
                <a:ea typeface="宋体" panose="02010600030101010101" pitchFamily="2" charset="-122"/>
              </a:rPr>
              <a:t>的形态上容器是一个特殊的进程，通过名空间（</a:t>
            </a:r>
            <a:r>
              <a:rPr lang="en-US" altLang="zh-CN" sz="1800" dirty="0">
                <a:solidFill>
                  <a:srgbClr val="121212"/>
                </a:solidFill>
                <a:latin typeface="宋体" panose="02010600030101010101" pitchFamily="2" charset="-122"/>
                <a:ea typeface="宋体" panose="02010600030101010101" pitchFamily="2" charset="-122"/>
              </a:rPr>
              <a:t>Namespace</a:t>
            </a:r>
            <a:r>
              <a:rPr lang="zh-CN" altLang="en-US" sz="1800" dirty="0">
                <a:solidFill>
                  <a:srgbClr val="121212"/>
                </a:solidFill>
                <a:latin typeface="宋体" panose="02010600030101010101" pitchFamily="2" charset="-122"/>
                <a:ea typeface="宋体" panose="02010600030101010101" pitchFamily="2" charset="-122"/>
              </a:rPr>
              <a:t>）、控制组（</a:t>
            </a:r>
            <a:r>
              <a:rPr lang="en-US" altLang="zh-CN" sz="1800" dirty="0">
                <a:solidFill>
                  <a:srgbClr val="121212"/>
                </a:solidFill>
                <a:latin typeface="宋体" panose="02010600030101010101" pitchFamily="2" charset="-122"/>
                <a:ea typeface="宋体" panose="02010600030101010101" pitchFamily="2" charset="-122"/>
              </a:rPr>
              <a:t>Control groups</a:t>
            </a:r>
            <a:r>
              <a:rPr lang="zh-CN" altLang="en-US" sz="1800" dirty="0">
                <a:solidFill>
                  <a:srgbClr val="121212"/>
                </a:solidFill>
                <a:latin typeface="宋体" panose="02010600030101010101" pitchFamily="2" charset="-122"/>
                <a:ea typeface="宋体" panose="02010600030101010101" pitchFamily="2" charset="-122"/>
              </a:rPr>
              <a:t>）、切根（</a:t>
            </a:r>
            <a:r>
              <a:rPr lang="en-US" altLang="zh-CN" sz="1800" dirty="0">
                <a:solidFill>
                  <a:srgbClr val="121212"/>
                </a:solidFill>
                <a:latin typeface="宋体" panose="02010600030101010101" pitchFamily="2" charset="-122"/>
                <a:ea typeface="宋体" panose="02010600030101010101" pitchFamily="2" charset="-122"/>
              </a:rPr>
              <a:t>chroot</a:t>
            </a:r>
            <a:r>
              <a:rPr lang="zh-CN" altLang="en-US" sz="1800" dirty="0">
                <a:solidFill>
                  <a:srgbClr val="121212"/>
                </a:solidFill>
                <a:latin typeface="宋体" panose="02010600030101010101" pitchFamily="2" charset="-122"/>
                <a:ea typeface="宋体" panose="02010600030101010101" pitchFamily="2" charset="-122"/>
              </a:rPr>
              <a:t>）技术把资源、文件、设备、状态和配置划分到一个独立的空间。</a:t>
            </a:r>
            <a:endParaRPr lang="zh-CN" altLang="en-US" sz="1800" dirty="0">
              <a:solidFill>
                <a:srgbClr val="121212"/>
              </a:solidFill>
              <a:latin typeface="宋体" panose="02010600030101010101" pitchFamily="2" charset="-122"/>
              <a:ea typeface="宋体" panose="02010600030101010101" pitchFamily="2" charset="-122"/>
            </a:endParaRPr>
          </a:p>
        </p:txBody>
      </p:sp>
      <p:pic>
        <p:nvPicPr>
          <p:cNvPr id="54276" name="Picture 2" descr="https://pic1.zhimg.com/80/v2-87ca862251aa4a946e531674e7791468_720w.jpg"/>
          <p:cNvPicPr>
            <a:picLocks noChangeAspect="1"/>
          </p:cNvPicPr>
          <p:nvPr/>
        </p:nvPicPr>
        <p:blipFill>
          <a:blip r:embed="rId1"/>
          <a:stretch>
            <a:fillRect/>
          </a:stretch>
        </p:blipFill>
        <p:spPr>
          <a:xfrm>
            <a:off x="858838" y="2649538"/>
            <a:ext cx="7448550" cy="33940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5"/>
          <p:cNvSpPr txBox="1"/>
          <p:nvPr/>
        </p:nvSpPr>
        <p:spPr>
          <a:xfrm>
            <a:off x="447675" y="0"/>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zh-CN" altLang="en-US" sz="3600" dirty="0">
                <a:solidFill>
                  <a:srgbClr val="FF0000"/>
                </a:solidFill>
                <a:latin typeface="Helvetica" pitchFamily="34" charset="0"/>
                <a:ea typeface="宋体" panose="02010600030101010101" pitchFamily="2" charset="-122"/>
              </a:rPr>
              <a:t>容器技术</a:t>
            </a:r>
            <a:endParaRPr lang="zh-CN" altLang="en-US" sz="3600" dirty="0">
              <a:solidFill>
                <a:srgbClr val="FF0000"/>
              </a:solidFill>
              <a:ea typeface="宋体" panose="02010600030101010101" pitchFamily="2" charset="-122"/>
            </a:endParaRPr>
          </a:p>
        </p:txBody>
      </p:sp>
      <p:sp>
        <p:nvSpPr>
          <p:cNvPr id="55299" name="矩形 2"/>
          <p:cNvSpPr>
            <a:spLocks noChangeArrowheads="1"/>
          </p:cNvSpPr>
          <p:nvPr/>
        </p:nvSpPr>
        <p:spPr bwMode="auto">
          <a:xfrm>
            <a:off x="-100012" y="749300"/>
            <a:ext cx="9151938" cy="6002338"/>
          </a:xfrm>
          <a:prstGeom prst="rect">
            <a:avLst/>
          </a:prstGeom>
          <a:noFill/>
          <a:ln>
            <a:noFill/>
          </a:ln>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u"/>
              <a:defRPr/>
            </a:pP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名空间（</a:t>
            </a: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每个容器有自己的名空间（</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Linux</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默认的</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API</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），包括：</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PID Namespace</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：不同容器通过</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pid</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名字空间隔离开；</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Mount 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mount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允许不同名空间的进程看到的文件结构不同，不同名空间中的进程所看到的文件目录就被隔离了。另外，每个名空间中的容器在</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proc</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/mounts</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的信息只包含当前名称的挂载点；</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IPC 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容器中进程交互仍采用</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Linux</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的（</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IPC-</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interprocess</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 communication </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），包括信号量、消息队列和共享内存等；</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Network 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网络隔离通过</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Net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实现：每个</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Net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有独立的网络设备、</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IP</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地址、路由表、</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/proc/net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目录，每个容器的网络就能隔离开来；</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UTS 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UTS</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UNIX Time-sharing System</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）允许每个容器拥有独立的</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hostname</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和</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domain name</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，使其在网络上可被视作独立的节点而非主机上的进程；</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User Namespace</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每个容器可以有不同的用户和组</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id</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，也就是说可以在容器内用容器内部的用户执行程序而非主机上的用户。</a:t>
            </a:r>
            <a:endPar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457200" marR="0" lvl="1" indent="0" algn="l" defTabSz="914400" rtl="0" eaLnBrk="0" fontAlgn="base" latinLnBrk="0" hangingPunct="0">
              <a:lnSpc>
                <a:spcPct val="15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Namespace</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只改变进程的视觉范围，不对资源做出限制）；</a:t>
            </a:r>
            <a:endPar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矩形 1"/>
          <p:cNvSpPr>
            <a:spLocks noChangeArrowheads="1"/>
          </p:cNvSpPr>
          <p:nvPr/>
        </p:nvSpPr>
        <p:spPr bwMode="auto">
          <a:xfrm>
            <a:off x="268288" y="474663"/>
            <a:ext cx="8618538" cy="6372225"/>
          </a:xfrm>
          <a:prstGeom prst="rect">
            <a:avLst/>
          </a:prstGeom>
          <a:noFill/>
          <a:ln>
            <a:noFill/>
          </a:ln>
        </p:spPr>
        <p:txBody>
          <a:bodyPr>
            <a:spAutoFit/>
          </a:bodyPr>
          <a:lstStyle>
            <a:lvl1pPr algn="ctr">
              <a:spcBef>
                <a:spcPct val="20000"/>
              </a:spcBef>
              <a:buClr>
                <a:schemeClr val="accent2"/>
              </a:buClr>
              <a:buChar char="•"/>
              <a:defRPr sz="3200">
                <a:solidFill>
                  <a:schemeClr val="tx1"/>
                </a:solidFill>
                <a:latin typeface="Times New Roman" panose="02020603050405020304" pitchFamily="18" charset="0"/>
              </a:defRPr>
            </a:lvl1pPr>
            <a:lvl2pPr marL="742950" indent="-285750">
              <a:spcBef>
                <a:spcPct val="20000"/>
              </a:spcBef>
              <a:buClr>
                <a:schemeClr val="accent2"/>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u"/>
              <a:defRPr/>
            </a:pPr>
            <a:r>
              <a:rPr kumimoji="0" lang="zh-CN" altLang="en-US" sz="20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控制组（</a:t>
            </a:r>
            <a:r>
              <a:rPr kumimoji="0" lang="en-US" altLang="zh-CN" sz="20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Control groups</a:t>
            </a:r>
            <a:r>
              <a:rPr kumimoji="0" lang="zh-CN" altLang="en-US" sz="20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endParaRPr kumimoji="0" lang="zh-CN" altLang="en-US" sz="20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        </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Cgroups</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是</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Linux</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内核提供的一种可以限制、记录、隔离进程组的物理资源的机制，在</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Linux</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的</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/sys/fs/</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cgroup</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目录中，有</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cpu</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memory</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devices</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r>
              <a:rPr kumimoji="0" lang="en-US" altLang="zh-CN" sz="1800" b="0" i="0" u="none" strike="noStrike" kern="1200" cap="none" spc="0" normalizeH="0" baseline="0" noProof="0" dirty="0" err="1">
                <a:ln>
                  <a:noFill/>
                </a:ln>
                <a:solidFill>
                  <a:srgbClr val="121212"/>
                </a:solidFill>
                <a:effectLst/>
                <a:uLnTx/>
                <a:uFillTx/>
                <a:latin typeface="-apple-system"/>
                <a:ea typeface="宋体" panose="02010600030101010101" pitchFamily="2" charset="-122"/>
                <a:cs typeface="+mn-cs"/>
              </a:rPr>
              <a:t>net_cls</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等子目录，可以根据需要修改相应的配置文件来设置某个进程</a:t>
            </a:r>
            <a:r>
              <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ID</a:t>
            </a: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对物理资源的最大使用率，从而实现对容器使用资源的限制，防止某个容器把宿主机资源全部用完。</a:t>
            </a:r>
            <a:endParaRPr kumimoji="0" lang="en-US" altLang="zh-CN"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blkio</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为块设备设定输入</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输出限制，比如物理设备（磁盘，固态硬盘，</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USB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等等）。</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cpu</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使用调度程序提供对 </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CPU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任务访问。</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cpuacct</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自动生成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中任务所使用的 </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CPU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报告。</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cpuset</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中的任务分配独立 </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CPU</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（在多核系统）和内存节点。</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devices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允许或者拒绝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中的任务访问设备。</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freezer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挂起或者恢复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中的任务。</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memory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设定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中任务使用的内存限制，并自动生成由那些任务使用的内存资源报告。</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net_cls</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使用等级识别符（</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classid</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）标记网络数据包，可允许 </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Linux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流量控制程序（</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tc</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）识别从具体 </a:t>
            </a:r>
            <a:r>
              <a:rPr kumimoji="0" lang="en-US" altLang="zh-CN" sz="14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cgroup</a:t>
            </a: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中生成的数据包。</a:t>
            </a:r>
            <a:endPar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ns -- </a:t>
            </a:r>
            <a:r>
              <a:rPr kumimoji="0" lang="zh-C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名称空间子系统。</a:t>
            </a:r>
            <a:endParaRPr kumimoji="0" lang="en-US" altLang="zh-CN" sz="14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u"/>
              <a:defRPr/>
            </a:pP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切根（</a:t>
            </a:r>
            <a:r>
              <a:rPr kumimoji="0" lang="en-US" altLang="zh-CN"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change to root</a:t>
            </a:r>
            <a:r>
              <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a:t>
            </a:r>
            <a:endParaRPr kumimoji="0" lang="zh-CN" altLang="en-US" sz="1800" b="1"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rPr>
              <a:t>         切根是改变一个程序运行时参考的根目录位置，让不同容器在不同的虚拟根目录下工作，从而相互不直接影响，比如学校的教学与科研体系：学院与研究院。</a:t>
            </a:r>
            <a:endParaRPr kumimoji="0" lang="zh-CN" altLang="en-US" sz="1800" b="0" i="0" u="none" strike="noStrike" kern="1200" cap="none" spc="0" normalizeH="0" baseline="0" noProof="0" dirty="0">
              <a:ln>
                <a:noFill/>
              </a:ln>
              <a:solidFill>
                <a:srgbClr val="121212"/>
              </a:solidFill>
              <a:effectLst/>
              <a:uLnTx/>
              <a:uFillTx/>
              <a:latin typeface="-apple-system"/>
              <a:ea typeface="宋体" panose="02010600030101010101" pitchFamily="2" charset="-122"/>
              <a:cs typeface="+mn-cs"/>
            </a:endParaRPr>
          </a:p>
        </p:txBody>
      </p:sp>
      <p:sp>
        <p:nvSpPr>
          <p:cNvPr id="56323" name="Rectangle 5"/>
          <p:cNvSpPr txBox="1"/>
          <p:nvPr/>
        </p:nvSpPr>
        <p:spPr>
          <a:xfrm>
            <a:off x="447675" y="0"/>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zh-CN" altLang="en-US" sz="3600" dirty="0">
                <a:solidFill>
                  <a:srgbClr val="FF0000"/>
                </a:solidFill>
                <a:latin typeface="Helvetica" pitchFamily="34" charset="0"/>
                <a:ea typeface="宋体" panose="02010600030101010101" pitchFamily="2" charset="-122"/>
              </a:rPr>
              <a:t>容器技术</a:t>
            </a:r>
            <a:endParaRPr lang="zh-CN" altLang="en-US" sz="3600" dirty="0">
              <a:solidFill>
                <a:srgbClr val="FF0000"/>
              </a:solidFill>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5"/>
          <p:cNvSpPr txBox="1"/>
          <p:nvPr/>
        </p:nvSpPr>
        <p:spPr>
          <a:xfrm>
            <a:off x="771525" y="82550"/>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zh-CN" altLang="en-US" sz="3600" b="1" dirty="0">
                <a:solidFill>
                  <a:srgbClr val="FF0000"/>
                </a:solidFill>
                <a:latin typeface="-apple-system"/>
                <a:ea typeface="宋体" panose="02010600030101010101" pitchFamily="2" charset="-122"/>
              </a:rPr>
              <a:t>容器与虚拟机比较</a:t>
            </a:r>
            <a:endParaRPr lang="en-US" altLang="zh-CN" sz="3600" b="1" dirty="0">
              <a:solidFill>
                <a:srgbClr val="FF0000"/>
              </a:solidFill>
              <a:latin typeface="-apple-system"/>
              <a:ea typeface="宋体" panose="02010600030101010101" pitchFamily="2" charset="-122"/>
            </a:endParaRPr>
          </a:p>
        </p:txBody>
      </p:sp>
      <p:sp>
        <p:nvSpPr>
          <p:cNvPr id="57347" name="矩形 2"/>
          <p:cNvSpPr/>
          <p:nvPr/>
        </p:nvSpPr>
        <p:spPr>
          <a:xfrm>
            <a:off x="231775" y="3119438"/>
            <a:ext cx="8832850" cy="15684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285750" lvl="0" indent="-285750" algn="l">
              <a:lnSpc>
                <a:spcPct val="150000"/>
              </a:lnSpc>
              <a:spcBef>
                <a:spcPct val="0"/>
              </a:spcBef>
              <a:buClrTx/>
              <a:buFont typeface="Wingdings" panose="05000000000000000000" pitchFamily="2" charset="2"/>
              <a:buChar char="u"/>
            </a:pPr>
            <a:r>
              <a:rPr lang="zh-CN" altLang="en-US" sz="1600" dirty="0">
                <a:solidFill>
                  <a:srgbClr val="121212"/>
                </a:solidFill>
                <a:latin typeface="-apple-system"/>
                <a:ea typeface="宋体" panose="02010600030101010101" pitchFamily="2" charset="-122"/>
              </a:rPr>
              <a:t>虚拟机通常包括整个操作系统和应用程序，是</a:t>
            </a:r>
            <a:r>
              <a:rPr lang="en-US" altLang="zh-CN" sz="1600" dirty="0">
                <a:solidFill>
                  <a:srgbClr val="121212"/>
                </a:solidFill>
                <a:latin typeface="-apple-system"/>
                <a:ea typeface="宋体" panose="02010600030101010101" pitchFamily="2" charset="-122"/>
              </a:rPr>
              <a:t>Hypervisor</a:t>
            </a:r>
            <a:r>
              <a:rPr lang="zh-CN" altLang="en-US" sz="1600" dirty="0">
                <a:solidFill>
                  <a:srgbClr val="121212"/>
                </a:solidFill>
                <a:latin typeface="-apple-system"/>
                <a:ea typeface="宋体" panose="02010600030101010101" pitchFamily="2" charset="-122"/>
              </a:rPr>
              <a:t>虚拟出来的硬件上安装不同的操作系统，而容器是宿主机上运行的不同进程。虚拟机隔离性好，容器隔离性弱。</a:t>
            </a:r>
            <a:endParaRPr lang="en-US" altLang="zh-CN" sz="1600" dirty="0">
              <a:solidFill>
                <a:srgbClr val="121212"/>
              </a:solidFill>
              <a:latin typeface="-apple-system"/>
              <a:ea typeface="宋体" panose="02010600030101010101" pitchFamily="2" charset="-122"/>
            </a:endParaRPr>
          </a:p>
          <a:p>
            <a:pPr marL="285750" lvl="0" indent="-285750" algn="l">
              <a:lnSpc>
                <a:spcPct val="150000"/>
              </a:lnSpc>
              <a:spcBef>
                <a:spcPct val="0"/>
              </a:spcBef>
              <a:buClrTx/>
              <a:buFont typeface="Wingdings" panose="05000000000000000000" pitchFamily="2" charset="2"/>
              <a:buChar char="u"/>
            </a:pPr>
            <a:r>
              <a:rPr lang="zh-CN" altLang="en-US" sz="1600" dirty="0">
                <a:solidFill>
                  <a:srgbClr val="121212"/>
                </a:solidFill>
                <a:latin typeface="-apple-system"/>
                <a:ea typeface="宋体" panose="02010600030101010101" pitchFamily="2" charset="-122"/>
              </a:rPr>
              <a:t>从用户体验上来看，虚拟机是重量级的，占用物理资源多，启动时间长。容器则占用物理资源少，启动迅速，称为轻量级虚拟化。性能比较如下图：</a:t>
            </a:r>
            <a:endParaRPr lang="en-US" altLang="zh-CN" sz="1600" dirty="0">
              <a:solidFill>
                <a:srgbClr val="121212"/>
              </a:solidFill>
              <a:latin typeface="-apple-system"/>
              <a:ea typeface="宋体" panose="02010600030101010101" pitchFamily="2" charset="-122"/>
            </a:endParaRPr>
          </a:p>
        </p:txBody>
      </p:sp>
      <p:graphicFrame>
        <p:nvGraphicFramePr>
          <p:cNvPr id="3" name="表格 2"/>
          <p:cNvGraphicFramePr>
            <a:graphicFrameLocks noGrp="1"/>
          </p:cNvGraphicFramePr>
          <p:nvPr/>
        </p:nvGraphicFramePr>
        <p:xfrm>
          <a:off x="2071688" y="4725988"/>
          <a:ext cx="4965700" cy="1908175"/>
        </p:xfrm>
        <a:graphic>
          <a:graphicData uri="http://schemas.openxmlformats.org/drawingml/2006/table">
            <a:tbl>
              <a:tblPr/>
              <a:tblGrid>
                <a:gridCol w="1349482"/>
                <a:gridCol w="1702526"/>
                <a:gridCol w="1913692"/>
              </a:tblGrid>
              <a:tr h="381635">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FF0000"/>
                          </a:solidFill>
                          <a:effectLst/>
                          <a:latin typeface="宋体" panose="02010600030101010101" pitchFamily="2" charset="-122"/>
                          <a:ea typeface="宋体" panose="02010600030101010101" pitchFamily="2" charset="-122"/>
                        </a:rPr>
                        <a:t>特性</a:t>
                      </a:r>
                      <a:endParaRPr kumimoji="0" lang="zh-CN" altLang="en-US" sz="1600" b="0" i="0" u="none" strike="noStrike" cap="none" normalizeH="0" baseline="0">
                        <a:ln>
                          <a:noFill/>
                        </a:ln>
                        <a:solidFill>
                          <a:srgbClr val="FF0000"/>
                        </a:solidFill>
                        <a:effectLst/>
                        <a:latin typeface="宋体" panose="02010600030101010101" pitchFamily="2" charset="-122"/>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容器</a:t>
                      </a:r>
                      <a:endParaRPr kumimoji="0" lang="zh-CN" altLang="en-US"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虚拟机</a:t>
                      </a: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81635">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启动</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秒级</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分钟级</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381635">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硬盘使用</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一般为</a:t>
                      </a: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MB</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一般为</a:t>
                      </a:r>
                      <a:r>
                        <a:rPr kumimoji="0" lang="en-US" altLang="zh-CN"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GB</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381635">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性能</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接近原生</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占一定开销</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381635">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系统支持量</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单机上千个容器</a:t>
                      </a:r>
                      <a:endParaRPr kumimoji="0" lang="zh-CN" altLang="en-US" sz="16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lgn="ctr">
                        <a:spcBef>
                          <a:spcPct val="20000"/>
                        </a:spcBef>
                        <a:buClr>
                          <a:schemeClr val="accent2"/>
                        </a:buClr>
                        <a:defRPr sz="2800">
                          <a:solidFill>
                            <a:schemeClr val="tx1"/>
                          </a:solidFill>
                          <a:latin typeface="Times New Roman" panose="02020603050405020304" pitchFamily="18" charset="0"/>
                        </a:defRPr>
                      </a:lvl1pPr>
                      <a:lvl2pPr marL="742950" indent="-285750">
                        <a:spcBef>
                          <a:spcPct val="20000"/>
                        </a:spcBef>
                        <a:buClr>
                          <a:schemeClr val="accent2"/>
                        </a:buClr>
                        <a:defRPr sz="2400">
                          <a:solidFill>
                            <a:schemeClr val="tx1"/>
                          </a:solidFill>
                          <a:latin typeface="Times New Roman" panose="02020603050405020304" pitchFamily="18" charset="0"/>
                        </a:defRPr>
                      </a:lvl2pPr>
                      <a:lvl3pPr marL="1143000" indent="-228600">
                        <a:spcBef>
                          <a:spcPct val="20000"/>
                        </a:spcBef>
                        <a:buClr>
                          <a:schemeClr val="accent2"/>
                        </a:buClr>
                        <a:defRPr sz="2000">
                          <a:solidFill>
                            <a:schemeClr val="tx1"/>
                          </a:solidFill>
                          <a:latin typeface="Times New Roman" panose="02020603050405020304" pitchFamily="18" charset="0"/>
                        </a:defRPr>
                      </a:lvl3pPr>
                      <a:lvl4pPr marL="1600200" indent="-228600">
                        <a:spcBef>
                          <a:spcPct val="20000"/>
                        </a:spcBef>
                        <a:buClr>
                          <a:schemeClr val="accent2"/>
                        </a:buClr>
                        <a:defRPr>
                          <a:solidFill>
                            <a:schemeClr val="tx1"/>
                          </a:solidFill>
                          <a:latin typeface="Times New Roman" panose="02020603050405020304" pitchFamily="18" charset="0"/>
                        </a:defRPr>
                      </a:lvl4pPr>
                      <a:lvl5pPr marL="2057400" indent="-228600">
                        <a:spcBef>
                          <a:spcPct val="20000"/>
                        </a:spcBef>
                        <a:buClr>
                          <a:schemeClr val="accent2"/>
                        </a:buCl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一般几十个</a:t>
                      </a:r>
                      <a:endParaRPr kumimoji="0" lang="zh-CN" altLang="en-US" sz="16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marL="91427" marR="91427" marT="45689" marB="4568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bl>
          </a:graphicData>
        </a:graphic>
      </p:graphicFrame>
      <p:pic>
        <p:nvPicPr>
          <p:cNvPr id="57374" name="图片 1"/>
          <p:cNvPicPr>
            <a:picLocks noChangeAspect="1"/>
          </p:cNvPicPr>
          <p:nvPr/>
        </p:nvPicPr>
        <p:blipFill>
          <a:blip r:embed="rId1"/>
          <a:stretch>
            <a:fillRect/>
          </a:stretch>
        </p:blipFill>
        <p:spPr>
          <a:xfrm>
            <a:off x="1484313" y="758825"/>
            <a:ext cx="2678112" cy="1960563"/>
          </a:xfrm>
          <a:prstGeom prst="rect">
            <a:avLst/>
          </a:prstGeom>
          <a:noFill/>
          <a:ln w="9525">
            <a:noFill/>
          </a:ln>
        </p:spPr>
      </p:pic>
      <p:pic>
        <p:nvPicPr>
          <p:cNvPr id="57375" name="图片 2"/>
          <p:cNvPicPr>
            <a:picLocks noChangeAspect="1"/>
          </p:cNvPicPr>
          <p:nvPr/>
        </p:nvPicPr>
        <p:blipFill>
          <a:blip r:embed="rId2"/>
          <a:stretch>
            <a:fillRect/>
          </a:stretch>
        </p:blipFill>
        <p:spPr>
          <a:xfrm>
            <a:off x="4981575" y="708025"/>
            <a:ext cx="2957513" cy="2160588"/>
          </a:xfrm>
          <a:prstGeom prst="rect">
            <a:avLst/>
          </a:prstGeom>
          <a:noFill/>
          <a:ln w="9525">
            <a:noFill/>
          </a:ln>
        </p:spPr>
      </p:pic>
      <p:sp>
        <p:nvSpPr>
          <p:cNvPr id="57376" name="矩形 3"/>
          <p:cNvSpPr/>
          <p:nvPr/>
        </p:nvSpPr>
        <p:spPr>
          <a:xfrm>
            <a:off x="2071688" y="2614613"/>
            <a:ext cx="1504950" cy="4159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1" indent="0">
              <a:lnSpc>
                <a:spcPct val="150000"/>
              </a:lnSpc>
              <a:spcBef>
                <a:spcPct val="0"/>
              </a:spcBef>
              <a:buClrTx/>
              <a:buNone/>
            </a:pPr>
            <a:r>
              <a:rPr lang="zh-CN" altLang="en-US" sz="1600" dirty="0">
                <a:ea typeface="宋体" panose="02010600030101010101" pitchFamily="2" charset="-122"/>
              </a:rPr>
              <a:t>容器</a:t>
            </a:r>
            <a:endParaRPr lang="zh-CN" altLang="en-US" sz="1600" dirty="0">
              <a:ea typeface="宋体" panose="02010600030101010101" pitchFamily="2" charset="-122"/>
            </a:endParaRPr>
          </a:p>
        </p:txBody>
      </p:sp>
      <p:sp>
        <p:nvSpPr>
          <p:cNvPr id="57377" name="矩形 7"/>
          <p:cNvSpPr/>
          <p:nvPr/>
        </p:nvSpPr>
        <p:spPr>
          <a:xfrm>
            <a:off x="5567363" y="2781300"/>
            <a:ext cx="1504950" cy="4159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1" indent="0">
              <a:lnSpc>
                <a:spcPct val="150000"/>
              </a:lnSpc>
              <a:spcBef>
                <a:spcPct val="0"/>
              </a:spcBef>
              <a:buClrTx/>
              <a:buNone/>
            </a:pPr>
            <a:r>
              <a:rPr lang="zh-CN" altLang="en-US" sz="1600" dirty="0">
                <a:ea typeface="宋体" panose="02010600030101010101" pitchFamily="2" charset="-122"/>
              </a:rPr>
              <a:t>虚拟机</a:t>
            </a:r>
            <a:endParaRPr lang="zh-CN" altLang="en-US" sz="1600"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5"/>
          <p:cNvSpPr txBox="1"/>
          <p:nvPr/>
        </p:nvSpPr>
        <p:spPr>
          <a:xfrm>
            <a:off x="771525" y="82550"/>
            <a:ext cx="7073900" cy="474663"/>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defTabSz="914400">
              <a:spcBef>
                <a:spcPct val="50000"/>
              </a:spcBef>
              <a:buClrTx/>
              <a:buNone/>
              <a:tabLst>
                <a:tab pos="457200" algn="l"/>
              </a:tabLst>
            </a:pPr>
            <a:r>
              <a:rPr lang="en-US" altLang="zh-CN" sz="3600" b="1" dirty="0">
                <a:solidFill>
                  <a:srgbClr val="FF0000"/>
                </a:solidFill>
                <a:latin typeface="-apple-system"/>
                <a:ea typeface="宋体" panose="02010600030101010101" pitchFamily="2" charset="-122"/>
              </a:rPr>
              <a:t>Docker</a:t>
            </a:r>
            <a:r>
              <a:rPr lang="zh-CN" altLang="en-US" sz="3600" b="1" dirty="0">
                <a:solidFill>
                  <a:srgbClr val="FF0000"/>
                </a:solidFill>
                <a:latin typeface="-apple-system"/>
                <a:ea typeface="宋体" panose="02010600030101010101" pitchFamily="2" charset="-122"/>
              </a:rPr>
              <a:t>、容器与镜像</a:t>
            </a:r>
            <a:endParaRPr lang="en-US" altLang="zh-CN" sz="3600" b="1" dirty="0">
              <a:solidFill>
                <a:srgbClr val="FF0000"/>
              </a:solidFill>
              <a:latin typeface="-apple-system"/>
              <a:ea typeface="宋体" panose="02010600030101010101" pitchFamily="2" charset="-122"/>
            </a:endParaRPr>
          </a:p>
        </p:txBody>
      </p:sp>
      <p:sp>
        <p:nvSpPr>
          <p:cNvPr id="58371" name="矩形 2"/>
          <p:cNvSpPr/>
          <p:nvPr/>
        </p:nvSpPr>
        <p:spPr>
          <a:xfrm>
            <a:off x="0" y="744538"/>
            <a:ext cx="9144000" cy="26193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285750" lvl="0" indent="-285750" algn="l">
              <a:lnSpc>
                <a:spcPct val="150000"/>
              </a:lnSpc>
              <a:spcBef>
                <a:spcPct val="0"/>
              </a:spcBef>
              <a:buClrTx/>
              <a:buFont typeface="Wingdings" panose="05000000000000000000" pitchFamily="2" charset="2"/>
              <a:buChar char="u"/>
            </a:pPr>
            <a:r>
              <a:rPr lang="zh-CN" altLang="en-US" sz="1600" dirty="0">
                <a:solidFill>
                  <a:srgbClr val="FF0000"/>
                </a:solidFill>
                <a:latin typeface="宋体" panose="02010600030101010101" pitchFamily="2" charset="-122"/>
                <a:ea typeface="宋体" panose="02010600030101010101" pitchFamily="2" charset="-122"/>
              </a:rPr>
              <a:t>容器</a:t>
            </a:r>
            <a:r>
              <a:rPr lang="zh-CN" altLang="en-US" sz="1600" dirty="0">
                <a:solidFill>
                  <a:srgbClr val="121212"/>
                </a:solidFill>
                <a:latin typeface="宋体" panose="02010600030101010101" pitchFamily="2" charset="-122"/>
                <a:ea typeface="宋体" panose="02010600030101010101" pitchFamily="2" charset="-122"/>
              </a:rPr>
              <a:t>是一种很早的技术（进程运行环境），</a:t>
            </a:r>
            <a:r>
              <a:rPr lang="en-US" altLang="zh-CN" sz="1600" dirty="0">
                <a:solidFill>
                  <a:srgbClr val="FF0000"/>
                </a:solidFill>
                <a:latin typeface="宋体" panose="02010600030101010101" pitchFamily="2" charset="-122"/>
                <a:ea typeface="宋体" panose="02010600030101010101" pitchFamily="2" charset="-122"/>
              </a:rPr>
              <a:t>Docker</a:t>
            </a:r>
            <a:r>
              <a:rPr lang="zh-CN" altLang="en-US" sz="1600" dirty="0">
                <a:solidFill>
                  <a:srgbClr val="121212"/>
                </a:solidFill>
                <a:latin typeface="宋体" panose="02010600030101010101" pitchFamily="2" charset="-122"/>
                <a:ea typeface="宋体" panose="02010600030101010101" pitchFamily="2" charset="-122"/>
              </a:rPr>
              <a:t>是一个开源的应用容器引擎，让开发者将其应用和依赖环境打包到一个可移植的容器中，然后发布到任何的</a:t>
            </a:r>
            <a:r>
              <a:rPr lang="en-US" altLang="zh-CN" sz="1600" dirty="0">
                <a:solidFill>
                  <a:srgbClr val="121212"/>
                </a:solidFill>
                <a:latin typeface="宋体" panose="02010600030101010101" pitchFamily="2" charset="-122"/>
                <a:ea typeface="宋体" panose="02010600030101010101" pitchFamily="2" charset="-122"/>
              </a:rPr>
              <a:t>Linux</a:t>
            </a:r>
            <a:r>
              <a:rPr lang="zh-CN" altLang="en-US" sz="1600" dirty="0">
                <a:solidFill>
                  <a:srgbClr val="121212"/>
                </a:solidFill>
                <a:latin typeface="宋体" panose="02010600030101010101" pitchFamily="2" charset="-122"/>
                <a:ea typeface="宋体" panose="02010600030101010101" pitchFamily="2" charset="-122"/>
              </a:rPr>
              <a:t>机器上，做到“</a:t>
            </a:r>
            <a:r>
              <a:rPr lang="en-US" altLang="zh-CN" sz="1600" dirty="0">
                <a:solidFill>
                  <a:srgbClr val="121212"/>
                </a:solidFill>
                <a:latin typeface="宋体" panose="02010600030101010101" pitchFamily="2" charset="-122"/>
                <a:ea typeface="宋体" panose="02010600030101010101" pitchFamily="2" charset="-122"/>
              </a:rPr>
              <a:t>build once, run anywhere”</a:t>
            </a:r>
            <a:r>
              <a:rPr lang="zh-CN" altLang="en-US" sz="1600" dirty="0">
                <a:solidFill>
                  <a:srgbClr val="121212"/>
                </a:solidFill>
                <a:latin typeface="宋体" panose="02010600030101010101" pitchFamily="2" charset="-122"/>
                <a:ea typeface="宋体" panose="02010600030101010101" pitchFamily="2" charset="-122"/>
              </a:rPr>
              <a:t>，</a:t>
            </a:r>
            <a:endParaRPr lang="en-US" altLang="zh-CN" sz="1600" dirty="0">
              <a:solidFill>
                <a:srgbClr val="121212"/>
              </a:solidFill>
              <a:latin typeface="宋体" panose="02010600030101010101" pitchFamily="2" charset="-122"/>
              <a:ea typeface="宋体" panose="02010600030101010101" pitchFamily="2" charset="-122"/>
            </a:endParaRPr>
          </a:p>
          <a:p>
            <a:pPr marL="285750" lvl="0" indent="-285750" algn="l">
              <a:lnSpc>
                <a:spcPct val="150000"/>
              </a:lnSpc>
              <a:spcBef>
                <a:spcPct val="0"/>
              </a:spcBef>
              <a:buClrTx/>
              <a:buFont typeface="Wingdings" panose="05000000000000000000" pitchFamily="2" charset="2"/>
              <a:buChar char="u"/>
            </a:pPr>
            <a:r>
              <a:rPr lang="zh-CN" altLang="en-US" sz="1600" dirty="0">
                <a:solidFill>
                  <a:srgbClr val="FF0000"/>
                </a:solidFill>
                <a:latin typeface="宋体" panose="02010600030101010101" pitchFamily="2" charset="-122"/>
                <a:ea typeface="宋体" panose="02010600030101010101" pitchFamily="2" charset="-122"/>
              </a:rPr>
              <a:t>镜像</a:t>
            </a:r>
            <a:r>
              <a:rPr lang="zh-CN" altLang="en-US" sz="1600" dirty="0">
                <a:solidFill>
                  <a:srgbClr val="121212"/>
                </a:solidFill>
                <a:latin typeface="宋体" panose="02010600030101010101" pitchFamily="2" charset="-122"/>
                <a:ea typeface="宋体" panose="02010600030101010101" pitchFamily="2" charset="-122"/>
              </a:rPr>
              <a:t>是一个只读文件，包括运行容器所需的数据，可以用来创建新的容器。镜像是文件，容器是进程。容器中的进程是依赖镜像中的文件创建的，文件包括进程运行所需要的可执行文件：依赖软件、库文件、配置文件等；</a:t>
            </a:r>
            <a:endParaRPr lang="en-US" altLang="zh-CN" sz="1600" dirty="0">
              <a:solidFill>
                <a:srgbClr val="121212"/>
              </a:solidFill>
              <a:latin typeface="宋体" panose="02010600030101010101" pitchFamily="2" charset="-122"/>
              <a:ea typeface="宋体" panose="02010600030101010101" pitchFamily="2" charset="-122"/>
            </a:endParaRPr>
          </a:p>
          <a:p>
            <a:pPr marL="285750" lvl="0" indent="-285750" algn="l">
              <a:lnSpc>
                <a:spcPct val="150000"/>
              </a:lnSpc>
              <a:spcBef>
                <a:spcPct val="0"/>
              </a:spcBef>
              <a:buClrTx/>
              <a:buFont typeface="Wingdings" panose="05000000000000000000" pitchFamily="2" charset="2"/>
              <a:buChar char="u"/>
            </a:pPr>
            <a:r>
              <a:rPr lang="en-US" altLang="zh-CN" sz="1600" dirty="0">
                <a:solidFill>
                  <a:srgbClr val="121212"/>
                </a:solidFill>
                <a:latin typeface="宋体" panose="02010600030101010101" pitchFamily="2" charset="-122"/>
                <a:ea typeface="宋体" panose="02010600030101010101" pitchFamily="2" charset="-122"/>
              </a:rPr>
              <a:t>docker</a:t>
            </a:r>
            <a:r>
              <a:rPr lang="zh-CN" altLang="en-US" sz="1600" dirty="0">
                <a:solidFill>
                  <a:srgbClr val="121212"/>
                </a:solidFill>
                <a:latin typeface="宋体" panose="02010600030101010101" pitchFamily="2" charset="-122"/>
                <a:ea typeface="宋体" panose="02010600030101010101" pitchFamily="2" charset="-122"/>
              </a:rPr>
              <a:t>的生命周期有三部分组成：镜像（</a:t>
            </a:r>
            <a:r>
              <a:rPr lang="en-US" altLang="zh-CN" sz="1600" dirty="0">
                <a:solidFill>
                  <a:srgbClr val="121212"/>
                </a:solidFill>
                <a:latin typeface="宋体" panose="02010600030101010101" pitchFamily="2" charset="-122"/>
                <a:ea typeface="宋体" panose="02010600030101010101" pitchFamily="2" charset="-122"/>
              </a:rPr>
              <a:t>image</a:t>
            </a:r>
            <a:r>
              <a:rPr lang="zh-CN" altLang="en-US" sz="1600" dirty="0">
                <a:solidFill>
                  <a:srgbClr val="121212"/>
                </a:solidFill>
                <a:latin typeface="宋体" panose="02010600030101010101" pitchFamily="2" charset="-122"/>
                <a:ea typeface="宋体" panose="02010600030101010101" pitchFamily="2" charset="-122"/>
              </a:rPr>
              <a:t>）</a:t>
            </a:r>
            <a:r>
              <a:rPr lang="en-US" altLang="zh-CN" sz="1600" dirty="0">
                <a:solidFill>
                  <a:srgbClr val="121212"/>
                </a:solidFill>
                <a:latin typeface="宋体" panose="02010600030101010101" pitchFamily="2" charset="-122"/>
                <a:ea typeface="宋体" panose="02010600030101010101" pitchFamily="2" charset="-122"/>
              </a:rPr>
              <a:t>+</a:t>
            </a:r>
            <a:r>
              <a:rPr lang="zh-CN" altLang="en-US" sz="1600" dirty="0">
                <a:solidFill>
                  <a:srgbClr val="121212"/>
                </a:solidFill>
                <a:latin typeface="宋体" panose="02010600030101010101" pitchFamily="2" charset="-122"/>
                <a:ea typeface="宋体" panose="02010600030101010101" pitchFamily="2" charset="-122"/>
              </a:rPr>
              <a:t>容器（</a:t>
            </a:r>
            <a:r>
              <a:rPr lang="en-US" altLang="zh-CN" sz="1600" dirty="0">
                <a:solidFill>
                  <a:srgbClr val="121212"/>
                </a:solidFill>
                <a:latin typeface="宋体" panose="02010600030101010101" pitchFamily="2" charset="-122"/>
                <a:ea typeface="宋体" panose="02010600030101010101" pitchFamily="2" charset="-122"/>
              </a:rPr>
              <a:t>container</a:t>
            </a:r>
            <a:r>
              <a:rPr lang="zh-CN" altLang="en-US" sz="1600" dirty="0">
                <a:solidFill>
                  <a:srgbClr val="121212"/>
                </a:solidFill>
                <a:latin typeface="宋体" panose="02010600030101010101" pitchFamily="2" charset="-122"/>
                <a:ea typeface="宋体" panose="02010600030101010101" pitchFamily="2" charset="-122"/>
              </a:rPr>
              <a:t>）</a:t>
            </a:r>
            <a:r>
              <a:rPr lang="en-US" altLang="zh-CN" sz="1600" dirty="0">
                <a:solidFill>
                  <a:srgbClr val="121212"/>
                </a:solidFill>
                <a:latin typeface="宋体" panose="02010600030101010101" pitchFamily="2" charset="-122"/>
                <a:ea typeface="宋体" panose="02010600030101010101" pitchFamily="2" charset="-122"/>
              </a:rPr>
              <a:t>+</a:t>
            </a:r>
            <a:r>
              <a:rPr lang="zh-CN" altLang="en-US" sz="1600" dirty="0">
                <a:solidFill>
                  <a:srgbClr val="121212"/>
                </a:solidFill>
                <a:latin typeface="宋体" panose="02010600030101010101" pitchFamily="2" charset="-122"/>
                <a:ea typeface="宋体" panose="02010600030101010101" pitchFamily="2" charset="-122"/>
              </a:rPr>
              <a:t>仓库（</a:t>
            </a:r>
            <a:r>
              <a:rPr lang="en-US" altLang="zh-CN" sz="1600" dirty="0">
                <a:solidFill>
                  <a:srgbClr val="121212"/>
                </a:solidFill>
                <a:latin typeface="宋体" panose="02010600030101010101" pitchFamily="2" charset="-122"/>
                <a:ea typeface="宋体" panose="02010600030101010101" pitchFamily="2" charset="-122"/>
              </a:rPr>
              <a:t>repository</a:t>
            </a:r>
            <a:r>
              <a:rPr lang="zh-CN" altLang="en-US" sz="1600" dirty="0">
                <a:solidFill>
                  <a:srgbClr val="121212"/>
                </a:solidFill>
                <a:latin typeface="宋体" panose="02010600030101010101" pitchFamily="2" charset="-122"/>
                <a:ea typeface="宋体" panose="02010600030101010101" pitchFamily="2" charset="-122"/>
              </a:rPr>
              <a:t>）；</a:t>
            </a:r>
            <a:endParaRPr lang="en-US" altLang="zh-CN" sz="1600" dirty="0">
              <a:solidFill>
                <a:srgbClr val="121212"/>
              </a:solidFill>
              <a:latin typeface="宋体" panose="02010600030101010101" pitchFamily="2" charset="-122"/>
              <a:ea typeface="宋体" panose="02010600030101010101" pitchFamily="2" charset="-122"/>
            </a:endParaRPr>
          </a:p>
        </p:txBody>
      </p:sp>
      <p:pic>
        <p:nvPicPr>
          <p:cNvPr id="58372" name="Picture 2" descr="https://upload-images.jianshu.io/upload_images/2156466-b4341e9da2e6e170.jpg?imageMogr2/auto-orient/strip%7CimageView2/2"/>
          <p:cNvPicPr>
            <a:picLocks noChangeAspect="1"/>
          </p:cNvPicPr>
          <p:nvPr/>
        </p:nvPicPr>
        <p:blipFill>
          <a:blip r:embed="rId1"/>
          <a:stretch>
            <a:fillRect/>
          </a:stretch>
        </p:blipFill>
        <p:spPr>
          <a:xfrm>
            <a:off x="1878013" y="3554413"/>
            <a:ext cx="5045075" cy="3092450"/>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ext Box 3"/>
          <p:cNvSpPr txBox="1">
            <a:spLocks noChangeArrowheads="1"/>
          </p:cNvSpPr>
          <p:nvPr/>
        </p:nvSpPr>
        <p:spPr bwMode="auto">
          <a:xfrm>
            <a:off x="146050" y="619125"/>
            <a:ext cx="8683625" cy="2170113"/>
          </a:xfrm>
          <a:prstGeom prst="rect">
            <a:avLst/>
          </a:prstGeom>
          <a:noFill/>
          <a:ln w="9525">
            <a:noFill/>
            <a:miter lim="800000"/>
          </a:ln>
        </p:spPr>
        <p:txBody>
          <a:bodyPr>
            <a:spAutoFit/>
          </a:bodyPr>
          <a:lstStyle/>
          <a:p>
            <a:pPr marR="0" defTabSz="914400" eaLnBrk="1" hangingPunct="1">
              <a:lnSpc>
                <a:spcPct val="150000"/>
              </a:lnSpc>
              <a:buClrTx/>
              <a:buSzTx/>
              <a:buFontTx/>
              <a:buNone/>
              <a:defRPr/>
            </a:pPr>
            <a:r>
              <a:rPr kumimoji="0" lang="zh-CN" altLang="en-US" sz="1800" kern="1200" cap="none" spc="0" normalizeH="0" baseline="0" noProof="0" dirty="0">
                <a:latin typeface="Times New Roman" panose="02020603050405020304" pitchFamily="18" charset="0"/>
                <a:ea typeface="宋体" panose="02010600030101010101" pitchFamily="2" charset="-122"/>
                <a:cs typeface="+mn-cs"/>
                <a:sym typeface="+mn-ea"/>
              </a:rPr>
              <a:t>决定在哪台机器上运行哪个进程。</a:t>
            </a:r>
            <a:r>
              <a:rPr kumimoji="0" lang="en-US" altLang="zh-CN" sz="1800" kern="1200" cap="none" spc="0" normalizeH="0" baseline="0" noProof="0" dirty="0">
                <a:latin typeface="Times New Roman" panose="02020603050405020304" pitchFamily="18" charset="0"/>
                <a:ea typeface="宋体" panose="02010600030101010101" pitchFamily="2" charset="-122"/>
                <a:cs typeface="+mn-cs"/>
                <a:sym typeface="+mn-ea"/>
              </a:rPr>
              <a:t> </a:t>
            </a:r>
            <a:r>
              <a:rPr kumimoji="0" lang="zh-CN" altLang="en-US" sz="1800" b="1" kern="1200" cap="none" spc="0" normalizeH="0" baseline="0" noProof="0" dirty="0">
                <a:latin typeface="Times New Roman" panose="02020603050405020304" pitchFamily="18" charset="0"/>
                <a:ea typeface="宋体" panose="02010600030101010101" pitchFamily="2" charset="-122"/>
                <a:cs typeface="+mn-cs"/>
                <a:sym typeface="+mn-ea"/>
              </a:rPr>
              <a:t>目标</a:t>
            </a:r>
            <a:r>
              <a:rPr kumimoji="0" lang="en-US" altLang="zh-CN" sz="1800" b="1" kern="1200" cap="none" spc="0" normalizeH="0" baseline="0" noProof="0" dirty="0">
                <a:latin typeface="Times New Roman" panose="02020603050405020304" pitchFamily="18" charset="0"/>
                <a:ea typeface="宋体" panose="02010600030101010101" pitchFamily="2" charset="-122"/>
                <a:cs typeface="+mn-cs"/>
                <a:sym typeface="+mn-ea"/>
              </a:rPr>
              <a:t>:</a:t>
            </a:r>
            <a:r>
              <a:rPr kumimoji="0" lang="en-US" altLang="zh-CN" sz="1800" kern="1200" cap="none" spc="0" normalizeH="0" baseline="0" noProof="0" dirty="0">
                <a:latin typeface="Times New Roman" panose="02020603050405020304" pitchFamily="18" charset="0"/>
                <a:ea typeface="宋体" panose="02010600030101010101" pitchFamily="2" charset="-122"/>
                <a:cs typeface="+mn-cs"/>
                <a:sym typeface="+mn-ea"/>
              </a:rPr>
              <a:t>  </a:t>
            </a:r>
            <a:r>
              <a:rPr kumimoji="0" lang="zh-CN" altLang="en-US" sz="1800" kern="1200" cap="none" spc="0" normalizeH="0" baseline="0" noProof="0" dirty="0">
                <a:latin typeface="Times New Roman" panose="02020603050405020304" pitchFamily="18" charset="0"/>
                <a:ea typeface="宋体" panose="02010600030101010101" pitchFamily="2" charset="-122"/>
                <a:cs typeface="+mn-cs"/>
                <a:sym typeface="+mn-ea"/>
              </a:rPr>
              <a:t>负载分布</a:t>
            </a:r>
            <a:endParaRPr kumimoji="0" lang="en-US" altLang="zh-CN" sz="1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535305" marR="0" indent="-535305" algn="just" defTabSz="914400" eaLnBrk="1" hangingPunct="1">
              <a:lnSpc>
                <a:spcPct val="150000"/>
              </a:lnSpc>
              <a:spcBef>
                <a:spcPct val="50000"/>
              </a:spcBef>
              <a:buClrTx/>
              <a:buSzTx/>
              <a:buFontTx/>
              <a:buNone/>
              <a:defRPr/>
            </a:pPr>
            <a:r>
              <a:rPr kumimoji="0" lang="en-US" altLang="zh-CN" sz="1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 </a:t>
            </a:r>
            <a:r>
              <a:rPr kumimoji="0" lang="zh-CN" altLang="en-US" sz="1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分配策略</a:t>
            </a:r>
            <a:endParaRPr kumimoji="0" lang="zh-CN" altLang="en-US" sz="1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535305" marR="0" indent="-535305" algn="just" defTabSz="914400" eaLnBrk="1" hangingPunct="1">
              <a:lnSpc>
                <a:spcPct val="150000"/>
              </a:lnSpc>
              <a:spcBef>
                <a:spcPct val="50000"/>
              </a:spcBef>
              <a:buClrTx/>
              <a:buSzTx/>
              <a:buFont typeface="Wingdings" panose="05000000000000000000" pitchFamily="2" charset="2"/>
              <a:buChar char="u"/>
              <a:defRPr/>
            </a:pPr>
            <a:r>
              <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不可迁移</a:t>
            </a:r>
            <a:r>
              <a:rPr kumimoji="0" lang="en-US" altLang="zh-CN"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系统创建进程时就分配处理机直至结束。不考虑处理机负载情况。</a:t>
            </a:r>
            <a:endPar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535305" marR="0" indent="-535305" algn="just" defTabSz="914400" eaLnBrk="1" hangingPunct="1">
              <a:lnSpc>
                <a:spcPct val="150000"/>
              </a:lnSpc>
              <a:spcBef>
                <a:spcPct val="50000"/>
              </a:spcBef>
              <a:buClrTx/>
              <a:buSzTx/>
              <a:buFont typeface="Wingdings" panose="05000000000000000000" pitchFamily="2" charset="2"/>
              <a:buChar char="u"/>
              <a:defRPr/>
            </a:pPr>
            <a:r>
              <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可迁移</a:t>
            </a:r>
            <a:r>
              <a:rPr kumimoji="0" lang="en-US" altLang="zh-CN"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运行进程可迁移到其他处理机上。更好的负载平衡，增加系统复杂性。</a:t>
            </a:r>
            <a:endParaRPr kumimoji="0" lang="zh-CN" altLang="en-US" sz="1800"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sp>
        <p:nvSpPr>
          <p:cNvPr id="59395" name="Rectangle 5"/>
          <p:cNvSpPr>
            <a:spLocks noGrp="1"/>
          </p:cNvSpPr>
          <p:nvPr>
            <p:ph type="title"/>
          </p:nvPr>
        </p:nvSpPr>
        <p:spPr>
          <a:xfrm>
            <a:off x="0" y="33338"/>
            <a:ext cx="6292850" cy="676275"/>
          </a:xfrm>
        </p:spPr>
        <p:txBody>
          <a:bodyPr vert="horz" wrap="square" lIns="91440" tIns="45720" rIns="91440" bIns="45720" anchor="ctr" anchorCtr="0"/>
          <a:p>
            <a:pPr eaLnBrk="1" hangingPunct="1"/>
            <a:r>
              <a:rPr lang="zh-CN" altLang="en-US" sz="3600" b="1" dirty="0">
                <a:ea typeface="宋体" panose="02010600030101010101" pitchFamily="2" charset="-122"/>
              </a:rPr>
              <a:t>进程调度</a:t>
            </a:r>
            <a:r>
              <a:rPr lang="en-US" altLang="zh-CN" sz="3600" b="1" dirty="0">
                <a:ea typeface="宋体" panose="02010600030101010101" pitchFamily="2" charset="-122"/>
              </a:rPr>
              <a:t>/</a:t>
            </a:r>
            <a:r>
              <a:rPr lang="zh-CN" altLang="en-US" sz="3600" b="1" dirty="0">
                <a:ea typeface="宋体" panose="02010600030101010101" pitchFamily="2" charset="-122"/>
              </a:rPr>
              <a:t>处理机分配</a:t>
            </a:r>
            <a:endParaRPr lang="en-US" altLang="zh-CN" dirty="0">
              <a:ea typeface="宋体" panose="02010600030101010101" pitchFamily="2" charset="-122"/>
            </a:endParaRPr>
          </a:p>
        </p:txBody>
      </p:sp>
      <p:sp>
        <p:nvSpPr>
          <p:cNvPr id="59396" name="Text Box 3"/>
          <p:cNvSpPr txBox="1"/>
          <p:nvPr/>
        </p:nvSpPr>
        <p:spPr>
          <a:xfrm>
            <a:off x="146050" y="2887663"/>
            <a:ext cx="8367713" cy="37798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50000"/>
              </a:spcBef>
              <a:buClrTx/>
              <a:buNone/>
            </a:pPr>
            <a:r>
              <a:rPr lang="en-US" altLang="zh-CN" sz="1800" b="1" dirty="0">
                <a:ea typeface="宋体" panose="02010600030101010101" pitchFamily="2" charset="-122"/>
                <a:sym typeface="Symbol" panose="05050102010706020507" pitchFamily="18" charset="2"/>
              </a:rPr>
              <a:t>2. </a:t>
            </a:r>
            <a:r>
              <a:rPr lang="zh-CN" altLang="en-US" sz="1800" b="1" dirty="0">
                <a:ea typeface="宋体" panose="02010600030101010101" pitchFamily="2" charset="-122"/>
                <a:sym typeface="Symbol" panose="05050102010706020507" pitchFamily="18" charset="2"/>
              </a:rPr>
              <a:t>系统模型</a:t>
            </a:r>
            <a:r>
              <a:rPr lang="en-US" altLang="zh-CN" sz="1800" b="1" dirty="0">
                <a:ea typeface="宋体" panose="02010600030101010101" pitchFamily="2" charset="-122"/>
                <a:sym typeface="Symbol" panose="05050102010706020507" pitchFamily="18" charset="2"/>
              </a:rPr>
              <a:t>:</a:t>
            </a:r>
            <a:endParaRPr lang="en-US" altLang="zh-CN" sz="1800" b="1" dirty="0">
              <a:ea typeface="宋体" panose="02010600030101010101" pitchFamily="2" charset="-122"/>
              <a:sym typeface="Symbol" panose="05050102010706020507" pitchFamily="18" charset="2"/>
            </a:endParaRPr>
          </a:p>
          <a:p>
            <a:pPr marL="0" lvl="0" indent="0" algn="just" eaLnBrk="1" hangingPunct="1">
              <a:lnSpc>
                <a:spcPct val="150000"/>
              </a:lnSpc>
              <a:spcBef>
                <a:spcPct val="50000"/>
              </a:spcBef>
              <a:buClrTx/>
              <a:buNone/>
            </a:pPr>
            <a:r>
              <a:rPr lang="en-US" altLang="zh-CN" sz="1800" dirty="0">
                <a:ea typeface="宋体" panose="02010600030101010101" pitchFamily="2" charset="-122"/>
                <a:sym typeface="Symbol" panose="05050102010706020507" pitchFamily="18" charset="2"/>
              </a:rPr>
              <a:t>          (1). </a:t>
            </a:r>
            <a:r>
              <a:rPr lang="zh-CN" altLang="en-US" sz="1800" dirty="0">
                <a:ea typeface="宋体" panose="02010600030101010101" pitchFamily="2" charset="-122"/>
                <a:sym typeface="Symbol" panose="05050102010706020507" pitchFamily="18" charset="2"/>
              </a:rPr>
              <a:t>工作站模型</a:t>
            </a:r>
            <a:r>
              <a:rPr lang="en-US" altLang="zh-CN" sz="1800" dirty="0">
                <a:ea typeface="宋体" panose="02010600030101010101" pitchFamily="2" charset="-122"/>
                <a:sym typeface="Symbol" panose="05050102010706020507" pitchFamily="18" charset="2"/>
              </a:rPr>
              <a:t>; </a:t>
            </a:r>
            <a:endParaRPr lang="en-US" altLang="zh-CN" sz="1800" dirty="0">
              <a:ea typeface="宋体" panose="02010600030101010101" pitchFamily="2" charset="-122"/>
              <a:sym typeface="Symbol" panose="05050102010706020507" pitchFamily="18" charset="2"/>
            </a:endParaRPr>
          </a:p>
          <a:p>
            <a:pPr marL="0" lvl="0" indent="0" algn="just" eaLnBrk="1" hangingPunct="1">
              <a:lnSpc>
                <a:spcPct val="150000"/>
              </a:lnSpc>
              <a:spcBef>
                <a:spcPct val="50000"/>
              </a:spcBef>
              <a:buClrTx/>
              <a:buNone/>
            </a:pPr>
            <a:r>
              <a:rPr lang="en-US" altLang="zh-CN" sz="1800" dirty="0">
                <a:ea typeface="宋体" panose="02010600030101010101" pitchFamily="2" charset="-122"/>
                <a:sym typeface="Symbol" panose="05050102010706020507" pitchFamily="18" charset="2"/>
              </a:rPr>
              <a:t>          (2). </a:t>
            </a:r>
            <a:r>
              <a:rPr lang="zh-CN" altLang="en-US" sz="1800" dirty="0">
                <a:ea typeface="宋体" panose="02010600030101010101" pitchFamily="2" charset="-122"/>
                <a:sym typeface="Symbol" panose="05050102010706020507" pitchFamily="18" charset="2"/>
              </a:rPr>
              <a:t>处理机池模型</a:t>
            </a:r>
            <a:r>
              <a:rPr lang="en-US" altLang="zh-CN" sz="1800" dirty="0">
                <a:ea typeface="宋体" panose="02010600030101010101" pitchFamily="2" charset="-122"/>
                <a:sym typeface="Symbol" panose="05050102010706020507" pitchFamily="18" charset="2"/>
              </a:rPr>
              <a:t>.</a:t>
            </a:r>
            <a:endParaRPr lang="en-US" altLang="zh-CN" sz="1800" dirty="0">
              <a:ea typeface="宋体" panose="02010600030101010101" pitchFamily="2" charset="-122"/>
              <a:sym typeface="Symbol" panose="05050102010706020507" pitchFamily="18" charset="2"/>
            </a:endParaRPr>
          </a:p>
          <a:p>
            <a:pPr marL="0" lvl="0" indent="0" algn="just" eaLnBrk="1" hangingPunct="1">
              <a:lnSpc>
                <a:spcPct val="150000"/>
              </a:lnSpc>
              <a:spcBef>
                <a:spcPct val="50000"/>
              </a:spcBef>
              <a:buClrTx/>
              <a:buNone/>
            </a:pPr>
            <a:r>
              <a:rPr lang="zh-CN" altLang="en-US" sz="1800" dirty="0">
                <a:ea typeface="宋体" panose="02010600030101010101" pitchFamily="2" charset="-122"/>
                <a:sym typeface="Symbol" panose="05050102010706020507" pitchFamily="18" charset="2"/>
              </a:rPr>
              <a:t>工作站模型使用例子</a:t>
            </a:r>
            <a:r>
              <a:rPr lang="en-US" altLang="zh-CN" sz="1800" dirty="0">
                <a:ea typeface="宋体" panose="02010600030101010101" pitchFamily="2" charset="-122"/>
                <a:sym typeface="Symbol" panose="05050102010706020507" pitchFamily="18" charset="2"/>
              </a:rPr>
              <a:t>:  Berkeley UNIX</a:t>
            </a:r>
            <a:r>
              <a:rPr lang="zh-CN" altLang="en-US" sz="1800" dirty="0">
                <a:ea typeface="宋体" panose="02010600030101010101" pitchFamily="2" charset="-122"/>
                <a:sym typeface="Symbol" panose="05050102010706020507" pitchFamily="18" charset="2"/>
              </a:rPr>
              <a:t>中的</a:t>
            </a:r>
            <a:r>
              <a:rPr lang="en-US" altLang="zh-CN" sz="1800" dirty="0">
                <a:ea typeface="宋体" panose="02010600030101010101" pitchFamily="2" charset="-122"/>
                <a:sym typeface="Symbol" panose="05050102010706020507" pitchFamily="18" charset="2"/>
              </a:rPr>
              <a:t>rsh</a:t>
            </a:r>
            <a:r>
              <a:rPr lang="zh-CN" altLang="en-US" sz="1800" dirty="0">
                <a:ea typeface="宋体" panose="02010600030101010101" pitchFamily="2" charset="-122"/>
                <a:sym typeface="Symbol" panose="05050102010706020507" pitchFamily="18" charset="2"/>
              </a:rPr>
              <a:t>命令：</a:t>
            </a:r>
            <a:r>
              <a:rPr lang="en-US" altLang="zh-CN" sz="1800" dirty="0">
                <a:ea typeface="宋体" panose="02010600030101010101" pitchFamily="2" charset="-122"/>
                <a:sym typeface="Symbol" panose="05050102010706020507" pitchFamily="18" charset="2"/>
              </a:rPr>
              <a:t>rsh machine command </a:t>
            </a:r>
            <a:endParaRPr lang="en-US" altLang="zh-CN" sz="1800" dirty="0">
              <a:ea typeface="宋体" panose="02010600030101010101" pitchFamily="2" charset="-122"/>
              <a:sym typeface="Symbol" panose="05050102010706020507" pitchFamily="18" charset="2"/>
            </a:endParaRPr>
          </a:p>
          <a:p>
            <a:pPr marL="0" lvl="0" indent="0" algn="l" eaLnBrk="1" hangingPunct="1">
              <a:lnSpc>
                <a:spcPct val="150000"/>
              </a:lnSpc>
              <a:spcBef>
                <a:spcPct val="0"/>
              </a:spcBef>
              <a:buClrTx/>
            </a:pPr>
            <a:r>
              <a:rPr lang="zh-CN" altLang="en-US" sz="1800" b="1" dirty="0">
                <a:ea typeface="宋体" panose="02010600030101010101" pitchFamily="2" charset="-122"/>
                <a:sym typeface="Symbol" panose="05050102010706020507" pitchFamily="18" charset="2"/>
              </a:rPr>
              <a:t>问题：</a:t>
            </a:r>
            <a:endParaRPr lang="zh-CN" altLang="en-US" sz="1800" b="1" dirty="0">
              <a:ea typeface="宋体" panose="02010600030101010101" pitchFamily="2" charset="-122"/>
              <a:sym typeface="Symbol" panose="05050102010706020507" pitchFamily="18" charset="2"/>
            </a:endParaRPr>
          </a:p>
          <a:p>
            <a:pPr marL="0" lvl="0" indent="0" algn="l" eaLnBrk="1" hangingPunct="1">
              <a:lnSpc>
                <a:spcPct val="150000"/>
              </a:lnSpc>
              <a:spcBef>
                <a:spcPct val="0"/>
              </a:spcBef>
              <a:buClrTx/>
              <a:buNone/>
            </a:pPr>
            <a:r>
              <a:rPr lang="zh-CN" altLang="en-US" sz="1800" dirty="0">
                <a:ea typeface="宋体" panose="02010600030101010101" pitchFamily="2" charset="-122"/>
                <a:sym typeface="Symbol" panose="05050102010706020507" pitchFamily="18" charset="2"/>
              </a:rPr>
              <a:t>    </a:t>
            </a:r>
            <a:r>
              <a:rPr lang="en-US" altLang="zh-CN" sz="1800" dirty="0">
                <a:ea typeface="宋体" panose="02010600030101010101" pitchFamily="2" charset="-122"/>
                <a:sym typeface="Symbol" panose="05050102010706020507" pitchFamily="18" charset="2"/>
              </a:rPr>
              <a:t>(1)  </a:t>
            </a:r>
            <a:r>
              <a:rPr lang="zh-CN" altLang="en-US" sz="1800" dirty="0">
                <a:ea typeface="宋体" panose="02010600030101010101" pitchFamily="2" charset="-122"/>
                <a:sym typeface="Symbol" panose="05050102010706020507" pitchFamily="18" charset="2"/>
              </a:rPr>
              <a:t>怎样找出一台空闲机器？进程调度算法</a:t>
            </a:r>
            <a:endParaRPr lang="en-US" altLang="zh-CN" sz="1800" dirty="0">
              <a:ea typeface="宋体" panose="02010600030101010101" pitchFamily="2" charset="-122"/>
              <a:sym typeface="Symbol" panose="05050102010706020507" pitchFamily="18" charset="2"/>
            </a:endParaRPr>
          </a:p>
          <a:p>
            <a:pPr marL="0" lvl="0" indent="0" algn="l" eaLnBrk="1" hangingPunct="1">
              <a:lnSpc>
                <a:spcPct val="150000"/>
              </a:lnSpc>
              <a:spcBef>
                <a:spcPct val="0"/>
              </a:spcBef>
              <a:buClrTx/>
              <a:buNone/>
            </a:pPr>
            <a:r>
              <a:rPr lang="zh-CN" altLang="en-US" sz="1800" dirty="0">
                <a:ea typeface="宋体" panose="02010600030101010101" pitchFamily="2" charset="-122"/>
                <a:sym typeface="Symbol" panose="05050102010706020507" pitchFamily="18" charset="2"/>
              </a:rPr>
              <a:t>    </a:t>
            </a:r>
            <a:r>
              <a:rPr lang="en-US" altLang="zh-CN" sz="1800" dirty="0">
                <a:ea typeface="宋体" panose="02010600030101010101" pitchFamily="2" charset="-122"/>
                <a:sym typeface="Symbol" panose="05050102010706020507" pitchFamily="18" charset="2"/>
              </a:rPr>
              <a:t>(2)  </a:t>
            </a:r>
            <a:r>
              <a:rPr lang="zh-CN" altLang="en-US" sz="1800" dirty="0">
                <a:ea typeface="宋体" panose="02010600030101010101" pitchFamily="2" charset="-122"/>
                <a:sym typeface="Symbol" panose="05050102010706020507" pitchFamily="18" charset="2"/>
              </a:rPr>
              <a:t>远程进程怎样透明地运行？</a:t>
            </a:r>
            <a:endParaRPr lang="zh-CN" altLang="en-US" sz="1800" dirty="0">
              <a:ea typeface="宋体" panose="02010600030101010101" pitchFamily="2" charset="-122"/>
              <a:sym typeface="Symbol" panose="05050102010706020507" pitchFamily="18" charset="2"/>
            </a:endParaRPr>
          </a:p>
          <a:p>
            <a:pPr marL="0" lvl="0" indent="0" algn="l" eaLnBrk="1" hangingPunct="1">
              <a:lnSpc>
                <a:spcPct val="150000"/>
              </a:lnSpc>
              <a:spcBef>
                <a:spcPct val="0"/>
              </a:spcBef>
              <a:buClrTx/>
              <a:buNone/>
            </a:pPr>
            <a:r>
              <a:rPr lang="zh-CN" altLang="en-US" sz="1800" dirty="0">
                <a:ea typeface="宋体" panose="02010600030101010101" pitchFamily="2" charset="-122"/>
                <a:sym typeface="Symbol" panose="05050102010706020507" pitchFamily="18" charset="2"/>
              </a:rPr>
              <a:t>    </a:t>
            </a:r>
            <a:r>
              <a:rPr lang="en-US" altLang="zh-CN" sz="1800" dirty="0">
                <a:ea typeface="宋体" panose="02010600030101010101" pitchFamily="2" charset="-122"/>
                <a:sym typeface="Symbol" panose="05050102010706020507" pitchFamily="18" charset="2"/>
              </a:rPr>
              <a:t>(3)  </a:t>
            </a:r>
            <a:r>
              <a:rPr lang="zh-CN" altLang="en-US" sz="1800" dirty="0">
                <a:ea typeface="宋体" panose="02010600030101010101" pitchFamily="2" charset="-122"/>
                <a:sym typeface="Symbol" panose="05050102010706020507" pitchFamily="18" charset="2"/>
              </a:rPr>
              <a:t>如果（空闲）机器的主人回来重新使用它怎么办？</a:t>
            </a:r>
            <a:endParaRPr lang="en-US" altLang="zh-CN" sz="1800" dirty="0">
              <a:ea typeface="宋体" panose="02010600030101010101" pitchFamily="2" charset="-122"/>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0" y="0"/>
            <a:ext cx="9144000" cy="598488"/>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2200" dirty="0">
              <a:ea typeface="宋体" panose="02010600030101010101" pitchFamily="2" charset="-122"/>
            </a:endParaRPr>
          </a:p>
        </p:txBody>
      </p:sp>
      <p:sp>
        <p:nvSpPr>
          <p:cNvPr id="60419" name="Text Box 3"/>
          <p:cNvSpPr txBox="1"/>
          <p:nvPr/>
        </p:nvSpPr>
        <p:spPr>
          <a:xfrm>
            <a:off x="147638" y="598488"/>
            <a:ext cx="8848725" cy="18923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50000"/>
              </a:spcBef>
              <a:buClrTx/>
              <a:buNone/>
            </a:pPr>
            <a:r>
              <a:rPr lang="en-US" altLang="zh-CN" sz="1800" b="1" dirty="0">
                <a:ea typeface="宋体" panose="02010600030101010101" pitchFamily="2" charset="-122"/>
                <a:sym typeface="Symbol" panose="05050102010706020507" pitchFamily="18" charset="2"/>
              </a:rPr>
              <a:t>3. </a:t>
            </a:r>
            <a:r>
              <a:rPr lang="zh-CN" altLang="en-US" sz="1800" b="1" dirty="0">
                <a:ea typeface="宋体" panose="02010600030101010101" pitchFamily="2" charset="-122"/>
                <a:sym typeface="Symbol" panose="05050102010706020507" pitchFamily="18" charset="2"/>
              </a:rPr>
              <a:t>分配优化目标</a:t>
            </a:r>
            <a:r>
              <a:rPr lang="en-US" altLang="zh-CN" sz="1800" dirty="0">
                <a:ea typeface="宋体" panose="02010600030101010101" pitchFamily="2" charset="-122"/>
                <a:sym typeface="Symbol" panose="05050102010706020507" pitchFamily="18" charset="2"/>
              </a:rPr>
              <a:t>——CPU</a:t>
            </a:r>
            <a:r>
              <a:rPr lang="zh-CN" altLang="en-US" sz="1800" dirty="0">
                <a:ea typeface="宋体" panose="02010600030101010101" pitchFamily="2" charset="-122"/>
                <a:sym typeface="Symbol" panose="05050102010706020507" pitchFamily="18" charset="2"/>
              </a:rPr>
              <a:t>的利用率最大； 平均响应时间最小</a:t>
            </a:r>
            <a:r>
              <a:rPr lang="en-US" altLang="zh-CN" sz="1800" dirty="0">
                <a:ea typeface="宋体" panose="02010600030101010101" pitchFamily="2" charset="-122"/>
                <a:sym typeface="Symbol" panose="05050102010706020507" pitchFamily="18" charset="2"/>
              </a:rPr>
              <a:t>.</a:t>
            </a:r>
            <a:endParaRPr lang="en-US" altLang="zh-CN" sz="1800" dirty="0">
              <a:ea typeface="宋体" panose="02010600030101010101" pitchFamily="2" charset="-122"/>
              <a:sym typeface="Symbol" panose="05050102010706020507" pitchFamily="18" charset="2"/>
            </a:endParaRPr>
          </a:p>
          <a:p>
            <a:pPr marL="0" lvl="0" indent="0" algn="l" eaLnBrk="1" hangingPunct="1">
              <a:lnSpc>
                <a:spcPct val="150000"/>
              </a:lnSpc>
              <a:spcBef>
                <a:spcPct val="50000"/>
              </a:spcBef>
              <a:buClrTx/>
              <a:buNone/>
            </a:pPr>
            <a:r>
              <a:rPr lang="zh-CN" altLang="en-US" sz="1800" dirty="0">
                <a:ea typeface="宋体" panose="02010600030101010101" pitchFamily="2" charset="-122"/>
                <a:sym typeface="Symbol" panose="05050102010706020507" pitchFamily="18" charset="2"/>
              </a:rPr>
              <a:t>例</a:t>
            </a:r>
            <a:r>
              <a:rPr lang="en-US" altLang="zh-CN" sz="1800" dirty="0">
                <a:ea typeface="宋体" panose="02010600030101010101" pitchFamily="2" charset="-122"/>
                <a:sym typeface="Symbol" panose="05050102010706020507" pitchFamily="18" charset="2"/>
              </a:rPr>
              <a:t>: </a:t>
            </a:r>
            <a:r>
              <a:rPr lang="zh-CN" altLang="en-US" sz="1800" dirty="0">
                <a:ea typeface="宋体" panose="02010600030101010101" pitchFamily="2" charset="-122"/>
                <a:sym typeface="Symbol" panose="05050102010706020507" pitchFamily="18" charset="2"/>
              </a:rPr>
              <a:t>设</a:t>
            </a:r>
            <a:r>
              <a:rPr lang="en-US" altLang="zh-CN" sz="1800" dirty="0">
                <a:ea typeface="宋体" panose="02010600030101010101" pitchFamily="2" charset="-122"/>
                <a:sym typeface="Symbol" panose="05050102010706020507" pitchFamily="18" charset="2"/>
              </a:rPr>
              <a:t>CPU1</a:t>
            </a:r>
            <a:r>
              <a:rPr lang="zh-CN" altLang="en-US" sz="1800" dirty="0">
                <a:ea typeface="宋体" panose="02010600030101010101" pitchFamily="2" charset="-122"/>
                <a:sym typeface="Symbol" panose="05050102010706020507" pitchFamily="18" charset="2"/>
              </a:rPr>
              <a:t>为</a:t>
            </a:r>
            <a:r>
              <a:rPr lang="en-US" altLang="zh-CN" sz="1800" dirty="0">
                <a:ea typeface="宋体" panose="02010600030101010101" pitchFamily="2" charset="-122"/>
                <a:sym typeface="Symbol" panose="05050102010706020507" pitchFamily="18" charset="2"/>
              </a:rPr>
              <a:t>10MIPS</a:t>
            </a:r>
            <a:r>
              <a:rPr lang="zh-CN" altLang="en-US" sz="1800" dirty="0">
                <a:ea typeface="宋体" panose="02010600030101010101" pitchFamily="2" charset="-122"/>
                <a:sym typeface="Symbol" panose="05050102010706020507" pitchFamily="18" charset="2"/>
              </a:rPr>
              <a:t>，</a:t>
            </a:r>
            <a:r>
              <a:rPr lang="en-US" altLang="zh-CN" sz="1800" dirty="0">
                <a:ea typeface="宋体" panose="02010600030101010101" pitchFamily="2" charset="-122"/>
                <a:sym typeface="Symbol" panose="05050102010706020507" pitchFamily="18" charset="2"/>
              </a:rPr>
              <a:t> CPU2</a:t>
            </a:r>
            <a:r>
              <a:rPr lang="zh-CN" altLang="en-US" sz="1800" dirty="0">
                <a:ea typeface="宋体" panose="02010600030101010101" pitchFamily="2" charset="-122"/>
                <a:sym typeface="Symbol" panose="05050102010706020507" pitchFamily="18" charset="2"/>
              </a:rPr>
              <a:t>为</a:t>
            </a:r>
            <a:r>
              <a:rPr lang="en-US" altLang="zh-CN" sz="1800" dirty="0">
                <a:ea typeface="宋体" panose="02010600030101010101" pitchFamily="2" charset="-122"/>
                <a:sym typeface="Symbol" panose="05050102010706020507" pitchFamily="18" charset="2"/>
              </a:rPr>
              <a:t>100MIPS</a:t>
            </a:r>
            <a:r>
              <a:rPr lang="zh-CN" altLang="en-US" sz="1800" dirty="0">
                <a:ea typeface="宋体" panose="02010600030101010101" pitchFamily="2" charset="-122"/>
                <a:sym typeface="Symbol" panose="05050102010706020507" pitchFamily="18" charset="2"/>
              </a:rPr>
              <a:t>，进程</a:t>
            </a:r>
            <a:r>
              <a:rPr lang="en-US" altLang="zh-CN" sz="1800" dirty="0">
                <a:ea typeface="宋体" panose="02010600030101010101" pitchFamily="2" charset="-122"/>
                <a:sym typeface="Symbol" panose="05050102010706020507" pitchFamily="18" charset="2"/>
              </a:rPr>
              <a:t>1</a:t>
            </a:r>
            <a:r>
              <a:rPr lang="zh-CN" altLang="en-US" sz="1800" dirty="0">
                <a:ea typeface="宋体" panose="02010600030101010101" pitchFamily="2" charset="-122"/>
                <a:sym typeface="Symbol" panose="05050102010706020507" pitchFamily="18" charset="2"/>
              </a:rPr>
              <a:t>、</a:t>
            </a:r>
            <a:r>
              <a:rPr lang="en-US" altLang="zh-CN" sz="1800" dirty="0">
                <a:ea typeface="宋体" panose="02010600030101010101" pitchFamily="2" charset="-122"/>
                <a:sym typeface="Symbol" panose="05050102010706020507" pitchFamily="18" charset="2"/>
              </a:rPr>
              <a:t>2</a:t>
            </a:r>
            <a:r>
              <a:rPr lang="zh-CN" altLang="en-US" sz="1800" dirty="0">
                <a:ea typeface="宋体" panose="02010600030101010101" pitchFamily="2" charset="-122"/>
                <a:sym typeface="Symbol" panose="05050102010706020507" pitchFamily="18" charset="2"/>
              </a:rPr>
              <a:t>各需执行</a:t>
            </a:r>
            <a:r>
              <a:rPr lang="en-US" altLang="zh-CN" sz="1800" dirty="0">
                <a:ea typeface="宋体" panose="02010600030101010101" pitchFamily="2" charset="-122"/>
                <a:sym typeface="Symbol" panose="05050102010706020507" pitchFamily="18" charset="2"/>
              </a:rPr>
              <a:t>1</a:t>
            </a:r>
            <a:r>
              <a:rPr lang="zh-CN" altLang="en-US" sz="1800" dirty="0">
                <a:ea typeface="宋体" panose="02010600030101010101" pitchFamily="2" charset="-122"/>
                <a:sym typeface="Symbol" panose="05050102010706020507" pitchFamily="18" charset="2"/>
              </a:rPr>
              <a:t>、</a:t>
            </a:r>
            <a:r>
              <a:rPr lang="en-US" altLang="zh-CN" sz="1800" dirty="0">
                <a:ea typeface="宋体" panose="02010600030101010101" pitchFamily="2" charset="-122"/>
                <a:sym typeface="Symbol" panose="05050102010706020507" pitchFamily="18" charset="2"/>
              </a:rPr>
              <a:t>3</a:t>
            </a:r>
            <a:r>
              <a:rPr lang="zh-CN" altLang="en-US" sz="1800" dirty="0">
                <a:ea typeface="宋体" panose="02010600030101010101" pitchFamily="2" charset="-122"/>
                <a:sym typeface="Symbol" panose="05050102010706020507" pitchFamily="18" charset="2"/>
              </a:rPr>
              <a:t>亿条指令。</a:t>
            </a:r>
            <a:r>
              <a:rPr lang="en-US" altLang="zh-CN" sz="1800" dirty="0">
                <a:ea typeface="宋体" panose="02010600030101010101" pitchFamily="2" charset="-122"/>
                <a:sym typeface="Symbol" panose="05050102010706020507" pitchFamily="18" charset="2"/>
              </a:rPr>
              <a:t> CPU2</a:t>
            </a:r>
            <a:r>
              <a:rPr lang="zh-CN" altLang="en-US" sz="1800" dirty="0">
                <a:ea typeface="宋体" panose="02010600030101010101" pitchFamily="2" charset="-122"/>
                <a:sym typeface="Symbol" panose="05050102010706020507" pitchFamily="18" charset="2"/>
              </a:rPr>
              <a:t>在执行进程前，要花</a:t>
            </a:r>
            <a:r>
              <a:rPr lang="en-US" altLang="zh-CN" sz="1800" dirty="0">
                <a:ea typeface="宋体" panose="02010600030101010101" pitchFamily="2" charset="-122"/>
                <a:sym typeface="Symbol" panose="05050102010706020507" pitchFamily="18" charset="2"/>
              </a:rPr>
              <a:t>5s</a:t>
            </a:r>
            <a:r>
              <a:rPr lang="zh-CN" altLang="en-US" sz="1800" dirty="0">
                <a:ea typeface="宋体" panose="02010600030101010101" pitchFamily="2" charset="-122"/>
                <a:sym typeface="Symbol" panose="05050102010706020507" pitchFamily="18" charset="2"/>
              </a:rPr>
              <a:t>的准备时间。设</a:t>
            </a:r>
            <a:r>
              <a:rPr lang="en-US" altLang="zh-CN" sz="1800" dirty="0">
                <a:ea typeface="宋体" panose="02010600030101010101" pitchFamily="2" charset="-122"/>
                <a:sym typeface="Symbol" panose="05050102010706020507" pitchFamily="18" charset="2"/>
              </a:rPr>
              <a:t>:  CPU1</a:t>
            </a:r>
            <a:r>
              <a:rPr lang="zh-CN" altLang="en-US" sz="1800" dirty="0">
                <a:ea typeface="宋体" panose="02010600030101010101" pitchFamily="2" charset="-122"/>
                <a:sym typeface="Symbol" panose="05050102010706020507" pitchFamily="18" charset="2"/>
              </a:rPr>
              <a:t>执行进程</a:t>
            </a:r>
            <a:r>
              <a:rPr lang="en-US" altLang="zh-CN" sz="1800" dirty="0">
                <a:ea typeface="宋体" panose="02010600030101010101" pitchFamily="2" charset="-122"/>
                <a:sym typeface="Symbol" panose="05050102010706020507" pitchFamily="18" charset="2"/>
              </a:rPr>
              <a:t>1</a:t>
            </a:r>
            <a:r>
              <a:rPr lang="zh-CN" altLang="en-US" sz="1800" dirty="0">
                <a:ea typeface="宋体" panose="02010600030101010101" pitchFamily="2" charset="-122"/>
                <a:sym typeface="Symbol" panose="05050102010706020507" pitchFamily="18" charset="2"/>
              </a:rPr>
              <a:t>用时</a:t>
            </a:r>
            <a:r>
              <a:rPr lang="en-US" altLang="zh-CN" sz="1800" dirty="0">
                <a:ea typeface="宋体" panose="02010600030101010101" pitchFamily="2" charset="-122"/>
                <a:sym typeface="Symbol" panose="05050102010706020507" pitchFamily="18" charset="2"/>
              </a:rPr>
              <a:t>10s</a:t>
            </a:r>
            <a:r>
              <a:rPr lang="zh-CN" altLang="en-US" sz="1800" dirty="0">
                <a:ea typeface="宋体" panose="02010600030101010101" pitchFamily="2" charset="-122"/>
                <a:sym typeface="Symbol" panose="05050102010706020507" pitchFamily="18" charset="2"/>
              </a:rPr>
              <a:t>，执行进程</a:t>
            </a:r>
            <a:r>
              <a:rPr lang="en-US" altLang="zh-CN" sz="1800" dirty="0">
                <a:ea typeface="宋体" panose="02010600030101010101" pitchFamily="2" charset="-122"/>
                <a:sym typeface="Symbol" panose="05050102010706020507" pitchFamily="18" charset="2"/>
              </a:rPr>
              <a:t>2</a:t>
            </a:r>
            <a:r>
              <a:rPr lang="zh-CN" altLang="en-US" sz="1800" dirty="0">
                <a:ea typeface="宋体" panose="02010600030101010101" pitchFamily="2" charset="-122"/>
                <a:sym typeface="Symbol" panose="05050102010706020507" pitchFamily="18" charset="2"/>
              </a:rPr>
              <a:t>用时</a:t>
            </a:r>
            <a:r>
              <a:rPr lang="en-US" altLang="zh-CN" sz="1800" dirty="0">
                <a:ea typeface="宋体" panose="02010600030101010101" pitchFamily="2" charset="-122"/>
                <a:sym typeface="Symbol" panose="05050102010706020507" pitchFamily="18" charset="2"/>
              </a:rPr>
              <a:t>30s; CPU2</a:t>
            </a:r>
            <a:r>
              <a:rPr lang="zh-CN" altLang="en-US" sz="1800" dirty="0">
                <a:ea typeface="宋体" panose="02010600030101010101" pitchFamily="2" charset="-122"/>
                <a:sym typeface="Symbol" panose="05050102010706020507" pitchFamily="18" charset="2"/>
              </a:rPr>
              <a:t>执行进程</a:t>
            </a:r>
            <a:r>
              <a:rPr lang="en-US" altLang="zh-CN" sz="1800" dirty="0">
                <a:ea typeface="宋体" panose="02010600030101010101" pitchFamily="2" charset="-122"/>
                <a:sym typeface="Symbol" panose="05050102010706020507" pitchFamily="18" charset="2"/>
              </a:rPr>
              <a:t>1</a:t>
            </a:r>
            <a:r>
              <a:rPr lang="zh-CN" altLang="en-US" sz="1800" dirty="0">
                <a:ea typeface="宋体" panose="02010600030101010101" pitchFamily="2" charset="-122"/>
                <a:sym typeface="Symbol" panose="05050102010706020507" pitchFamily="18" charset="2"/>
              </a:rPr>
              <a:t>用时</a:t>
            </a:r>
            <a:r>
              <a:rPr lang="en-US" altLang="zh-CN" sz="1800" dirty="0">
                <a:ea typeface="宋体" panose="02010600030101010101" pitchFamily="2" charset="-122"/>
                <a:sym typeface="Symbol" panose="05050102010706020507" pitchFamily="18" charset="2"/>
              </a:rPr>
              <a:t>(1+5)s</a:t>
            </a:r>
            <a:r>
              <a:rPr lang="zh-CN" altLang="en-US" sz="1800" dirty="0">
                <a:ea typeface="宋体" panose="02010600030101010101" pitchFamily="2" charset="-122"/>
                <a:sym typeface="Symbol" panose="05050102010706020507" pitchFamily="18" charset="2"/>
              </a:rPr>
              <a:t>，执行进程</a:t>
            </a:r>
            <a:r>
              <a:rPr lang="en-US" altLang="zh-CN" sz="1800" dirty="0">
                <a:ea typeface="宋体" panose="02010600030101010101" pitchFamily="2" charset="-122"/>
                <a:sym typeface="Symbol" panose="05050102010706020507" pitchFamily="18" charset="2"/>
              </a:rPr>
              <a:t>2</a:t>
            </a:r>
            <a:r>
              <a:rPr lang="zh-CN" altLang="en-US" sz="1800" dirty="0">
                <a:ea typeface="宋体" panose="02010600030101010101" pitchFamily="2" charset="-122"/>
                <a:sym typeface="Symbol" panose="05050102010706020507" pitchFamily="18" charset="2"/>
              </a:rPr>
              <a:t>用时</a:t>
            </a:r>
            <a:r>
              <a:rPr lang="en-US" altLang="zh-CN" sz="1800" dirty="0">
                <a:ea typeface="宋体" panose="02010600030101010101" pitchFamily="2" charset="-122"/>
                <a:sym typeface="Symbol" panose="05050102010706020507" pitchFamily="18" charset="2"/>
              </a:rPr>
              <a:t>(3+5)s;</a:t>
            </a:r>
            <a:endParaRPr lang="en-US" altLang="zh-CN" sz="1800" dirty="0">
              <a:ea typeface="宋体" panose="02010600030101010101" pitchFamily="2" charset="-122"/>
              <a:sym typeface="Symbol" panose="05050102010706020507" pitchFamily="18" charset="2"/>
            </a:endParaRPr>
          </a:p>
        </p:txBody>
      </p:sp>
      <p:graphicFrame>
        <p:nvGraphicFramePr>
          <p:cNvPr id="74849" name="Group 97"/>
          <p:cNvGraphicFramePr>
            <a:graphicFrameLocks noGrp="1"/>
          </p:cNvGraphicFramePr>
          <p:nvPr>
            <p:ph idx="4294967295"/>
          </p:nvPr>
        </p:nvGraphicFramePr>
        <p:xfrm>
          <a:off x="334963" y="2797175"/>
          <a:ext cx="8661400" cy="2611438"/>
        </p:xfrm>
        <a:graphic>
          <a:graphicData uri="http://schemas.openxmlformats.org/drawingml/2006/table">
            <a:tbl>
              <a:tblPr/>
              <a:tblGrid>
                <a:gridCol w="2039938"/>
                <a:gridCol w="1670050"/>
                <a:gridCol w="2249487"/>
                <a:gridCol w="2701925"/>
              </a:tblGrid>
              <a:tr h="558675">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方案</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平均响应时间</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系统能力损失</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系统能力损失比例</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27300">
                <a:tc>
                  <a:txBody>
                    <a:bodyPr/>
                    <a:lstStyle/>
                    <a:p>
                      <a:pPr marL="0" marR="0" lvl="0" indent="0" algn="l" defTabSz="914400" rtl="0" eaLnBrk="1" fontAlgn="base" latinLnBrk="0" hangingPunct="1">
                        <a:lnSpc>
                          <a:spcPct val="150000"/>
                        </a:lnSpc>
                        <a:spcBef>
                          <a:spcPct val="0"/>
                        </a:spcBef>
                        <a:spcAft>
                          <a:spcPct val="0"/>
                        </a:spcAft>
                        <a:buClrTx/>
                        <a:buSzTx/>
                        <a:buFontTx/>
                        <a:buNone/>
                      </a:pPr>
                      <a:r>
                        <a:rPr lang="en-US" altLang="zh-CN" sz="1800" dirty="0">
                          <a:ea typeface="宋体" panose="02010600030101010101" pitchFamily="2" charset="-122"/>
                          <a:sym typeface="Symbol" panose="05050102010706020507" pitchFamily="18" charset="2"/>
                        </a:rPr>
                        <a:t>CPU</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执行进程</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lang="en-US" altLang="zh-CN" sz="1800" dirty="0">
                          <a:ea typeface="宋体" panose="02010600030101010101" pitchFamily="2" charset="-122"/>
                          <a:sym typeface="Symbol" panose="05050102010706020507" pitchFamily="18" charset="2"/>
                        </a:rPr>
                        <a:t>CPU</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执行进程</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(10+8)÷2=9s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100MI/S*2s=200MI</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(10-8)=2</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200/</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10+100</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=2/11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25462">
                <a:tc>
                  <a:txBody>
                    <a:bodyPr/>
                    <a:lstStyle/>
                    <a:p>
                      <a:pPr marL="0" marR="0" lvl="0" indent="0" algn="l" defTabSz="914400" rtl="0" eaLnBrk="1" fontAlgn="base" latinLnBrk="0" hangingPunct="1">
                        <a:lnSpc>
                          <a:spcPct val="150000"/>
                        </a:lnSpc>
                        <a:spcBef>
                          <a:spcPct val="0"/>
                        </a:spcBef>
                        <a:spcAft>
                          <a:spcPct val="0"/>
                        </a:spcAft>
                        <a:buClrTx/>
                        <a:buSzTx/>
                        <a:buFontTx/>
                        <a:buNone/>
                      </a:pPr>
                      <a:r>
                        <a:rPr lang="en-US" altLang="zh-CN" sz="1800" dirty="0">
                          <a:ea typeface="宋体" panose="02010600030101010101" pitchFamily="2" charset="-122"/>
                          <a:sym typeface="Symbol" panose="05050102010706020507" pitchFamily="18" charset="2"/>
                        </a:rPr>
                        <a:t>CPU</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执行进程</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lang="en-US" altLang="zh-CN" sz="1800" dirty="0">
                          <a:ea typeface="宋体" panose="02010600030101010101" pitchFamily="2" charset="-122"/>
                          <a:sym typeface="Symbol" panose="05050102010706020507" pitchFamily="18" charset="2"/>
                        </a:rPr>
                        <a:t>CPU</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执行进程</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(30+6)÷2=18s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100MI/S*24s=2400MI</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(30-6)=24</a:t>
                      </a:r>
                      <a:endPar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2400/</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10+100</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30</a:t>
                      </a: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endPar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=8/11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0442" name="Rectangle 84"/>
          <p:cNvSpPr/>
          <p:nvPr/>
        </p:nvSpPr>
        <p:spPr>
          <a:xfrm>
            <a:off x="417513" y="5715000"/>
            <a:ext cx="1082675"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000" dirty="0">
                <a:ea typeface="宋体" panose="02010600030101010101" pitchFamily="2" charset="-122"/>
                <a:sym typeface="Symbol" panose="05050102010706020507" pitchFamily="18" charset="2"/>
              </a:rPr>
              <a:t>方案</a:t>
            </a:r>
            <a:r>
              <a:rPr lang="en-US" altLang="zh-CN" sz="2000" dirty="0">
                <a:ea typeface="宋体" panose="02010600030101010101" pitchFamily="2" charset="-122"/>
                <a:sym typeface="Symbol" panose="05050102010706020507" pitchFamily="18" charset="2"/>
              </a:rPr>
              <a:t>2</a:t>
            </a:r>
            <a:r>
              <a:rPr lang="zh-CN" altLang="en-US" sz="2000" dirty="0">
                <a:ea typeface="宋体" panose="02010600030101010101" pitchFamily="2" charset="-122"/>
                <a:sym typeface="Symbol" panose="05050102010706020507" pitchFamily="18" charset="2"/>
              </a:rPr>
              <a:t>差</a:t>
            </a:r>
            <a:endParaRPr lang="zh-CN" altLang="en-US" sz="2000" dirty="0">
              <a:ea typeface="宋体" panose="02010600030101010101" pitchFamily="2" charset="-122"/>
              <a:sym typeface="Symbol" panose="05050102010706020507" pitchFamily="18" charset="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42" name="Object 6"/>
          <p:cNvGraphicFramePr>
            <a:graphicFrameLocks noChangeAspect="1"/>
          </p:cNvGraphicFramePr>
          <p:nvPr>
            <p:ph idx="1"/>
          </p:nvPr>
        </p:nvGraphicFramePr>
        <p:xfrm>
          <a:off x="579438" y="1254125"/>
          <a:ext cx="8002587" cy="4722813"/>
        </p:xfrm>
        <a:graphic>
          <a:graphicData uri="http://schemas.openxmlformats.org/presentationml/2006/ole">
            <mc:AlternateContent xmlns:mc="http://schemas.openxmlformats.org/markup-compatibility/2006">
              <mc:Choice xmlns:v="urn:schemas-microsoft-com:vml" Requires="v">
                <p:oleObj spid="_x0000_s3079" name="" r:id="rId1" imgW="4511040" imgH="2621280" progId="Visio.Drawing.11">
                  <p:embed/>
                </p:oleObj>
              </mc:Choice>
              <mc:Fallback>
                <p:oleObj name="" r:id="rId1" imgW="4511040" imgH="2621280" progId="Visio.Drawing.11">
                  <p:embed/>
                  <p:pic>
                    <p:nvPicPr>
                      <p:cNvPr id="0" name="图片 3078"/>
                      <p:cNvPicPr/>
                      <p:nvPr/>
                    </p:nvPicPr>
                    <p:blipFill>
                      <a:blip r:embed="rId2"/>
                      <a:srcRect/>
                      <a:stretch>
                        <a:fillRect/>
                      </a:stretch>
                    </p:blipFill>
                    <p:spPr>
                      <a:xfrm>
                        <a:off x="579438" y="1254125"/>
                        <a:ext cx="8002587" cy="4722813"/>
                      </a:xfrm>
                      <a:prstGeom prst="rect">
                        <a:avLst/>
                      </a:prstGeom>
                      <a:noFill/>
                      <a:ln w="38100">
                        <a:miter/>
                      </a:ln>
                    </p:spPr>
                  </p:pic>
                </p:oleObj>
              </mc:Fallback>
            </mc:AlternateContent>
          </a:graphicData>
        </a:graphic>
      </p:graphicFrame>
      <p:sp>
        <p:nvSpPr>
          <p:cNvPr id="61443" name="Rectangle 8"/>
          <p:cNvSpPr/>
          <p:nvPr/>
        </p:nvSpPr>
        <p:spPr>
          <a:xfrm>
            <a:off x="889000" y="233363"/>
            <a:ext cx="6338888" cy="461962"/>
          </a:xfrm>
          <a:prstGeom prst="rect">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2400" b="1" dirty="0">
                <a:solidFill>
                  <a:srgbClr val="FF0000"/>
                </a:solidFill>
                <a:ea typeface="宋体" panose="02010600030101010101" pitchFamily="2" charset="-122"/>
              </a:rPr>
              <a:t>一种查找与使用空闲工作站的基于注册表算法</a:t>
            </a:r>
            <a:endParaRPr lang="zh-CN" altLang="en-US" sz="2400" b="1" dirty="0">
              <a:solidFill>
                <a:srgbClr val="FF0000"/>
              </a:solidFill>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ext Box 3"/>
          <p:cNvSpPr txBox="1"/>
          <p:nvPr/>
        </p:nvSpPr>
        <p:spPr>
          <a:xfrm>
            <a:off x="347663" y="698500"/>
            <a:ext cx="8048625" cy="21701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b="1" dirty="0">
                <a:ea typeface="宋体" panose="02010600030101010101" pitchFamily="2" charset="-122"/>
                <a:sym typeface="Symbol" panose="05050102010706020507" pitchFamily="18" charset="2"/>
              </a:rPr>
              <a:t> (1) Load Balancing</a:t>
            </a:r>
            <a:endParaRPr lang="en-US" altLang="zh-CN" sz="1800" b="1" dirty="0">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ea typeface="宋体" panose="02010600030101010101" pitchFamily="2" charset="-122"/>
                <a:sym typeface="Symbol" panose="05050102010706020507" pitchFamily="18" charset="2"/>
              </a:rPr>
              <a:t>load balancing means distributing the traffic evenly and dynamically among different paths to avoid link congestion and saturation</a:t>
            </a:r>
            <a:r>
              <a:rPr lang="zh-CN" altLang="en-US" sz="1800" b="1" dirty="0">
                <a:solidFill>
                  <a:srgbClr val="FF0000"/>
                </a:solidFill>
                <a:ea typeface="宋体" panose="02010600030101010101" pitchFamily="2" charset="-122"/>
                <a:sym typeface="Symbol" panose="05050102010706020507" pitchFamily="18" charset="2"/>
              </a:rPr>
              <a:t>（</a:t>
            </a:r>
            <a:r>
              <a:rPr lang="zh-CN" altLang="en-US" sz="1800" dirty="0">
                <a:solidFill>
                  <a:srgbClr val="FF0000"/>
                </a:solidFill>
                <a:ea typeface="宋体" panose="02010600030101010101" pitchFamily="2" charset="-122"/>
              </a:rPr>
              <a:t>流量均衡</a:t>
            </a:r>
            <a:r>
              <a:rPr lang="zh-CN" altLang="en-US" sz="1800" b="1" dirty="0">
                <a:solidFill>
                  <a:srgbClr val="FF0000"/>
                </a:solidFill>
                <a:ea typeface="宋体" panose="02010600030101010101" pitchFamily="2" charset="-122"/>
                <a:sym typeface="Symbol" panose="05050102010706020507" pitchFamily="18" charset="2"/>
              </a:rPr>
              <a:t>）</a:t>
            </a:r>
            <a:r>
              <a:rPr lang="en-US" altLang="zh-CN" sz="1800" b="1" dirty="0">
                <a:ea typeface="宋体" panose="02010600030101010101" pitchFamily="2" charset="-122"/>
                <a:sym typeface="Symbol" panose="05050102010706020507" pitchFamily="18" charset="2"/>
              </a:rPr>
              <a:t>. </a:t>
            </a:r>
            <a:endParaRPr lang="en-US" altLang="zh-CN" sz="1800" b="1" dirty="0">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zh-CN" altLang="en-US" sz="1800" b="1" dirty="0">
                <a:ea typeface="宋体" panose="02010600030101010101" pitchFamily="2" charset="-122"/>
                <a:sym typeface="Symbol" panose="05050102010706020507" pitchFamily="18" charset="2"/>
              </a:rPr>
              <a:t> </a:t>
            </a:r>
            <a:r>
              <a:rPr lang="en-US" altLang="zh-CN" sz="1800" b="1" dirty="0">
                <a:ea typeface="宋体" panose="02010600030101010101" pitchFamily="2" charset="-122"/>
                <a:sym typeface="Symbol" panose="05050102010706020507" pitchFamily="18" charset="2"/>
              </a:rPr>
              <a:t>(2) Load Sharing</a:t>
            </a:r>
            <a:endParaRPr lang="en-US" altLang="zh-CN" sz="1800" b="1" dirty="0">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ea typeface="宋体" panose="02010600030101010101" pitchFamily="2" charset="-122"/>
                <a:sym typeface="Symbol" panose="05050102010706020507" pitchFamily="18" charset="2"/>
              </a:rPr>
              <a:t>Load sharing means one can </a:t>
            </a:r>
            <a:r>
              <a:rPr lang="en-US" altLang="zh-CN" sz="1800" b="1" dirty="0">
                <a:solidFill>
                  <a:srgbClr val="FF0000"/>
                </a:solidFill>
                <a:ea typeface="宋体" panose="02010600030101010101" pitchFamily="2" charset="-122"/>
                <a:sym typeface="Symbol" panose="05050102010706020507" pitchFamily="18" charset="2"/>
              </a:rPr>
              <a:t>split the traffic </a:t>
            </a:r>
            <a:r>
              <a:rPr lang="en-US" altLang="zh-CN" sz="1800" b="1" dirty="0">
                <a:ea typeface="宋体" panose="02010600030101010101" pitchFamily="2" charset="-122"/>
                <a:sym typeface="Symbol" panose="05050102010706020507" pitchFamily="18" charset="2"/>
              </a:rPr>
              <a:t>from a network to be transported by different routers (paths). </a:t>
            </a:r>
            <a:r>
              <a:rPr lang="zh-CN" altLang="en-US" sz="1800" b="1" dirty="0">
                <a:solidFill>
                  <a:srgbClr val="FF0000"/>
                </a:solidFill>
                <a:ea typeface="宋体" panose="02010600030101010101" pitchFamily="2" charset="-122"/>
                <a:sym typeface="Symbol" panose="05050102010706020507" pitchFamily="18" charset="2"/>
              </a:rPr>
              <a:t>（流量分拆）</a:t>
            </a:r>
            <a:endParaRPr lang="en-US" altLang="zh-CN" sz="1800" b="1" dirty="0">
              <a:solidFill>
                <a:srgbClr val="FF0000"/>
              </a:solidFill>
              <a:ea typeface="宋体" panose="02010600030101010101" pitchFamily="2" charset="-122"/>
              <a:sym typeface="Symbol" panose="05050102010706020507" pitchFamily="18" charset="2"/>
            </a:endParaRPr>
          </a:p>
        </p:txBody>
      </p:sp>
      <p:grpSp>
        <p:nvGrpSpPr>
          <p:cNvPr id="62467" name="Group 4"/>
          <p:cNvGrpSpPr/>
          <p:nvPr/>
        </p:nvGrpSpPr>
        <p:grpSpPr>
          <a:xfrm>
            <a:off x="1092200" y="3089275"/>
            <a:ext cx="6559550" cy="3021013"/>
            <a:chOff x="1980" y="1518"/>
            <a:chExt cx="7920" cy="4113"/>
          </a:xfrm>
        </p:grpSpPr>
        <p:grpSp>
          <p:nvGrpSpPr>
            <p:cNvPr id="62469" name="Group 5"/>
            <p:cNvGrpSpPr/>
            <p:nvPr/>
          </p:nvGrpSpPr>
          <p:grpSpPr>
            <a:xfrm>
              <a:off x="1980" y="1518"/>
              <a:ext cx="7920" cy="1092"/>
              <a:chOff x="1980" y="1518"/>
              <a:chExt cx="7920" cy="1092"/>
            </a:xfrm>
          </p:grpSpPr>
          <p:grpSp>
            <p:nvGrpSpPr>
              <p:cNvPr id="62484" name="Group 6"/>
              <p:cNvGrpSpPr/>
              <p:nvPr/>
            </p:nvGrpSpPr>
            <p:grpSpPr>
              <a:xfrm>
                <a:off x="2520" y="2142"/>
                <a:ext cx="7380" cy="468"/>
                <a:chOff x="2520" y="2142"/>
                <a:chExt cx="7380" cy="468"/>
              </a:xfrm>
            </p:grpSpPr>
            <p:sp>
              <p:nvSpPr>
                <p:cNvPr id="62486" name="Text Box 7"/>
                <p:cNvSpPr txBox="1"/>
                <p:nvPr/>
              </p:nvSpPr>
              <p:spPr>
                <a:xfrm>
                  <a:off x="252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sp>
              <p:nvSpPr>
                <p:cNvPr id="62487" name="Text Box 8"/>
                <p:cNvSpPr txBox="1"/>
                <p:nvPr/>
              </p:nvSpPr>
              <p:spPr>
                <a:xfrm>
                  <a:off x="846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sp>
              <p:nvSpPr>
                <p:cNvPr id="62488" name="Text Box 9"/>
                <p:cNvSpPr txBox="1"/>
                <p:nvPr/>
              </p:nvSpPr>
              <p:spPr>
                <a:xfrm>
                  <a:off x="6480" y="2142"/>
                  <a:ext cx="1439"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sp>
              <p:nvSpPr>
                <p:cNvPr id="62489" name="Text Box 10"/>
                <p:cNvSpPr txBox="1"/>
                <p:nvPr/>
              </p:nvSpPr>
              <p:spPr>
                <a:xfrm>
                  <a:off x="450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grpSp>
          <p:sp>
            <p:nvSpPr>
              <p:cNvPr id="62485" name="Text Box 11"/>
              <p:cNvSpPr txBox="1"/>
              <p:nvPr/>
            </p:nvSpPr>
            <p:spPr>
              <a:xfrm>
                <a:off x="1980" y="1518"/>
                <a:ext cx="180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b="1" dirty="0">
                    <a:ea typeface="宋体" panose="02010600030101010101" pitchFamily="2" charset="-122"/>
                  </a:rPr>
                  <a:t>A</a:t>
                </a:r>
                <a:r>
                  <a:rPr lang="zh-CN" altLang="en-US" sz="1600" b="1" dirty="0">
                    <a:ea typeface="宋体" panose="02010600030101010101" pitchFamily="2" charset="-122"/>
                  </a:rPr>
                  <a:t>．负载平衡</a:t>
                </a:r>
                <a:endParaRPr lang="zh-CN" altLang="en-US" sz="1600" b="1" dirty="0">
                  <a:ea typeface="宋体" panose="02010600030101010101" pitchFamily="2" charset="-122"/>
                </a:endParaRPr>
              </a:p>
            </p:txBody>
          </p:sp>
        </p:grpSp>
        <p:grpSp>
          <p:nvGrpSpPr>
            <p:cNvPr id="62470" name="Group 12"/>
            <p:cNvGrpSpPr/>
            <p:nvPr/>
          </p:nvGrpSpPr>
          <p:grpSpPr>
            <a:xfrm>
              <a:off x="1980" y="2964"/>
              <a:ext cx="7920" cy="1092"/>
              <a:chOff x="1980" y="3234"/>
              <a:chExt cx="7920" cy="1092"/>
            </a:xfrm>
          </p:grpSpPr>
          <p:grpSp>
            <p:nvGrpSpPr>
              <p:cNvPr id="62478" name="Group 13"/>
              <p:cNvGrpSpPr/>
              <p:nvPr/>
            </p:nvGrpSpPr>
            <p:grpSpPr>
              <a:xfrm>
                <a:off x="2520" y="3858"/>
                <a:ext cx="7380" cy="468"/>
                <a:chOff x="2520" y="2142"/>
                <a:chExt cx="7380" cy="468"/>
              </a:xfrm>
            </p:grpSpPr>
            <p:sp>
              <p:nvSpPr>
                <p:cNvPr id="62480" name="Text Box 14"/>
                <p:cNvSpPr txBox="1"/>
                <p:nvPr/>
              </p:nvSpPr>
              <p:spPr>
                <a:xfrm>
                  <a:off x="252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sp>
              <p:nvSpPr>
                <p:cNvPr id="62481" name="Text Box 15"/>
                <p:cNvSpPr txBox="1"/>
                <p:nvPr/>
              </p:nvSpPr>
              <p:spPr>
                <a:xfrm>
                  <a:off x="846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负载合适</a:t>
                  </a:r>
                  <a:endParaRPr lang="zh-CN" altLang="en-US" sz="1600" b="1" dirty="0">
                    <a:ea typeface="宋体" panose="02010600030101010101" pitchFamily="2" charset="-122"/>
                  </a:endParaRPr>
                </a:p>
              </p:txBody>
            </p:sp>
            <p:sp>
              <p:nvSpPr>
                <p:cNvPr id="62482" name="Text Box 16"/>
                <p:cNvSpPr txBox="1"/>
                <p:nvPr/>
              </p:nvSpPr>
              <p:spPr>
                <a:xfrm>
                  <a:off x="6480" y="2142"/>
                  <a:ext cx="1439"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过载</a:t>
                  </a:r>
                  <a:endParaRPr lang="zh-CN" altLang="en-US" sz="1600" b="1" dirty="0">
                    <a:ea typeface="宋体" panose="02010600030101010101" pitchFamily="2" charset="-122"/>
                  </a:endParaRPr>
                </a:p>
                <a:p>
                  <a:pPr marL="0" lvl="0" indent="0" eaLnBrk="1" hangingPunct="1">
                    <a:spcBef>
                      <a:spcPct val="50000"/>
                    </a:spcBef>
                    <a:buClrTx/>
                    <a:buNone/>
                  </a:pPr>
                  <a:endParaRPr lang="zh-CN" altLang="en-US" sz="1600" b="1" dirty="0">
                    <a:ea typeface="宋体" panose="02010600030101010101" pitchFamily="2" charset="-122"/>
                  </a:endParaRPr>
                </a:p>
              </p:txBody>
            </p:sp>
            <p:sp>
              <p:nvSpPr>
                <p:cNvPr id="62483" name="Text Box 17"/>
                <p:cNvSpPr txBox="1"/>
                <p:nvPr/>
              </p:nvSpPr>
              <p:spPr>
                <a:xfrm>
                  <a:off x="450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过载</a:t>
                  </a:r>
                  <a:endParaRPr lang="zh-CN" altLang="en-US" sz="1600" b="1" dirty="0">
                    <a:ea typeface="宋体" panose="02010600030101010101" pitchFamily="2" charset="-122"/>
                  </a:endParaRPr>
                </a:p>
              </p:txBody>
            </p:sp>
          </p:grpSp>
          <p:sp>
            <p:nvSpPr>
              <p:cNvPr id="62479" name="Text Box 18"/>
              <p:cNvSpPr txBox="1"/>
              <p:nvPr/>
            </p:nvSpPr>
            <p:spPr>
              <a:xfrm>
                <a:off x="1980" y="3234"/>
                <a:ext cx="296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b="1" dirty="0">
                    <a:ea typeface="宋体" panose="02010600030101010101" pitchFamily="2" charset="-122"/>
                  </a:rPr>
                  <a:t>B</a:t>
                </a:r>
                <a:r>
                  <a:rPr lang="zh-CN" altLang="en-US" sz="1600" b="1" dirty="0">
                    <a:ea typeface="宋体" panose="02010600030101010101" pitchFamily="2" charset="-122"/>
                  </a:rPr>
                  <a:t>．可接受的负载分担</a:t>
                </a:r>
                <a:endParaRPr lang="zh-CN" altLang="en-US" sz="1600" b="1" dirty="0">
                  <a:ea typeface="宋体" panose="02010600030101010101" pitchFamily="2" charset="-122"/>
                </a:endParaRPr>
              </a:p>
            </p:txBody>
          </p:sp>
        </p:grpSp>
        <p:grpSp>
          <p:nvGrpSpPr>
            <p:cNvPr id="62471" name="Group 19"/>
            <p:cNvGrpSpPr/>
            <p:nvPr/>
          </p:nvGrpSpPr>
          <p:grpSpPr>
            <a:xfrm>
              <a:off x="1980" y="4539"/>
              <a:ext cx="7920" cy="1092"/>
              <a:chOff x="1980" y="4794"/>
              <a:chExt cx="7920" cy="1092"/>
            </a:xfrm>
          </p:grpSpPr>
          <p:grpSp>
            <p:nvGrpSpPr>
              <p:cNvPr id="62472" name="Group 20"/>
              <p:cNvGrpSpPr/>
              <p:nvPr/>
            </p:nvGrpSpPr>
            <p:grpSpPr>
              <a:xfrm>
                <a:off x="2520" y="5418"/>
                <a:ext cx="7380" cy="468"/>
                <a:chOff x="2520" y="2142"/>
                <a:chExt cx="7380" cy="468"/>
              </a:xfrm>
            </p:grpSpPr>
            <p:sp>
              <p:nvSpPr>
                <p:cNvPr id="62474" name="Text Box 21"/>
                <p:cNvSpPr txBox="1"/>
                <p:nvPr/>
              </p:nvSpPr>
              <p:spPr>
                <a:xfrm>
                  <a:off x="252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欠载</a:t>
                  </a:r>
                  <a:endParaRPr lang="zh-CN" altLang="en-US" sz="1600" b="1" dirty="0">
                    <a:ea typeface="宋体" panose="02010600030101010101" pitchFamily="2" charset="-122"/>
                  </a:endParaRPr>
                </a:p>
              </p:txBody>
            </p:sp>
            <p:sp>
              <p:nvSpPr>
                <p:cNvPr id="62475" name="Text Box 22"/>
                <p:cNvSpPr txBox="1"/>
                <p:nvPr/>
              </p:nvSpPr>
              <p:spPr>
                <a:xfrm>
                  <a:off x="846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过载</a:t>
                  </a:r>
                  <a:endParaRPr lang="zh-CN" altLang="en-US" sz="1600" b="1" dirty="0">
                    <a:ea typeface="宋体" panose="02010600030101010101" pitchFamily="2" charset="-122"/>
                  </a:endParaRPr>
                </a:p>
                <a:p>
                  <a:pPr marL="0" lvl="0" indent="0" eaLnBrk="1" hangingPunct="1">
                    <a:spcBef>
                      <a:spcPct val="50000"/>
                    </a:spcBef>
                    <a:buClrTx/>
                    <a:buNone/>
                  </a:pPr>
                  <a:endParaRPr lang="zh-CN" altLang="en-US" sz="1600" b="1" dirty="0">
                    <a:ea typeface="宋体" panose="02010600030101010101" pitchFamily="2" charset="-122"/>
                  </a:endParaRPr>
                </a:p>
              </p:txBody>
            </p:sp>
            <p:sp>
              <p:nvSpPr>
                <p:cNvPr id="62476" name="Text Box 23"/>
                <p:cNvSpPr txBox="1"/>
                <p:nvPr/>
              </p:nvSpPr>
              <p:spPr>
                <a:xfrm>
                  <a:off x="6480" y="2142"/>
                  <a:ext cx="1439"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过载</a:t>
                  </a:r>
                  <a:endParaRPr lang="zh-CN" altLang="en-US" sz="1600" b="1" dirty="0">
                    <a:ea typeface="宋体" panose="02010600030101010101" pitchFamily="2" charset="-122"/>
                  </a:endParaRPr>
                </a:p>
                <a:p>
                  <a:pPr marL="0" lvl="0" indent="0" eaLnBrk="1" hangingPunct="1">
                    <a:spcBef>
                      <a:spcPct val="50000"/>
                    </a:spcBef>
                    <a:buClrTx/>
                    <a:buNone/>
                  </a:pPr>
                  <a:endParaRPr lang="zh-CN" altLang="en-US" sz="1600" b="1" dirty="0">
                    <a:ea typeface="宋体" panose="02010600030101010101" pitchFamily="2" charset="-122"/>
                  </a:endParaRPr>
                </a:p>
              </p:txBody>
            </p:sp>
            <p:sp>
              <p:nvSpPr>
                <p:cNvPr id="62477" name="Text Box 24"/>
                <p:cNvSpPr txBox="1"/>
                <p:nvPr/>
              </p:nvSpPr>
              <p:spPr>
                <a:xfrm>
                  <a:off x="4500" y="2142"/>
                  <a:ext cx="14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b="1" dirty="0">
                      <a:ea typeface="宋体" panose="02010600030101010101" pitchFamily="2" charset="-122"/>
                    </a:rPr>
                    <a:t>欠载</a:t>
                  </a:r>
                  <a:endParaRPr lang="zh-CN" altLang="en-US" sz="1600" b="1" dirty="0">
                    <a:ea typeface="宋体" panose="02010600030101010101" pitchFamily="2" charset="-122"/>
                  </a:endParaRPr>
                </a:p>
                <a:p>
                  <a:pPr marL="0" lvl="0" indent="0" eaLnBrk="1" hangingPunct="1">
                    <a:spcBef>
                      <a:spcPct val="50000"/>
                    </a:spcBef>
                    <a:buClrTx/>
                    <a:buNone/>
                  </a:pPr>
                  <a:endParaRPr lang="zh-CN" altLang="en-US" sz="1600" b="1" dirty="0">
                    <a:ea typeface="宋体" panose="02010600030101010101" pitchFamily="2" charset="-122"/>
                  </a:endParaRPr>
                </a:p>
              </p:txBody>
            </p:sp>
          </p:grpSp>
          <p:sp>
            <p:nvSpPr>
              <p:cNvPr id="62473" name="Text Box 25"/>
              <p:cNvSpPr txBox="1"/>
              <p:nvPr/>
            </p:nvSpPr>
            <p:spPr>
              <a:xfrm>
                <a:off x="1980" y="4794"/>
                <a:ext cx="3386"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b="1" dirty="0">
                    <a:ea typeface="宋体" panose="02010600030101010101" pitchFamily="2" charset="-122"/>
                  </a:rPr>
                  <a:t>C</a:t>
                </a:r>
                <a:r>
                  <a:rPr lang="zh-CN" altLang="en-US" sz="1600" b="1" dirty="0">
                    <a:ea typeface="宋体" panose="02010600030101010101" pitchFamily="2" charset="-122"/>
                  </a:rPr>
                  <a:t>．不可接受的负载分担</a:t>
                </a:r>
                <a:endParaRPr lang="zh-CN" altLang="en-US" sz="1600" b="1" dirty="0">
                  <a:ea typeface="宋体" panose="02010600030101010101" pitchFamily="2" charset="-122"/>
                </a:endParaRPr>
              </a:p>
            </p:txBody>
          </p:sp>
        </p:grpSp>
      </p:grpSp>
      <p:sp>
        <p:nvSpPr>
          <p:cNvPr id="62468" name="矩形 2"/>
          <p:cNvSpPr/>
          <p:nvPr/>
        </p:nvSpPr>
        <p:spPr>
          <a:xfrm>
            <a:off x="347663" y="71438"/>
            <a:ext cx="5802312" cy="576262"/>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50000"/>
              </a:spcBef>
              <a:buClrTx/>
              <a:buNone/>
            </a:pPr>
            <a:r>
              <a:rPr lang="en-US" altLang="zh-CN" sz="2400" b="1" dirty="0">
                <a:ea typeface="宋体" panose="02010600030101010101" pitchFamily="2" charset="-122"/>
                <a:sym typeface="Symbol" panose="05050102010706020507" pitchFamily="18" charset="2"/>
              </a:rPr>
              <a:t>4. Load distribution Goals(</a:t>
            </a:r>
            <a:r>
              <a:rPr lang="zh-CN" altLang="en-US" sz="2400" b="1" dirty="0">
                <a:ea typeface="宋体" panose="02010600030101010101" pitchFamily="2" charset="-122"/>
                <a:sym typeface="Symbol" panose="05050102010706020507" pitchFamily="18" charset="2"/>
              </a:rPr>
              <a:t>负载分布目标</a:t>
            </a:r>
            <a:r>
              <a:rPr lang="en-US" altLang="zh-CN" sz="2400" b="1" dirty="0">
                <a:ea typeface="宋体" panose="02010600030101010101" pitchFamily="2" charset="-122"/>
                <a:sym typeface="Symbol" panose="05050102010706020507" pitchFamily="18" charset="2"/>
              </a:rPr>
              <a:t>):</a:t>
            </a:r>
            <a:endParaRPr lang="en-US" altLang="zh-CN" sz="2400" b="1" dirty="0">
              <a:ea typeface="宋体" panose="02010600030101010101" pitchFamily="2" charset="-122"/>
              <a:sym typeface="Symbol" panose="05050102010706020507" pitchFamily="18" charset="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ext Box 3"/>
          <p:cNvSpPr txBox="1"/>
          <p:nvPr/>
        </p:nvSpPr>
        <p:spPr>
          <a:xfrm>
            <a:off x="150813" y="82550"/>
            <a:ext cx="8913812" cy="2862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b="1" dirty="0">
                <a:ea typeface="宋体" panose="02010600030101010101" pitchFamily="2" charset="-122"/>
                <a:sym typeface="Symbol" panose="05050102010706020507" pitchFamily="18" charset="2"/>
              </a:rPr>
              <a:t>5. Scheduling Efficiency Goals</a:t>
            </a:r>
            <a:r>
              <a:rPr lang="zh-CN" altLang="en-US" sz="1800" b="1" dirty="0">
                <a:ea typeface="宋体" panose="02010600030101010101" pitchFamily="2" charset="-122"/>
                <a:sym typeface="Symbol" panose="05050102010706020507" pitchFamily="18" charset="2"/>
              </a:rPr>
              <a:t>：</a:t>
            </a:r>
            <a:endParaRPr lang="zh-CN" altLang="en-US" sz="1800" b="1" dirty="0">
              <a:ea typeface="宋体" panose="02010600030101010101" pitchFamily="2" charset="-122"/>
              <a:sym typeface="Symbol" panose="05050102010706020507" pitchFamily="18" charset="2"/>
            </a:endParaRPr>
          </a:p>
          <a:p>
            <a:pPr marL="914400" lvl="1" indent="-457200" algn="just" eaLnBrk="1" hangingPunct="1">
              <a:spcBef>
                <a:spcPct val="50000"/>
              </a:spcBef>
              <a:buClrTx/>
              <a:buFont typeface="Arial" panose="020B0604020202020204" pitchFamily="34" charset="0"/>
              <a:buAutoNum type="circleNumDbPlain"/>
            </a:pPr>
            <a:r>
              <a:rPr lang="en-US" altLang="zh-CN" sz="1800" b="1" dirty="0">
                <a:ea typeface="宋体" panose="02010600030101010101" pitchFamily="2" charset="-122"/>
                <a:sym typeface="Symbol" panose="05050102010706020507" pitchFamily="18" charset="2"/>
              </a:rPr>
              <a:t>Optimal scheduling  (NP-Hard, </a:t>
            </a:r>
            <a:r>
              <a:rPr lang="zh-CN" altLang="en-US" sz="1800" b="1" dirty="0">
                <a:ea typeface="宋体" panose="02010600030101010101" pitchFamily="2" charset="-122"/>
                <a:sym typeface="Symbol" panose="05050102010706020507" pitchFamily="18" charset="2"/>
              </a:rPr>
              <a:t>没有已知的多项式时间算法，多目标优化问题</a:t>
            </a:r>
            <a:r>
              <a:rPr lang="en-US" altLang="zh-CN" sz="1800" b="1" dirty="0">
                <a:ea typeface="宋体" panose="02010600030101010101" pitchFamily="2" charset="-122"/>
                <a:sym typeface="Symbol" panose="05050102010706020507" pitchFamily="18" charset="2"/>
              </a:rPr>
              <a:t>)</a:t>
            </a:r>
            <a:r>
              <a:rPr lang="zh-CN" altLang="en-US" sz="1800" b="1" dirty="0">
                <a:ea typeface="宋体" panose="02010600030101010101" pitchFamily="2" charset="-122"/>
                <a:sym typeface="Symbol" panose="05050102010706020507" pitchFamily="18" charset="2"/>
              </a:rPr>
              <a:t>；</a:t>
            </a:r>
            <a:endParaRPr lang="en-US" altLang="zh-CN" sz="1800" b="1" dirty="0">
              <a:ea typeface="宋体" panose="02010600030101010101" pitchFamily="2" charset="-122"/>
              <a:sym typeface="Symbol" panose="05050102010706020507" pitchFamily="18" charset="2"/>
            </a:endParaRPr>
          </a:p>
          <a:p>
            <a:pPr marL="914400" lvl="1" indent="-457200" algn="just" eaLnBrk="1" hangingPunct="1">
              <a:spcBef>
                <a:spcPct val="50000"/>
              </a:spcBef>
              <a:buClrTx/>
              <a:buFont typeface="Arial" panose="020B0604020202020204" pitchFamily="34" charset="0"/>
              <a:buAutoNum type="circleNumDbPlain"/>
            </a:pPr>
            <a:r>
              <a:rPr lang="en-US" altLang="zh-CN" sz="1800" b="1" dirty="0">
                <a:ea typeface="宋体" panose="02010600030101010101" pitchFamily="2" charset="-122"/>
                <a:sym typeface="Symbol" panose="05050102010706020507" pitchFamily="18" charset="2"/>
              </a:rPr>
              <a:t>suboptimal scheduling </a:t>
            </a:r>
            <a:r>
              <a:rPr lang="zh-CN" altLang="en-US" sz="1800" b="1" dirty="0">
                <a:ea typeface="宋体" panose="02010600030101010101" pitchFamily="2" charset="-122"/>
                <a:sym typeface="Symbol" panose="05050102010706020507" pitchFamily="18" charset="2"/>
              </a:rPr>
              <a:t>。</a:t>
            </a:r>
            <a:r>
              <a:rPr lang="en-US" altLang="zh-CN" sz="1800" b="1" dirty="0">
                <a:ea typeface="宋体" panose="02010600030101010101" pitchFamily="2" charset="-122"/>
                <a:sym typeface="Symbol" panose="05050102010706020507" pitchFamily="18" charset="2"/>
              </a:rPr>
              <a:t>               </a:t>
            </a:r>
            <a:endParaRPr lang="en-US" altLang="zh-CN" sz="1800" b="1" dirty="0">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ea typeface="宋体" panose="02010600030101010101" pitchFamily="2" charset="-122"/>
                <a:sym typeface="Symbol" panose="05050102010706020507" pitchFamily="18" charset="2"/>
              </a:rPr>
              <a:t>6. </a:t>
            </a:r>
            <a:r>
              <a:rPr lang="zh-CN" altLang="en-US" sz="1800" b="1" dirty="0">
                <a:ea typeface="宋体" panose="02010600030101010101" pitchFamily="2" charset="-122"/>
                <a:sym typeface="Symbol" panose="05050102010706020507" pitchFamily="18" charset="2"/>
              </a:rPr>
              <a:t>有效的调度基准</a:t>
            </a:r>
            <a:r>
              <a:rPr lang="en-US" altLang="zh-CN" sz="1800" b="1" dirty="0">
                <a:ea typeface="宋体" panose="02010600030101010101" pitchFamily="2" charset="-122"/>
                <a:sym typeface="Symbol" panose="05050102010706020507" pitchFamily="18" charset="2"/>
              </a:rPr>
              <a:t>:</a:t>
            </a:r>
            <a:endParaRPr lang="en-US" altLang="zh-CN" sz="1800" b="1" dirty="0">
              <a:ea typeface="宋体" panose="02010600030101010101" pitchFamily="2" charset="-122"/>
              <a:sym typeface="Symbol" panose="05050102010706020507" pitchFamily="18" charset="2"/>
            </a:endParaRPr>
          </a:p>
          <a:p>
            <a:pPr marL="914400" lvl="1" indent="-457200" algn="just" eaLnBrk="1" hangingPunct="1">
              <a:spcBef>
                <a:spcPct val="50000"/>
              </a:spcBef>
              <a:buClrTx/>
              <a:buFont typeface="Arial" panose="020B0604020202020204" pitchFamily="34" charset="0"/>
              <a:buAutoNum type="circleNumDbPlain"/>
            </a:pPr>
            <a:r>
              <a:rPr lang="zh-CN" altLang="en-US" sz="1800" b="1" dirty="0">
                <a:ea typeface="宋体" panose="02010600030101010101" pitchFamily="2" charset="-122"/>
                <a:sym typeface="Symbol" panose="05050102010706020507" pitchFamily="18" charset="2"/>
              </a:rPr>
              <a:t>  </a:t>
            </a:r>
            <a:r>
              <a:rPr lang="en-US" altLang="zh-CN" sz="1800" b="1" dirty="0">
                <a:ea typeface="宋体" panose="02010600030101010101" pitchFamily="2" charset="-122"/>
                <a:sym typeface="Symbol" panose="05050102010706020507" pitchFamily="18" charset="2"/>
              </a:rPr>
              <a:t>communication cost (</a:t>
            </a:r>
            <a:r>
              <a:rPr lang="zh-CN" altLang="en-US" sz="1800" b="1" dirty="0">
                <a:ea typeface="宋体" panose="02010600030101010101" pitchFamily="2" charset="-122"/>
                <a:sym typeface="Symbol" panose="05050102010706020507" pitchFamily="18" charset="2"/>
              </a:rPr>
              <a:t>通信开销</a:t>
            </a:r>
            <a:r>
              <a:rPr lang="en-US" altLang="zh-CN" sz="1800" b="1" dirty="0">
                <a:ea typeface="宋体" panose="02010600030101010101" pitchFamily="2" charset="-122"/>
                <a:sym typeface="Symbol" panose="05050102010706020507" pitchFamily="18" charset="2"/>
              </a:rPr>
              <a:t>);</a:t>
            </a:r>
            <a:endParaRPr lang="en-US" altLang="zh-CN" sz="1800" b="1" dirty="0">
              <a:ea typeface="宋体" panose="02010600030101010101" pitchFamily="2" charset="-122"/>
              <a:sym typeface="Symbol" panose="05050102010706020507" pitchFamily="18" charset="2"/>
            </a:endParaRPr>
          </a:p>
          <a:p>
            <a:pPr marL="914400" lvl="1" indent="-457200" algn="just" eaLnBrk="1" hangingPunct="1">
              <a:spcBef>
                <a:spcPct val="50000"/>
              </a:spcBef>
              <a:buClrTx/>
              <a:buFont typeface="Arial" panose="020B0604020202020204" pitchFamily="34" charset="0"/>
              <a:buAutoNum type="circleNumDbPlain"/>
            </a:pPr>
            <a:r>
              <a:rPr lang="en-US" altLang="zh-CN" sz="1800" b="1" dirty="0">
                <a:ea typeface="宋体" panose="02010600030101010101" pitchFamily="2" charset="-122"/>
                <a:sym typeface="Symbol" panose="05050102010706020507" pitchFamily="18" charset="2"/>
              </a:rPr>
              <a:t>  execution cost (</a:t>
            </a:r>
            <a:r>
              <a:rPr lang="zh-CN" altLang="en-US" sz="1800" b="1" dirty="0">
                <a:ea typeface="宋体" panose="02010600030101010101" pitchFamily="2" charset="-122"/>
                <a:sym typeface="Symbol" panose="05050102010706020507" pitchFamily="18" charset="2"/>
              </a:rPr>
              <a:t>执行开销，迁移的环境与原环境是否一样，相同则为</a:t>
            </a:r>
            <a:r>
              <a:rPr lang="en-US" altLang="zh-CN" sz="1800" b="1" dirty="0">
                <a:ea typeface="宋体" panose="02010600030101010101" pitchFamily="2" charset="-122"/>
                <a:sym typeface="Symbol" panose="05050102010706020507" pitchFamily="18" charset="2"/>
              </a:rPr>
              <a:t>0);</a:t>
            </a:r>
            <a:endParaRPr lang="en-US" altLang="zh-CN" sz="1800" b="1" dirty="0">
              <a:ea typeface="宋体" panose="02010600030101010101" pitchFamily="2" charset="-122"/>
              <a:sym typeface="Symbol" panose="05050102010706020507" pitchFamily="18" charset="2"/>
            </a:endParaRPr>
          </a:p>
          <a:p>
            <a:pPr marL="914400" lvl="1" indent="-457200" algn="just" eaLnBrk="1" hangingPunct="1">
              <a:spcBef>
                <a:spcPct val="50000"/>
              </a:spcBef>
              <a:buClrTx/>
              <a:buFont typeface="Arial" panose="020B0604020202020204" pitchFamily="34" charset="0"/>
              <a:buAutoNum type="circleNumDbPlain"/>
            </a:pPr>
            <a:r>
              <a:rPr lang="en-US" altLang="zh-CN" sz="1800" b="1" dirty="0">
                <a:ea typeface="宋体" panose="02010600030101010101" pitchFamily="2" charset="-122"/>
                <a:sym typeface="Symbol" panose="05050102010706020507" pitchFamily="18" charset="2"/>
              </a:rPr>
              <a:t>  resource utilization</a:t>
            </a:r>
            <a:endParaRPr lang="en-US" altLang="zh-CN" sz="1800" b="1" dirty="0">
              <a:ea typeface="宋体" panose="02010600030101010101" pitchFamily="2" charset="-122"/>
              <a:sym typeface="Symbol" panose="05050102010706020507" pitchFamily="18" charset="2"/>
            </a:endParaRPr>
          </a:p>
        </p:txBody>
      </p:sp>
      <p:sp>
        <p:nvSpPr>
          <p:cNvPr id="63491" name="Text Box 3"/>
          <p:cNvSpPr txBox="1"/>
          <p:nvPr/>
        </p:nvSpPr>
        <p:spPr>
          <a:xfrm>
            <a:off x="150813" y="3113088"/>
            <a:ext cx="8367712" cy="32781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7.</a:t>
            </a:r>
            <a:r>
              <a:rPr lang="zh-CN" altLang="en-US" sz="1800" b="1" dirty="0">
                <a:latin typeface="宋体" panose="02010600030101010101" pitchFamily="2" charset="-122"/>
                <a:ea typeface="宋体" panose="02010600030101010101" pitchFamily="2" charset="-122"/>
                <a:sym typeface="Symbol" panose="05050102010706020507" pitchFamily="18" charset="2"/>
              </a:rPr>
              <a:t> 算法设计问题</a:t>
            </a:r>
            <a:r>
              <a:rPr lang="en-US" altLang="zh-CN" sz="1800" b="1" dirty="0">
                <a:latin typeface="宋体" panose="02010600030101010101" pitchFamily="2" charset="-122"/>
                <a:ea typeface="宋体" panose="02010600030101010101" pitchFamily="2" charset="-122"/>
                <a:sym typeface="Symbol" panose="05050102010706020507" pitchFamily="18" charset="2"/>
              </a:rPr>
              <a:t>:</a:t>
            </a:r>
            <a:endParaRPr lang="en-US" altLang="zh-CN"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     (1)</a:t>
            </a:r>
            <a:r>
              <a:rPr lang="zh-CN" altLang="en-US" sz="1800" b="1" dirty="0">
                <a:latin typeface="宋体" panose="02010600030101010101" pitchFamily="2" charset="-122"/>
                <a:ea typeface="宋体" panose="02010600030101010101" pitchFamily="2" charset="-122"/>
                <a:sym typeface="Symbol" panose="05050102010706020507" pitchFamily="18" charset="2"/>
              </a:rPr>
              <a:t> 确定性与启发性（试探性）算法</a:t>
            </a:r>
            <a:endParaRPr lang="zh-CN" altLang="en-US"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     (2)</a:t>
            </a:r>
            <a:r>
              <a:rPr lang="zh-CN" altLang="en-US" sz="1800" b="1" dirty="0">
                <a:latin typeface="宋体" panose="02010600030101010101" pitchFamily="2" charset="-122"/>
                <a:ea typeface="宋体" panose="02010600030101010101" pitchFamily="2" charset="-122"/>
                <a:sym typeface="Symbol" panose="05050102010706020507" pitchFamily="18" charset="2"/>
              </a:rPr>
              <a:t> 集中式与分布式算法</a:t>
            </a:r>
            <a:endParaRPr lang="zh-CN" altLang="en-US"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     (3)</a:t>
            </a:r>
            <a:r>
              <a:rPr lang="zh-CN" altLang="en-US" sz="1800" b="1" dirty="0">
                <a:latin typeface="宋体" panose="02010600030101010101" pitchFamily="2" charset="-122"/>
                <a:ea typeface="宋体" panose="02010600030101010101" pitchFamily="2" charset="-122"/>
                <a:sym typeface="Symbol" panose="05050102010706020507" pitchFamily="18" charset="2"/>
              </a:rPr>
              <a:t> 最优与次优算法</a:t>
            </a:r>
            <a:endParaRPr lang="zh-CN" altLang="en-US"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     (4)</a:t>
            </a:r>
            <a:r>
              <a:rPr lang="zh-CN" altLang="en-US" sz="1800" b="1" dirty="0">
                <a:latin typeface="宋体" panose="02010600030101010101" pitchFamily="2" charset="-122"/>
                <a:ea typeface="宋体" panose="02010600030101010101" pitchFamily="2" charset="-122"/>
                <a:sym typeface="Symbol" panose="05050102010706020507" pitchFamily="18" charset="2"/>
              </a:rPr>
              <a:t> 本地与全局算法</a:t>
            </a:r>
            <a:endParaRPr lang="zh-CN" altLang="en-US"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en-US" altLang="zh-CN" sz="1800" b="1" dirty="0">
                <a:latin typeface="宋体" panose="02010600030101010101" pitchFamily="2" charset="-122"/>
                <a:ea typeface="宋体" panose="02010600030101010101" pitchFamily="2" charset="-122"/>
                <a:sym typeface="Symbol" panose="05050102010706020507" pitchFamily="18" charset="2"/>
              </a:rPr>
              <a:t>     (5)</a:t>
            </a:r>
            <a:r>
              <a:rPr lang="zh-CN" altLang="en-US" sz="1800" b="1" dirty="0">
                <a:latin typeface="宋体" panose="02010600030101010101" pitchFamily="2" charset="-122"/>
                <a:ea typeface="宋体" panose="02010600030101010101" pitchFamily="2" charset="-122"/>
                <a:sym typeface="Symbol" panose="05050102010706020507" pitchFamily="18" charset="2"/>
              </a:rPr>
              <a:t> 发送者发起与接收者发起算法</a:t>
            </a:r>
            <a:endParaRPr lang="zh-CN" altLang="en-US"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zh-CN" altLang="en-US" sz="1800" b="1" dirty="0">
                <a:latin typeface="宋体" panose="02010600030101010101" pitchFamily="2" charset="-122"/>
                <a:ea typeface="宋体" panose="02010600030101010101" pitchFamily="2" charset="-122"/>
                <a:sym typeface="Symbol" panose="05050102010706020507" pitchFamily="18" charset="2"/>
              </a:rPr>
              <a:t>这里不考虑任务划分</a:t>
            </a:r>
            <a:r>
              <a:rPr lang="en-US" altLang="zh-CN" sz="1800" b="1" dirty="0">
                <a:latin typeface="宋体" panose="02010600030101010101" pitchFamily="2" charset="-122"/>
                <a:ea typeface="宋体" panose="02010600030101010101" pitchFamily="2" charset="-122"/>
                <a:sym typeface="Symbol" panose="05050102010706020507" pitchFamily="18" charset="2"/>
              </a:rPr>
              <a:t>(</a:t>
            </a:r>
            <a:r>
              <a:rPr lang="zh-CN" altLang="en-US" sz="1800" b="1" dirty="0">
                <a:latin typeface="宋体" panose="02010600030101010101" pitchFamily="2" charset="-122"/>
                <a:ea typeface="宋体" panose="02010600030101010101" pitchFamily="2" charset="-122"/>
                <a:sym typeface="Symbol" panose="05050102010706020507" pitchFamily="18" charset="2"/>
              </a:rPr>
              <a:t>并行程序设计</a:t>
            </a:r>
            <a:r>
              <a:rPr lang="en-US" altLang="zh-CN" sz="1800" b="1" dirty="0">
                <a:latin typeface="宋体" panose="02010600030101010101" pitchFamily="2" charset="-122"/>
                <a:ea typeface="宋体" panose="02010600030101010101" pitchFamily="2" charset="-122"/>
                <a:sym typeface="Symbol" panose="05050102010706020507" pitchFamily="18" charset="2"/>
              </a:rPr>
              <a:t>)</a:t>
            </a:r>
            <a:r>
              <a:rPr lang="zh-CN" altLang="en-US" sz="1800" b="1" dirty="0">
                <a:latin typeface="宋体" panose="02010600030101010101" pitchFamily="2" charset="-122"/>
                <a:ea typeface="宋体" panose="02010600030101010101" pitchFamily="2" charset="-122"/>
                <a:sym typeface="Symbol" panose="05050102010706020507" pitchFamily="18" charset="2"/>
              </a:rPr>
              <a:t>，仅涉及任务分配。</a:t>
            </a:r>
            <a:endParaRPr lang="en-US" altLang="zh-CN" sz="1800" b="1" dirty="0">
              <a:latin typeface="宋体" panose="02010600030101010101" pitchFamily="2" charset="-122"/>
              <a:ea typeface="宋体" panose="02010600030101010101" pitchFamily="2" charset="-122"/>
              <a:sym typeface="Symbol" panose="05050102010706020507" pitchFamily="18" charset="2"/>
            </a:endParaRPr>
          </a:p>
          <a:p>
            <a:pPr marL="0" lvl="0" indent="0" algn="just" eaLnBrk="1" hangingPunct="1">
              <a:spcBef>
                <a:spcPct val="50000"/>
              </a:spcBef>
              <a:buClrTx/>
              <a:buNone/>
            </a:pPr>
            <a:r>
              <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rPr>
              <a:t>目标</a:t>
            </a:r>
            <a:r>
              <a:rPr lang="en-US" altLang="zh-CN" sz="1800" b="1" dirty="0">
                <a:solidFill>
                  <a:srgbClr val="FF0000"/>
                </a:solidFill>
                <a:latin typeface="宋体" panose="02010600030101010101" pitchFamily="2" charset="-122"/>
                <a:ea typeface="宋体" panose="02010600030101010101" pitchFamily="2" charset="-122"/>
                <a:sym typeface="Symbol" panose="05050102010706020507" pitchFamily="18" charset="2"/>
              </a:rPr>
              <a:t>: (1) IPC</a:t>
            </a:r>
            <a:r>
              <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rPr>
              <a:t>的极小化</a:t>
            </a:r>
            <a:r>
              <a:rPr lang="en-US" altLang="zh-CN" sz="1800" b="1" dirty="0">
                <a:solidFill>
                  <a:srgbClr val="FF0000"/>
                </a:solidFill>
                <a:latin typeface="宋体" panose="02010600030101010101" pitchFamily="2" charset="-122"/>
                <a:ea typeface="宋体" panose="02010600030101010101" pitchFamily="2" charset="-122"/>
                <a:sym typeface="Symbol" panose="05050102010706020507" pitchFamily="18" charset="2"/>
              </a:rPr>
              <a:t>. (2)</a:t>
            </a:r>
            <a:r>
              <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rPr>
              <a:t>负载平衡</a:t>
            </a:r>
            <a:r>
              <a:rPr lang="en-US" altLang="zh-CN" sz="1800" b="1" dirty="0">
                <a:solidFill>
                  <a:srgbClr val="FF0000"/>
                </a:solidFill>
                <a:latin typeface="宋体" panose="02010600030101010101" pitchFamily="2" charset="-122"/>
                <a:ea typeface="宋体" panose="02010600030101010101" pitchFamily="2" charset="-122"/>
                <a:sym typeface="Symbol" panose="05050102010706020507" pitchFamily="18" charset="2"/>
              </a:rPr>
              <a:t>. </a:t>
            </a:r>
            <a:r>
              <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rPr>
              <a:t>实现</a:t>
            </a:r>
            <a:r>
              <a:rPr lang="en-US" altLang="zh-CN" sz="1800" b="1" dirty="0">
                <a:solidFill>
                  <a:srgbClr val="FF0000"/>
                </a:solidFill>
                <a:latin typeface="宋体" panose="02010600030101010101" pitchFamily="2" charset="-122"/>
                <a:ea typeface="宋体" panose="02010600030101010101" pitchFamily="2" charset="-122"/>
                <a:sym typeface="Symbol" panose="05050102010706020507" pitchFamily="18" charset="2"/>
              </a:rPr>
              <a:t>:  </a:t>
            </a:r>
            <a:r>
              <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rPr>
              <a:t>两者结合</a:t>
            </a:r>
            <a:endParaRPr lang="zh-CN" altLang="en-US" sz="1800" b="1" dirty="0">
              <a:solidFill>
                <a:srgbClr val="FF0000"/>
              </a:solidFill>
              <a:latin typeface="宋体" panose="02010600030101010101" pitchFamily="2" charset="-122"/>
              <a:ea typeface="宋体" panose="02010600030101010101" pitchFamily="2" charset="-122"/>
              <a:sym typeface="Symbol" panose="05050102010706020507" pitchFamily="18" charset="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p:txBody>
          <a:bodyPr vert="horz" wrap="square" lIns="91440" tIns="45720" rIns="91440" bIns="45720" anchor="ctr" anchorCtr="0"/>
          <a:p>
            <a:pPr eaLnBrk="1" hangingPunct="1"/>
            <a:r>
              <a:rPr lang="zh-CN" altLang="en-US" sz="4000" b="1" dirty="0">
                <a:solidFill>
                  <a:srgbClr val="FF0066"/>
                </a:solidFill>
                <a:ea typeface="宋体" panose="02010600030101010101" pitchFamily="2" charset="-122"/>
                <a:sym typeface="Symbol" panose="05050102010706020507" pitchFamily="18" charset="2"/>
              </a:rPr>
              <a:t>处理机分配算法</a:t>
            </a:r>
            <a:endParaRPr lang="en-US" altLang="zh-CN" sz="3600" b="1" dirty="0">
              <a:solidFill>
                <a:srgbClr val="FF0066"/>
              </a:solidFill>
              <a:ea typeface="宋体" panose="02010600030101010101" pitchFamily="2" charset="-122"/>
            </a:endParaRPr>
          </a:p>
        </p:txBody>
      </p:sp>
      <p:sp>
        <p:nvSpPr>
          <p:cNvPr id="64515" name="Text Box 3"/>
          <p:cNvSpPr txBox="1"/>
          <p:nvPr/>
        </p:nvSpPr>
        <p:spPr>
          <a:xfrm>
            <a:off x="452438" y="1092200"/>
            <a:ext cx="8294687" cy="5275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457200" lvl="0" indent="-457200" algn="l" eaLnBrk="1" hangingPunct="1">
              <a:lnSpc>
                <a:spcPct val="150000"/>
              </a:lnSpc>
              <a:spcBef>
                <a:spcPct val="50000"/>
              </a:spcBef>
              <a:buClrTx/>
              <a:buNone/>
            </a:pPr>
            <a:r>
              <a:rPr lang="zh-CN" altLang="en-US" sz="2200" b="1" dirty="0">
                <a:latin typeface="Arial" panose="020B0604020202020204" pitchFamily="34" charset="0"/>
                <a:ea typeface="宋体" panose="02010600030101010101" pitchFamily="2" charset="-122"/>
                <a:sym typeface="Symbol" panose="05050102010706020507" pitchFamily="18" charset="2"/>
              </a:rPr>
              <a:t> </a:t>
            </a:r>
            <a:r>
              <a:rPr lang="en-US" altLang="zh-CN" sz="2200" b="1" dirty="0">
                <a:ea typeface="宋体" panose="02010600030101010101" pitchFamily="2" charset="-122"/>
                <a:sym typeface="Symbol" panose="05050102010706020507" pitchFamily="18" charset="2"/>
              </a:rPr>
              <a:t>1. </a:t>
            </a:r>
            <a:r>
              <a:rPr lang="zh-CN" altLang="en-US" sz="2200" b="1" dirty="0">
                <a:ea typeface="宋体" panose="02010600030101010101" pitchFamily="2" charset="-122"/>
                <a:sym typeface="Symbol" panose="05050102010706020507" pitchFamily="18" charset="2"/>
              </a:rPr>
              <a:t>图论方法  </a:t>
            </a:r>
            <a:endParaRPr lang="zh-CN" altLang="en-US"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50000"/>
              </a:spcBef>
              <a:buClrTx/>
              <a:buNone/>
            </a:pPr>
            <a:r>
              <a:rPr lang="zh-CN" altLang="en-US" sz="2200" b="1" dirty="0">
                <a:ea typeface="宋体" panose="02010600030101010101" pitchFamily="2" charset="-122"/>
                <a:sym typeface="Symbol" panose="05050102010706020507" pitchFamily="18" charset="2"/>
              </a:rPr>
              <a:t>       设</a:t>
            </a:r>
            <a:r>
              <a:rPr lang="en-US" altLang="zh-CN" sz="2200" b="1" dirty="0">
                <a:ea typeface="宋体" panose="02010600030101010101" pitchFamily="2" charset="-122"/>
                <a:sym typeface="Symbol" panose="05050102010706020507" pitchFamily="18" charset="2"/>
              </a:rPr>
              <a:t>V={ m1, m2,…, mn }</a:t>
            </a:r>
            <a:r>
              <a:rPr lang="zh-CN" altLang="en-US" sz="2200" b="1" dirty="0">
                <a:ea typeface="宋体" panose="02010600030101010101" pitchFamily="2" charset="-122"/>
                <a:sym typeface="Symbol" panose="05050102010706020507" pitchFamily="18" charset="2"/>
              </a:rPr>
              <a:t>为</a:t>
            </a:r>
            <a:r>
              <a:rPr lang="en-US" altLang="zh-CN" sz="2200" b="1" dirty="0">
                <a:ea typeface="宋体" panose="02010600030101010101" pitchFamily="2" charset="-122"/>
                <a:sym typeface="Symbol" panose="05050102010706020507" pitchFamily="18" charset="2"/>
              </a:rPr>
              <a:t>n</a:t>
            </a:r>
            <a:r>
              <a:rPr lang="zh-CN" altLang="en-US" sz="2200" b="1" dirty="0">
                <a:ea typeface="宋体" panose="02010600030101010101" pitchFamily="2" charset="-122"/>
                <a:sym typeface="Symbol" panose="05050102010706020507" pitchFamily="18" charset="2"/>
              </a:rPr>
              <a:t>个模块构成的集合，</a:t>
            </a:r>
            <a:r>
              <a:rPr lang="en-US" altLang="zh-CN" sz="2200" b="1" dirty="0">
                <a:ea typeface="宋体" panose="02010600030101010101" pitchFamily="2" charset="-122"/>
                <a:sym typeface="Symbol" panose="05050102010706020507" pitchFamily="18" charset="2"/>
              </a:rPr>
              <a:t>G=(V, E)</a:t>
            </a:r>
            <a:endParaRPr lang="en-US" altLang="zh-CN"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E={( mi, mj) | mi</a:t>
            </a:r>
            <a:r>
              <a:rPr lang="zh-CN" altLang="en-US" sz="2200" b="1" dirty="0">
                <a:ea typeface="宋体" panose="02010600030101010101" pitchFamily="2" charset="-122"/>
                <a:sym typeface="Symbol" panose="05050102010706020507" pitchFamily="18" charset="2"/>
              </a:rPr>
              <a:t>与</a:t>
            </a:r>
            <a:r>
              <a:rPr lang="en-US" altLang="zh-CN" sz="2200" b="1" dirty="0">
                <a:ea typeface="宋体" panose="02010600030101010101" pitchFamily="2" charset="-122"/>
                <a:sym typeface="Symbol" panose="05050102010706020507" pitchFamily="18" charset="2"/>
              </a:rPr>
              <a:t>mj</a:t>
            </a:r>
            <a:r>
              <a:rPr lang="zh-CN" altLang="en-US" sz="2200" b="1" dirty="0">
                <a:ea typeface="宋体" panose="02010600030101010101" pitchFamily="2" charset="-122"/>
                <a:sym typeface="Symbol" panose="05050102010706020507" pitchFamily="18" charset="2"/>
              </a:rPr>
              <a:t>之间存在的</a:t>
            </a:r>
            <a:r>
              <a:rPr lang="en-US" altLang="zh-CN" sz="2200" b="1" dirty="0">
                <a:ea typeface="宋体" panose="02010600030101010101" pitchFamily="2" charset="-122"/>
                <a:sym typeface="Symbol" panose="05050102010706020507" pitchFamily="18" charset="2"/>
              </a:rPr>
              <a:t>IMC</a:t>
            </a:r>
            <a:r>
              <a:rPr lang="zh-CN" altLang="en-US" sz="2200" b="1" dirty="0">
                <a:ea typeface="宋体" panose="02010600030101010101" pitchFamily="2" charset="-122"/>
                <a:sym typeface="Symbol" panose="05050102010706020507" pitchFamily="18" charset="2"/>
              </a:rPr>
              <a:t>开销</a:t>
            </a:r>
            <a:r>
              <a:rPr lang="en-US" altLang="zh-CN" sz="2200" b="1" dirty="0">
                <a:ea typeface="宋体" panose="02010600030101010101" pitchFamily="2" charset="-122"/>
                <a:sym typeface="Symbol" panose="05050102010706020507" pitchFamily="18" charset="2"/>
              </a:rPr>
              <a:t>}</a:t>
            </a:r>
            <a:endParaRPr lang="en-US" altLang="zh-CN"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1   </a:t>
            </a:r>
            <a:r>
              <a:rPr lang="zh-CN" altLang="en-US" sz="2200" b="1" dirty="0">
                <a:ea typeface="宋体" panose="02010600030101010101" pitchFamily="2" charset="-122"/>
                <a:sym typeface="Symbol" panose="05050102010706020507" pitchFamily="18" charset="2"/>
              </a:rPr>
              <a:t>表示</a:t>
            </a:r>
            <a:r>
              <a:rPr lang="en-US" altLang="zh-CN" sz="2200" b="1" dirty="0">
                <a:ea typeface="宋体" panose="02010600030101010101" pitchFamily="2" charset="-122"/>
                <a:sym typeface="Symbol" panose="05050102010706020507" pitchFamily="18" charset="2"/>
              </a:rPr>
              <a:t>mi</a:t>
            </a:r>
            <a:r>
              <a:rPr lang="zh-CN" altLang="en-US" sz="2200" b="1" dirty="0">
                <a:ea typeface="宋体" panose="02010600030101010101" pitchFamily="2" charset="-122"/>
                <a:sym typeface="Symbol" panose="05050102010706020507" pitchFamily="18" charset="2"/>
              </a:rPr>
              <a:t>分配给处理机</a:t>
            </a:r>
            <a:r>
              <a:rPr lang="en-US" altLang="zh-CN" sz="2200" b="1" dirty="0">
                <a:ea typeface="宋体" panose="02010600030101010101" pitchFamily="2" charset="-122"/>
                <a:sym typeface="Symbol" panose="05050102010706020507" pitchFamily="18" charset="2"/>
              </a:rPr>
              <a:t>Pj</a:t>
            </a:r>
            <a:endParaRPr lang="en-US" altLang="zh-CN"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x</a:t>
            </a:r>
            <a:r>
              <a:rPr lang="en-US" altLang="zh-CN" sz="2200" b="1" baseline="-25000" dirty="0">
                <a:ea typeface="宋体" panose="02010600030101010101" pitchFamily="2" charset="-122"/>
                <a:sym typeface="Symbol" panose="05050102010706020507" pitchFamily="18" charset="2"/>
              </a:rPr>
              <a:t>i j</a:t>
            </a:r>
            <a:r>
              <a:rPr lang="en-US" altLang="zh-CN" sz="2200" b="1" dirty="0">
                <a:ea typeface="宋体" panose="02010600030101010101" pitchFamily="2" charset="-122"/>
                <a:sym typeface="Symbol" panose="05050102010706020507" pitchFamily="18" charset="2"/>
              </a:rPr>
              <a:t>=</a:t>
            </a:r>
            <a:endParaRPr lang="en-US" altLang="zh-CN"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0  </a:t>
            </a:r>
            <a:r>
              <a:rPr lang="zh-CN" altLang="en-US" sz="2200" b="1" dirty="0">
                <a:ea typeface="宋体" panose="02010600030101010101" pitchFamily="2" charset="-122"/>
                <a:sym typeface="Symbol" panose="05050102010706020507" pitchFamily="18" charset="2"/>
              </a:rPr>
              <a:t>表示</a:t>
            </a:r>
            <a:r>
              <a:rPr lang="en-US" altLang="zh-CN" sz="2200" b="1" dirty="0">
                <a:ea typeface="宋体" panose="02010600030101010101" pitchFamily="2" charset="-122"/>
                <a:sym typeface="Symbol" panose="05050102010706020507" pitchFamily="18" charset="2"/>
              </a:rPr>
              <a:t>mi </a:t>
            </a:r>
            <a:r>
              <a:rPr lang="zh-CN" altLang="en-US" sz="2200" b="1" dirty="0">
                <a:ea typeface="宋体" panose="02010600030101010101" pitchFamily="2" charset="-122"/>
                <a:sym typeface="Symbol" panose="05050102010706020507" pitchFamily="18" charset="2"/>
              </a:rPr>
              <a:t>未分配给处理机</a:t>
            </a:r>
            <a:r>
              <a:rPr lang="en-US" altLang="zh-CN" sz="2200" b="1" dirty="0">
                <a:ea typeface="宋体" panose="02010600030101010101" pitchFamily="2" charset="-122"/>
                <a:sym typeface="Symbol" panose="05050102010706020507" pitchFamily="18" charset="2"/>
              </a:rPr>
              <a:t>Pj</a:t>
            </a:r>
            <a:r>
              <a:rPr lang="zh-CN" altLang="en-US" sz="2200" b="1" dirty="0">
                <a:ea typeface="宋体" panose="02010600030101010101" pitchFamily="2" charset="-122"/>
                <a:sym typeface="Symbol" panose="05050102010706020507" pitchFamily="18" charset="2"/>
              </a:rPr>
              <a:t>。</a:t>
            </a:r>
            <a:endParaRPr lang="zh-CN" altLang="en-US"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q</a:t>
            </a:r>
            <a:r>
              <a:rPr lang="en-US" altLang="zh-CN" sz="2200" b="1" baseline="-25000" dirty="0">
                <a:ea typeface="宋体" panose="02010600030101010101" pitchFamily="2" charset="-122"/>
                <a:sym typeface="Symbol" panose="05050102010706020507" pitchFamily="18" charset="2"/>
              </a:rPr>
              <a:t>i j </a:t>
            </a:r>
            <a:r>
              <a:rPr lang="zh-CN" altLang="en-US" sz="2200" b="1" dirty="0">
                <a:ea typeface="宋体" panose="02010600030101010101" pitchFamily="2" charset="-122"/>
                <a:sym typeface="Symbol" panose="05050102010706020507" pitchFamily="18" charset="2"/>
              </a:rPr>
              <a:t>表示</a:t>
            </a:r>
            <a:r>
              <a:rPr lang="en-US" altLang="zh-CN" sz="2200" b="1" dirty="0">
                <a:ea typeface="宋体" panose="02010600030101010101" pitchFamily="2" charset="-122"/>
                <a:sym typeface="Symbol" panose="05050102010706020507" pitchFamily="18" charset="2"/>
              </a:rPr>
              <a:t>mi</a:t>
            </a:r>
            <a:r>
              <a:rPr lang="zh-CN" altLang="en-US" sz="2200" b="1" dirty="0">
                <a:ea typeface="宋体" panose="02010600030101010101" pitchFamily="2" charset="-122"/>
                <a:sym typeface="Symbol" panose="05050102010706020507" pitchFamily="18" charset="2"/>
              </a:rPr>
              <a:t>在处理机</a:t>
            </a:r>
            <a:r>
              <a:rPr lang="en-US" altLang="zh-CN" sz="2200" b="1" dirty="0">
                <a:ea typeface="宋体" panose="02010600030101010101" pitchFamily="2" charset="-122"/>
                <a:sym typeface="Symbol" panose="05050102010706020507" pitchFamily="18" charset="2"/>
              </a:rPr>
              <a:t>Pj</a:t>
            </a:r>
            <a:r>
              <a:rPr lang="zh-CN" altLang="en-US" sz="2200" b="1" dirty="0">
                <a:ea typeface="宋体" panose="02010600030101010101" pitchFamily="2" charset="-122"/>
                <a:sym typeface="Symbol" panose="05050102010706020507" pitchFamily="18" charset="2"/>
              </a:rPr>
              <a:t>上的开销；</a:t>
            </a:r>
            <a:endParaRPr lang="zh-CN" altLang="en-US"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en-US" altLang="zh-CN" sz="2200" b="1" dirty="0">
                <a:ea typeface="宋体" panose="02010600030101010101" pitchFamily="2" charset="-122"/>
                <a:sym typeface="Symbol" panose="05050102010706020507" pitchFamily="18" charset="2"/>
              </a:rPr>
              <a:t>         C</a:t>
            </a:r>
            <a:r>
              <a:rPr lang="en-US" altLang="zh-CN" sz="2200" b="1" baseline="-25000" dirty="0">
                <a:ea typeface="宋体" panose="02010600030101010101" pitchFamily="2" charset="-122"/>
                <a:sym typeface="Symbol" panose="05050102010706020507" pitchFamily="18" charset="2"/>
              </a:rPr>
              <a:t>i j </a:t>
            </a:r>
            <a:r>
              <a:rPr lang="zh-CN" altLang="en-US" sz="2200" b="1" dirty="0">
                <a:ea typeface="宋体" panose="02010600030101010101" pitchFamily="2" charset="-122"/>
                <a:sym typeface="Symbol" panose="05050102010706020507" pitchFamily="18" charset="2"/>
              </a:rPr>
              <a:t>表示</a:t>
            </a:r>
            <a:r>
              <a:rPr lang="en-US" altLang="zh-CN" sz="2200" b="1" dirty="0">
                <a:ea typeface="宋体" panose="02010600030101010101" pitchFamily="2" charset="-122"/>
                <a:sym typeface="Symbol" panose="05050102010706020507" pitchFamily="18" charset="2"/>
              </a:rPr>
              <a:t>mi </a:t>
            </a:r>
            <a:r>
              <a:rPr lang="zh-CN" altLang="en-US" sz="2200" b="1" dirty="0">
                <a:ea typeface="宋体" panose="02010600030101010101" pitchFamily="2" charset="-122"/>
                <a:sym typeface="Symbol" panose="05050102010706020507" pitchFamily="18" charset="2"/>
              </a:rPr>
              <a:t>与</a:t>
            </a:r>
            <a:r>
              <a:rPr lang="en-US" altLang="zh-CN" sz="2200" b="1" dirty="0">
                <a:ea typeface="宋体" panose="02010600030101010101" pitchFamily="2" charset="-122"/>
                <a:sym typeface="Symbol" panose="05050102010706020507" pitchFamily="18" charset="2"/>
              </a:rPr>
              <a:t>mj</a:t>
            </a:r>
            <a:r>
              <a:rPr lang="zh-CN" altLang="en-US" sz="2200" b="1" dirty="0">
                <a:ea typeface="宋体" panose="02010600030101010101" pitchFamily="2" charset="-122"/>
                <a:sym typeface="Symbol" panose="05050102010706020507" pitchFamily="18" charset="2"/>
              </a:rPr>
              <a:t>之间的</a:t>
            </a:r>
            <a:r>
              <a:rPr lang="en-US" altLang="zh-CN" sz="2200" b="1" dirty="0">
                <a:ea typeface="宋体" panose="02010600030101010101" pitchFamily="2" charset="-122"/>
                <a:sym typeface="Symbol" panose="05050102010706020507" pitchFamily="18" charset="2"/>
              </a:rPr>
              <a:t>IMC</a:t>
            </a:r>
            <a:r>
              <a:rPr lang="zh-CN" altLang="en-US" sz="2200" b="1" dirty="0">
                <a:ea typeface="宋体" panose="02010600030101010101" pitchFamily="2" charset="-122"/>
                <a:sym typeface="Symbol" panose="05050102010706020507" pitchFamily="18" charset="2"/>
              </a:rPr>
              <a:t>开销。</a:t>
            </a:r>
            <a:endParaRPr lang="zh-CN" altLang="en-US"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zh-CN" altLang="en-US" sz="2200" b="1" dirty="0">
                <a:ea typeface="宋体" panose="02010600030101010101" pitchFamily="2" charset="-122"/>
                <a:sym typeface="Symbol" panose="05050102010706020507" pitchFamily="18" charset="2"/>
              </a:rPr>
              <a:t>        </a:t>
            </a:r>
            <a:endParaRPr lang="zh-CN" altLang="en-US" sz="2200" b="1" dirty="0">
              <a:ea typeface="宋体" panose="02010600030101010101" pitchFamily="2" charset="-122"/>
              <a:sym typeface="Symbol" panose="05050102010706020507" pitchFamily="18" charset="2"/>
            </a:endParaRPr>
          </a:p>
          <a:p>
            <a:pPr marL="457200" lvl="0" indent="-457200" algn="l" eaLnBrk="1" hangingPunct="1">
              <a:lnSpc>
                <a:spcPct val="150000"/>
              </a:lnSpc>
              <a:spcBef>
                <a:spcPct val="0"/>
              </a:spcBef>
              <a:buClrTx/>
              <a:buNone/>
            </a:pPr>
            <a:r>
              <a:rPr lang="zh-CN" altLang="en-US" sz="2200" b="1" dirty="0">
                <a:ea typeface="宋体" panose="02010600030101010101" pitchFamily="2" charset="-122"/>
                <a:sym typeface="Symbol" panose="05050102010706020507" pitchFamily="18" charset="2"/>
              </a:rPr>
              <a:t>          则总开销为</a:t>
            </a:r>
            <a:r>
              <a:rPr lang="en-US" altLang="zh-CN" sz="2200" b="1" dirty="0">
                <a:ea typeface="宋体" panose="02010600030101010101" pitchFamily="2" charset="-122"/>
                <a:sym typeface="Symbol" panose="05050102010706020507" pitchFamily="18" charset="2"/>
              </a:rPr>
              <a:t>:</a:t>
            </a:r>
            <a:endParaRPr lang="en-US" altLang="zh-CN" sz="2200" b="1" dirty="0">
              <a:ea typeface="宋体" panose="02010600030101010101" pitchFamily="2" charset="-122"/>
              <a:sym typeface="Symbol" panose="05050102010706020507" pitchFamily="18" charset="2"/>
            </a:endParaRPr>
          </a:p>
        </p:txBody>
      </p:sp>
      <p:sp>
        <p:nvSpPr>
          <p:cNvPr id="64516" name="Rectangle 5"/>
          <p:cNvSpPr/>
          <p:nvPr/>
        </p:nvSpPr>
        <p:spPr>
          <a:xfrm>
            <a:off x="0" y="0"/>
            <a:ext cx="9144000" cy="0"/>
          </a:xfrm>
          <a:prstGeom prst="rect">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aphicFrame>
        <p:nvGraphicFramePr>
          <p:cNvPr id="64517" name="Object 4"/>
          <p:cNvGraphicFramePr>
            <a:graphicFrameLocks noChangeAspect="1"/>
          </p:cNvGraphicFramePr>
          <p:nvPr/>
        </p:nvGraphicFramePr>
        <p:xfrm>
          <a:off x="3022600" y="5716588"/>
          <a:ext cx="5421313" cy="790575"/>
        </p:xfrm>
        <a:graphic>
          <a:graphicData uri="http://schemas.openxmlformats.org/presentationml/2006/ole">
            <mc:AlternateContent xmlns:mc="http://schemas.openxmlformats.org/markup-compatibility/2006">
              <mc:Choice xmlns:v="urn:schemas-microsoft-com:vml" Requires="v">
                <p:oleObj spid="_x0000_s3080" name="" r:id="rId1" imgW="2400300" imgH="355600" progId="Equation.3">
                  <p:embed/>
                </p:oleObj>
              </mc:Choice>
              <mc:Fallback>
                <p:oleObj name="" r:id="rId1" imgW="2400300" imgH="355600" progId="Equation.3">
                  <p:embed/>
                  <p:pic>
                    <p:nvPicPr>
                      <p:cNvPr id="0" name="图片 3079"/>
                      <p:cNvPicPr/>
                      <p:nvPr/>
                    </p:nvPicPr>
                    <p:blipFill>
                      <a:blip r:embed="rId2"/>
                      <a:stretch>
                        <a:fillRect/>
                      </a:stretch>
                    </p:blipFill>
                    <p:spPr>
                      <a:xfrm>
                        <a:off x="3022600" y="5716588"/>
                        <a:ext cx="5421313" cy="790575"/>
                      </a:xfrm>
                      <a:prstGeom prst="rect">
                        <a:avLst/>
                      </a:prstGeom>
                      <a:noFill/>
                      <a:ln w="38100">
                        <a:noFill/>
                        <a:miter/>
                      </a:ln>
                    </p:spPr>
                  </p:pic>
                </p:oleObj>
              </mc:Fallback>
            </mc:AlternateContent>
          </a:graphicData>
        </a:graphic>
      </p:graphicFrame>
      <p:sp>
        <p:nvSpPr>
          <p:cNvPr id="64518" name="AutoShape 6"/>
          <p:cNvSpPr/>
          <p:nvPr/>
        </p:nvSpPr>
        <p:spPr>
          <a:xfrm>
            <a:off x="1912938" y="3138488"/>
            <a:ext cx="336550" cy="896937"/>
          </a:xfrm>
          <a:prstGeom prst="leftBrace">
            <a:avLst>
              <a:gd name="adj1" fmla="val 22196"/>
              <a:gd name="adj2" fmla="val 50000"/>
            </a:avLst>
          </a:prstGeom>
          <a:no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65539" name="Text Box 3"/>
          <p:cNvSpPr txBox="1"/>
          <p:nvPr/>
        </p:nvSpPr>
        <p:spPr>
          <a:xfrm>
            <a:off x="128588" y="1052513"/>
            <a:ext cx="8970962"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2400" dirty="0">
                <a:ea typeface="宋体" panose="02010600030101010101" pitchFamily="2" charset="-122"/>
                <a:sym typeface="Symbol" panose="05050102010706020507" pitchFamily="18" charset="2"/>
              </a:rPr>
              <a:t>最小分割算法</a:t>
            </a:r>
            <a:r>
              <a:rPr lang="en-US" altLang="zh-CN" sz="2400" dirty="0">
                <a:ea typeface="宋体" panose="02010600030101010101" pitchFamily="2" charset="-122"/>
                <a:sym typeface="Symbol" panose="05050102010706020507" pitchFamily="18" charset="2"/>
              </a:rPr>
              <a:t>——</a:t>
            </a:r>
            <a:r>
              <a:rPr lang="zh-CN" altLang="en-US" sz="2400" dirty="0">
                <a:ea typeface="宋体" panose="02010600030101010101" pitchFamily="2" charset="-122"/>
                <a:sym typeface="Symbol" panose="05050102010706020507" pitchFamily="18" charset="2"/>
              </a:rPr>
              <a:t>切开边的权值总和最小，可得</a:t>
            </a:r>
            <a:r>
              <a:rPr lang="en-US" altLang="zh-CN" sz="2400" dirty="0">
                <a:ea typeface="宋体" panose="02010600030101010101" pitchFamily="2" charset="-122"/>
                <a:sym typeface="Symbol" panose="05050102010706020507" pitchFamily="18" charset="2"/>
              </a:rPr>
              <a:t>IPC</a:t>
            </a:r>
            <a:r>
              <a:rPr lang="zh-CN" altLang="en-US" sz="2400" dirty="0">
                <a:ea typeface="宋体" panose="02010600030101010101" pitchFamily="2" charset="-122"/>
                <a:sym typeface="Symbol" panose="05050102010706020507" pitchFamily="18" charset="2"/>
              </a:rPr>
              <a:t>最小的划分。</a:t>
            </a:r>
            <a:endParaRPr lang="en-US" altLang="zh-CN" sz="2400" dirty="0">
              <a:ea typeface="宋体" panose="02010600030101010101" pitchFamily="2" charset="-122"/>
              <a:sym typeface="Symbol" panose="05050102010706020507" pitchFamily="18" charset="2"/>
            </a:endParaRPr>
          </a:p>
        </p:txBody>
      </p:sp>
      <p:graphicFrame>
        <p:nvGraphicFramePr>
          <p:cNvPr id="65540" name="Object 4"/>
          <p:cNvGraphicFramePr>
            <a:graphicFrameLocks noChangeAspect="1"/>
          </p:cNvGraphicFramePr>
          <p:nvPr/>
        </p:nvGraphicFramePr>
        <p:xfrm>
          <a:off x="58738" y="1828800"/>
          <a:ext cx="9051925" cy="3851275"/>
        </p:xfrm>
        <a:graphic>
          <a:graphicData uri="http://schemas.openxmlformats.org/presentationml/2006/ole">
            <mc:AlternateContent xmlns:mc="http://schemas.openxmlformats.org/markup-compatibility/2006">
              <mc:Choice xmlns:v="urn:schemas-microsoft-com:vml" Requires="v">
                <p:oleObj spid="_x0000_s3078" name="" r:id="rId1" imgW="4318000" imgH="1488440" progId="Visio.Drawing.5">
                  <p:embed/>
                </p:oleObj>
              </mc:Choice>
              <mc:Fallback>
                <p:oleObj name="" r:id="rId1" imgW="4318000" imgH="1488440" progId="Visio.Drawing.5">
                  <p:embed/>
                  <p:pic>
                    <p:nvPicPr>
                      <p:cNvPr id="0" name="图片 3077"/>
                      <p:cNvPicPr/>
                      <p:nvPr/>
                    </p:nvPicPr>
                    <p:blipFill>
                      <a:blip r:embed="rId2"/>
                      <a:stretch>
                        <a:fillRect/>
                      </a:stretch>
                    </p:blipFill>
                    <p:spPr>
                      <a:xfrm>
                        <a:off x="58738" y="1828800"/>
                        <a:ext cx="9051925" cy="3851275"/>
                      </a:xfrm>
                      <a:prstGeom prst="rect">
                        <a:avLst/>
                      </a:prstGeom>
                      <a:noFill/>
                      <a:ln w="38100">
                        <a:noFill/>
                        <a:miter/>
                      </a:ln>
                    </p:spPr>
                  </p:pic>
                </p:oleObj>
              </mc:Fallback>
            </mc:AlternateContent>
          </a:graphicData>
        </a:graphic>
      </p:graphicFrame>
      <p:sp>
        <p:nvSpPr>
          <p:cNvPr id="65541" name="Rectangle 5"/>
          <p:cNvSpPr/>
          <p:nvPr/>
        </p:nvSpPr>
        <p:spPr>
          <a:xfrm>
            <a:off x="947738" y="5680075"/>
            <a:ext cx="7575550" cy="95726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ct val="150000"/>
              </a:lnSpc>
              <a:spcBef>
                <a:spcPct val="0"/>
              </a:spcBef>
              <a:buClrTx/>
              <a:buNone/>
            </a:pPr>
            <a:r>
              <a:rPr lang="zh-CN" altLang="en-US" sz="2000" dirty="0">
                <a:ea typeface="宋体" panose="02010600030101010101" pitchFamily="2" charset="-122"/>
              </a:rPr>
              <a:t> 3个处理机分配9个进程的两种方法</a:t>
            </a:r>
            <a:endParaRPr lang="zh-CN" altLang="en-US" sz="2000" dirty="0">
              <a:ea typeface="宋体" panose="02010600030101010101" pitchFamily="2" charset="-122"/>
            </a:endParaRPr>
          </a:p>
          <a:p>
            <a:pPr marL="0" lvl="0" indent="0" eaLnBrk="1" hangingPunct="1">
              <a:lnSpc>
                <a:spcPct val="150000"/>
              </a:lnSpc>
              <a:spcBef>
                <a:spcPct val="0"/>
              </a:spcBef>
              <a:buClrTx/>
              <a:buNone/>
            </a:pPr>
            <a:r>
              <a:rPr lang="en-US" altLang="zh-CN" sz="2000" dirty="0">
                <a:ea typeface="宋体" panose="02010600030101010101" pitchFamily="2" charset="-122"/>
                <a:sym typeface="Symbol" panose="05050102010706020507" pitchFamily="18" charset="2"/>
              </a:rPr>
              <a:t>(</a:t>
            </a:r>
            <a:r>
              <a:rPr lang="zh-CN" altLang="en-US" sz="2000" dirty="0">
                <a:ea typeface="宋体" panose="02010600030101010101" pitchFamily="2" charset="-122"/>
                <a:sym typeface="Symbol" panose="05050102010706020507" pitchFamily="18" charset="2"/>
              </a:rPr>
              <a:t>负载平衡、次优、集中式、动态</a:t>
            </a:r>
            <a:r>
              <a:rPr lang="en-US" altLang="zh-CN" sz="2000" dirty="0">
                <a:ea typeface="宋体" panose="02010600030101010101" pitchFamily="2" charset="-122"/>
                <a:sym typeface="Symbol" panose="05050102010706020507" pitchFamily="18" charset="2"/>
              </a:rPr>
              <a:t>)  </a:t>
            </a:r>
            <a:r>
              <a:rPr lang="zh-CN" altLang="en-US" sz="2000" dirty="0">
                <a:solidFill>
                  <a:srgbClr val="FF0000"/>
                </a:solidFill>
                <a:ea typeface="宋体" panose="02010600030101010101" pitchFamily="2" charset="-122"/>
                <a:sym typeface="Symbol" panose="05050102010706020507" pitchFamily="18" charset="2"/>
              </a:rPr>
              <a:t>问题：如何获取这些参数？</a:t>
            </a:r>
            <a:endParaRPr lang="zh-CN" altLang="en-US" sz="2000" dirty="0">
              <a:solidFill>
                <a:srgbClr val="FF0000"/>
              </a:solidFill>
              <a:ea typeface="宋体" panose="02010600030101010101" pitchFamily="2" charset="-122"/>
              <a:sym typeface="Symbol" panose="05050102010706020507" pitchFamily="18" charset="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0" y="0"/>
            <a:ext cx="9144000" cy="650875"/>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66563"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66564" name="Rectangle 4"/>
          <p:cNvSpPr/>
          <p:nvPr/>
        </p:nvSpPr>
        <p:spPr>
          <a:xfrm>
            <a:off x="201613" y="581025"/>
            <a:ext cx="8739187" cy="19383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None/>
            </a:pPr>
            <a:r>
              <a:rPr lang="en-US" altLang="zh-CN" sz="2000" b="1" dirty="0">
                <a:ea typeface="宋体" panose="02010600030101010101" pitchFamily="2" charset="-122"/>
              </a:rPr>
              <a:t>2. Usage Points</a:t>
            </a:r>
            <a:r>
              <a:rPr lang="zh-CN" altLang="en-US" sz="2000" b="1" dirty="0">
                <a:ea typeface="宋体" panose="02010600030101010101" pitchFamily="2" charset="-122"/>
              </a:rPr>
              <a:t>方法:</a:t>
            </a:r>
            <a:endParaRPr lang="zh-CN" altLang="en-US" sz="2000" b="1" dirty="0">
              <a:ea typeface="宋体" panose="02010600030101010101" pitchFamily="2" charset="-122"/>
            </a:endParaRPr>
          </a:p>
          <a:p>
            <a:pPr marL="0" lvl="0" indent="0" algn="just" eaLnBrk="1" hangingPunct="1">
              <a:lnSpc>
                <a:spcPct val="150000"/>
              </a:lnSpc>
              <a:spcBef>
                <a:spcPct val="0"/>
              </a:spcBef>
              <a:buClrTx/>
              <a:buNone/>
            </a:pPr>
            <a:r>
              <a:rPr lang="zh-CN" altLang="en-US" sz="2000" dirty="0">
                <a:ea typeface="宋体" panose="02010600030101010101" pitchFamily="2" charset="-122"/>
              </a:rPr>
              <a:t>        系统协调者保存一张</a:t>
            </a:r>
            <a:r>
              <a:rPr lang="en-US" altLang="zh-CN" sz="2000" dirty="0">
                <a:ea typeface="宋体" panose="02010600030101010101" pitchFamily="2" charset="-122"/>
              </a:rPr>
              <a:t>Usage Table</a:t>
            </a:r>
            <a:r>
              <a:rPr lang="zh-CN" altLang="en-US" sz="2000" dirty="0">
                <a:ea typeface="宋体" panose="02010600030101010101" pitchFamily="2" charset="-122"/>
              </a:rPr>
              <a:t>，记录每个工作站的状态，初值为0。当有某个事件发生时，给协调者发消息更新使用情况表。系统根据使用情况表决定处理机的分配。</a:t>
            </a:r>
            <a:endParaRPr lang="zh-CN" altLang="en-US" sz="2000" dirty="0">
              <a:ea typeface="宋体" panose="02010600030101010101" pitchFamily="2" charset="-122"/>
              <a:sym typeface="Symbol" panose="05050102010706020507" pitchFamily="18" charset="2"/>
            </a:endParaRPr>
          </a:p>
        </p:txBody>
      </p:sp>
      <p:grpSp>
        <p:nvGrpSpPr>
          <p:cNvPr id="66565" name="Group 5"/>
          <p:cNvGrpSpPr/>
          <p:nvPr/>
        </p:nvGrpSpPr>
        <p:grpSpPr>
          <a:xfrm>
            <a:off x="1471613" y="2428875"/>
            <a:ext cx="5899150" cy="3786188"/>
            <a:chOff x="2160" y="9159"/>
            <a:chExt cx="6120" cy="3669"/>
          </a:xfrm>
        </p:grpSpPr>
        <p:grpSp>
          <p:nvGrpSpPr>
            <p:cNvPr id="66567" name="Group 6"/>
            <p:cNvGrpSpPr/>
            <p:nvPr/>
          </p:nvGrpSpPr>
          <p:grpSpPr>
            <a:xfrm>
              <a:off x="2160" y="9396"/>
              <a:ext cx="2700" cy="2808"/>
              <a:chOff x="2160" y="9396"/>
              <a:chExt cx="2520" cy="2808"/>
            </a:xfrm>
          </p:grpSpPr>
          <p:sp>
            <p:nvSpPr>
              <p:cNvPr id="66578" name="Text Box 7"/>
              <p:cNvSpPr txBox="1"/>
              <p:nvPr/>
            </p:nvSpPr>
            <p:spPr>
              <a:xfrm>
                <a:off x="2160" y="9396"/>
                <a:ext cx="2520" cy="280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Usage Table</a:t>
                </a:r>
                <a:endParaRPr lang="en-US" altLang="zh-CN" sz="1800" dirty="0">
                  <a:ea typeface="宋体" panose="02010600030101010101" pitchFamily="2" charset="-122"/>
                </a:endParaRPr>
              </a:p>
            </p:txBody>
          </p:sp>
          <p:sp>
            <p:nvSpPr>
              <p:cNvPr id="66579" name="Text Box 8"/>
              <p:cNvSpPr txBox="1"/>
              <p:nvPr/>
            </p:nvSpPr>
            <p:spPr>
              <a:xfrm>
                <a:off x="2340" y="9864"/>
                <a:ext cx="2160" cy="218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Location  Point</a:t>
                </a:r>
                <a:endParaRPr lang="en-US" altLang="zh-CN" sz="1800" dirty="0">
                  <a:ea typeface="宋体" panose="02010600030101010101" pitchFamily="2" charset="-122"/>
                </a:endParaRPr>
              </a:p>
              <a:p>
                <a:pPr marL="0" lvl="0" indent="0" algn="just" eaLnBrk="1" hangingPunct="1">
                  <a:spcBef>
                    <a:spcPct val="50000"/>
                  </a:spcBef>
                  <a:buClrTx/>
                  <a:buNone/>
                </a:pPr>
                <a:r>
                  <a:rPr lang="en-US" altLang="zh-CN" sz="1800" dirty="0">
                    <a:ea typeface="宋体" panose="02010600030101010101" pitchFamily="2" charset="-122"/>
                  </a:rPr>
                  <a:t>   A           3  (+1)</a:t>
                </a:r>
                <a:endParaRPr lang="en-US" altLang="zh-CN" sz="1800" dirty="0">
                  <a:ea typeface="宋体" panose="02010600030101010101" pitchFamily="2" charset="-122"/>
                </a:endParaRPr>
              </a:p>
              <a:p>
                <a:pPr marL="0" lvl="0" indent="0" algn="just" eaLnBrk="1" hangingPunct="1">
                  <a:spcBef>
                    <a:spcPct val="50000"/>
                  </a:spcBef>
                  <a:buClrTx/>
                  <a:buNone/>
                </a:pPr>
                <a:r>
                  <a:rPr lang="en-US" altLang="zh-CN" sz="1800" dirty="0">
                    <a:ea typeface="宋体" panose="02010600030101010101" pitchFamily="2" charset="-122"/>
                  </a:rPr>
                  <a:t>   B           2</a:t>
                </a:r>
                <a:endParaRPr lang="en-US" altLang="zh-CN" sz="1800" dirty="0">
                  <a:ea typeface="宋体" panose="02010600030101010101" pitchFamily="2" charset="-122"/>
                </a:endParaRPr>
              </a:p>
              <a:p>
                <a:pPr marL="0" lvl="0" indent="0" algn="just" eaLnBrk="1" hangingPunct="1">
                  <a:spcBef>
                    <a:spcPct val="50000"/>
                  </a:spcBef>
                  <a:buClrTx/>
                  <a:buNone/>
                </a:pPr>
                <a:r>
                  <a:rPr lang="en-US" altLang="zh-CN" sz="1800" dirty="0">
                    <a:ea typeface="宋体" panose="02010600030101010101" pitchFamily="2" charset="-122"/>
                  </a:rPr>
                  <a:t>   C         -1  (-1)</a:t>
                </a:r>
                <a:endParaRPr lang="en-US" altLang="zh-CN" sz="1800" dirty="0">
                  <a:ea typeface="宋体" panose="02010600030101010101" pitchFamily="2" charset="-122"/>
                </a:endParaRPr>
              </a:p>
              <a:p>
                <a:pPr marL="0" lvl="0" indent="0" algn="just" eaLnBrk="1" hangingPunct="1">
                  <a:spcBef>
                    <a:spcPct val="50000"/>
                  </a:spcBef>
                  <a:buClrTx/>
                  <a:buNone/>
                </a:pPr>
                <a:r>
                  <a:rPr lang="en-US" altLang="zh-CN" sz="1800" dirty="0">
                    <a:ea typeface="宋体" panose="02010600030101010101" pitchFamily="2" charset="-122"/>
                  </a:rPr>
                  <a:t>   .</a:t>
                </a:r>
                <a:endParaRPr lang="en-US" altLang="zh-CN" sz="1800" dirty="0">
                  <a:ea typeface="宋体" panose="02010600030101010101" pitchFamily="2" charset="-122"/>
                </a:endParaRPr>
              </a:p>
              <a:p>
                <a:pPr marL="0" lvl="0" indent="0" algn="just" eaLnBrk="1" hangingPunct="1">
                  <a:spcBef>
                    <a:spcPct val="50000"/>
                  </a:spcBef>
                  <a:buClrTx/>
                  <a:buNone/>
                </a:pPr>
                <a:r>
                  <a:rPr lang="en-US" altLang="zh-CN" sz="1800" dirty="0">
                    <a:ea typeface="宋体" panose="02010600030101010101" pitchFamily="2" charset="-122"/>
                  </a:rPr>
                  <a:t>   .</a:t>
                </a:r>
                <a:endParaRPr lang="en-US" altLang="zh-CN" sz="1800" dirty="0">
                  <a:ea typeface="宋体" panose="02010600030101010101" pitchFamily="2" charset="-122"/>
                </a:endParaRPr>
              </a:p>
            </p:txBody>
          </p:sp>
        </p:grpSp>
        <p:grpSp>
          <p:nvGrpSpPr>
            <p:cNvPr id="66568" name="Group 9"/>
            <p:cNvGrpSpPr/>
            <p:nvPr/>
          </p:nvGrpSpPr>
          <p:grpSpPr>
            <a:xfrm>
              <a:off x="6300" y="9159"/>
              <a:ext cx="1980" cy="3594"/>
              <a:chOff x="6300" y="9159"/>
              <a:chExt cx="1620" cy="3594"/>
            </a:xfrm>
          </p:grpSpPr>
          <p:sp>
            <p:nvSpPr>
              <p:cNvPr id="66572" name="Text Box 10"/>
              <p:cNvSpPr txBox="1"/>
              <p:nvPr/>
            </p:nvSpPr>
            <p:spPr>
              <a:xfrm>
                <a:off x="6300" y="9159"/>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Over-Loaded</a:t>
                </a:r>
                <a:endParaRPr lang="en-US" altLang="zh-CN" sz="1800" dirty="0">
                  <a:ea typeface="宋体" panose="02010600030101010101" pitchFamily="2" charset="-122"/>
                </a:endParaRPr>
              </a:p>
            </p:txBody>
          </p:sp>
          <p:sp>
            <p:nvSpPr>
              <p:cNvPr id="66573" name="Text Box 11"/>
              <p:cNvSpPr txBox="1"/>
              <p:nvPr/>
            </p:nvSpPr>
            <p:spPr>
              <a:xfrm>
                <a:off x="6300" y="11736"/>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Under-Loaded</a:t>
                </a:r>
                <a:endParaRPr lang="en-US" altLang="zh-CN" sz="1800" dirty="0">
                  <a:ea typeface="宋体" panose="02010600030101010101" pitchFamily="2" charset="-122"/>
                </a:endParaRPr>
              </a:p>
            </p:txBody>
          </p:sp>
          <p:sp>
            <p:nvSpPr>
              <p:cNvPr id="66574" name="Text Box 12"/>
              <p:cNvSpPr txBox="1"/>
              <p:nvPr/>
            </p:nvSpPr>
            <p:spPr>
              <a:xfrm>
                <a:off x="6300" y="10488"/>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Suitable Loaded</a:t>
                </a:r>
                <a:endParaRPr lang="en-US" altLang="zh-CN" sz="1800" dirty="0">
                  <a:ea typeface="宋体" panose="02010600030101010101" pitchFamily="2" charset="-122"/>
                </a:endParaRPr>
              </a:p>
            </p:txBody>
          </p:sp>
          <p:sp>
            <p:nvSpPr>
              <p:cNvPr id="66575" name="Text Box 13"/>
              <p:cNvSpPr txBox="1"/>
              <p:nvPr/>
            </p:nvSpPr>
            <p:spPr>
              <a:xfrm>
                <a:off x="6390" y="9657"/>
                <a:ext cx="144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Location A</a:t>
                </a:r>
                <a:endParaRPr lang="en-US" altLang="zh-CN" sz="1800" dirty="0">
                  <a:ea typeface="宋体" panose="02010600030101010101" pitchFamily="2" charset="-122"/>
                </a:endParaRPr>
              </a:p>
            </p:txBody>
          </p:sp>
          <p:sp>
            <p:nvSpPr>
              <p:cNvPr id="66576" name="Text Box 14"/>
              <p:cNvSpPr txBox="1"/>
              <p:nvPr/>
            </p:nvSpPr>
            <p:spPr>
              <a:xfrm>
                <a:off x="6450" y="11009"/>
                <a:ext cx="144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Location B</a:t>
                </a:r>
                <a:endParaRPr lang="en-US" altLang="zh-CN" sz="1800" dirty="0">
                  <a:ea typeface="宋体" panose="02010600030101010101" pitchFamily="2" charset="-122"/>
                </a:endParaRPr>
              </a:p>
            </p:txBody>
          </p:sp>
          <p:sp>
            <p:nvSpPr>
              <p:cNvPr id="66577" name="Text Box 15"/>
              <p:cNvSpPr txBox="1"/>
              <p:nvPr/>
            </p:nvSpPr>
            <p:spPr>
              <a:xfrm>
                <a:off x="6390" y="12285"/>
                <a:ext cx="144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800" dirty="0">
                    <a:ea typeface="宋体" panose="02010600030101010101" pitchFamily="2" charset="-122"/>
                  </a:rPr>
                  <a:t>Location C</a:t>
                </a:r>
                <a:endParaRPr lang="en-US" altLang="zh-CN" sz="1800" dirty="0">
                  <a:ea typeface="宋体" panose="02010600030101010101" pitchFamily="2" charset="-122"/>
                </a:endParaRPr>
              </a:p>
            </p:txBody>
          </p:sp>
        </p:grpSp>
        <p:sp>
          <p:nvSpPr>
            <p:cNvPr id="66569" name="Line 16"/>
            <p:cNvSpPr/>
            <p:nvPr/>
          </p:nvSpPr>
          <p:spPr>
            <a:xfrm>
              <a:off x="4860" y="11034"/>
              <a:ext cx="1440" cy="936"/>
            </a:xfrm>
            <a:prstGeom prst="line">
              <a:avLst/>
            </a:prstGeom>
            <a:ln w="9525" cap="flat" cmpd="sng">
              <a:solidFill>
                <a:srgbClr val="000000"/>
              </a:solidFill>
              <a:prstDash val="solid"/>
              <a:headEnd type="none" w="med" len="med"/>
              <a:tailEnd type="triangle" w="med" len="med"/>
            </a:ln>
          </p:spPr>
        </p:sp>
        <p:sp>
          <p:nvSpPr>
            <p:cNvPr id="66570" name="Line 17"/>
            <p:cNvSpPr/>
            <p:nvPr/>
          </p:nvSpPr>
          <p:spPr>
            <a:xfrm flipH="1">
              <a:off x="4860" y="9474"/>
              <a:ext cx="1440" cy="1248"/>
            </a:xfrm>
            <a:prstGeom prst="line">
              <a:avLst/>
            </a:prstGeom>
            <a:ln w="9525" cap="flat" cmpd="sng">
              <a:solidFill>
                <a:srgbClr val="000000"/>
              </a:solidFill>
              <a:prstDash val="solid"/>
              <a:headEnd type="none" w="med" len="med"/>
              <a:tailEnd type="triangle" w="med" len="med"/>
            </a:ln>
          </p:spPr>
        </p:sp>
        <p:sp>
          <p:nvSpPr>
            <p:cNvPr id="66571" name="Text Box 18"/>
            <p:cNvSpPr txBox="1"/>
            <p:nvPr/>
          </p:nvSpPr>
          <p:spPr>
            <a:xfrm>
              <a:off x="2700" y="12360"/>
              <a:ext cx="180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800" dirty="0">
                  <a:ea typeface="宋体" panose="02010600030101010101" pitchFamily="2" charset="-122"/>
                </a:rPr>
                <a:t>集中式</a:t>
              </a:r>
              <a:r>
                <a:rPr lang="en-US" altLang="zh-CN" sz="1800" dirty="0">
                  <a:ea typeface="宋体" panose="02010600030101010101" pitchFamily="2" charset="-122"/>
                </a:rPr>
                <a:t>Server()</a:t>
              </a:r>
              <a:endParaRPr lang="en-US" altLang="zh-CN" sz="1800" dirty="0">
                <a:ea typeface="宋体" panose="02010600030101010101" pitchFamily="2" charset="-122"/>
              </a:endParaRPr>
            </a:p>
          </p:txBody>
        </p:sp>
      </p:grpSp>
      <p:sp>
        <p:nvSpPr>
          <p:cNvPr id="66566" name="矩形 18"/>
          <p:cNvSpPr/>
          <p:nvPr/>
        </p:nvSpPr>
        <p:spPr>
          <a:xfrm>
            <a:off x="2279650" y="6296025"/>
            <a:ext cx="4775200" cy="46196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400" dirty="0">
                <a:ea typeface="宋体" panose="02010600030101010101" pitchFamily="2" charset="-122"/>
                <a:sym typeface="Symbol" panose="05050102010706020507" pitchFamily="18" charset="2"/>
              </a:rPr>
              <a:t>(</a:t>
            </a:r>
            <a:r>
              <a:rPr lang="zh-CN" altLang="en-US" sz="2400" dirty="0">
                <a:ea typeface="宋体" panose="02010600030101010101" pitchFamily="2" charset="-122"/>
                <a:sym typeface="Symbol" panose="05050102010706020507" pitchFamily="18" charset="2"/>
              </a:rPr>
              <a:t>负载分担、次优、集中式、动态</a:t>
            </a:r>
            <a:r>
              <a:rPr lang="en-US" altLang="zh-CN" sz="2400" dirty="0">
                <a:ea typeface="宋体" panose="02010600030101010101" pitchFamily="2" charset="-122"/>
                <a:sym typeface="Symbol" panose="05050102010706020507" pitchFamily="18" charset="2"/>
              </a:rPr>
              <a:t>) </a:t>
            </a:r>
            <a:endParaRPr lang="zh-CN" altLang="en-US" sz="2400" dirty="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0" y="0"/>
            <a:ext cx="9144000" cy="512763"/>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67587"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67588" name="Rectangle 4"/>
          <p:cNvSpPr/>
          <p:nvPr/>
        </p:nvSpPr>
        <p:spPr>
          <a:xfrm>
            <a:off x="201613" y="449263"/>
            <a:ext cx="8740775" cy="14779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0"/>
              </a:spcBef>
              <a:buClrTx/>
              <a:buNone/>
            </a:pPr>
            <a:r>
              <a:rPr lang="en-US" altLang="zh-CN" sz="1800" b="1" dirty="0">
                <a:ea typeface="宋体" panose="02010600030101010101" pitchFamily="2" charset="-122"/>
              </a:rPr>
              <a:t>3. </a:t>
            </a:r>
            <a:r>
              <a:rPr lang="zh-CN" altLang="en-US" sz="1800" b="1" dirty="0">
                <a:ea typeface="宋体" panose="02010600030101010101" pitchFamily="2" charset="-122"/>
              </a:rPr>
              <a:t>“合一</a:t>
            </a:r>
            <a:r>
              <a:rPr lang="en-US" altLang="zh-CN" sz="1800" b="1" dirty="0">
                <a:ea typeface="宋体" panose="02010600030101010101" pitchFamily="2" charset="-122"/>
              </a:rPr>
              <a:t>——</a:t>
            </a:r>
            <a:r>
              <a:rPr lang="zh-CN" altLang="en-US" sz="1800" b="1" dirty="0">
                <a:ea typeface="宋体" panose="02010600030101010101" pitchFamily="2" charset="-122"/>
              </a:rPr>
              <a:t>阈值”方法</a:t>
            </a:r>
            <a:endParaRPr lang="zh-CN" altLang="en-US" sz="1800" dirty="0">
              <a:ea typeface="宋体" panose="02010600030101010101" pitchFamily="2" charset="-122"/>
            </a:endParaRPr>
          </a:p>
          <a:p>
            <a:pPr marL="0" lvl="0" indent="0" algn="just" eaLnBrk="1" hangingPunct="1">
              <a:spcBef>
                <a:spcPct val="0"/>
              </a:spcBef>
              <a:buClrTx/>
              <a:buNone/>
            </a:pPr>
            <a:r>
              <a:rPr lang="zh-CN" altLang="en-US" sz="1800" dirty="0">
                <a:ea typeface="宋体" panose="02010600030101010101" pitchFamily="2" charset="-122"/>
              </a:rPr>
              <a:t>同构系统</a:t>
            </a:r>
            <a:r>
              <a:rPr lang="en-US" altLang="zh-CN" sz="1800" dirty="0">
                <a:ea typeface="宋体" panose="02010600030101010101" pitchFamily="2" charset="-122"/>
              </a:rPr>
              <a:t>, </a:t>
            </a:r>
            <a:r>
              <a:rPr lang="zh-CN" altLang="en-US" sz="1800" dirty="0">
                <a:ea typeface="宋体" panose="02010600030101010101" pitchFamily="2" charset="-122"/>
              </a:rPr>
              <a:t>通过将通信量大的模块分到同一个处理机的方法减少</a:t>
            </a:r>
            <a:r>
              <a:rPr lang="en-US" altLang="zh-CN" sz="1800" dirty="0">
                <a:ea typeface="宋体" panose="02010600030101010101" pitchFamily="2" charset="-122"/>
              </a:rPr>
              <a:t>IPC</a:t>
            </a:r>
            <a:r>
              <a:rPr lang="zh-CN" altLang="en-US" sz="1800" dirty="0">
                <a:ea typeface="宋体" panose="02010600030101010101" pitchFamily="2" charset="-122"/>
              </a:rPr>
              <a:t>的总量</a:t>
            </a:r>
            <a:r>
              <a:rPr lang="en-US" altLang="zh-CN" sz="1800" dirty="0">
                <a:ea typeface="宋体" panose="02010600030101010101" pitchFamily="2" charset="-122"/>
              </a:rPr>
              <a:t>.</a:t>
            </a:r>
            <a:endParaRPr lang="en-US" altLang="zh-CN" sz="1800" dirty="0">
              <a:ea typeface="宋体" panose="02010600030101010101" pitchFamily="2" charset="-122"/>
            </a:endParaRPr>
          </a:p>
          <a:p>
            <a:pPr marL="0" lvl="0" indent="0" algn="l" eaLnBrk="1" hangingPunct="1">
              <a:spcBef>
                <a:spcPct val="50000"/>
              </a:spcBef>
              <a:buClrTx/>
              <a:buFont typeface="Wingdings" panose="05000000000000000000" pitchFamily="2" charset="2"/>
              <a:buChar char="u"/>
            </a:pPr>
            <a:r>
              <a:rPr lang="zh-CN" altLang="en-US" sz="1800" b="1" dirty="0">
                <a:ea typeface="宋体" panose="02010600030101010101" pitchFamily="2" charset="-122"/>
              </a:rPr>
              <a:t>合一</a:t>
            </a:r>
            <a:r>
              <a:rPr lang="en-US" altLang="zh-CN" sz="1800" dirty="0">
                <a:ea typeface="宋体" panose="02010600030101010101" pitchFamily="2" charset="-122"/>
              </a:rPr>
              <a:t>——</a:t>
            </a:r>
            <a:r>
              <a:rPr lang="zh-CN" altLang="en-US" sz="1800" dirty="0">
                <a:ea typeface="宋体" panose="02010600030101010101" pitchFamily="2" charset="-122"/>
              </a:rPr>
              <a:t>根据一定的条件，将两个模块分配到同一处理机上</a:t>
            </a:r>
            <a:r>
              <a:rPr lang="en-US" altLang="zh-CN" sz="1800" dirty="0">
                <a:ea typeface="宋体" panose="02010600030101010101" pitchFamily="2" charset="-122"/>
              </a:rPr>
              <a:t>;</a:t>
            </a:r>
            <a:endParaRPr lang="en-US" altLang="zh-CN" sz="1800" b="1" dirty="0">
              <a:ea typeface="宋体" panose="02010600030101010101" pitchFamily="2" charset="-122"/>
            </a:endParaRPr>
          </a:p>
          <a:p>
            <a:pPr marL="0" lvl="0" indent="0" algn="l" eaLnBrk="1" hangingPunct="1">
              <a:spcBef>
                <a:spcPct val="50000"/>
              </a:spcBef>
              <a:buClrTx/>
              <a:buFont typeface="Wingdings" panose="05000000000000000000" pitchFamily="2" charset="2"/>
              <a:buChar char="u"/>
            </a:pPr>
            <a:r>
              <a:rPr lang="zh-CN" altLang="en-US" sz="1800" b="1" dirty="0">
                <a:ea typeface="宋体" panose="02010600030101010101" pitchFamily="2" charset="-122"/>
              </a:rPr>
              <a:t>阈值</a:t>
            </a:r>
            <a:r>
              <a:rPr lang="en-US" altLang="zh-CN" sz="1800" dirty="0">
                <a:ea typeface="宋体" panose="02010600030101010101" pitchFamily="2" charset="-122"/>
              </a:rPr>
              <a:t>——</a:t>
            </a:r>
            <a:r>
              <a:rPr lang="zh-CN" altLang="en-US" sz="1800" dirty="0">
                <a:ea typeface="宋体" panose="02010600030101010101" pitchFamily="2" charset="-122"/>
              </a:rPr>
              <a:t>处理机所能处理的最大模块数</a:t>
            </a:r>
            <a:r>
              <a:rPr lang="en-US" altLang="zh-CN" sz="1800" dirty="0">
                <a:ea typeface="宋体" panose="02010600030101010101" pitchFamily="2" charset="-122"/>
              </a:rPr>
              <a:t>;</a:t>
            </a:r>
            <a:endParaRPr lang="en-US" altLang="zh-CN" sz="1800" dirty="0">
              <a:ea typeface="宋体" panose="02010600030101010101" pitchFamily="2" charset="-122"/>
            </a:endParaRPr>
          </a:p>
        </p:txBody>
      </p:sp>
      <p:grpSp>
        <p:nvGrpSpPr>
          <p:cNvPr id="67589" name="Group 5"/>
          <p:cNvGrpSpPr/>
          <p:nvPr/>
        </p:nvGrpSpPr>
        <p:grpSpPr>
          <a:xfrm>
            <a:off x="1962150" y="1946275"/>
            <a:ext cx="4687888" cy="2606675"/>
            <a:chOff x="3780" y="12360"/>
            <a:chExt cx="4500" cy="2556"/>
          </a:xfrm>
        </p:grpSpPr>
        <p:sp>
          <p:nvSpPr>
            <p:cNvPr id="67591" name="Text Box 6"/>
            <p:cNvSpPr txBox="1"/>
            <p:nvPr/>
          </p:nvSpPr>
          <p:spPr>
            <a:xfrm>
              <a:off x="4680" y="1438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3</a:t>
              </a:r>
              <a:endParaRPr lang="en-US" altLang="zh-CN" sz="1600" dirty="0">
                <a:ea typeface="宋体" panose="02010600030101010101" pitchFamily="2" charset="-122"/>
              </a:endParaRPr>
            </a:p>
          </p:txBody>
        </p:sp>
        <p:grpSp>
          <p:nvGrpSpPr>
            <p:cNvPr id="67592" name="Group 7"/>
            <p:cNvGrpSpPr/>
            <p:nvPr/>
          </p:nvGrpSpPr>
          <p:grpSpPr>
            <a:xfrm>
              <a:off x="3780" y="12360"/>
              <a:ext cx="4500" cy="2556"/>
              <a:chOff x="3780" y="12360"/>
              <a:chExt cx="4500" cy="2556"/>
            </a:xfrm>
          </p:grpSpPr>
          <p:sp>
            <p:nvSpPr>
              <p:cNvPr id="67593" name="Text Box 8"/>
              <p:cNvSpPr txBox="1"/>
              <p:nvPr/>
            </p:nvSpPr>
            <p:spPr>
              <a:xfrm>
                <a:off x="6480" y="1360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2</a:t>
                </a:r>
                <a:endParaRPr lang="en-US" altLang="zh-CN" sz="1600" dirty="0">
                  <a:ea typeface="宋体" panose="02010600030101010101" pitchFamily="2" charset="-122"/>
                </a:endParaRPr>
              </a:p>
            </p:txBody>
          </p:sp>
          <p:sp>
            <p:nvSpPr>
              <p:cNvPr id="67594" name="Text Box 9"/>
              <p:cNvSpPr txBox="1"/>
              <p:nvPr/>
            </p:nvSpPr>
            <p:spPr>
              <a:xfrm>
                <a:off x="7020" y="14232"/>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1</a:t>
                </a:r>
                <a:endParaRPr lang="en-US" altLang="zh-CN" sz="1600" dirty="0">
                  <a:ea typeface="宋体" panose="02010600030101010101" pitchFamily="2" charset="-122"/>
                </a:endParaRPr>
              </a:p>
            </p:txBody>
          </p:sp>
          <p:sp>
            <p:nvSpPr>
              <p:cNvPr id="67595" name="Text Box 10"/>
              <p:cNvSpPr txBox="1"/>
              <p:nvPr/>
            </p:nvSpPr>
            <p:spPr>
              <a:xfrm>
                <a:off x="5400" y="1407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7</a:t>
                </a:r>
                <a:endParaRPr lang="en-US" altLang="zh-CN" sz="1600" dirty="0">
                  <a:ea typeface="宋体" panose="02010600030101010101" pitchFamily="2" charset="-122"/>
                </a:endParaRPr>
              </a:p>
            </p:txBody>
          </p:sp>
          <p:sp>
            <p:nvSpPr>
              <p:cNvPr id="67596" name="Text Box 11"/>
              <p:cNvSpPr txBox="1"/>
              <p:nvPr/>
            </p:nvSpPr>
            <p:spPr>
              <a:xfrm>
                <a:off x="6990" y="1376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5</a:t>
                </a:r>
                <a:endParaRPr lang="en-US" altLang="zh-CN" sz="1600" dirty="0">
                  <a:ea typeface="宋体" panose="02010600030101010101" pitchFamily="2" charset="-122"/>
                </a:endParaRPr>
              </a:p>
            </p:txBody>
          </p:sp>
          <p:sp>
            <p:nvSpPr>
              <p:cNvPr id="67597" name="Text Box 12"/>
              <p:cNvSpPr txBox="1"/>
              <p:nvPr/>
            </p:nvSpPr>
            <p:spPr>
              <a:xfrm>
                <a:off x="6120" y="13533"/>
                <a:ext cx="360" cy="40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4</a:t>
                </a:r>
                <a:endParaRPr lang="en-US" altLang="zh-CN" sz="1600" dirty="0">
                  <a:ea typeface="宋体" panose="02010600030101010101" pitchFamily="2" charset="-122"/>
                </a:endParaRPr>
              </a:p>
            </p:txBody>
          </p:sp>
          <p:sp>
            <p:nvSpPr>
              <p:cNvPr id="67598" name="Text Box 13"/>
              <p:cNvSpPr txBox="1"/>
              <p:nvPr/>
            </p:nvSpPr>
            <p:spPr>
              <a:xfrm>
                <a:off x="4500" y="13452"/>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8</a:t>
                </a:r>
                <a:endParaRPr lang="en-US" altLang="zh-CN" sz="1600" dirty="0">
                  <a:ea typeface="宋体" panose="02010600030101010101" pitchFamily="2" charset="-122"/>
                </a:endParaRPr>
              </a:p>
            </p:txBody>
          </p:sp>
          <p:sp>
            <p:nvSpPr>
              <p:cNvPr id="67599" name="Text Box 14"/>
              <p:cNvSpPr txBox="1"/>
              <p:nvPr/>
            </p:nvSpPr>
            <p:spPr>
              <a:xfrm>
                <a:off x="6120" y="1298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3</a:t>
                </a:r>
                <a:endParaRPr lang="en-US" altLang="zh-CN" sz="1600" dirty="0">
                  <a:ea typeface="宋体" panose="02010600030101010101" pitchFamily="2" charset="-122"/>
                </a:endParaRPr>
              </a:p>
            </p:txBody>
          </p:sp>
          <p:sp>
            <p:nvSpPr>
              <p:cNvPr id="67600" name="Text Box 15"/>
              <p:cNvSpPr txBox="1"/>
              <p:nvPr/>
            </p:nvSpPr>
            <p:spPr>
              <a:xfrm>
                <a:off x="4320" y="1282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2</a:t>
                </a:r>
                <a:endParaRPr lang="en-US" altLang="zh-CN" sz="1600" dirty="0">
                  <a:ea typeface="宋体" panose="02010600030101010101" pitchFamily="2" charset="-122"/>
                </a:endParaRPr>
              </a:p>
            </p:txBody>
          </p:sp>
          <p:sp>
            <p:nvSpPr>
              <p:cNvPr id="67601" name="Text Box 16"/>
              <p:cNvSpPr txBox="1"/>
              <p:nvPr/>
            </p:nvSpPr>
            <p:spPr>
              <a:xfrm>
                <a:off x="5940" y="12435"/>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7</a:t>
                </a:r>
                <a:endParaRPr lang="en-US" altLang="zh-CN" sz="1600" dirty="0">
                  <a:ea typeface="宋体" panose="02010600030101010101" pitchFamily="2" charset="-122"/>
                </a:endParaRPr>
              </a:p>
            </p:txBody>
          </p:sp>
          <p:grpSp>
            <p:nvGrpSpPr>
              <p:cNvPr id="67602" name="Group 17"/>
              <p:cNvGrpSpPr/>
              <p:nvPr/>
            </p:nvGrpSpPr>
            <p:grpSpPr>
              <a:xfrm>
                <a:off x="5040" y="14388"/>
                <a:ext cx="540" cy="468"/>
                <a:chOff x="2010" y="12486"/>
                <a:chExt cx="540" cy="498"/>
              </a:xfrm>
            </p:grpSpPr>
            <p:sp>
              <p:nvSpPr>
                <p:cNvPr id="67636" name="Text Box 18"/>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6</a:t>
                  </a:r>
                  <a:endParaRPr lang="en-US" altLang="zh-CN" sz="1600" dirty="0">
                    <a:ea typeface="宋体" panose="02010600030101010101" pitchFamily="2" charset="-122"/>
                  </a:endParaRPr>
                </a:p>
              </p:txBody>
            </p:sp>
            <p:sp>
              <p:nvSpPr>
                <p:cNvPr id="67637" name="Oval 19"/>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3" name="Group 20"/>
              <p:cNvGrpSpPr/>
              <p:nvPr/>
            </p:nvGrpSpPr>
            <p:grpSpPr>
              <a:xfrm>
                <a:off x="6480" y="14232"/>
                <a:ext cx="540" cy="498"/>
                <a:chOff x="2010" y="12486"/>
                <a:chExt cx="540" cy="498"/>
              </a:xfrm>
            </p:grpSpPr>
            <p:sp>
              <p:nvSpPr>
                <p:cNvPr id="67634" name="Text Box 21"/>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5</a:t>
                  </a:r>
                  <a:endParaRPr lang="en-US" altLang="zh-CN" sz="1600" dirty="0">
                    <a:ea typeface="宋体" panose="02010600030101010101" pitchFamily="2" charset="-122"/>
                  </a:endParaRPr>
                </a:p>
              </p:txBody>
            </p:sp>
            <p:sp>
              <p:nvSpPr>
                <p:cNvPr id="67635" name="Oval 22"/>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4" name="Group 23"/>
              <p:cNvGrpSpPr/>
              <p:nvPr/>
            </p:nvGrpSpPr>
            <p:grpSpPr>
              <a:xfrm>
                <a:off x="7740" y="13920"/>
                <a:ext cx="540" cy="498"/>
                <a:chOff x="2010" y="12486"/>
                <a:chExt cx="540" cy="498"/>
              </a:xfrm>
            </p:grpSpPr>
            <p:sp>
              <p:nvSpPr>
                <p:cNvPr id="67632" name="Text Box 24"/>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4</a:t>
                  </a:r>
                  <a:endParaRPr lang="en-US" altLang="zh-CN" sz="1600" dirty="0">
                    <a:ea typeface="宋体" panose="02010600030101010101" pitchFamily="2" charset="-122"/>
                  </a:endParaRPr>
                </a:p>
              </p:txBody>
            </p:sp>
            <p:sp>
              <p:nvSpPr>
                <p:cNvPr id="67633" name="Oval 25"/>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5" name="Group 26"/>
              <p:cNvGrpSpPr/>
              <p:nvPr/>
            </p:nvGrpSpPr>
            <p:grpSpPr>
              <a:xfrm>
                <a:off x="7380" y="12984"/>
                <a:ext cx="540" cy="498"/>
                <a:chOff x="2010" y="12486"/>
                <a:chExt cx="540" cy="498"/>
              </a:xfrm>
            </p:grpSpPr>
            <p:sp>
              <p:nvSpPr>
                <p:cNvPr id="67630" name="Text Box 27"/>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3</a:t>
                  </a:r>
                  <a:endParaRPr lang="en-US" altLang="zh-CN" sz="1600" dirty="0">
                    <a:ea typeface="宋体" panose="02010600030101010101" pitchFamily="2" charset="-122"/>
                  </a:endParaRPr>
                </a:p>
              </p:txBody>
            </p:sp>
            <p:sp>
              <p:nvSpPr>
                <p:cNvPr id="67631" name="Oval 28"/>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6" name="Group 29"/>
              <p:cNvGrpSpPr/>
              <p:nvPr/>
            </p:nvGrpSpPr>
            <p:grpSpPr>
              <a:xfrm>
                <a:off x="3780" y="13140"/>
                <a:ext cx="540" cy="498"/>
                <a:chOff x="2010" y="12486"/>
                <a:chExt cx="540" cy="498"/>
              </a:xfrm>
            </p:grpSpPr>
            <p:sp>
              <p:nvSpPr>
                <p:cNvPr id="67628" name="Text Box 30"/>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8</a:t>
                  </a:r>
                  <a:endParaRPr lang="en-US" altLang="zh-CN" sz="1600" dirty="0">
                    <a:ea typeface="宋体" panose="02010600030101010101" pitchFamily="2" charset="-122"/>
                  </a:endParaRPr>
                </a:p>
              </p:txBody>
            </p:sp>
            <p:sp>
              <p:nvSpPr>
                <p:cNvPr id="67629" name="Oval 31"/>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7" name="Group 32"/>
              <p:cNvGrpSpPr/>
              <p:nvPr/>
            </p:nvGrpSpPr>
            <p:grpSpPr>
              <a:xfrm>
                <a:off x="6840" y="12360"/>
                <a:ext cx="540" cy="498"/>
                <a:chOff x="2010" y="12486"/>
                <a:chExt cx="540" cy="498"/>
              </a:xfrm>
            </p:grpSpPr>
            <p:sp>
              <p:nvSpPr>
                <p:cNvPr id="67626" name="Text Box 33"/>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2</a:t>
                  </a:r>
                  <a:endParaRPr lang="en-US" altLang="zh-CN" sz="1600" dirty="0">
                    <a:ea typeface="宋体" panose="02010600030101010101" pitchFamily="2" charset="-122"/>
                  </a:endParaRPr>
                </a:p>
              </p:txBody>
            </p:sp>
            <p:sp>
              <p:nvSpPr>
                <p:cNvPr id="67627" name="Oval 34"/>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67608" name="Group 35"/>
              <p:cNvGrpSpPr/>
              <p:nvPr/>
            </p:nvGrpSpPr>
            <p:grpSpPr>
              <a:xfrm>
                <a:off x="4860" y="12360"/>
                <a:ext cx="540" cy="498"/>
                <a:chOff x="2010" y="12486"/>
                <a:chExt cx="540" cy="498"/>
              </a:xfrm>
            </p:grpSpPr>
            <p:sp>
              <p:nvSpPr>
                <p:cNvPr id="67624" name="Text Box 36"/>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1</a:t>
                  </a:r>
                  <a:endParaRPr lang="en-US" altLang="zh-CN" sz="1600" dirty="0">
                    <a:ea typeface="宋体" panose="02010600030101010101" pitchFamily="2" charset="-122"/>
                  </a:endParaRPr>
                </a:p>
              </p:txBody>
            </p:sp>
            <p:sp>
              <p:nvSpPr>
                <p:cNvPr id="67625" name="Oval 37"/>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67609" name="Line 38"/>
              <p:cNvSpPr/>
              <p:nvPr/>
            </p:nvSpPr>
            <p:spPr>
              <a:xfrm>
                <a:off x="5220" y="12783"/>
                <a:ext cx="1800" cy="0"/>
              </a:xfrm>
              <a:prstGeom prst="line">
                <a:avLst/>
              </a:prstGeom>
              <a:ln w="9525" cap="flat" cmpd="sng">
                <a:solidFill>
                  <a:srgbClr val="000000"/>
                </a:solidFill>
                <a:prstDash val="solid"/>
                <a:headEnd type="none" w="med" len="med"/>
                <a:tailEnd type="none" w="med" len="med"/>
              </a:ln>
            </p:spPr>
          </p:sp>
          <p:sp>
            <p:nvSpPr>
              <p:cNvPr id="67610" name="Line 39"/>
              <p:cNvSpPr/>
              <p:nvPr/>
            </p:nvSpPr>
            <p:spPr>
              <a:xfrm flipH="1">
                <a:off x="4140" y="12828"/>
                <a:ext cx="900" cy="624"/>
              </a:xfrm>
              <a:prstGeom prst="line">
                <a:avLst/>
              </a:prstGeom>
              <a:ln w="9525" cap="flat" cmpd="sng">
                <a:solidFill>
                  <a:srgbClr val="000000"/>
                </a:solidFill>
                <a:prstDash val="solid"/>
                <a:headEnd type="none" w="med" len="med"/>
                <a:tailEnd type="none" w="med" len="med"/>
              </a:ln>
            </p:spPr>
          </p:sp>
          <p:sp>
            <p:nvSpPr>
              <p:cNvPr id="67611" name="Line 40"/>
              <p:cNvSpPr/>
              <p:nvPr/>
            </p:nvSpPr>
            <p:spPr>
              <a:xfrm>
                <a:off x="5220" y="12828"/>
                <a:ext cx="2340" cy="624"/>
              </a:xfrm>
              <a:prstGeom prst="line">
                <a:avLst/>
              </a:prstGeom>
              <a:ln w="9525" cap="flat" cmpd="sng">
                <a:solidFill>
                  <a:srgbClr val="000000"/>
                </a:solidFill>
                <a:prstDash val="solid"/>
                <a:headEnd type="none" w="med" len="med"/>
                <a:tailEnd type="none" w="med" len="med"/>
              </a:ln>
            </p:spPr>
          </p:sp>
          <p:sp>
            <p:nvSpPr>
              <p:cNvPr id="67612" name="Text Box 41"/>
              <p:cNvSpPr txBox="1"/>
              <p:nvPr/>
            </p:nvSpPr>
            <p:spPr>
              <a:xfrm>
                <a:off x="5940" y="1444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6</a:t>
                </a:r>
                <a:endParaRPr lang="en-US" altLang="zh-CN" sz="1600" dirty="0">
                  <a:ea typeface="宋体" panose="02010600030101010101" pitchFamily="2" charset="-122"/>
                </a:endParaRPr>
              </a:p>
            </p:txBody>
          </p:sp>
          <p:grpSp>
            <p:nvGrpSpPr>
              <p:cNvPr id="67613" name="Group 42"/>
              <p:cNvGrpSpPr/>
              <p:nvPr/>
            </p:nvGrpSpPr>
            <p:grpSpPr>
              <a:xfrm>
                <a:off x="4140" y="13920"/>
                <a:ext cx="540" cy="498"/>
                <a:chOff x="2010" y="12486"/>
                <a:chExt cx="540" cy="498"/>
              </a:xfrm>
            </p:grpSpPr>
            <p:sp>
              <p:nvSpPr>
                <p:cNvPr id="67622" name="Text Box 43"/>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7</a:t>
                  </a:r>
                  <a:endParaRPr lang="en-US" altLang="zh-CN" sz="1600" dirty="0">
                    <a:ea typeface="宋体" panose="02010600030101010101" pitchFamily="2" charset="-122"/>
                  </a:endParaRPr>
                </a:p>
              </p:txBody>
            </p:sp>
            <p:sp>
              <p:nvSpPr>
                <p:cNvPr id="67623" name="Oval 44"/>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67614" name="Line 45"/>
              <p:cNvSpPr/>
              <p:nvPr/>
            </p:nvSpPr>
            <p:spPr>
              <a:xfrm flipH="1">
                <a:off x="5400" y="13452"/>
                <a:ext cx="2160" cy="1248"/>
              </a:xfrm>
              <a:prstGeom prst="line">
                <a:avLst/>
              </a:prstGeom>
              <a:ln w="9525" cap="flat" cmpd="sng">
                <a:solidFill>
                  <a:srgbClr val="000000"/>
                </a:solidFill>
                <a:prstDash val="solid"/>
                <a:headEnd type="none" w="med" len="med"/>
                <a:tailEnd type="none" w="med" len="med"/>
              </a:ln>
            </p:spPr>
          </p:sp>
          <p:sp>
            <p:nvSpPr>
              <p:cNvPr id="67615" name="Line 46"/>
              <p:cNvSpPr/>
              <p:nvPr/>
            </p:nvSpPr>
            <p:spPr>
              <a:xfrm>
                <a:off x="4500" y="14388"/>
                <a:ext cx="720" cy="312"/>
              </a:xfrm>
              <a:prstGeom prst="line">
                <a:avLst/>
              </a:prstGeom>
              <a:ln w="9525" cap="flat" cmpd="sng">
                <a:solidFill>
                  <a:srgbClr val="000000"/>
                </a:solidFill>
                <a:prstDash val="solid"/>
                <a:headEnd type="none" w="med" len="med"/>
                <a:tailEnd type="none" w="med" len="med"/>
              </a:ln>
            </p:spPr>
          </p:sp>
          <p:sp>
            <p:nvSpPr>
              <p:cNvPr id="67616" name="Line 47"/>
              <p:cNvSpPr/>
              <p:nvPr/>
            </p:nvSpPr>
            <p:spPr>
              <a:xfrm flipH="1">
                <a:off x="6840" y="14388"/>
                <a:ext cx="1080" cy="312"/>
              </a:xfrm>
              <a:prstGeom prst="line">
                <a:avLst/>
              </a:prstGeom>
              <a:ln w="9525" cap="flat" cmpd="sng">
                <a:solidFill>
                  <a:srgbClr val="000000"/>
                </a:solidFill>
                <a:prstDash val="solid"/>
                <a:headEnd type="none" w="med" len="med"/>
                <a:tailEnd type="none" w="med" len="med"/>
              </a:ln>
            </p:spPr>
          </p:sp>
          <p:sp>
            <p:nvSpPr>
              <p:cNvPr id="67617" name="Line 48"/>
              <p:cNvSpPr/>
              <p:nvPr/>
            </p:nvSpPr>
            <p:spPr>
              <a:xfrm flipH="1">
                <a:off x="6840" y="13452"/>
                <a:ext cx="720" cy="1248"/>
              </a:xfrm>
              <a:prstGeom prst="line">
                <a:avLst/>
              </a:prstGeom>
              <a:ln w="9525" cap="flat" cmpd="sng">
                <a:solidFill>
                  <a:srgbClr val="000000"/>
                </a:solidFill>
                <a:prstDash val="solid"/>
                <a:headEnd type="none" w="med" len="med"/>
                <a:tailEnd type="none" w="med" len="med"/>
              </a:ln>
            </p:spPr>
          </p:sp>
          <p:sp>
            <p:nvSpPr>
              <p:cNvPr id="67618" name="Line 49"/>
              <p:cNvSpPr/>
              <p:nvPr/>
            </p:nvSpPr>
            <p:spPr>
              <a:xfrm flipH="1">
                <a:off x="4500" y="13452"/>
                <a:ext cx="3060" cy="936"/>
              </a:xfrm>
              <a:prstGeom prst="line">
                <a:avLst/>
              </a:prstGeom>
              <a:ln w="9525" cap="flat" cmpd="sng">
                <a:solidFill>
                  <a:srgbClr val="000000"/>
                </a:solidFill>
                <a:prstDash val="solid"/>
                <a:headEnd type="none" w="med" len="med"/>
                <a:tailEnd type="none" w="med" len="med"/>
              </a:ln>
            </p:spPr>
          </p:sp>
          <p:sp>
            <p:nvSpPr>
              <p:cNvPr id="67619" name="Line 50"/>
              <p:cNvSpPr/>
              <p:nvPr/>
            </p:nvSpPr>
            <p:spPr>
              <a:xfrm>
                <a:off x="4140" y="13608"/>
                <a:ext cx="3780" cy="780"/>
              </a:xfrm>
              <a:prstGeom prst="line">
                <a:avLst/>
              </a:prstGeom>
              <a:ln w="9525" cap="flat" cmpd="sng">
                <a:solidFill>
                  <a:srgbClr val="000000"/>
                </a:solidFill>
                <a:prstDash val="solid"/>
                <a:headEnd type="none" w="med" len="med"/>
                <a:tailEnd type="none" w="med" len="med"/>
              </a:ln>
            </p:spPr>
          </p:sp>
          <p:sp>
            <p:nvSpPr>
              <p:cNvPr id="67620" name="Line 51"/>
              <p:cNvSpPr/>
              <p:nvPr/>
            </p:nvSpPr>
            <p:spPr>
              <a:xfrm>
                <a:off x="4500" y="14388"/>
                <a:ext cx="3420" cy="0"/>
              </a:xfrm>
              <a:prstGeom prst="line">
                <a:avLst/>
              </a:prstGeom>
              <a:ln w="9525" cap="flat" cmpd="sng">
                <a:solidFill>
                  <a:srgbClr val="000000"/>
                </a:solidFill>
                <a:prstDash val="solid"/>
                <a:headEnd type="none" w="med" len="med"/>
                <a:tailEnd type="none" w="med" len="med"/>
              </a:ln>
            </p:spPr>
          </p:sp>
          <p:sp>
            <p:nvSpPr>
              <p:cNvPr id="67621" name="Line 52"/>
              <p:cNvSpPr/>
              <p:nvPr/>
            </p:nvSpPr>
            <p:spPr>
              <a:xfrm flipV="1">
                <a:off x="5400" y="14700"/>
                <a:ext cx="1260" cy="156"/>
              </a:xfrm>
              <a:prstGeom prst="line">
                <a:avLst/>
              </a:prstGeom>
              <a:ln w="9525" cap="flat" cmpd="sng">
                <a:solidFill>
                  <a:srgbClr val="000000"/>
                </a:solidFill>
                <a:prstDash val="solid"/>
                <a:headEnd type="none" w="med" len="med"/>
                <a:tailEnd type="none" w="med" len="med"/>
              </a:ln>
            </p:spPr>
          </p:sp>
        </p:grpSp>
      </p:grpSp>
      <p:sp>
        <p:nvSpPr>
          <p:cNvPr id="67590" name="Rectangle 4"/>
          <p:cNvSpPr/>
          <p:nvPr/>
        </p:nvSpPr>
        <p:spPr>
          <a:xfrm>
            <a:off x="284163" y="4751388"/>
            <a:ext cx="8253412" cy="16160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50000"/>
              </a:spcBef>
              <a:buClrTx/>
              <a:buNone/>
            </a:pPr>
            <a:r>
              <a:rPr lang="zh-CN" altLang="en-US" sz="1800" b="1" dirty="0">
                <a:latin typeface="宋体" panose="02010600030101010101" pitchFamily="2" charset="-122"/>
                <a:ea typeface="宋体" panose="02010600030101010101" pitchFamily="2" charset="-122"/>
              </a:rPr>
              <a:t>算法思想</a:t>
            </a:r>
            <a:r>
              <a:rPr lang="zh-CN" altLang="en-US" sz="1800" dirty="0">
                <a:latin typeface="宋体" panose="02010600030101010101" pitchFamily="2" charset="-122"/>
                <a:ea typeface="宋体" panose="02010600030101010101" pitchFamily="2" charset="-122"/>
              </a:rPr>
              <a:t>：</a:t>
            </a:r>
            <a:endParaRPr lang="zh-CN" altLang="en-US" sz="1800" dirty="0">
              <a:latin typeface="宋体" panose="02010600030101010101" pitchFamily="2" charset="-122"/>
              <a:ea typeface="宋体" panose="02010600030101010101" pitchFamily="2" charset="-122"/>
            </a:endParaRPr>
          </a:p>
          <a:p>
            <a:pPr marL="0" lvl="0" indent="0" algn="l" eaLnBrk="1" hangingPunct="1">
              <a:spcBef>
                <a:spcPct val="50000"/>
              </a:spcBef>
              <a:buClrTx/>
              <a:buNone/>
            </a:pPr>
            <a:r>
              <a:rPr lang="zh-CN" altLang="en-US" sz="1800" dirty="0">
                <a:solidFill>
                  <a:srgbClr val="FF0000"/>
                </a:solidFill>
                <a:latin typeface="宋体" panose="02010600030101010101" pitchFamily="2" charset="-122"/>
                <a:ea typeface="宋体" panose="02010600030101010101" pitchFamily="2" charset="-122"/>
              </a:rPr>
              <a:t>第</a:t>
            </a:r>
            <a:r>
              <a:rPr lang="en-US" altLang="zh-CN" sz="1800" dirty="0">
                <a:solidFill>
                  <a:srgbClr val="FF0000"/>
                </a:solidFill>
                <a:latin typeface="宋体" panose="02010600030101010101" pitchFamily="2" charset="-122"/>
                <a:ea typeface="宋体" panose="02010600030101010101" pitchFamily="2" charset="-122"/>
              </a:rPr>
              <a:t>1</a:t>
            </a:r>
            <a:r>
              <a:rPr lang="zh-CN" altLang="en-US" sz="1800" dirty="0">
                <a:solidFill>
                  <a:srgbClr val="FF0000"/>
                </a:solidFill>
                <a:latin typeface="宋体" panose="02010600030101010101" pitchFamily="2" charset="-122"/>
                <a:ea typeface="宋体" panose="02010600030101010101" pitchFamily="2" charset="-122"/>
              </a:rPr>
              <a:t>阶段</a:t>
            </a:r>
            <a:r>
              <a:rPr lang="en-US" altLang="zh-CN" sz="1800" dirty="0">
                <a:solidFill>
                  <a:srgbClr val="FF0000"/>
                </a:solidFill>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合一</a:t>
            </a: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先将</a:t>
            </a:r>
            <a:r>
              <a:rPr lang="en-US" altLang="zh-CN" sz="1800" dirty="0">
                <a:latin typeface="宋体" panose="02010600030101010101" pitchFamily="2" charset="-122"/>
                <a:ea typeface="宋体" panose="02010600030101010101" pitchFamily="2" charset="-122"/>
              </a:rPr>
              <a:t>IMC</a:t>
            </a:r>
            <a:r>
              <a:rPr lang="zh-CN" altLang="en-US" sz="1800" dirty="0">
                <a:latin typeface="宋体" panose="02010600030101010101" pitchFamily="2" charset="-122"/>
                <a:ea typeface="宋体" panose="02010600030101010101" pitchFamily="2" charset="-122"/>
              </a:rPr>
              <a:t>最大者合并在一起（分给同一个处理机）</a:t>
            </a:r>
            <a:r>
              <a:rPr lang="en-US" altLang="zh-CN" sz="1800" dirty="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marL="0" lvl="0" indent="0" algn="l" eaLnBrk="1" hangingPunct="1">
              <a:spcBef>
                <a:spcPct val="50000"/>
              </a:spcBef>
              <a:buClrTx/>
              <a:buNone/>
            </a:pPr>
            <a:r>
              <a:rPr lang="zh-CN" altLang="en-US" sz="1800" dirty="0">
                <a:solidFill>
                  <a:srgbClr val="FF0000"/>
                </a:solidFill>
                <a:latin typeface="宋体" panose="02010600030101010101" pitchFamily="2" charset="-122"/>
                <a:ea typeface="宋体" panose="02010600030101010101" pitchFamily="2" charset="-122"/>
              </a:rPr>
              <a:t>第</a:t>
            </a:r>
            <a:r>
              <a:rPr lang="en-US" altLang="zh-CN" sz="1800" dirty="0">
                <a:solidFill>
                  <a:srgbClr val="FF0000"/>
                </a:solidFill>
                <a:latin typeface="宋体" panose="02010600030101010101" pitchFamily="2" charset="-122"/>
                <a:ea typeface="宋体" panose="02010600030101010101" pitchFamily="2" charset="-122"/>
              </a:rPr>
              <a:t>2</a:t>
            </a:r>
            <a:r>
              <a:rPr lang="zh-CN" altLang="en-US" sz="1800" dirty="0">
                <a:solidFill>
                  <a:srgbClr val="FF0000"/>
                </a:solidFill>
                <a:latin typeface="宋体" panose="02010600030101010101" pitchFamily="2" charset="-122"/>
                <a:ea typeface="宋体" panose="02010600030101010101" pitchFamily="2" charset="-122"/>
              </a:rPr>
              <a:t>阶段</a:t>
            </a:r>
            <a:r>
              <a:rPr lang="en-US" altLang="zh-CN" sz="1800" dirty="0">
                <a:solidFill>
                  <a:srgbClr val="FF0000"/>
                </a:solidFill>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调整</a:t>
            </a:r>
            <a:r>
              <a:rPr lang="en-US" altLang="zh-CN" sz="1800" dirty="0">
                <a:latin typeface="宋体" panose="02010600030101010101" pitchFamily="2" charset="-122"/>
                <a:ea typeface="宋体" panose="02010600030101010101" pitchFamily="2" charset="-122"/>
              </a:rPr>
              <a:t>, </a:t>
            </a:r>
            <a:r>
              <a:rPr lang="zh-CN" altLang="en-US" sz="1800" dirty="0">
                <a:latin typeface="宋体" panose="02010600030101010101" pitchFamily="2" charset="-122"/>
                <a:ea typeface="宋体" panose="02010600030101010101" pitchFamily="2" charset="-122"/>
              </a:rPr>
              <a:t>看分配的模块数是否超出“阈值”，对超出者进行调整。</a:t>
            </a:r>
            <a:endParaRPr lang="en-US" altLang="zh-CN" sz="1800" dirty="0">
              <a:latin typeface="宋体" panose="02010600030101010101" pitchFamily="2" charset="-122"/>
              <a:ea typeface="宋体" panose="02010600030101010101" pitchFamily="2" charset="-122"/>
            </a:endParaRPr>
          </a:p>
          <a:p>
            <a:pPr marL="0" lvl="0" indent="0" algn="l" eaLnBrk="1" hangingPunct="1">
              <a:spcBef>
                <a:spcPct val="50000"/>
              </a:spcBef>
              <a:buClrTx/>
              <a:buNone/>
            </a:pPr>
            <a:r>
              <a:rPr lang="zh-CN" altLang="en-US" sz="1800" dirty="0">
                <a:latin typeface="宋体" panose="02010600030101010101" pitchFamily="2" charset="-122"/>
                <a:ea typeface="宋体" panose="02010600030101010101" pitchFamily="2" charset="-122"/>
              </a:rPr>
              <a:t>（假设：处理机是同构的，模块的优先级也是一样的）。 </a:t>
            </a:r>
            <a:endParaRPr lang="en-US" altLang="zh-CN" sz="1800" dirty="0">
              <a:latin typeface="宋体" panose="02010600030101010101" pitchFamily="2" charset="-122"/>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0" y="0"/>
            <a:ext cx="9144000" cy="592138"/>
          </a:xfrm>
        </p:spPr>
        <p:txBody>
          <a:bodyPr vert="horz" wrap="square" lIns="91440" tIns="45720" rIns="91440" bIns="45720" anchor="ctr" anchorCtr="0"/>
          <a:p>
            <a:pPr eaLnBrk="1" hangingPunct="1"/>
            <a:r>
              <a:rPr lang="zh-CN" altLang="en-US" sz="3600" b="1" dirty="0">
                <a:ea typeface="宋体" panose="02010600030101010101" pitchFamily="2" charset="-122"/>
              </a:rPr>
              <a:t>算法描述</a:t>
            </a:r>
            <a:endParaRPr lang="en-US" altLang="zh-CN" sz="3600" dirty="0">
              <a:ea typeface="宋体" panose="02010600030101010101" pitchFamily="2" charset="-122"/>
            </a:endParaRPr>
          </a:p>
        </p:txBody>
      </p:sp>
      <p:sp>
        <p:nvSpPr>
          <p:cNvPr id="68611"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6804" name="Rectangle 4"/>
          <p:cNvSpPr>
            <a:spLocks noChangeArrowheads="1"/>
          </p:cNvSpPr>
          <p:nvPr/>
        </p:nvSpPr>
        <p:spPr bwMode="auto">
          <a:xfrm>
            <a:off x="219075" y="665163"/>
            <a:ext cx="8739188" cy="507682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第</a:t>
            </a:r>
            <a:r>
              <a:rPr kumimoji="0" lang="en-US" altLang="zh-CN"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1</a:t>
            </a: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阶段：</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设有</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n</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个模块，</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h</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个处理机：</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V={ m1, m2,…, </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mn</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P={ P1, P2,…, Ph}</a:t>
            </a:r>
            <a:endPar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1.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令</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 {{ m1}, { m2},…, { </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mn</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 }</a:t>
            </a:r>
            <a:endPar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342900" marR="0" lvl="0" indent="-342900" algn="l" defTabSz="914400" rtl="0" eaLnBrk="1" fontAlgn="base" latinLnBrk="0" hangingPunct="1">
              <a:lnSpc>
                <a:spcPct val="100000"/>
              </a:lnSpc>
              <a:spcBef>
                <a:spcPct val="50000"/>
              </a:spcBef>
              <a:spcAft>
                <a:spcPct val="0"/>
              </a:spcAft>
              <a:buClrTx/>
              <a:buSzTx/>
              <a:buFontTx/>
              <a:buAutoNum type="arabicPeriod" startAt="2"/>
              <a:defRPr/>
            </a:pP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从</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中寻找</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，它们之间存在最大的</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IMC</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，如果合并</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后满足内存和实时要求：</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合并</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。即用</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Si∪Sj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代替</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b)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对于</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Sk∈S</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&amp; </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Sk≠Si</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&amp; </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Sk≠Sj</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执行</a:t>
            </a:r>
            <a:endPar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         用</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Sk</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与</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和</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的</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IMC</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的和作为</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Sk</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与（</a:t>
            </a:r>
            <a:r>
              <a:rPr kumimoji="0" lang="en-US" altLang="zh-CN" sz="1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sym typeface="+mn-ea"/>
              </a:rPr>
              <a:t>Si∪Sj</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）的</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IMC</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调整</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IMC)</a:t>
            </a:r>
            <a:endPar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3.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重复</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2</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，直到找不到可以合并的；</a:t>
            </a:r>
            <a:endPar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4.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将</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中未被合并的模块放入一个“族”；</a:t>
            </a:r>
            <a:endPar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5.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如果</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中现有模块族数</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≤h</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，则将它们分配给各个处理机，否则，对本次合一结果进行调整</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zh-CN" altLang="en-US"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第二阶段</a:t>
            </a:r>
            <a:r>
              <a:rPr kumimoji="0" lang="en-US" altLang="zh-CN"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6.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对于每个处理机</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Pi: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如果</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Pi</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的模块数超过阈值，则选一个模块迁移到轻载者；</a:t>
            </a:r>
            <a:endPar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7.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如果每个处理机都没有超过阈值，则算法结束</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否则，算法失败；</a:t>
            </a:r>
            <a:endPar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8. </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以一定的策略将多出来的族放入其它族中，使</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|S|≤h</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，然后转</a:t>
            </a:r>
            <a:r>
              <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6</a:t>
            </a:r>
            <a:r>
              <a:rPr kumimoji="0" lang="zh-CN" altLang="en-US"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0" y="0"/>
            <a:ext cx="9144000" cy="704850"/>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69635"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69636" name="Rectangle 4"/>
          <p:cNvSpPr/>
          <p:nvPr/>
        </p:nvSpPr>
        <p:spPr>
          <a:xfrm>
            <a:off x="204788" y="654050"/>
            <a:ext cx="8739187" cy="51704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55600" lvl="0" indent="-355600" algn="l" eaLnBrk="1" hangingPunct="1">
              <a:lnSpc>
                <a:spcPct val="150000"/>
              </a:lnSpc>
              <a:spcBef>
                <a:spcPct val="50000"/>
              </a:spcBef>
              <a:buClrTx/>
              <a:buNone/>
            </a:pPr>
            <a:r>
              <a:rPr lang="zh-CN" altLang="en-US" sz="2000" b="1" dirty="0">
                <a:solidFill>
                  <a:srgbClr val="FF0000"/>
                </a:solidFill>
                <a:latin typeface="宋体" panose="02010600030101010101" pitchFamily="2" charset="-122"/>
                <a:ea typeface="宋体" panose="02010600030101010101" pitchFamily="2" charset="-122"/>
              </a:rPr>
              <a:t>第</a:t>
            </a:r>
            <a:r>
              <a:rPr lang="en-US" altLang="zh-CN" sz="2000" b="1" dirty="0">
                <a:solidFill>
                  <a:srgbClr val="FF0000"/>
                </a:solidFill>
                <a:latin typeface="宋体" panose="02010600030101010101" pitchFamily="2" charset="-122"/>
                <a:ea typeface="宋体" panose="02010600030101010101" pitchFamily="2" charset="-122"/>
              </a:rPr>
              <a:t>2</a:t>
            </a:r>
            <a:r>
              <a:rPr lang="zh-CN" altLang="en-US" sz="2000" b="1" dirty="0">
                <a:solidFill>
                  <a:srgbClr val="FF0000"/>
                </a:solidFill>
                <a:latin typeface="宋体" panose="02010600030101010101" pitchFamily="2" charset="-122"/>
                <a:ea typeface="宋体" panose="02010600030101010101" pitchFamily="2" charset="-122"/>
              </a:rPr>
              <a:t>阶段：</a:t>
            </a:r>
            <a:r>
              <a:rPr lang="zh-CN" altLang="en-US" sz="2000" b="1" dirty="0">
                <a:latin typeface="宋体" panose="02010600030101010101" pitchFamily="2" charset="-122"/>
                <a:ea typeface="宋体" panose="02010600030101010101" pitchFamily="2" charset="-122"/>
              </a:rPr>
              <a:t>考虑某些模块一定要分给指定处理机（附属模块）的问题</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zh-CN" altLang="en-US" sz="2000" b="1" u="sng" dirty="0">
                <a:latin typeface="宋体" panose="02010600030101010101" pitchFamily="2" charset="-122"/>
                <a:ea typeface="宋体" panose="02010600030101010101" pitchFamily="2" charset="-122"/>
              </a:rPr>
              <a:t>调整策略</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en-US" altLang="zh-CN" sz="2000" b="1" dirty="0">
                <a:latin typeface="宋体" panose="02010600030101010101" pitchFamily="2" charset="-122"/>
                <a:ea typeface="宋体" panose="02010600030101010101" pitchFamily="2" charset="-122"/>
              </a:rPr>
              <a:t>(1) </a:t>
            </a:r>
            <a:r>
              <a:rPr lang="zh-CN" altLang="en-US" sz="2000" b="1" dirty="0">
                <a:latin typeface="宋体" panose="02010600030101010101" pitchFamily="2" charset="-122"/>
                <a:ea typeface="宋体" panose="02010600030101010101" pitchFamily="2" charset="-122"/>
              </a:rPr>
              <a:t>去掉分配给平衡处理机的模块；</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en-US" altLang="zh-CN" sz="2000" b="1" dirty="0">
                <a:latin typeface="宋体" panose="02010600030101010101" pitchFamily="2" charset="-122"/>
                <a:ea typeface="宋体" panose="02010600030101010101" pitchFamily="2" charset="-122"/>
              </a:rPr>
              <a:t>(2) </a:t>
            </a:r>
            <a:r>
              <a:rPr lang="zh-CN" altLang="en-US" sz="2000" b="1" dirty="0">
                <a:latin typeface="宋体" panose="02010600030101010101" pitchFamily="2" charset="-122"/>
                <a:ea typeface="宋体" panose="02010600030101010101" pitchFamily="2" charset="-122"/>
              </a:rPr>
              <a:t>将轻载处理机的模块组合成一个模块表示（</a:t>
            </a:r>
            <a:r>
              <a:rPr lang="zh-CN" altLang="en-US" sz="2000" b="1" i="1" dirty="0">
                <a:latin typeface="宋体" panose="02010600030101010101" pitchFamily="2" charset="-122"/>
                <a:ea typeface="宋体" panose="02010600030101010101" pitchFamily="2" charset="-122"/>
              </a:rPr>
              <a:t>不再被分开</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en-US" altLang="zh-CN" sz="2000" b="1" dirty="0">
                <a:latin typeface="宋体" panose="02010600030101010101" pitchFamily="2" charset="-122"/>
                <a:ea typeface="宋体" panose="02010600030101010101" pitchFamily="2" charset="-122"/>
              </a:rPr>
              <a:t>(3) </a:t>
            </a:r>
            <a:r>
              <a:rPr lang="zh-CN" altLang="en-US" sz="2000" b="1" dirty="0">
                <a:latin typeface="宋体" panose="02010600030101010101" pitchFamily="2" charset="-122"/>
                <a:ea typeface="宋体" panose="02010600030101010101" pitchFamily="2" charset="-122"/>
              </a:rPr>
              <a:t>去掉超载处理机的附属模块到轻载处理机的边</a:t>
            </a:r>
            <a:r>
              <a:rPr lang="zh-CN" altLang="en-US" sz="2000" b="1" i="1" dirty="0">
                <a:latin typeface="宋体" panose="02010600030101010101" pitchFamily="2" charset="-122"/>
                <a:ea typeface="宋体" panose="02010600030101010101" pitchFamily="2" charset="-122"/>
              </a:rPr>
              <a:t>（必须分配给该处理机）</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en-US" altLang="zh-CN" sz="2000" b="1" dirty="0">
                <a:latin typeface="宋体" panose="02010600030101010101" pitchFamily="2" charset="-122"/>
                <a:ea typeface="宋体" panose="02010600030101010101" pitchFamily="2" charset="-122"/>
              </a:rPr>
              <a:t>(4) </a:t>
            </a:r>
            <a:r>
              <a:rPr lang="zh-CN" altLang="en-US" sz="2000" b="1" dirty="0">
                <a:latin typeface="宋体" panose="02010600030101010101" pitchFamily="2" charset="-122"/>
                <a:ea typeface="宋体" panose="02010600030101010101" pitchFamily="2" charset="-122"/>
              </a:rPr>
              <a:t>去掉超载处理机上与轻载机上某个模块互斥的模块到轻载机的边</a:t>
            </a:r>
            <a:r>
              <a:rPr lang="zh-CN" altLang="en-US" sz="2000" b="1" i="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互斥</a:t>
            </a:r>
            <a:r>
              <a:rPr lang="zh-CN" altLang="en-US" sz="2000" b="1" i="1" dirty="0">
                <a:latin typeface="宋体" panose="02010600030101010101" pitchFamily="2" charset="-122"/>
                <a:ea typeface="宋体" panose="02010600030101010101" pitchFamily="2" charset="-122"/>
              </a:rPr>
              <a:t>模块不能放到一起）</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a:p>
            <a:pPr marL="355600" lvl="0" indent="-355600" algn="l" eaLnBrk="1" hangingPunct="1">
              <a:lnSpc>
                <a:spcPct val="150000"/>
              </a:lnSpc>
              <a:spcBef>
                <a:spcPct val="50000"/>
              </a:spcBef>
              <a:buClrTx/>
              <a:buNone/>
            </a:pPr>
            <a:r>
              <a:rPr lang="en-US" altLang="zh-CN" sz="2000" b="1" dirty="0">
                <a:latin typeface="宋体" panose="02010600030101010101" pitchFamily="2" charset="-122"/>
                <a:ea typeface="宋体" panose="02010600030101010101" pitchFamily="2" charset="-122"/>
              </a:rPr>
              <a:t>(5) </a:t>
            </a:r>
            <a:r>
              <a:rPr lang="zh-CN" altLang="en-US" sz="2000" b="1" dirty="0">
                <a:latin typeface="宋体" panose="02010600030101010101" pitchFamily="2" charset="-122"/>
                <a:ea typeface="宋体" panose="02010600030101010101" pitchFamily="2" charset="-122"/>
              </a:rPr>
              <a:t>对超载机</a:t>
            </a:r>
            <a:r>
              <a:rPr lang="en-US" altLang="zh-CN" sz="2000" b="1" dirty="0">
                <a:latin typeface="宋体" panose="02010600030101010101" pitchFamily="2" charset="-122"/>
                <a:ea typeface="宋体" panose="02010600030101010101" pitchFamily="2" charset="-122"/>
              </a:rPr>
              <a:t>Pk</a:t>
            </a:r>
            <a:r>
              <a:rPr lang="zh-CN" altLang="en-US" sz="2000" b="1" dirty="0">
                <a:latin typeface="宋体" panose="02010600030101010101" pitchFamily="2" charset="-122"/>
                <a:ea typeface="宋体" panose="02010600030101010101" pitchFamily="2" charset="-122"/>
              </a:rPr>
              <a:t>的各模块到轻载机</a:t>
            </a:r>
            <a:r>
              <a:rPr lang="en-US" altLang="zh-CN" sz="2000" b="1" dirty="0">
                <a:latin typeface="宋体" panose="02010600030101010101" pitchFamily="2" charset="-122"/>
                <a:ea typeface="宋体" panose="02010600030101010101" pitchFamily="2" charset="-122"/>
              </a:rPr>
              <a:t>Pl</a:t>
            </a:r>
            <a:r>
              <a:rPr lang="zh-CN" altLang="en-US" sz="2000" b="1" dirty="0">
                <a:latin typeface="宋体" panose="02010600030101010101" pitchFamily="2" charset="-122"/>
                <a:ea typeface="宋体" panose="02010600030101010101" pitchFamily="2" charset="-122"/>
              </a:rPr>
              <a:t>的每条边（设有</a:t>
            </a:r>
            <a:r>
              <a:rPr lang="en-US" altLang="zh-CN" sz="2000" b="1" dirty="0">
                <a:latin typeface="宋体" panose="02010600030101010101" pitchFamily="2" charset="-122"/>
                <a:ea typeface="宋体" panose="02010600030101010101" pitchFamily="2" charset="-122"/>
              </a:rPr>
              <a:t>x</a:t>
            </a:r>
            <a:r>
              <a:rPr lang="zh-CN" altLang="en-US" sz="2000" b="1" dirty="0">
                <a:latin typeface="宋体" panose="02010600030101010101" pitchFamily="2" charset="-122"/>
                <a:ea typeface="宋体" panose="02010600030101010101" pitchFamily="2" charset="-122"/>
              </a:rPr>
              <a:t>条）增加权值</a:t>
            </a:r>
            <a:r>
              <a:rPr lang="zh-CN" altLang="en-US" sz="2000" b="1" i="1" dirty="0">
                <a:latin typeface="宋体" panose="02010600030101010101" pitchFamily="2" charset="-122"/>
                <a:ea typeface="宋体" panose="02010600030101010101" pitchFamily="2" charset="-122"/>
              </a:rPr>
              <a:t>（增加分配给轻载机的机会）</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0" y="0"/>
            <a:ext cx="9144000" cy="796925"/>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70659"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60" name="Rectangle 4"/>
          <p:cNvSpPr/>
          <p:nvPr/>
        </p:nvSpPr>
        <p:spPr>
          <a:xfrm>
            <a:off x="219075" y="733425"/>
            <a:ext cx="8739188" cy="2085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609600" lvl="0" indent="-609600" algn="l" eaLnBrk="1" hangingPunct="1">
              <a:lnSpc>
                <a:spcPct val="60000"/>
              </a:lnSpc>
              <a:spcBef>
                <a:spcPct val="50000"/>
              </a:spcBef>
              <a:buClrTx/>
              <a:buNone/>
            </a:pPr>
            <a:r>
              <a:rPr lang="zh-CN" altLang="en-US" sz="1800" b="1" dirty="0">
                <a:ea typeface="宋体" panose="02010600030101010101" pitchFamily="2" charset="-122"/>
              </a:rPr>
              <a:t>例：有</a:t>
            </a:r>
            <a:r>
              <a:rPr lang="en-US" altLang="zh-CN" sz="1800" b="1" dirty="0">
                <a:ea typeface="宋体" panose="02010600030101010101" pitchFamily="2" charset="-122"/>
              </a:rPr>
              <a:t>3</a:t>
            </a:r>
            <a:r>
              <a:rPr lang="zh-CN" altLang="en-US" sz="1800" b="1" dirty="0">
                <a:ea typeface="宋体" panose="02010600030101010101" pitchFamily="2" charset="-122"/>
              </a:rPr>
              <a:t>台处理机：按照“合一</a:t>
            </a:r>
            <a:r>
              <a:rPr lang="en-US" altLang="zh-CN" sz="1800" b="1" dirty="0">
                <a:ea typeface="宋体" panose="02010600030101010101" pitchFamily="2" charset="-122"/>
              </a:rPr>
              <a:t>——</a:t>
            </a:r>
            <a:r>
              <a:rPr lang="zh-CN" altLang="en-US" sz="1800" b="1" dirty="0">
                <a:ea typeface="宋体" panose="02010600030101010101" pitchFamily="2" charset="-122"/>
              </a:rPr>
              <a:t>阈值”方法</a:t>
            </a:r>
            <a:r>
              <a:rPr lang="en-US" altLang="zh-CN" sz="1800" b="1" dirty="0">
                <a:ea typeface="宋体" panose="02010600030101010101" pitchFamily="2" charset="-122"/>
              </a:rPr>
              <a:t>: </a:t>
            </a:r>
            <a:endParaRPr lang="en-US" altLang="zh-CN" sz="1800" b="1" dirty="0">
              <a:ea typeface="宋体" panose="02010600030101010101" pitchFamily="2" charset="-122"/>
            </a:endParaRPr>
          </a:p>
          <a:p>
            <a:pPr marL="609600" lvl="0" indent="-609600" algn="l" eaLnBrk="1" hangingPunct="1">
              <a:lnSpc>
                <a:spcPct val="60000"/>
              </a:lnSpc>
              <a:spcBef>
                <a:spcPct val="50000"/>
              </a:spcBef>
              <a:buClrTx/>
              <a:buNone/>
            </a:pPr>
            <a:r>
              <a:rPr lang="en-US" altLang="zh-CN" sz="1800" b="1" dirty="0">
                <a:ea typeface="宋体" panose="02010600030101010101" pitchFamily="2" charset="-122"/>
              </a:rPr>
              <a:t>          </a:t>
            </a:r>
            <a:r>
              <a:rPr lang="en-US" altLang="zh-CN" sz="1800" b="1" dirty="0">
                <a:solidFill>
                  <a:srgbClr val="FF0000"/>
                </a:solidFill>
                <a:ea typeface="宋体" panose="02010600030101010101" pitchFamily="2" charset="-122"/>
              </a:rPr>
              <a:t>P1</a:t>
            </a:r>
            <a:r>
              <a:rPr lang="zh-CN" altLang="en-US" sz="1800" b="1" dirty="0">
                <a:solidFill>
                  <a:srgbClr val="FF0000"/>
                </a:solidFill>
                <a:ea typeface="宋体" panose="02010600030101010101" pitchFamily="2" charset="-122"/>
              </a:rPr>
              <a:t>：</a:t>
            </a:r>
            <a:r>
              <a:rPr lang="en-US" altLang="zh-CN" sz="1800" b="1" dirty="0">
                <a:ea typeface="宋体" panose="02010600030101010101" pitchFamily="2" charset="-122"/>
              </a:rPr>
              <a:t>m1</a:t>
            </a:r>
            <a:r>
              <a:rPr lang="zh-CN" altLang="en-US" sz="1800" b="1" dirty="0">
                <a:ea typeface="宋体" panose="02010600030101010101" pitchFamily="2" charset="-122"/>
              </a:rPr>
              <a:t>、</a:t>
            </a:r>
            <a:r>
              <a:rPr lang="en-US" altLang="zh-CN" sz="1800" b="1" dirty="0">
                <a:ea typeface="宋体" panose="02010600030101010101" pitchFamily="2" charset="-122"/>
              </a:rPr>
              <a:t>m2</a:t>
            </a:r>
            <a:r>
              <a:rPr lang="zh-CN" altLang="en-US" sz="1800" b="1" dirty="0">
                <a:ea typeface="宋体" panose="02010600030101010101" pitchFamily="2" charset="-122"/>
              </a:rPr>
              <a:t>，为平衡的</a:t>
            </a:r>
            <a:endParaRPr lang="zh-CN" altLang="en-US" sz="1800" b="1" dirty="0">
              <a:ea typeface="宋体" panose="02010600030101010101" pitchFamily="2" charset="-122"/>
            </a:endParaRPr>
          </a:p>
          <a:p>
            <a:pPr marL="609600" lvl="0" indent="-609600" algn="l" eaLnBrk="1" hangingPunct="1">
              <a:lnSpc>
                <a:spcPct val="60000"/>
              </a:lnSpc>
              <a:spcBef>
                <a:spcPct val="50000"/>
              </a:spcBef>
              <a:buClrTx/>
              <a:buNone/>
            </a:pPr>
            <a:r>
              <a:rPr lang="en-US" altLang="zh-CN" sz="1800" b="1" dirty="0">
                <a:solidFill>
                  <a:srgbClr val="FF0000"/>
                </a:solidFill>
                <a:ea typeface="宋体" panose="02010600030101010101" pitchFamily="2" charset="-122"/>
              </a:rPr>
              <a:t>          P2</a:t>
            </a:r>
            <a:r>
              <a:rPr lang="zh-CN" altLang="en-US" sz="1800" b="1" dirty="0">
                <a:solidFill>
                  <a:srgbClr val="FF0000"/>
                </a:solidFill>
                <a:ea typeface="宋体" panose="02010600030101010101" pitchFamily="2" charset="-122"/>
              </a:rPr>
              <a:t>：</a:t>
            </a:r>
            <a:r>
              <a:rPr lang="en-US" altLang="zh-CN" sz="1800" b="1" dirty="0">
                <a:ea typeface="宋体" panose="02010600030101010101" pitchFamily="2" charset="-122"/>
              </a:rPr>
              <a:t>m3</a:t>
            </a:r>
            <a:r>
              <a:rPr lang="zh-CN" altLang="en-US" sz="1800" b="1" dirty="0">
                <a:ea typeface="宋体" panose="02010600030101010101" pitchFamily="2" charset="-122"/>
              </a:rPr>
              <a:t>、</a:t>
            </a:r>
            <a:r>
              <a:rPr lang="en-US" altLang="zh-CN" sz="1800" b="1" dirty="0">
                <a:ea typeface="宋体" panose="02010600030101010101" pitchFamily="2" charset="-122"/>
              </a:rPr>
              <a:t>m4</a:t>
            </a:r>
            <a:r>
              <a:rPr lang="zh-CN" altLang="en-US" sz="1800" b="1" dirty="0">
                <a:ea typeface="宋体" panose="02010600030101010101" pitchFamily="2" charset="-122"/>
              </a:rPr>
              <a:t>，为轻载的</a:t>
            </a:r>
            <a:endParaRPr lang="en-US" altLang="zh-CN" sz="1800" b="1" dirty="0">
              <a:ea typeface="宋体" panose="02010600030101010101" pitchFamily="2" charset="-122"/>
            </a:endParaRPr>
          </a:p>
          <a:p>
            <a:pPr marL="609600" lvl="0" indent="-609600" algn="l" eaLnBrk="1" hangingPunct="1">
              <a:lnSpc>
                <a:spcPct val="60000"/>
              </a:lnSpc>
              <a:spcBef>
                <a:spcPct val="50000"/>
              </a:spcBef>
              <a:buClrTx/>
              <a:buNone/>
            </a:pPr>
            <a:r>
              <a:rPr lang="en-US" altLang="zh-CN" sz="1800" b="1" dirty="0">
                <a:ea typeface="宋体" panose="02010600030101010101" pitchFamily="2" charset="-122"/>
              </a:rPr>
              <a:t>          </a:t>
            </a:r>
            <a:r>
              <a:rPr lang="en-US" altLang="zh-CN" sz="1800" b="1" dirty="0">
                <a:solidFill>
                  <a:srgbClr val="FF0000"/>
                </a:solidFill>
                <a:ea typeface="宋体" panose="02010600030101010101" pitchFamily="2" charset="-122"/>
              </a:rPr>
              <a:t>P3</a:t>
            </a:r>
            <a:r>
              <a:rPr lang="zh-CN" altLang="en-US" sz="1800" b="1" dirty="0">
                <a:solidFill>
                  <a:srgbClr val="FF0000"/>
                </a:solidFill>
                <a:ea typeface="宋体" panose="02010600030101010101" pitchFamily="2" charset="-122"/>
              </a:rPr>
              <a:t>：</a:t>
            </a:r>
            <a:r>
              <a:rPr lang="en-US" altLang="zh-CN" sz="1800" b="1" dirty="0">
                <a:ea typeface="宋体" panose="02010600030101010101" pitchFamily="2" charset="-122"/>
              </a:rPr>
              <a:t>m5</a:t>
            </a:r>
            <a:r>
              <a:rPr lang="zh-CN" altLang="en-US" sz="1800" b="1" dirty="0">
                <a:ea typeface="宋体" panose="02010600030101010101" pitchFamily="2" charset="-122"/>
              </a:rPr>
              <a:t>、</a:t>
            </a:r>
            <a:r>
              <a:rPr lang="en-US" altLang="zh-CN" sz="1800" b="1" dirty="0">
                <a:ea typeface="宋体" panose="02010600030101010101" pitchFamily="2" charset="-122"/>
              </a:rPr>
              <a:t>m6</a:t>
            </a:r>
            <a:r>
              <a:rPr lang="zh-CN" altLang="en-US" sz="1800" b="1" dirty="0">
                <a:ea typeface="宋体" panose="02010600030101010101" pitchFamily="2" charset="-122"/>
              </a:rPr>
              <a:t>、</a:t>
            </a:r>
            <a:r>
              <a:rPr lang="en-US" altLang="zh-CN" sz="1800" b="1" dirty="0">
                <a:ea typeface="宋体" panose="02010600030101010101" pitchFamily="2" charset="-122"/>
              </a:rPr>
              <a:t>m7</a:t>
            </a:r>
            <a:r>
              <a:rPr lang="zh-CN" altLang="en-US" sz="1800" b="1" dirty="0">
                <a:ea typeface="宋体" panose="02010600030101010101" pitchFamily="2" charset="-122"/>
              </a:rPr>
              <a:t>、</a:t>
            </a:r>
            <a:r>
              <a:rPr lang="en-US" altLang="zh-CN" sz="1800" b="1" dirty="0">
                <a:ea typeface="宋体" panose="02010600030101010101" pitchFamily="2" charset="-122"/>
              </a:rPr>
              <a:t>m8</a:t>
            </a:r>
            <a:r>
              <a:rPr lang="zh-CN" altLang="en-US" sz="1800" b="1" dirty="0">
                <a:ea typeface="宋体" panose="02010600030101010101" pitchFamily="2" charset="-122"/>
              </a:rPr>
              <a:t>，为重载的</a:t>
            </a:r>
            <a:endParaRPr lang="en-US" altLang="zh-CN" sz="1800" b="1" dirty="0">
              <a:ea typeface="宋体" panose="02010600030101010101" pitchFamily="2" charset="-122"/>
            </a:endParaRPr>
          </a:p>
          <a:p>
            <a:pPr marL="609600" lvl="0" indent="-609600" algn="l" eaLnBrk="1" hangingPunct="1">
              <a:lnSpc>
                <a:spcPct val="60000"/>
              </a:lnSpc>
              <a:spcBef>
                <a:spcPct val="50000"/>
              </a:spcBef>
              <a:buClrTx/>
              <a:buNone/>
            </a:pPr>
            <a:r>
              <a:rPr lang="en-US" altLang="zh-CN" sz="1800" b="1" dirty="0">
                <a:ea typeface="宋体" panose="02010600030101010101" pitchFamily="2" charset="-122"/>
              </a:rPr>
              <a:t>          </a:t>
            </a:r>
            <a:r>
              <a:rPr lang="en-US" altLang="zh-CN" sz="1800" b="1" dirty="0">
                <a:solidFill>
                  <a:srgbClr val="0070C0"/>
                </a:solidFill>
                <a:ea typeface="宋体" panose="02010600030101010101" pitchFamily="2" charset="-122"/>
              </a:rPr>
              <a:t>m5</a:t>
            </a:r>
            <a:r>
              <a:rPr lang="zh-CN" altLang="en-US" sz="1800" b="1" dirty="0">
                <a:ea typeface="宋体" panose="02010600030101010101" pitchFamily="2" charset="-122"/>
              </a:rPr>
              <a:t>为</a:t>
            </a:r>
            <a:r>
              <a:rPr lang="en-US" altLang="zh-CN" sz="1800" b="1" dirty="0">
                <a:solidFill>
                  <a:srgbClr val="FF0000"/>
                </a:solidFill>
                <a:ea typeface="宋体" panose="02010600030101010101" pitchFamily="2" charset="-122"/>
              </a:rPr>
              <a:t>P3</a:t>
            </a:r>
            <a:r>
              <a:rPr lang="zh-CN" altLang="en-US" sz="1800" b="1" dirty="0">
                <a:ea typeface="宋体" panose="02010600030101010101" pitchFamily="2" charset="-122"/>
              </a:rPr>
              <a:t>的附属</a:t>
            </a:r>
            <a:endParaRPr lang="zh-CN" altLang="en-US" sz="1800" b="1" dirty="0">
              <a:ea typeface="宋体" panose="02010600030101010101" pitchFamily="2" charset="-122"/>
            </a:endParaRPr>
          </a:p>
          <a:p>
            <a:pPr marL="609600" lvl="0" indent="-609600" algn="l" eaLnBrk="1" hangingPunct="1">
              <a:lnSpc>
                <a:spcPct val="60000"/>
              </a:lnSpc>
              <a:spcBef>
                <a:spcPct val="50000"/>
              </a:spcBef>
              <a:buClrTx/>
              <a:buNone/>
            </a:pPr>
            <a:r>
              <a:rPr lang="en-US" altLang="zh-CN" sz="1800" b="1" dirty="0">
                <a:ea typeface="宋体" panose="02010600030101010101" pitchFamily="2" charset="-122"/>
              </a:rPr>
              <a:t>          </a:t>
            </a:r>
            <a:r>
              <a:rPr lang="en-US" altLang="zh-CN" sz="1800" b="1" dirty="0">
                <a:solidFill>
                  <a:srgbClr val="C00000"/>
                </a:solidFill>
                <a:ea typeface="宋体" panose="02010600030101010101" pitchFamily="2" charset="-122"/>
              </a:rPr>
              <a:t>m4</a:t>
            </a:r>
            <a:r>
              <a:rPr lang="zh-CN" altLang="en-US" sz="1800" b="1" dirty="0">
                <a:solidFill>
                  <a:srgbClr val="C00000"/>
                </a:solidFill>
                <a:ea typeface="宋体" panose="02010600030101010101" pitchFamily="2" charset="-122"/>
              </a:rPr>
              <a:t>、</a:t>
            </a:r>
            <a:r>
              <a:rPr lang="en-US" altLang="zh-CN" sz="1800" b="1" dirty="0">
                <a:solidFill>
                  <a:srgbClr val="C00000"/>
                </a:solidFill>
                <a:ea typeface="宋体" panose="02010600030101010101" pitchFamily="2" charset="-122"/>
              </a:rPr>
              <a:t>m6</a:t>
            </a:r>
            <a:r>
              <a:rPr lang="zh-CN" altLang="en-US" sz="1800" b="1" dirty="0">
                <a:ea typeface="宋体" panose="02010600030101010101" pitchFamily="2" charset="-122"/>
              </a:rPr>
              <a:t>互斥</a:t>
            </a:r>
            <a:endParaRPr lang="zh-CN" altLang="en-US" sz="1800" b="1" dirty="0">
              <a:ea typeface="宋体" panose="02010600030101010101" pitchFamily="2" charset="-122"/>
            </a:endParaRPr>
          </a:p>
          <a:p>
            <a:pPr marL="609600" lvl="0" indent="-609600" algn="l" eaLnBrk="1" hangingPunct="1">
              <a:lnSpc>
                <a:spcPct val="60000"/>
              </a:lnSpc>
              <a:spcBef>
                <a:spcPct val="50000"/>
              </a:spcBef>
              <a:buClrTx/>
              <a:buNone/>
            </a:pPr>
            <a:r>
              <a:rPr lang="zh-CN" altLang="en-US" sz="1800" b="1" dirty="0">
                <a:ea typeface="宋体" panose="02010600030101010101" pitchFamily="2" charset="-122"/>
              </a:rPr>
              <a:t>假设此时已经获得的初始分配情况如图</a:t>
            </a:r>
            <a:r>
              <a:rPr lang="en-US" altLang="zh-CN" sz="1800" b="1" dirty="0">
                <a:ea typeface="宋体" panose="02010600030101010101" pitchFamily="2" charset="-122"/>
              </a:rPr>
              <a:t>1</a:t>
            </a:r>
            <a:r>
              <a:rPr lang="zh-CN" altLang="en-US" sz="1800" b="1" dirty="0">
                <a:ea typeface="宋体" panose="02010600030101010101" pitchFamily="2" charset="-122"/>
              </a:rPr>
              <a:t>所示：</a:t>
            </a:r>
            <a:r>
              <a:rPr lang="zh-CN" altLang="en-US" sz="1800" dirty="0">
                <a:ea typeface="宋体" panose="02010600030101010101" pitchFamily="2" charset="-122"/>
              </a:rPr>
              <a:t> </a:t>
            </a:r>
            <a:endParaRPr lang="en-US" altLang="zh-CN" sz="1800" dirty="0">
              <a:ea typeface="宋体" panose="02010600030101010101" pitchFamily="2" charset="-122"/>
            </a:endParaRPr>
          </a:p>
        </p:txBody>
      </p:sp>
      <p:sp>
        <p:nvSpPr>
          <p:cNvPr id="70661" name="Text Box 59"/>
          <p:cNvSpPr txBox="1"/>
          <p:nvPr/>
        </p:nvSpPr>
        <p:spPr>
          <a:xfrm>
            <a:off x="184150" y="6042025"/>
            <a:ext cx="790575" cy="396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2000" dirty="0">
                <a:ea typeface="宋体" panose="02010600030101010101" pitchFamily="2" charset="-122"/>
              </a:rPr>
              <a:t>图</a:t>
            </a:r>
            <a:r>
              <a:rPr lang="en-US" altLang="zh-CN" sz="2000" dirty="0">
                <a:ea typeface="宋体" panose="02010600030101010101" pitchFamily="2" charset="-122"/>
              </a:rPr>
              <a:t>1</a:t>
            </a:r>
            <a:endParaRPr lang="en-US" altLang="zh-CN" sz="2000" dirty="0">
              <a:ea typeface="宋体" panose="02010600030101010101" pitchFamily="2" charset="-122"/>
            </a:endParaRPr>
          </a:p>
        </p:txBody>
      </p:sp>
      <p:sp>
        <p:nvSpPr>
          <p:cNvPr id="70662" name="椭圆 58"/>
          <p:cNvSpPr/>
          <p:nvPr/>
        </p:nvSpPr>
        <p:spPr>
          <a:xfrm>
            <a:off x="5135563" y="6262688"/>
            <a:ext cx="192087" cy="388937"/>
          </a:xfrm>
          <a:prstGeom prst="ellipse">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63" name="Oval 23"/>
          <p:cNvSpPr/>
          <p:nvPr/>
        </p:nvSpPr>
        <p:spPr>
          <a:xfrm>
            <a:off x="3227388" y="6062663"/>
            <a:ext cx="247650" cy="188912"/>
          </a:xfrm>
          <a:prstGeom prst="ellipse">
            <a:avLst/>
          </a:prstGeom>
          <a:solidFill>
            <a:srgbClr val="C00000"/>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64" name="任意多边形 62"/>
          <p:cNvSpPr/>
          <p:nvPr/>
        </p:nvSpPr>
        <p:spPr>
          <a:xfrm>
            <a:off x="825500" y="4402138"/>
            <a:ext cx="4926013" cy="2381250"/>
          </a:xfrm>
          <a:custGeom>
            <a:avLst/>
            <a:gdLst/>
            <a:ahLst/>
            <a:cxnLst>
              <a:cxn ang="0">
                <a:pos x="247983" y="127279"/>
              </a:cxn>
              <a:cxn ang="0">
                <a:pos x="693550" y="10607"/>
              </a:cxn>
              <a:cxn ang="0">
                <a:pos x="1011825" y="148492"/>
              </a:cxn>
              <a:cxn ang="0">
                <a:pos x="1160347" y="233355"/>
              </a:cxn>
              <a:cxn ang="0">
                <a:pos x="1489224" y="403062"/>
              </a:cxn>
              <a:cxn ang="0">
                <a:pos x="1627143" y="487915"/>
              </a:cxn>
              <a:cxn ang="0">
                <a:pos x="1871151" y="615196"/>
              </a:cxn>
              <a:cxn ang="0">
                <a:pos x="2253071" y="753092"/>
              </a:cxn>
              <a:cxn ang="0">
                <a:pos x="2592558" y="848551"/>
              </a:cxn>
              <a:cxn ang="0">
                <a:pos x="3292749" y="912190"/>
              </a:cxn>
              <a:cxn ang="0">
                <a:pos x="3600409" y="965223"/>
              </a:cxn>
              <a:cxn ang="0">
                <a:pos x="3876241" y="1071294"/>
              </a:cxn>
              <a:cxn ang="0">
                <a:pos x="4003550" y="1145544"/>
              </a:cxn>
              <a:cxn ang="0">
                <a:pos x="4088421" y="1198580"/>
              </a:cxn>
              <a:cxn ang="0">
                <a:pos x="4226337" y="1283433"/>
              </a:cxn>
              <a:cxn ang="0">
                <a:pos x="4512780" y="1400106"/>
              </a:cxn>
              <a:cxn ang="0">
                <a:pos x="4608261" y="1442534"/>
              </a:cxn>
              <a:cxn ang="0">
                <a:pos x="4799222" y="1580425"/>
              </a:cxn>
              <a:cxn ang="0">
                <a:pos x="4884093" y="1728921"/>
              </a:cxn>
              <a:cxn ang="0">
                <a:pos x="4915920" y="1919845"/>
              </a:cxn>
              <a:cxn ang="0">
                <a:pos x="4820439" y="2121376"/>
              </a:cxn>
              <a:cxn ang="0">
                <a:pos x="4555215" y="2174409"/>
              </a:cxn>
              <a:cxn ang="0">
                <a:pos x="4215728" y="2238051"/>
              </a:cxn>
              <a:cxn ang="0">
                <a:pos x="3939896" y="2322906"/>
              </a:cxn>
              <a:cxn ang="0">
                <a:pos x="3801979" y="2365334"/>
              </a:cxn>
              <a:cxn ang="0">
                <a:pos x="2263680" y="2365334"/>
              </a:cxn>
              <a:cxn ang="0">
                <a:pos x="1765059" y="2333513"/>
              </a:cxn>
              <a:cxn ang="0">
                <a:pos x="1563489" y="2259265"/>
              </a:cxn>
              <a:cxn ang="0">
                <a:pos x="1266435" y="2142590"/>
              </a:cxn>
              <a:cxn ang="0">
                <a:pos x="948172" y="1919845"/>
              </a:cxn>
              <a:cxn ang="0">
                <a:pos x="704163" y="1644068"/>
              </a:cxn>
              <a:cxn ang="0">
                <a:pos x="619291" y="1506176"/>
              </a:cxn>
              <a:cxn ang="0">
                <a:pos x="502593" y="1325859"/>
              </a:cxn>
              <a:cxn ang="0">
                <a:pos x="428334" y="1219793"/>
              </a:cxn>
              <a:cxn ang="0">
                <a:pos x="343455" y="1060687"/>
              </a:cxn>
              <a:cxn ang="0">
                <a:pos x="99453" y="763698"/>
              </a:cxn>
              <a:cxn ang="0">
                <a:pos x="46407" y="668234"/>
              </a:cxn>
              <a:cxn ang="0">
                <a:pos x="3968" y="519734"/>
              </a:cxn>
              <a:cxn ang="0">
                <a:pos x="67620" y="243964"/>
              </a:cxn>
              <a:cxn ang="0">
                <a:pos x="110059" y="180312"/>
              </a:cxn>
              <a:cxn ang="0">
                <a:pos x="226757" y="169705"/>
              </a:cxn>
            </a:cxnLst>
            <a:pathLst>
              <a:path w="4926855" h="2381693">
                <a:moveTo>
                  <a:pt x="227264" y="170121"/>
                </a:moveTo>
                <a:cubicBezTo>
                  <a:pt x="241441" y="166577"/>
                  <a:pt x="236882" y="138342"/>
                  <a:pt x="248529" y="127591"/>
                </a:cubicBezTo>
                <a:cubicBezTo>
                  <a:pt x="346360" y="37286"/>
                  <a:pt x="365515" y="42520"/>
                  <a:pt x="482446" y="0"/>
                </a:cubicBezTo>
                <a:cubicBezTo>
                  <a:pt x="553330" y="3544"/>
                  <a:pt x="624790" y="936"/>
                  <a:pt x="695097" y="10633"/>
                </a:cubicBezTo>
                <a:cubicBezTo>
                  <a:pt x="776017" y="21794"/>
                  <a:pt x="836429" y="72364"/>
                  <a:pt x="907748" y="106326"/>
                </a:cubicBezTo>
                <a:cubicBezTo>
                  <a:pt x="942212" y="122738"/>
                  <a:pt x="980338" y="130996"/>
                  <a:pt x="1014074" y="148856"/>
                </a:cubicBezTo>
                <a:cubicBezTo>
                  <a:pt x="1041019" y="163121"/>
                  <a:pt x="1062030" y="186893"/>
                  <a:pt x="1088501" y="202019"/>
                </a:cubicBezTo>
                <a:cubicBezTo>
                  <a:pt x="1111936" y="215411"/>
                  <a:pt x="1139494" y="220524"/>
                  <a:pt x="1162929" y="233916"/>
                </a:cubicBezTo>
                <a:cubicBezTo>
                  <a:pt x="1189400" y="249042"/>
                  <a:pt x="1211078" y="271621"/>
                  <a:pt x="1237357" y="287079"/>
                </a:cubicBezTo>
                <a:cubicBezTo>
                  <a:pt x="1318110" y="334581"/>
                  <a:pt x="1407880" y="365235"/>
                  <a:pt x="1492539" y="404037"/>
                </a:cubicBezTo>
                <a:cubicBezTo>
                  <a:pt x="1528561" y="420547"/>
                  <a:pt x="1570845" y="429181"/>
                  <a:pt x="1598864" y="457200"/>
                </a:cubicBezTo>
                <a:cubicBezTo>
                  <a:pt x="1609497" y="467833"/>
                  <a:pt x="1618893" y="479866"/>
                  <a:pt x="1630762" y="489098"/>
                </a:cubicBezTo>
                <a:cubicBezTo>
                  <a:pt x="1650936" y="504789"/>
                  <a:pt x="1672791" y="518233"/>
                  <a:pt x="1694557" y="531628"/>
                </a:cubicBezTo>
                <a:cubicBezTo>
                  <a:pt x="1765574" y="575331"/>
                  <a:pt x="1791287" y="587279"/>
                  <a:pt x="1875311" y="616688"/>
                </a:cubicBezTo>
                <a:cubicBezTo>
                  <a:pt x="2010369" y="663958"/>
                  <a:pt x="1945155" y="634103"/>
                  <a:pt x="2066697" y="669851"/>
                </a:cubicBezTo>
                <a:cubicBezTo>
                  <a:pt x="2391128" y="765272"/>
                  <a:pt x="1922327" y="629004"/>
                  <a:pt x="2258083" y="754912"/>
                </a:cubicBezTo>
                <a:cubicBezTo>
                  <a:pt x="2281549" y="763712"/>
                  <a:pt x="2307702" y="762000"/>
                  <a:pt x="2332511" y="765544"/>
                </a:cubicBezTo>
                <a:cubicBezTo>
                  <a:pt x="2435218" y="802892"/>
                  <a:pt x="2487639" y="825062"/>
                  <a:pt x="2598325" y="850605"/>
                </a:cubicBezTo>
                <a:cubicBezTo>
                  <a:pt x="2640337" y="860300"/>
                  <a:pt x="2683257" y="865597"/>
                  <a:pt x="2725915" y="871870"/>
                </a:cubicBezTo>
                <a:cubicBezTo>
                  <a:pt x="3040277" y="918100"/>
                  <a:pt x="2927294" y="902751"/>
                  <a:pt x="3300074" y="914400"/>
                </a:cubicBezTo>
                <a:lnTo>
                  <a:pt x="3480827" y="946298"/>
                </a:lnTo>
                <a:cubicBezTo>
                  <a:pt x="3639090" y="972675"/>
                  <a:pt x="3483127" y="942504"/>
                  <a:pt x="3608418" y="967563"/>
                </a:cubicBezTo>
                <a:cubicBezTo>
                  <a:pt x="3664055" y="995382"/>
                  <a:pt x="3687031" y="1008431"/>
                  <a:pt x="3746641" y="1031358"/>
                </a:cubicBezTo>
                <a:cubicBezTo>
                  <a:pt x="3795499" y="1050149"/>
                  <a:pt x="3834254" y="1058705"/>
                  <a:pt x="3884864" y="1073888"/>
                </a:cubicBezTo>
                <a:cubicBezTo>
                  <a:pt x="3895599" y="1077109"/>
                  <a:pt x="3906129" y="1080977"/>
                  <a:pt x="3916762" y="1084521"/>
                </a:cubicBezTo>
                <a:cubicBezTo>
                  <a:pt x="3962430" y="1118772"/>
                  <a:pt x="3959717" y="1119018"/>
                  <a:pt x="4012455" y="1148316"/>
                </a:cubicBezTo>
                <a:cubicBezTo>
                  <a:pt x="4026310" y="1156013"/>
                  <a:pt x="4041544" y="1161180"/>
                  <a:pt x="4054985" y="1169581"/>
                </a:cubicBezTo>
                <a:cubicBezTo>
                  <a:pt x="4070012" y="1178973"/>
                  <a:pt x="4082997" y="1191317"/>
                  <a:pt x="4097515" y="1201479"/>
                </a:cubicBezTo>
                <a:cubicBezTo>
                  <a:pt x="4118453" y="1216135"/>
                  <a:pt x="4139545" y="1230614"/>
                  <a:pt x="4161311" y="1244009"/>
                </a:cubicBezTo>
                <a:cubicBezTo>
                  <a:pt x="4185647" y="1258985"/>
                  <a:pt x="4211508" y="1271396"/>
                  <a:pt x="4235739" y="1286540"/>
                </a:cubicBezTo>
                <a:cubicBezTo>
                  <a:pt x="4268248" y="1306858"/>
                  <a:pt x="4296786" y="1333924"/>
                  <a:pt x="4331432" y="1350335"/>
                </a:cubicBezTo>
                <a:cubicBezTo>
                  <a:pt x="4361460" y="1364559"/>
                  <a:pt x="4484234" y="1393852"/>
                  <a:pt x="4522818" y="1403498"/>
                </a:cubicBezTo>
                <a:cubicBezTo>
                  <a:pt x="4536995" y="1410586"/>
                  <a:pt x="4550864" y="1418326"/>
                  <a:pt x="4565348" y="1424763"/>
                </a:cubicBezTo>
                <a:cubicBezTo>
                  <a:pt x="4582789" y="1432515"/>
                  <a:pt x="4602225" y="1436076"/>
                  <a:pt x="4618511" y="1446028"/>
                </a:cubicBezTo>
                <a:cubicBezTo>
                  <a:pt x="4666328" y="1475249"/>
                  <a:pt x="4712975" y="1506714"/>
                  <a:pt x="4756734" y="1541721"/>
                </a:cubicBezTo>
                <a:cubicBezTo>
                  <a:pt x="4774455" y="1555898"/>
                  <a:pt x="4793105" y="1568985"/>
                  <a:pt x="4809897" y="1584251"/>
                </a:cubicBezTo>
                <a:cubicBezTo>
                  <a:pt x="4832150" y="1604481"/>
                  <a:pt x="4873692" y="1648047"/>
                  <a:pt x="4873692" y="1648047"/>
                </a:cubicBezTo>
                <a:lnTo>
                  <a:pt x="4894957" y="1733107"/>
                </a:lnTo>
                <a:cubicBezTo>
                  <a:pt x="4898501" y="1747284"/>
                  <a:pt x="4903188" y="1761223"/>
                  <a:pt x="4905590" y="1775637"/>
                </a:cubicBezTo>
                <a:cubicBezTo>
                  <a:pt x="4920919" y="1867618"/>
                  <a:pt x="4913548" y="1818041"/>
                  <a:pt x="4926855" y="1924493"/>
                </a:cubicBezTo>
                <a:cubicBezTo>
                  <a:pt x="4919767" y="1959935"/>
                  <a:pt x="4917619" y="1996736"/>
                  <a:pt x="4905590" y="2030819"/>
                </a:cubicBezTo>
                <a:cubicBezTo>
                  <a:pt x="4878907" y="2106423"/>
                  <a:pt x="4876913" y="2093833"/>
                  <a:pt x="4831162" y="2126512"/>
                </a:cubicBezTo>
                <a:cubicBezTo>
                  <a:pt x="4816742" y="2136812"/>
                  <a:pt x="4806009" y="2154934"/>
                  <a:pt x="4788632" y="2158409"/>
                </a:cubicBezTo>
                <a:cubicBezTo>
                  <a:pt x="4715319" y="2173071"/>
                  <a:pt x="4639776" y="2172586"/>
                  <a:pt x="4565348" y="2179674"/>
                </a:cubicBezTo>
                <a:cubicBezTo>
                  <a:pt x="4331851" y="2238051"/>
                  <a:pt x="4702724" y="2149691"/>
                  <a:pt x="4267636" y="2222205"/>
                </a:cubicBezTo>
                <a:cubicBezTo>
                  <a:pt x="4252002" y="2224811"/>
                  <a:pt x="4239497" y="2236828"/>
                  <a:pt x="4225106" y="2243470"/>
                </a:cubicBezTo>
                <a:cubicBezTo>
                  <a:pt x="4193413" y="2258098"/>
                  <a:pt x="4161946" y="2273348"/>
                  <a:pt x="4129413" y="2286000"/>
                </a:cubicBezTo>
                <a:cubicBezTo>
                  <a:pt x="4032463" y="2323703"/>
                  <a:pt x="4045115" y="2316474"/>
                  <a:pt x="3948660" y="2328530"/>
                </a:cubicBezTo>
                <a:cubicBezTo>
                  <a:pt x="3923851" y="2335618"/>
                  <a:pt x="3898893" y="2342207"/>
                  <a:pt x="3874232" y="2349795"/>
                </a:cubicBezTo>
                <a:cubicBezTo>
                  <a:pt x="3852808" y="2356387"/>
                  <a:pt x="3832182" y="2365624"/>
                  <a:pt x="3810436" y="2371061"/>
                </a:cubicBezTo>
                <a:cubicBezTo>
                  <a:pt x="3789521" y="2376290"/>
                  <a:pt x="3767906" y="2378149"/>
                  <a:pt x="3746641" y="2381693"/>
                </a:cubicBezTo>
                <a:lnTo>
                  <a:pt x="2268715" y="2371061"/>
                </a:lnTo>
                <a:cubicBezTo>
                  <a:pt x="2126912" y="2369477"/>
                  <a:pt x="1984937" y="2369462"/>
                  <a:pt x="1843413" y="2360428"/>
                </a:cubicBezTo>
                <a:cubicBezTo>
                  <a:pt x="1817663" y="2358784"/>
                  <a:pt x="1794017" y="2345421"/>
                  <a:pt x="1768985" y="2339163"/>
                </a:cubicBezTo>
                <a:cubicBezTo>
                  <a:pt x="1737285" y="2331238"/>
                  <a:pt x="1705190" y="2324986"/>
                  <a:pt x="1673292" y="2317898"/>
                </a:cubicBezTo>
                <a:cubicBezTo>
                  <a:pt x="1637850" y="2300177"/>
                  <a:pt x="1603607" y="2279822"/>
                  <a:pt x="1566967" y="2264735"/>
                </a:cubicBezTo>
                <a:cubicBezTo>
                  <a:pt x="1543108" y="2254911"/>
                  <a:pt x="1516319" y="2253483"/>
                  <a:pt x="1492539" y="2243470"/>
                </a:cubicBezTo>
                <a:cubicBezTo>
                  <a:pt x="1192987" y="2117342"/>
                  <a:pt x="1510387" y="2228153"/>
                  <a:pt x="1269255" y="2147777"/>
                </a:cubicBezTo>
                <a:cubicBezTo>
                  <a:pt x="1181742" y="2060264"/>
                  <a:pt x="1238481" y="2113084"/>
                  <a:pt x="1035339" y="1977656"/>
                </a:cubicBezTo>
                <a:cubicBezTo>
                  <a:pt x="1007519" y="1959109"/>
                  <a:pt x="978404" y="1942574"/>
                  <a:pt x="950278" y="1924493"/>
                </a:cubicBezTo>
                <a:cubicBezTo>
                  <a:pt x="928780" y="1910673"/>
                  <a:pt x="886483" y="1881963"/>
                  <a:pt x="886483" y="1881963"/>
                </a:cubicBezTo>
                <a:cubicBezTo>
                  <a:pt x="801110" y="1753902"/>
                  <a:pt x="828715" y="1787431"/>
                  <a:pt x="705729" y="1648047"/>
                </a:cubicBezTo>
                <a:cubicBezTo>
                  <a:pt x="692464" y="1633013"/>
                  <a:pt x="675228" y="1621555"/>
                  <a:pt x="663199" y="1605516"/>
                </a:cubicBezTo>
                <a:cubicBezTo>
                  <a:pt x="633867" y="1566407"/>
                  <a:pt x="647256" y="1553027"/>
                  <a:pt x="620669" y="1509823"/>
                </a:cubicBezTo>
                <a:cubicBezTo>
                  <a:pt x="602094" y="1479639"/>
                  <a:pt x="577048" y="1453903"/>
                  <a:pt x="556874" y="1424763"/>
                </a:cubicBezTo>
                <a:cubicBezTo>
                  <a:pt x="471746" y="1301801"/>
                  <a:pt x="568789" y="1433193"/>
                  <a:pt x="503711" y="1329070"/>
                </a:cubicBezTo>
                <a:cubicBezTo>
                  <a:pt x="494319" y="1314043"/>
                  <a:pt x="481975" y="1301058"/>
                  <a:pt x="471813" y="1286540"/>
                </a:cubicBezTo>
                <a:cubicBezTo>
                  <a:pt x="457157" y="1265602"/>
                  <a:pt x="443460" y="1244009"/>
                  <a:pt x="429283" y="1222744"/>
                </a:cubicBezTo>
                <a:cubicBezTo>
                  <a:pt x="411064" y="1149873"/>
                  <a:pt x="431404" y="1207850"/>
                  <a:pt x="386753" y="1137684"/>
                </a:cubicBezTo>
                <a:cubicBezTo>
                  <a:pt x="371412" y="1113577"/>
                  <a:pt x="360487" y="1086750"/>
                  <a:pt x="344222" y="1063256"/>
                </a:cubicBezTo>
                <a:cubicBezTo>
                  <a:pt x="296610" y="994483"/>
                  <a:pt x="246367" y="927537"/>
                  <a:pt x="195367" y="861237"/>
                </a:cubicBezTo>
                <a:cubicBezTo>
                  <a:pt x="138438" y="787229"/>
                  <a:pt x="152821" y="800976"/>
                  <a:pt x="99674" y="765544"/>
                </a:cubicBezTo>
                <a:cubicBezTo>
                  <a:pt x="92585" y="751367"/>
                  <a:pt x="86106" y="736870"/>
                  <a:pt x="78408" y="723014"/>
                </a:cubicBezTo>
                <a:cubicBezTo>
                  <a:pt x="68372" y="704949"/>
                  <a:pt x="55753" y="688335"/>
                  <a:pt x="46511" y="669851"/>
                </a:cubicBezTo>
                <a:cubicBezTo>
                  <a:pt x="37976" y="652780"/>
                  <a:pt x="31282" y="634795"/>
                  <a:pt x="25246" y="616688"/>
                </a:cubicBezTo>
                <a:cubicBezTo>
                  <a:pt x="17736" y="594157"/>
                  <a:pt x="8196" y="542073"/>
                  <a:pt x="3981" y="520995"/>
                </a:cubicBezTo>
                <a:cubicBezTo>
                  <a:pt x="16332" y="360426"/>
                  <a:pt x="0" y="426610"/>
                  <a:pt x="35878" y="318977"/>
                </a:cubicBezTo>
                <a:cubicBezTo>
                  <a:pt x="44555" y="292947"/>
                  <a:pt x="51354" y="267540"/>
                  <a:pt x="67776" y="244549"/>
                </a:cubicBezTo>
                <a:cubicBezTo>
                  <a:pt x="76516" y="232313"/>
                  <a:pt x="89041" y="223284"/>
                  <a:pt x="99674" y="212651"/>
                </a:cubicBezTo>
                <a:cubicBezTo>
                  <a:pt x="103218" y="202019"/>
                  <a:pt x="104540" y="190364"/>
                  <a:pt x="110306" y="180754"/>
                </a:cubicBezTo>
                <a:cubicBezTo>
                  <a:pt x="122408" y="160583"/>
                  <a:pt x="141165" y="152573"/>
                  <a:pt x="163469" y="148856"/>
                </a:cubicBezTo>
                <a:cubicBezTo>
                  <a:pt x="195126" y="143580"/>
                  <a:pt x="213087" y="173665"/>
                  <a:pt x="227264" y="170121"/>
                </a:cubicBezTo>
                <a:close/>
              </a:path>
            </a:pathLst>
          </a:custGeom>
          <a:noFill/>
          <a:ln w="9525">
            <a:noFill/>
          </a:ln>
        </p:spPr>
        <p:txBody>
          <a:bodyPr/>
          <a:p>
            <a:endParaRPr lang="zh-CN" altLang="en-US"/>
          </a:p>
        </p:txBody>
      </p:sp>
      <p:sp>
        <p:nvSpPr>
          <p:cNvPr id="70665" name="任意多边形 61"/>
          <p:cNvSpPr/>
          <p:nvPr/>
        </p:nvSpPr>
        <p:spPr>
          <a:xfrm>
            <a:off x="757238" y="4413250"/>
            <a:ext cx="5387975" cy="2446338"/>
          </a:xfrm>
          <a:custGeom>
            <a:avLst/>
            <a:gdLst/>
            <a:ahLst/>
            <a:cxnLst>
              <a:cxn ang="0">
                <a:pos x="465022" y="0"/>
              </a:cxn>
              <a:cxn ang="0">
                <a:pos x="486248" y="31702"/>
              </a:cxn>
              <a:cxn ang="0">
                <a:pos x="1600847" y="877187"/>
              </a:cxn>
              <a:cxn ang="0">
                <a:pos x="1855612" y="1046283"/>
              </a:cxn>
              <a:cxn ang="0">
                <a:pos x="2046686" y="1151969"/>
              </a:cxn>
              <a:cxn ang="0">
                <a:pos x="2375762" y="1373907"/>
              </a:cxn>
              <a:cxn ang="0">
                <a:pos x="2534990" y="1437319"/>
              </a:cxn>
              <a:cxn ang="0">
                <a:pos x="2726064" y="1521867"/>
              </a:cxn>
              <a:cxn ang="0">
                <a:pos x="2895904" y="1606415"/>
              </a:cxn>
              <a:cxn ang="0">
                <a:pos x="3840662" y="1902334"/>
              </a:cxn>
              <a:cxn ang="0">
                <a:pos x="4084811" y="1944608"/>
              </a:cxn>
              <a:cxn ang="0">
                <a:pos x="4339576" y="1955176"/>
              </a:cxn>
              <a:cxn ang="0">
                <a:pos x="5029566" y="1976313"/>
              </a:cxn>
              <a:cxn ang="0">
                <a:pos x="5156949" y="2029157"/>
              </a:cxn>
              <a:cxn ang="0">
                <a:pos x="5337408" y="2124273"/>
              </a:cxn>
              <a:cxn ang="0">
                <a:pos x="5379870" y="2177115"/>
              </a:cxn>
              <a:cxn ang="0">
                <a:pos x="5337408" y="2187683"/>
              </a:cxn>
              <a:cxn ang="0">
                <a:pos x="5316178" y="2219391"/>
              </a:cxn>
              <a:cxn ang="0">
                <a:pos x="5146334" y="2293371"/>
              </a:cxn>
              <a:cxn ang="0">
                <a:pos x="4498804" y="2430761"/>
              </a:cxn>
              <a:cxn ang="0">
                <a:pos x="3086978" y="2409623"/>
              </a:cxn>
              <a:cxn ang="0">
                <a:pos x="2779137" y="2346212"/>
              </a:cxn>
              <a:cxn ang="0">
                <a:pos x="2672984" y="2325073"/>
              </a:cxn>
              <a:cxn ang="0">
                <a:pos x="2375762" y="2240527"/>
              </a:cxn>
              <a:cxn ang="0">
                <a:pos x="2089151" y="2155978"/>
              </a:cxn>
              <a:cxn ang="0">
                <a:pos x="1929922" y="2113704"/>
              </a:cxn>
              <a:cxn ang="0">
                <a:pos x="1813148" y="2081999"/>
              </a:cxn>
              <a:cxn ang="0">
                <a:pos x="1707003" y="2071430"/>
              </a:cxn>
              <a:cxn ang="0">
                <a:pos x="1515929" y="2018587"/>
              </a:cxn>
              <a:cxn ang="0">
                <a:pos x="1420392" y="1986883"/>
              </a:cxn>
              <a:cxn ang="0">
                <a:pos x="1017005" y="1891766"/>
              </a:cxn>
              <a:cxn ang="0">
                <a:pos x="698548" y="1743807"/>
              </a:cxn>
              <a:cxn ang="0">
                <a:pos x="496868" y="1616983"/>
              </a:cxn>
              <a:cxn ang="0">
                <a:pos x="358866" y="1543006"/>
              </a:cxn>
              <a:cxn ang="0">
                <a:pos x="252709" y="1479592"/>
              </a:cxn>
              <a:cxn ang="0">
                <a:pos x="231483" y="1373907"/>
              </a:cxn>
              <a:cxn ang="0">
                <a:pos x="51028" y="1004009"/>
              </a:cxn>
              <a:cxn ang="0">
                <a:pos x="40409" y="951167"/>
              </a:cxn>
              <a:cxn ang="0">
                <a:pos x="8563" y="834914"/>
              </a:cxn>
              <a:cxn ang="0">
                <a:pos x="29789" y="338192"/>
              </a:cxn>
              <a:cxn ang="0">
                <a:pos x="104100" y="221939"/>
              </a:cxn>
              <a:cxn ang="0">
                <a:pos x="125326" y="179661"/>
              </a:cxn>
              <a:cxn ang="0">
                <a:pos x="157172" y="137391"/>
              </a:cxn>
              <a:cxn ang="0">
                <a:pos x="178411" y="105688"/>
              </a:cxn>
              <a:cxn ang="0">
                <a:pos x="252709" y="63408"/>
              </a:cxn>
              <a:cxn ang="0">
                <a:pos x="284555" y="42270"/>
              </a:cxn>
              <a:cxn ang="0">
                <a:pos x="422557" y="42270"/>
              </a:cxn>
              <a:cxn ang="0">
                <a:pos x="465022" y="0"/>
              </a:cxn>
            </a:cxnLst>
            <a:pathLst>
              <a:path w="5388651" h="2447475">
                <a:moveTo>
                  <a:pt x="465776" y="0"/>
                </a:moveTo>
                <a:cubicBezTo>
                  <a:pt x="472864" y="10632"/>
                  <a:pt x="478130" y="22738"/>
                  <a:pt x="487041" y="31897"/>
                </a:cubicBezTo>
                <a:cubicBezTo>
                  <a:pt x="1024553" y="584339"/>
                  <a:pt x="768883" y="337830"/>
                  <a:pt x="1603460" y="882502"/>
                </a:cubicBezTo>
                <a:cubicBezTo>
                  <a:pt x="1689071" y="938374"/>
                  <a:pt x="1769276" y="1002976"/>
                  <a:pt x="1858641" y="1052623"/>
                </a:cubicBezTo>
                <a:cubicBezTo>
                  <a:pt x="1922436" y="1088065"/>
                  <a:pt x="1988756" y="1119302"/>
                  <a:pt x="2050027" y="1158948"/>
                </a:cubicBezTo>
                <a:cubicBezTo>
                  <a:pt x="2357169" y="1357686"/>
                  <a:pt x="2082902" y="1220377"/>
                  <a:pt x="2379637" y="1382232"/>
                </a:cubicBezTo>
                <a:cubicBezTo>
                  <a:pt x="2422863" y="1405810"/>
                  <a:pt x="2495021" y="1427369"/>
                  <a:pt x="2539125" y="1446028"/>
                </a:cubicBezTo>
                <a:cubicBezTo>
                  <a:pt x="2603420" y="1473230"/>
                  <a:pt x="2667343" y="1501362"/>
                  <a:pt x="2730511" y="1531088"/>
                </a:cubicBezTo>
                <a:cubicBezTo>
                  <a:pt x="2787877" y="1558084"/>
                  <a:pt x="2841766" y="1592602"/>
                  <a:pt x="2900632" y="1616148"/>
                </a:cubicBezTo>
                <a:cubicBezTo>
                  <a:pt x="3236715" y="1750582"/>
                  <a:pt x="3441259" y="1843309"/>
                  <a:pt x="3846930" y="1913860"/>
                </a:cubicBezTo>
                <a:cubicBezTo>
                  <a:pt x="3928446" y="1928037"/>
                  <a:pt x="4009203" y="1947637"/>
                  <a:pt x="4091479" y="1956390"/>
                </a:cubicBezTo>
                <a:cubicBezTo>
                  <a:pt x="4176135" y="1965396"/>
                  <a:pt x="4261574" y="1964155"/>
                  <a:pt x="4346660" y="1967023"/>
                </a:cubicBezTo>
                <a:lnTo>
                  <a:pt x="5037776" y="1988288"/>
                </a:lnTo>
                <a:cubicBezTo>
                  <a:pt x="5080306" y="2006009"/>
                  <a:pt x="5124157" y="2020846"/>
                  <a:pt x="5165367" y="2041451"/>
                </a:cubicBezTo>
                <a:cubicBezTo>
                  <a:pt x="5297249" y="2107393"/>
                  <a:pt x="5237288" y="2074955"/>
                  <a:pt x="5346120" y="2137144"/>
                </a:cubicBezTo>
                <a:cubicBezTo>
                  <a:pt x="5360297" y="2154865"/>
                  <a:pt x="5388651" y="2167613"/>
                  <a:pt x="5388651" y="2190307"/>
                </a:cubicBezTo>
                <a:cubicBezTo>
                  <a:pt x="5388651" y="2204920"/>
                  <a:pt x="5358279" y="2192833"/>
                  <a:pt x="5346120" y="2200939"/>
                </a:cubicBezTo>
                <a:cubicBezTo>
                  <a:pt x="5335487" y="2208027"/>
                  <a:pt x="5334557" y="2224521"/>
                  <a:pt x="5324855" y="2232837"/>
                </a:cubicBezTo>
                <a:cubicBezTo>
                  <a:pt x="5285841" y="2266278"/>
                  <a:pt x="5191308" y="2297418"/>
                  <a:pt x="5154734" y="2307265"/>
                </a:cubicBezTo>
                <a:cubicBezTo>
                  <a:pt x="4756565" y="2414464"/>
                  <a:pt x="4815247" y="2399123"/>
                  <a:pt x="4506148" y="2445488"/>
                </a:cubicBezTo>
                <a:cubicBezTo>
                  <a:pt x="4034771" y="2438400"/>
                  <a:pt x="3562874" y="2447475"/>
                  <a:pt x="3092018" y="2424223"/>
                </a:cubicBezTo>
                <a:cubicBezTo>
                  <a:pt x="2987188" y="2419046"/>
                  <a:pt x="2886491" y="2381519"/>
                  <a:pt x="2783674" y="2360428"/>
                </a:cubicBezTo>
                <a:cubicBezTo>
                  <a:pt x="2748267" y="2353165"/>
                  <a:pt x="2712101" y="2349091"/>
                  <a:pt x="2677348" y="2339162"/>
                </a:cubicBezTo>
                <a:lnTo>
                  <a:pt x="2379637" y="2254102"/>
                </a:lnTo>
                <a:cubicBezTo>
                  <a:pt x="2283770" y="2226351"/>
                  <a:pt x="2188860" y="2195305"/>
                  <a:pt x="2092558" y="2169041"/>
                </a:cubicBezTo>
                <a:lnTo>
                  <a:pt x="1933069" y="2126511"/>
                </a:lnTo>
                <a:cubicBezTo>
                  <a:pt x="1894049" y="2116006"/>
                  <a:pt x="1856320" y="2098635"/>
                  <a:pt x="1816111" y="2094614"/>
                </a:cubicBezTo>
                <a:lnTo>
                  <a:pt x="1709785" y="2083981"/>
                </a:lnTo>
                <a:cubicBezTo>
                  <a:pt x="1547141" y="2029766"/>
                  <a:pt x="1779722" y="2105481"/>
                  <a:pt x="1518399" y="2030818"/>
                </a:cubicBezTo>
                <a:cubicBezTo>
                  <a:pt x="1486070" y="2021581"/>
                  <a:pt x="1455484" y="2006413"/>
                  <a:pt x="1422706" y="1998921"/>
                </a:cubicBezTo>
                <a:cubicBezTo>
                  <a:pt x="1163443" y="1939661"/>
                  <a:pt x="1206040" y="1974300"/>
                  <a:pt x="1018669" y="1903228"/>
                </a:cubicBezTo>
                <a:cubicBezTo>
                  <a:pt x="887006" y="1853287"/>
                  <a:pt x="817002" y="1824025"/>
                  <a:pt x="699692" y="1754372"/>
                </a:cubicBezTo>
                <a:cubicBezTo>
                  <a:pt x="631208" y="1713710"/>
                  <a:pt x="566158" y="1667443"/>
                  <a:pt x="497674" y="1626781"/>
                </a:cubicBezTo>
                <a:cubicBezTo>
                  <a:pt x="452679" y="1600065"/>
                  <a:pt x="405007" y="1578102"/>
                  <a:pt x="359451" y="1552353"/>
                </a:cubicBezTo>
                <a:cubicBezTo>
                  <a:pt x="323469" y="1532015"/>
                  <a:pt x="288567" y="1509823"/>
                  <a:pt x="253125" y="1488558"/>
                </a:cubicBezTo>
                <a:cubicBezTo>
                  <a:pt x="246037" y="1453116"/>
                  <a:pt x="245421" y="1415735"/>
                  <a:pt x="231860" y="1382232"/>
                </a:cubicBezTo>
                <a:cubicBezTo>
                  <a:pt x="124245" y="1116360"/>
                  <a:pt x="136009" y="1137439"/>
                  <a:pt x="51106" y="1010093"/>
                </a:cubicBezTo>
                <a:cubicBezTo>
                  <a:pt x="47562" y="992372"/>
                  <a:pt x="45229" y="974365"/>
                  <a:pt x="40474" y="956930"/>
                </a:cubicBezTo>
                <a:cubicBezTo>
                  <a:pt x="0" y="808523"/>
                  <a:pt x="34485" y="969510"/>
                  <a:pt x="8576" y="839972"/>
                </a:cubicBezTo>
                <a:cubicBezTo>
                  <a:pt x="15664" y="673395"/>
                  <a:pt x="17294" y="506496"/>
                  <a:pt x="29841" y="340241"/>
                </a:cubicBezTo>
                <a:cubicBezTo>
                  <a:pt x="35497" y="265292"/>
                  <a:pt x="61568" y="278185"/>
                  <a:pt x="104269" y="223283"/>
                </a:cubicBezTo>
                <a:cubicBezTo>
                  <a:pt x="114000" y="210772"/>
                  <a:pt x="117133" y="194194"/>
                  <a:pt x="125534" y="180753"/>
                </a:cubicBezTo>
                <a:cubicBezTo>
                  <a:pt x="134926" y="165726"/>
                  <a:pt x="147132" y="152643"/>
                  <a:pt x="157432" y="138223"/>
                </a:cubicBezTo>
                <a:cubicBezTo>
                  <a:pt x="164860" y="127824"/>
                  <a:pt x="169661" y="115361"/>
                  <a:pt x="178697" y="106325"/>
                </a:cubicBezTo>
                <a:cubicBezTo>
                  <a:pt x="230114" y="54908"/>
                  <a:pt x="204466" y="88124"/>
                  <a:pt x="253125" y="63795"/>
                </a:cubicBezTo>
                <a:cubicBezTo>
                  <a:pt x="264555" y="58080"/>
                  <a:pt x="272343" y="44115"/>
                  <a:pt x="285023" y="42530"/>
                </a:cubicBezTo>
                <a:cubicBezTo>
                  <a:pt x="330742" y="36815"/>
                  <a:pt x="377172" y="42530"/>
                  <a:pt x="423246" y="42530"/>
                </a:cubicBezTo>
                <a:lnTo>
                  <a:pt x="465776" y="0"/>
                </a:lnTo>
                <a:close/>
              </a:path>
            </a:pathLst>
          </a:custGeom>
          <a:noFill/>
          <a:ln w="9525">
            <a:noFill/>
          </a:ln>
        </p:spPr>
        <p:txBody>
          <a:bodyPr/>
          <a:p>
            <a:endParaRPr lang="zh-CN" altLang="en-US"/>
          </a:p>
        </p:txBody>
      </p:sp>
      <p:sp>
        <p:nvSpPr>
          <p:cNvPr id="70666" name="椭圆 63"/>
          <p:cNvSpPr/>
          <p:nvPr/>
        </p:nvSpPr>
        <p:spPr>
          <a:xfrm>
            <a:off x="1063625" y="4560888"/>
            <a:ext cx="3752850" cy="2297112"/>
          </a:xfrm>
          <a:prstGeom prst="ellipse">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nvGrpSpPr>
          <p:cNvPr id="70667" name="组合 69"/>
          <p:cNvGrpSpPr/>
          <p:nvPr/>
        </p:nvGrpSpPr>
        <p:grpSpPr>
          <a:xfrm>
            <a:off x="488950" y="3160713"/>
            <a:ext cx="6967538" cy="3328987"/>
            <a:chOff x="425096" y="3529013"/>
            <a:chExt cx="6967892" cy="3328987"/>
          </a:xfrm>
        </p:grpSpPr>
        <p:grpSp>
          <p:nvGrpSpPr>
            <p:cNvPr id="70677" name="Group 5"/>
            <p:cNvGrpSpPr/>
            <p:nvPr/>
          </p:nvGrpSpPr>
          <p:grpSpPr>
            <a:xfrm>
              <a:off x="1201738" y="3529013"/>
              <a:ext cx="6191250" cy="3149600"/>
              <a:chOff x="2880" y="1570"/>
              <a:chExt cx="4500" cy="2582"/>
            </a:xfrm>
          </p:grpSpPr>
          <p:grpSp>
            <p:nvGrpSpPr>
              <p:cNvPr id="70679" name="Group 6"/>
              <p:cNvGrpSpPr/>
              <p:nvPr/>
            </p:nvGrpSpPr>
            <p:grpSpPr>
              <a:xfrm>
                <a:off x="2880" y="1596"/>
                <a:ext cx="4500" cy="2556"/>
                <a:chOff x="3780" y="12360"/>
                <a:chExt cx="4500" cy="2556"/>
              </a:xfrm>
            </p:grpSpPr>
            <p:sp>
              <p:nvSpPr>
                <p:cNvPr id="70682" name="Text Box 7"/>
                <p:cNvSpPr txBox="1"/>
                <p:nvPr/>
              </p:nvSpPr>
              <p:spPr>
                <a:xfrm>
                  <a:off x="4680" y="1438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3</a:t>
                  </a:r>
                  <a:endParaRPr lang="en-US" altLang="zh-CN" sz="2000" dirty="0">
                    <a:ea typeface="宋体" panose="02010600030101010101" pitchFamily="2" charset="-122"/>
                  </a:endParaRPr>
                </a:p>
              </p:txBody>
            </p:sp>
            <p:grpSp>
              <p:nvGrpSpPr>
                <p:cNvPr id="70683" name="Group 8"/>
                <p:cNvGrpSpPr/>
                <p:nvPr/>
              </p:nvGrpSpPr>
              <p:grpSpPr>
                <a:xfrm>
                  <a:off x="3780" y="12360"/>
                  <a:ext cx="4500" cy="2556"/>
                  <a:chOff x="3780" y="12360"/>
                  <a:chExt cx="4500" cy="2556"/>
                </a:xfrm>
              </p:grpSpPr>
              <p:sp>
                <p:nvSpPr>
                  <p:cNvPr id="70684" name="Text Box 9"/>
                  <p:cNvSpPr txBox="1"/>
                  <p:nvPr/>
                </p:nvSpPr>
                <p:spPr>
                  <a:xfrm>
                    <a:off x="6480" y="1360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2</a:t>
                    </a:r>
                    <a:endParaRPr lang="en-US" altLang="zh-CN" sz="2000" dirty="0">
                      <a:ea typeface="宋体" panose="02010600030101010101" pitchFamily="2" charset="-122"/>
                    </a:endParaRPr>
                  </a:p>
                </p:txBody>
              </p:sp>
              <p:sp>
                <p:nvSpPr>
                  <p:cNvPr id="70685" name="Text Box 10"/>
                  <p:cNvSpPr txBox="1"/>
                  <p:nvPr/>
                </p:nvSpPr>
                <p:spPr>
                  <a:xfrm>
                    <a:off x="7020" y="14232"/>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1</a:t>
                    </a:r>
                    <a:endParaRPr lang="en-US" altLang="zh-CN" sz="2000" dirty="0">
                      <a:ea typeface="宋体" panose="02010600030101010101" pitchFamily="2" charset="-122"/>
                    </a:endParaRPr>
                  </a:p>
                </p:txBody>
              </p:sp>
              <p:sp>
                <p:nvSpPr>
                  <p:cNvPr id="70686" name="Text Box 11"/>
                  <p:cNvSpPr txBox="1"/>
                  <p:nvPr/>
                </p:nvSpPr>
                <p:spPr>
                  <a:xfrm>
                    <a:off x="5400" y="1407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7</a:t>
                    </a:r>
                    <a:endParaRPr lang="en-US" altLang="zh-CN" sz="2000" dirty="0">
                      <a:ea typeface="宋体" panose="02010600030101010101" pitchFamily="2" charset="-122"/>
                    </a:endParaRPr>
                  </a:p>
                </p:txBody>
              </p:sp>
              <p:sp>
                <p:nvSpPr>
                  <p:cNvPr id="70687" name="Text Box 12"/>
                  <p:cNvSpPr txBox="1"/>
                  <p:nvPr/>
                </p:nvSpPr>
                <p:spPr>
                  <a:xfrm>
                    <a:off x="6990" y="1376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5</a:t>
                    </a:r>
                    <a:endParaRPr lang="en-US" altLang="zh-CN" sz="2000" dirty="0">
                      <a:ea typeface="宋体" panose="02010600030101010101" pitchFamily="2" charset="-122"/>
                    </a:endParaRPr>
                  </a:p>
                </p:txBody>
              </p:sp>
              <p:sp>
                <p:nvSpPr>
                  <p:cNvPr id="70688" name="Text Box 13"/>
                  <p:cNvSpPr txBox="1"/>
                  <p:nvPr/>
                </p:nvSpPr>
                <p:spPr>
                  <a:xfrm>
                    <a:off x="6120" y="13533"/>
                    <a:ext cx="360" cy="40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0689" name="Text Box 14"/>
                  <p:cNvSpPr txBox="1"/>
                  <p:nvPr/>
                </p:nvSpPr>
                <p:spPr>
                  <a:xfrm>
                    <a:off x="4500" y="13452"/>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8</a:t>
                    </a:r>
                    <a:endParaRPr lang="en-US" altLang="zh-CN" sz="2000" dirty="0">
                      <a:ea typeface="宋体" panose="02010600030101010101" pitchFamily="2" charset="-122"/>
                    </a:endParaRPr>
                  </a:p>
                </p:txBody>
              </p:sp>
              <p:sp>
                <p:nvSpPr>
                  <p:cNvPr id="70690" name="Text Box 15"/>
                  <p:cNvSpPr txBox="1"/>
                  <p:nvPr/>
                </p:nvSpPr>
                <p:spPr>
                  <a:xfrm>
                    <a:off x="6120" y="1298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3</a:t>
                    </a:r>
                    <a:endParaRPr lang="en-US" altLang="zh-CN" sz="2000" dirty="0">
                      <a:ea typeface="宋体" panose="02010600030101010101" pitchFamily="2" charset="-122"/>
                    </a:endParaRPr>
                  </a:p>
                </p:txBody>
              </p:sp>
              <p:sp>
                <p:nvSpPr>
                  <p:cNvPr id="70691" name="Text Box 16"/>
                  <p:cNvSpPr txBox="1"/>
                  <p:nvPr/>
                </p:nvSpPr>
                <p:spPr>
                  <a:xfrm>
                    <a:off x="4320" y="1282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2</a:t>
                    </a:r>
                    <a:endParaRPr lang="en-US" altLang="zh-CN" sz="2000" dirty="0">
                      <a:ea typeface="宋体" panose="02010600030101010101" pitchFamily="2" charset="-122"/>
                    </a:endParaRPr>
                  </a:p>
                </p:txBody>
              </p:sp>
              <p:sp>
                <p:nvSpPr>
                  <p:cNvPr id="70692" name="Text Box 17"/>
                  <p:cNvSpPr txBox="1"/>
                  <p:nvPr/>
                </p:nvSpPr>
                <p:spPr>
                  <a:xfrm>
                    <a:off x="5940" y="12435"/>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7</a:t>
                    </a:r>
                    <a:endParaRPr lang="en-US" altLang="zh-CN" sz="2000" dirty="0">
                      <a:ea typeface="宋体" panose="02010600030101010101" pitchFamily="2" charset="-122"/>
                    </a:endParaRPr>
                  </a:p>
                </p:txBody>
              </p:sp>
              <p:grpSp>
                <p:nvGrpSpPr>
                  <p:cNvPr id="70693" name="Group 18"/>
                  <p:cNvGrpSpPr/>
                  <p:nvPr/>
                </p:nvGrpSpPr>
                <p:grpSpPr>
                  <a:xfrm>
                    <a:off x="5040" y="14388"/>
                    <a:ext cx="540" cy="468"/>
                    <a:chOff x="2010" y="12486"/>
                    <a:chExt cx="540" cy="498"/>
                  </a:xfrm>
                </p:grpSpPr>
                <p:sp>
                  <p:nvSpPr>
                    <p:cNvPr id="70727" name="Text Box 19"/>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6</a:t>
                      </a:r>
                      <a:endParaRPr lang="en-US" altLang="zh-CN" sz="2000" dirty="0">
                        <a:ea typeface="宋体" panose="02010600030101010101" pitchFamily="2" charset="-122"/>
                      </a:endParaRPr>
                    </a:p>
                  </p:txBody>
                </p:sp>
                <p:sp>
                  <p:nvSpPr>
                    <p:cNvPr id="70728" name="Oval 20"/>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4" name="Group 21"/>
                  <p:cNvGrpSpPr/>
                  <p:nvPr/>
                </p:nvGrpSpPr>
                <p:grpSpPr>
                  <a:xfrm>
                    <a:off x="6480" y="14232"/>
                    <a:ext cx="540" cy="498"/>
                    <a:chOff x="2010" y="12486"/>
                    <a:chExt cx="540" cy="498"/>
                  </a:xfrm>
                </p:grpSpPr>
                <p:sp>
                  <p:nvSpPr>
                    <p:cNvPr id="70725" name="Text Box 22"/>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5</a:t>
                      </a:r>
                      <a:endParaRPr lang="en-US" altLang="zh-CN" sz="2000" dirty="0">
                        <a:ea typeface="宋体" panose="02010600030101010101" pitchFamily="2" charset="-122"/>
                      </a:endParaRPr>
                    </a:p>
                  </p:txBody>
                </p:sp>
                <p:sp>
                  <p:nvSpPr>
                    <p:cNvPr id="70726" name="Oval 23"/>
                    <p:cNvSpPr/>
                    <p:nvPr/>
                  </p:nvSpPr>
                  <p:spPr>
                    <a:xfrm>
                      <a:off x="2160" y="12828"/>
                      <a:ext cx="180" cy="156"/>
                    </a:xfrm>
                    <a:prstGeom prst="ellipse">
                      <a:avLst/>
                    </a:prstGeom>
                    <a:solidFill>
                      <a:srgbClr val="00B0F0"/>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5" name="Group 24"/>
                  <p:cNvGrpSpPr/>
                  <p:nvPr/>
                </p:nvGrpSpPr>
                <p:grpSpPr>
                  <a:xfrm>
                    <a:off x="7740" y="13920"/>
                    <a:ext cx="540" cy="498"/>
                    <a:chOff x="2010" y="12486"/>
                    <a:chExt cx="540" cy="498"/>
                  </a:xfrm>
                </p:grpSpPr>
                <p:sp>
                  <p:nvSpPr>
                    <p:cNvPr id="70723" name="Text Box 25"/>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4</a:t>
                      </a:r>
                      <a:endParaRPr lang="en-US" altLang="zh-CN" sz="2000" dirty="0">
                        <a:ea typeface="宋体" panose="02010600030101010101" pitchFamily="2" charset="-122"/>
                      </a:endParaRPr>
                    </a:p>
                  </p:txBody>
                </p:sp>
                <p:sp>
                  <p:nvSpPr>
                    <p:cNvPr id="70724" name="Oval 26"/>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6" name="Group 27"/>
                  <p:cNvGrpSpPr/>
                  <p:nvPr/>
                </p:nvGrpSpPr>
                <p:grpSpPr>
                  <a:xfrm>
                    <a:off x="7380" y="12984"/>
                    <a:ext cx="540" cy="498"/>
                    <a:chOff x="2010" y="12486"/>
                    <a:chExt cx="540" cy="498"/>
                  </a:xfrm>
                </p:grpSpPr>
                <p:sp>
                  <p:nvSpPr>
                    <p:cNvPr id="70721" name="Text Box 28"/>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3</a:t>
                      </a:r>
                      <a:endParaRPr lang="en-US" altLang="zh-CN" sz="2000" dirty="0">
                        <a:ea typeface="宋体" panose="02010600030101010101" pitchFamily="2" charset="-122"/>
                      </a:endParaRPr>
                    </a:p>
                  </p:txBody>
                </p:sp>
                <p:sp>
                  <p:nvSpPr>
                    <p:cNvPr id="70722" name="Oval 29"/>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7" name="Group 30"/>
                  <p:cNvGrpSpPr/>
                  <p:nvPr/>
                </p:nvGrpSpPr>
                <p:grpSpPr>
                  <a:xfrm>
                    <a:off x="3780" y="13140"/>
                    <a:ext cx="540" cy="498"/>
                    <a:chOff x="2010" y="12486"/>
                    <a:chExt cx="540" cy="498"/>
                  </a:xfrm>
                </p:grpSpPr>
                <p:sp>
                  <p:nvSpPr>
                    <p:cNvPr id="70719" name="Text Box 31"/>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8</a:t>
                      </a:r>
                      <a:endParaRPr lang="en-US" altLang="zh-CN" sz="2000" dirty="0">
                        <a:ea typeface="宋体" panose="02010600030101010101" pitchFamily="2" charset="-122"/>
                      </a:endParaRPr>
                    </a:p>
                  </p:txBody>
                </p:sp>
                <p:sp>
                  <p:nvSpPr>
                    <p:cNvPr id="70720" name="Oval 32"/>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8" name="Group 33"/>
                  <p:cNvGrpSpPr/>
                  <p:nvPr/>
                </p:nvGrpSpPr>
                <p:grpSpPr>
                  <a:xfrm>
                    <a:off x="6840" y="12360"/>
                    <a:ext cx="540" cy="498"/>
                    <a:chOff x="2010" y="12486"/>
                    <a:chExt cx="540" cy="498"/>
                  </a:xfrm>
                </p:grpSpPr>
                <p:sp>
                  <p:nvSpPr>
                    <p:cNvPr id="70717" name="Text Box 34"/>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2</a:t>
                      </a:r>
                      <a:endParaRPr lang="en-US" altLang="zh-CN" sz="2000" dirty="0">
                        <a:ea typeface="宋体" panose="02010600030101010101" pitchFamily="2" charset="-122"/>
                      </a:endParaRPr>
                    </a:p>
                  </p:txBody>
                </p:sp>
                <p:sp>
                  <p:nvSpPr>
                    <p:cNvPr id="70718" name="Oval 35"/>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grpSp>
                <p:nvGrpSpPr>
                  <p:cNvPr id="70699" name="Group 36"/>
                  <p:cNvGrpSpPr/>
                  <p:nvPr/>
                </p:nvGrpSpPr>
                <p:grpSpPr>
                  <a:xfrm>
                    <a:off x="4860" y="12360"/>
                    <a:ext cx="540" cy="498"/>
                    <a:chOff x="2010" y="12486"/>
                    <a:chExt cx="540" cy="498"/>
                  </a:xfrm>
                </p:grpSpPr>
                <p:sp>
                  <p:nvSpPr>
                    <p:cNvPr id="70715" name="Text Box 37"/>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1</a:t>
                      </a:r>
                      <a:endParaRPr lang="en-US" altLang="zh-CN" sz="2000" dirty="0">
                        <a:ea typeface="宋体" panose="02010600030101010101" pitchFamily="2" charset="-122"/>
                      </a:endParaRPr>
                    </a:p>
                  </p:txBody>
                </p:sp>
                <p:sp>
                  <p:nvSpPr>
                    <p:cNvPr id="70716" name="Oval 38"/>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sp>
                <p:nvSpPr>
                  <p:cNvPr id="70700" name="Line 39"/>
                  <p:cNvSpPr/>
                  <p:nvPr/>
                </p:nvSpPr>
                <p:spPr>
                  <a:xfrm>
                    <a:off x="5220" y="12783"/>
                    <a:ext cx="1800" cy="0"/>
                  </a:xfrm>
                  <a:prstGeom prst="line">
                    <a:avLst/>
                  </a:prstGeom>
                  <a:ln w="9525" cap="flat" cmpd="sng">
                    <a:solidFill>
                      <a:srgbClr val="000000"/>
                    </a:solidFill>
                    <a:prstDash val="solid"/>
                    <a:headEnd type="none" w="med" len="med"/>
                    <a:tailEnd type="none" w="med" len="med"/>
                  </a:ln>
                </p:spPr>
              </p:sp>
              <p:sp>
                <p:nvSpPr>
                  <p:cNvPr id="70701" name="Line 40"/>
                  <p:cNvSpPr/>
                  <p:nvPr/>
                </p:nvSpPr>
                <p:spPr>
                  <a:xfrm flipH="1">
                    <a:off x="4095" y="12828"/>
                    <a:ext cx="945" cy="687"/>
                  </a:xfrm>
                  <a:prstGeom prst="line">
                    <a:avLst/>
                  </a:prstGeom>
                  <a:ln w="9525" cap="flat" cmpd="sng">
                    <a:solidFill>
                      <a:srgbClr val="000000"/>
                    </a:solidFill>
                    <a:prstDash val="solid"/>
                    <a:headEnd type="none" w="med" len="med"/>
                    <a:tailEnd type="none" w="med" len="med"/>
                  </a:ln>
                </p:spPr>
              </p:sp>
              <p:sp>
                <p:nvSpPr>
                  <p:cNvPr id="70702" name="Line 41"/>
                  <p:cNvSpPr/>
                  <p:nvPr/>
                </p:nvSpPr>
                <p:spPr>
                  <a:xfrm>
                    <a:off x="5220" y="12828"/>
                    <a:ext cx="2340" cy="624"/>
                  </a:xfrm>
                  <a:prstGeom prst="line">
                    <a:avLst/>
                  </a:prstGeom>
                  <a:ln w="9525" cap="flat" cmpd="sng">
                    <a:solidFill>
                      <a:srgbClr val="000000"/>
                    </a:solidFill>
                    <a:prstDash val="solid"/>
                    <a:headEnd type="none" w="med" len="med"/>
                    <a:tailEnd type="none" w="med" len="med"/>
                  </a:ln>
                </p:spPr>
              </p:sp>
              <p:sp>
                <p:nvSpPr>
                  <p:cNvPr id="70703" name="Text Box 42"/>
                  <p:cNvSpPr txBox="1"/>
                  <p:nvPr/>
                </p:nvSpPr>
                <p:spPr>
                  <a:xfrm>
                    <a:off x="5940" y="1444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6</a:t>
                    </a:r>
                    <a:endParaRPr lang="en-US" altLang="zh-CN" sz="2000" dirty="0">
                      <a:ea typeface="宋体" panose="02010600030101010101" pitchFamily="2" charset="-122"/>
                    </a:endParaRPr>
                  </a:p>
                </p:txBody>
              </p:sp>
              <p:grpSp>
                <p:nvGrpSpPr>
                  <p:cNvPr id="70704" name="Group 43"/>
                  <p:cNvGrpSpPr/>
                  <p:nvPr/>
                </p:nvGrpSpPr>
                <p:grpSpPr>
                  <a:xfrm>
                    <a:off x="4140" y="13920"/>
                    <a:ext cx="540" cy="498"/>
                    <a:chOff x="2010" y="12486"/>
                    <a:chExt cx="540" cy="498"/>
                  </a:xfrm>
                </p:grpSpPr>
                <p:sp>
                  <p:nvSpPr>
                    <p:cNvPr id="70713" name="Text Box 44"/>
                    <p:cNvSpPr txBox="1"/>
                    <p:nvPr/>
                  </p:nvSpPr>
                  <p:spPr>
                    <a:xfrm>
                      <a:off x="2010" y="12486"/>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2000" dirty="0">
                          <a:ea typeface="宋体" panose="02010600030101010101" pitchFamily="2" charset="-122"/>
                        </a:rPr>
                        <a:t>m</a:t>
                      </a:r>
                      <a:r>
                        <a:rPr lang="en-US" altLang="zh-CN" sz="2000" baseline="-25000" dirty="0">
                          <a:ea typeface="宋体" panose="02010600030101010101" pitchFamily="2" charset="-122"/>
                        </a:rPr>
                        <a:t>7</a:t>
                      </a:r>
                      <a:endParaRPr lang="en-US" altLang="zh-CN" sz="2000" dirty="0">
                        <a:ea typeface="宋体" panose="02010600030101010101" pitchFamily="2" charset="-122"/>
                      </a:endParaRPr>
                    </a:p>
                  </p:txBody>
                </p:sp>
                <p:sp>
                  <p:nvSpPr>
                    <p:cNvPr id="70714" name="Oval 45"/>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pSp>
              <p:sp>
                <p:nvSpPr>
                  <p:cNvPr id="70705" name="Line 46"/>
                  <p:cNvSpPr/>
                  <p:nvPr/>
                </p:nvSpPr>
                <p:spPr>
                  <a:xfrm flipH="1">
                    <a:off x="5400" y="13452"/>
                    <a:ext cx="2160" cy="1248"/>
                  </a:xfrm>
                  <a:prstGeom prst="line">
                    <a:avLst/>
                  </a:prstGeom>
                  <a:ln w="9525" cap="flat" cmpd="sng">
                    <a:solidFill>
                      <a:srgbClr val="000000"/>
                    </a:solidFill>
                    <a:prstDash val="solid"/>
                    <a:headEnd type="none" w="med" len="med"/>
                    <a:tailEnd type="none" w="med" len="med"/>
                  </a:ln>
                </p:spPr>
              </p:sp>
              <p:sp>
                <p:nvSpPr>
                  <p:cNvPr id="70706" name="Line 47"/>
                  <p:cNvSpPr/>
                  <p:nvPr/>
                </p:nvSpPr>
                <p:spPr>
                  <a:xfrm>
                    <a:off x="4500" y="14388"/>
                    <a:ext cx="720" cy="312"/>
                  </a:xfrm>
                  <a:prstGeom prst="line">
                    <a:avLst/>
                  </a:prstGeom>
                  <a:ln w="9525" cap="flat" cmpd="sng">
                    <a:solidFill>
                      <a:srgbClr val="000000"/>
                    </a:solidFill>
                    <a:prstDash val="solid"/>
                    <a:headEnd type="none" w="med" len="med"/>
                    <a:tailEnd type="none" w="med" len="med"/>
                  </a:ln>
                </p:spPr>
              </p:sp>
              <p:sp>
                <p:nvSpPr>
                  <p:cNvPr id="70707" name="Line 48"/>
                  <p:cNvSpPr/>
                  <p:nvPr/>
                </p:nvSpPr>
                <p:spPr>
                  <a:xfrm flipH="1">
                    <a:off x="6840" y="14388"/>
                    <a:ext cx="1080" cy="312"/>
                  </a:xfrm>
                  <a:prstGeom prst="line">
                    <a:avLst/>
                  </a:prstGeom>
                  <a:ln w="9525" cap="flat" cmpd="sng">
                    <a:solidFill>
                      <a:srgbClr val="000000"/>
                    </a:solidFill>
                    <a:prstDash val="solid"/>
                    <a:headEnd type="none" w="med" len="med"/>
                    <a:tailEnd type="none" w="med" len="med"/>
                  </a:ln>
                </p:spPr>
              </p:sp>
              <p:sp>
                <p:nvSpPr>
                  <p:cNvPr id="70708" name="Line 49"/>
                  <p:cNvSpPr/>
                  <p:nvPr/>
                </p:nvSpPr>
                <p:spPr>
                  <a:xfrm flipH="1">
                    <a:off x="6840" y="13452"/>
                    <a:ext cx="720" cy="1248"/>
                  </a:xfrm>
                  <a:prstGeom prst="line">
                    <a:avLst/>
                  </a:prstGeom>
                  <a:ln w="9525" cap="flat" cmpd="sng">
                    <a:solidFill>
                      <a:srgbClr val="000000"/>
                    </a:solidFill>
                    <a:prstDash val="solid"/>
                    <a:headEnd type="none" w="med" len="med"/>
                    <a:tailEnd type="none" w="med" len="med"/>
                  </a:ln>
                </p:spPr>
              </p:sp>
              <p:sp>
                <p:nvSpPr>
                  <p:cNvPr id="70709" name="Line 50"/>
                  <p:cNvSpPr/>
                  <p:nvPr/>
                </p:nvSpPr>
                <p:spPr>
                  <a:xfrm flipH="1">
                    <a:off x="4523" y="13469"/>
                    <a:ext cx="3060" cy="936"/>
                  </a:xfrm>
                  <a:prstGeom prst="line">
                    <a:avLst/>
                  </a:prstGeom>
                  <a:ln w="9525" cap="flat" cmpd="sng">
                    <a:solidFill>
                      <a:srgbClr val="000000"/>
                    </a:solidFill>
                    <a:prstDash val="solid"/>
                    <a:headEnd type="none" w="med" len="med"/>
                    <a:tailEnd type="none" w="med" len="med"/>
                  </a:ln>
                </p:spPr>
              </p:sp>
              <p:sp>
                <p:nvSpPr>
                  <p:cNvPr id="70710" name="Line 51"/>
                  <p:cNvSpPr/>
                  <p:nvPr/>
                </p:nvSpPr>
                <p:spPr>
                  <a:xfrm>
                    <a:off x="4140" y="13608"/>
                    <a:ext cx="3780" cy="780"/>
                  </a:xfrm>
                  <a:prstGeom prst="line">
                    <a:avLst/>
                  </a:prstGeom>
                  <a:ln w="9525" cap="flat" cmpd="sng">
                    <a:solidFill>
                      <a:srgbClr val="000000"/>
                    </a:solidFill>
                    <a:prstDash val="solid"/>
                    <a:headEnd type="none" w="med" len="med"/>
                    <a:tailEnd type="none" w="med" len="med"/>
                  </a:ln>
                </p:spPr>
              </p:sp>
              <p:sp>
                <p:nvSpPr>
                  <p:cNvPr id="70711" name="Line 52"/>
                  <p:cNvSpPr/>
                  <p:nvPr/>
                </p:nvSpPr>
                <p:spPr>
                  <a:xfrm>
                    <a:off x="4500" y="14388"/>
                    <a:ext cx="3420" cy="0"/>
                  </a:xfrm>
                  <a:prstGeom prst="line">
                    <a:avLst/>
                  </a:prstGeom>
                  <a:ln w="9525" cap="flat" cmpd="sng">
                    <a:solidFill>
                      <a:srgbClr val="000000"/>
                    </a:solidFill>
                    <a:prstDash val="solid"/>
                    <a:headEnd type="none" w="med" len="med"/>
                    <a:tailEnd type="none" w="med" len="med"/>
                  </a:ln>
                </p:spPr>
              </p:sp>
              <p:sp>
                <p:nvSpPr>
                  <p:cNvPr id="70712" name="Line 53"/>
                  <p:cNvSpPr/>
                  <p:nvPr/>
                </p:nvSpPr>
                <p:spPr>
                  <a:xfrm flipV="1">
                    <a:off x="5400" y="14700"/>
                    <a:ext cx="1260" cy="156"/>
                  </a:xfrm>
                  <a:prstGeom prst="line">
                    <a:avLst/>
                  </a:prstGeom>
                  <a:ln w="9525" cap="flat" cmpd="sng">
                    <a:solidFill>
                      <a:srgbClr val="000000"/>
                    </a:solidFill>
                    <a:prstDash val="solid"/>
                    <a:headEnd type="none" w="med" len="med"/>
                    <a:tailEnd type="none" w="med" len="med"/>
                  </a:ln>
                </p:spPr>
              </p:sp>
            </p:grpSp>
          </p:grpSp>
          <p:sp>
            <p:nvSpPr>
              <p:cNvPr id="70680" name="Freeform 55"/>
              <p:cNvSpPr/>
              <p:nvPr/>
            </p:nvSpPr>
            <p:spPr>
              <a:xfrm>
                <a:off x="6480" y="2168"/>
                <a:ext cx="900" cy="1794"/>
              </a:xfrm>
              <a:custGeom>
                <a:avLst/>
                <a:gdLst/>
                <a:ahLst/>
                <a:cxnLst>
                  <a:cxn ang="0">
                    <a:pos x="540" y="364"/>
                  </a:cxn>
                  <a:cxn ang="0">
                    <a:pos x="360" y="52"/>
                  </a:cxn>
                  <a:cxn ang="0">
                    <a:pos x="180" y="52"/>
                  </a:cxn>
                  <a:cxn ang="0">
                    <a:pos x="0" y="364"/>
                  </a:cxn>
                  <a:cxn ang="0">
                    <a:pos x="180" y="988"/>
                  </a:cxn>
                  <a:cxn ang="0">
                    <a:pos x="360" y="1612"/>
                  </a:cxn>
                  <a:cxn ang="0">
                    <a:pos x="720" y="1768"/>
                  </a:cxn>
                  <a:cxn ang="0">
                    <a:pos x="900" y="1456"/>
                  </a:cxn>
                  <a:cxn ang="0">
                    <a:pos x="720" y="988"/>
                  </a:cxn>
                  <a:cxn ang="0">
                    <a:pos x="540" y="520"/>
                  </a:cxn>
                </a:cxnLst>
                <a:pathLst>
                  <a:path w="900" h="1794">
                    <a:moveTo>
                      <a:pt x="540" y="364"/>
                    </a:moveTo>
                    <a:cubicBezTo>
                      <a:pt x="480" y="234"/>
                      <a:pt x="420" y="104"/>
                      <a:pt x="360" y="52"/>
                    </a:cubicBezTo>
                    <a:cubicBezTo>
                      <a:pt x="300" y="0"/>
                      <a:pt x="240" y="0"/>
                      <a:pt x="180" y="52"/>
                    </a:cubicBezTo>
                    <a:cubicBezTo>
                      <a:pt x="120" y="104"/>
                      <a:pt x="0" y="208"/>
                      <a:pt x="0" y="364"/>
                    </a:cubicBezTo>
                    <a:cubicBezTo>
                      <a:pt x="0" y="520"/>
                      <a:pt x="120" y="780"/>
                      <a:pt x="180" y="988"/>
                    </a:cubicBezTo>
                    <a:cubicBezTo>
                      <a:pt x="240" y="1196"/>
                      <a:pt x="270" y="1482"/>
                      <a:pt x="360" y="1612"/>
                    </a:cubicBezTo>
                    <a:cubicBezTo>
                      <a:pt x="450" y="1742"/>
                      <a:pt x="630" y="1794"/>
                      <a:pt x="720" y="1768"/>
                    </a:cubicBezTo>
                    <a:cubicBezTo>
                      <a:pt x="810" y="1742"/>
                      <a:pt x="900" y="1586"/>
                      <a:pt x="900" y="1456"/>
                    </a:cubicBezTo>
                    <a:cubicBezTo>
                      <a:pt x="900" y="1326"/>
                      <a:pt x="780" y="1144"/>
                      <a:pt x="720" y="988"/>
                    </a:cubicBezTo>
                    <a:cubicBezTo>
                      <a:pt x="660" y="832"/>
                      <a:pt x="540" y="572"/>
                      <a:pt x="540" y="520"/>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sp>
            <p:nvSpPr>
              <p:cNvPr id="70681" name="Freeform 57"/>
              <p:cNvSpPr/>
              <p:nvPr/>
            </p:nvSpPr>
            <p:spPr>
              <a:xfrm>
                <a:off x="3720" y="1570"/>
                <a:ext cx="3000" cy="676"/>
              </a:xfrm>
              <a:custGeom>
                <a:avLst/>
                <a:gdLst/>
                <a:ahLst/>
                <a:cxnLst>
                  <a:cxn ang="0">
                    <a:pos x="2580" y="26"/>
                  </a:cxn>
                  <a:cxn ang="0">
                    <a:pos x="600" y="26"/>
                  </a:cxn>
                  <a:cxn ang="0">
                    <a:pos x="60" y="182"/>
                  </a:cxn>
                  <a:cxn ang="0">
                    <a:pos x="240" y="494"/>
                  </a:cxn>
                  <a:cxn ang="0">
                    <a:pos x="420" y="650"/>
                  </a:cxn>
                  <a:cxn ang="0">
                    <a:pos x="1500" y="650"/>
                  </a:cxn>
                  <a:cxn ang="0">
                    <a:pos x="2580" y="650"/>
                  </a:cxn>
                  <a:cxn ang="0">
                    <a:pos x="2940" y="494"/>
                  </a:cxn>
                  <a:cxn ang="0">
                    <a:pos x="2940" y="182"/>
                  </a:cxn>
                  <a:cxn ang="0">
                    <a:pos x="2760" y="26"/>
                  </a:cxn>
                </a:cxnLst>
                <a:pathLst>
                  <a:path w="3000" h="676">
                    <a:moveTo>
                      <a:pt x="2580" y="26"/>
                    </a:moveTo>
                    <a:cubicBezTo>
                      <a:pt x="1800" y="13"/>
                      <a:pt x="1020" y="0"/>
                      <a:pt x="600" y="26"/>
                    </a:cubicBezTo>
                    <a:cubicBezTo>
                      <a:pt x="180" y="52"/>
                      <a:pt x="120" y="104"/>
                      <a:pt x="60" y="182"/>
                    </a:cubicBezTo>
                    <a:cubicBezTo>
                      <a:pt x="0" y="260"/>
                      <a:pt x="180" y="416"/>
                      <a:pt x="240" y="494"/>
                    </a:cubicBezTo>
                    <a:cubicBezTo>
                      <a:pt x="300" y="572"/>
                      <a:pt x="210" y="624"/>
                      <a:pt x="420" y="650"/>
                    </a:cubicBezTo>
                    <a:cubicBezTo>
                      <a:pt x="630" y="676"/>
                      <a:pt x="1140" y="650"/>
                      <a:pt x="1500" y="650"/>
                    </a:cubicBezTo>
                    <a:cubicBezTo>
                      <a:pt x="1860" y="650"/>
                      <a:pt x="2340" y="676"/>
                      <a:pt x="2580" y="650"/>
                    </a:cubicBezTo>
                    <a:cubicBezTo>
                      <a:pt x="2820" y="624"/>
                      <a:pt x="2880" y="572"/>
                      <a:pt x="2940" y="494"/>
                    </a:cubicBezTo>
                    <a:cubicBezTo>
                      <a:pt x="3000" y="416"/>
                      <a:pt x="2970" y="260"/>
                      <a:pt x="2940" y="182"/>
                    </a:cubicBezTo>
                    <a:cubicBezTo>
                      <a:pt x="2910" y="104"/>
                      <a:pt x="2790" y="52"/>
                      <a:pt x="2760" y="26"/>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grpSp>
        <p:sp>
          <p:nvSpPr>
            <p:cNvPr id="70678" name="Freeform 55"/>
            <p:cNvSpPr/>
            <p:nvPr/>
          </p:nvSpPr>
          <p:spPr>
            <a:xfrm>
              <a:off x="425096" y="4379913"/>
              <a:ext cx="5253037" cy="2478087"/>
            </a:xfrm>
            <a:custGeom>
              <a:avLst/>
              <a:gdLst/>
              <a:ahLst/>
              <a:cxnLst>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900" h="1794">
                  <a:moveTo>
                    <a:pt x="540" y="364"/>
                  </a:moveTo>
                  <a:cubicBezTo>
                    <a:pt x="480" y="234"/>
                    <a:pt x="420" y="104"/>
                    <a:pt x="360" y="52"/>
                  </a:cubicBezTo>
                  <a:cubicBezTo>
                    <a:pt x="300" y="0"/>
                    <a:pt x="240" y="0"/>
                    <a:pt x="180" y="52"/>
                  </a:cubicBezTo>
                  <a:cubicBezTo>
                    <a:pt x="120" y="104"/>
                    <a:pt x="0" y="208"/>
                    <a:pt x="0" y="364"/>
                  </a:cubicBezTo>
                  <a:cubicBezTo>
                    <a:pt x="0" y="520"/>
                    <a:pt x="120" y="780"/>
                    <a:pt x="180" y="988"/>
                  </a:cubicBezTo>
                  <a:cubicBezTo>
                    <a:pt x="240" y="1196"/>
                    <a:pt x="270" y="1482"/>
                    <a:pt x="360" y="1612"/>
                  </a:cubicBezTo>
                  <a:cubicBezTo>
                    <a:pt x="450" y="1742"/>
                    <a:pt x="630" y="1794"/>
                    <a:pt x="720" y="1768"/>
                  </a:cubicBezTo>
                  <a:cubicBezTo>
                    <a:pt x="810" y="1742"/>
                    <a:pt x="900" y="1586"/>
                    <a:pt x="900" y="1456"/>
                  </a:cubicBezTo>
                  <a:cubicBezTo>
                    <a:pt x="900" y="1326"/>
                    <a:pt x="780" y="1144"/>
                    <a:pt x="720" y="988"/>
                  </a:cubicBezTo>
                  <a:cubicBezTo>
                    <a:pt x="660" y="832"/>
                    <a:pt x="540" y="572"/>
                    <a:pt x="540" y="520"/>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grpSp>
      <p:sp>
        <p:nvSpPr>
          <p:cNvPr id="70668" name="矩形 67"/>
          <p:cNvSpPr/>
          <p:nvPr/>
        </p:nvSpPr>
        <p:spPr>
          <a:xfrm>
            <a:off x="728663" y="4457700"/>
            <a:ext cx="441325" cy="3683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solidFill>
                  <a:srgbClr val="FF0000"/>
                </a:solidFill>
                <a:ea typeface="宋体" panose="02010600030101010101" pitchFamily="2" charset="-122"/>
              </a:rPr>
              <a:t>P3</a:t>
            </a:r>
            <a:endParaRPr lang="zh-CN" altLang="en-US" sz="1800" dirty="0">
              <a:ea typeface="宋体" panose="02010600030101010101" pitchFamily="2" charset="-122"/>
            </a:endParaRPr>
          </a:p>
        </p:txBody>
      </p:sp>
      <p:sp>
        <p:nvSpPr>
          <p:cNvPr id="70669" name="矩形 68"/>
          <p:cNvSpPr/>
          <p:nvPr/>
        </p:nvSpPr>
        <p:spPr>
          <a:xfrm>
            <a:off x="6003925" y="3376613"/>
            <a:ext cx="441325" cy="3683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solidFill>
                  <a:srgbClr val="FF0000"/>
                </a:solidFill>
                <a:ea typeface="宋体" panose="02010600030101010101" pitchFamily="2" charset="-122"/>
              </a:rPr>
              <a:t>P1</a:t>
            </a:r>
            <a:endParaRPr lang="zh-CN" altLang="en-US" sz="1800" dirty="0">
              <a:ea typeface="宋体" panose="02010600030101010101" pitchFamily="2" charset="-122"/>
            </a:endParaRPr>
          </a:p>
        </p:txBody>
      </p:sp>
      <p:sp>
        <p:nvSpPr>
          <p:cNvPr id="70670" name="矩形 69"/>
          <p:cNvSpPr/>
          <p:nvPr/>
        </p:nvSpPr>
        <p:spPr>
          <a:xfrm>
            <a:off x="6613525" y="4826000"/>
            <a:ext cx="441325" cy="36830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solidFill>
                  <a:srgbClr val="FF0000"/>
                </a:solidFill>
                <a:ea typeface="宋体" panose="02010600030101010101" pitchFamily="2" charset="-122"/>
              </a:rPr>
              <a:t>P2</a:t>
            </a:r>
            <a:endParaRPr lang="zh-CN" altLang="en-US" sz="1800" dirty="0">
              <a:ea typeface="宋体" panose="02010600030101010101" pitchFamily="2" charset="-122"/>
            </a:endParaRPr>
          </a:p>
        </p:txBody>
      </p:sp>
      <p:sp>
        <p:nvSpPr>
          <p:cNvPr id="70671" name="椭圆 58"/>
          <p:cNvSpPr/>
          <p:nvPr/>
        </p:nvSpPr>
        <p:spPr>
          <a:xfrm>
            <a:off x="5287963" y="6415088"/>
            <a:ext cx="192087" cy="388937"/>
          </a:xfrm>
          <a:prstGeom prst="ellipse">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72" name="Oval 23"/>
          <p:cNvSpPr/>
          <p:nvPr/>
        </p:nvSpPr>
        <p:spPr>
          <a:xfrm>
            <a:off x="1993900" y="5532438"/>
            <a:ext cx="247650" cy="188912"/>
          </a:xfrm>
          <a:prstGeom prst="ellipse">
            <a:avLst/>
          </a:prstGeom>
          <a:solidFill>
            <a:srgbClr val="00B0F0"/>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73" name="Oval 23"/>
          <p:cNvSpPr/>
          <p:nvPr/>
        </p:nvSpPr>
        <p:spPr>
          <a:xfrm>
            <a:off x="6956425" y="5537200"/>
            <a:ext cx="247650" cy="190500"/>
          </a:xfrm>
          <a:prstGeom prst="ellipse">
            <a:avLst/>
          </a:prstGeom>
          <a:solidFill>
            <a:srgbClr val="C00000"/>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74" name="Oval 23"/>
          <p:cNvSpPr/>
          <p:nvPr/>
        </p:nvSpPr>
        <p:spPr>
          <a:xfrm>
            <a:off x="3235325" y="6056313"/>
            <a:ext cx="247650" cy="190500"/>
          </a:xfrm>
          <a:prstGeom prst="ellipse">
            <a:avLst/>
          </a:prstGeom>
          <a:solidFill>
            <a:srgbClr val="C00000"/>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0675" name="TextBox 71"/>
          <p:cNvSpPr txBox="1"/>
          <p:nvPr/>
        </p:nvSpPr>
        <p:spPr>
          <a:xfrm>
            <a:off x="4970463" y="6121400"/>
            <a:ext cx="698500" cy="33813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solidFill>
                  <a:srgbClr val="FF0000"/>
                </a:solidFill>
                <a:ea typeface="宋体" panose="02010600030101010101" pitchFamily="2" charset="-122"/>
              </a:rPr>
              <a:t>(5+1)</a:t>
            </a:r>
            <a:endParaRPr lang="zh-CN" altLang="en-US" sz="1600" dirty="0">
              <a:solidFill>
                <a:srgbClr val="FF0000"/>
              </a:solidFill>
              <a:ea typeface="宋体" panose="02010600030101010101" pitchFamily="2" charset="-122"/>
            </a:endParaRPr>
          </a:p>
        </p:txBody>
      </p:sp>
      <p:sp>
        <p:nvSpPr>
          <p:cNvPr id="70676" name="TextBox 72"/>
          <p:cNvSpPr txBox="1"/>
          <p:nvPr/>
        </p:nvSpPr>
        <p:spPr>
          <a:xfrm>
            <a:off x="1443038" y="5649913"/>
            <a:ext cx="700087" cy="3381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solidFill>
                  <a:srgbClr val="FF0000"/>
                </a:solidFill>
                <a:ea typeface="宋体" panose="02010600030101010101" pitchFamily="2" charset="-122"/>
              </a:rPr>
              <a:t>(7+4)</a:t>
            </a:r>
            <a:endParaRPr lang="zh-CN" altLang="en-US" sz="1600" dirty="0">
              <a:solidFill>
                <a:srgbClr val="FF0000"/>
              </a:solidFill>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0" y="0"/>
            <a:ext cx="9144000" cy="508000"/>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71683"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1684" name="Rectangle 57"/>
          <p:cNvSpPr/>
          <p:nvPr/>
        </p:nvSpPr>
        <p:spPr>
          <a:xfrm>
            <a:off x="90488" y="466725"/>
            <a:ext cx="8961437" cy="23082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609600" lvl="0" indent="-609600" algn="l" eaLnBrk="1" hangingPunct="1">
              <a:lnSpc>
                <a:spcPct val="150000"/>
              </a:lnSpc>
              <a:spcBef>
                <a:spcPct val="50000"/>
              </a:spcBef>
              <a:buClrTx/>
              <a:buNone/>
            </a:pPr>
            <a:r>
              <a:rPr lang="zh-CN" altLang="en-US" sz="1600" b="1" dirty="0">
                <a:ea typeface="宋体" panose="02010600030101010101" pitchFamily="2" charset="-122"/>
              </a:rPr>
              <a:t>（</a:t>
            </a:r>
            <a:r>
              <a:rPr lang="en-US" altLang="zh-CN" sz="1600" b="1" dirty="0">
                <a:ea typeface="宋体" panose="02010600030101010101" pitchFamily="2" charset="-122"/>
              </a:rPr>
              <a:t>1</a:t>
            </a:r>
            <a:r>
              <a:rPr lang="zh-CN" altLang="en-US" sz="1600" b="1" dirty="0">
                <a:ea typeface="宋体" panose="02010600030101010101" pitchFamily="2" charset="-122"/>
              </a:rPr>
              <a:t>）</a:t>
            </a:r>
            <a:r>
              <a:rPr lang="en-US" altLang="zh-CN" sz="1600" b="1" dirty="0">
                <a:ea typeface="宋体" panose="02010600030101010101" pitchFamily="2" charset="-122"/>
              </a:rPr>
              <a:t>P1</a:t>
            </a:r>
            <a:r>
              <a:rPr lang="zh-CN" altLang="en-US" sz="1600" b="1" dirty="0">
                <a:ea typeface="宋体" panose="02010600030101010101" pitchFamily="2" charset="-122"/>
              </a:rPr>
              <a:t>是平衡的，删除模块</a:t>
            </a:r>
            <a:r>
              <a:rPr lang="en-US" altLang="zh-CN" sz="1600" b="1" dirty="0">
                <a:ea typeface="宋体" panose="02010600030101010101" pitchFamily="2" charset="-122"/>
              </a:rPr>
              <a:t>m1</a:t>
            </a:r>
            <a:r>
              <a:rPr lang="zh-CN" altLang="en-US" sz="1600" b="1" dirty="0">
                <a:ea typeface="宋体" panose="02010600030101010101" pitchFamily="2" charset="-122"/>
              </a:rPr>
              <a:t>、</a:t>
            </a:r>
            <a:r>
              <a:rPr lang="en-US" altLang="zh-CN" sz="1600" b="1" dirty="0">
                <a:ea typeface="宋体" panose="02010600030101010101" pitchFamily="2" charset="-122"/>
              </a:rPr>
              <a:t>m2</a:t>
            </a:r>
            <a:r>
              <a:rPr lang="zh-CN" altLang="en-US" sz="1600" b="1" dirty="0">
                <a:ea typeface="宋体" panose="02010600030101010101" pitchFamily="2" charset="-122"/>
              </a:rPr>
              <a:t>；</a:t>
            </a:r>
            <a:endParaRPr lang="zh-CN" altLang="en-US" sz="1600" b="1" dirty="0">
              <a:ea typeface="宋体" panose="02010600030101010101" pitchFamily="2" charset="-122"/>
            </a:endParaRPr>
          </a:p>
          <a:p>
            <a:pPr marL="609600" lvl="0" indent="-609600" algn="l" eaLnBrk="1" hangingPunct="1">
              <a:lnSpc>
                <a:spcPct val="150000"/>
              </a:lnSpc>
              <a:spcBef>
                <a:spcPct val="50000"/>
              </a:spcBef>
              <a:buClrTx/>
              <a:buNone/>
            </a:pPr>
            <a:r>
              <a:rPr lang="zh-CN" altLang="en-US" sz="1600" b="1" dirty="0">
                <a:ea typeface="宋体" panose="02010600030101010101" pitchFamily="2" charset="-122"/>
              </a:rPr>
              <a:t>（</a:t>
            </a:r>
            <a:r>
              <a:rPr lang="en-US" altLang="zh-CN" sz="1600" b="1" dirty="0">
                <a:ea typeface="宋体" panose="02010600030101010101" pitchFamily="2" charset="-122"/>
              </a:rPr>
              <a:t>2</a:t>
            </a:r>
            <a:r>
              <a:rPr lang="zh-CN" altLang="en-US" sz="1600" b="1" dirty="0">
                <a:ea typeface="宋体" panose="02010600030101010101" pitchFamily="2" charset="-122"/>
              </a:rPr>
              <a:t>）</a:t>
            </a:r>
            <a:r>
              <a:rPr lang="en-US" altLang="zh-CN" sz="1600" b="1" dirty="0">
                <a:ea typeface="宋体" panose="02010600030101010101" pitchFamily="2" charset="-122"/>
              </a:rPr>
              <a:t>P2</a:t>
            </a:r>
            <a:r>
              <a:rPr lang="zh-CN" altLang="en-US" sz="1600" b="1" dirty="0">
                <a:ea typeface="宋体" panose="02010600030101010101" pitchFamily="2" charset="-122"/>
              </a:rPr>
              <a:t>为轻载的，合并模块</a:t>
            </a:r>
            <a:r>
              <a:rPr lang="en-US" altLang="zh-CN" sz="1600" b="1" dirty="0">
                <a:ea typeface="宋体" panose="02010600030101010101" pitchFamily="2" charset="-122"/>
              </a:rPr>
              <a:t>m3</a:t>
            </a:r>
            <a:r>
              <a:rPr lang="zh-CN" altLang="en-US" sz="1600" b="1" dirty="0">
                <a:ea typeface="宋体" panose="02010600030101010101" pitchFamily="2" charset="-122"/>
              </a:rPr>
              <a:t>和</a:t>
            </a:r>
            <a:r>
              <a:rPr lang="en-US" altLang="zh-CN" sz="1600" b="1" dirty="0">
                <a:ea typeface="宋体" panose="02010600030101010101" pitchFamily="2" charset="-122"/>
              </a:rPr>
              <a:t>m4</a:t>
            </a:r>
            <a:r>
              <a:rPr lang="zh-CN" altLang="en-US" sz="1600" b="1" dirty="0">
                <a:ea typeface="宋体" panose="02010600030101010101" pitchFamily="2" charset="-122"/>
              </a:rPr>
              <a:t>变为</a:t>
            </a:r>
            <a:r>
              <a:rPr lang="en-US" altLang="zh-CN" sz="1600" b="1" dirty="0">
                <a:ea typeface="宋体" panose="02010600030101010101" pitchFamily="2" charset="-122"/>
              </a:rPr>
              <a:t>m9</a:t>
            </a:r>
            <a:r>
              <a:rPr lang="zh-CN" altLang="en-US" sz="1600" b="1" dirty="0">
                <a:ea typeface="宋体" panose="02010600030101010101" pitchFamily="2" charset="-122"/>
              </a:rPr>
              <a:t>，相应的边的权相加；图</a:t>
            </a:r>
            <a:r>
              <a:rPr lang="en-US" altLang="zh-CN" sz="1600" b="1" dirty="0">
                <a:ea typeface="宋体" panose="02010600030101010101" pitchFamily="2" charset="-122"/>
              </a:rPr>
              <a:t>2</a:t>
            </a:r>
            <a:endParaRPr lang="en-US" altLang="zh-CN" sz="1600" b="1" dirty="0">
              <a:ea typeface="宋体" panose="02010600030101010101" pitchFamily="2" charset="-122"/>
            </a:endParaRPr>
          </a:p>
          <a:p>
            <a:pPr marL="609600" lvl="0" indent="-609600" algn="l" eaLnBrk="1" hangingPunct="1">
              <a:lnSpc>
                <a:spcPct val="150000"/>
              </a:lnSpc>
              <a:spcBef>
                <a:spcPct val="50000"/>
              </a:spcBef>
              <a:buClrTx/>
              <a:buNone/>
            </a:pPr>
            <a:r>
              <a:rPr lang="zh-CN" altLang="en-US" sz="1600" b="1" dirty="0">
                <a:ea typeface="宋体" panose="02010600030101010101" pitchFamily="2" charset="-122"/>
              </a:rPr>
              <a:t>（</a:t>
            </a:r>
            <a:r>
              <a:rPr lang="en-US" altLang="zh-CN" sz="1600" b="1" dirty="0">
                <a:ea typeface="宋体" panose="02010600030101010101" pitchFamily="2" charset="-122"/>
              </a:rPr>
              <a:t>3</a:t>
            </a:r>
            <a:r>
              <a:rPr lang="zh-CN" altLang="en-US" sz="1600" b="1" dirty="0">
                <a:ea typeface="宋体" panose="02010600030101010101" pitchFamily="2" charset="-122"/>
              </a:rPr>
              <a:t>）去掉</a:t>
            </a:r>
            <a:r>
              <a:rPr lang="zh-CN" altLang="en-US" sz="1600" b="1" dirty="0">
                <a:solidFill>
                  <a:srgbClr val="C00000"/>
                </a:solidFill>
                <a:ea typeface="宋体" panose="02010600030101010101" pitchFamily="2" charset="-122"/>
              </a:rPr>
              <a:t>附属</a:t>
            </a:r>
            <a:r>
              <a:rPr lang="en-US" altLang="zh-CN" sz="1600" b="1" dirty="0">
                <a:ea typeface="宋体" panose="02010600030101010101" pitchFamily="2" charset="-122"/>
              </a:rPr>
              <a:t>m5</a:t>
            </a:r>
            <a:r>
              <a:rPr lang="zh-CN" altLang="en-US" sz="1600" b="1" dirty="0">
                <a:ea typeface="宋体" panose="02010600030101010101" pitchFamily="2" charset="-122"/>
              </a:rPr>
              <a:t>到</a:t>
            </a:r>
            <a:r>
              <a:rPr lang="en-US" altLang="zh-CN" sz="1600" b="1" dirty="0">
                <a:ea typeface="宋体" panose="02010600030101010101" pitchFamily="2" charset="-122"/>
              </a:rPr>
              <a:t>m9</a:t>
            </a:r>
            <a:r>
              <a:rPr lang="zh-CN" altLang="en-US" sz="1600" b="1" dirty="0">
                <a:ea typeface="宋体" panose="02010600030101010101" pitchFamily="2" charset="-122"/>
              </a:rPr>
              <a:t>的权为</a:t>
            </a:r>
            <a:r>
              <a:rPr lang="en-US" altLang="zh-CN" sz="1600" b="1" dirty="0">
                <a:ea typeface="宋体" panose="02010600030101010101" pitchFamily="2" charset="-122"/>
              </a:rPr>
              <a:t>5+1</a:t>
            </a:r>
            <a:r>
              <a:rPr lang="zh-CN" altLang="en-US" sz="1600" b="1" dirty="0">
                <a:ea typeface="宋体" panose="02010600030101010101" pitchFamily="2" charset="-122"/>
              </a:rPr>
              <a:t>的边；</a:t>
            </a:r>
            <a:r>
              <a:rPr lang="en-US" altLang="zh-CN" sz="1600" b="1" dirty="0">
                <a:ea typeface="宋体" panose="02010600030101010101" pitchFamily="2" charset="-122"/>
              </a:rPr>
              <a:t>m4</a:t>
            </a:r>
            <a:r>
              <a:rPr lang="zh-CN" altLang="en-US" sz="1600" b="1" dirty="0">
                <a:ea typeface="宋体" panose="02010600030101010101" pitchFamily="2" charset="-122"/>
              </a:rPr>
              <a:t>和</a:t>
            </a:r>
            <a:r>
              <a:rPr lang="en-US" altLang="zh-CN" sz="1600" b="1" dirty="0">
                <a:ea typeface="宋体" panose="02010600030101010101" pitchFamily="2" charset="-122"/>
              </a:rPr>
              <a:t>m6</a:t>
            </a:r>
            <a:r>
              <a:rPr lang="zh-CN" altLang="en-US" sz="1600" b="1" dirty="0">
                <a:ea typeface="宋体" panose="02010600030101010101" pitchFamily="2" charset="-122"/>
              </a:rPr>
              <a:t>互斥，去掉</a:t>
            </a:r>
            <a:r>
              <a:rPr lang="en-US" altLang="zh-CN" sz="1600" b="1" dirty="0">
                <a:ea typeface="宋体" panose="02010600030101010101" pitchFamily="2" charset="-122"/>
              </a:rPr>
              <a:t>m6</a:t>
            </a:r>
            <a:r>
              <a:rPr lang="zh-CN" altLang="en-US" sz="1600" b="1" dirty="0">
                <a:ea typeface="宋体" panose="02010600030101010101" pitchFamily="2" charset="-122"/>
              </a:rPr>
              <a:t>到</a:t>
            </a:r>
            <a:r>
              <a:rPr lang="en-US" altLang="zh-CN" sz="1600" b="1" dirty="0">
                <a:ea typeface="宋体" panose="02010600030101010101" pitchFamily="2" charset="-122"/>
              </a:rPr>
              <a:t>m9</a:t>
            </a:r>
            <a:r>
              <a:rPr lang="zh-CN" altLang="en-US" sz="1600" b="1" dirty="0">
                <a:ea typeface="宋体" panose="02010600030101010101" pitchFamily="2" charset="-122"/>
              </a:rPr>
              <a:t>的权为</a:t>
            </a:r>
            <a:r>
              <a:rPr lang="en-US" altLang="zh-CN" sz="1600" b="1" dirty="0">
                <a:ea typeface="宋体" panose="02010600030101010101" pitchFamily="2" charset="-122"/>
              </a:rPr>
              <a:t>2</a:t>
            </a:r>
            <a:r>
              <a:rPr lang="zh-CN" altLang="en-US" sz="1600" b="1" dirty="0">
                <a:ea typeface="宋体" panose="02010600030101010101" pitchFamily="2" charset="-122"/>
              </a:rPr>
              <a:t>的边；图</a:t>
            </a:r>
            <a:r>
              <a:rPr lang="en-US" altLang="zh-CN" sz="1600" b="1" dirty="0">
                <a:ea typeface="宋体" panose="02010600030101010101" pitchFamily="2" charset="-122"/>
              </a:rPr>
              <a:t>3</a:t>
            </a:r>
            <a:endParaRPr lang="en-US" altLang="zh-CN" sz="1600" b="1" dirty="0">
              <a:ea typeface="宋体" panose="02010600030101010101" pitchFamily="2" charset="-122"/>
            </a:endParaRPr>
          </a:p>
          <a:p>
            <a:pPr marL="609600" lvl="0" indent="-609600" algn="l" eaLnBrk="1" hangingPunct="1">
              <a:lnSpc>
                <a:spcPct val="150000"/>
              </a:lnSpc>
              <a:spcBef>
                <a:spcPct val="50000"/>
              </a:spcBef>
              <a:buClrTx/>
              <a:buNone/>
            </a:pPr>
            <a:r>
              <a:rPr lang="zh-CN" altLang="en-US" sz="1600" b="1" dirty="0">
                <a:latin typeface="宋体" panose="02010600030101010101" pitchFamily="2" charset="-122"/>
                <a:ea typeface="宋体" panose="02010600030101010101" pitchFamily="2" charset="-122"/>
              </a:rPr>
              <a:t>（</a:t>
            </a:r>
            <a:r>
              <a:rPr lang="en-US" altLang="zh-CN" sz="1600" b="1" dirty="0">
                <a:latin typeface="宋体" panose="02010600030101010101" pitchFamily="2" charset="-122"/>
                <a:ea typeface="宋体" panose="02010600030101010101" pitchFamily="2" charset="-122"/>
              </a:rPr>
              <a:t>4</a:t>
            </a:r>
            <a:r>
              <a:rPr lang="zh-CN" altLang="en-US" sz="1600" b="1" dirty="0">
                <a:latin typeface="宋体" panose="02010600030101010101" pitchFamily="2" charset="-122"/>
                <a:ea typeface="宋体" panose="02010600030101010101" pitchFamily="2" charset="-122"/>
              </a:rPr>
              <a:t>）设</a:t>
            </a:r>
            <a:r>
              <a:rPr lang="en-US" altLang="zh-CN" sz="1600" b="1" dirty="0">
                <a:latin typeface="宋体" panose="02010600030101010101" pitchFamily="2" charset="-122"/>
                <a:ea typeface="宋体" panose="02010600030101010101" pitchFamily="2" charset="-122"/>
              </a:rPr>
              <a:t>L2</a:t>
            </a:r>
            <a:r>
              <a:rPr lang="zh-CN" altLang="en-US" sz="1600" b="1" dirty="0">
                <a:latin typeface="宋体" panose="02010600030101010101" pitchFamily="2" charset="-122"/>
                <a:ea typeface="宋体" panose="02010600030101010101" pitchFamily="2" charset="-122"/>
              </a:rPr>
              <a:t>为</a:t>
            </a:r>
            <a:r>
              <a:rPr lang="en-US" altLang="zh-CN" sz="1600" b="1" dirty="0">
                <a:latin typeface="宋体" panose="02010600030101010101" pitchFamily="2" charset="-122"/>
                <a:ea typeface="宋体" panose="02010600030101010101" pitchFamily="2" charset="-122"/>
              </a:rPr>
              <a:t>P2</a:t>
            </a:r>
            <a:r>
              <a:rPr lang="zh-CN" altLang="en-US" sz="1600" b="1" dirty="0">
                <a:latin typeface="宋体" panose="02010600030101010101" pitchFamily="2" charset="-122"/>
                <a:ea typeface="宋体" panose="02010600030101010101" pitchFamily="2" charset="-122"/>
              </a:rPr>
              <a:t>的负载，</a:t>
            </a:r>
            <a:r>
              <a:rPr lang="en-US" altLang="zh-CN" sz="1600" b="1" dirty="0">
                <a:latin typeface="宋体" panose="02010600030101010101" pitchFamily="2" charset="-122"/>
                <a:ea typeface="宋体" panose="02010600030101010101" pitchFamily="2" charset="-122"/>
              </a:rPr>
              <a:t>L3</a:t>
            </a:r>
            <a:r>
              <a:rPr lang="zh-CN" altLang="en-US" sz="1600" b="1" dirty="0">
                <a:latin typeface="宋体" panose="02010600030101010101" pitchFamily="2" charset="-122"/>
                <a:ea typeface="宋体" panose="02010600030101010101" pitchFamily="2" charset="-122"/>
              </a:rPr>
              <a:t>为</a:t>
            </a:r>
            <a:r>
              <a:rPr lang="en-US" altLang="zh-CN" sz="1600" b="1" dirty="0">
                <a:latin typeface="宋体" panose="02010600030101010101" pitchFamily="2" charset="-122"/>
                <a:ea typeface="宋体" panose="02010600030101010101" pitchFamily="2" charset="-122"/>
              </a:rPr>
              <a:t>P3</a:t>
            </a:r>
            <a:r>
              <a:rPr lang="zh-CN" altLang="en-US" sz="1600" b="1" dirty="0">
                <a:latin typeface="宋体" panose="02010600030101010101" pitchFamily="2" charset="-122"/>
                <a:ea typeface="宋体" panose="02010600030101010101" pitchFamily="2" charset="-122"/>
              </a:rPr>
              <a:t>的负载</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将超载的平均值</a:t>
            </a:r>
            <a:r>
              <a:rPr lang="en-US" altLang="zh-CN" sz="1600" b="1" dirty="0">
                <a:latin typeface="宋体" panose="02010600030101010101" pitchFamily="2" charset="-122"/>
                <a:ea typeface="宋体" panose="02010600030101010101" pitchFamily="2" charset="-122"/>
              </a:rPr>
              <a:t>x=(L3-L2)/2</a:t>
            </a:r>
            <a:r>
              <a:rPr lang="zh-CN" altLang="en-US" sz="1600" b="1" dirty="0">
                <a:latin typeface="宋体" panose="02010600030101010101" pitchFamily="2" charset="-122"/>
                <a:ea typeface="宋体" panose="02010600030101010101" pitchFamily="2" charset="-122"/>
              </a:rPr>
              <a:t>加到</a:t>
            </a:r>
            <a:r>
              <a:rPr lang="en-US" altLang="zh-CN" sz="1600" b="1" dirty="0">
                <a:latin typeface="宋体" panose="02010600030101010101" pitchFamily="2" charset="-122"/>
                <a:ea typeface="宋体" panose="02010600030101010101" pitchFamily="2" charset="-122"/>
              </a:rPr>
              <a:t>m8</a:t>
            </a:r>
            <a:r>
              <a:rPr lang="zh-CN" altLang="en-US" sz="1600" b="1" dirty="0">
                <a:latin typeface="宋体" panose="02010600030101010101" pitchFamily="2" charset="-122"/>
                <a:ea typeface="宋体" panose="02010600030101010101" pitchFamily="2" charset="-122"/>
              </a:rPr>
              <a:t>和</a:t>
            </a:r>
            <a:r>
              <a:rPr lang="en-US" altLang="zh-CN" sz="1600" b="1" dirty="0">
                <a:latin typeface="宋体" panose="02010600030101010101" pitchFamily="2" charset="-122"/>
                <a:ea typeface="宋体" panose="02010600030101010101" pitchFamily="2" charset="-122"/>
              </a:rPr>
              <a:t>m7</a:t>
            </a:r>
            <a:r>
              <a:rPr lang="zh-CN" altLang="en-US" sz="1600" b="1" dirty="0">
                <a:latin typeface="宋体" panose="02010600030101010101" pitchFamily="2" charset="-122"/>
                <a:ea typeface="宋体" panose="02010600030101010101" pitchFamily="2" charset="-122"/>
              </a:rPr>
              <a:t>到</a:t>
            </a:r>
            <a:r>
              <a:rPr lang="en-US" altLang="zh-CN" sz="1600" b="1" dirty="0">
                <a:latin typeface="宋体" panose="02010600030101010101" pitchFamily="2" charset="-122"/>
                <a:ea typeface="宋体" panose="02010600030101010101" pitchFamily="2" charset="-122"/>
              </a:rPr>
              <a:t>m9</a:t>
            </a:r>
            <a:r>
              <a:rPr lang="zh-CN" altLang="en-US" sz="1600" b="1" dirty="0">
                <a:latin typeface="宋体" panose="02010600030101010101" pitchFamily="2" charset="-122"/>
                <a:ea typeface="宋体" panose="02010600030101010101" pitchFamily="2" charset="-122"/>
              </a:rPr>
              <a:t>的边上，使它们与</a:t>
            </a:r>
            <a:r>
              <a:rPr lang="en-US" altLang="zh-CN" sz="1600" b="1" dirty="0">
                <a:latin typeface="宋体" panose="02010600030101010101" pitchFamily="2" charset="-122"/>
                <a:ea typeface="宋体" panose="02010600030101010101" pitchFamily="2" charset="-122"/>
              </a:rPr>
              <a:t>m9</a:t>
            </a:r>
            <a:r>
              <a:rPr lang="zh-CN" altLang="en-US" sz="1600" b="1" dirty="0">
                <a:latin typeface="宋体" panose="02010600030101010101" pitchFamily="2" charset="-122"/>
                <a:ea typeface="宋体" panose="02010600030101010101" pitchFamily="2" charset="-122"/>
              </a:rPr>
              <a:t>分到同一处理机的可能性加大（</a:t>
            </a:r>
            <a:r>
              <a:rPr lang="zh-CN" altLang="en-US" sz="1600" b="1" dirty="0">
                <a:ea typeface="宋体" panose="02010600030101010101" pitchFamily="2" charset="-122"/>
              </a:rPr>
              <a:t>图</a:t>
            </a:r>
            <a:r>
              <a:rPr lang="en-US" altLang="zh-CN" sz="1600" b="1" dirty="0">
                <a:ea typeface="宋体" panose="02010600030101010101" pitchFamily="2" charset="-122"/>
              </a:rPr>
              <a:t>4</a:t>
            </a:r>
            <a:r>
              <a:rPr lang="zh-CN" altLang="en-US" sz="1600" b="1" dirty="0">
                <a:latin typeface="宋体" panose="02010600030101010101" pitchFamily="2" charset="-122"/>
                <a:ea typeface="宋体" panose="02010600030101010101" pitchFamily="2" charset="-122"/>
              </a:rPr>
              <a:t>），再对图</a:t>
            </a:r>
            <a:r>
              <a:rPr lang="en-US" altLang="zh-CN" sz="1600" b="1" dirty="0">
                <a:latin typeface="宋体" panose="02010600030101010101" pitchFamily="2" charset="-122"/>
                <a:ea typeface="宋体" panose="02010600030101010101" pitchFamily="2" charset="-122"/>
              </a:rPr>
              <a:t>4</a:t>
            </a:r>
            <a:r>
              <a:rPr lang="zh-CN" altLang="en-US" sz="1600" b="1" dirty="0">
                <a:latin typeface="宋体" panose="02010600030101010101" pitchFamily="2" charset="-122"/>
                <a:ea typeface="宋体" panose="02010600030101010101" pitchFamily="2" charset="-122"/>
              </a:rPr>
              <a:t>执行“合一</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阈值”算法。</a:t>
            </a:r>
            <a:endParaRPr lang="en-US" altLang="zh-CN" sz="1600" b="1" dirty="0">
              <a:latin typeface="宋体" panose="02010600030101010101" pitchFamily="2" charset="-122"/>
              <a:ea typeface="宋体" panose="02010600030101010101" pitchFamily="2" charset="-122"/>
            </a:endParaRPr>
          </a:p>
        </p:txBody>
      </p:sp>
      <p:grpSp>
        <p:nvGrpSpPr>
          <p:cNvPr id="71685" name="Group 58"/>
          <p:cNvGrpSpPr/>
          <p:nvPr/>
        </p:nvGrpSpPr>
        <p:grpSpPr>
          <a:xfrm>
            <a:off x="730250" y="2749550"/>
            <a:ext cx="3686175" cy="2108200"/>
            <a:chOff x="2520" y="6120"/>
            <a:chExt cx="5040" cy="2088"/>
          </a:xfrm>
        </p:grpSpPr>
        <p:sp>
          <p:nvSpPr>
            <p:cNvPr id="71747" name="Text Box 59"/>
            <p:cNvSpPr txBox="1"/>
            <p:nvPr/>
          </p:nvSpPr>
          <p:spPr>
            <a:xfrm>
              <a:off x="3420" y="7710"/>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3</a:t>
              </a:r>
              <a:endParaRPr lang="en-US" altLang="zh-CN" sz="1600" dirty="0">
                <a:ea typeface="宋体" panose="02010600030101010101" pitchFamily="2" charset="-122"/>
              </a:endParaRPr>
            </a:p>
          </p:txBody>
        </p:sp>
        <p:grpSp>
          <p:nvGrpSpPr>
            <p:cNvPr id="71748" name="Group 60"/>
            <p:cNvGrpSpPr/>
            <p:nvPr/>
          </p:nvGrpSpPr>
          <p:grpSpPr>
            <a:xfrm>
              <a:off x="2520" y="6120"/>
              <a:ext cx="5040" cy="2088"/>
              <a:chOff x="2520" y="6120"/>
              <a:chExt cx="5040" cy="2088"/>
            </a:xfrm>
          </p:grpSpPr>
          <p:grpSp>
            <p:nvGrpSpPr>
              <p:cNvPr id="71749" name="Group 61"/>
              <p:cNvGrpSpPr/>
              <p:nvPr/>
            </p:nvGrpSpPr>
            <p:grpSpPr>
              <a:xfrm>
                <a:off x="2520" y="6276"/>
                <a:ext cx="4255" cy="1932"/>
                <a:chOff x="2520" y="6276"/>
                <a:chExt cx="4255" cy="1932"/>
              </a:xfrm>
            </p:grpSpPr>
            <p:sp>
              <p:nvSpPr>
                <p:cNvPr id="71752" name="Text Box 62"/>
                <p:cNvSpPr txBox="1"/>
                <p:nvPr/>
              </p:nvSpPr>
              <p:spPr>
                <a:xfrm>
                  <a:off x="5220" y="6900"/>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2</a:t>
                  </a:r>
                  <a:endParaRPr lang="en-US" altLang="zh-CN" sz="1600" dirty="0">
                    <a:ea typeface="宋体" panose="02010600030101010101" pitchFamily="2" charset="-122"/>
                  </a:endParaRPr>
                </a:p>
              </p:txBody>
            </p:sp>
            <p:sp>
              <p:nvSpPr>
                <p:cNvPr id="71753" name="Text Box 63"/>
                <p:cNvSpPr txBox="1"/>
                <p:nvPr/>
              </p:nvSpPr>
              <p:spPr>
                <a:xfrm>
                  <a:off x="5730" y="7056"/>
                  <a:ext cx="75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5+1</a:t>
                  </a:r>
                  <a:endParaRPr lang="en-US" altLang="zh-CN" sz="1600" dirty="0">
                    <a:ea typeface="宋体" panose="02010600030101010101" pitchFamily="2" charset="-122"/>
                  </a:endParaRPr>
                </a:p>
              </p:txBody>
            </p:sp>
            <p:sp>
              <p:nvSpPr>
                <p:cNvPr id="71754" name="Text Box 64"/>
                <p:cNvSpPr txBox="1"/>
                <p:nvPr/>
              </p:nvSpPr>
              <p:spPr>
                <a:xfrm>
                  <a:off x="4500" y="6825"/>
                  <a:ext cx="720" cy="40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7+4</a:t>
                  </a:r>
                  <a:endParaRPr lang="en-US" altLang="zh-CN" sz="1600" dirty="0">
                    <a:ea typeface="宋体" panose="02010600030101010101" pitchFamily="2" charset="-122"/>
                  </a:endParaRPr>
                </a:p>
              </p:txBody>
            </p:sp>
            <p:sp>
              <p:nvSpPr>
                <p:cNvPr id="71755" name="Text Box 65"/>
                <p:cNvSpPr txBox="1"/>
                <p:nvPr/>
              </p:nvSpPr>
              <p:spPr>
                <a:xfrm>
                  <a:off x="3240" y="674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8</a:t>
                  </a:r>
                  <a:endParaRPr lang="en-US" altLang="zh-CN" sz="1600" dirty="0">
                    <a:ea typeface="宋体" panose="02010600030101010101" pitchFamily="2" charset="-122"/>
                  </a:endParaRPr>
                </a:p>
              </p:txBody>
            </p:sp>
            <p:grpSp>
              <p:nvGrpSpPr>
                <p:cNvPr id="71756" name="Group 66"/>
                <p:cNvGrpSpPr/>
                <p:nvPr/>
              </p:nvGrpSpPr>
              <p:grpSpPr>
                <a:xfrm>
                  <a:off x="3780" y="7680"/>
                  <a:ext cx="744" cy="468"/>
                  <a:chOff x="2010" y="12486"/>
                  <a:chExt cx="744" cy="498"/>
                </a:xfrm>
              </p:grpSpPr>
              <p:sp>
                <p:nvSpPr>
                  <p:cNvPr id="71776" name="Text Box 67"/>
                  <p:cNvSpPr txBox="1"/>
                  <p:nvPr/>
                </p:nvSpPr>
                <p:spPr>
                  <a:xfrm>
                    <a:off x="2010" y="12486"/>
                    <a:ext cx="744"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6</a:t>
                    </a:r>
                    <a:endParaRPr lang="en-US" altLang="zh-CN" sz="1600" dirty="0">
                      <a:ea typeface="宋体" panose="02010600030101010101" pitchFamily="2" charset="-122"/>
                    </a:endParaRPr>
                  </a:p>
                </p:txBody>
              </p:sp>
              <p:sp>
                <p:nvSpPr>
                  <p:cNvPr id="71777" name="Oval 68"/>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57" name="Group 69"/>
                <p:cNvGrpSpPr/>
                <p:nvPr/>
              </p:nvGrpSpPr>
              <p:grpSpPr>
                <a:xfrm>
                  <a:off x="5094" y="7524"/>
                  <a:ext cx="666" cy="498"/>
                  <a:chOff x="1884" y="12486"/>
                  <a:chExt cx="666" cy="498"/>
                </a:xfrm>
              </p:grpSpPr>
              <p:sp>
                <p:nvSpPr>
                  <p:cNvPr id="71774" name="Text Box 70"/>
                  <p:cNvSpPr txBox="1"/>
                  <p:nvPr/>
                </p:nvSpPr>
                <p:spPr>
                  <a:xfrm>
                    <a:off x="1884" y="12486"/>
                    <a:ext cx="666"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5</a:t>
                    </a:r>
                    <a:endParaRPr lang="en-US" altLang="zh-CN" sz="1600" dirty="0">
                      <a:ea typeface="宋体" panose="02010600030101010101" pitchFamily="2" charset="-122"/>
                    </a:endParaRPr>
                  </a:p>
                </p:txBody>
              </p:sp>
              <p:sp>
                <p:nvSpPr>
                  <p:cNvPr id="71775" name="Oval 71"/>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58" name="Group 72"/>
                <p:cNvGrpSpPr/>
                <p:nvPr/>
              </p:nvGrpSpPr>
              <p:grpSpPr>
                <a:xfrm>
                  <a:off x="6120" y="6276"/>
                  <a:ext cx="655" cy="498"/>
                  <a:chOff x="2010" y="12486"/>
                  <a:chExt cx="655" cy="498"/>
                </a:xfrm>
              </p:grpSpPr>
              <p:sp>
                <p:nvSpPr>
                  <p:cNvPr id="71772" name="Text Box 73"/>
                  <p:cNvSpPr txBox="1"/>
                  <p:nvPr/>
                </p:nvSpPr>
                <p:spPr>
                  <a:xfrm>
                    <a:off x="2010" y="12486"/>
                    <a:ext cx="655"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9</a:t>
                    </a:r>
                    <a:endParaRPr lang="en-US" altLang="zh-CN" sz="1600" dirty="0">
                      <a:ea typeface="宋体" panose="02010600030101010101" pitchFamily="2" charset="-122"/>
                    </a:endParaRPr>
                  </a:p>
                </p:txBody>
              </p:sp>
              <p:sp>
                <p:nvSpPr>
                  <p:cNvPr id="71773" name="Oval 74"/>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59" name="Group 75"/>
                <p:cNvGrpSpPr/>
                <p:nvPr/>
              </p:nvGrpSpPr>
              <p:grpSpPr>
                <a:xfrm>
                  <a:off x="2520" y="6432"/>
                  <a:ext cx="690" cy="498"/>
                  <a:chOff x="2010" y="12486"/>
                  <a:chExt cx="690" cy="498"/>
                </a:xfrm>
              </p:grpSpPr>
              <p:sp>
                <p:nvSpPr>
                  <p:cNvPr id="71770" name="Text Box 76"/>
                  <p:cNvSpPr txBox="1"/>
                  <p:nvPr/>
                </p:nvSpPr>
                <p:spPr>
                  <a:xfrm>
                    <a:off x="2010" y="12486"/>
                    <a:ext cx="69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8</a:t>
                    </a:r>
                    <a:endParaRPr lang="en-US" altLang="zh-CN" sz="1600" dirty="0">
                      <a:ea typeface="宋体" panose="02010600030101010101" pitchFamily="2" charset="-122"/>
                    </a:endParaRPr>
                  </a:p>
                </p:txBody>
              </p:sp>
              <p:sp>
                <p:nvSpPr>
                  <p:cNvPr id="71771" name="Oval 77"/>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60" name="Text Box 78"/>
                <p:cNvSpPr txBox="1"/>
                <p:nvPr/>
              </p:nvSpPr>
              <p:spPr>
                <a:xfrm>
                  <a:off x="4680" y="7740"/>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6</a:t>
                  </a:r>
                  <a:endParaRPr lang="en-US" altLang="zh-CN" sz="1600" dirty="0">
                    <a:ea typeface="宋体" panose="02010600030101010101" pitchFamily="2" charset="-122"/>
                  </a:endParaRPr>
                </a:p>
              </p:txBody>
            </p:sp>
            <p:grpSp>
              <p:nvGrpSpPr>
                <p:cNvPr id="71761" name="Group 79"/>
                <p:cNvGrpSpPr/>
                <p:nvPr/>
              </p:nvGrpSpPr>
              <p:grpSpPr>
                <a:xfrm>
                  <a:off x="2880" y="7212"/>
                  <a:ext cx="750" cy="498"/>
                  <a:chOff x="2010" y="12486"/>
                  <a:chExt cx="750" cy="498"/>
                </a:xfrm>
              </p:grpSpPr>
              <p:sp>
                <p:nvSpPr>
                  <p:cNvPr id="71768" name="Text Box 80"/>
                  <p:cNvSpPr txBox="1"/>
                  <p:nvPr/>
                </p:nvSpPr>
                <p:spPr>
                  <a:xfrm>
                    <a:off x="2010" y="12486"/>
                    <a:ext cx="75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7</a:t>
                    </a:r>
                    <a:endParaRPr lang="en-US" altLang="zh-CN" sz="1600" dirty="0">
                      <a:ea typeface="宋体" panose="02010600030101010101" pitchFamily="2" charset="-122"/>
                    </a:endParaRPr>
                  </a:p>
                </p:txBody>
              </p:sp>
              <p:sp>
                <p:nvSpPr>
                  <p:cNvPr id="71769" name="Oval 81"/>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62" name="Line 82"/>
                <p:cNvSpPr/>
                <p:nvPr/>
              </p:nvSpPr>
              <p:spPr>
                <a:xfrm flipH="1">
                  <a:off x="4140" y="6744"/>
                  <a:ext cx="2160" cy="1248"/>
                </a:xfrm>
                <a:prstGeom prst="line">
                  <a:avLst/>
                </a:prstGeom>
                <a:ln w="9525" cap="flat" cmpd="sng">
                  <a:solidFill>
                    <a:srgbClr val="000000"/>
                  </a:solidFill>
                  <a:prstDash val="solid"/>
                  <a:headEnd type="none" w="med" len="med"/>
                  <a:tailEnd type="none" w="med" len="med"/>
                </a:ln>
              </p:spPr>
            </p:sp>
            <p:sp>
              <p:nvSpPr>
                <p:cNvPr id="71763" name="Line 83"/>
                <p:cNvSpPr/>
                <p:nvPr/>
              </p:nvSpPr>
              <p:spPr>
                <a:xfrm>
                  <a:off x="3240" y="7680"/>
                  <a:ext cx="720" cy="312"/>
                </a:xfrm>
                <a:prstGeom prst="line">
                  <a:avLst/>
                </a:prstGeom>
                <a:ln w="9525" cap="flat" cmpd="sng">
                  <a:solidFill>
                    <a:srgbClr val="000000"/>
                  </a:solidFill>
                  <a:prstDash val="solid"/>
                  <a:headEnd type="none" w="med" len="med"/>
                  <a:tailEnd type="none" w="med" len="med"/>
                </a:ln>
              </p:spPr>
            </p:sp>
            <p:sp>
              <p:nvSpPr>
                <p:cNvPr id="71764" name="Line 84"/>
                <p:cNvSpPr/>
                <p:nvPr/>
              </p:nvSpPr>
              <p:spPr>
                <a:xfrm flipH="1">
                  <a:off x="5580" y="6744"/>
                  <a:ext cx="720" cy="1248"/>
                </a:xfrm>
                <a:prstGeom prst="line">
                  <a:avLst/>
                </a:prstGeom>
                <a:ln w="9525" cap="flat" cmpd="sng">
                  <a:solidFill>
                    <a:srgbClr val="000000"/>
                  </a:solidFill>
                  <a:prstDash val="solid"/>
                  <a:headEnd type="none" w="med" len="med"/>
                  <a:tailEnd type="none" w="med" len="med"/>
                </a:ln>
              </p:spPr>
            </p:sp>
            <p:sp>
              <p:nvSpPr>
                <p:cNvPr id="71765" name="Line 85"/>
                <p:cNvSpPr/>
                <p:nvPr/>
              </p:nvSpPr>
              <p:spPr>
                <a:xfrm flipH="1">
                  <a:off x="3240" y="6744"/>
                  <a:ext cx="3060" cy="936"/>
                </a:xfrm>
                <a:prstGeom prst="line">
                  <a:avLst/>
                </a:prstGeom>
                <a:ln w="9525" cap="flat" cmpd="sng">
                  <a:solidFill>
                    <a:srgbClr val="000000"/>
                  </a:solidFill>
                  <a:prstDash val="solid"/>
                  <a:headEnd type="none" w="med" len="med"/>
                  <a:tailEnd type="none" w="med" len="med"/>
                </a:ln>
              </p:spPr>
            </p:sp>
            <p:sp>
              <p:nvSpPr>
                <p:cNvPr id="71766" name="Line 86"/>
                <p:cNvSpPr/>
                <p:nvPr/>
              </p:nvSpPr>
              <p:spPr>
                <a:xfrm flipV="1">
                  <a:off x="2880" y="6744"/>
                  <a:ext cx="3420" cy="156"/>
                </a:xfrm>
                <a:prstGeom prst="line">
                  <a:avLst/>
                </a:prstGeom>
                <a:ln w="9525" cap="flat" cmpd="sng">
                  <a:solidFill>
                    <a:srgbClr val="000000"/>
                  </a:solidFill>
                  <a:prstDash val="solid"/>
                  <a:headEnd type="none" w="med" len="med"/>
                  <a:tailEnd type="none" w="med" len="med"/>
                </a:ln>
              </p:spPr>
            </p:sp>
            <p:sp>
              <p:nvSpPr>
                <p:cNvPr id="71767" name="Line 87"/>
                <p:cNvSpPr/>
                <p:nvPr/>
              </p:nvSpPr>
              <p:spPr>
                <a:xfrm flipV="1">
                  <a:off x="4140" y="7992"/>
                  <a:ext cx="1260" cy="156"/>
                </a:xfrm>
                <a:prstGeom prst="line">
                  <a:avLst/>
                </a:prstGeom>
                <a:ln w="9525" cap="flat" cmpd="sng">
                  <a:solidFill>
                    <a:srgbClr val="000000"/>
                  </a:solidFill>
                  <a:prstDash val="solid"/>
                  <a:headEnd type="none" w="med" len="med"/>
                  <a:tailEnd type="none" w="med" len="med"/>
                </a:ln>
              </p:spPr>
            </p:sp>
          </p:grpSp>
          <p:sp>
            <p:nvSpPr>
              <p:cNvPr id="71750" name="Freeform 88"/>
              <p:cNvSpPr/>
              <p:nvPr/>
            </p:nvSpPr>
            <p:spPr>
              <a:xfrm>
                <a:off x="5940" y="6120"/>
                <a:ext cx="960" cy="1014"/>
              </a:xfrm>
              <a:custGeom>
                <a:avLst/>
                <a:gdLst/>
                <a:ahLst/>
                <a:cxnLst>
                  <a:cxn ang="0">
                    <a:pos x="360" y="0"/>
                  </a:cxn>
                  <a:cxn ang="0">
                    <a:pos x="0" y="468"/>
                  </a:cxn>
                  <a:cxn ang="0">
                    <a:pos x="360" y="936"/>
                  </a:cxn>
                  <a:cxn ang="0">
                    <a:pos x="720" y="936"/>
                  </a:cxn>
                  <a:cxn ang="0">
                    <a:pos x="900" y="624"/>
                  </a:cxn>
                  <a:cxn ang="0">
                    <a:pos x="900" y="312"/>
                  </a:cxn>
                  <a:cxn ang="0">
                    <a:pos x="540" y="0"/>
                  </a:cxn>
                </a:cxnLst>
                <a:pathLst>
                  <a:path w="960" h="1014">
                    <a:moveTo>
                      <a:pt x="360" y="0"/>
                    </a:moveTo>
                    <a:cubicBezTo>
                      <a:pt x="180" y="156"/>
                      <a:pt x="0" y="312"/>
                      <a:pt x="0" y="468"/>
                    </a:cubicBezTo>
                    <a:cubicBezTo>
                      <a:pt x="0" y="624"/>
                      <a:pt x="240" y="858"/>
                      <a:pt x="360" y="936"/>
                    </a:cubicBezTo>
                    <a:cubicBezTo>
                      <a:pt x="480" y="1014"/>
                      <a:pt x="630" y="988"/>
                      <a:pt x="720" y="936"/>
                    </a:cubicBezTo>
                    <a:cubicBezTo>
                      <a:pt x="810" y="884"/>
                      <a:pt x="870" y="728"/>
                      <a:pt x="900" y="624"/>
                    </a:cubicBezTo>
                    <a:cubicBezTo>
                      <a:pt x="930" y="520"/>
                      <a:pt x="960" y="416"/>
                      <a:pt x="900" y="312"/>
                    </a:cubicBezTo>
                    <a:cubicBezTo>
                      <a:pt x="840" y="208"/>
                      <a:pt x="660" y="52"/>
                      <a:pt x="540" y="0"/>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sp>
            <p:nvSpPr>
              <p:cNvPr id="71751" name="Text Box 89"/>
              <p:cNvSpPr txBox="1"/>
              <p:nvPr/>
            </p:nvSpPr>
            <p:spPr>
              <a:xfrm>
                <a:off x="7020" y="6432"/>
                <a:ext cx="5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solidFill>
                      <a:srgbClr val="FF0000"/>
                    </a:solidFill>
                    <a:ea typeface="宋体" panose="02010600030101010101" pitchFamily="2" charset="-122"/>
                  </a:rPr>
                  <a:t>P</a:t>
                </a:r>
                <a:r>
                  <a:rPr lang="en-US" altLang="zh-CN" sz="1600" baseline="-25000" dirty="0">
                    <a:solidFill>
                      <a:srgbClr val="FF0000"/>
                    </a:solidFill>
                    <a:ea typeface="宋体" panose="02010600030101010101" pitchFamily="2" charset="-122"/>
                  </a:rPr>
                  <a:t>2</a:t>
                </a:r>
                <a:endParaRPr lang="en-US" altLang="zh-CN" sz="1600" dirty="0">
                  <a:solidFill>
                    <a:srgbClr val="FF0000"/>
                  </a:solidFill>
                  <a:ea typeface="宋体" panose="02010600030101010101" pitchFamily="2" charset="-122"/>
                </a:endParaRPr>
              </a:p>
            </p:txBody>
          </p:sp>
        </p:grpSp>
      </p:grpSp>
      <p:sp>
        <p:nvSpPr>
          <p:cNvPr id="71686" name="Rectangle 90"/>
          <p:cNvSpPr/>
          <p:nvPr/>
        </p:nvSpPr>
        <p:spPr>
          <a:xfrm>
            <a:off x="3898900" y="4214813"/>
            <a:ext cx="492125" cy="338137"/>
          </a:xfrm>
          <a:prstGeom prst="rect">
            <a:avLst/>
          </a:prstGeom>
          <a:noFill/>
          <a:ln w="9525">
            <a:noFill/>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600" dirty="0">
                <a:ea typeface="宋体" panose="02010600030101010101" pitchFamily="2" charset="-122"/>
              </a:rPr>
              <a:t>图</a:t>
            </a:r>
            <a:r>
              <a:rPr lang="en-US" altLang="zh-CN" sz="1600" dirty="0">
                <a:ea typeface="宋体" panose="02010600030101010101" pitchFamily="2" charset="-122"/>
              </a:rPr>
              <a:t>2</a:t>
            </a:r>
            <a:endParaRPr lang="en-US" altLang="zh-CN" sz="1600" dirty="0">
              <a:ea typeface="宋体" panose="02010600030101010101" pitchFamily="2" charset="-122"/>
            </a:endParaRPr>
          </a:p>
        </p:txBody>
      </p:sp>
      <p:grpSp>
        <p:nvGrpSpPr>
          <p:cNvPr id="71687" name="Group 5"/>
          <p:cNvGrpSpPr/>
          <p:nvPr/>
        </p:nvGrpSpPr>
        <p:grpSpPr>
          <a:xfrm>
            <a:off x="5345113" y="3721100"/>
            <a:ext cx="3236912" cy="1960563"/>
            <a:chOff x="3240" y="9708"/>
            <a:chExt cx="5259" cy="2088"/>
          </a:xfrm>
        </p:grpSpPr>
        <p:sp>
          <p:nvSpPr>
            <p:cNvPr id="71720" name="Text Box 6"/>
            <p:cNvSpPr txBox="1"/>
            <p:nvPr/>
          </p:nvSpPr>
          <p:spPr>
            <a:xfrm>
              <a:off x="3960" y="11268"/>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3</a:t>
              </a:r>
              <a:endParaRPr lang="en-US" altLang="zh-CN" sz="1600" dirty="0">
                <a:ea typeface="宋体" panose="02010600030101010101" pitchFamily="2" charset="-122"/>
              </a:endParaRPr>
            </a:p>
          </p:txBody>
        </p:sp>
        <p:grpSp>
          <p:nvGrpSpPr>
            <p:cNvPr id="71721" name="Group 7"/>
            <p:cNvGrpSpPr/>
            <p:nvPr/>
          </p:nvGrpSpPr>
          <p:grpSpPr>
            <a:xfrm>
              <a:off x="3240" y="9708"/>
              <a:ext cx="5259" cy="2088"/>
              <a:chOff x="3060" y="10020"/>
              <a:chExt cx="5259" cy="2088"/>
            </a:xfrm>
          </p:grpSpPr>
          <p:grpSp>
            <p:nvGrpSpPr>
              <p:cNvPr id="71722" name="Group 8"/>
              <p:cNvGrpSpPr/>
              <p:nvPr/>
            </p:nvGrpSpPr>
            <p:grpSpPr>
              <a:xfrm>
                <a:off x="3060" y="10176"/>
                <a:ext cx="4301" cy="1932"/>
                <a:chOff x="3060" y="10176"/>
                <a:chExt cx="4301" cy="1932"/>
              </a:xfrm>
            </p:grpSpPr>
            <p:sp>
              <p:nvSpPr>
                <p:cNvPr id="71725" name="Text Box 9"/>
                <p:cNvSpPr txBox="1"/>
                <p:nvPr/>
              </p:nvSpPr>
              <p:spPr>
                <a:xfrm>
                  <a:off x="5040" y="10725"/>
                  <a:ext cx="900" cy="40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7+4</a:t>
                  </a:r>
                  <a:endParaRPr lang="en-US" altLang="zh-CN" sz="1600" dirty="0">
                    <a:ea typeface="宋体" panose="02010600030101010101" pitchFamily="2" charset="-122"/>
                  </a:endParaRPr>
                </a:p>
              </p:txBody>
            </p:sp>
            <p:sp>
              <p:nvSpPr>
                <p:cNvPr id="71726" name="Text Box 10"/>
                <p:cNvSpPr txBox="1"/>
                <p:nvPr/>
              </p:nvSpPr>
              <p:spPr>
                <a:xfrm>
                  <a:off x="3780" y="1064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8</a:t>
                  </a:r>
                  <a:endParaRPr lang="en-US" altLang="zh-CN" sz="1600" dirty="0">
                    <a:ea typeface="宋体" panose="02010600030101010101" pitchFamily="2" charset="-122"/>
                  </a:endParaRPr>
                </a:p>
              </p:txBody>
            </p:sp>
            <p:grpSp>
              <p:nvGrpSpPr>
                <p:cNvPr id="71727" name="Group 11"/>
                <p:cNvGrpSpPr/>
                <p:nvPr/>
              </p:nvGrpSpPr>
              <p:grpSpPr>
                <a:xfrm>
                  <a:off x="4080" y="11580"/>
                  <a:ext cx="780" cy="468"/>
                  <a:chOff x="1770" y="12486"/>
                  <a:chExt cx="780" cy="498"/>
                </a:xfrm>
              </p:grpSpPr>
              <p:sp>
                <p:nvSpPr>
                  <p:cNvPr id="71745" name="Text Box 12"/>
                  <p:cNvSpPr txBox="1"/>
                  <p:nvPr/>
                </p:nvSpPr>
                <p:spPr>
                  <a:xfrm>
                    <a:off x="1770" y="12486"/>
                    <a:ext cx="78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6</a:t>
                    </a:r>
                    <a:endParaRPr lang="en-US" altLang="zh-CN" sz="1600" dirty="0">
                      <a:ea typeface="宋体" panose="02010600030101010101" pitchFamily="2" charset="-122"/>
                    </a:endParaRPr>
                  </a:p>
                </p:txBody>
              </p:sp>
              <p:sp>
                <p:nvSpPr>
                  <p:cNvPr id="71746" name="Oval 13"/>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28" name="Group 14"/>
                <p:cNvGrpSpPr/>
                <p:nvPr/>
              </p:nvGrpSpPr>
              <p:grpSpPr>
                <a:xfrm>
                  <a:off x="5760" y="11424"/>
                  <a:ext cx="679" cy="498"/>
                  <a:chOff x="2010" y="12486"/>
                  <a:chExt cx="679" cy="498"/>
                </a:xfrm>
              </p:grpSpPr>
              <p:sp>
                <p:nvSpPr>
                  <p:cNvPr id="71743" name="Text Box 15"/>
                  <p:cNvSpPr txBox="1"/>
                  <p:nvPr/>
                </p:nvSpPr>
                <p:spPr>
                  <a:xfrm>
                    <a:off x="2010" y="12486"/>
                    <a:ext cx="679"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5</a:t>
                    </a:r>
                    <a:endParaRPr lang="en-US" altLang="zh-CN" sz="1600" dirty="0">
                      <a:ea typeface="宋体" panose="02010600030101010101" pitchFamily="2" charset="-122"/>
                    </a:endParaRPr>
                  </a:p>
                </p:txBody>
              </p:sp>
              <p:sp>
                <p:nvSpPr>
                  <p:cNvPr id="71744" name="Oval 16"/>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29" name="Group 17"/>
                <p:cNvGrpSpPr/>
                <p:nvPr/>
              </p:nvGrpSpPr>
              <p:grpSpPr>
                <a:xfrm>
                  <a:off x="6660" y="10176"/>
                  <a:ext cx="701" cy="498"/>
                  <a:chOff x="2010" y="12486"/>
                  <a:chExt cx="701" cy="498"/>
                </a:xfrm>
              </p:grpSpPr>
              <p:sp>
                <p:nvSpPr>
                  <p:cNvPr id="71741" name="Text Box 18"/>
                  <p:cNvSpPr txBox="1"/>
                  <p:nvPr/>
                </p:nvSpPr>
                <p:spPr>
                  <a:xfrm>
                    <a:off x="2010" y="12486"/>
                    <a:ext cx="701"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9</a:t>
                    </a:r>
                    <a:endParaRPr lang="en-US" altLang="zh-CN" sz="1600" dirty="0">
                      <a:ea typeface="宋体" panose="02010600030101010101" pitchFamily="2" charset="-122"/>
                    </a:endParaRPr>
                  </a:p>
                </p:txBody>
              </p:sp>
              <p:sp>
                <p:nvSpPr>
                  <p:cNvPr id="71742" name="Oval 19"/>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30" name="Group 20"/>
                <p:cNvGrpSpPr/>
                <p:nvPr/>
              </p:nvGrpSpPr>
              <p:grpSpPr>
                <a:xfrm>
                  <a:off x="3060" y="10332"/>
                  <a:ext cx="683" cy="498"/>
                  <a:chOff x="2010" y="12486"/>
                  <a:chExt cx="683" cy="498"/>
                </a:xfrm>
              </p:grpSpPr>
              <p:sp>
                <p:nvSpPr>
                  <p:cNvPr id="71739" name="Text Box 21"/>
                  <p:cNvSpPr txBox="1"/>
                  <p:nvPr/>
                </p:nvSpPr>
                <p:spPr>
                  <a:xfrm>
                    <a:off x="2010" y="12486"/>
                    <a:ext cx="683"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8</a:t>
                    </a:r>
                    <a:endParaRPr lang="en-US" altLang="zh-CN" sz="1600" dirty="0">
                      <a:ea typeface="宋体" panose="02010600030101010101" pitchFamily="2" charset="-122"/>
                    </a:endParaRPr>
                  </a:p>
                </p:txBody>
              </p:sp>
              <p:sp>
                <p:nvSpPr>
                  <p:cNvPr id="71740" name="Oval 22"/>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31" name="Text Box 23"/>
                <p:cNvSpPr txBox="1"/>
                <p:nvPr/>
              </p:nvSpPr>
              <p:spPr>
                <a:xfrm>
                  <a:off x="5220" y="11640"/>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6</a:t>
                  </a:r>
                  <a:endParaRPr lang="en-US" altLang="zh-CN" sz="1600" dirty="0">
                    <a:ea typeface="宋体" panose="02010600030101010101" pitchFamily="2" charset="-122"/>
                  </a:endParaRPr>
                </a:p>
              </p:txBody>
            </p:sp>
            <p:grpSp>
              <p:nvGrpSpPr>
                <p:cNvPr id="71732" name="Group 24"/>
                <p:cNvGrpSpPr/>
                <p:nvPr/>
              </p:nvGrpSpPr>
              <p:grpSpPr>
                <a:xfrm>
                  <a:off x="3281" y="11112"/>
                  <a:ext cx="679" cy="498"/>
                  <a:chOff x="1871" y="12486"/>
                  <a:chExt cx="679" cy="498"/>
                </a:xfrm>
              </p:grpSpPr>
              <p:sp>
                <p:nvSpPr>
                  <p:cNvPr id="71737" name="Text Box 25"/>
                  <p:cNvSpPr txBox="1"/>
                  <p:nvPr/>
                </p:nvSpPr>
                <p:spPr>
                  <a:xfrm>
                    <a:off x="1871" y="12486"/>
                    <a:ext cx="679"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7</a:t>
                    </a:r>
                    <a:endParaRPr lang="en-US" altLang="zh-CN" sz="1600" dirty="0">
                      <a:ea typeface="宋体" panose="02010600030101010101" pitchFamily="2" charset="-122"/>
                    </a:endParaRPr>
                  </a:p>
                </p:txBody>
              </p:sp>
              <p:sp>
                <p:nvSpPr>
                  <p:cNvPr id="71738" name="Oval 26"/>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33" name="Line 27"/>
                <p:cNvSpPr/>
                <p:nvPr/>
              </p:nvSpPr>
              <p:spPr>
                <a:xfrm>
                  <a:off x="3780" y="11580"/>
                  <a:ext cx="720" cy="312"/>
                </a:xfrm>
                <a:prstGeom prst="line">
                  <a:avLst/>
                </a:prstGeom>
                <a:ln w="9525" cap="flat" cmpd="sng">
                  <a:solidFill>
                    <a:srgbClr val="000000"/>
                  </a:solidFill>
                  <a:prstDash val="solid"/>
                  <a:headEnd type="none" w="med" len="med"/>
                  <a:tailEnd type="none" w="med" len="med"/>
                </a:ln>
              </p:spPr>
            </p:sp>
            <p:sp>
              <p:nvSpPr>
                <p:cNvPr id="71734" name="Line 28"/>
                <p:cNvSpPr/>
                <p:nvPr/>
              </p:nvSpPr>
              <p:spPr>
                <a:xfrm flipH="1">
                  <a:off x="3780" y="10644"/>
                  <a:ext cx="3060" cy="936"/>
                </a:xfrm>
                <a:prstGeom prst="line">
                  <a:avLst/>
                </a:prstGeom>
                <a:ln w="9525" cap="flat" cmpd="sng">
                  <a:solidFill>
                    <a:srgbClr val="000000"/>
                  </a:solidFill>
                  <a:prstDash val="solid"/>
                  <a:headEnd type="none" w="med" len="med"/>
                  <a:tailEnd type="none" w="med" len="med"/>
                </a:ln>
              </p:spPr>
            </p:sp>
            <p:sp>
              <p:nvSpPr>
                <p:cNvPr id="71735" name="Line 29"/>
                <p:cNvSpPr/>
                <p:nvPr/>
              </p:nvSpPr>
              <p:spPr>
                <a:xfrm flipV="1">
                  <a:off x="3327" y="10626"/>
                  <a:ext cx="3420" cy="156"/>
                </a:xfrm>
                <a:prstGeom prst="line">
                  <a:avLst/>
                </a:prstGeom>
                <a:ln w="9525" cap="flat" cmpd="sng">
                  <a:solidFill>
                    <a:srgbClr val="000000"/>
                  </a:solidFill>
                  <a:prstDash val="solid"/>
                  <a:headEnd type="none" w="med" len="med"/>
                  <a:tailEnd type="none" w="med" len="med"/>
                </a:ln>
              </p:spPr>
            </p:sp>
            <p:sp>
              <p:nvSpPr>
                <p:cNvPr id="71736" name="Line 30"/>
                <p:cNvSpPr/>
                <p:nvPr/>
              </p:nvSpPr>
              <p:spPr>
                <a:xfrm flipV="1">
                  <a:off x="4680" y="11892"/>
                  <a:ext cx="1260" cy="156"/>
                </a:xfrm>
                <a:prstGeom prst="line">
                  <a:avLst/>
                </a:prstGeom>
                <a:ln w="9525" cap="flat" cmpd="sng">
                  <a:solidFill>
                    <a:srgbClr val="000000"/>
                  </a:solidFill>
                  <a:prstDash val="solid"/>
                  <a:headEnd type="none" w="med" len="med"/>
                  <a:tailEnd type="none" w="med" len="med"/>
                </a:ln>
              </p:spPr>
            </p:sp>
          </p:grpSp>
          <p:sp>
            <p:nvSpPr>
              <p:cNvPr id="71723" name="Freeform 31"/>
              <p:cNvSpPr/>
              <p:nvPr/>
            </p:nvSpPr>
            <p:spPr>
              <a:xfrm>
                <a:off x="6480" y="10020"/>
                <a:ext cx="960" cy="1014"/>
              </a:xfrm>
              <a:custGeom>
                <a:avLst/>
                <a:gdLst/>
                <a:ahLst/>
                <a:cxnLst>
                  <a:cxn ang="0">
                    <a:pos x="360" y="0"/>
                  </a:cxn>
                  <a:cxn ang="0">
                    <a:pos x="0" y="468"/>
                  </a:cxn>
                  <a:cxn ang="0">
                    <a:pos x="360" y="936"/>
                  </a:cxn>
                  <a:cxn ang="0">
                    <a:pos x="720" y="936"/>
                  </a:cxn>
                  <a:cxn ang="0">
                    <a:pos x="900" y="624"/>
                  </a:cxn>
                  <a:cxn ang="0">
                    <a:pos x="900" y="312"/>
                  </a:cxn>
                  <a:cxn ang="0">
                    <a:pos x="540" y="0"/>
                  </a:cxn>
                </a:cxnLst>
                <a:pathLst>
                  <a:path w="960" h="1014">
                    <a:moveTo>
                      <a:pt x="360" y="0"/>
                    </a:moveTo>
                    <a:cubicBezTo>
                      <a:pt x="180" y="156"/>
                      <a:pt x="0" y="312"/>
                      <a:pt x="0" y="468"/>
                    </a:cubicBezTo>
                    <a:cubicBezTo>
                      <a:pt x="0" y="624"/>
                      <a:pt x="240" y="858"/>
                      <a:pt x="360" y="936"/>
                    </a:cubicBezTo>
                    <a:cubicBezTo>
                      <a:pt x="480" y="1014"/>
                      <a:pt x="630" y="988"/>
                      <a:pt x="720" y="936"/>
                    </a:cubicBezTo>
                    <a:cubicBezTo>
                      <a:pt x="810" y="884"/>
                      <a:pt x="870" y="728"/>
                      <a:pt x="900" y="624"/>
                    </a:cubicBezTo>
                    <a:cubicBezTo>
                      <a:pt x="930" y="520"/>
                      <a:pt x="960" y="416"/>
                      <a:pt x="900" y="312"/>
                    </a:cubicBezTo>
                    <a:cubicBezTo>
                      <a:pt x="840" y="208"/>
                      <a:pt x="660" y="52"/>
                      <a:pt x="540" y="0"/>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sp>
            <p:nvSpPr>
              <p:cNvPr id="71724" name="Text Box 32"/>
              <p:cNvSpPr txBox="1"/>
              <p:nvPr/>
            </p:nvSpPr>
            <p:spPr>
              <a:xfrm>
                <a:off x="7560" y="10332"/>
                <a:ext cx="759"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P</a:t>
                </a:r>
                <a:r>
                  <a:rPr lang="en-US" altLang="zh-CN" sz="1600" baseline="-25000" dirty="0">
                    <a:ea typeface="宋体" panose="02010600030101010101" pitchFamily="2" charset="-122"/>
                  </a:rPr>
                  <a:t>2</a:t>
                </a:r>
                <a:endParaRPr lang="en-US" altLang="zh-CN" sz="1600" dirty="0">
                  <a:ea typeface="宋体" panose="02010600030101010101" pitchFamily="2" charset="-122"/>
                </a:endParaRPr>
              </a:p>
            </p:txBody>
          </p:sp>
        </p:grpSp>
      </p:grpSp>
      <p:sp>
        <p:nvSpPr>
          <p:cNvPr id="71688" name="Rectangle 33"/>
          <p:cNvSpPr/>
          <p:nvPr/>
        </p:nvSpPr>
        <p:spPr>
          <a:xfrm>
            <a:off x="7610475" y="5132388"/>
            <a:ext cx="493713" cy="33813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600" dirty="0">
                <a:ea typeface="宋体" panose="02010600030101010101" pitchFamily="2" charset="-122"/>
              </a:rPr>
              <a:t>图</a:t>
            </a:r>
            <a:r>
              <a:rPr lang="en-US" altLang="zh-CN" sz="1600" dirty="0">
                <a:ea typeface="宋体" panose="02010600030101010101" pitchFamily="2" charset="-122"/>
              </a:rPr>
              <a:t>3</a:t>
            </a:r>
            <a:endParaRPr lang="zh-CN" altLang="en-US" sz="1600" dirty="0">
              <a:ea typeface="宋体" panose="02010600030101010101" pitchFamily="2" charset="-122"/>
            </a:endParaRPr>
          </a:p>
        </p:txBody>
      </p:sp>
      <p:grpSp>
        <p:nvGrpSpPr>
          <p:cNvPr id="71689" name="Group 5"/>
          <p:cNvGrpSpPr/>
          <p:nvPr/>
        </p:nvGrpSpPr>
        <p:grpSpPr>
          <a:xfrm>
            <a:off x="869950" y="4967288"/>
            <a:ext cx="3533775" cy="1785937"/>
            <a:chOff x="3420" y="12672"/>
            <a:chExt cx="5040" cy="2088"/>
          </a:xfrm>
        </p:grpSpPr>
        <p:sp>
          <p:nvSpPr>
            <p:cNvPr id="71693" name="Text Box 6"/>
            <p:cNvSpPr txBox="1"/>
            <p:nvPr/>
          </p:nvSpPr>
          <p:spPr>
            <a:xfrm>
              <a:off x="4140" y="14232"/>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3</a:t>
              </a:r>
              <a:endParaRPr lang="en-US" altLang="zh-CN" sz="1600" dirty="0">
                <a:ea typeface="宋体" panose="02010600030101010101" pitchFamily="2" charset="-122"/>
              </a:endParaRPr>
            </a:p>
          </p:txBody>
        </p:sp>
        <p:grpSp>
          <p:nvGrpSpPr>
            <p:cNvPr id="71694" name="Group 7"/>
            <p:cNvGrpSpPr/>
            <p:nvPr/>
          </p:nvGrpSpPr>
          <p:grpSpPr>
            <a:xfrm>
              <a:off x="3420" y="12672"/>
              <a:ext cx="5040" cy="2088"/>
              <a:chOff x="3420" y="12984"/>
              <a:chExt cx="5040" cy="2088"/>
            </a:xfrm>
          </p:grpSpPr>
          <p:grpSp>
            <p:nvGrpSpPr>
              <p:cNvPr id="71695" name="Group 8"/>
              <p:cNvGrpSpPr/>
              <p:nvPr/>
            </p:nvGrpSpPr>
            <p:grpSpPr>
              <a:xfrm>
                <a:off x="3420" y="13140"/>
                <a:ext cx="4170" cy="1932"/>
                <a:chOff x="3420" y="13140"/>
                <a:chExt cx="4170" cy="1932"/>
              </a:xfrm>
            </p:grpSpPr>
            <p:sp>
              <p:nvSpPr>
                <p:cNvPr id="71698" name="Text Box 9"/>
                <p:cNvSpPr txBox="1"/>
                <p:nvPr/>
              </p:nvSpPr>
              <p:spPr>
                <a:xfrm>
                  <a:off x="5400" y="13689"/>
                  <a:ext cx="1080" cy="40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7+4+x</a:t>
                  </a:r>
                  <a:endParaRPr lang="en-US" altLang="zh-CN" sz="1600" dirty="0">
                    <a:ea typeface="宋体" panose="02010600030101010101" pitchFamily="2" charset="-122"/>
                  </a:endParaRPr>
                </a:p>
              </p:txBody>
            </p:sp>
            <p:sp>
              <p:nvSpPr>
                <p:cNvPr id="71699" name="Text Box 10"/>
                <p:cNvSpPr txBox="1"/>
                <p:nvPr/>
              </p:nvSpPr>
              <p:spPr>
                <a:xfrm>
                  <a:off x="4140" y="13608"/>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8+x</a:t>
                  </a:r>
                  <a:endParaRPr lang="en-US" altLang="zh-CN" sz="1600" dirty="0">
                    <a:ea typeface="宋体" panose="02010600030101010101" pitchFamily="2" charset="-122"/>
                  </a:endParaRPr>
                </a:p>
              </p:txBody>
            </p:sp>
            <p:grpSp>
              <p:nvGrpSpPr>
                <p:cNvPr id="71700" name="Group 11"/>
                <p:cNvGrpSpPr/>
                <p:nvPr/>
              </p:nvGrpSpPr>
              <p:grpSpPr>
                <a:xfrm>
                  <a:off x="4680" y="14544"/>
                  <a:ext cx="720" cy="468"/>
                  <a:chOff x="2010" y="12486"/>
                  <a:chExt cx="720" cy="498"/>
                </a:xfrm>
              </p:grpSpPr>
              <p:sp>
                <p:nvSpPr>
                  <p:cNvPr id="71718" name="Text Box 12"/>
                  <p:cNvSpPr txBox="1"/>
                  <p:nvPr/>
                </p:nvSpPr>
                <p:spPr>
                  <a:xfrm>
                    <a:off x="2010" y="12486"/>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6</a:t>
                    </a:r>
                    <a:endParaRPr lang="en-US" altLang="zh-CN" sz="1600" dirty="0">
                      <a:ea typeface="宋体" panose="02010600030101010101" pitchFamily="2" charset="-122"/>
                    </a:endParaRPr>
                  </a:p>
                </p:txBody>
              </p:sp>
              <p:sp>
                <p:nvSpPr>
                  <p:cNvPr id="71719" name="Oval 13"/>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01" name="Group 14"/>
                <p:cNvGrpSpPr/>
                <p:nvPr/>
              </p:nvGrpSpPr>
              <p:grpSpPr>
                <a:xfrm>
                  <a:off x="6120" y="14388"/>
                  <a:ext cx="609" cy="498"/>
                  <a:chOff x="2010" y="12486"/>
                  <a:chExt cx="609" cy="498"/>
                </a:xfrm>
              </p:grpSpPr>
              <p:sp>
                <p:nvSpPr>
                  <p:cNvPr id="71716" name="Text Box 15"/>
                  <p:cNvSpPr txBox="1"/>
                  <p:nvPr/>
                </p:nvSpPr>
                <p:spPr>
                  <a:xfrm>
                    <a:off x="2010" y="12486"/>
                    <a:ext cx="609"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5</a:t>
                    </a:r>
                    <a:endParaRPr lang="en-US" altLang="zh-CN" sz="1600" dirty="0">
                      <a:ea typeface="宋体" panose="02010600030101010101" pitchFamily="2" charset="-122"/>
                    </a:endParaRPr>
                  </a:p>
                </p:txBody>
              </p:sp>
              <p:sp>
                <p:nvSpPr>
                  <p:cNvPr id="71717" name="Oval 16"/>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02" name="Group 17"/>
                <p:cNvGrpSpPr/>
                <p:nvPr/>
              </p:nvGrpSpPr>
              <p:grpSpPr>
                <a:xfrm>
                  <a:off x="7020" y="13140"/>
                  <a:ext cx="570" cy="498"/>
                  <a:chOff x="2010" y="12486"/>
                  <a:chExt cx="570" cy="498"/>
                </a:xfrm>
              </p:grpSpPr>
              <p:sp>
                <p:nvSpPr>
                  <p:cNvPr id="71714" name="Text Box 18"/>
                  <p:cNvSpPr txBox="1"/>
                  <p:nvPr/>
                </p:nvSpPr>
                <p:spPr>
                  <a:xfrm>
                    <a:off x="2010" y="12486"/>
                    <a:ext cx="57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9</a:t>
                    </a:r>
                    <a:endParaRPr lang="en-US" altLang="zh-CN" sz="1600" dirty="0">
                      <a:ea typeface="宋体" panose="02010600030101010101" pitchFamily="2" charset="-122"/>
                    </a:endParaRPr>
                  </a:p>
                </p:txBody>
              </p:sp>
              <p:sp>
                <p:nvSpPr>
                  <p:cNvPr id="71715" name="Oval 19"/>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grpSp>
              <p:nvGrpSpPr>
                <p:cNvPr id="71703" name="Group 20"/>
                <p:cNvGrpSpPr/>
                <p:nvPr/>
              </p:nvGrpSpPr>
              <p:grpSpPr>
                <a:xfrm>
                  <a:off x="3420" y="13296"/>
                  <a:ext cx="720" cy="498"/>
                  <a:chOff x="2010" y="12486"/>
                  <a:chExt cx="720" cy="498"/>
                </a:xfrm>
              </p:grpSpPr>
              <p:sp>
                <p:nvSpPr>
                  <p:cNvPr id="71712" name="Text Box 21"/>
                  <p:cNvSpPr txBox="1"/>
                  <p:nvPr/>
                </p:nvSpPr>
                <p:spPr>
                  <a:xfrm>
                    <a:off x="2010" y="12486"/>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8</a:t>
                    </a:r>
                    <a:endParaRPr lang="en-US" altLang="zh-CN" sz="1600" dirty="0">
                      <a:ea typeface="宋体" panose="02010600030101010101" pitchFamily="2" charset="-122"/>
                    </a:endParaRPr>
                  </a:p>
                </p:txBody>
              </p:sp>
              <p:sp>
                <p:nvSpPr>
                  <p:cNvPr id="71713" name="Oval 22"/>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04" name="Text Box 23"/>
                <p:cNvSpPr txBox="1"/>
                <p:nvPr/>
              </p:nvSpPr>
              <p:spPr>
                <a:xfrm>
                  <a:off x="5580" y="14604"/>
                  <a:ext cx="54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6</a:t>
                  </a:r>
                  <a:endParaRPr lang="en-US" altLang="zh-CN" sz="1600" dirty="0">
                    <a:ea typeface="宋体" panose="02010600030101010101" pitchFamily="2" charset="-122"/>
                  </a:endParaRPr>
                </a:p>
              </p:txBody>
            </p:sp>
            <p:grpSp>
              <p:nvGrpSpPr>
                <p:cNvPr id="71705" name="Group 24"/>
                <p:cNvGrpSpPr/>
                <p:nvPr/>
              </p:nvGrpSpPr>
              <p:grpSpPr>
                <a:xfrm>
                  <a:off x="3780" y="14076"/>
                  <a:ext cx="720" cy="498"/>
                  <a:chOff x="2010" y="12486"/>
                  <a:chExt cx="720" cy="498"/>
                </a:xfrm>
              </p:grpSpPr>
              <p:sp>
                <p:nvSpPr>
                  <p:cNvPr id="71710" name="Text Box 25"/>
                  <p:cNvSpPr txBox="1"/>
                  <p:nvPr/>
                </p:nvSpPr>
                <p:spPr>
                  <a:xfrm>
                    <a:off x="2010" y="12486"/>
                    <a:ext cx="720" cy="468"/>
                  </a:xfrm>
                  <a:prstGeom prst="rect">
                    <a:avLst/>
                  </a:prstGeom>
                  <a:solidFill>
                    <a:srgbClr val="FFFFFF"/>
                  </a:solid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m</a:t>
                    </a:r>
                    <a:r>
                      <a:rPr lang="en-US" altLang="zh-CN" sz="1600" baseline="-25000" dirty="0">
                        <a:ea typeface="宋体" panose="02010600030101010101" pitchFamily="2" charset="-122"/>
                      </a:rPr>
                      <a:t>7</a:t>
                    </a:r>
                    <a:endParaRPr lang="en-US" altLang="zh-CN" sz="1600" dirty="0">
                      <a:ea typeface="宋体" panose="02010600030101010101" pitchFamily="2" charset="-122"/>
                    </a:endParaRPr>
                  </a:p>
                </p:txBody>
              </p:sp>
              <p:sp>
                <p:nvSpPr>
                  <p:cNvPr id="71711" name="Oval 26"/>
                  <p:cNvSpPr/>
                  <p:nvPr/>
                </p:nvSpPr>
                <p:spPr>
                  <a:xfrm>
                    <a:off x="2160" y="12828"/>
                    <a:ext cx="180" cy="15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1706" name="Line 27"/>
                <p:cNvSpPr/>
                <p:nvPr/>
              </p:nvSpPr>
              <p:spPr>
                <a:xfrm>
                  <a:off x="4140" y="14544"/>
                  <a:ext cx="720" cy="312"/>
                </a:xfrm>
                <a:prstGeom prst="line">
                  <a:avLst/>
                </a:prstGeom>
                <a:ln w="9525" cap="flat" cmpd="sng">
                  <a:solidFill>
                    <a:srgbClr val="000000"/>
                  </a:solidFill>
                  <a:prstDash val="solid"/>
                  <a:headEnd type="none" w="med" len="med"/>
                  <a:tailEnd type="none" w="med" len="med"/>
                </a:ln>
              </p:spPr>
            </p:sp>
            <p:sp>
              <p:nvSpPr>
                <p:cNvPr id="71707" name="Line 28"/>
                <p:cNvSpPr/>
                <p:nvPr/>
              </p:nvSpPr>
              <p:spPr>
                <a:xfrm flipH="1">
                  <a:off x="4140" y="13608"/>
                  <a:ext cx="3060" cy="936"/>
                </a:xfrm>
                <a:prstGeom prst="line">
                  <a:avLst/>
                </a:prstGeom>
                <a:ln w="9525" cap="flat" cmpd="sng">
                  <a:solidFill>
                    <a:srgbClr val="000000"/>
                  </a:solidFill>
                  <a:prstDash val="solid"/>
                  <a:headEnd type="none" w="med" len="med"/>
                  <a:tailEnd type="none" w="med" len="med"/>
                </a:ln>
              </p:spPr>
            </p:sp>
            <p:sp>
              <p:nvSpPr>
                <p:cNvPr id="71708" name="Line 29"/>
                <p:cNvSpPr/>
                <p:nvPr/>
              </p:nvSpPr>
              <p:spPr>
                <a:xfrm flipV="1">
                  <a:off x="3780" y="13608"/>
                  <a:ext cx="3420" cy="156"/>
                </a:xfrm>
                <a:prstGeom prst="line">
                  <a:avLst/>
                </a:prstGeom>
                <a:ln w="9525" cap="flat" cmpd="sng">
                  <a:solidFill>
                    <a:srgbClr val="000000"/>
                  </a:solidFill>
                  <a:prstDash val="solid"/>
                  <a:headEnd type="none" w="med" len="med"/>
                  <a:tailEnd type="none" w="med" len="med"/>
                </a:ln>
              </p:spPr>
            </p:sp>
            <p:sp>
              <p:nvSpPr>
                <p:cNvPr id="71709" name="Line 30"/>
                <p:cNvSpPr/>
                <p:nvPr/>
              </p:nvSpPr>
              <p:spPr>
                <a:xfrm flipV="1">
                  <a:off x="5040" y="14856"/>
                  <a:ext cx="1260" cy="156"/>
                </a:xfrm>
                <a:prstGeom prst="line">
                  <a:avLst/>
                </a:prstGeom>
                <a:ln w="9525" cap="flat" cmpd="sng">
                  <a:solidFill>
                    <a:srgbClr val="000000"/>
                  </a:solidFill>
                  <a:prstDash val="solid"/>
                  <a:headEnd type="none" w="med" len="med"/>
                  <a:tailEnd type="none" w="med" len="med"/>
                </a:ln>
              </p:spPr>
            </p:sp>
          </p:grpSp>
          <p:sp>
            <p:nvSpPr>
              <p:cNvPr id="71696" name="Freeform 31"/>
              <p:cNvSpPr/>
              <p:nvPr/>
            </p:nvSpPr>
            <p:spPr>
              <a:xfrm>
                <a:off x="6840" y="12984"/>
                <a:ext cx="960" cy="1014"/>
              </a:xfrm>
              <a:custGeom>
                <a:avLst/>
                <a:gdLst/>
                <a:ahLst/>
                <a:cxnLst>
                  <a:cxn ang="0">
                    <a:pos x="360" y="0"/>
                  </a:cxn>
                  <a:cxn ang="0">
                    <a:pos x="0" y="468"/>
                  </a:cxn>
                  <a:cxn ang="0">
                    <a:pos x="360" y="936"/>
                  </a:cxn>
                  <a:cxn ang="0">
                    <a:pos x="720" y="936"/>
                  </a:cxn>
                  <a:cxn ang="0">
                    <a:pos x="900" y="624"/>
                  </a:cxn>
                  <a:cxn ang="0">
                    <a:pos x="900" y="312"/>
                  </a:cxn>
                  <a:cxn ang="0">
                    <a:pos x="540" y="0"/>
                  </a:cxn>
                </a:cxnLst>
                <a:pathLst>
                  <a:path w="960" h="1014">
                    <a:moveTo>
                      <a:pt x="360" y="0"/>
                    </a:moveTo>
                    <a:cubicBezTo>
                      <a:pt x="180" y="156"/>
                      <a:pt x="0" y="312"/>
                      <a:pt x="0" y="468"/>
                    </a:cubicBezTo>
                    <a:cubicBezTo>
                      <a:pt x="0" y="624"/>
                      <a:pt x="240" y="858"/>
                      <a:pt x="360" y="936"/>
                    </a:cubicBezTo>
                    <a:cubicBezTo>
                      <a:pt x="480" y="1014"/>
                      <a:pt x="630" y="988"/>
                      <a:pt x="720" y="936"/>
                    </a:cubicBezTo>
                    <a:cubicBezTo>
                      <a:pt x="810" y="884"/>
                      <a:pt x="870" y="728"/>
                      <a:pt x="900" y="624"/>
                    </a:cubicBezTo>
                    <a:cubicBezTo>
                      <a:pt x="930" y="520"/>
                      <a:pt x="960" y="416"/>
                      <a:pt x="900" y="312"/>
                    </a:cubicBezTo>
                    <a:cubicBezTo>
                      <a:pt x="840" y="208"/>
                      <a:pt x="660" y="52"/>
                      <a:pt x="540" y="0"/>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sp>
            <p:nvSpPr>
              <p:cNvPr id="71697" name="Text Box 32"/>
              <p:cNvSpPr txBox="1"/>
              <p:nvPr/>
            </p:nvSpPr>
            <p:spPr>
              <a:xfrm>
                <a:off x="7920" y="13296"/>
                <a:ext cx="54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P</a:t>
                </a:r>
                <a:r>
                  <a:rPr lang="en-US" altLang="zh-CN" sz="1600" baseline="-25000" dirty="0">
                    <a:ea typeface="宋体" panose="02010600030101010101" pitchFamily="2" charset="-122"/>
                  </a:rPr>
                  <a:t>2</a:t>
                </a:r>
                <a:endParaRPr lang="en-US" altLang="zh-CN" sz="1600" dirty="0">
                  <a:ea typeface="宋体" panose="02010600030101010101" pitchFamily="2" charset="-122"/>
                </a:endParaRPr>
              </a:p>
            </p:txBody>
          </p:sp>
        </p:grpSp>
      </p:grpSp>
      <p:sp>
        <p:nvSpPr>
          <p:cNvPr id="71690" name="Rectangle 34"/>
          <p:cNvSpPr/>
          <p:nvPr/>
        </p:nvSpPr>
        <p:spPr>
          <a:xfrm>
            <a:off x="3821113" y="6273800"/>
            <a:ext cx="492125" cy="338138"/>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600" dirty="0">
                <a:ea typeface="宋体" panose="02010600030101010101" pitchFamily="2" charset="-122"/>
              </a:rPr>
              <a:t>图</a:t>
            </a:r>
            <a:r>
              <a:rPr lang="en-US" altLang="zh-CN" sz="1600" dirty="0">
                <a:ea typeface="宋体" panose="02010600030101010101" pitchFamily="2" charset="-122"/>
              </a:rPr>
              <a:t>4</a:t>
            </a:r>
            <a:endParaRPr lang="zh-CN" altLang="en-US" sz="1600" dirty="0">
              <a:ea typeface="宋体" panose="02010600030101010101" pitchFamily="2" charset="-122"/>
            </a:endParaRPr>
          </a:p>
        </p:txBody>
      </p:sp>
      <p:sp>
        <p:nvSpPr>
          <p:cNvPr id="71691" name="Rectangle 34"/>
          <p:cNvSpPr/>
          <p:nvPr/>
        </p:nvSpPr>
        <p:spPr>
          <a:xfrm>
            <a:off x="2973388" y="4051300"/>
            <a:ext cx="331787" cy="33972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solidFill>
                  <a:srgbClr val="FF0000"/>
                </a:solidFill>
                <a:ea typeface="宋体" panose="02010600030101010101" pitchFamily="2" charset="-122"/>
              </a:rPr>
              <a:t>X</a:t>
            </a:r>
            <a:endParaRPr lang="zh-CN" altLang="en-US" sz="1600" dirty="0">
              <a:solidFill>
                <a:srgbClr val="FF0000"/>
              </a:solidFill>
              <a:ea typeface="宋体" panose="02010600030101010101" pitchFamily="2" charset="-122"/>
            </a:endParaRPr>
          </a:p>
        </p:txBody>
      </p:sp>
      <p:sp>
        <p:nvSpPr>
          <p:cNvPr id="71692" name="Rectangle 34"/>
          <p:cNvSpPr/>
          <p:nvPr/>
        </p:nvSpPr>
        <p:spPr>
          <a:xfrm>
            <a:off x="2413000" y="3944938"/>
            <a:ext cx="331788" cy="338137"/>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solidFill>
                  <a:srgbClr val="FF0000"/>
                </a:solidFill>
                <a:ea typeface="宋体" panose="02010600030101010101" pitchFamily="2" charset="-122"/>
              </a:rPr>
              <a:t>X</a:t>
            </a:r>
            <a:endParaRPr lang="zh-CN" altLang="en-US" sz="1600" dirty="0">
              <a:solidFill>
                <a:srgbClr val="FF0000"/>
              </a:solidFill>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72707"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graphicFrame>
        <p:nvGraphicFramePr>
          <p:cNvPr id="72708" name="Object 5"/>
          <p:cNvGraphicFramePr>
            <a:graphicFrameLocks noChangeAspect="1"/>
          </p:cNvGraphicFramePr>
          <p:nvPr/>
        </p:nvGraphicFramePr>
        <p:xfrm>
          <a:off x="889000" y="2676525"/>
          <a:ext cx="7456488" cy="3184525"/>
        </p:xfrm>
        <a:graphic>
          <a:graphicData uri="http://schemas.openxmlformats.org/presentationml/2006/ole">
            <mc:AlternateContent xmlns:mc="http://schemas.openxmlformats.org/markup-compatibility/2006">
              <mc:Choice xmlns:v="urn:schemas-microsoft-com:vml" Requires="v">
                <p:oleObj spid="_x0000_s3081" name="" r:id="rId1" imgW="4578350" imgH="2037715" progId="Visio.Drawing.11">
                  <p:embed/>
                </p:oleObj>
              </mc:Choice>
              <mc:Fallback>
                <p:oleObj name="" r:id="rId1" imgW="4578350" imgH="2037715" progId="Visio.Drawing.11">
                  <p:embed/>
                  <p:pic>
                    <p:nvPicPr>
                      <p:cNvPr id="0" name="图片 3080"/>
                      <p:cNvPicPr/>
                      <p:nvPr/>
                    </p:nvPicPr>
                    <p:blipFill>
                      <a:blip r:embed="rId2"/>
                      <a:stretch>
                        <a:fillRect/>
                      </a:stretch>
                    </p:blipFill>
                    <p:spPr>
                      <a:xfrm>
                        <a:off x="889000" y="2676525"/>
                        <a:ext cx="7456488" cy="3184525"/>
                      </a:xfrm>
                      <a:prstGeom prst="rect">
                        <a:avLst/>
                      </a:prstGeom>
                      <a:noFill/>
                      <a:ln w="38100">
                        <a:noFill/>
                        <a:miter/>
                      </a:ln>
                    </p:spPr>
                  </p:pic>
                </p:oleObj>
              </mc:Fallback>
            </mc:AlternateContent>
          </a:graphicData>
        </a:graphic>
      </p:graphicFrame>
      <p:sp>
        <p:nvSpPr>
          <p:cNvPr id="72709" name="Rectangle 6"/>
          <p:cNvSpPr/>
          <p:nvPr/>
        </p:nvSpPr>
        <p:spPr>
          <a:xfrm>
            <a:off x="3014663" y="5927725"/>
            <a:ext cx="3852862" cy="3968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spcBef>
                <a:spcPct val="0"/>
              </a:spcBef>
              <a:buClrTx/>
              <a:buNone/>
            </a:pPr>
            <a:r>
              <a:rPr lang="zh-CN" altLang="en-US" sz="2000" dirty="0">
                <a:ea typeface="宋体" panose="02010600030101010101" pitchFamily="2" charset="-122"/>
              </a:rPr>
              <a:t>处理机按照原始分层划分模块 </a:t>
            </a:r>
            <a:endParaRPr lang="zh-CN" altLang="en-US" sz="2000" dirty="0">
              <a:ea typeface="宋体" panose="02010600030101010101" pitchFamily="2" charset="-122"/>
            </a:endParaRPr>
          </a:p>
        </p:txBody>
      </p:sp>
      <p:sp>
        <p:nvSpPr>
          <p:cNvPr id="72710" name="矩形 5"/>
          <p:cNvSpPr/>
          <p:nvPr/>
        </p:nvSpPr>
        <p:spPr>
          <a:xfrm>
            <a:off x="2876550" y="6326188"/>
            <a:ext cx="3752850" cy="400050"/>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2000" dirty="0">
                <a:ea typeface="宋体" panose="02010600030101010101" pitchFamily="2" charset="-122"/>
                <a:sym typeface="Symbol" panose="05050102010706020507" pitchFamily="18" charset="2"/>
              </a:rPr>
              <a:t> (</a:t>
            </a:r>
            <a:r>
              <a:rPr lang="zh-CN" altLang="en-US" sz="2000" dirty="0">
                <a:ea typeface="宋体" panose="02010600030101010101" pitchFamily="2" charset="-122"/>
                <a:sym typeface="Symbol" panose="05050102010706020507" pitchFamily="18" charset="2"/>
              </a:rPr>
              <a:t>负载分担、次优、分布、动态</a:t>
            </a:r>
            <a:r>
              <a:rPr lang="en-US" altLang="zh-CN" sz="2000" dirty="0">
                <a:ea typeface="宋体" panose="02010600030101010101" pitchFamily="2" charset="-122"/>
                <a:sym typeface="Symbol" panose="05050102010706020507" pitchFamily="18" charset="2"/>
              </a:rPr>
              <a:t>)</a:t>
            </a:r>
            <a:endParaRPr lang="zh-CN" altLang="en-US" sz="2000" dirty="0">
              <a:ea typeface="宋体" panose="02010600030101010101" pitchFamily="2" charset="-122"/>
            </a:endParaRPr>
          </a:p>
        </p:txBody>
      </p:sp>
      <p:sp>
        <p:nvSpPr>
          <p:cNvPr id="72711" name="矩形 6"/>
          <p:cNvSpPr/>
          <p:nvPr/>
        </p:nvSpPr>
        <p:spPr>
          <a:xfrm>
            <a:off x="114300" y="915988"/>
            <a:ext cx="8964613" cy="14779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lnSpc>
                <a:spcPct val="150000"/>
              </a:lnSpc>
              <a:spcBef>
                <a:spcPct val="0"/>
              </a:spcBef>
              <a:buClrTx/>
              <a:buNone/>
            </a:pPr>
            <a:r>
              <a:rPr lang="en-US" altLang="zh-CN" sz="2000" b="1" dirty="0">
                <a:ea typeface="宋体" panose="02010600030101010101" pitchFamily="2" charset="-122"/>
              </a:rPr>
              <a:t>3. </a:t>
            </a:r>
            <a:r>
              <a:rPr lang="zh-CN" altLang="en-US" sz="2000" b="1" dirty="0">
                <a:ea typeface="宋体" panose="02010600030101010101" pitchFamily="2" charset="-122"/>
              </a:rPr>
              <a:t>层次式方法:</a:t>
            </a:r>
            <a:endParaRPr lang="zh-CN" altLang="en-US" sz="2000" dirty="0">
              <a:ea typeface="宋体" panose="02010600030101010101" pitchFamily="2" charset="-122"/>
            </a:endParaRPr>
          </a:p>
          <a:p>
            <a:pPr marL="0" lvl="0" indent="0" algn="just" eaLnBrk="1" hangingPunct="1">
              <a:lnSpc>
                <a:spcPct val="150000"/>
              </a:lnSpc>
              <a:spcBef>
                <a:spcPct val="0"/>
              </a:spcBef>
              <a:buClrTx/>
              <a:buNone/>
            </a:pPr>
            <a:r>
              <a:rPr lang="zh-CN" altLang="en-US" sz="2000" dirty="0">
                <a:ea typeface="宋体" panose="02010600030101010101" pitchFamily="2" charset="-122"/>
              </a:rPr>
              <a:t>把所有处理机组织成一个逻辑分层结构（覆盖网）</a:t>
            </a:r>
            <a:r>
              <a:rPr lang="en-US" altLang="zh-CN" sz="2000" dirty="0">
                <a:ea typeface="宋体" panose="02010600030101010101" pitchFamily="2" charset="-122"/>
              </a:rPr>
              <a:t>, </a:t>
            </a:r>
            <a:r>
              <a:rPr lang="zh-CN" altLang="en-US" sz="2000" dirty="0">
                <a:ea typeface="宋体" panose="02010600030101010101" pitchFamily="2" charset="-122"/>
              </a:rPr>
              <a:t>进行分层次管理，类似组织机构：公司、学校、机构等。</a:t>
            </a:r>
            <a:r>
              <a:rPr lang="en-US" altLang="zh-CN" sz="2000" dirty="0">
                <a:ea typeface="宋体" panose="02010600030101010101" pitchFamily="2" charset="-122"/>
                <a:sym typeface="Symbol" panose="05050102010706020507" pitchFamily="18" charset="2"/>
              </a:rPr>
              <a:t>        </a:t>
            </a:r>
            <a:endParaRPr lang="en-US" altLang="zh-CN" sz="2000" dirty="0">
              <a:ea typeface="宋体" panose="02010600030101010101" pitchFamily="2" charset="-122"/>
              <a:sym typeface="Symbol" panose="05050102010706020507" pitchFamily="18"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0" y="0"/>
            <a:ext cx="9144000" cy="671513"/>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r>
              <a:rPr lang="en-US" altLang="zh-CN" sz="3600" b="1" dirty="0">
                <a:ea typeface="宋体" panose="02010600030101010101" pitchFamily="2" charset="-122"/>
              </a:rPr>
              <a:t>(</a:t>
            </a:r>
            <a:r>
              <a:rPr lang="zh-CN" altLang="en-US" sz="3600" b="1" dirty="0">
                <a:ea typeface="宋体" panose="02010600030101010101" pitchFamily="2" charset="-122"/>
              </a:rPr>
              <a:t>动态负载平衡</a:t>
            </a:r>
            <a:r>
              <a:rPr lang="en-US" altLang="zh-CN" sz="3600" b="1" dirty="0">
                <a:ea typeface="宋体" panose="02010600030101010101" pitchFamily="2" charset="-122"/>
              </a:rPr>
              <a:t>)</a:t>
            </a:r>
            <a:endParaRPr lang="en-US" altLang="zh-CN" sz="3600" b="1" dirty="0">
              <a:ea typeface="宋体" panose="02010600030101010101" pitchFamily="2" charset="-122"/>
            </a:endParaRPr>
          </a:p>
        </p:txBody>
      </p:sp>
      <p:sp>
        <p:nvSpPr>
          <p:cNvPr id="73731"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3732" name="Rectangle 4"/>
          <p:cNvSpPr/>
          <p:nvPr/>
        </p:nvSpPr>
        <p:spPr>
          <a:xfrm>
            <a:off x="165100" y="617538"/>
            <a:ext cx="8672513" cy="147161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10000"/>
              </a:lnSpc>
              <a:spcBef>
                <a:spcPct val="0"/>
              </a:spcBef>
              <a:buClrTx/>
              <a:buNone/>
              <a:tabLst>
                <a:tab pos="466725" algn="l"/>
              </a:tabLst>
            </a:pPr>
            <a:r>
              <a:rPr lang="en-US" altLang="zh-CN" sz="1600" b="1" dirty="0">
                <a:ea typeface="宋体" panose="02010600030101010101" pitchFamily="2" charset="-122"/>
              </a:rPr>
              <a:t>4. </a:t>
            </a:r>
            <a:r>
              <a:rPr lang="zh-CN" altLang="en-US" sz="1600" b="1" dirty="0">
                <a:ea typeface="宋体" panose="02010600030101010101" pitchFamily="2" charset="-122"/>
              </a:rPr>
              <a:t>发送者发起的分布式启发性算法</a:t>
            </a:r>
            <a:r>
              <a:rPr lang="en-US" altLang="zh-CN" sz="1600" b="1" dirty="0">
                <a:ea typeface="宋体" panose="02010600030101010101" pitchFamily="2" charset="-122"/>
              </a:rPr>
              <a:t>(Sender-initiated):</a:t>
            </a:r>
            <a:endParaRPr lang="en-US" altLang="zh-CN" sz="1600" b="1"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zh-CN" altLang="en-US" sz="1600" dirty="0">
                <a:ea typeface="宋体" panose="02010600030101010101" pitchFamily="2" charset="-122"/>
              </a:rPr>
              <a:t>    当创建进程时</a:t>
            </a:r>
            <a:r>
              <a:rPr lang="en-US" altLang="zh-CN" sz="1600" dirty="0">
                <a:ea typeface="宋体" panose="02010600030101010101" pitchFamily="2" charset="-122"/>
              </a:rPr>
              <a:t>(</a:t>
            </a:r>
            <a:r>
              <a:rPr lang="zh-CN" altLang="en-US" sz="1600" dirty="0">
                <a:ea typeface="宋体" panose="02010600030101010101" pitchFamily="2" charset="-122"/>
              </a:rPr>
              <a:t>且负载重</a:t>
            </a:r>
            <a:r>
              <a:rPr lang="en-US" altLang="zh-CN" sz="1600" dirty="0">
                <a:ea typeface="宋体" panose="02010600030101010101" pitchFamily="2" charset="-122"/>
              </a:rPr>
              <a:t>)</a:t>
            </a:r>
            <a:r>
              <a:rPr lang="zh-CN" altLang="en-US" sz="1600" dirty="0">
                <a:ea typeface="宋体" panose="02010600030101010101" pitchFamily="2" charset="-122"/>
              </a:rPr>
              <a:t>，该机器对随机选取一个机器发送询问：是否低于某个阈值。如果是，则迁移进程；否则，另选一台机器继续询问。如果没有找到合适的机器，则算法将停止，新进程仍在创建它的机器上运行。</a:t>
            </a:r>
            <a:endParaRPr lang="zh-CN" altLang="en-US" sz="1600" dirty="0">
              <a:ea typeface="宋体" panose="02010600030101010101" pitchFamily="2" charset="-122"/>
            </a:endParaRPr>
          </a:p>
        </p:txBody>
      </p:sp>
      <p:grpSp>
        <p:nvGrpSpPr>
          <p:cNvPr id="73733" name="组合 3"/>
          <p:cNvGrpSpPr/>
          <p:nvPr/>
        </p:nvGrpSpPr>
        <p:grpSpPr>
          <a:xfrm>
            <a:off x="227013" y="2227263"/>
            <a:ext cx="4494212" cy="3021012"/>
            <a:chOff x="227676" y="2228055"/>
            <a:chExt cx="4493953" cy="3021013"/>
          </a:xfrm>
        </p:grpSpPr>
        <p:sp>
          <p:nvSpPr>
            <p:cNvPr id="73736" name="Line 52"/>
            <p:cNvSpPr/>
            <p:nvPr/>
          </p:nvSpPr>
          <p:spPr>
            <a:xfrm>
              <a:off x="1641504" y="3554893"/>
              <a:ext cx="1742882" cy="6004"/>
            </a:xfrm>
            <a:prstGeom prst="line">
              <a:avLst/>
            </a:prstGeom>
            <a:ln w="9525" cap="flat" cmpd="sng">
              <a:solidFill>
                <a:schemeClr val="tx2"/>
              </a:solidFill>
              <a:prstDash val="solid"/>
              <a:headEnd type="none" w="med" len="med"/>
              <a:tailEnd type="triangle" w="med" len="med"/>
            </a:ln>
          </p:spPr>
        </p:sp>
        <p:grpSp>
          <p:nvGrpSpPr>
            <p:cNvPr id="73737" name="组合 2"/>
            <p:cNvGrpSpPr/>
            <p:nvPr/>
          </p:nvGrpSpPr>
          <p:grpSpPr>
            <a:xfrm>
              <a:off x="227676" y="2228055"/>
              <a:ext cx="4493953" cy="3021013"/>
              <a:chOff x="1549400" y="3778250"/>
              <a:chExt cx="6254750" cy="3021013"/>
            </a:xfrm>
          </p:grpSpPr>
          <p:grpSp>
            <p:nvGrpSpPr>
              <p:cNvPr id="73738" name="Group 30"/>
              <p:cNvGrpSpPr/>
              <p:nvPr/>
            </p:nvGrpSpPr>
            <p:grpSpPr>
              <a:xfrm>
                <a:off x="1549400" y="3778250"/>
                <a:ext cx="6254750" cy="3021013"/>
                <a:chOff x="1800" y="1674"/>
                <a:chExt cx="8010" cy="4056"/>
              </a:xfrm>
            </p:grpSpPr>
            <p:sp>
              <p:nvSpPr>
                <p:cNvPr id="73740" name="Line 31"/>
                <p:cNvSpPr/>
                <p:nvPr/>
              </p:nvSpPr>
              <p:spPr>
                <a:xfrm>
                  <a:off x="1800" y="5106"/>
                  <a:ext cx="7740" cy="0"/>
                </a:xfrm>
                <a:prstGeom prst="line">
                  <a:avLst/>
                </a:prstGeom>
                <a:ln w="9525" cap="flat" cmpd="sng">
                  <a:solidFill>
                    <a:srgbClr val="000000"/>
                  </a:solidFill>
                  <a:prstDash val="solid"/>
                  <a:headEnd type="none" w="med" len="med"/>
                  <a:tailEnd type="none" w="med" len="med"/>
                </a:ln>
              </p:spPr>
            </p:sp>
            <p:sp>
              <p:nvSpPr>
                <p:cNvPr id="73741" name="Rectangle 32"/>
                <p:cNvSpPr/>
                <p:nvPr/>
              </p:nvSpPr>
              <p:spPr>
                <a:xfrm>
                  <a:off x="3240" y="1986"/>
                  <a:ext cx="1080" cy="312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400" dirty="0">
                    <a:ea typeface="宋体" panose="02010600030101010101" pitchFamily="2" charset="-122"/>
                  </a:endParaRPr>
                </a:p>
              </p:txBody>
            </p:sp>
            <p:sp>
              <p:nvSpPr>
                <p:cNvPr id="73742" name="Line 33"/>
                <p:cNvSpPr/>
                <p:nvPr/>
              </p:nvSpPr>
              <p:spPr>
                <a:xfrm flipH="1">
                  <a:off x="2700" y="2610"/>
                  <a:ext cx="1620" cy="0"/>
                </a:xfrm>
                <a:prstGeom prst="line">
                  <a:avLst/>
                </a:prstGeom>
                <a:ln w="9525" cap="flat" cmpd="sng">
                  <a:solidFill>
                    <a:srgbClr val="000000"/>
                  </a:solidFill>
                  <a:prstDash val="solid"/>
                  <a:headEnd type="none" w="med" len="med"/>
                  <a:tailEnd type="none" w="med" len="med"/>
                </a:ln>
              </p:spPr>
            </p:sp>
            <p:grpSp>
              <p:nvGrpSpPr>
                <p:cNvPr id="73743" name="Group 34"/>
                <p:cNvGrpSpPr/>
                <p:nvPr/>
              </p:nvGrpSpPr>
              <p:grpSpPr>
                <a:xfrm>
                  <a:off x="7380" y="1986"/>
                  <a:ext cx="1620" cy="3120"/>
                  <a:chOff x="7920" y="2922"/>
                  <a:chExt cx="1620" cy="3120"/>
                </a:xfrm>
              </p:grpSpPr>
              <p:sp>
                <p:nvSpPr>
                  <p:cNvPr id="73758" name="Rectangle 35"/>
                  <p:cNvSpPr/>
                  <p:nvPr/>
                </p:nvSpPr>
                <p:spPr>
                  <a:xfrm>
                    <a:off x="7920" y="2922"/>
                    <a:ext cx="1080" cy="312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400" dirty="0">
                      <a:ea typeface="宋体" panose="02010600030101010101" pitchFamily="2" charset="-122"/>
                    </a:endParaRPr>
                  </a:p>
                </p:txBody>
              </p:sp>
              <p:sp>
                <p:nvSpPr>
                  <p:cNvPr id="73759" name="Line 36"/>
                  <p:cNvSpPr/>
                  <p:nvPr/>
                </p:nvSpPr>
                <p:spPr>
                  <a:xfrm>
                    <a:off x="7920" y="5262"/>
                    <a:ext cx="1620" cy="1"/>
                  </a:xfrm>
                  <a:prstGeom prst="line">
                    <a:avLst/>
                  </a:prstGeom>
                  <a:ln w="9525" cap="flat" cmpd="sng">
                    <a:solidFill>
                      <a:srgbClr val="000000"/>
                    </a:solidFill>
                    <a:prstDash val="solid"/>
                    <a:headEnd type="none" w="med" len="med"/>
                    <a:tailEnd type="none" w="med" len="med"/>
                  </a:ln>
                </p:spPr>
              </p:sp>
              <p:sp>
                <p:nvSpPr>
                  <p:cNvPr id="73760" name="Line 37"/>
                  <p:cNvSpPr/>
                  <p:nvPr/>
                </p:nvSpPr>
                <p:spPr>
                  <a:xfrm>
                    <a:off x="7920" y="4170"/>
                    <a:ext cx="1620" cy="1"/>
                  </a:xfrm>
                  <a:prstGeom prst="line">
                    <a:avLst/>
                  </a:prstGeom>
                  <a:ln w="9525" cap="flat" cmpd="sng">
                    <a:solidFill>
                      <a:srgbClr val="000000"/>
                    </a:solidFill>
                    <a:prstDash val="solid"/>
                    <a:headEnd type="none" w="med" len="med"/>
                    <a:tailEnd type="none" w="med" len="med"/>
                  </a:ln>
                </p:spPr>
              </p:sp>
            </p:grpSp>
            <p:sp>
              <p:nvSpPr>
                <p:cNvPr id="73744" name="Line 38"/>
                <p:cNvSpPr/>
                <p:nvPr/>
              </p:nvSpPr>
              <p:spPr>
                <a:xfrm>
                  <a:off x="2880" y="2610"/>
                  <a:ext cx="0" cy="780"/>
                </a:xfrm>
                <a:prstGeom prst="line">
                  <a:avLst/>
                </a:prstGeom>
                <a:ln w="9525" cap="flat" cmpd="sng">
                  <a:solidFill>
                    <a:srgbClr val="000000"/>
                  </a:solidFill>
                  <a:prstDash val="solid"/>
                  <a:headEnd type="none" w="med" len="med"/>
                  <a:tailEnd type="triangle" w="med" len="med"/>
                </a:ln>
              </p:spPr>
            </p:sp>
            <p:sp>
              <p:nvSpPr>
                <p:cNvPr id="73745" name="Line 39"/>
                <p:cNvSpPr/>
                <p:nvPr/>
              </p:nvSpPr>
              <p:spPr>
                <a:xfrm flipV="1">
                  <a:off x="2880" y="4014"/>
                  <a:ext cx="0" cy="1092"/>
                </a:xfrm>
                <a:prstGeom prst="line">
                  <a:avLst/>
                </a:prstGeom>
                <a:ln w="9525" cap="flat" cmpd="sng">
                  <a:solidFill>
                    <a:srgbClr val="000000"/>
                  </a:solidFill>
                  <a:prstDash val="solid"/>
                  <a:headEnd type="none" w="med" len="med"/>
                  <a:tailEnd type="triangle" w="med" len="med"/>
                </a:ln>
              </p:spPr>
            </p:sp>
            <p:sp>
              <p:nvSpPr>
                <p:cNvPr id="73746" name="Text Box 40"/>
                <p:cNvSpPr txBox="1"/>
                <p:nvPr/>
              </p:nvSpPr>
              <p:spPr>
                <a:xfrm>
                  <a:off x="2160" y="3546"/>
                  <a:ext cx="90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400" dirty="0">
                      <a:ea typeface="宋体" panose="02010600030101010101" pitchFamily="2" charset="-122"/>
                    </a:rPr>
                    <a:t>负载</a:t>
                  </a:r>
                  <a:endParaRPr lang="zh-CN" altLang="en-US" sz="1400" dirty="0">
                    <a:ea typeface="宋体" panose="02010600030101010101" pitchFamily="2" charset="-122"/>
                  </a:endParaRPr>
                </a:p>
              </p:txBody>
            </p:sp>
            <p:sp>
              <p:nvSpPr>
                <p:cNvPr id="73747" name="Text Box 41"/>
                <p:cNvSpPr txBox="1"/>
                <p:nvPr/>
              </p:nvSpPr>
              <p:spPr>
                <a:xfrm>
                  <a:off x="8640" y="2610"/>
                  <a:ext cx="117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HWM</a:t>
                  </a:r>
                  <a:endParaRPr lang="en-US" altLang="zh-CN" sz="1400" dirty="0">
                    <a:ea typeface="宋体" panose="02010600030101010101" pitchFamily="2" charset="-122"/>
                  </a:endParaRPr>
                </a:p>
              </p:txBody>
            </p:sp>
            <p:sp>
              <p:nvSpPr>
                <p:cNvPr id="73748" name="Text Box 42"/>
                <p:cNvSpPr txBox="1"/>
                <p:nvPr/>
              </p:nvSpPr>
              <p:spPr>
                <a:xfrm>
                  <a:off x="5350" y="3858"/>
                  <a:ext cx="149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(2) </a:t>
                  </a:r>
                  <a:r>
                    <a:rPr lang="zh-CN" altLang="en-US" sz="1400" dirty="0">
                      <a:ea typeface="宋体" panose="02010600030101010101" pitchFamily="2" charset="-122"/>
                    </a:rPr>
                    <a:t>传送</a:t>
                  </a:r>
                  <a:endParaRPr lang="zh-CN" altLang="en-US" sz="1400" dirty="0">
                    <a:ea typeface="宋体" panose="02010600030101010101" pitchFamily="2" charset="-122"/>
                  </a:endParaRPr>
                </a:p>
              </p:txBody>
            </p:sp>
            <p:sp>
              <p:nvSpPr>
                <p:cNvPr id="73749" name="Text Box 43"/>
                <p:cNvSpPr txBox="1"/>
                <p:nvPr/>
              </p:nvSpPr>
              <p:spPr>
                <a:xfrm>
                  <a:off x="5202" y="1674"/>
                  <a:ext cx="1458"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(1) </a:t>
                  </a:r>
                  <a:r>
                    <a:rPr lang="zh-CN" altLang="en-US" sz="1400" dirty="0">
                      <a:ea typeface="宋体" panose="02010600030101010101" pitchFamily="2" charset="-122"/>
                    </a:rPr>
                    <a:t>询问</a:t>
                  </a:r>
                  <a:endParaRPr lang="zh-CN" altLang="en-US" sz="1400" dirty="0">
                    <a:ea typeface="宋体" panose="02010600030101010101" pitchFamily="2" charset="-122"/>
                  </a:endParaRPr>
                </a:p>
              </p:txBody>
            </p:sp>
            <p:sp>
              <p:nvSpPr>
                <p:cNvPr id="73750" name="Text Box 44"/>
                <p:cNvSpPr txBox="1"/>
                <p:nvPr/>
              </p:nvSpPr>
              <p:spPr>
                <a:xfrm>
                  <a:off x="8730" y="3702"/>
                  <a:ext cx="108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LWM</a:t>
                  </a:r>
                  <a:endParaRPr lang="en-US" altLang="zh-CN" sz="1400" dirty="0">
                    <a:ea typeface="宋体" panose="02010600030101010101" pitchFamily="2" charset="-122"/>
                  </a:endParaRPr>
                </a:p>
              </p:txBody>
            </p:sp>
            <p:sp>
              <p:nvSpPr>
                <p:cNvPr id="73751" name="Text Box 45"/>
                <p:cNvSpPr txBox="1"/>
                <p:nvPr/>
              </p:nvSpPr>
              <p:spPr>
                <a:xfrm>
                  <a:off x="4500" y="2610"/>
                  <a:ext cx="1295"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HWM</a:t>
                  </a:r>
                  <a:endParaRPr lang="en-US" altLang="zh-CN" sz="1400" dirty="0">
                    <a:ea typeface="宋体" panose="02010600030101010101" pitchFamily="2" charset="-122"/>
                  </a:endParaRPr>
                </a:p>
              </p:txBody>
            </p:sp>
            <p:sp>
              <p:nvSpPr>
                <p:cNvPr id="73752" name="Text Box 46"/>
                <p:cNvSpPr txBox="1"/>
                <p:nvPr/>
              </p:nvSpPr>
              <p:spPr>
                <a:xfrm>
                  <a:off x="4500" y="3828"/>
                  <a:ext cx="108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400" dirty="0">
                      <a:ea typeface="宋体" panose="02010600030101010101" pitchFamily="2" charset="-122"/>
                    </a:rPr>
                    <a:t>LWM</a:t>
                  </a:r>
                  <a:endParaRPr lang="en-US" altLang="zh-CN" sz="1400" dirty="0">
                    <a:ea typeface="宋体" panose="02010600030101010101" pitchFamily="2" charset="-122"/>
                  </a:endParaRPr>
                </a:p>
              </p:txBody>
            </p:sp>
            <p:sp>
              <p:nvSpPr>
                <p:cNvPr id="73753" name="Text Box 47"/>
                <p:cNvSpPr txBox="1"/>
                <p:nvPr/>
              </p:nvSpPr>
              <p:spPr>
                <a:xfrm>
                  <a:off x="7347" y="5262"/>
                  <a:ext cx="1293"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400" dirty="0">
                      <a:ea typeface="宋体" panose="02010600030101010101" pitchFamily="2" charset="-122"/>
                    </a:rPr>
                    <a:t>接受者</a:t>
                  </a:r>
                  <a:endParaRPr lang="zh-CN" altLang="en-US" sz="1400" dirty="0">
                    <a:ea typeface="宋体" panose="02010600030101010101" pitchFamily="2" charset="-122"/>
                  </a:endParaRPr>
                </a:p>
              </p:txBody>
            </p:sp>
            <p:sp>
              <p:nvSpPr>
                <p:cNvPr id="73754" name="Text Box 48"/>
                <p:cNvSpPr txBox="1"/>
                <p:nvPr/>
              </p:nvSpPr>
              <p:spPr>
                <a:xfrm>
                  <a:off x="3060" y="5262"/>
                  <a:ext cx="144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400" dirty="0">
                      <a:ea typeface="宋体" panose="02010600030101010101" pitchFamily="2" charset="-122"/>
                    </a:rPr>
                    <a:t>发送者</a:t>
                  </a:r>
                  <a:endParaRPr lang="zh-CN" altLang="en-US" sz="1400" dirty="0">
                    <a:ea typeface="宋体" panose="02010600030101010101" pitchFamily="2" charset="-122"/>
                  </a:endParaRPr>
                </a:p>
              </p:txBody>
            </p:sp>
            <p:sp>
              <p:nvSpPr>
                <p:cNvPr id="73755" name="Line 49"/>
                <p:cNvSpPr/>
                <p:nvPr/>
              </p:nvSpPr>
              <p:spPr>
                <a:xfrm>
                  <a:off x="3240" y="3234"/>
                  <a:ext cx="1620" cy="1"/>
                </a:xfrm>
                <a:prstGeom prst="line">
                  <a:avLst/>
                </a:prstGeom>
                <a:ln w="9525" cap="flat" cmpd="sng">
                  <a:solidFill>
                    <a:srgbClr val="000000"/>
                  </a:solidFill>
                  <a:prstDash val="solid"/>
                  <a:headEnd type="none" w="med" len="med"/>
                  <a:tailEnd type="none" w="med" len="med"/>
                </a:ln>
              </p:spPr>
            </p:sp>
            <p:sp>
              <p:nvSpPr>
                <p:cNvPr id="73756" name="Text Box 50"/>
                <p:cNvSpPr txBox="1"/>
                <p:nvPr/>
              </p:nvSpPr>
              <p:spPr>
                <a:xfrm>
                  <a:off x="3240" y="2610"/>
                  <a:ext cx="1080" cy="2496"/>
                </a:xfrm>
                <a:prstGeom prst="rect">
                  <a:avLst/>
                </a:prstGeom>
                <a:solidFill>
                  <a:srgbClr val="000080"/>
                </a:solidFill>
                <a:ln w="9525" cap="flat" cmpd="sng">
                  <a:solidFill>
                    <a:srgbClr val="0000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400" dirty="0">
                    <a:ea typeface="宋体" panose="02010600030101010101" pitchFamily="2" charset="-122"/>
                  </a:endParaRPr>
                </a:p>
              </p:txBody>
            </p:sp>
            <p:cxnSp>
              <p:nvCxnSpPr>
                <p:cNvPr id="73757" name="AutoShape 51"/>
                <p:cNvCxnSpPr>
                  <a:stCxn id="73741" idx="0"/>
                  <a:endCxn id="73758" idx="0"/>
                </p:cNvCxnSpPr>
                <p:nvPr/>
              </p:nvCxnSpPr>
              <p:spPr>
                <a:xfrm rot="5400000" flipV="1">
                  <a:off x="5848" y="-83"/>
                  <a:ext cx="1" cy="4140"/>
                </a:xfrm>
                <a:prstGeom prst="curvedConnector3">
                  <a:avLst>
                    <a:gd name="adj1" fmla="val -36000014"/>
                  </a:avLst>
                </a:prstGeom>
                <a:ln w="9525" cap="flat" cmpd="sng">
                  <a:solidFill>
                    <a:srgbClr val="000000"/>
                  </a:solidFill>
                  <a:prstDash val="solid"/>
                  <a:headEnd type="none" w="med" len="med"/>
                  <a:tailEnd type="triangle" w="med" len="med"/>
                </a:ln>
              </p:spPr>
            </p:cxnSp>
          </p:grpSp>
          <p:sp>
            <p:nvSpPr>
              <p:cNvPr id="73739" name="Rectangle 53"/>
              <p:cNvSpPr/>
              <p:nvPr/>
            </p:nvSpPr>
            <p:spPr>
              <a:xfrm>
                <a:off x="5924550" y="5947668"/>
                <a:ext cx="850900" cy="307777"/>
              </a:xfrm>
              <a:prstGeom prst="rect">
                <a:avLst/>
              </a:prstGeom>
              <a:solidFill>
                <a:srgbClr val="000099"/>
              </a:solid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400" dirty="0">
                  <a:ea typeface="宋体" panose="02010600030101010101" pitchFamily="2" charset="-122"/>
                </a:endParaRPr>
              </a:p>
            </p:txBody>
          </p:sp>
        </p:grpSp>
      </p:grpSp>
      <p:sp>
        <p:nvSpPr>
          <p:cNvPr id="73734" name="Line 54"/>
          <p:cNvSpPr/>
          <p:nvPr/>
        </p:nvSpPr>
        <p:spPr>
          <a:xfrm>
            <a:off x="2646363" y="5691188"/>
            <a:ext cx="1474787" cy="14287"/>
          </a:xfrm>
          <a:prstGeom prst="line">
            <a:avLst/>
          </a:prstGeom>
          <a:ln w="9525">
            <a:noFill/>
          </a:ln>
        </p:spPr>
      </p:sp>
      <p:sp>
        <p:nvSpPr>
          <p:cNvPr id="73735" name="Rectangle 4"/>
          <p:cNvSpPr/>
          <p:nvPr/>
        </p:nvSpPr>
        <p:spPr>
          <a:xfrm>
            <a:off x="4872038" y="2089150"/>
            <a:ext cx="4111625" cy="39020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30000"/>
              </a:lnSpc>
              <a:spcBef>
                <a:spcPct val="0"/>
              </a:spcBef>
              <a:buClrTx/>
              <a:buNone/>
              <a:tabLst>
                <a:tab pos="466725" algn="l"/>
              </a:tabLst>
            </a:pPr>
            <a:r>
              <a:rPr lang="zh-CN" altLang="en-US" sz="1600" dirty="0">
                <a:ea typeface="宋体" panose="02010600030101010101" pitchFamily="2" charset="-122"/>
              </a:rPr>
              <a:t>算法描述：</a:t>
            </a:r>
            <a:endParaRPr lang="zh-CN" altLang="en-US"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zh-CN" altLang="en-US" sz="1600" dirty="0">
                <a:ea typeface="宋体" panose="02010600030101010101" pitchFamily="2" charset="-122"/>
              </a:rPr>
              <a:t>/* </a:t>
            </a:r>
            <a:r>
              <a:rPr lang="en-US" altLang="zh-CN" sz="1600" dirty="0">
                <a:ea typeface="宋体" panose="02010600030101010101" pitchFamily="2" charset="-122"/>
              </a:rPr>
              <a:t>a new task arrives */</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queue_length ≥HWM→</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*[poll_set:=0;</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[|poll_set| &lt; poll_limit→</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 select a new node u randomly;</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poll_set:= poll_set ∪ node u;</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queue_length at u &lt; LWM → </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transfer a task to node u and stop</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a:t>
            </a:r>
            <a:endParaRPr lang="en-US" altLang="zh-CN" sz="1600" dirty="0">
              <a:ea typeface="宋体" panose="02010600030101010101" pitchFamily="2" charset="-122"/>
            </a:endParaRPr>
          </a:p>
          <a:p>
            <a:pPr marL="0" lvl="0" indent="266700" algn="just" defTabSz="914400">
              <a:lnSpc>
                <a:spcPct val="130000"/>
              </a:lnSpc>
              <a:spcBef>
                <a:spcPct val="0"/>
              </a:spcBef>
              <a:buClrTx/>
              <a:buNone/>
              <a:tabLst>
                <a:tab pos="466725" algn="l"/>
              </a:tabLst>
            </a:pPr>
            <a:r>
              <a:rPr lang="en-US" altLang="zh-CN" sz="1600" dirty="0">
                <a:ea typeface="宋体" panose="02010600030101010101" pitchFamily="2" charset="-122"/>
              </a:rPr>
              <a:t> ] </a:t>
            </a:r>
            <a:endParaRPr lang="zh-CN" altLang="en-US" sz="1600"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xfrm>
            <a:off x="379413" y="11113"/>
            <a:ext cx="7759700" cy="517525"/>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r>
              <a:rPr lang="en-US" altLang="zh-CN" sz="3600" b="1" dirty="0">
                <a:ea typeface="宋体" panose="02010600030101010101" pitchFamily="2" charset="-122"/>
              </a:rPr>
              <a:t>(</a:t>
            </a:r>
            <a:r>
              <a:rPr lang="zh-CN" altLang="en-US" sz="3600" b="1" dirty="0">
                <a:ea typeface="宋体" panose="02010600030101010101" pitchFamily="2" charset="-122"/>
              </a:rPr>
              <a:t>动态负载平衡</a:t>
            </a:r>
            <a:r>
              <a:rPr lang="en-US" altLang="zh-CN" sz="3600" b="1" dirty="0">
                <a:ea typeface="宋体" panose="02010600030101010101" pitchFamily="2" charset="-122"/>
              </a:rPr>
              <a:t>)</a:t>
            </a:r>
            <a:endParaRPr lang="en-US" altLang="zh-CN" sz="3600" b="1" dirty="0">
              <a:ea typeface="宋体" panose="02010600030101010101" pitchFamily="2" charset="-122"/>
            </a:endParaRPr>
          </a:p>
        </p:txBody>
      </p:sp>
      <p:sp>
        <p:nvSpPr>
          <p:cNvPr id="74755"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4756" name="Rectangle 5"/>
          <p:cNvSpPr/>
          <p:nvPr/>
        </p:nvSpPr>
        <p:spPr>
          <a:xfrm>
            <a:off x="169863" y="606425"/>
            <a:ext cx="8907462" cy="1446213"/>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l" defTabSz="914400" eaLnBrk="1" hangingPunct="1">
              <a:spcBef>
                <a:spcPct val="0"/>
              </a:spcBef>
              <a:buClrTx/>
              <a:buNone/>
              <a:tabLst>
                <a:tab pos="466725" algn="l"/>
              </a:tabLst>
            </a:pPr>
            <a:r>
              <a:rPr lang="en-US" altLang="zh-CN" sz="1600" b="1" dirty="0">
                <a:ea typeface="宋体" panose="02010600030101010101" pitchFamily="2" charset="-122"/>
              </a:rPr>
              <a:t>5.</a:t>
            </a:r>
            <a:r>
              <a:rPr lang="zh-CN" altLang="en-US" sz="1600" b="1" dirty="0">
                <a:ea typeface="宋体" panose="02010600030101010101" pitchFamily="2" charset="-122"/>
              </a:rPr>
              <a:t>接收者发起的分布式启发性算法（</a:t>
            </a:r>
            <a:r>
              <a:rPr lang="en-US" altLang="zh-CN" sz="1600" b="1" dirty="0">
                <a:ea typeface="宋体" panose="02010600030101010101" pitchFamily="2" charset="-122"/>
              </a:rPr>
              <a:t>Receiver-initiated</a:t>
            </a:r>
            <a:r>
              <a:rPr lang="zh-CN" altLang="en-US" sz="1600" b="1" dirty="0">
                <a:ea typeface="宋体" panose="02010600030101010101" pitchFamily="2" charset="-122"/>
              </a:rPr>
              <a:t>） :</a:t>
            </a:r>
            <a:endParaRPr lang="zh-CN" altLang="en-US" sz="1600" b="1"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zh-CN" altLang="en-US" sz="1600" dirty="0">
                <a:ea typeface="宋体" panose="02010600030101010101" pitchFamily="2" charset="-122"/>
              </a:rPr>
              <a:t>当一个进程结束时，系统将检查本结点是否欠载，如果是，则随机向一台机器申请工作。如</a:t>
            </a:r>
            <a:r>
              <a:rPr lang="en-US" altLang="zh-CN" sz="1600" b="1" dirty="0">
                <a:ea typeface="宋体" panose="02010600030101010101" pitchFamily="2" charset="-122"/>
              </a:rPr>
              <a:t>5.</a:t>
            </a:r>
            <a:r>
              <a:rPr lang="zh-CN" altLang="en-US" sz="1600" dirty="0">
                <a:ea typeface="宋体" panose="02010600030101010101" pitchFamily="2" charset="-122"/>
              </a:rPr>
              <a:t>果那台机器负载重，则迁移一个进程；如果负载合适，则继续询问其他结点，直到没有找到重负载的结点</a:t>
            </a:r>
            <a:r>
              <a:rPr lang="en-US" altLang="zh-CN" sz="1600" dirty="0">
                <a:ea typeface="宋体" panose="02010600030101010101" pitchFamily="2" charset="-122"/>
              </a:rPr>
              <a:t>zho</a:t>
            </a:r>
            <a:r>
              <a:rPr lang="zh-CN" altLang="en-US" sz="1600" dirty="0">
                <a:ea typeface="宋体" panose="02010600030101010101" pitchFamily="2" charset="-122"/>
              </a:rPr>
              <a:t>，则算法结束。</a:t>
            </a:r>
            <a:endParaRPr lang="zh-CN" altLang="en-US" sz="1600" dirty="0">
              <a:ea typeface="宋体" panose="02010600030101010101" pitchFamily="2" charset="-122"/>
            </a:endParaRPr>
          </a:p>
        </p:txBody>
      </p:sp>
      <p:sp>
        <p:nvSpPr>
          <p:cNvPr id="74757" name="Line 31"/>
          <p:cNvSpPr/>
          <p:nvPr/>
        </p:nvSpPr>
        <p:spPr>
          <a:xfrm>
            <a:off x="3314700" y="5219700"/>
            <a:ext cx="2362200" cy="12700"/>
          </a:xfrm>
          <a:prstGeom prst="line">
            <a:avLst/>
          </a:prstGeom>
          <a:ln w="9525">
            <a:noFill/>
          </a:ln>
        </p:spPr>
      </p:sp>
      <p:sp>
        <p:nvSpPr>
          <p:cNvPr id="74758" name="Line 32"/>
          <p:cNvSpPr/>
          <p:nvPr/>
        </p:nvSpPr>
        <p:spPr>
          <a:xfrm>
            <a:off x="3530600" y="5181600"/>
            <a:ext cx="2387600" cy="25400"/>
          </a:xfrm>
          <a:prstGeom prst="line">
            <a:avLst/>
          </a:prstGeom>
          <a:ln w="9525">
            <a:noFill/>
          </a:ln>
        </p:spPr>
      </p:sp>
      <p:grpSp>
        <p:nvGrpSpPr>
          <p:cNvPr id="74759" name="组合 1"/>
          <p:cNvGrpSpPr/>
          <p:nvPr/>
        </p:nvGrpSpPr>
        <p:grpSpPr>
          <a:xfrm>
            <a:off x="17463" y="2138363"/>
            <a:ext cx="4478337" cy="2932112"/>
            <a:chOff x="1555750" y="3257550"/>
            <a:chExt cx="6296893" cy="2932113"/>
          </a:xfrm>
        </p:grpSpPr>
        <p:grpSp>
          <p:nvGrpSpPr>
            <p:cNvPr id="74763" name="Group 6"/>
            <p:cNvGrpSpPr/>
            <p:nvPr/>
          </p:nvGrpSpPr>
          <p:grpSpPr>
            <a:xfrm>
              <a:off x="1555750" y="3257550"/>
              <a:ext cx="6296893" cy="2932113"/>
              <a:chOff x="1800" y="1674"/>
              <a:chExt cx="8130" cy="4056"/>
            </a:xfrm>
          </p:grpSpPr>
          <p:grpSp>
            <p:nvGrpSpPr>
              <p:cNvPr id="74765" name="Group 7"/>
              <p:cNvGrpSpPr/>
              <p:nvPr/>
            </p:nvGrpSpPr>
            <p:grpSpPr>
              <a:xfrm>
                <a:off x="1800" y="1674"/>
                <a:ext cx="8130" cy="4056"/>
                <a:chOff x="1980" y="2298"/>
                <a:chExt cx="8130" cy="4056"/>
              </a:xfrm>
            </p:grpSpPr>
            <p:sp>
              <p:nvSpPr>
                <p:cNvPr id="74767" name="Line 8"/>
                <p:cNvSpPr/>
                <p:nvPr/>
              </p:nvSpPr>
              <p:spPr>
                <a:xfrm>
                  <a:off x="1980" y="5730"/>
                  <a:ext cx="7740" cy="0"/>
                </a:xfrm>
                <a:prstGeom prst="line">
                  <a:avLst/>
                </a:prstGeom>
                <a:ln w="9525" cap="flat" cmpd="sng">
                  <a:solidFill>
                    <a:srgbClr val="000000"/>
                  </a:solidFill>
                  <a:prstDash val="solid"/>
                  <a:headEnd type="none" w="med" len="med"/>
                  <a:tailEnd type="none" w="med" len="med"/>
                </a:ln>
              </p:spPr>
            </p:sp>
            <p:sp>
              <p:nvSpPr>
                <p:cNvPr id="74768" name="Rectangle 9"/>
                <p:cNvSpPr/>
                <p:nvPr/>
              </p:nvSpPr>
              <p:spPr>
                <a:xfrm>
                  <a:off x="3420" y="2610"/>
                  <a:ext cx="1080" cy="312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4769" name="Line 10"/>
                <p:cNvSpPr/>
                <p:nvPr/>
              </p:nvSpPr>
              <p:spPr>
                <a:xfrm flipH="1">
                  <a:off x="2880" y="3234"/>
                  <a:ext cx="1620" cy="0"/>
                </a:xfrm>
                <a:prstGeom prst="line">
                  <a:avLst/>
                </a:prstGeom>
                <a:ln w="9525" cap="flat" cmpd="sng">
                  <a:solidFill>
                    <a:srgbClr val="000000"/>
                  </a:solidFill>
                  <a:prstDash val="solid"/>
                  <a:headEnd type="none" w="med" len="med"/>
                  <a:tailEnd type="none" w="med" len="med"/>
                </a:ln>
              </p:spPr>
            </p:sp>
            <p:grpSp>
              <p:nvGrpSpPr>
                <p:cNvPr id="74770" name="Group 11"/>
                <p:cNvGrpSpPr/>
                <p:nvPr/>
              </p:nvGrpSpPr>
              <p:grpSpPr>
                <a:xfrm>
                  <a:off x="7560" y="2610"/>
                  <a:ext cx="1620" cy="3120"/>
                  <a:chOff x="7920" y="2922"/>
                  <a:chExt cx="1620" cy="3120"/>
                </a:xfrm>
              </p:grpSpPr>
              <p:sp>
                <p:nvSpPr>
                  <p:cNvPr id="74786" name="Rectangle 12"/>
                  <p:cNvSpPr/>
                  <p:nvPr/>
                </p:nvSpPr>
                <p:spPr>
                  <a:xfrm>
                    <a:off x="7920" y="2922"/>
                    <a:ext cx="1080" cy="312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4787" name="Line 13"/>
                  <p:cNvSpPr/>
                  <p:nvPr/>
                </p:nvSpPr>
                <p:spPr>
                  <a:xfrm>
                    <a:off x="7920" y="5262"/>
                    <a:ext cx="1620" cy="1"/>
                  </a:xfrm>
                  <a:prstGeom prst="line">
                    <a:avLst/>
                  </a:prstGeom>
                  <a:ln w="9525" cap="flat" cmpd="sng">
                    <a:solidFill>
                      <a:srgbClr val="000000"/>
                    </a:solidFill>
                    <a:prstDash val="solid"/>
                    <a:headEnd type="none" w="med" len="med"/>
                    <a:tailEnd type="none" w="med" len="med"/>
                  </a:ln>
                </p:spPr>
              </p:sp>
              <p:sp>
                <p:nvSpPr>
                  <p:cNvPr id="74788" name="Line 14"/>
                  <p:cNvSpPr/>
                  <p:nvPr/>
                </p:nvSpPr>
                <p:spPr>
                  <a:xfrm>
                    <a:off x="7920" y="4170"/>
                    <a:ext cx="1620" cy="1"/>
                  </a:xfrm>
                  <a:prstGeom prst="line">
                    <a:avLst/>
                  </a:prstGeom>
                  <a:ln w="9525" cap="flat" cmpd="sng">
                    <a:solidFill>
                      <a:srgbClr val="000000"/>
                    </a:solidFill>
                    <a:prstDash val="solid"/>
                    <a:headEnd type="none" w="med" len="med"/>
                    <a:tailEnd type="none" w="med" len="med"/>
                  </a:ln>
                </p:spPr>
              </p:sp>
            </p:grpSp>
            <p:cxnSp>
              <p:nvCxnSpPr>
                <p:cNvPr id="74771" name="AutoShape 15"/>
                <p:cNvCxnSpPr>
                  <a:stCxn id="74786" idx="0"/>
                  <a:endCxn id="74768" idx="0"/>
                </p:cNvCxnSpPr>
                <p:nvPr/>
              </p:nvCxnSpPr>
              <p:spPr>
                <a:xfrm rot="-5400000" flipH="1" flipV="1">
                  <a:off x="6028" y="539"/>
                  <a:ext cx="1" cy="4140"/>
                </a:xfrm>
                <a:prstGeom prst="curvedConnector3">
                  <a:avLst>
                    <a:gd name="adj1" fmla="val -36000014"/>
                  </a:avLst>
                </a:prstGeom>
                <a:ln w="9525" cap="flat" cmpd="sng">
                  <a:solidFill>
                    <a:srgbClr val="000000"/>
                  </a:solidFill>
                  <a:prstDash val="solid"/>
                  <a:headEnd type="none" w="med" len="med"/>
                  <a:tailEnd type="triangle" w="med" len="med"/>
                </a:ln>
              </p:spPr>
            </p:cxnSp>
            <p:sp>
              <p:nvSpPr>
                <p:cNvPr id="74772" name="Line 16"/>
                <p:cNvSpPr/>
                <p:nvPr/>
              </p:nvSpPr>
              <p:spPr>
                <a:xfrm>
                  <a:off x="3060" y="3234"/>
                  <a:ext cx="0" cy="780"/>
                </a:xfrm>
                <a:prstGeom prst="line">
                  <a:avLst/>
                </a:prstGeom>
                <a:ln w="9525" cap="flat" cmpd="sng">
                  <a:solidFill>
                    <a:srgbClr val="000000"/>
                  </a:solidFill>
                  <a:prstDash val="solid"/>
                  <a:headEnd type="none" w="med" len="med"/>
                  <a:tailEnd type="triangle" w="med" len="med"/>
                </a:ln>
              </p:spPr>
            </p:sp>
            <p:sp>
              <p:nvSpPr>
                <p:cNvPr id="74773" name="Line 17"/>
                <p:cNvSpPr/>
                <p:nvPr/>
              </p:nvSpPr>
              <p:spPr>
                <a:xfrm flipV="1">
                  <a:off x="3060" y="4638"/>
                  <a:ext cx="0" cy="1092"/>
                </a:xfrm>
                <a:prstGeom prst="line">
                  <a:avLst/>
                </a:prstGeom>
                <a:ln w="9525" cap="flat" cmpd="sng">
                  <a:solidFill>
                    <a:srgbClr val="000000"/>
                  </a:solidFill>
                  <a:prstDash val="solid"/>
                  <a:headEnd type="none" w="med" len="med"/>
                  <a:tailEnd type="triangle" w="med" len="med"/>
                </a:ln>
              </p:spPr>
            </p:sp>
            <p:sp>
              <p:nvSpPr>
                <p:cNvPr id="74774" name="Text Box 18"/>
                <p:cNvSpPr txBox="1"/>
                <p:nvPr/>
              </p:nvSpPr>
              <p:spPr>
                <a:xfrm>
                  <a:off x="2340" y="4170"/>
                  <a:ext cx="90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dirty="0">
                      <a:ea typeface="宋体" panose="02010600030101010101" pitchFamily="2" charset="-122"/>
                    </a:rPr>
                    <a:t>负载</a:t>
                  </a:r>
                  <a:endParaRPr lang="zh-CN" altLang="en-US" sz="1600" dirty="0">
                    <a:ea typeface="宋体" panose="02010600030101010101" pitchFamily="2" charset="-122"/>
                  </a:endParaRPr>
                </a:p>
              </p:txBody>
            </p:sp>
            <p:sp>
              <p:nvSpPr>
                <p:cNvPr id="74775" name="Text Box 19"/>
                <p:cNvSpPr txBox="1"/>
                <p:nvPr/>
              </p:nvSpPr>
              <p:spPr>
                <a:xfrm>
                  <a:off x="8820" y="3234"/>
                  <a:ext cx="129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HWM</a:t>
                  </a:r>
                  <a:endParaRPr lang="en-US" altLang="zh-CN" sz="1600" dirty="0">
                    <a:ea typeface="宋体" panose="02010600030101010101" pitchFamily="2" charset="-122"/>
                  </a:endParaRPr>
                </a:p>
              </p:txBody>
            </p:sp>
            <p:sp>
              <p:nvSpPr>
                <p:cNvPr id="74776" name="Text Box 20"/>
                <p:cNvSpPr txBox="1"/>
                <p:nvPr/>
              </p:nvSpPr>
              <p:spPr>
                <a:xfrm>
                  <a:off x="5760" y="4482"/>
                  <a:ext cx="177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(2) </a:t>
                  </a:r>
                  <a:r>
                    <a:rPr lang="zh-CN" altLang="en-US" sz="1600" dirty="0">
                      <a:ea typeface="宋体" panose="02010600030101010101" pitchFamily="2" charset="-122"/>
                    </a:rPr>
                    <a:t>传送</a:t>
                  </a:r>
                  <a:endParaRPr lang="zh-CN" altLang="en-US" sz="1600" dirty="0">
                    <a:ea typeface="宋体" panose="02010600030101010101" pitchFamily="2" charset="-122"/>
                  </a:endParaRPr>
                </a:p>
              </p:txBody>
            </p:sp>
            <p:sp>
              <p:nvSpPr>
                <p:cNvPr id="74777" name="Text Box 21"/>
                <p:cNvSpPr txBox="1"/>
                <p:nvPr/>
              </p:nvSpPr>
              <p:spPr>
                <a:xfrm>
                  <a:off x="5039" y="2298"/>
                  <a:ext cx="1801"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(1) </a:t>
                  </a:r>
                  <a:r>
                    <a:rPr lang="zh-CN" altLang="en-US" sz="1600" dirty="0">
                      <a:ea typeface="宋体" panose="02010600030101010101" pitchFamily="2" charset="-122"/>
                    </a:rPr>
                    <a:t>询问</a:t>
                  </a:r>
                  <a:endParaRPr lang="zh-CN" altLang="en-US" sz="1600" dirty="0">
                    <a:ea typeface="宋体" panose="02010600030101010101" pitchFamily="2" charset="-122"/>
                  </a:endParaRPr>
                </a:p>
              </p:txBody>
            </p:sp>
            <p:sp>
              <p:nvSpPr>
                <p:cNvPr id="74778" name="Text Box 22"/>
                <p:cNvSpPr txBox="1"/>
                <p:nvPr/>
              </p:nvSpPr>
              <p:spPr>
                <a:xfrm>
                  <a:off x="8790" y="4326"/>
                  <a:ext cx="132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LWM</a:t>
                  </a:r>
                  <a:endParaRPr lang="en-US" altLang="zh-CN" sz="1600" dirty="0">
                    <a:ea typeface="宋体" panose="02010600030101010101" pitchFamily="2" charset="-122"/>
                  </a:endParaRPr>
                </a:p>
              </p:txBody>
            </p:sp>
            <p:sp>
              <p:nvSpPr>
                <p:cNvPr id="74779" name="Text Box 23"/>
                <p:cNvSpPr txBox="1"/>
                <p:nvPr/>
              </p:nvSpPr>
              <p:spPr>
                <a:xfrm>
                  <a:off x="4680" y="3234"/>
                  <a:ext cx="141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HWM</a:t>
                  </a:r>
                  <a:endParaRPr lang="en-US" altLang="zh-CN" sz="1600" dirty="0">
                    <a:ea typeface="宋体" panose="02010600030101010101" pitchFamily="2" charset="-122"/>
                  </a:endParaRPr>
                </a:p>
              </p:txBody>
            </p:sp>
            <p:sp>
              <p:nvSpPr>
                <p:cNvPr id="74780" name="Text Box 24"/>
                <p:cNvSpPr txBox="1"/>
                <p:nvPr/>
              </p:nvSpPr>
              <p:spPr>
                <a:xfrm>
                  <a:off x="4500" y="4452"/>
                  <a:ext cx="126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en-US" altLang="zh-CN" sz="1600" dirty="0">
                      <a:ea typeface="宋体" panose="02010600030101010101" pitchFamily="2" charset="-122"/>
                    </a:rPr>
                    <a:t>LWM</a:t>
                  </a:r>
                  <a:endParaRPr lang="en-US" altLang="zh-CN" sz="1600" dirty="0">
                    <a:ea typeface="宋体" panose="02010600030101010101" pitchFamily="2" charset="-122"/>
                  </a:endParaRPr>
                </a:p>
              </p:txBody>
            </p:sp>
            <p:sp>
              <p:nvSpPr>
                <p:cNvPr id="74781" name="Text Box 25"/>
                <p:cNvSpPr txBox="1"/>
                <p:nvPr/>
              </p:nvSpPr>
              <p:spPr>
                <a:xfrm>
                  <a:off x="7308" y="5840"/>
                  <a:ext cx="180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dirty="0">
                      <a:ea typeface="宋体" panose="02010600030101010101" pitchFamily="2" charset="-122"/>
                    </a:rPr>
                    <a:t>接受者</a:t>
                  </a:r>
                  <a:endParaRPr lang="zh-CN" altLang="en-US" sz="1600" dirty="0">
                    <a:ea typeface="宋体" panose="02010600030101010101" pitchFamily="2" charset="-122"/>
                  </a:endParaRPr>
                </a:p>
              </p:txBody>
            </p:sp>
            <p:sp>
              <p:nvSpPr>
                <p:cNvPr id="74782" name="Text Box 26"/>
                <p:cNvSpPr txBox="1"/>
                <p:nvPr/>
              </p:nvSpPr>
              <p:spPr>
                <a:xfrm>
                  <a:off x="3060" y="5886"/>
                  <a:ext cx="1620" cy="468"/>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just" eaLnBrk="1" hangingPunct="1">
                    <a:spcBef>
                      <a:spcPct val="50000"/>
                    </a:spcBef>
                    <a:buClrTx/>
                    <a:buNone/>
                  </a:pPr>
                  <a:r>
                    <a:rPr lang="zh-CN" altLang="en-US" sz="1600" dirty="0">
                      <a:ea typeface="宋体" panose="02010600030101010101" pitchFamily="2" charset="-122"/>
                    </a:rPr>
                    <a:t>发送者</a:t>
                  </a:r>
                  <a:endParaRPr lang="zh-CN" altLang="en-US" sz="1600" dirty="0">
                    <a:ea typeface="宋体" panose="02010600030101010101" pitchFamily="2" charset="-122"/>
                  </a:endParaRPr>
                </a:p>
              </p:txBody>
            </p:sp>
            <p:sp>
              <p:nvSpPr>
                <p:cNvPr id="74783" name="Rectangle 27"/>
                <p:cNvSpPr/>
                <p:nvPr/>
              </p:nvSpPr>
              <p:spPr>
                <a:xfrm>
                  <a:off x="7560" y="5262"/>
                  <a:ext cx="1080" cy="468"/>
                </a:xfrm>
                <a:prstGeom prst="rect">
                  <a:avLst/>
                </a:prstGeom>
                <a:solidFill>
                  <a:srgbClr val="000080"/>
                </a:solidFill>
                <a:ln w="9525" cap="flat" cmpd="sng">
                  <a:solidFill>
                    <a:srgbClr val="000000"/>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4784" name="Line 28"/>
                <p:cNvSpPr/>
                <p:nvPr/>
              </p:nvSpPr>
              <p:spPr>
                <a:xfrm>
                  <a:off x="3420" y="3858"/>
                  <a:ext cx="1620" cy="1"/>
                </a:xfrm>
                <a:prstGeom prst="line">
                  <a:avLst/>
                </a:prstGeom>
                <a:ln w="9525" cap="flat" cmpd="sng">
                  <a:solidFill>
                    <a:srgbClr val="000000"/>
                  </a:solidFill>
                  <a:prstDash val="solid"/>
                  <a:headEnd type="none" w="med" len="med"/>
                  <a:tailEnd type="none" w="med" len="med"/>
                </a:ln>
              </p:spPr>
            </p:sp>
            <p:sp>
              <p:nvSpPr>
                <p:cNvPr id="74785" name="Line 29"/>
                <p:cNvSpPr/>
                <p:nvPr/>
              </p:nvSpPr>
              <p:spPr>
                <a:xfrm>
                  <a:off x="3420" y="4950"/>
                  <a:ext cx="1620" cy="1"/>
                </a:xfrm>
                <a:prstGeom prst="line">
                  <a:avLst/>
                </a:prstGeom>
                <a:ln w="9525" cap="flat" cmpd="sng">
                  <a:solidFill>
                    <a:srgbClr val="000000"/>
                  </a:solidFill>
                  <a:prstDash val="solid"/>
                  <a:headEnd type="none" w="med" len="med"/>
                  <a:tailEnd type="none" w="med" len="med"/>
                </a:ln>
              </p:spPr>
            </p:sp>
          </p:grpSp>
          <p:sp>
            <p:nvSpPr>
              <p:cNvPr id="74766" name="Text Box 30"/>
              <p:cNvSpPr txBox="1"/>
              <p:nvPr/>
            </p:nvSpPr>
            <p:spPr>
              <a:xfrm>
                <a:off x="3240" y="2610"/>
                <a:ext cx="1080" cy="2496"/>
              </a:xfrm>
              <a:prstGeom prst="rect">
                <a:avLst/>
              </a:prstGeom>
              <a:solidFill>
                <a:srgbClr val="000080"/>
              </a:solidFill>
              <a:ln w="9525" cap="flat" cmpd="sng">
                <a:solidFill>
                  <a:srgbClr val="0000FF"/>
                </a:solidFill>
                <a:prstDash val="solid"/>
                <a:miter/>
                <a:headEnd type="none" w="med" len="med"/>
                <a:tailEnd type="none" w="med" len="med"/>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600" dirty="0">
                  <a:ea typeface="宋体" panose="02010600030101010101" pitchFamily="2" charset="-122"/>
                </a:endParaRPr>
              </a:p>
            </p:txBody>
          </p:sp>
        </p:grpSp>
        <p:sp>
          <p:nvSpPr>
            <p:cNvPr id="74764" name="Line 34"/>
            <p:cNvSpPr/>
            <p:nvPr/>
          </p:nvSpPr>
          <p:spPr>
            <a:xfrm flipV="1">
              <a:off x="3530600" y="5181600"/>
              <a:ext cx="2362200" cy="12700"/>
            </a:xfrm>
            <a:prstGeom prst="line">
              <a:avLst/>
            </a:prstGeom>
            <a:ln w="9525" cap="flat" cmpd="sng">
              <a:solidFill>
                <a:schemeClr val="tx1"/>
              </a:solidFill>
              <a:prstDash val="solid"/>
              <a:headEnd type="none" w="med" len="med"/>
              <a:tailEnd type="triangle" w="med" len="med"/>
            </a:ln>
          </p:spPr>
        </p:sp>
      </p:grpSp>
      <p:sp>
        <p:nvSpPr>
          <p:cNvPr id="74760" name="Rectangle 4"/>
          <p:cNvSpPr/>
          <p:nvPr/>
        </p:nvSpPr>
        <p:spPr>
          <a:xfrm>
            <a:off x="4422775" y="1735138"/>
            <a:ext cx="4737100" cy="36385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20000"/>
              </a:lnSpc>
              <a:spcBef>
                <a:spcPct val="0"/>
              </a:spcBef>
              <a:buClrTx/>
              <a:buNone/>
              <a:tabLst>
                <a:tab pos="466725" algn="l"/>
              </a:tabLst>
            </a:pPr>
            <a:r>
              <a:rPr lang="zh-CN" altLang="en-US" sz="1600" dirty="0">
                <a:ea typeface="宋体" panose="02010600030101010101" pitchFamily="2" charset="-122"/>
              </a:rPr>
              <a:t>算法描述如下:</a:t>
            </a:r>
            <a:endParaRPr lang="zh-CN" altLang="en-US" sz="1600" dirty="0">
              <a:ea typeface="宋体" panose="02010600030101010101" pitchFamily="2" charset="-122"/>
            </a:endParaRPr>
          </a:p>
          <a:p>
            <a:pPr marL="0" lvl="0" indent="266700" algn="just" defTabSz="914400" eaLnBrk="1" hangingPunct="1">
              <a:lnSpc>
                <a:spcPct val="120000"/>
              </a:lnSpc>
              <a:spcBef>
                <a:spcPct val="0"/>
              </a:spcBef>
              <a:buClrTx/>
              <a:buNone/>
              <a:tabLst>
                <a:tab pos="466725" algn="l"/>
              </a:tabLst>
            </a:pPr>
            <a:r>
              <a:rPr lang="zh-CN" altLang="en-US" sz="1600" dirty="0">
                <a:ea typeface="宋体" panose="02010600030101010101" pitchFamily="2" charset="-122"/>
              </a:rPr>
              <a:t>/* </a:t>
            </a:r>
            <a:r>
              <a:rPr lang="en-US" altLang="zh-CN" sz="1600" dirty="0">
                <a:ea typeface="宋体" panose="02010600030101010101" pitchFamily="2" charset="-122"/>
              </a:rPr>
              <a:t>a task  departs */</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queue_length &lt; LWM→</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*[poll_limit:=0;</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 | poll_set | &lt; poll_limit→</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 select a new node u randomly;</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poll_set:= poll_set ∪ node u;</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queue_length at u &gt; HWM →</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transfer a task from node u and stop</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   ]</a:t>
            </a:r>
            <a:endParaRPr lang="en-US" altLang="zh-CN" sz="1600" dirty="0">
              <a:ea typeface="宋体" panose="02010600030101010101" pitchFamily="2" charset="-122"/>
            </a:endParaRPr>
          </a:p>
          <a:p>
            <a:pPr marL="0" lvl="0" indent="266700" algn="just" defTabSz="914400">
              <a:lnSpc>
                <a:spcPct val="120000"/>
              </a:lnSpc>
              <a:spcBef>
                <a:spcPct val="0"/>
              </a:spcBef>
              <a:buClrTx/>
              <a:buNone/>
              <a:tabLst>
                <a:tab pos="466725" algn="l"/>
              </a:tabLst>
            </a:pPr>
            <a:r>
              <a:rPr lang="en-US" altLang="zh-CN" sz="1600" dirty="0">
                <a:ea typeface="宋体" panose="02010600030101010101" pitchFamily="2" charset="-122"/>
              </a:rPr>
              <a:t>]</a:t>
            </a:r>
            <a:endParaRPr lang="zh-CN" altLang="en-US" sz="1600" dirty="0">
              <a:ea typeface="宋体" panose="02010600030101010101" pitchFamily="2" charset="-122"/>
            </a:endParaRPr>
          </a:p>
        </p:txBody>
      </p:sp>
      <p:sp>
        <p:nvSpPr>
          <p:cNvPr id="74761" name="矩形 4"/>
          <p:cNvSpPr/>
          <p:nvPr/>
        </p:nvSpPr>
        <p:spPr>
          <a:xfrm>
            <a:off x="336550" y="5305425"/>
            <a:ext cx="7734300" cy="585788"/>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a:lnSpc>
                <a:spcPct val="200000"/>
              </a:lnSpc>
              <a:spcBef>
                <a:spcPct val="0"/>
              </a:spcBef>
              <a:buClrTx/>
              <a:buNone/>
              <a:tabLst>
                <a:tab pos="466725" algn="l"/>
              </a:tabLst>
            </a:pPr>
            <a:r>
              <a:rPr lang="zh-CN" altLang="en-US" sz="1600" b="1" dirty="0">
                <a:ea typeface="宋体" panose="02010600030101010101" pitchFamily="2" charset="-122"/>
              </a:rPr>
              <a:t>优点：</a:t>
            </a:r>
            <a:r>
              <a:rPr lang="zh-CN" altLang="en-US" sz="1600" dirty="0">
                <a:ea typeface="宋体" panose="02010600030101010101" pitchFamily="2" charset="-122"/>
              </a:rPr>
              <a:t>不会在系统非常繁忙的时候给系统增加额外的负载。  </a:t>
            </a:r>
            <a:endParaRPr lang="zh-CN" altLang="en-US" sz="1600" dirty="0">
              <a:ea typeface="宋体" panose="02010600030101010101" pitchFamily="2" charset="-122"/>
            </a:endParaRPr>
          </a:p>
        </p:txBody>
      </p:sp>
      <p:sp>
        <p:nvSpPr>
          <p:cNvPr id="74762" name="Rectangle 4"/>
          <p:cNvSpPr/>
          <p:nvPr/>
        </p:nvSpPr>
        <p:spPr>
          <a:xfrm>
            <a:off x="215900" y="6103938"/>
            <a:ext cx="8120063" cy="4603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50000"/>
              </a:lnSpc>
              <a:spcBef>
                <a:spcPct val="0"/>
              </a:spcBef>
              <a:buClrTx/>
              <a:buNone/>
              <a:tabLst>
                <a:tab pos="466725" algn="l"/>
              </a:tabLst>
            </a:pPr>
            <a:r>
              <a:rPr lang="en-US" altLang="zh-CN" sz="1600" b="1" dirty="0">
                <a:latin typeface="宋体" panose="02010600030101010101" pitchFamily="2" charset="-122"/>
                <a:ea typeface="宋体" panose="02010600030101010101" pitchFamily="2" charset="-122"/>
              </a:rPr>
              <a:t>6. </a:t>
            </a:r>
            <a:r>
              <a:rPr lang="zh-CN" altLang="en-US" sz="1600" b="1" dirty="0">
                <a:latin typeface="宋体" panose="02010600030101010101" pitchFamily="2" charset="-122"/>
                <a:ea typeface="宋体" panose="02010600030101010101" pitchFamily="2" charset="-122"/>
              </a:rPr>
              <a:t>两种方式结合的算法：</a:t>
            </a:r>
            <a:r>
              <a:rPr lang="zh-CN" altLang="en-US" sz="1600" dirty="0">
                <a:latin typeface="宋体" panose="02010600030101010101" pitchFamily="2" charset="-122"/>
                <a:ea typeface="宋体" panose="02010600030101010101" pitchFamily="2" charset="-122"/>
              </a:rPr>
              <a:t>让过载的结点时迁出一些进程，欠载的结点迁入一些进程。</a:t>
            </a:r>
            <a:endParaRPr lang="en-US" altLang="zh-CN" sz="1600" dirty="0">
              <a:latin typeface="宋体" panose="02010600030101010101" pitchFamily="2" charset="-122"/>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0" y="0"/>
            <a:ext cx="9144000" cy="615950"/>
          </a:xfrm>
        </p:spPr>
        <p:txBody>
          <a:bodyPr vert="horz" wrap="square" lIns="91440" tIns="45720" rIns="91440" bIns="45720" anchor="ctr" anchorCtr="0"/>
          <a:p>
            <a:pPr eaLnBrk="1" hangingPunct="1"/>
            <a:r>
              <a:rPr lang="zh-CN" altLang="en-US" sz="3600" b="1" dirty="0">
                <a:ea typeface="宋体" panose="02010600030101010101" pitchFamily="2" charset="-122"/>
              </a:rPr>
              <a:t>处理机分配</a:t>
            </a:r>
            <a:endParaRPr lang="en-US" altLang="zh-CN" sz="3600" dirty="0">
              <a:ea typeface="宋体" panose="02010600030101010101" pitchFamily="2" charset="-122"/>
            </a:endParaRPr>
          </a:p>
        </p:txBody>
      </p:sp>
      <p:sp>
        <p:nvSpPr>
          <p:cNvPr id="75779"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5780" name="Rectangle 4"/>
          <p:cNvSpPr/>
          <p:nvPr/>
        </p:nvSpPr>
        <p:spPr>
          <a:xfrm>
            <a:off x="227013" y="515938"/>
            <a:ext cx="8689975" cy="300196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50000"/>
              </a:lnSpc>
              <a:spcBef>
                <a:spcPct val="0"/>
              </a:spcBef>
              <a:buClrTx/>
              <a:buNone/>
              <a:tabLst>
                <a:tab pos="466725" algn="l"/>
              </a:tabLst>
            </a:pPr>
            <a:r>
              <a:rPr lang="en-US" altLang="zh-CN" sz="1800" b="1" dirty="0">
                <a:ea typeface="宋体" panose="02010600030101010101" pitchFamily="2" charset="-122"/>
              </a:rPr>
              <a:t>7.  </a:t>
            </a:r>
            <a:r>
              <a:rPr lang="zh-CN" altLang="en-US" sz="1800" b="1" dirty="0">
                <a:ea typeface="宋体" panose="02010600030101010101" pitchFamily="2" charset="-122"/>
              </a:rPr>
              <a:t>投标算法:</a:t>
            </a:r>
            <a:endParaRPr lang="zh-CN" altLang="en-US" sz="1800"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en-US" altLang="zh-CN" sz="1800" dirty="0">
                <a:ea typeface="宋体" panose="02010600030101010101" pitchFamily="2" charset="-122"/>
              </a:rPr>
              <a:t> (1)</a:t>
            </a:r>
            <a:r>
              <a:rPr lang="zh-CN" altLang="en-US" sz="1800" dirty="0">
                <a:ea typeface="宋体" panose="02010600030101010101" pitchFamily="2" charset="-122"/>
              </a:rPr>
              <a:t>每个处理机公布其近似价格</a:t>
            </a:r>
            <a:r>
              <a:rPr lang="en-US" altLang="zh-CN" sz="1800" dirty="0">
                <a:ea typeface="宋体" panose="02010600030101010101" pitchFamily="2" charset="-122"/>
              </a:rPr>
              <a:t>(CPU</a:t>
            </a:r>
            <a:r>
              <a:rPr lang="zh-CN" altLang="en-US" sz="1800" dirty="0">
                <a:ea typeface="宋体" panose="02010600030101010101" pitchFamily="2" charset="-122"/>
              </a:rPr>
              <a:t>速度、内存、浮点运算能力、预期响应时间等</a:t>
            </a:r>
            <a:r>
              <a:rPr lang="en-US" altLang="zh-CN" sz="1800" dirty="0">
                <a:ea typeface="宋体" panose="02010600030101010101" pitchFamily="2" charset="-122"/>
              </a:rPr>
              <a:t>)</a:t>
            </a:r>
            <a:r>
              <a:rPr lang="zh-CN" altLang="en-US" sz="1800" dirty="0">
                <a:ea typeface="宋体" panose="02010600030101010101" pitchFamily="2" charset="-122"/>
              </a:rPr>
              <a:t>。    </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zh-CN" altLang="en-US" sz="1800" dirty="0">
                <a:ea typeface="宋体" panose="02010600030101010101" pitchFamily="2" charset="-122"/>
              </a:rPr>
              <a:t> </a:t>
            </a:r>
            <a:r>
              <a:rPr lang="en-US" altLang="zh-CN" sz="1800" dirty="0">
                <a:ea typeface="宋体" panose="02010600030101010101" pitchFamily="2" charset="-122"/>
              </a:rPr>
              <a:t>(2)</a:t>
            </a:r>
            <a:r>
              <a:rPr lang="zh-CN" altLang="en-US" sz="1800" dirty="0">
                <a:ea typeface="宋体" panose="02010600030101010101" pitchFamily="2" charset="-122"/>
              </a:rPr>
              <a:t>一个进程要启动一个子进程时，查询谁能提供所需要的服务，选定一个性价比高的处理机集</a:t>
            </a:r>
            <a:r>
              <a:rPr lang="en-US" altLang="zh-CN" sz="1800" dirty="0">
                <a:ea typeface="宋体" panose="02010600030101010101" pitchFamily="2" charset="-122"/>
              </a:rPr>
              <a:t> (</a:t>
            </a:r>
            <a:r>
              <a:rPr lang="zh-CN" altLang="en-US" sz="1800" dirty="0">
                <a:ea typeface="宋体" panose="02010600030101010101" pitchFamily="2" charset="-122"/>
              </a:rPr>
              <a:t>比如最便宜、最快的）。向选中的处理机发出一个价格，价格可高于或低于公布的价格。</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zh-CN" altLang="en-US" sz="1800" dirty="0">
                <a:ea typeface="宋体" panose="02010600030101010101" pitchFamily="2" charset="-122"/>
              </a:rPr>
              <a:t> </a:t>
            </a:r>
            <a:r>
              <a:rPr lang="en-US" altLang="zh-CN" sz="1800" dirty="0">
                <a:ea typeface="宋体" panose="02010600030101010101" pitchFamily="2" charset="-122"/>
              </a:rPr>
              <a:t>(3)</a:t>
            </a:r>
            <a:r>
              <a:rPr lang="zh-CN" altLang="en-US" sz="1800" dirty="0">
                <a:ea typeface="宋体" panose="02010600030101010101" pitchFamily="2" charset="-122"/>
              </a:rPr>
              <a:t>处理机收集所有出价，选出价最高的进程。然后通知所有进程，并开始执行被选中的进程。公共文件中此处理机的价格将被更新，反映处理机的最新价格。</a:t>
            </a:r>
            <a:endParaRPr lang="zh-CN" altLang="en-US" sz="1800" dirty="0">
              <a:ea typeface="宋体" panose="02010600030101010101" pitchFamily="2" charset="-122"/>
            </a:endParaRPr>
          </a:p>
        </p:txBody>
      </p:sp>
      <p:sp>
        <p:nvSpPr>
          <p:cNvPr id="75781" name="Rectangle 4"/>
          <p:cNvSpPr/>
          <p:nvPr/>
        </p:nvSpPr>
        <p:spPr>
          <a:xfrm>
            <a:off x="427038" y="3640138"/>
            <a:ext cx="8489950" cy="297338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30000"/>
              </a:lnSpc>
              <a:spcBef>
                <a:spcPct val="0"/>
              </a:spcBef>
              <a:buClrTx/>
              <a:buNone/>
              <a:tabLst>
                <a:tab pos="466725" algn="l"/>
              </a:tabLst>
            </a:pPr>
            <a:r>
              <a:rPr lang="zh-CN" altLang="en-US" sz="1800" dirty="0">
                <a:ea typeface="宋体" panose="02010600030101010101" pitchFamily="2" charset="-122"/>
              </a:rPr>
              <a:t>其它算法</a:t>
            </a:r>
            <a:r>
              <a:rPr lang="en-US" altLang="zh-CN" sz="1800" dirty="0">
                <a:ea typeface="宋体" panose="02010600030101010101" pitchFamily="2" charset="-122"/>
              </a:rPr>
              <a:t>:</a:t>
            </a:r>
            <a:endParaRPr lang="en-US" altLang="zh-CN"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en-US" altLang="zh-CN" sz="1800" dirty="0">
                <a:ea typeface="宋体" panose="02010600030101010101" pitchFamily="2" charset="-122"/>
              </a:rPr>
              <a:t>     </a:t>
            </a:r>
            <a:r>
              <a:rPr lang="zh-CN" altLang="en-US" sz="1800" dirty="0">
                <a:ea typeface="宋体" panose="02010600030101010101" pitchFamily="2" charset="-122"/>
              </a:rPr>
              <a:t>分布式自适应负载共享算法；</a:t>
            </a:r>
            <a:endParaRPr lang="zh-CN" altLang="en-US"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zh-CN" altLang="en-US" sz="1800" dirty="0">
                <a:ea typeface="宋体" panose="02010600030101010101" pitchFamily="2" charset="-122"/>
              </a:rPr>
              <a:t>     启发式算法；</a:t>
            </a:r>
            <a:endParaRPr lang="zh-CN" altLang="en-US"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zh-CN" altLang="en-US" sz="1800" dirty="0">
                <a:ea typeface="宋体" panose="02010600030101010101" pitchFamily="2" charset="-122"/>
              </a:rPr>
              <a:t>     基于遗传的算法；</a:t>
            </a:r>
            <a:endParaRPr lang="zh-CN" altLang="en-US"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zh-CN" altLang="en-US" sz="1800" dirty="0">
                <a:ea typeface="宋体" panose="02010600030101010101" pitchFamily="2" charset="-122"/>
              </a:rPr>
              <a:t>     模拟退火的算法；</a:t>
            </a:r>
            <a:endParaRPr lang="zh-CN" altLang="en-US"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zh-CN" altLang="en-US" sz="1800" dirty="0">
                <a:ea typeface="宋体" panose="02010600030101010101" pitchFamily="2" charset="-122"/>
              </a:rPr>
              <a:t>     </a:t>
            </a:r>
            <a:r>
              <a:rPr lang="en-US" altLang="zh-CN" sz="1800" dirty="0">
                <a:ea typeface="宋体" panose="02010600030101010101" pitchFamily="2" charset="-122"/>
              </a:rPr>
              <a:t>…….</a:t>
            </a:r>
            <a:endParaRPr lang="en-US" altLang="zh-CN" sz="1800" dirty="0">
              <a:ea typeface="宋体" panose="02010600030101010101" pitchFamily="2" charset="-122"/>
            </a:endParaRPr>
          </a:p>
          <a:p>
            <a:pPr marL="0" lvl="0" indent="266700" algn="just" defTabSz="914400" eaLnBrk="1" hangingPunct="1">
              <a:lnSpc>
                <a:spcPct val="130000"/>
              </a:lnSpc>
              <a:spcBef>
                <a:spcPct val="0"/>
              </a:spcBef>
              <a:buClrTx/>
              <a:buNone/>
              <a:tabLst>
                <a:tab pos="466725" algn="l"/>
              </a:tabLst>
            </a:pPr>
            <a:r>
              <a:rPr lang="en-US" altLang="zh-CN" sz="1800" dirty="0">
                <a:ea typeface="宋体" panose="02010600030101010101" pitchFamily="2" charset="-122"/>
              </a:rPr>
              <a:t>   IEEE</a:t>
            </a:r>
            <a:r>
              <a:rPr lang="zh-CN" altLang="en-US" sz="1800" dirty="0">
                <a:ea typeface="宋体" panose="02010600030101010101" pitchFamily="2" charset="-122"/>
              </a:rPr>
              <a:t>专门设立的分布式系统的国际会议</a:t>
            </a:r>
            <a:r>
              <a:rPr lang="en-US" altLang="zh-CN" sz="1800" dirty="0">
                <a:ea typeface="宋体" panose="02010600030101010101" pitchFamily="2" charset="-122"/>
              </a:rPr>
              <a:t>,</a:t>
            </a:r>
            <a:r>
              <a:rPr lang="zh-CN" altLang="en-US" sz="1800" dirty="0">
                <a:ea typeface="宋体" panose="02010600030101010101" pitchFamily="2" charset="-122"/>
              </a:rPr>
              <a:t>每年召开并有会议论文集，另外也有专门的分布调度算法理论方面的书籍</a:t>
            </a:r>
            <a:r>
              <a:rPr lang="en-US" altLang="zh-CN" sz="1800" dirty="0">
                <a:ea typeface="宋体" panose="02010600030101010101" pitchFamily="2" charset="-122"/>
              </a:rPr>
              <a:t>.</a:t>
            </a:r>
            <a:endParaRPr lang="en-US" altLang="zh-CN" sz="1800" dirty="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0" y="0"/>
            <a:ext cx="9144000" cy="615950"/>
          </a:xfrm>
        </p:spPr>
        <p:txBody>
          <a:bodyPr vert="horz" wrap="square" lIns="91440" tIns="45720" rIns="91440" bIns="45720" anchor="ctr" anchorCtr="0"/>
          <a:p>
            <a:pPr eaLnBrk="1" hangingPunct="1"/>
            <a:r>
              <a:rPr lang="zh-CN" altLang="en-US" sz="3600" b="1" dirty="0">
                <a:ea typeface="宋体" panose="02010600030101010101" pitchFamily="2" charset="-122"/>
              </a:rPr>
              <a:t>作业</a:t>
            </a:r>
            <a:endParaRPr lang="en-US" altLang="zh-CN" sz="3600" dirty="0">
              <a:ea typeface="宋体" panose="02010600030101010101" pitchFamily="2" charset="-122"/>
            </a:endParaRPr>
          </a:p>
        </p:txBody>
      </p:sp>
      <p:sp>
        <p:nvSpPr>
          <p:cNvPr id="76803" name="Rectangle 3"/>
          <p:cNvSpPr/>
          <p:nvPr/>
        </p:nvSpPr>
        <p:spPr>
          <a:xfrm>
            <a:off x="2219325" y="2624138"/>
            <a:ext cx="9144000" cy="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endParaRPr lang="zh-CN" altLang="en-US" sz="1200" dirty="0">
              <a:ea typeface="宋体" panose="02010600030101010101" pitchFamily="2" charset="-122"/>
            </a:endParaRPr>
          </a:p>
        </p:txBody>
      </p:sp>
      <p:sp>
        <p:nvSpPr>
          <p:cNvPr id="76804" name="Rectangle 4"/>
          <p:cNvSpPr/>
          <p:nvPr/>
        </p:nvSpPr>
        <p:spPr>
          <a:xfrm>
            <a:off x="227013" y="615950"/>
            <a:ext cx="8689975" cy="54419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266700" algn="just" defTabSz="914400" eaLnBrk="1" hangingPunct="1">
              <a:lnSpc>
                <a:spcPct val="150000"/>
              </a:lnSpc>
              <a:spcBef>
                <a:spcPct val="0"/>
              </a:spcBef>
              <a:buClrTx/>
              <a:buNone/>
              <a:tabLst>
                <a:tab pos="466725" algn="l"/>
              </a:tabLst>
            </a:pPr>
            <a:r>
              <a:rPr lang="en-US" altLang="zh-CN" sz="1800" dirty="0">
                <a:ea typeface="宋体" panose="02010600030101010101" pitchFamily="2" charset="-122"/>
              </a:rPr>
              <a:t>1</a:t>
            </a:r>
            <a:r>
              <a:rPr lang="zh-CN" altLang="en-US" sz="1800" dirty="0">
                <a:ea typeface="宋体" panose="02010600030101010101" pitchFamily="2" charset="-122"/>
              </a:rPr>
              <a:t>、对第三章的是实验题采用至少两种模式进行扩展实现（多进程</a:t>
            </a:r>
            <a:r>
              <a:rPr lang="en-US" altLang="zh-CN" sz="1800" dirty="0">
                <a:ea typeface="宋体" panose="02010600030101010101" pitchFamily="2" charset="-122"/>
              </a:rPr>
              <a:t>/</a:t>
            </a:r>
            <a:r>
              <a:rPr lang="zh-CN" altLang="en-US" sz="1800" dirty="0">
                <a:ea typeface="宋体" panose="02010600030101010101" pitchFamily="2" charset="-122"/>
              </a:rPr>
              <a:t>多线程，</a:t>
            </a:r>
            <a:r>
              <a:rPr lang="en-US" altLang="zh-CN" sz="1800" dirty="0">
                <a:ea typeface="宋体" panose="02010600030101010101" pitchFamily="2" charset="-122"/>
              </a:rPr>
              <a:t> Client-to-server binding using a daemon,</a:t>
            </a:r>
            <a:r>
              <a:rPr lang="zh-CN" altLang="en-US" sz="1800" dirty="0">
                <a:ea typeface="宋体" panose="02010600030101010101" pitchFamily="2" charset="-122"/>
              </a:rPr>
              <a:t> </a:t>
            </a:r>
            <a:r>
              <a:rPr lang="en-US" altLang="zh-CN" sz="1800" dirty="0">
                <a:ea typeface="宋体" panose="02010600030101010101" pitchFamily="2" charset="-122"/>
              </a:rPr>
              <a:t>or</a:t>
            </a:r>
            <a:r>
              <a:rPr lang="zh-CN" altLang="en-US" sz="1800" dirty="0">
                <a:ea typeface="宋体" panose="02010600030101010101" pitchFamily="2" charset="-122"/>
              </a:rPr>
              <a:t> </a:t>
            </a:r>
            <a:r>
              <a:rPr lang="en-US" altLang="zh-CN" sz="1800" dirty="0">
                <a:ea typeface="宋体" panose="02010600030101010101" pitchFamily="2" charset="-122"/>
              </a:rPr>
              <a:t>using a superserver</a:t>
            </a:r>
            <a:r>
              <a:rPr lang="zh-CN" altLang="en-US" sz="1800" dirty="0">
                <a:ea typeface="宋体" panose="02010600030101010101" pitchFamily="2" charset="-122"/>
              </a:rPr>
              <a:t>，并简要分析对比其执行效果）</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None/>
              <a:tabLst>
                <a:tab pos="466725" algn="l"/>
              </a:tabLst>
            </a:pPr>
            <a:r>
              <a:rPr lang="en-US" altLang="zh-CN" sz="1800" dirty="0">
                <a:ea typeface="宋体" panose="02010600030101010101" pitchFamily="2" charset="-122"/>
              </a:rPr>
              <a:t>2</a:t>
            </a:r>
            <a:r>
              <a:rPr lang="zh-CN" altLang="en-US" sz="1800" dirty="0">
                <a:ea typeface="宋体" panose="02010600030101010101" pitchFamily="2" charset="-122"/>
              </a:rPr>
              <a:t>、</a:t>
            </a:r>
            <a:r>
              <a:rPr lang="zh-CN" altLang="en-US" sz="1800" b="1" dirty="0">
                <a:ea typeface="宋体" panose="02010600030101010101" pitchFamily="2" charset="-122"/>
              </a:rPr>
              <a:t>实验题：</a:t>
            </a:r>
            <a:r>
              <a:rPr lang="zh-CN" altLang="en-US" sz="1800" dirty="0">
                <a:ea typeface="宋体" panose="02010600030101010101" pitchFamily="2" charset="-122"/>
              </a:rPr>
              <a:t>基于</a:t>
            </a:r>
            <a:r>
              <a:rPr lang="en-US" altLang="zh-CN" sz="1800" dirty="0">
                <a:ea typeface="宋体" panose="02010600030101010101" pitchFamily="2" charset="-122"/>
              </a:rPr>
              <a:t>Kubernetes</a:t>
            </a:r>
            <a:r>
              <a:rPr lang="zh-CN" altLang="en-US" sz="1800" dirty="0">
                <a:ea typeface="宋体" panose="02010600030101010101" pitchFamily="2" charset="-122"/>
              </a:rPr>
              <a:t>的微服务应⽤部署与管理，实验要求：</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学习并理解微服务架构的概念、原理以及与传统架构的不同之处； </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学习并掌握 </a:t>
            </a:r>
            <a:r>
              <a:rPr lang="en-US" altLang="zh-CN" sz="1800" dirty="0">
                <a:ea typeface="宋体" panose="02010600030101010101" pitchFamily="2" charset="-122"/>
              </a:rPr>
              <a:t>Docker </a:t>
            </a:r>
            <a:r>
              <a:rPr lang="zh-CN" altLang="en-US" sz="1800" dirty="0">
                <a:ea typeface="宋体" panose="02010600030101010101" pitchFamily="2" charset="-122"/>
              </a:rPr>
              <a:t>容器化技术的基本概念、使⽤⽅法以及与虚拟机技术的区别；</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使⽤ </a:t>
            </a:r>
            <a:r>
              <a:rPr lang="en-US" altLang="zh-CN" sz="1800" dirty="0">
                <a:ea typeface="宋体" panose="02010600030101010101" pitchFamily="2" charset="-122"/>
              </a:rPr>
              <a:t>Spring Boot </a:t>
            </a:r>
            <a:r>
              <a:rPr lang="zh-CN" altLang="en-US" sz="1800" dirty="0">
                <a:ea typeface="宋体" panose="02010600030101010101" pitchFamily="2" charset="-122"/>
              </a:rPr>
              <a:t>框架编写⼀个简单的微服务应⽤程序（内容自定，比如自然语言处理服务中的分词等，用户发送文本处理请求，并获取处理后的结果），该应⽤程序可以提供⼀些基本的 </a:t>
            </a:r>
            <a:r>
              <a:rPr lang="en-US" altLang="zh-CN" sz="1800" dirty="0">
                <a:ea typeface="宋体" panose="02010600030101010101" pitchFamily="2" charset="-122"/>
              </a:rPr>
              <a:t>RESTful API</a:t>
            </a:r>
            <a:r>
              <a:rPr lang="zh-CN" altLang="en-US" sz="1800" dirty="0">
                <a:ea typeface="宋体" panose="02010600030101010101" pitchFamily="2" charset="-122"/>
              </a:rPr>
              <a:t>；</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使⽤ </a:t>
            </a:r>
            <a:r>
              <a:rPr lang="en-US" altLang="zh-CN" sz="1800" dirty="0">
                <a:ea typeface="宋体" panose="02010600030101010101" pitchFamily="2" charset="-122"/>
              </a:rPr>
              <a:t>Docker </a:t>
            </a:r>
            <a:r>
              <a:rPr lang="zh-CN" altLang="en-US" sz="1800" dirty="0">
                <a:ea typeface="宋体" panose="02010600030101010101" pitchFamily="2" charset="-122"/>
              </a:rPr>
              <a:t>将该应⽤程序容器化，构建 </a:t>
            </a:r>
            <a:r>
              <a:rPr lang="en-US" altLang="zh-CN" sz="1800" dirty="0">
                <a:ea typeface="宋体" panose="02010600030101010101" pitchFamily="2" charset="-122"/>
              </a:rPr>
              <a:t>Docker </a:t>
            </a:r>
            <a:r>
              <a:rPr lang="zh-CN" altLang="en-US" sz="1800" dirty="0">
                <a:ea typeface="宋体" panose="02010600030101010101" pitchFamily="2" charset="-122"/>
              </a:rPr>
              <a:t>镜像； 使⽤ </a:t>
            </a:r>
            <a:r>
              <a:rPr lang="en-US" altLang="zh-CN" sz="1800" dirty="0">
                <a:ea typeface="宋体" panose="02010600030101010101" pitchFamily="2" charset="-122"/>
              </a:rPr>
              <a:t>Kubernetes </a:t>
            </a:r>
            <a:r>
              <a:rPr lang="zh-CN" altLang="en-US" sz="1800" dirty="0">
                <a:ea typeface="宋体" panose="02010600030101010101" pitchFamily="2" charset="-122"/>
              </a:rPr>
              <a:t>部署并管理该微服务应⽤程序的容器集群； </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学习并实践 </a:t>
            </a:r>
            <a:r>
              <a:rPr lang="en-US" altLang="zh-CN" sz="1800" dirty="0">
                <a:ea typeface="宋体" panose="02010600030101010101" pitchFamily="2" charset="-122"/>
              </a:rPr>
              <a:t>Kubernetes </a:t>
            </a:r>
            <a:r>
              <a:rPr lang="zh-CN" altLang="en-US" sz="1800" dirty="0">
                <a:ea typeface="宋体" panose="02010600030101010101" pitchFamily="2" charset="-122"/>
              </a:rPr>
              <a:t>的基本操作，如容器集群的创建、扩容、缩容、升级等； </a:t>
            </a:r>
            <a:endParaRPr lang="en-US" altLang="zh-CN" sz="1800" dirty="0">
              <a:ea typeface="宋体" panose="02010600030101010101" pitchFamily="2" charset="-122"/>
            </a:endParaRPr>
          </a:p>
          <a:p>
            <a:pPr marL="0" lvl="0" indent="266700" algn="just" defTabSz="914400" eaLnBrk="1" hangingPunct="1">
              <a:lnSpc>
                <a:spcPct val="150000"/>
              </a:lnSpc>
              <a:spcBef>
                <a:spcPct val="0"/>
              </a:spcBef>
              <a:buClrTx/>
              <a:buFont typeface="Wingdings" panose="05000000000000000000" pitchFamily="2" charset="2"/>
              <a:buChar char="Ø"/>
              <a:tabLst>
                <a:tab pos="466725" algn="l"/>
              </a:tabLst>
            </a:pPr>
            <a:r>
              <a:rPr lang="zh-CN" altLang="en-US" sz="1800" dirty="0">
                <a:ea typeface="宋体" panose="02010600030101010101" pitchFamily="2" charset="-122"/>
              </a:rPr>
              <a:t>进⼀步学习 </a:t>
            </a:r>
            <a:r>
              <a:rPr lang="en-US" altLang="zh-CN" sz="1800" dirty="0">
                <a:ea typeface="宋体" panose="02010600030101010101" pitchFamily="2" charset="-122"/>
              </a:rPr>
              <a:t>Kubernetes </a:t>
            </a:r>
            <a:r>
              <a:rPr lang="zh-CN" altLang="en-US" sz="1800" dirty="0">
                <a:ea typeface="宋体" panose="02010600030101010101" pitchFamily="2" charset="-122"/>
              </a:rPr>
              <a:t>的⾼级特性，如服务发现、负载均衡、容错恢复等。 基于</a:t>
            </a:r>
            <a:r>
              <a:rPr lang="en-US" altLang="zh-CN" sz="1800" dirty="0">
                <a:ea typeface="宋体" panose="02010600030101010101" pitchFamily="2" charset="-122"/>
              </a:rPr>
              <a:t>Kubernetes</a:t>
            </a:r>
            <a:r>
              <a:rPr lang="zh-CN" altLang="en-US" sz="1800" dirty="0">
                <a:ea typeface="宋体" panose="02010600030101010101" pitchFamily="2" charset="-122"/>
              </a:rPr>
              <a:t>的微服务应⽤部署与管理 </a:t>
            </a:r>
            <a:endParaRPr lang="zh-CN" altLang="en-US" sz="18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commondata" val="eyJoZGlkIjoiM2NkNzAyYTY3NmVkMTFhM2MwNTRmNTdhYmVlMzM2ZjgifQ=="/>
</p:tagLst>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en-US" sz="12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en-US" sz="12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Office\Templates\Tannenbaum.pot</Template>
  <TotalTime>0</TotalTime>
  <Words>19582</Words>
  <Application>WPS 演示</Application>
  <PresentationFormat>全屏显示(4:3)</PresentationFormat>
  <Paragraphs>1167</Paragraphs>
  <Slides>66</Slides>
  <Notes>7</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8</vt:i4>
      </vt:variant>
      <vt:variant>
        <vt:lpstr>幻灯片标题</vt:lpstr>
      </vt:variant>
      <vt:variant>
        <vt:i4>66</vt:i4>
      </vt:variant>
    </vt:vector>
  </HeadingPairs>
  <TitlesOfParts>
    <vt:vector size="90" baseType="lpstr">
      <vt:lpstr>Arial</vt:lpstr>
      <vt:lpstr>宋体</vt:lpstr>
      <vt:lpstr>Wingdings</vt:lpstr>
      <vt:lpstr>Times New Roman</vt:lpstr>
      <vt:lpstr>Bookman Old Style</vt:lpstr>
      <vt:lpstr>Book Antiqua</vt:lpstr>
      <vt:lpstr>微软雅黑</vt:lpstr>
      <vt:lpstr>Arial Unicode MS</vt:lpstr>
      <vt:lpstr>Symbol</vt:lpstr>
      <vt:lpstr>Arial Black</vt:lpstr>
      <vt:lpstr>Helvetica Neue</vt:lpstr>
      <vt:lpstr>-apple-system</vt:lpstr>
      <vt:lpstr>Helvetica</vt:lpstr>
      <vt:lpstr>Segoe Print</vt:lpstr>
      <vt:lpstr>Calibri</vt:lpstr>
      <vt:lpstr>Tannenbaum</vt:lpstr>
      <vt:lpstr>Visio.Drawing.11</vt:lpstr>
      <vt:lpstr>Visio.Drawing.11</vt:lpstr>
      <vt:lpstr>Paint.Picture</vt:lpstr>
      <vt:lpstr>Paint.Picture</vt:lpstr>
      <vt:lpstr>Visio.Drawing.11</vt:lpstr>
      <vt:lpstr>Equation.3</vt:lpstr>
      <vt:lpstr>Visio.Drawing.5</vt:lpstr>
      <vt:lpstr>Visio.Drawing.11</vt:lpstr>
      <vt:lpstr>Processes</vt:lpstr>
      <vt:lpstr>Correlative Concepts</vt:lpstr>
      <vt:lpstr>Correlative Concepts</vt:lpstr>
      <vt:lpstr>Thread Implementation</vt:lpstr>
      <vt:lpstr>PowerPoint 演示文稿</vt:lpstr>
      <vt:lpstr> CMPOS— Chip Multi-Processor Operating System</vt:lpstr>
      <vt:lpstr>线程合作方式</vt:lpstr>
      <vt:lpstr>CLIENT</vt:lpstr>
      <vt:lpstr>Networked User Interfaces</vt:lpstr>
      <vt:lpstr>Example: The XWindow System</vt:lpstr>
      <vt:lpstr>Client-Side Software for Distribution Transparency</vt:lpstr>
      <vt:lpstr>Multithreaded Servers</vt:lpstr>
      <vt:lpstr>Multithreaded Servers</vt:lpstr>
      <vt:lpstr>Multithreaded Servers (3)</vt:lpstr>
      <vt:lpstr>General Design Issues</vt:lpstr>
      <vt:lpstr>General Design Issues (1)</vt:lpstr>
      <vt:lpstr>Server Clusters</vt:lpstr>
      <vt:lpstr>Process in Distributed Systems.</vt:lpstr>
      <vt:lpstr>load balancing</vt:lpstr>
      <vt:lpstr>Understanding the Load Balancer</vt:lpstr>
      <vt:lpstr>Application –  Global Server Load Balancing</vt:lpstr>
      <vt:lpstr>Application – Web Caching</vt:lpstr>
      <vt:lpstr>Reasons for Migrating Code</vt:lpstr>
      <vt:lpstr>Models for Code Migration</vt:lpstr>
      <vt:lpstr>代码迁移实例：Java Applet</vt:lpstr>
      <vt:lpstr>Migration and Local Resources</vt:lpstr>
      <vt:lpstr>Migration and Local Resources</vt:lpstr>
      <vt:lpstr>Migration in Heterogeneous Systems</vt:lpstr>
      <vt:lpstr>Overview of Code Migration in D'Agents (1)</vt:lpstr>
      <vt:lpstr>PowerPoint 演示文稿</vt:lpstr>
      <vt:lpstr>Architecture &amp; Interfaces</vt:lpstr>
      <vt:lpstr>Levels of Virtualization</vt:lpstr>
      <vt:lpstr>Origins - Principles</vt:lpstr>
      <vt:lpstr>Origins - Technology</vt:lpstr>
      <vt:lpstr>The Role of Virtualization</vt:lpstr>
      <vt:lpstr>虚拟机的分类</vt:lpstr>
      <vt:lpstr>Hypervisor/  Virtual Machine Monitor (VMM)</vt:lpstr>
      <vt:lpstr>VMM——对应类型（a）和（b）</vt:lpstr>
      <vt:lpstr>System-level Design Approaches</vt:lpstr>
      <vt:lpstr>PowerPoint 演示文稿</vt:lpstr>
      <vt:lpstr>Memory Management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进程调度/处理机分配</vt:lpstr>
      <vt:lpstr>处理机分配</vt:lpstr>
      <vt:lpstr>PowerPoint 演示文稿</vt:lpstr>
      <vt:lpstr>PowerPoint 演示文稿</vt:lpstr>
      <vt:lpstr>PowerPoint 演示文稿</vt:lpstr>
      <vt:lpstr>处理机分配算法</vt:lpstr>
      <vt:lpstr>处理机分配</vt:lpstr>
      <vt:lpstr>处理机分配</vt:lpstr>
      <vt:lpstr>处理机分配</vt:lpstr>
      <vt:lpstr>算法描述</vt:lpstr>
      <vt:lpstr>处理机分配</vt:lpstr>
      <vt:lpstr>处理机分配</vt:lpstr>
      <vt:lpstr>处理机分配</vt:lpstr>
      <vt:lpstr>处理机分配</vt:lpstr>
      <vt:lpstr>处理机分配(动态负载平衡)</vt:lpstr>
      <vt:lpstr>处理机分配(动态负载平衡)</vt:lpstr>
      <vt:lpstr>处理机分配</vt:lpstr>
      <vt:lpstr>作业</vt:lpstr>
    </vt:vector>
  </TitlesOfParts>
  <Company>East Texas Data Service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Processes</dc:title>
  <dc:creator>Steve  Armstrong</dc:creator>
  <cp:lastModifiedBy>WPS_1681028394</cp:lastModifiedBy>
  <cp:revision>691</cp:revision>
  <dcterms:created xsi:type="dcterms:W3CDTF">2001-05-10T16:23:00Z</dcterms:created>
  <dcterms:modified xsi:type="dcterms:W3CDTF">2024-03-12T07:26:57Z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2052-12.1.0.16399</vt:lpwstr>
  </property>
  <property fmtid="{D5CDD505-2E9C-101B-9397-08002B2CF9AE}" pid="3" name="ICV">
    <vt:lpwstr>7A296283BB394AA59E70CCF0E8ED71A7_12</vt:lpwstr>
  </property>
</Properties>
</file>