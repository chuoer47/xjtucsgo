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61"/>
  </p:handoutMasterIdLst>
  <p:sldIdLst>
    <p:sldId id="256" r:id="rId4"/>
    <p:sldId id="410" r:id="rId6"/>
    <p:sldId id="295" r:id="rId7"/>
    <p:sldId id="401" r:id="rId8"/>
    <p:sldId id="402" r:id="rId9"/>
    <p:sldId id="407" r:id="rId10"/>
    <p:sldId id="389" r:id="rId11"/>
    <p:sldId id="391" r:id="rId12"/>
    <p:sldId id="395" r:id="rId13"/>
    <p:sldId id="506" r:id="rId14"/>
    <p:sldId id="507" r:id="rId15"/>
    <p:sldId id="458" r:id="rId16"/>
    <p:sldId id="457" r:id="rId17"/>
    <p:sldId id="459" r:id="rId18"/>
    <p:sldId id="461" r:id="rId19"/>
    <p:sldId id="462" r:id="rId20"/>
    <p:sldId id="463" r:id="rId21"/>
    <p:sldId id="464" r:id="rId22"/>
    <p:sldId id="510" r:id="rId23"/>
    <p:sldId id="511" r:id="rId24"/>
    <p:sldId id="341" r:id="rId25"/>
    <p:sldId id="343" r:id="rId26"/>
    <p:sldId id="344" r:id="rId27"/>
    <p:sldId id="357" r:id="rId28"/>
    <p:sldId id="276" r:id="rId29"/>
    <p:sldId id="345" r:id="rId30"/>
    <p:sldId id="346" r:id="rId31"/>
    <p:sldId id="450" r:id="rId32"/>
    <p:sldId id="452" r:id="rId33"/>
    <p:sldId id="454" r:id="rId34"/>
    <p:sldId id="455" r:id="rId35"/>
    <p:sldId id="456" r:id="rId36"/>
    <p:sldId id="417" r:id="rId37"/>
    <p:sldId id="419" r:id="rId38"/>
    <p:sldId id="421" r:id="rId39"/>
    <p:sldId id="424" r:id="rId40"/>
    <p:sldId id="448" r:id="rId41"/>
    <p:sldId id="512" r:id="rId42"/>
    <p:sldId id="264" r:id="rId43"/>
    <p:sldId id="265" r:id="rId44"/>
    <p:sldId id="266" r:id="rId45"/>
    <p:sldId id="267" r:id="rId46"/>
    <p:sldId id="320" r:id="rId47"/>
    <p:sldId id="268" r:id="rId48"/>
    <p:sldId id="331" r:id="rId49"/>
    <p:sldId id="304" r:id="rId50"/>
    <p:sldId id="374" r:id="rId51"/>
    <p:sldId id="375" r:id="rId52"/>
    <p:sldId id="322" r:id="rId53"/>
    <p:sldId id="376" r:id="rId54"/>
    <p:sldId id="378" r:id="rId55"/>
    <p:sldId id="309" r:id="rId56"/>
    <p:sldId id="317" r:id="rId57"/>
    <p:sldId id="340" r:id="rId58"/>
    <p:sldId id="416" r:id="rId59"/>
    <p:sldId id="379" r:id="rId60"/>
  </p:sldIdLst>
  <p:sldSz cx="9144000" cy="6858000" type="screen4x3"/>
  <p:notesSz cx="6858000" cy="9144000"/>
  <p:custDataLst>
    <p:tags r:id="rId65"/>
  </p:custDataLst>
  <p:defaultTextStyle>
    <a:defPPr>
      <a:defRPr lang="en-US"/>
    </a:defPPr>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28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6"/>
    <p:restoredTop sz="77540"/>
  </p:normalViewPr>
  <p:slideViewPr>
    <p:cSldViewPr snapToGrid="0" showGuides="1">
      <p:cViewPr varScale="1">
        <p:scale>
          <a:sx n="97" d="100"/>
          <a:sy n="97" d="100"/>
        </p:scale>
        <p:origin x="2338" y="72"/>
      </p:cViewPr>
      <p:guideLst>
        <p:guide orient="horz" pos="2152"/>
        <p:guide pos="2852"/>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5" Type="http://schemas.openxmlformats.org/officeDocument/2006/relationships/tags" Target="tags/tag1.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Tx/>
              <a:buNone/>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Tx/>
              <a:buNone/>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Tx/>
              <a:buNone/>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noProof="1">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BBF97BC-DF94-49A3-8356-78DEED88C9BC}" type="slidenum">
              <a:rPr kumimoji="0" altLang="en-US" sz="12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buFontTx/>
              <a:buNone/>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421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4294967295"/>
          </p:nvPr>
        </p:nvSpPr>
        <p:spPr bwMode="auto">
          <a:xfrm>
            <a:off x="685800" y="4343400"/>
            <a:ext cx="5486400" cy="4114800"/>
          </a:xfrm>
          <a:prstGeom prst="rect">
            <a:avLst/>
          </a:prstGeom>
          <a:noFill/>
          <a:ln>
            <a:noFill/>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421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buFontTx/>
              <a:buNone/>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421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noProof="1">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476C1F2-F5C7-4DAA-AC7A-A19D52B61589}" type="slidenum">
              <a:rPr kumimoji="0" altLang="en-US" sz="12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p:sp>
      <p:sp>
        <p:nvSpPr>
          <p:cNvPr id="5123" name="备注占位符 2"/>
          <p:cNvSpPr>
            <a:spLocks noGrp="1"/>
          </p:cNvSpPr>
          <p:nvPr>
            <p:ph type="body"/>
          </p:nvPr>
        </p:nvSpPr>
        <p:spPr/>
        <p:txBody>
          <a:bodyPr wrap="square" lIns="91440" tIns="45720" rIns="91440" bIns="45720" anchor="t" anchorCtr="0"/>
          <a:lstStyle/>
          <a:p>
            <a:pPr lvl="0"/>
            <a:r>
              <a:rPr lang="zh-CN" altLang="en-US" dirty="0">
                <a:ea typeface="宋体" panose="02010600030101010101" pitchFamily="2" charset="-122"/>
              </a:rPr>
              <a:t>单机文件系统：命名，磁道</a:t>
            </a:r>
            <a:endParaRPr lang="zh-CN" altLang="en-US" dirty="0">
              <a:ea typeface="宋体" panose="02010600030101010101" pitchFamily="2" charset="-122"/>
            </a:endParaRPr>
          </a:p>
          <a:p>
            <a:pPr lvl="0"/>
            <a:endParaRPr lang="zh-CN" altLang="en-US" dirty="0">
              <a:ea typeface="宋体" panose="02010600030101010101" pitchFamily="2" charset="-122"/>
            </a:endParaRPr>
          </a:p>
          <a:p>
            <a:pPr lvl="0"/>
            <a:r>
              <a:rPr lang="zh-CN" altLang="en-US" dirty="0">
                <a:ea typeface="宋体" panose="02010600030101010101" pitchFamily="2" charset="-122"/>
              </a:rPr>
              <a:t>个人命名：地址</a:t>
            </a:r>
            <a:endParaRPr lang="zh-CN" altLang="en-US" dirty="0">
              <a:ea typeface="宋体" panose="02010600030101010101" pitchFamily="2" charset="-122"/>
            </a:endParaRPr>
          </a:p>
          <a:p>
            <a:pPr lvl="0"/>
            <a:endParaRPr lang="zh-CN" altLang="en-US" dirty="0">
              <a:ea typeface="宋体" panose="02010600030101010101" pitchFamily="2" charset="-122"/>
            </a:endParaRPr>
          </a:p>
          <a:p>
            <a:pPr lvl="0"/>
            <a:r>
              <a:rPr lang="zh-CN" altLang="en-US" dirty="0">
                <a:ea typeface="宋体" panose="02010600030101010101" pitchFamily="2" charset="-122"/>
              </a:rPr>
              <a:t>物理资源，</a:t>
            </a:r>
            <a:r>
              <a:rPr lang="zh-CN" altLang="en-US" dirty="0">
                <a:ea typeface="宋体" panose="02010600030101010101" pitchFamily="2" charset="-122"/>
              </a:rPr>
              <a:t>逻辑资源</a:t>
            </a:r>
            <a:endParaRPr lang="zh-CN" altLang="en-US" dirty="0">
              <a:ea typeface="宋体" panose="02010600030101010101" pitchFamily="2" charset="-122"/>
            </a:endParaRPr>
          </a:p>
        </p:txBody>
      </p:sp>
      <p:sp>
        <p:nvSpPr>
          <p:cNvPr id="51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7171" name="Rectangle 2"/>
          <p:cNvSpPr>
            <a:spLocks noGrp="1" noRot="1" noChangeAspect="1" noTextEdit="1"/>
          </p:cNvSpPr>
          <p:nvPr>
            <p:ph type="sldImg"/>
          </p:nvPr>
        </p:nvSpPr>
        <p:spPr/>
      </p:sp>
      <p:sp>
        <p:nvSpPr>
          <p:cNvPr id="7172" name="Rectangle 3"/>
          <p:cNvSpPr>
            <a:spLocks noGrp="1"/>
          </p:cNvSpPr>
          <p:nvPr>
            <p:ph type="body"/>
          </p:nvPr>
        </p:nvSpPr>
        <p:spPr/>
        <p:txBody>
          <a:bodyPr wrap="square" lIns="91440" tIns="45720" rIns="91440" bIns="45720" anchor="t" anchorCtr="0"/>
          <a:lstStyle/>
          <a:p>
            <a:pPr lvl="0" eaLnBrk="1" hangingPunct="1"/>
            <a:r>
              <a:rPr lang="en-US" altLang="zh-CN" dirty="0">
                <a:ea typeface="宋体" panose="02010600030101010101" pitchFamily="2" charset="-122"/>
              </a:rPr>
              <a:t>flat names are good for machines, but are generally not very convenient for humans to use. As an alternative, naming systems generally support structured names that are composed from simple human readable names.</a:t>
            </a:r>
            <a:endParaRPr lang="en-US" altLang="zh-CN" dirty="0">
              <a:ea typeface="宋体" panose="02010600030101010101" pitchFamily="2" charset="-122"/>
            </a:endParaRPr>
          </a:p>
          <a:p>
            <a:pPr lvl="0" eaLnBrk="1" hangingPunct="1"/>
            <a:r>
              <a:rPr lang="en-US" altLang="zh-CN" dirty="0">
                <a:ea typeface="宋体" panose="02010600030101010101" pitchFamily="2" charset="-122"/>
              </a:rPr>
              <a:t>Finally, humans often prefer to describe entities by means of various characteristics, leading to a situation in which we need to resolve a description by means of attributes to an entity adhering to that description. This type of name resolution is notoriously difficult and we will pay separate attention to it.</a:t>
            </a:r>
            <a:endParaRPr lang="en-US" altLang="zh-CN"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zh-CN" altLang="en-US"/>
              <a:t>命名解析：允许一个进程去访问一个命名的个体</a:t>
            </a:r>
            <a:endParaRPr lang="zh-CN" altLang="en-US"/>
          </a:p>
          <a:p>
            <a:endParaRPr lang="zh-CN" altLang="en-US"/>
          </a:p>
          <a:p>
            <a:endParaRPr lang="zh-CN" altLang="en-US"/>
          </a:p>
          <a:p>
            <a:r>
              <a:rPr lang="zh-CN" altLang="en-US"/>
              <a:t>学号，车牌号；</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0243" name="Rectangle 2"/>
          <p:cNvSpPr>
            <a:spLocks noGrp="1" noRot="1" noChangeAspect="1" noTextEdit="1"/>
          </p:cNvSpPr>
          <p:nvPr>
            <p:ph type="sldImg"/>
          </p:nvPr>
        </p:nvSpPr>
        <p:spPr/>
      </p:sp>
      <p:sp>
        <p:nvSpPr>
          <p:cNvPr id="10244" name="Rectangle 3"/>
          <p:cNvSpPr>
            <a:spLocks noGrp="1"/>
          </p:cNvSpPr>
          <p:nvPr>
            <p:ph type="body"/>
          </p:nvPr>
        </p:nvSpPr>
        <p:spPr/>
        <p:txBody>
          <a:bodyPr wrap="square" lIns="91440" tIns="45720" rIns="91440" bIns="45720" anchor="t" anchorCtr="0"/>
          <a:lstStyle/>
          <a:p>
            <a:pPr lvl="0" eaLnBrk="1" hangingPunct="1"/>
            <a:r>
              <a:rPr lang="zh-CN" altLang="en-US" dirty="0">
                <a:ea typeface="宋体" panose="02010600030101010101" pitchFamily="2" charset="-122"/>
              </a:rPr>
              <a:t>分布式系统中的几个重要概念：</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zh-CN" altLang="en-US" dirty="0">
                <a:ea typeface="宋体" panose="02010600030101010101" pitchFamily="2" charset="-122"/>
              </a:rPr>
              <a:t>分布式系统中：指代资源，</a:t>
            </a:r>
            <a:r>
              <a:rPr lang="zh-CN" altLang="en-US" dirty="0">
                <a:ea typeface="宋体" panose="02010600030101010101" pitchFamily="2" charset="-122"/>
                <a:sym typeface="+mn-ea"/>
              </a:rPr>
              <a:t>物理资源，逻辑资源</a:t>
            </a:r>
            <a:r>
              <a:rPr lang="zh-CN" altLang="en-US" dirty="0">
                <a:ea typeface="宋体" panose="02010600030101010101" pitchFamily="2" charset="-122"/>
              </a:rPr>
              <a:t>；</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实体：可以被操作，提供操作接口；举例：打印机提供操作接口</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和位置无关：和地址对比；</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en-US" altLang="zh-CN" dirty="0">
                <a:ea typeface="宋体" panose="02010600030101010101" pitchFamily="2" charset="-122"/>
              </a:rPr>
              <a:t>Good properties might be readability, if used by humans.  Error-checking is for credit card numbers. Ability to do transport for addresses.</a:t>
            </a:r>
            <a:endParaRPr lang="en-US" altLang="zh-CN"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2291" name="Rectangle 2"/>
          <p:cNvSpPr>
            <a:spLocks noGrp="1" noRot="1" noChangeAspect="1" noTextEdit="1"/>
          </p:cNvSpPr>
          <p:nvPr>
            <p:ph type="sldImg"/>
          </p:nvPr>
        </p:nvSpPr>
        <p:spPr/>
      </p:sp>
      <p:sp>
        <p:nvSpPr>
          <p:cNvPr id="12292" name="Rectangle 3"/>
          <p:cNvSpPr>
            <a:spLocks noGrp="1"/>
          </p:cNvSpPr>
          <p:nvPr>
            <p:ph type="body"/>
          </p:nvPr>
        </p:nvSpPr>
        <p:spPr/>
        <p:txBody>
          <a:bodyPr wrap="square" lIns="91440" tIns="45720" rIns="91440" bIns="45720" anchor="t" anchorCtr="0"/>
          <a:lstStyle/>
          <a:p>
            <a:pPr lvl="0" eaLnBrk="1" hangingPunct="1"/>
            <a:r>
              <a:rPr lang="en-US" altLang="zh-CN" dirty="0">
                <a:solidFill>
                  <a:srgbClr val="0033CC"/>
                </a:solidFill>
                <a:ea typeface="宋体" panose="02010600030101010101" pitchFamily="2" charset="-122"/>
                <a:sym typeface="+mn-ea"/>
              </a:rPr>
              <a:t>access</a:t>
            </a:r>
            <a:r>
              <a:rPr lang="en-US" altLang="zh-CN" dirty="0">
                <a:ea typeface="宋体" panose="02010600030101010101" pitchFamily="2" charset="-122"/>
                <a:sym typeface="+mn-ea"/>
              </a:rPr>
              <a:t> point</a:t>
            </a:r>
            <a:r>
              <a:rPr lang="zh-CN" altLang="en-US" dirty="0">
                <a:ea typeface="宋体" panose="02010600030101010101" pitchFamily="2" charset="-122"/>
                <a:sym typeface="+mn-ea"/>
              </a:rPr>
              <a:t>：特殊实体，名字为</a:t>
            </a:r>
            <a:r>
              <a:rPr lang="en-US" altLang="zh-CN" dirty="0">
                <a:ea typeface="宋体" panose="02010600030101010101" pitchFamily="2" charset="-122"/>
                <a:sym typeface="+mn-ea"/>
              </a:rPr>
              <a:t>address</a:t>
            </a:r>
            <a:r>
              <a:rPr lang="zh-CN" altLang="en-US" dirty="0">
                <a:ea typeface="宋体" panose="02010600030101010101" pitchFamily="2" charset="-122"/>
                <a:sym typeface="+mn-ea"/>
              </a:rPr>
              <a:t>（</a:t>
            </a:r>
            <a:r>
              <a:rPr lang="en-US" altLang="zh-CN" dirty="0">
                <a:ea typeface="宋体" panose="02010600030101010101" pitchFamily="2" charset="-122"/>
                <a:sym typeface="+mn-ea"/>
              </a:rPr>
              <a:t>IP+</a:t>
            </a:r>
            <a:r>
              <a:rPr lang="zh-CN" altLang="en-US" dirty="0">
                <a:ea typeface="宋体" panose="02010600030101010101" pitchFamily="2" charset="-122"/>
                <a:sym typeface="+mn-ea"/>
              </a:rPr>
              <a:t>端口号）</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一个实体可以有多个</a:t>
            </a:r>
            <a:r>
              <a:rPr lang="en-US" altLang="zh-CN" dirty="0">
                <a:solidFill>
                  <a:srgbClr val="0033CC"/>
                </a:solidFill>
                <a:ea typeface="宋体" panose="02010600030101010101" pitchFamily="2" charset="-122"/>
                <a:sym typeface="+mn-ea"/>
              </a:rPr>
              <a:t>access</a:t>
            </a:r>
            <a:r>
              <a:rPr lang="en-US" altLang="zh-CN" dirty="0">
                <a:ea typeface="宋体" panose="02010600030101010101" pitchFamily="2" charset="-122"/>
              </a:rPr>
              <a:t> point</a:t>
            </a:r>
            <a:r>
              <a:rPr lang="zh-CN" altLang="en-US" dirty="0">
                <a:ea typeface="宋体" panose="02010600030101010101" pitchFamily="2" charset="-122"/>
              </a:rPr>
              <a:t>：一人，多个电话号码；</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可以更换：电话号码；</a:t>
            </a:r>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14339" name="Rectangle 2"/>
          <p:cNvSpPr>
            <a:spLocks noGrp="1" noRot="1" noChangeAspect="1" noTextEdit="1"/>
          </p:cNvSpPr>
          <p:nvPr>
            <p:ph type="sldImg"/>
          </p:nvPr>
        </p:nvSpPr>
        <p:spPr/>
      </p:sp>
      <p:sp>
        <p:nvSpPr>
          <p:cNvPr id="14340" name="Rectangle 3"/>
          <p:cNvSpPr>
            <a:spLocks noGrp="1"/>
          </p:cNvSpPr>
          <p:nvPr>
            <p:ph type="body"/>
          </p:nvPr>
        </p:nvSpPr>
        <p:spPr/>
        <p:txBody>
          <a:bodyPr wrap="square" lIns="91440" tIns="45720" rIns="91440" bIns="45720" anchor="t" anchorCtr="0"/>
          <a:lstStyle/>
          <a:p>
            <a:pPr lvl="0" eaLnBrk="1" hangingPunct="1"/>
            <a:r>
              <a:rPr lang="zh-CN" altLang="en-US" dirty="0">
                <a:ea typeface="宋体" panose="02010600030101010101" pitchFamily="2" charset="-122"/>
              </a:rPr>
              <a:t>三种命名：</a:t>
            </a:r>
            <a:endParaRPr lang="zh-CN" altLang="en-US" dirty="0">
              <a:ea typeface="宋体" panose="02010600030101010101" pitchFamily="2" charset="-122"/>
            </a:endParaRPr>
          </a:p>
          <a:p>
            <a:pPr lvl="0" eaLnBrk="1" hangingPunct="1"/>
            <a:r>
              <a:rPr lang="en-US" altLang="zh-CN" dirty="0">
                <a:ea typeface="宋体" panose="02010600030101010101" pitchFamily="2" charset="-122"/>
                <a:sym typeface="+mn-ea"/>
              </a:rPr>
              <a:t>Identifier</a:t>
            </a:r>
            <a:r>
              <a:rPr lang="zh-CN" altLang="en-US" dirty="0">
                <a:ea typeface="宋体" panose="02010600030101010101" pitchFamily="2" charset="-122"/>
                <a:sym typeface="+mn-ea"/>
              </a:rPr>
              <a:t>：唯一标识实体，</a:t>
            </a:r>
            <a:r>
              <a:rPr lang="en-US" altLang="zh-CN" dirty="0">
                <a:ea typeface="宋体" panose="02010600030101010101" pitchFamily="2" charset="-122"/>
                <a:sym typeface="+mn-ea"/>
              </a:rPr>
              <a:t>bit</a:t>
            </a:r>
            <a:r>
              <a:rPr lang="zh-CN" altLang="en-US" dirty="0">
                <a:ea typeface="宋体" panose="02010600030101010101" pitchFamily="2" charset="-122"/>
                <a:sym typeface="+mn-ea"/>
              </a:rPr>
              <a:t>串</a:t>
            </a:r>
            <a:endParaRPr lang="en-US" altLang="zh-CN" dirty="0">
              <a:ea typeface="宋体" panose="02010600030101010101" pitchFamily="2" charset="-122"/>
              <a:sym typeface="+mn-ea"/>
            </a:endParaRPr>
          </a:p>
          <a:p>
            <a:pPr lvl="0" eaLnBrk="1" hangingPunct="1"/>
            <a:r>
              <a:rPr lang="en-US" altLang="zh-CN" dirty="0">
                <a:ea typeface="宋体" panose="02010600030101010101" pitchFamily="2" charset="-122"/>
                <a:sym typeface="+mn-ea"/>
              </a:rPr>
              <a:t>Address</a:t>
            </a:r>
            <a:r>
              <a:rPr lang="zh-CN" altLang="en-US" dirty="0">
                <a:ea typeface="宋体" panose="02010600030101010101" pitchFamily="2" charset="-122"/>
                <a:sym typeface="+mn-ea"/>
              </a:rPr>
              <a:t>：地址（特殊实体），</a:t>
            </a:r>
            <a:r>
              <a:rPr lang="en-US" altLang="zh-CN" dirty="0">
                <a:ea typeface="宋体" panose="02010600030101010101" pitchFamily="2" charset="-122"/>
                <a:sym typeface="+mn-ea"/>
              </a:rPr>
              <a:t>bit</a:t>
            </a:r>
            <a:r>
              <a:rPr lang="zh-CN" altLang="en-US" dirty="0">
                <a:ea typeface="宋体" panose="02010600030101010101" pitchFamily="2" charset="-122"/>
                <a:sym typeface="+mn-ea"/>
              </a:rPr>
              <a:t>串，机器可理解</a:t>
            </a:r>
            <a:endParaRPr lang="en-US" altLang="zh-CN" dirty="0">
              <a:ea typeface="宋体" panose="02010600030101010101" pitchFamily="2" charset="-122"/>
              <a:sym typeface="+mn-ea"/>
            </a:endParaRPr>
          </a:p>
          <a:p>
            <a:pPr lvl="0" eaLnBrk="1" hangingPunct="1"/>
            <a:r>
              <a:rPr lang="en-US" altLang="zh-CN" dirty="0">
                <a:ea typeface="宋体" panose="02010600030101010101" pitchFamily="2" charset="-122"/>
                <a:sym typeface="+mn-ea"/>
              </a:rPr>
              <a:t>Human Friendly Name</a:t>
            </a:r>
            <a:r>
              <a:rPr lang="zh-CN" altLang="en-US" dirty="0">
                <a:ea typeface="宋体" panose="02010600030101010101" pitchFamily="2" charset="-122"/>
                <a:sym typeface="+mn-ea"/>
              </a:rPr>
              <a:t>：实体，有语义</a:t>
            </a:r>
            <a:r>
              <a:rPr lang="zh-CN" altLang="en-US" dirty="0">
                <a:ea typeface="宋体" panose="02010600030101010101" pitchFamily="2" charset="-122"/>
                <a:sym typeface="+mn-ea"/>
              </a:rPr>
              <a:t>的字符串</a:t>
            </a:r>
            <a:endParaRPr lang="zh-CN" altLang="en-US" dirty="0">
              <a:ea typeface="宋体" panose="02010600030101010101" pitchFamily="2" charset="-122"/>
              <a:sym typeface="+mn-ea"/>
            </a:endParaRPr>
          </a:p>
          <a:p>
            <a:pPr lvl="0" eaLnBrk="1" hangingPunct="1"/>
            <a:endParaRPr lang="zh-CN" altLang="en-US" dirty="0">
              <a:ea typeface="宋体" panose="02010600030101010101" pitchFamily="2" charset="-122"/>
              <a:sym typeface="+mn-ea"/>
            </a:endParaRPr>
          </a:p>
          <a:p>
            <a:pPr lvl="0" eaLnBrk="1" hangingPunct="1"/>
            <a:endParaRPr lang="zh-CN" altLang="en-US" dirty="0">
              <a:ea typeface="宋体" panose="02010600030101010101" pitchFamily="2" charset="-122"/>
              <a:sym typeface="+mn-ea"/>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lang="en-US" altLang="zh-CN" kern="0" noProof="0" dirty="0">
                <a:ln>
                  <a:noFill/>
                </a:ln>
                <a:effectLst/>
                <a:uLnTx/>
                <a:uFillTx/>
                <a:latin typeface="+mn-lt"/>
                <a:ea typeface="宋体" panose="02010600030101010101" pitchFamily="2" charset="-122"/>
                <a:sym typeface="+mn-ea"/>
              </a:rPr>
              <a:t>Global versus local </a:t>
            </a:r>
            <a:r>
              <a:rPr lang="zh-CN" altLang="en-US" kern="0" noProof="0" dirty="0">
                <a:ln>
                  <a:noFill/>
                </a:ln>
                <a:effectLst/>
                <a:uLnTx/>
                <a:uFillTx/>
                <a:latin typeface="+mn-lt"/>
                <a:ea typeface="宋体" panose="02010600030101010101" pitchFamily="2" charset="-122"/>
                <a:sym typeface="+mn-ea"/>
              </a:rPr>
              <a:t>？？？</a:t>
            </a:r>
            <a:endParaRPr kumimoji="0" lang="en-US" altLang="zh-CN"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lang="en-US" altLang="zh-CN" kern="0" noProof="0" dirty="0">
                <a:ln>
                  <a:noFill/>
                </a:ln>
                <a:effectLst/>
                <a:uLnTx/>
                <a:uFillTx/>
                <a:latin typeface="+mn-lt"/>
                <a:ea typeface="宋体" panose="02010600030101010101" pitchFamily="2" charset="-122"/>
                <a:sym typeface="+mn-ea"/>
              </a:rPr>
              <a:t>Absolute versus relative</a:t>
            </a:r>
            <a:r>
              <a:rPr lang="zh-CN" altLang="en-US" dirty="0">
                <a:ea typeface="宋体" panose="02010600030101010101" pitchFamily="2" charset="-122"/>
                <a:sym typeface="+mn-ea"/>
              </a:rPr>
              <a:t>？？？</a:t>
            </a:r>
            <a:endParaRPr lang="zh-CN" altLang="en-US" dirty="0">
              <a:ea typeface="宋体" panose="02010600030101010101" pitchFamily="2" charset="-122"/>
              <a:sym typeface="+mn-ea"/>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endParaRPr lang="zh-CN" altLang="en-US" dirty="0">
              <a:ea typeface="宋体" panose="02010600030101010101" pitchFamily="2" charset="-122"/>
              <a:sym typeface="+mn-ea"/>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lang="zh-CN" altLang="en-US" dirty="0">
                <a:ea typeface="宋体" panose="02010600030101010101" pitchFamily="2" charset="-122"/>
                <a:sym typeface="+mn-ea"/>
              </a:rPr>
              <a:t>命名解析：从名字映射为地址</a:t>
            </a:r>
            <a:endParaRPr lang="en-US" altLang="zh-CN" dirty="0">
              <a:ea typeface="宋体" panose="02010600030101010101" pitchFamily="2" charset="-122"/>
              <a:sym typeface="+mn-ea"/>
            </a:endParaRPr>
          </a:p>
          <a:p>
            <a:pPr lvl="0" eaLnBrk="1" hangingPunct="1"/>
            <a:endParaRPr lang="en-US" altLang="zh-CN" dirty="0">
              <a:ea typeface="宋体" panose="02010600030101010101" pitchFamily="2" charset="-122"/>
              <a:sym typeface="+mn-ea"/>
            </a:endParaRPr>
          </a:p>
          <a:p>
            <a:pPr lvl="0" eaLnBrk="1" hangingPunct="1"/>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6387" name="Rectangle 2"/>
          <p:cNvSpPr>
            <a:spLocks noGrp="1" noRot="1" noChangeAspect="1" noTextEdit="1"/>
          </p:cNvSpPr>
          <p:nvPr>
            <p:ph type="sldImg"/>
          </p:nvPr>
        </p:nvSpPr>
        <p:spPr/>
      </p:sp>
      <p:sp>
        <p:nvSpPr>
          <p:cNvPr id="16388" name="Rectangle 3"/>
          <p:cNvSpPr>
            <a:spLocks noGrp="1"/>
          </p:cNvSpPr>
          <p:nvPr>
            <p:ph type="body"/>
          </p:nvPr>
        </p:nvSpPr>
        <p:spPr/>
        <p:txBody>
          <a:bodyPr wrap="square" lIns="91440" tIns="45720" rIns="91440" bIns="45720" anchor="t" anchorCtr="0"/>
          <a:lstStyle/>
          <a:p>
            <a:pPr lvl="0"/>
            <a:r>
              <a:rPr lang="zh-CN" altLang="zh-CN" dirty="0">
                <a:ea typeface="宋体" panose="02010600030101010101" pitchFamily="2" charset="-122"/>
              </a:rPr>
              <a:t>命名组合描述实体：</a:t>
            </a:r>
            <a:endParaRPr lang="zh-CN" altLang="zh-CN"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8435" name="Rectangle 2"/>
          <p:cNvSpPr>
            <a:spLocks noGrp="1" noRot="1" noChangeAspect="1" noTextEdit="1"/>
          </p:cNvSpPr>
          <p:nvPr>
            <p:ph type="sldImg"/>
          </p:nvPr>
        </p:nvSpPr>
        <p:spPr/>
      </p:sp>
      <p:sp>
        <p:nvSpPr>
          <p:cNvPr id="18436" name="Rectangle 3"/>
          <p:cNvSpPr>
            <a:spLocks noGrp="1"/>
          </p:cNvSpPr>
          <p:nvPr>
            <p:ph type="body"/>
          </p:nvPr>
        </p:nvSpPr>
        <p:spPr/>
        <p:txBody>
          <a:bodyPr wrap="square" lIns="91440" tIns="45720" rIns="91440" bIns="45720" anchor="t" anchorCtr="0"/>
          <a:lstStyle/>
          <a:p>
            <a:pPr lvl="0"/>
            <a:r>
              <a:rPr lang="en-US" altLang="zh-CN" dirty="0">
                <a:ea typeface="宋体" panose="02010600030101010101" pitchFamily="2" charset="-122"/>
                <a:sym typeface="+mn-ea"/>
              </a:rPr>
              <a:t>Address — inode </a:t>
            </a:r>
            <a:r>
              <a:rPr lang="en-US" altLang="zh-CN" b="1" dirty="0">
                <a:latin typeface="Courier New" panose="02070309020205020404" pitchFamily="49" charset="0"/>
                <a:ea typeface="宋体" panose="02010600030101010101" pitchFamily="2" charset="-122"/>
                <a:sym typeface="+mn-ea"/>
              </a:rPr>
              <a:t>#54321</a:t>
            </a:r>
            <a:r>
              <a:rPr lang="zh-CN" altLang="en-US" b="1" dirty="0">
                <a:latin typeface="Courier New" panose="02070309020205020404" pitchFamily="49" charset="0"/>
                <a:ea typeface="宋体" panose="02010600030101010101" pitchFamily="2" charset="-122"/>
                <a:sym typeface="+mn-ea"/>
              </a:rPr>
              <a:t>？？？</a:t>
            </a:r>
            <a:endParaRPr lang="zh-CN" altLang="en-US" b="1" dirty="0">
              <a:latin typeface="Courier New" panose="02070309020205020404" pitchFamily="49" charset="0"/>
              <a:ea typeface="宋体" panose="02010600030101010101" pitchFamily="2" charset="-122"/>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20483" name="Rectangle 2"/>
          <p:cNvSpPr>
            <a:spLocks noGrp="1" noRot="1" noChangeAspect="1" noTextEdit="1"/>
          </p:cNvSpPr>
          <p:nvPr>
            <p:ph type="sldImg"/>
          </p:nvPr>
        </p:nvSpPr>
        <p:spPr/>
      </p:sp>
      <p:sp>
        <p:nvSpPr>
          <p:cNvPr id="20484" name="Rectangle 3"/>
          <p:cNvSpPr>
            <a:spLocks noGrp="1"/>
          </p:cNvSpPr>
          <p:nvPr>
            <p:ph type="body"/>
          </p:nvPr>
        </p:nvSpPr>
        <p:spPr/>
        <p:txBody>
          <a:bodyPr wrap="square" lIns="91440" tIns="45720" rIns="91440" bIns="45720" anchor="t" anchorCtr="0"/>
          <a:lstStyle/>
          <a:p>
            <a:pPr lvl="0"/>
            <a:r>
              <a:rPr lang="zh-CN" altLang="en-US">
                <a:sym typeface="+mn-ea"/>
              </a:rPr>
              <a:t>命名解析：允许一个进程去访问一个命名的个体；</a:t>
            </a:r>
            <a:endParaRPr lang="zh-CN" altLang="en-US">
              <a:sym typeface="+mn-ea"/>
            </a:endParaRPr>
          </a:p>
          <a:p>
            <a:pPr lvl="0"/>
            <a:r>
              <a:rPr lang="zh-CN" altLang="en-US" dirty="0">
                <a:ea typeface="宋体" panose="02010600030101010101" pitchFamily="2" charset="-122"/>
                <a:sym typeface="+mn-ea"/>
              </a:rPr>
              <a:t>命名解析：从名字映射为地址</a:t>
            </a:r>
            <a:endParaRPr lang="zh-CN" altLang="en-US" dirty="0">
              <a:ea typeface="宋体" panose="02010600030101010101" pitchFamily="2" charset="-122"/>
              <a:sym typeface="+mn-ea"/>
            </a:endParaRPr>
          </a:p>
          <a:p>
            <a:pPr lvl="0"/>
            <a:r>
              <a:rPr lang="zh-CN" altLang="en-US" dirty="0">
                <a:ea typeface="宋体" panose="02010600030101010101" pitchFamily="2" charset="-122"/>
                <a:sym typeface="+mn-ea"/>
              </a:rPr>
              <a:t>命名</a:t>
            </a:r>
            <a:endParaRPr lang="zh-CN" altLang="en-US" dirty="0">
              <a:ea typeface="宋体" panose="02010600030101010101" pitchFamily="2" charset="-122"/>
              <a:sym typeface="+mn-ea"/>
            </a:endParaRPr>
          </a:p>
          <a:p>
            <a:pPr lvl="0"/>
            <a:r>
              <a:rPr lang="zh-CN" altLang="en-US" dirty="0">
                <a:ea typeface="宋体" panose="02010600030101010101" pitchFamily="2" charset="-122"/>
                <a:sym typeface="+mn-ea"/>
              </a:rPr>
              <a:t>命名系统：实现命名与名字解析</a:t>
            </a:r>
            <a:endParaRPr lang="en-US" altLang="zh-CN" dirty="0">
              <a:ea typeface="宋体" panose="02010600030101010101" pitchFamily="2" charset="-122"/>
              <a:sym typeface="+mn-ea"/>
            </a:endParaRPr>
          </a:p>
          <a:p>
            <a:pPr lvl="0"/>
            <a:endParaRPr lang="zh-CN" altLang="en-US">
              <a:sym typeface="+mn-ea"/>
            </a:endParaRPr>
          </a:p>
          <a:p>
            <a:pPr lvl="0"/>
            <a:endParaRPr lang="zh-CN" altLang="en-US">
              <a:sym typeface="+mn-ea"/>
            </a:endParaRPr>
          </a:p>
          <a:p>
            <a:pPr lvl="0"/>
            <a:r>
              <a:rPr lang="zh-CN" altLang="en-US">
                <a:sym typeface="+mn-ea"/>
              </a:rPr>
              <a:t>透明性：分布式系统要解决的问题</a:t>
            </a:r>
            <a:endParaRPr lang="zh-CN" altLang="en-US">
              <a:sym typeface="+mn-ea"/>
            </a:endParaRPr>
          </a:p>
          <a:p>
            <a:pPr lvl="0"/>
            <a:endParaRPr lang="zh-CN" altLang="en-US">
              <a:sym typeface="+mn-ea"/>
            </a:endParaRPr>
          </a:p>
          <a:p>
            <a:pPr lvl="0"/>
            <a:r>
              <a:rPr lang="zh-CN" altLang="en-US">
                <a:sym typeface="+mn-ea"/>
              </a:rPr>
              <a:t>命名系统</a:t>
            </a:r>
            <a:endParaRPr lang="zh-CN" altLang="en-US"/>
          </a:p>
          <a:p>
            <a:pPr lvl="0"/>
            <a:endParaRPr lang="zh-CN" altLang="zh-CN"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31747" name="Rectangle 2"/>
          <p:cNvSpPr>
            <a:spLocks noGrp="1" noRot="1" noChangeAspect="1" noTextEdit="1"/>
          </p:cNvSpPr>
          <p:nvPr>
            <p:ph type="sldImg"/>
          </p:nvPr>
        </p:nvSpPr>
        <p:spPr/>
      </p:sp>
      <p:sp>
        <p:nvSpPr>
          <p:cNvPr id="31748" name="Rectangle 3"/>
          <p:cNvSpPr>
            <a:spLocks noGrp="1"/>
          </p:cNvSpPr>
          <p:nvPr>
            <p:ph type="body"/>
          </p:nvPr>
        </p:nvSpPr>
        <p:spPr/>
        <p:txBody>
          <a:bodyPr wrap="square" lIns="91440" tIns="45720" rIns="91440" bIns="45720" anchor="t" anchorCtr="0"/>
          <a:lstStyle/>
          <a:p>
            <a:pPr lvl="0" eaLnBrk="1" hangingPunct="1"/>
            <a:r>
              <a:rPr lang="zh-CN" altLang="en-US" dirty="0">
                <a:ea typeface="宋体" panose="02010600030101010101" pitchFamily="2" charset="-122"/>
              </a:rPr>
              <a:t>分布式系统的名称都组织在通常所说的名称空间（</a:t>
            </a:r>
            <a:r>
              <a:rPr lang="en-US" altLang="zh-CN" dirty="0">
                <a:ea typeface="宋体" panose="02010600030101010101" pitchFamily="2" charset="-122"/>
              </a:rPr>
              <a:t>name space</a:t>
            </a:r>
            <a:r>
              <a:rPr lang="zh-CN" altLang="en-US" dirty="0">
                <a:ea typeface="宋体" panose="02010600030101010101" pitchFamily="2" charset="-122"/>
              </a:rPr>
              <a:t>）中。名称空间可以表示为带有标注的具有两种类型的节点的有向图。</a:t>
            </a:r>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33795" name="Rectangle 2"/>
          <p:cNvSpPr>
            <a:spLocks noGrp="1" noRot="1" noChangeAspect="1" noTextEdit="1"/>
          </p:cNvSpPr>
          <p:nvPr>
            <p:ph type="sldImg"/>
          </p:nvPr>
        </p:nvSpPr>
        <p:spPr/>
      </p:sp>
      <p:sp>
        <p:nvSpPr>
          <p:cNvPr id="33796" name="Rectangle 3"/>
          <p:cNvSpPr>
            <a:spLocks noGrp="1"/>
          </p:cNvSpPr>
          <p:nvPr>
            <p:ph type="body"/>
          </p:nvPr>
        </p:nvSpPr>
        <p:spPr/>
        <p:txBody>
          <a:bodyPr wrap="square" lIns="91440" tIns="45720" rIns="91440" bIns="45720" anchor="t" anchorCtr="0"/>
          <a:lstStyle/>
          <a:p>
            <a:pPr lvl="0" eaLnBrk="1" hangingPunct="1"/>
            <a:r>
              <a:rPr lang="zh-CN" altLang="en-US" dirty="0">
                <a:ea typeface="宋体" panose="02010600030101010101" pitchFamily="2" charset="-122"/>
              </a:rPr>
              <a:t>每个节点有一个</a:t>
            </a:r>
            <a:r>
              <a:rPr lang="en-US" altLang="zh-CN" dirty="0">
                <a:ea typeface="宋体" panose="02010600030101010101" pitchFamily="2" charset="-122"/>
              </a:rPr>
              <a:t>identifier</a:t>
            </a:r>
            <a:r>
              <a:rPr lang="zh-CN" altLang="en-US" dirty="0">
                <a:ea typeface="宋体" panose="02010600030101010101" pitchFamily="2" charset="-122"/>
              </a:rPr>
              <a:t>；一个</a:t>
            </a:r>
            <a:r>
              <a:rPr lang="en-US" altLang="zh-CN" dirty="0">
                <a:ea typeface="宋体" panose="02010600030101010101" pitchFamily="2" charset="-122"/>
              </a:rPr>
              <a:t>identifier</a:t>
            </a:r>
            <a:r>
              <a:rPr lang="zh-CN" altLang="en-US" dirty="0">
                <a:ea typeface="宋体" panose="02010600030101010101" pitchFamily="2" charset="-122"/>
              </a:rPr>
              <a:t>对应一个</a:t>
            </a:r>
            <a:r>
              <a:rPr lang="en-US" altLang="zh-CN" dirty="0">
                <a:ea typeface="宋体" panose="02010600030101010101" pitchFamily="2" charset="-122"/>
              </a:rPr>
              <a:t>name</a:t>
            </a:r>
            <a:r>
              <a:rPr lang="zh-CN" altLang="en-US" dirty="0">
                <a:ea typeface="宋体" panose="02010600030101010101" pitchFamily="2" charset="-122"/>
              </a:rPr>
              <a:t>；</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叶子节点：带名字的一个实体；无输出边；</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存储内容：所代表实体的信息：地址，状态；</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目录节点：输出边：每个边表示一个名字；映射目录；（根节点）</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路径：路径名：某个节点的</a:t>
            </a:r>
            <a:r>
              <a:rPr lang="en-US" altLang="zh-CN" dirty="0">
                <a:ea typeface="宋体" panose="02010600030101010101" pitchFamily="2" charset="-122"/>
              </a:rPr>
              <a:t>identifier</a:t>
            </a:r>
            <a:r>
              <a:rPr lang="zh-CN" altLang="en-US" dirty="0">
                <a:ea typeface="宋体" panose="02010600030101010101" pitchFamily="2" charset="-122"/>
              </a:rPr>
              <a:t>打头，后边各边名字连接；</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相对路径名；绝对路径名；</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每个节点有唯一的绝对路径名；</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zh-CN" altLang="en-US" dirty="0">
                <a:ea typeface="宋体" panose="02010600030101010101" pitchFamily="2" charset="-122"/>
              </a:rPr>
              <a:t>路径，相对名称，绝对名称；</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en-US" altLang="zh-CN" dirty="0">
                <a:ea typeface="宋体" panose="02010600030101010101" pitchFamily="2" charset="-122"/>
              </a:rPr>
              <a:t>Path, local name, absolute name</a:t>
            </a:r>
            <a:endParaRPr lang="en-US" altLang="zh-CN" dirty="0">
              <a:ea typeface="宋体" panose="02010600030101010101" pitchFamily="2" charset="-122"/>
            </a:endParaRPr>
          </a:p>
          <a:p>
            <a:pPr lvl="0" eaLnBrk="1" hangingPunct="1"/>
            <a:r>
              <a:rPr lang="en-US" altLang="zh-CN" dirty="0">
                <a:ea typeface="宋体" panose="02010600030101010101" pitchFamily="2" charset="-122"/>
              </a:rPr>
              <a:t>Should it be a tree, DAG(Directed acyclic graph), allow cycles?</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en-US" altLang="zh-CN" dirty="0">
                <a:ea typeface="宋体" panose="02010600030101010101" pitchFamily="2" charset="-122"/>
              </a:rPr>
              <a:t>Cycles might be convenient, if we want to order things more.</a:t>
            </a:r>
            <a:endParaRPr lang="en-US" altLang="zh-CN" dirty="0">
              <a:ea typeface="宋体" panose="02010600030101010101" pitchFamily="2" charset="-122"/>
            </a:endParaRPr>
          </a:p>
          <a:p>
            <a:pPr lvl="0" eaLnBrk="1" hangingPunct="1"/>
            <a:r>
              <a:rPr lang="en-US" altLang="zh-CN" dirty="0">
                <a:ea typeface="宋体" panose="02010600030101010101" pitchFamily="2" charset="-122"/>
              </a:rPr>
              <a:t>Tree will prevent multiple names.</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zh-CN" altLang="en-US"/>
              <a:t>命名空间的目的：提供一种机制，以支持按照名字查找对应实体的信息（地址，状态，，，），给出一个路径名，找到这个名字对应的实体的信息；</a:t>
            </a:r>
            <a:endParaRPr lang="zh-CN" altLang="en-US"/>
          </a:p>
          <a:p>
            <a:endParaRPr lang="zh-CN" altLang="en-US"/>
          </a:p>
          <a:p>
            <a:endParaRPr lang="zh-CN" altLang="en-US"/>
          </a:p>
          <a:p>
            <a:r>
              <a:rPr lang="zh-CN" altLang="en-US"/>
              <a:t>举例：</a:t>
            </a:r>
            <a:r>
              <a:rPr lang="en-US" altLang="zh-CN"/>
              <a:t> </a:t>
            </a:r>
            <a:r>
              <a:rPr lang="zh-CN" altLang="en-US"/>
              <a:t>从第一个</a:t>
            </a:r>
            <a:r>
              <a:rPr lang="en-US" altLang="zh-CN"/>
              <a:t>block</a:t>
            </a:r>
            <a:r>
              <a:rPr lang="zh-CN" altLang="en-US"/>
              <a:t>，</a:t>
            </a:r>
            <a:r>
              <a:rPr lang="en-US" altLang="zh-CN"/>
              <a:t>boot block</a:t>
            </a:r>
            <a:r>
              <a:rPr lang="zh-CN" altLang="en-US"/>
              <a:t>开始查找</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en-US" altLang="zh-CN"/>
              <a:t>index node</a:t>
            </a:r>
            <a:r>
              <a:rPr lang="zh-CN" altLang="en-US"/>
              <a:t>：</a:t>
            </a:r>
            <a:r>
              <a:rPr lang="en-US" altLang="zh-CN"/>
              <a:t>inode</a:t>
            </a:r>
            <a:r>
              <a:rPr lang="zh-CN" altLang="en-US"/>
              <a:t>；索引具体文件内容</a:t>
            </a:r>
            <a:endParaRPr lang="zh-CN" altLang="en-US"/>
          </a:p>
          <a:p>
            <a:endParaRPr lang="zh-CN" altLang="en-US"/>
          </a:p>
          <a:p>
            <a:r>
              <a:rPr lang="en-US" altLang="zh-CN"/>
              <a:t>boot block</a:t>
            </a:r>
            <a:r>
              <a:rPr lang="zh-CN" altLang="en-US"/>
              <a:t>：默认系统启动时自动加载入内存；</a:t>
            </a:r>
            <a:endParaRPr lang="zh-CN" altLang="en-US"/>
          </a:p>
          <a:p>
            <a:endParaRPr lang="zh-CN" altLang="en-US"/>
          </a:p>
          <a:p>
            <a:r>
              <a:rPr lang="en-US" altLang="zh-CN"/>
              <a:t>super block</a:t>
            </a:r>
            <a:r>
              <a:rPr lang="zh-CN" altLang="en-US"/>
              <a:t>：整体文件系统的描述；</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p:sp>
      <p:sp>
        <p:nvSpPr>
          <p:cNvPr id="24579" name="备注占位符 2"/>
          <p:cNvSpPr>
            <a:spLocks noGrp="1"/>
          </p:cNvSpPr>
          <p:nvPr>
            <p:ph type="body" idx="1"/>
          </p:nvPr>
        </p:nvSpPr>
        <p:spPr/>
        <p:txBody>
          <a:bodyPr wrap="square" lIns="91440" tIns="45720" rIns="91440" bIns="45720" anchor="t" anchorCtr="0"/>
          <a:lstStyle/>
          <a:p>
            <a:pPr lvl="0"/>
            <a:r>
              <a:rPr lang="zh-CN" altLang="en-US" dirty="0">
                <a:ea typeface="宋体" panose="02010600030101010101" pitchFamily="2" charset="-122"/>
              </a:rPr>
              <a:t>？？？</a:t>
            </a:r>
            <a:endParaRPr lang="zh-CN" altLang="en-US" dirty="0">
              <a:ea typeface="宋体" panose="02010600030101010101" pitchFamily="2" charset="-122"/>
            </a:endParaRPr>
          </a:p>
        </p:txBody>
      </p:sp>
      <p:sp>
        <p:nvSpPr>
          <p:cNvPr id="245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pPr marL="0" indent="0" algn="l" eaLnBrk="1" hangingPunct="1">
              <a:lnSpc>
                <a:spcPct val="90000"/>
              </a:lnSpc>
              <a:buNone/>
            </a:pPr>
            <a:r>
              <a:rPr lang="en-US" altLang="zh-CN" dirty="0">
                <a:ea typeface="宋体" panose="02010600030101010101" pitchFamily="2" charset="-122"/>
                <a:sym typeface="+mn-ea"/>
              </a:rPr>
              <a:t>    mounting point</a:t>
            </a:r>
            <a:r>
              <a:rPr lang="zh-CN" altLang="en-US" dirty="0">
                <a:ea typeface="宋体" panose="02010600030101010101" pitchFamily="2" charset="-122"/>
                <a:sym typeface="+mn-ea"/>
              </a:rPr>
              <a:t>一般是</a:t>
            </a:r>
            <a:endParaRPr lang="en-US" altLang="zh-CN" dirty="0">
              <a:ea typeface="宋体" panose="02010600030101010101" pitchFamily="2" charset="-122"/>
              <a:sym typeface="+mn-ea"/>
            </a:endParaRPr>
          </a:p>
          <a:p>
            <a:pPr marL="0" indent="0" algn="l" eaLnBrk="1" hangingPunct="1">
              <a:lnSpc>
                <a:spcPct val="90000"/>
              </a:lnSpc>
              <a:buNone/>
            </a:pPr>
            <a:endParaRPr lang="en-US" altLang="zh-CN" dirty="0">
              <a:ea typeface="宋体" panose="02010600030101010101" pitchFamily="2" charset="-122"/>
              <a:sym typeface="+mn-ea"/>
            </a:endParaRPr>
          </a:p>
          <a:p>
            <a:pPr marL="0" indent="0" algn="l" eaLnBrk="1" hangingPunct="1">
              <a:lnSpc>
                <a:spcPct val="90000"/>
              </a:lnSpc>
              <a:buNone/>
            </a:pPr>
            <a:r>
              <a:rPr lang="zh-CN" altLang="en-US" dirty="0">
                <a:ea typeface="宋体" panose="02010600030101010101" pitchFamily="2" charset="-122"/>
                <a:sym typeface="+mn-ea"/>
              </a:rPr>
              <a:t>需要解析：</a:t>
            </a:r>
            <a:endParaRPr lang="en-US" altLang="zh-CN" dirty="0">
              <a:ea typeface="宋体" panose="02010600030101010101" pitchFamily="2" charset="-122"/>
              <a:sym typeface="+mn-ea"/>
            </a:endParaRPr>
          </a:p>
          <a:p>
            <a:pPr marL="0" indent="0" algn="l" eaLnBrk="1" hangingPunct="1">
              <a:lnSpc>
                <a:spcPct val="90000"/>
              </a:lnSpc>
              <a:buNone/>
            </a:pPr>
            <a:endParaRPr lang="en-US" altLang="zh-CN" dirty="0">
              <a:ea typeface="宋体" panose="02010600030101010101" pitchFamily="2" charset="-122"/>
              <a:sym typeface="+mn-ea"/>
            </a:endParaRPr>
          </a:p>
          <a:p>
            <a:pPr marL="0" indent="0" algn="l" eaLnBrk="1" hangingPunct="1">
              <a:lnSpc>
                <a:spcPct val="90000"/>
              </a:lnSpc>
              <a:buNone/>
            </a:pPr>
            <a:r>
              <a:rPr lang="en-US" altLang="zh-CN" dirty="0">
                <a:ea typeface="宋体" panose="02010600030101010101" pitchFamily="2" charset="-122"/>
                <a:sym typeface="+mn-ea"/>
              </a:rPr>
              <a:t>1. The name of an access protocol</a:t>
            </a:r>
            <a:r>
              <a:rPr lang="zh-CN" altLang="en-US" dirty="0">
                <a:ea typeface="宋体" panose="02010600030101010101" pitchFamily="2" charset="-122"/>
                <a:sym typeface="+mn-ea"/>
              </a:rPr>
              <a:t>：</a:t>
            </a:r>
            <a:r>
              <a:rPr lang="en-US" altLang="zh-CN" dirty="0">
                <a:ea typeface="宋体" panose="02010600030101010101" pitchFamily="2" charset="-122"/>
                <a:sym typeface="+mn-ea"/>
              </a:rPr>
              <a:t>protocol</a:t>
            </a:r>
            <a:r>
              <a:rPr lang="zh-CN" altLang="en-US" dirty="0">
                <a:ea typeface="宋体" panose="02010600030101010101" pitchFamily="2" charset="-122"/>
                <a:sym typeface="+mn-ea"/>
              </a:rPr>
              <a:t>的具体实现</a:t>
            </a:r>
            <a:endParaRPr lang="en-US" altLang="zh-CN" dirty="0">
              <a:ea typeface="宋体" panose="02010600030101010101" pitchFamily="2" charset="-122"/>
            </a:endParaRPr>
          </a:p>
          <a:p>
            <a:pPr marL="0" indent="0" algn="l" eaLnBrk="1" hangingPunct="1">
              <a:lnSpc>
                <a:spcPct val="90000"/>
              </a:lnSpc>
              <a:buNone/>
            </a:pPr>
            <a:r>
              <a:rPr lang="en-US" altLang="zh-CN" dirty="0">
                <a:ea typeface="宋体" panose="02010600030101010101" pitchFamily="2" charset="-122"/>
                <a:sym typeface="+mn-ea"/>
              </a:rPr>
              <a:t>2. The name of the server</a:t>
            </a:r>
            <a:r>
              <a:rPr lang="zh-CN" altLang="en-US" dirty="0">
                <a:ea typeface="宋体" panose="02010600030101010101" pitchFamily="2" charset="-122"/>
                <a:sym typeface="+mn-ea"/>
              </a:rPr>
              <a:t>：</a:t>
            </a:r>
            <a:r>
              <a:rPr lang="en-US" altLang="zh-CN" dirty="0">
                <a:ea typeface="宋体" panose="02010600030101010101" pitchFamily="2" charset="-122"/>
                <a:sym typeface="+mn-ea"/>
              </a:rPr>
              <a:t>server</a:t>
            </a:r>
            <a:r>
              <a:rPr lang="zh-CN" altLang="en-US" dirty="0">
                <a:ea typeface="宋体" panose="02010600030101010101" pitchFamily="2" charset="-122"/>
                <a:sym typeface="+mn-ea"/>
              </a:rPr>
              <a:t>（实现</a:t>
            </a:r>
            <a:r>
              <a:rPr lang="en-US" altLang="zh-CN" dirty="0">
                <a:ea typeface="宋体" panose="02010600030101010101" pitchFamily="2" charset="-122"/>
                <a:sym typeface="+mn-ea"/>
              </a:rPr>
              <a:t>foreign name space</a:t>
            </a:r>
            <a:r>
              <a:rPr lang="zh-CN" altLang="en-US" dirty="0">
                <a:ea typeface="宋体" panose="02010600030101010101" pitchFamily="2" charset="-122"/>
                <a:sym typeface="+mn-ea"/>
              </a:rPr>
              <a:t>）的地址</a:t>
            </a:r>
            <a:endParaRPr lang="en-US" altLang="zh-CN" dirty="0">
              <a:ea typeface="宋体" panose="02010600030101010101" pitchFamily="2" charset="-122"/>
            </a:endParaRPr>
          </a:p>
          <a:p>
            <a:pPr marL="0" indent="0" algn="l" eaLnBrk="1" hangingPunct="1">
              <a:lnSpc>
                <a:spcPct val="90000"/>
              </a:lnSpc>
              <a:buNone/>
            </a:pPr>
            <a:r>
              <a:rPr lang="en-US" altLang="zh-CN" dirty="0">
                <a:ea typeface="宋体" panose="02010600030101010101" pitchFamily="2" charset="-122"/>
                <a:sym typeface="+mn-ea"/>
              </a:rPr>
              <a:t>3. The name of the mounting  point in the foreign name space</a:t>
            </a:r>
            <a:r>
              <a:rPr lang="zh-CN" altLang="en-US" dirty="0">
                <a:ea typeface="宋体" panose="02010600030101010101" pitchFamily="2" charset="-122"/>
                <a:sym typeface="+mn-ea"/>
              </a:rPr>
              <a:t>：</a:t>
            </a:r>
            <a:r>
              <a:rPr lang="en-US" altLang="zh-CN" dirty="0">
                <a:ea typeface="宋体" panose="02010600030101010101" pitchFamily="2" charset="-122"/>
                <a:sym typeface="+mn-ea"/>
              </a:rPr>
              <a:t>mounting  point</a:t>
            </a:r>
            <a:r>
              <a:rPr lang="zh-CN" altLang="en-US" dirty="0">
                <a:ea typeface="宋体" panose="02010600030101010101" pitchFamily="2" charset="-122"/>
                <a:sym typeface="+mn-ea"/>
              </a:rPr>
              <a:t>的</a:t>
            </a:r>
            <a:r>
              <a:rPr lang="en-US" altLang="zh-CN" dirty="0">
                <a:ea typeface="宋体" panose="02010600030101010101" pitchFamily="2" charset="-122"/>
                <a:sym typeface="+mn-ea"/>
              </a:rPr>
              <a:t>identifier</a:t>
            </a:r>
            <a:endParaRPr lang="en-US" altLang="zh-CN" dirty="0">
              <a:ea typeface="宋体" panose="02010600030101010101" pitchFamily="2" charset="-122"/>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27651" name="Rectangle 2"/>
          <p:cNvSpPr>
            <a:spLocks noGrp="1" noRot="1" noChangeAspect="1" noTextEdit="1"/>
          </p:cNvSpPr>
          <p:nvPr>
            <p:ph type="sldImg"/>
          </p:nvPr>
        </p:nvSpPr>
        <p:spPr/>
      </p:sp>
      <p:sp>
        <p:nvSpPr>
          <p:cNvPr id="27652" name="Rectangle 3"/>
          <p:cNvSpPr>
            <a:spLocks noGrp="1"/>
          </p:cNvSpPr>
          <p:nvPr>
            <p:ph type="body"/>
          </p:nvPr>
        </p:nvSpPr>
        <p:spPr/>
        <p:txBody>
          <a:bodyPr wrap="square" lIns="91440" tIns="45720" rIns="91440" bIns="45720" anchor="t" anchorCtr="0"/>
          <a:lstStyle/>
          <a:p>
            <a:pPr lvl="0" eaLnBrk="1" hangingPunct="1"/>
            <a:r>
              <a:rPr lang="zh-CN" altLang="zh-CN" dirty="0">
                <a:latin typeface="Arial" panose="020B0604020202020204" pitchFamily="34" charset="0"/>
                <a:ea typeface="宋体" panose="02010600030101010101" pitchFamily="2" charset="-122"/>
              </a:rPr>
              <a:t>命名解析举例：</a:t>
            </a:r>
            <a:endParaRPr lang="zh-CN" altLang="zh-CN" dirty="0">
              <a:latin typeface="Arial" panose="020B0604020202020204" pitchFamily="34" charset="0"/>
              <a:ea typeface="宋体" panose="02010600030101010101" pitchFamily="2" charset="-122"/>
            </a:endParaRPr>
          </a:p>
          <a:p>
            <a:pPr lvl="0" eaLnBrk="1" hangingPunct="1"/>
            <a:endParaRPr lang="zh-CN" altLang="zh-CN" dirty="0">
              <a:latin typeface="Arial" panose="020B0604020202020204" pitchFamily="34" charset="0"/>
              <a:ea typeface="宋体" panose="02010600030101010101" pitchFamily="2" charset="-122"/>
            </a:endParaRPr>
          </a:p>
          <a:p>
            <a:pPr lvl="0" eaLnBrk="1" hangingPunct="1"/>
            <a:endParaRPr lang="zh-CN" altLang="zh-CN" dirty="0">
              <a:latin typeface="Arial" panose="020B0604020202020204" pitchFamily="34" charset="0"/>
              <a:ea typeface="宋体" panose="02010600030101010101" pitchFamily="2" charset="-122"/>
            </a:endParaRPr>
          </a:p>
          <a:p>
            <a:pPr lvl="0" eaLnBrk="1" hangingPunct="1"/>
            <a:r>
              <a:rPr lang="zh-CN" altLang="zh-CN" dirty="0">
                <a:latin typeface="Arial" panose="020B0604020202020204" pitchFamily="34" charset="0"/>
                <a:ea typeface="宋体" panose="02010600030101010101" pitchFamily="2" charset="-122"/>
              </a:rPr>
              <a:t>远程透明文件系统命名解析：</a:t>
            </a:r>
            <a:endParaRPr lang="zh-CN" altLang="zh-CN" dirty="0">
              <a:latin typeface="Arial" panose="020B0604020202020204" pitchFamily="34" charset="0"/>
              <a:ea typeface="宋体" panose="02010600030101010101" pitchFamily="2" charset="-122"/>
            </a:endParaRPr>
          </a:p>
          <a:p>
            <a:pPr lvl="0" eaLnBrk="1" hangingPunct="1"/>
            <a:endParaRPr lang="zh-CN" altLang="zh-CN" dirty="0">
              <a:latin typeface="Arial" panose="020B0604020202020204" pitchFamily="34" charset="0"/>
              <a:ea typeface="宋体" panose="02010600030101010101" pitchFamily="2" charset="-122"/>
            </a:endParaRPr>
          </a:p>
          <a:p>
            <a:pPr lvl="0" eaLnBrk="1" hangingPunct="1"/>
            <a:r>
              <a:rPr lang="zh-CN" altLang="zh-CN" dirty="0">
                <a:latin typeface="Arial" panose="020B0604020202020204" pitchFamily="34" charset="0"/>
                <a:ea typeface="宋体" panose="02010600030101010101" pitchFamily="2" charset="-122"/>
              </a:rPr>
              <a:t>叶子节点：绝对路径地址；</a:t>
            </a:r>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en-US" altLang="zh-CN"/>
              <a:t>nfs:WWW</a:t>
            </a:r>
            <a:r>
              <a:rPr lang="zh-CN" altLang="en-US"/>
              <a:t>中公认的</a:t>
            </a:r>
            <a:r>
              <a:rPr lang="en-US" altLang="zh-CN"/>
              <a:t>nfs</a:t>
            </a:r>
            <a:r>
              <a:rPr lang="zh-CN" altLang="en-US"/>
              <a:t>通信协议；</a:t>
            </a:r>
            <a:endParaRPr lang="zh-CN" altLang="en-US"/>
          </a:p>
          <a:p>
            <a:endParaRPr lang="zh-CN" altLang="en-US"/>
          </a:p>
          <a:p>
            <a:r>
              <a:rPr lang="en-US" altLang="zh-CN"/>
              <a:t>server</a:t>
            </a:r>
            <a:r>
              <a:rPr lang="zh-CN" altLang="en-US"/>
              <a:t>：</a:t>
            </a:r>
            <a:r>
              <a:rPr lang="en-US" altLang="zh-CN"/>
              <a:t>DNS</a:t>
            </a:r>
            <a:r>
              <a:rPr lang="zh-CN" altLang="en-US"/>
              <a:t>服务找到具体地址；</a:t>
            </a:r>
            <a:endParaRPr lang="zh-CN" altLang="en-US"/>
          </a:p>
          <a:p>
            <a:endParaRPr lang="zh-CN" altLang="en-US"/>
          </a:p>
          <a:p>
            <a:r>
              <a:rPr lang="en-US" altLang="zh-CN"/>
              <a:t>/home/steen</a:t>
            </a:r>
            <a:r>
              <a:rPr lang="zh-CN" altLang="en-US"/>
              <a:t>：交由对方</a:t>
            </a:r>
            <a:r>
              <a:rPr lang="en-US" altLang="zh-CN"/>
              <a:t>server</a:t>
            </a:r>
            <a:r>
              <a:rPr lang="zh-CN" altLang="en-US"/>
              <a:t>解析；第一个是根目录节点</a:t>
            </a:r>
            <a:endParaRPr lang="zh-CN" altLang="en-US"/>
          </a:p>
          <a:p>
            <a:endParaRPr lang="zh-CN" altLang="en-US"/>
          </a:p>
          <a:p>
            <a:r>
              <a:rPr lang="zh-CN" altLang="en-US"/>
              <a:t>解析工作由分布式系统完成，上层</a:t>
            </a:r>
            <a:r>
              <a:rPr lang="en-US" altLang="zh-CN"/>
              <a:t>client</a:t>
            </a:r>
            <a:r>
              <a:rPr lang="zh-CN" altLang="en-US"/>
              <a:t>看到两个命名空间是一体的，透明性；</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zh-CN" altLang="en-US"/>
              <a:t>另一种方式：合并；</a:t>
            </a:r>
            <a:endParaRPr lang="zh-CN" altLang="en-US"/>
          </a:p>
          <a:p>
            <a:endParaRPr lang="zh-CN" altLang="en-US"/>
          </a:p>
          <a:p>
            <a:r>
              <a:rPr lang="zh-CN" altLang="en-US"/>
              <a:t>问题：需要改名：绝对路径：默认根目录节点变为子节点：名字变为</a:t>
            </a:r>
            <a:r>
              <a:rPr lang="en-US" altLang="zh-CN"/>
              <a:t>vu</a:t>
            </a:r>
            <a:r>
              <a:rPr lang="zh-CN" altLang="en-US"/>
              <a:t>；前边加新的默认根节点</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zh-CN" altLang="en-US"/>
              <a:t>命名空间（</a:t>
            </a:r>
            <a:r>
              <a:rPr lang="zh-CN" altLang="en-US"/>
              <a:t>数据结构）是命名</a:t>
            </a:r>
            <a:r>
              <a:rPr lang="zh-CN" altLang="en-US"/>
              <a:t>系统服务的核心：允许用户增，删，查找名字；一个命名服务由一群命名</a:t>
            </a:r>
            <a:r>
              <a:rPr lang="en-US" altLang="zh-CN"/>
              <a:t>server</a:t>
            </a:r>
            <a:r>
              <a:rPr lang="zh-CN" altLang="en-US"/>
              <a:t>构成；</a:t>
            </a:r>
            <a:endParaRPr lang="zh-CN" altLang="en-US"/>
          </a:p>
          <a:p>
            <a:endParaRPr lang="zh-CN" altLang="en-US"/>
          </a:p>
          <a:p>
            <a:r>
              <a:rPr lang="en-US" altLang="zh-CN"/>
              <a:t>large-scale</a:t>
            </a:r>
            <a:r>
              <a:rPr lang="zh-CN" altLang="en-US"/>
              <a:t>：分层组织；实例：</a:t>
            </a:r>
            <a:r>
              <a:rPr lang="en-US" altLang="zh-CN"/>
              <a:t>DNS</a:t>
            </a:r>
            <a:r>
              <a:rPr lang="zh-CN" altLang="en-US"/>
              <a:t>命名服务；</a:t>
            </a:r>
            <a:endParaRPr lang="zh-CN" altLang="en-US"/>
          </a:p>
          <a:p>
            <a:endParaRPr lang="zh-CN" altLang="en-US"/>
          </a:p>
          <a:p>
            <a:r>
              <a:rPr lang="zh-CN" altLang="en-US"/>
              <a:t>查找实例：</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en-US" altLang="zh-CN">
                <a:ln>
                  <a:noFill/>
                </a:ln>
                <a:effectLst/>
                <a:latin typeface="Arial" panose="020B0604020202020204" pitchFamily="34" charset="0"/>
                <a:ea typeface="宋体" panose="02010600030101010101" pitchFamily="2" charset="-122"/>
                <a:sym typeface="+mn-ea"/>
              </a:rPr>
              <a:t>Responsiveness to lookups</a:t>
            </a:r>
            <a:r>
              <a:rPr lang="zh-CN" altLang="en-US">
                <a:ln>
                  <a:noFill/>
                </a:ln>
                <a:effectLst/>
                <a:latin typeface="Arial" panose="020B0604020202020204" pitchFamily="34" charset="0"/>
                <a:ea typeface="宋体" panose="02010600030101010101" pitchFamily="2" charset="-122"/>
                <a:sym typeface="+mn-ea"/>
              </a:rPr>
              <a:t>：</a:t>
            </a:r>
            <a:r>
              <a:rPr lang="en-US" altLang="zh-CN" b="1" dirty="0">
                <a:ln>
                  <a:noFill/>
                </a:ln>
                <a:solidFill>
                  <a:srgbClr val="FF0000"/>
                </a:solidFill>
                <a:effectLst/>
                <a:latin typeface="Arial" panose="020B0604020202020204" pitchFamily="34" charset="0"/>
                <a:ea typeface="宋体" panose="02010600030101010101" pitchFamily="2" charset="-122"/>
                <a:sym typeface="+mn-ea"/>
              </a:rPr>
              <a:t>Global</a:t>
            </a:r>
            <a:r>
              <a:rPr lang="zh-CN" altLang="en-US" b="1" dirty="0">
                <a:ln>
                  <a:noFill/>
                </a:ln>
                <a:solidFill>
                  <a:srgbClr val="FF0000"/>
                </a:solidFill>
                <a:effectLst/>
                <a:latin typeface="Arial" panose="020B0604020202020204" pitchFamily="34" charset="0"/>
                <a:ea typeface="宋体" panose="02010600030101010101" pitchFamily="2" charset="-122"/>
                <a:sym typeface="+mn-ea"/>
              </a:rPr>
              <a:t>：因为可以</a:t>
            </a:r>
            <a:r>
              <a:rPr lang="en-US" altLang="zh-CN" b="1" dirty="0">
                <a:ln>
                  <a:noFill/>
                </a:ln>
                <a:solidFill>
                  <a:srgbClr val="FF0000"/>
                </a:solidFill>
                <a:effectLst/>
                <a:latin typeface="Arial" panose="020B0604020202020204" pitchFamily="34" charset="0"/>
                <a:ea typeface="宋体" panose="02010600030101010101" pitchFamily="2" charset="-122"/>
                <a:sym typeface="+mn-ea"/>
              </a:rPr>
              <a:t>cache</a:t>
            </a:r>
            <a:r>
              <a:rPr lang="zh-CN" altLang="en-US" b="1" dirty="0">
                <a:ln>
                  <a:noFill/>
                </a:ln>
                <a:solidFill>
                  <a:srgbClr val="FF0000"/>
                </a:solidFill>
                <a:effectLst/>
                <a:latin typeface="Arial" panose="020B0604020202020204" pitchFamily="34" charset="0"/>
                <a:ea typeface="宋体" panose="02010600030101010101" pitchFamily="2" charset="-122"/>
                <a:sym typeface="+mn-ea"/>
              </a:rPr>
              <a:t>，所以查询速度不需要太快</a:t>
            </a:r>
            <a:endParaRPr kumimoji="0" lang="en-US" altLang="zh-CN"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endParaRPr lang="zh-CN" altLang="en-US"/>
          </a:p>
          <a:p>
            <a:r>
              <a:rPr lang="en-US" altLang="zh-CN" dirty="0">
                <a:ln>
                  <a:noFill/>
                </a:ln>
                <a:effectLst/>
                <a:latin typeface="Arial" panose="020B0604020202020204" pitchFamily="34" charset="0"/>
                <a:ea typeface="宋体" panose="02010600030101010101" pitchFamily="2" charset="-122"/>
                <a:sym typeface="+mn-ea"/>
              </a:rPr>
              <a:t>Number of replicas</a:t>
            </a:r>
            <a:r>
              <a:rPr lang="zh-CN" altLang="en-US" dirty="0">
                <a:ln>
                  <a:noFill/>
                </a:ln>
                <a:effectLst/>
                <a:latin typeface="Arial" panose="020B0604020202020204" pitchFamily="34" charset="0"/>
                <a:ea typeface="宋体" panose="02010600030101010101" pitchFamily="2" charset="-122"/>
                <a:sym typeface="+mn-ea"/>
              </a:rPr>
              <a:t>：上层需要可用性；</a:t>
            </a:r>
            <a:endParaRPr lang="zh-CN" altLang="en-US" dirty="0">
              <a:ln>
                <a:noFill/>
              </a:ln>
              <a:effectLst/>
              <a:latin typeface="Arial" panose="020B0604020202020204" pitchFamily="34" charset="0"/>
              <a:ea typeface="宋体" panose="02010600030101010101" pitchFamily="2" charset="-122"/>
              <a:sym typeface="+mn-ea"/>
            </a:endParaRPr>
          </a:p>
          <a:p>
            <a:endParaRPr kumimoji="0" lang="zh-CN" altLang="en-US"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mn-ea"/>
            </a:endParaRPr>
          </a:p>
          <a:p>
            <a:r>
              <a:rPr lang="zh-CN" altLang="en-US" dirty="0">
                <a:ln>
                  <a:noFill/>
                </a:ln>
                <a:effectLst/>
                <a:latin typeface="Arial" panose="020B0604020202020204" pitchFamily="34" charset="0"/>
                <a:ea typeface="宋体" panose="02010600030101010101" pitchFamily="2" charset="-122"/>
                <a:sym typeface="+mn-ea"/>
              </a:rPr>
              <a:t>域和</a:t>
            </a:r>
            <a:r>
              <a:rPr lang="en-US" altLang="zh-CN" dirty="0">
                <a:ln>
                  <a:noFill/>
                </a:ln>
                <a:effectLst/>
                <a:latin typeface="Arial" panose="020B0604020202020204" pitchFamily="34" charset="0"/>
                <a:ea typeface="宋体" panose="02010600030101010101" pitchFamily="2" charset="-122"/>
                <a:sym typeface="+mn-ea"/>
              </a:rPr>
              <a:t>domain</a:t>
            </a:r>
            <a:r>
              <a:rPr lang="zh-CN" altLang="en-US" dirty="0">
                <a:ln>
                  <a:noFill/>
                </a:ln>
                <a:effectLst/>
                <a:latin typeface="Arial" panose="020B0604020202020204" pitchFamily="34" charset="0"/>
                <a:ea typeface="宋体" panose="02010600030101010101" pitchFamily="2" charset="-122"/>
                <a:sym typeface="+mn-ea"/>
              </a:rPr>
              <a:t>的区别？</a:t>
            </a:r>
            <a:endParaRPr kumimoji="0" lang="en-US" altLang="zh-CN"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37891" name="Rectangle 2"/>
          <p:cNvSpPr>
            <a:spLocks noGrp="1" noRot="1" noChangeAspect="1" noTextEdit="1"/>
          </p:cNvSpPr>
          <p:nvPr>
            <p:ph type="sldImg"/>
          </p:nvPr>
        </p:nvSpPr>
        <p:spPr/>
      </p:sp>
      <p:sp>
        <p:nvSpPr>
          <p:cNvPr id="37892" name="Rectangle 3"/>
          <p:cNvSpPr>
            <a:spLocks noGrp="1"/>
          </p:cNvSpPr>
          <p:nvPr>
            <p:ph type="body"/>
          </p:nvPr>
        </p:nvSpPr>
        <p:spPr/>
        <p:txBody>
          <a:bodyPr wrap="square" lIns="91440" tIns="45720" rIns="91440" bIns="45720" anchor="t" anchorCtr="0"/>
          <a:lstStyle/>
          <a:p>
            <a:pPr lvl="0" eaLnBrk="1" hangingPunct="1"/>
            <a:r>
              <a:rPr lang="en-US" altLang="zh-CN" dirty="0">
                <a:ea typeface="宋体" panose="02010600030101010101" pitchFamily="2" charset="-122"/>
              </a:rPr>
              <a:t>flat names are good for machines, but are generally not very convenient for humans to use. As an alternative, naming systems generally support structured names that are composed from simple human readable names.</a:t>
            </a:r>
            <a:endParaRPr lang="en-US" altLang="zh-CN" dirty="0">
              <a:ea typeface="宋体" panose="02010600030101010101" pitchFamily="2" charset="-122"/>
            </a:endParaRPr>
          </a:p>
          <a:p>
            <a:pPr lvl="0" eaLnBrk="1" hangingPunct="1"/>
            <a:r>
              <a:rPr lang="en-US" altLang="zh-CN" dirty="0">
                <a:ea typeface="宋体" panose="02010600030101010101" pitchFamily="2" charset="-122"/>
              </a:rPr>
              <a:t>Finally, humans often prefer to describe entities by means of various characteristics, leading to a situation in which we need to resolve a description by means of attributes to an entity adhering to that description. This type of name resolution is notoriously difficult and we will pay separate attention to it.</a:t>
            </a:r>
            <a:endParaRPr lang="en-US" altLang="zh-CN"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zh-CN" altLang="en-US"/>
              <a:t>给出</a:t>
            </a:r>
            <a:r>
              <a:rPr lang="en-US" altLang="zh-CN"/>
              <a:t>IP</a:t>
            </a:r>
            <a:r>
              <a:rPr lang="zh-CN" altLang="en-US"/>
              <a:t>地址，查找</a:t>
            </a:r>
            <a:r>
              <a:rPr lang="en-US" altLang="zh-CN"/>
              <a:t>MAC</a:t>
            </a:r>
            <a:r>
              <a:rPr lang="zh-CN" altLang="en-US"/>
              <a:t>地址；</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p:sp>
      <p:sp>
        <p:nvSpPr>
          <p:cNvPr id="41987" name="备注占位符 2"/>
          <p:cNvSpPr>
            <a:spLocks noGrp="1"/>
          </p:cNvSpPr>
          <p:nvPr>
            <p:ph type="body" idx="1"/>
          </p:nvPr>
        </p:nvSpPr>
        <p:spPr/>
        <p:txBody>
          <a:bodyPr wrap="square" lIns="91440" tIns="45720" rIns="91440" bIns="45720" anchor="t" anchorCtr="0"/>
          <a:lstStyle/>
          <a:p>
            <a:pPr lvl="0"/>
            <a:r>
              <a:rPr lang="zh-CN" altLang="en-US" dirty="0">
                <a:ea typeface="宋体" panose="02010600030101010101" pitchFamily="2" charset="-122"/>
              </a:rPr>
              <a:t>分布式对象；</a:t>
            </a:r>
            <a:endParaRPr lang="zh-CN" altLang="en-US" dirty="0">
              <a:ea typeface="宋体" panose="02010600030101010101" pitchFamily="2" charset="-122"/>
            </a:endParaRPr>
          </a:p>
          <a:p>
            <a:pPr lvl="0"/>
            <a:endParaRPr lang="zh-CN" altLang="en-US" dirty="0">
              <a:ea typeface="宋体" panose="02010600030101010101" pitchFamily="2" charset="-122"/>
            </a:endParaRPr>
          </a:p>
          <a:p>
            <a:pPr lvl="0"/>
            <a:r>
              <a:rPr lang="zh-CN" altLang="en-US" dirty="0">
                <a:ea typeface="宋体" panose="02010600030101010101" pitchFamily="2" charset="-122"/>
              </a:rPr>
              <a:t>透明性：</a:t>
            </a:r>
            <a:r>
              <a:rPr lang="en-US" altLang="zh-CN" dirty="0">
                <a:ea typeface="宋体" panose="02010600030101010101" pitchFamily="2" charset="-122"/>
              </a:rPr>
              <a:t>client stub</a:t>
            </a:r>
            <a:r>
              <a:rPr lang="zh-CN" altLang="en-US" dirty="0">
                <a:ea typeface="宋体" panose="02010600030101010101" pitchFamily="2" charset="-122"/>
              </a:rPr>
              <a:t>和</a:t>
            </a:r>
            <a:r>
              <a:rPr lang="en-US" altLang="zh-CN" dirty="0">
                <a:ea typeface="宋体" panose="02010600030101010101" pitchFamily="2" charset="-122"/>
              </a:rPr>
              <a:t>server stub</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419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zh-CN" altLang="en-US"/>
              <a:t>已有方案：分布式；</a:t>
            </a:r>
            <a:endParaRPr lang="zh-CN" altLang="en-US"/>
          </a:p>
          <a:p>
            <a:r>
              <a:rPr lang="zh-CN" altLang="en-US"/>
              <a:t>开销问题；</a:t>
            </a:r>
            <a:endParaRPr lang="zh-CN" altLang="en-US"/>
          </a:p>
          <a:p>
            <a:endParaRPr lang="zh-CN" altLang="en-US"/>
          </a:p>
          <a:p>
            <a:r>
              <a:rPr lang="en-US" altLang="zh-CN"/>
              <a:t>home</a:t>
            </a:r>
            <a:r>
              <a:rPr lang="zh-CN" altLang="en-US"/>
              <a:t>方案：集中式；</a:t>
            </a:r>
            <a:r>
              <a:rPr lang="en-US" altLang="zh-CN"/>
              <a:t>keep track</a:t>
            </a:r>
            <a:endParaRPr lang="zh-CN" altLang="en-US"/>
          </a:p>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46083" name="Rectangle 2"/>
          <p:cNvSpPr>
            <a:spLocks noGrp="1" noRot="1" noChangeAspect="1" noTextEdit="1"/>
          </p:cNvSpPr>
          <p:nvPr>
            <p:ph type="sldImg"/>
          </p:nvPr>
        </p:nvSpPr>
        <p:spPr/>
      </p:sp>
      <p:sp>
        <p:nvSpPr>
          <p:cNvPr id="46084" name="Rectangle 3"/>
          <p:cNvSpPr>
            <a:spLocks noGrp="1"/>
          </p:cNvSpPr>
          <p:nvPr>
            <p:ph type="body"/>
          </p:nvPr>
        </p:nvSpPr>
        <p:spPr/>
        <p:txBody>
          <a:bodyPr wrap="square" lIns="91440" tIns="45720" rIns="91440" bIns="45720" anchor="t" anchorCtr="0"/>
          <a:lstStyle/>
          <a:p>
            <a:pPr lvl="0" eaLnBrk="1" hangingPunct="1"/>
            <a:r>
              <a:rPr lang="en-US" altLang="zh-CN" dirty="0">
                <a:ea typeface="宋体" panose="02010600030101010101" pitchFamily="2" charset="-122"/>
              </a:rPr>
              <a:t>A solution to this problem is to register the home at a traditional naming service and to let a client first look up the location of the home. Because the home location can be assumed to be relatively stable, that location can be effectively cached after it has been looked up.</a:t>
            </a:r>
            <a:endParaRPr lang="en-US" altLang="zh-CN"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p:txBody>
          <a:bodyPr wrap="square" lIns="91440" tIns="45720" rIns="91440" bIns="45720" anchor="t" anchorCtr="0"/>
          <a:lstStyle/>
          <a:p>
            <a:pPr lvl="0"/>
            <a:r>
              <a:rPr lang="zh-CN" altLang="en-US" dirty="0">
                <a:ea typeface="宋体" panose="02010600030101010101" pitchFamily="2" charset="-122"/>
              </a:rPr>
              <a:t>实体：数据</a:t>
            </a:r>
            <a:endParaRPr lang="en-US" altLang="zh-CN" dirty="0">
              <a:ea typeface="宋体" panose="02010600030101010101" pitchFamily="2" charset="-122"/>
            </a:endParaRPr>
          </a:p>
          <a:p>
            <a:pPr lvl="0"/>
            <a:r>
              <a:rPr lang="zh-CN" altLang="en-US" dirty="0">
                <a:ea typeface="宋体" panose="02010600030101010101" pitchFamily="2" charset="-122"/>
              </a:rPr>
              <a:t>命名：</a:t>
            </a:r>
            <a:r>
              <a:rPr lang="en-US" altLang="zh-CN" dirty="0">
                <a:ea typeface="宋体" panose="02010600030101010101" pitchFamily="2" charset="-122"/>
              </a:rPr>
              <a:t>key</a:t>
            </a:r>
            <a:r>
              <a:rPr lang="zh-CN" altLang="en-US" dirty="0">
                <a:ea typeface="宋体" panose="02010600030101010101" pitchFamily="2" charset="-122"/>
              </a:rPr>
              <a:t>，实体内容：</a:t>
            </a:r>
            <a:r>
              <a:rPr lang="en-US" altLang="zh-CN" dirty="0">
                <a:ea typeface="宋体" panose="02010600030101010101" pitchFamily="2" charset="-122"/>
              </a:rPr>
              <a:t>value</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481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开放环境，有些节点退出，故障，新加入；</a:t>
            </a:r>
            <a:endParaRPr lang="en-US" altLang="zh-CN" dirty="0"/>
          </a:p>
          <a:p>
            <a:endParaRPr lang="en-US" altLang="zh-CN" dirty="0"/>
          </a:p>
          <a:p>
            <a:r>
              <a:rPr lang="zh-CN" altLang="en-US" dirty="0"/>
              <a:t>一个用户可以联系任意一个节点开始查找；</a:t>
            </a:r>
            <a:endParaRPr lang="en-US" altLang="zh-CN" dirty="0"/>
          </a:p>
          <a:p>
            <a:endParaRPr lang="en-US" altLang="zh-CN" dirty="0"/>
          </a:p>
          <a:p>
            <a:endParaRPr lang="en-US" altLang="zh-CN" dirty="0"/>
          </a:p>
          <a:p>
            <a:endParaRPr lang="en-US" altLang="zh-CN" dirty="0"/>
          </a:p>
          <a:p>
            <a:r>
              <a:rPr lang="zh-CN" altLang="en-US" dirty="0"/>
              <a:t>数据切片思想；</a:t>
            </a:r>
            <a:endParaRPr lang="en-US" altLang="zh-CN" dirty="0"/>
          </a:p>
          <a:p>
            <a:r>
              <a:rPr lang="zh-CN" altLang="en-US" dirty="0"/>
              <a:t>跳表思想；</a:t>
            </a: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节点加入，节点离开；</a:t>
            </a:r>
            <a:endParaRPr lang="en-US" altLang="zh-CN" dirty="0"/>
          </a:p>
          <a:p>
            <a:endParaRPr lang="en-US" altLang="zh-CN" dirty="0"/>
          </a:p>
          <a:p>
            <a:r>
              <a:rPr lang="en-US" altLang="zh-CN" dirty="0" err="1"/>
              <a:t>Succ</a:t>
            </a:r>
            <a:r>
              <a:rPr lang="zh-CN" altLang="en-US" dirty="0"/>
              <a:t>如何实现就需要另外一套机制，网络层做的事情；</a:t>
            </a: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zh-CN" altLang="en-US" dirty="0"/>
              <a:t>域：社会层级管理结构</a:t>
            </a:r>
            <a:endParaRPr lang="en-US" altLang="zh-CN" dirty="0"/>
          </a:p>
          <a:p>
            <a:endParaRPr lang="en-US" altLang="zh-CN" dirty="0"/>
          </a:p>
          <a:p>
            <a:r>
              <a:rPr lang="zh-CN" altLang="en-US" dirty="0"/>
              <a:t>实体：命名：唯一标识</a:t>
            </a:r>
            <a:endParaRPr lang="en-US" altLang="zh-CN" dirty="0"/>
          </a:p>
          <a:p>
            <a:endParaRPr lang="en-US" altLang="zh-CN" dirty="0"/>
          </a:p>
          <a:p>
            <a:r>
              <a:rPr lang="zh-CN" altLang="en-US" dirty="0"/>
              <a:t>叶子域：区域网或者基站；包含多个实体；</a:t>
            </a:r>
            <a:endParaRPr lang="zh-CN" altLang="en-US" dirty="0"/>
          </a:p>
          <a:p>
            <a:endParaRPr lang="zh-CN" altLang="en-US" dirty="0"/>
          </a:p>
          <a:p>
            <a:r>
              <a:rPr lang="zh-CN" altLang="en-US" dirty="0"/>
              <a:t>每个域一个目录节点；包含了该域下的所有实体位置；</a:t>
            </a:r>
            <a:endParaRPr lang="en-US" altLang="zh-CN" dirty="0"/>
          </a:p>
          <a:p>
            <a:endParaRPr lang="en-US" altLang="zh-CN" dirty="0"/>
          </a:p>
          <a:p>
            <a:endParaRPr lang="en-US" altLang="zh-CN" dirty="0"/>
          </a:p>
          <a:p>
            <a:r>
              <a:rPr lang="zh-CN" altLang="en-US" dirty="0"/>
              <a:t>目录节点：该域中所有实体都对应一个记录；</a:t>
            </a:r>
            <a:endParaRPr lang="en-US" altLang="zh-CN" dirty="0"/>
          </a:p>
          <a:p>
            <a:endParaRPr lang="en-US" altLang="zh-CN" dirty="0"/>
          </a:p>
          <a:p>
            <a:r>
              <a:rPr lang="zh-CN" altLang="en-US" dirty="0"/>
              <a:t>一个实体会在多个域的目录节点中出现；</a:t>
            </a:r>
            <a:endParaRPr lang="zh-CN" altLang="en-US" dirty="0"/>
          </a:p>
          <a:p>
            <a:endParaRPr lang="zh-CN" altLang="en-US" dirty="0"/>
          </a:p>
          <a:p>
            <a:r>
              <a:rPr lang="zh-CN" altLang="en-US" dirty="0">
                <a:sym typeface="+mn-ea"/>
              </a:rPr>
              <a:t>叶子域目录节点：一个记录：（实体名，实体的地址）</a:t>
            </a:r>
            <a:endParaRPr lang="zh-CN" altLang="en-US" dirty="0">
              <a:sym typeface="+mn-ea"/>
            </a:endParaRPr>
          </a:p>
          <a:p>
            <a:r>
              <a:rPr lang="zh-CN" altLang="en-US" dirty="0">
                <a:sym typeface="+mn-ea"/>
              </a:rPr>
              <a:t>其他域目录节点：一个记录：（实体名，指针：指向该实体所在叶子域）</a:t>
            </a:r>
            <a:endParaRPr lang="zh-CN" altLang="en-US" dirty="0">
              <a:sym typeface="+mn-ea"/>
            </a:endParaRPr>
          </a:p>
          <a:p>
            <a:endParaRPr lang="zh-CN" altLang="en-US" dirty="0">
              <a:sym typeface="+mn-ea"/>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p:nvPr>
        </p:nvSpPr>
        <p:spPr/>
        <p:txBody>
          <a:bodyPr wrap="square" lIns="91440" tIns="45720" rIns="91440" bIns="45720" anchor="t" anchorCtr="0"/>
          <a:lstStyle/>
          <a:p>
            <a:pPr lvl="0"/>
            <a:r>
              <a:rPr lang="zh-CN" altLang="en-US" dirty="0">
                <a:ea typeface="宋体" panose="02010600030101010101" pitchFamily="2" charset="-122"/>
              </a:rPr>
              <a:t>支持移动实体；</a:t>
            </a:r>
            <a:endParaRPr lang="zh-CN" altLang="en-US" dirty="0">
              <a:ea typeface="宋体" panose="02010600030101010101" pitchFamily="2" charset="-122"/>
            </a:endParaRPr>
          </a:p>
          <a:p>
            <a:pPr lvl="0"/>
            <a:endParaRPr lang="zh-CN" altLang="en-US" dirty="0">
              <a:ea typeface="宋体" panose="02010600030101010101" pitchFamily="2" charset="-122"/>
            </a:endParaRPr>
          </a:p>
          <a:p>
            <a:pPr lvl="0"/>
            <a:r>
              <a:rPr lang="zh-CN" altLang="en-US" dirty="0">
                <a:ea typeface="宋体" panose="02010600030101010101" pitchFamily="2" charset="-122"/>
              </a:rPr>
              <a:t>在查找路径上缓存；</a:t>
            </a:r>
            <a:endParaRPr lang="zh-CN" altLang="en-US" dirty="0">
              <a:ea typeface="宋体" panose="02010600030101010101" pitchFamily="2" charset="-122"/>
            </a:endParaRPr>
          </a:p>
        </p:txBody>
      </p:sp>
      <p:sp>
        <p:nvSpPr>
          <p:cNvPr id="583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p:nvPr>
        </p:nvSpPr>
        <p:spPr/>
        <p:txBody>
          <a:bodyPr wrap="square" lIns="91440" tIns="45720" rIns="91440" bIns="45720" anchor="t" anchorCtr="0"/>
          <a:lstStyle/>
          <a:p>
            <a:pPr lvl="0"/>
            <a:r>
              <a:rPr lang="zh-CN" altLang="en-US" dirty="0">
                <a:ea typeface="宋体" panose="02010600030101010101" pitchFamily="2" charset="-122"/>
              </a:rPr>
              <a:t>分片：</a:t>
            </a:r>
            <a:endParaRPr lang="zh-CN" altLang="en-US" dirty="0">
              <a:ea typeface="宋体" panose="02010600030101010101" pitchFamily="2" charset="-122"/>
            </a:endParaRPr>
          </a:p>
          <a:p>
            <a:pPr lvl="0"/>
            <a:endParaRPr lang="zh-CN" altLang="en-US" dirty="0">
              <a:ea typeface="宋体" panose="02010600030101010101" pitchFamily="2" charset="-122"/>
            </a:endParaRPr>
          </a:p>
          <a:p>
            <a:pPr lvl="0"/>
            <a:r>
              <a:rPr lang="zh-CN" altLang="en-US" dirty="0">
                <a:ea typeface="宋体" panose="02010600030101010101" pitchFamily="2" charset="-122"/>
              </a:rPr>
              <a:t>集中式数据中心：网络拥塞</a:t>
            </a:r>
            <a:endParaRPr lang="zh-CN" altLang="en-US" dirty="0">
              <a:ea typeface="宋体" panose="02010600030101010101" pitchFamily="2" charset="-122"/>
            </a:endParaRPr>
          </a:p>
          <a:p>
            <a:pPr lvl="0"/>
            <a:endParaRPr lang="zh-CN" altLang="en-US" dirty="0">
              <a:ea typeface="宋体" panose="02010600030101010101" pitchFamily="2" charset="-122"/>
            </a:endParaRPr>
          </a:p>
          <a:p>
            <a:pPr lvl="0"/>
            <a:r>
              <a:rPr lang="zh-CN" altLang="en-US" dirty="0">
                <a:ea typeface="宋体" panose="02010600030101010101" pitchFamily="2" charset="-122"/>
              </a:rPr>
              <a:t>分散式：哪个子节点存储哪个请求？</a:t>
            </a:r>
            <a:endParaRPr lang="zh-CN" altLang="en-US" dirty="0">
              <a:ea typeface="宋体" panose="02010600030101010101" pitchFamily="2" charset="-122"/>
            </a:endParaRPr>
          </a:p>
        </p:txBody>
      </p:sp>
      <p:sp>
        <p:nvSpPr>
          <p:cNvPr id="604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54275" name="Rectangle 2"/>
          <p:cNvSpPr>
            <a:spLocks noGrp="1" noRot="1" noChangeAspect="1" noTextEdit="1"/>
          </p:cNvSpPr>
          <p:nvPr>
            <p:ph type="sldImg"/>
          </p:nvPr>
        </p:nvSpPr>
        <p:spPr/>
      </p:sp>
      <p:sp>
        <p:nvSpPr>
          <p:cNvPr id="54276" name="Rectangle 3"/>
          <p:cNvSpPr>
            <a:spLocks noGrp="1"/>
          </p:cNvSpPr>
          <p:nvPr>
            <p:ph type="body"/>
          </p:nvPr>
        </p:nvSpPr>
        <p:spPr/>
        <p:txBody>
          <a:bodyPr wrap="square" lIns="91440" tIns="45720" rIns="91440" bIns="45720" anchor="t" anchorCtr="0"/>
          <a:lstStyle/>
          <a:p>
            <a:pPr lvl="0" eaLnBrk="1" hangingPunct="1"/>
            <a:r>
              <a:rPr lang="en-US" altLang="zh-CN" dirty="0">
                <a:ea typeface="宋体" panose="02010600030101010101" pitchFamily="2" charset="-122"/>
              </a:rPr>
              <a:t>flat names are good for machines, but are generally not very convenient for humans to use. As an alternative, naming systems generally support structured names that are composed from simple huamn readable names.</a:t>
            </a:r>
            <a:endParaRPr lang="en-US" altLang="zh-CN"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33795" name="Rectangle 2"/>
          <p:cNvSpPr>
            <a:spLocks noGrp="1" noRot="1" noChangeAspect="1" noTextEdit="1"/>
          </p:cNvSpPr>
          <p:nvPr>
            <p:ph type="sldImg"/>
          </p:nvPr>
        </p:nvSpPr>
        <p:spPr/>
      </p:sp>
      <p:sp>
        <p:nvSpPr>
          <p:cNvPr id="33796" name="Rectangle 3"/>
          <p:cNvSpPr>
            <a:spLocks noGrp="1"/>
          </p:cNvSpPr>
          <p:nvPr>
            <p:ph type="body"/>
          </p:nvPr>
        </p:nvSpPr>
        <p:spPr/>
        <p:txBody>
          <a:bodyPr wrap="square" lIns="91440" tIns="45720" rIns="91440" bIns="45720" anchor="t" anchorCtr="0"/>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域：社会层级管理结构</a:t>
            </a:r>
            <a:endParaRPr lang="en-US" altLang="zh-CN" dirty="0"/>
          </a:p>
          <a:p>
            <a:pPr lvl="0" eaLnBrk="1" hangingPunct="1"/>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zh-CN" altLang="en-US" dirty="0">
                <a:ea typeface="宋体" panose="02010600030101010101" pitchFamily="2" charset="-122"/>
              </a:rPr>
              <a:t>每个节点有一个</a:t>
            </a:r>
            <a:r>
              <a:rPr lang="en-US" altLang="zh-CN" dirty="0">
                <a:ea typeface="宋体" panose="02010600030101010101" pitchFamily="2" charset="-122"/>
              </a:rPr>
              <a:t>identifier</a:t>
            </a:r>
            <a:r>
              <a:rPr lang="zh-CN" altLang="en-US" dirty="0">
                <a:ea typeface="宋体" panose="02010600030101010101" pitchFamily="2" charset="-122"/>
              </a:rPr>
              <a:t>；一个</a:t>
            </a:r>
            <a:r>
              <a:rPr lang="en-US" altLang="zh-CN" dirty="0">
                <a:ea typeface="宋体" panose="02010600030101010101" pitchFamily="2" charset="-122"/>
              </a:rPr>
              <a:t>identifier</a:t>
            </a:r>
            <a:r>
              <a:rPr lang="zh-CN" altLang="en-US" dirty="0">
                <a:ea typeface="宋体" panose="02010600030101010101" pitchFamily="2" charset="-122"/>
              </a:rPr>
              <a:t>对应一个</a:t>
            </a:r>
            <a:r>
              <a:rPr lang="en-US" altLang="zh-CN" dirty="0">
                <a:ea typeface="宋体" panose="02010600030101010101" pitchFamily="2" charset="-122"/>
              </a:rPr>
              <a:t>name</a:t>
            </a:r>
            <a:r>
              <a:rPr lang="zh-CN" altLang="en-US" dirty="0">
                <a:ea typeface="宋体" panose="02010600030101010101" pitchFamily="2" charset="-122"/>
              </a:rPr>
              <a:t>；</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叶子节点：带名字的一个实体；无输出边；</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存储内容：所代表实体的信息：地址，状态；</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目录节点：输出边：每个边表示一个名字；映射目录；（根节点）</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路径：路径名：某个节点的</a:t>
            </a:r>
            <a:r>
              <a:rPr lang="en-US" altLang="zh-CN" dirty="0">
                <a:ea typeface="宋体" panose="02010600030101010101" pitchFamily="2" charset="-122"/>
              </a:rPr>
              <a:t>identifier</a:t>
            </a:r>
            <a:r>
              <a:rPr lang="zh-CN" altLang="en-US" dirty="0">
                <a:ea typeface="宋体" panose="02010600030101010101" pitchFamily="2" charset="-122"/>
              </a:rPr>
              <a:t>打头，后边各边名字连接；</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相对路径名；绝对路径名；</a:t>
            </a:r>
            <a:endParaRPr lang="zh-CN" altLang="en-US" dirty="0">
              <a:ea typeface="宋体" panose="02010600030101010101" pitchFamily="2" charset="-122"/>
            </a:endParaRPr>
          </a:p>
          <a:p>
            <a:pPr lvl="0" eaLnBrk="1" hangingPunct="1"/>
            <a:endParaRPr lang="zh-CN" altLang="en-US" dirty="0">
              <a:ea typeface="宋体" panose="02010600030101010101" pitchFamily="2" charset="-122"/>
            </a:endParaRPr>
          </a:p>
          <a:p>
            <a:pPr lvl="0" eaLnBrk="1" hangingPunct="1"/>
            <a:r>
              <a:rPr lang="zh-CN" altLang="en-US" dirty="0">
                <a:ea typeface="宋体" panose="02010600030101010101" pitchFamily="2" charset="-122"/>
              </a:rPr>
              <a:t>每个节点有唯一的绝对路径名</a:t>
            </a:r>
            <a:r>
              <a:rPr lang="zh-CN" altLang="en-US" dirty="0">
                <a:ea typeface="+mn-ea"/>
              </a:rPr>
              <a:t>；用作实体的命名，可唯一标识；</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en-US" altLang="zh-CN" dirty="0">
                <a:ea typeface="宋体" panose="02010600030101010101" pitchFamily="2" charset="-122"/>
              </a:rPr>
              <a:t>Path, local name, absolute name</a:t>
            </a:r>
            <a:endParaRPr lang="en-US" altLang="zh-CN" dirty="0">
              <a:ea typeface="宋体" panose="02010600030101010101" pitchFamily="2" charset="-122"/>
            </a:endParaRPr>
          </a:p>
          <a:p>
            <a:pPr lvl="0" eaLnBrk="1" hangingPunct="1"/>
            <a:r>
              <a:rPr lang="en-US" altLang="zh-CN" dirty="0">
                <a:ea typeface="宋体" panose="02010600030101010101" pitchFamily="2" charset="-122"/>
              </a:rPr>
              <a:t>Should it be a tree, DAG(Directed acyclic graph), allow cycles?</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en-US" altLang="zh-CN" dirty="0">
                <a:ea typeface="宋体" panose="02010600030101010101" pitchFamily="2" charset="-122"/>
              </a:rPr>
              <a:t>Cycles might be convenient, if we want to order things more.</a:t>
            </a:r>
            <a:endParaRPr lang="en-US" altLang="zh-CN" dirty="0">
              <a:ea typeface="宋体" panose="02010600030101010101" pitchFamily="2" charset="-122"/>
            </a:endParaRPr>
          </a:p>
          <a:p>
            <a:pPr lvl="0" eaLnBrk="1" hangingPunct="1"/>
            <a:r>
              <a:rPr lang="en-US" altLang="zh-CN" dirty="0">
                <a:ea typeface="宋体" panose="02010600030101010101" pitchFamily="2" charset="-122"/>
              </a:rPr>
              <a:t>Tree will prevent multiple names.</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直接知道</a:t>
            </a:r>
            <a:r>
              <a:rPr lang="en-US" altLang="zh-CN" dirty="0"/>
              <a:t>ftp</a:t>
            </a:r>
            <a:r>
              <a:rPr lang="zh-CN" altLang="en-US" dirty="0"/>
              <a:t>地址是否就可以直接去访问了？</a:t>
            </a:r>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72707" name="Rectangle 2"/>
          <p:cNvSpPr>
            <a:spLocks noGrp="1" noRot="1" noChangeAspect="1" noTextEdit="1"/>
          </p:cNvSpPr>
          <p:nvPr>
            <p:ph type="sldImg"/>
          </p:nvPr>
        </p:nvSpPr>
        <p:spPr/>
      </p:sp>
      <p:sp>
        <p:nvSpPr>
          <p:cNvPr id="72708" name="Rectangle 3"/>
          <p:cNvSpPr>
            <a:spLocks noGrp="1"/>
          </p:cNvSpPr>
          <p:nvPr>
            <p:ph type="body"/>
          </p:nvPr>
        </p:nvSpPr>
        <p:spPr/>
        <p:txBody>
          <a:bodyPr wrap="square" lIns="91440" tIns="45720" rIns="91440" bIns="45720" anchor="t" anchorCtr="0"/>
          <a:lstStyle/>
          <a:p>
            <a:pPr lvl="0" eaLnBrk="1" hangingPunct="1"/>
            <a:r>
              <a:rPr lang="en-US" altLang="zh-CN" dirty="0">
                <a:ea typeface="宋体" panose="02010600030101010101" pitchFamily="2" charset="-122"/>
              </a:rPr>
              <a:t>5.4 Finally, humans often prefer to describe entities by means of various characteristics, leading to a situation in which we need to resolve a description by means of attributes to an entity adhering to that description. This type of name resolution is notoriously difficult and we will pay separate attention to it.</a:t>
            </a:r>
            <a:endParaRPr lang="en-US" altLang="zh-CN"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74755" name="Rectangle 2"/>
          <p:cNvSpPr>
            <a:spLocks noGrp="1" noRot="1" noChangeAspect="1" noTextEdit="1"/>
          </p:cNvSpPr>
          <p:nvPr>
            <p:ph type="sldImg"/>
          </p:nvPr>
        </p:nvSpPr>
        <p:spPr/>
      </p:sp>
      <p:sp>
        <p:nvSpPr>
          <p:cNvPr id="74756" name="Rectangle 3"/>
          <p:cNvSpPr>
            <a:spLocks noGrp="1"/>
          </p:cNvSpPr>
          <p:nvPr>
            <p:ph type="body"/>
          </p:nvPr>
        </p:nvSpPr>
        <p:spPr/>
        <p:txBody>
          <a:bodyPr wrap="square" lIns="91440" tIns="45720" rIns="91440" bIns="45720" anchor="t" anchorCtr="0"/>
          <a:lstStyle/>
          <a:p>
            <a:pPr lvl="0" eaLnBrk="1" hangingPunct="1">
              <a:lnSpc>
                <a:spcPct val="90000"/>
              </a:lnSpc>
            </a:pPr>
            <a:r>
              <a:rPr lang="en-US" altLang="zh-CN" sz="900" dirty="0">
                <a:ea typeface="宋体" panose="02010600030101010101" pitchFamily="2" charset="-122"/>
              </a:rPr>
              <a:t>Finally, humans often prefer to describe entities by means of various characteristics, leading to a situation in which we need to resolve a description by means of attributes to en entity adhering to that description. This type of name resolution is notoriously difficult and we will pay separate attention to it.</a:t>
            </a:r>
            <a:endParaRPr lang="en-US" altLang="zh-CN" sz="900" dirty="0">
              <a:ea typeface="宋体" panose="02010600030101010101" pitchFamily="2" charset="-122"/>
            </a:endParaRPr>
          </a:p>
          <a:p>
            <a:pPr lvl="0" eaLnBrk="1" hangingPunct="1">
              <a:lnSpc>
                <a:spcPct val="90000"/>
              </a:lnSpc>
            </a:pPr>
            <a:endParaRPr lang="en-US" altLang="zh-CN" sz="900" dirty="0">
              <a:ea typeface="宋体" panose="02010600030101010101" pitchFamily="2" charset="-122"/>
            </a:endParaRPr>
          </a:p>
          <a:p>
            <a:pPr lvl="0" eaLnBrk="1" hangingPunct="1">
              <a:lnSpc>
                <a:spcPct val="90000"/>
              </a:lnSpc>
            </a:pPr>
            <a:r>
              <a:rPr lang="zh-CN" altLang="en-US" sz="900" dirty="0">
                <a:ea typeface="宋体" panose="02010600030101010101" pitchFamily="2" charset="-122"/>
              </a:rPr>
              <a:t>。。。。。。。。</a:t>
            </a:r>
            <a:endParaRPr lang="zh-CN" altLang="en-US" sz="900" dirty="0">
              <a:ea typeface="宋体" panose="02010600030101010101" pitchFamily="2" charset="-122"/>
            </a:endParaRPr>
          </a:p>
          <a:p>
            <a:pPr lvl="0" eaLnBrk="1" hangingPunct="1">
              <a:lnSpc>
                <a:spcPct val="90000"/>
              </a:lnSpc>
            </a:pPr>
            <a:endParaRPr lang="zh-CN" altLang="en-US" sz="900" dirty="0">
              <a:ea typeface="宋体" panose="02010600030101010101" pitchFamily="2" charset="-122"/>
            </a:endParaRPr>
          </a:p>
          <a:p>
            <a:pPr lvl="0" eaLnBrk="1" hangingPunct="1">
              <a:lnSpc>
                <a:spcPct val="90000"/>
              </a:lnSpc>
            </a:pPr>
            <a:r>
              <a:rPr lang="en-US" altLang="zh-CN" sz="900" dirty="0">
                <a:ea typeface="宋体" panose="02010600030101010101" pitchFamily="2" charset="-122"/>
              </a:rPr>
              <a:t>5.4. Attribute-Based Naming</a:t>
            </a:r>
            <a:endParaRPr lang="en-US" altLang="zh-CN" sz="900" dirty="0">
              <a:ea typeface="宋体" panose="02010600030101010101" pitchFamily="2" charset="-122"/>
            </a:endParaRPr>
          </a:p>
          <a:p>
            <a:pPr lvl="0" eaLnBrk="1" hangingPunct="1">
              <a:lnSpc>
                <a:spcPct val="90000"/>
              </a:lnSpc>
            </a:pPr>
            <a:r>
              <a:rPr lang="en-US" altLang="zh-CN" sz="900" dirty="0">
                <a:ea typeface="宋体" panose="02010600030101010101" pitchFamily="2" charset="-122"/>
              </a:rPr>
              <a:t>Flat and structured names generally provide a unique and location-independent way of referring to entities. Moreover, structured names have been partly designed to provide a human-friendly way to name entities so that they can be conveniently accessed. In most cases, it is assumed that the name refers to only a single entity. However, location independence and human friendliness are not the only criterion for naming entities. In particular, as more information is being made available it becomes important to effectively search for entities. This approach requires that a user can provide merely a description of waht he is looking for.</a:t>
            </a:r>
            <a:endParaRPr lang="en-US" altLang="zh-CN" sz="900" dirty="0">
              <a:ea typeface="宋体" panose="02010600030101010101" pitchFamily="2" charset="-122"/>
            </a:endParaRPr>
          </a:p>
          <a:p>
            <a:pPr lvl="0" eaLnBrk="1" hangingPunct="1">
              <a:lnSpc>
                <a:spcPct val="90000"/>
              </a:lnSpc>
            </a:pPr>
            <a:r>
              <a:rPr lang="en-US" altLang="zh-CN" sz="900" dirty="0">
                <a:ea typeface="宋体" panose="02010600030101010101" pitchFamily="2" charset="-122"/>
              </a:rPr>
              <a:t>There are many ways in which descriptions can be provided, but a popular one in distributed systems is to describe an entity in terms of (attribute, value) pairs, generally referred to as attribute-based naming. In this approach, an entity is assumed to have an associated collection of attributes. Each attribute says something about that entity. By specifying which values a specific attribute should have, a user essentially constrains the set of entities that he is interested in. It is up to the naming system to return one or more entities that meet the user's descdription. In this section we take a closer look at attributed-based naming systesms.</a:t>
            </a:r>
            <a:endParaRPr lang="en-US" altLang="zh-CN" sz="900" dirty="0">
              <a:ea typeface="宋体" panose="02010600030101010101" pitchFamily="2" charset="-122"/>
            </a:endParaRPr>
          </a:p>
          <a:p>
            <a:pPr lvl="0" eaLnBrk="1" hangingPunct="1">
              <a:lnSpc>
                <a:spcPct val="90000"/>
              </a:lnSpc>
            </a:pPr>
            <a:r>
              <a:rPr lang="zh-CN" altLang="en-US" sz="900" dirty="0">
                <a:ea typeface="宋体" panose="02010600030101010101" pitchFamily="2" charset="-122"/>
              </a:rPr>
              <a:t>。。。。。。。。。。</a:t>
            </a:r>
            <a:endParaRPr lang="zh-CN" altLang="en-US" sz="900" dirty="0">
              <a:ea typeface="宋体" panose="02010600030101010101" pitchFamily="2" charset="-122"/>
            </a:endParaRPr>
          </a:p>
          <a:p>
            <a:pPr lvl="0" eaLnBrk="1" hangingPunct="1">
              <a:lnSpc>
                <a:spcPct val="90000"/>
              </a:lnSpc>
            </a:pPr>
            <a:endParaRPr lang="zh-CN" altLang="en-US" sz="900" dirty="0">
              <a:ea typeface="宋体" panose="02010600030101010101" pitchFamily="2" charset="-122"/>
            </a:endParaRPr>
          </a:p>
          <a:p>
            <a:pPr lvl="0" eaLnBrk="1" hangingPunct="1">
              <a:lnSpc>
                <a:spcPct val="90000"/>
              </a:lnSpc>
            </a:pPr>
            <a:r>
              <a:rPr lang="en-US" altLang="zh-CN" sz="900" dirty="0">
                <a:ea typeface="宋体" panose="02010600030101010101" pitchFamily="2" charset="-122"/>
              </a:rPr>
              <a:t>More problematic are attribute-based naming schemes in which entities are described by a collection of (attribute, value) pairs. Queries are also formulated as such pairs, essentially requiring an exhaustive search through all descriptors. Such a search is only feasible when the descriptors are stored in a single database. However, alternative solutions have been devised by which the pairs are mapped onto DHT-based systems, essentially leading to a distribution of the collection of entity descriptors.</a:t>
            </a:r>
            <a:endParaRPr lang="en-US" altLang="zh-CN" sz="900" dirty="0">
              <a:ea typeface="宋体" panose="02010600030101010101" pitchFamily="2" charset="-122"/>
            </a:endParaRPr>
          </a:p>
          <a:p>
            <a:pPr lvl="0" eaLnBrk="1" hangingPunct="1">
              <a:lnSpc>
                <a:spcPct val="90000"/>
              </a:lnSpc>
            </a:pPr>
            <a:r>
              <a:rPr lang="en-US" altLang="zh-CN" sz="900" dirty="0">
                <a:ea typeface="宋体" panose="02010600030101010101" pitchFamily="2" charset="-122"/>
              </a:rPr>
              <a:t>Related to attribute-based naming is to gradually replace name resolution by distributed search techniques. This approach is followed in semantic overlay networks, in which nodes maintain a local list of other nodes that have semantically similar content. These semantic lists allow for efficient search to take place by which first the immediate neighbors are queried, and only after that has had no success will a (limited) broadcast be deployed.</a:t>
            </a:r>
            <a:endParaRPr lang="en-US" altLang="zh-CN" sz="900"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命名服务：目录服务：</a:t>
            </a:r>
            <a:endParaRPr lang="zh-CN" altLang="en-US" dirty="0"/>
          </a:p>
          <a:p>
            <a:endParaRPr lang="zh-CN" altLang="en-US" dirty="0"/>
          </a:p>
          <a:p>
            <a:r>
              <a:rPr lang="zh-CN" altLang="en-US" dirty="0">
                <a:ea typeface="宋体" panose="02010600030101010101" pitchFamily="2" charset="-122"/>
                <a:sym typeface="+mn-ea"/>
              </a:rPr>
              <a:t>目录服务与命名服务的区别：支持更加复杂的查询操作；</a:t>
            </a:r>
            <a:endParaRPr lang="en-US" altLang="zh-CN" dirty="0">
              <a:ea typeface="宋体" panose="02010600030101010101" pitchFamily="2" charset="-122"/>
            </a:endParaRPr>
          </a:p>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77827" name="Rectangle 2"/>
          <p:cNvSpPr>
            <a:spLocks noGrp="1" noRot="1" noChangeAspect="1" noTextEdit="1"/>
          </p:cNvSpPr>
          <p:nvPr>
            <p:ph type="sldImg"/>
          </p:nvPr>
        </p:nvSpPr>
        <p:spPr/>
      </p:sp>
      <p:sp>
        <p:nvSpPr>
          <p:cNvPr id="77828" name="Rectangle 3"/>
          <p:cNvSpPr>
            <a:spLocks noGrp="1"/>
          </p:cNvSpPr>
          <p:nvPr>
            <p:ph type="body"/>
          </p:nvPr>
        </p:nvSpPr>
        <p:spPr/>
        <p:txBody>
          <a:bodyPr wrap="square" lIns="91440" tIns="45720" rIns="91440" bIns="45720" anchor="t" anchorCtr="0"/>
          <a:lstStyle/>
          <a:p>
            <a:pPr lvl="0" eaLnBrk="1" hangingPunct="1"/>
            <a:r>
              <a:rPr lang="en-US" altLang="zh-CN" dirty="0">
                <a:ea typeface="宋体" panose="02010600030101010101" pitchFamily="2" charset="-122"/>
              </a:rPr>
              <a:t>DNS resolves a name to a node in the namespace graph.</a:t>
            </a:r>
            <a:endParaRPr lang="en-US" altLang="zh-CN" dirty="0">
              <a:ea typeface="宋体" panose="02010600030101010101" pitchFamily="2" charset="-122"/>
            </a:endParaRPr>
          </a:p>
          <a:p>
            <a:pPr lvl="0" eaLnBrk="1" hangingPunct="1"/>
            <a:r>
              <a:rPr lang="en-US" altLang="zh-CN" dirty="0">
                <a:ea typeface="宋体" panose="02010600030101010101" pitchFamily="2" charset="-122"/>
              </a:rPr>
              <a:t>X.500 is a directory service, which allows more general queries. Consists of a set of records. Each record is a list of attribute-value pairs, with possible multiple values.</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zh-CN" altLang="en-US" dirty="0">
                <a:ea typeface="宋体" panose="02010600030101010101" pitchFamily="2" charset="-122"/>
              </a:rPr>
              <a:t>目录服务包含一系列条目，</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zh-CN" altLang="en-US" dirty="0">
                <a:ea typeface="宋体" panose="02010600030101010101" pitchFamily="2" charset="-122"/>
              </a:rPr>
              <a:t>每个条目对应一个实体，命名属性</a:t>
            </a:r>
            <a:r>
              <a:rPr lang="en-US" altLang="zh-CN" dirty="0">
                <a:ea typeface="宋体" panose="02010600030101010101" pitchFamily="2" charset="-122"/>
              </a:rPr>
              <a:t>+</a:t>
            </a:r>
            <a:r>
              <a:rPr lang="zh-CN" altLang="en-US" dirty="0">
                <a:ea typeface="宋体" panose="02010600030101010101" pitchFamily="2" charset="-122"/>
              </a:rPr>
              <a:t>内容属性：注意和命名服务中实体的区别；</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ea typeface="宋体" panose="02010600030101010101" pitchFamily="2" charset="-122"/>
              </a:rPr>
              <a:t>可用命名属性序列来唯一标识，例如国家</a:t>
            </a:r>
            <a:r>
              <a:rPr lang="en-US" altLang="zh-CN" dirty="0">
                <a:ea typeface="宋体" panose="02010600030101010101" pitchFamily="2" charset="-122"/>
              </a:rPr>
              <a:t>+</a:t>
            </a:r>
            <a:r>
              <a:rPr lang="zh-CN" altLang="en-US" dirty="0">
                <a:ea typeface="宋体" panose="02010600030101010101" pitchFamily="2" charset="-122"/>
              </a:rPr>
              <a:t>组织</a:t>
            </a:r>
            <a:r>
              <a:rPr lang="en-US" altLang="zh-CN" dirty="0">
                <a:ea typeface="宋体" panose="02010600030101010101" pitchFamily="2" charset="-122"/>
              </a:rPr>
              <a:t>+</a:t>
            </a:r>
            <a:r>
              <a:rPr lang="zh-CN" altLang="en-US" dirty="0">
                <a:ea typeface="宋体" panose="02010600030101010101" pitchFamily="2" charset="-122"/>
              </a:rPr>
              <a:t>组织部门：命名属性间存在层级关系：</a:t>
            </a:r>
            <a:r>
              <a:rPr lang="zh-CN" altLang="en-US" dirty="0">
                <a:ea typeface="+mn-ea"/>
              </a:rPr>
              <a:t>：对应命名实体中的名字</a:t>
            </a:r>
            <a:endParaRPr lang="en-US" altLang="zh-CN" dirty="0">
              <a:ea typeface="+mn-ea"/>
            </a:endParaRPr>
          </a:p>
          <a:p>
            <a:pPr lvl="0" eaLnBrk="1" hangingPunct="1"/>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zh-CN" altLang="en-US" dirty="0">
                <a:ea typeface="+mn-ea"/>
              </a:rPr>
              <a:t>内容属性：实体内容；：对应命名实体中的实体内容</a:t>
            </a:r>
            <a:endParaRPr lang="en-US" altLang="zh-CN" dirty="0">
              <a:ea typeface="+mn-ea"/>
            </a:endParaRPr>
          </a:p>
          <a:p>
            <a:pPr lvl="0" eaLnBrk="1" hangingPunct="1"/>
            <a:endParaRPr lang="en-US" altLang="zh-CN" dirty="0">
              <a:ea typeface="+mn-ea"/>
            </a:endParaRPr>
          </a:p>
          <a:p>
            <a:pPr lvl="0" eaLnBrk="1" hangingPunct="1"/>
            <a:endParaRPr lang="en-US" altLang="zh-CN" dirty="0">
              <a:ea typeface="+mn-ea"/>
            </a:endParaRPr>
          </a:p>
          <a:p>
            <a:pPr lvl="0" eaLnBrk="1" hangingPunct="1"/>
            <a:r>
              <a:rPr lang="zh-CN" altLang="en-US" dirty="0">
                <a:ea typeface="+mn-ea"/>
              </a:rPr>
              <a:t>命名属性序列：将多个</a:t>
            </a:r>
            <a:r>
              <a:rPr lang="en-US" altLang="zh-CN" dirty="0">
                <a:ea typeface="+mn-ea"/>
              </a:rPr>
              <a:t>record</a:t>
            </a:r>
            <a:r>
              <a:rPr lang="zh-CN" altLang="en-US" dirty="0">
                <a:ea typeface="+mn-ea"/>
              </a:rPr>
              <a:t>在逻辑上组成一个层级树：</a:t>
            </a:r>
            <a:endParaRPr lang="en-US" altLang="zh-CN" dirty="0">
              <a:ea typeface="+mn-ea"/>
            </a:endParaRPr>
          </a:p>
          <a:p>
            <a:pPr lvl="0" eaLnBrk="1" hangingPunct="1"/>
            <a:r>
              <a:rPr lang="en-US" altLang="zh-CN" dirty="0">
                <a:ea typeface="+mn-ea"/>
              </a:rPr>
              <a:t>1.</a:t>
            </a:r>
            <a:r>
              <a:rPr lang="zh-CN" altLang="en-US" dirty="0">
                <a:ea typeface="+mn-ea"/>
              </a:rPr>
              <a:t>命名属性间有层级关系；</a:t>
            </a:r>
            <a:endParaRPr lang="en-US" altLang="zh-CN" dirty="0">
              <a:ea typeface="+mn-ea"/>
            </a:endParaRPr>
          </a:p>
          <a:p>
            <a:pPr lvl="0" eaLnBrk="1" hangingPunct="1"/>
            <a:r>
              <a:rPr lang="en-US" altLang="zh-CN" dirty="0">
                <a:ea typeface="+mn-ea"/>
              </a:rPr>
              <a:t>2.</a:t>
            </a:r>
            <a:r>
              <a:rPr lang="zh-CN" altLang="en-US" dirty="0">
                <a:ea typeface="+mn-ea"/>
              </a:rPr>
              <a:t>多个条目共享命名属性；</a:t>
            </a:r>
            <a:endParaRPr lang="en-US" altLang="zh-CN" dirty="0">
              <a:ea typeface="+mn-ea"/>
            </a:endParaRPr>
          </a:p>
          <a:p>
            <a:pPr lvl="0" eaLnBrk="1" hangingPunct="1"/>
            <a:endParaRPr lang="en-US" altLang="zh-CN" dirty="0">
              <a:ea typeface="+mn-ea"/>
            </a:endParaRPr>
          </a:p>
          <a:p>
            <a:pPr lvl="0" eaLnBrk="1" hangingPunct="1"/>
            <a:r>
              <a:rPr lang="zh-CN" altLang="en-US" dirty="0">
                <a:ea typeface="+mn-ea"/>
              </a:rPr>
              <a:t>对应前文的数据库和层级命名</a:t>
            </a:r>
            <a:endParaRPr lang="en-US" altLang="zh-CN" dirty="0">
              <a:ea typeface="+mn-ea"/>
            </a:endParaRPr>
          </a:p>
          <a:p>
            <a:pPr lvl="0" eaLnBrk="1" hangingPunct="1"/>
            <a:r>
              <a:rPr lang="zh-CN" altLang="en-US" dirty="0">
                <a:ea typeface="+mn-ea"/>
              </a:rPr>
              <a:t>命名属性间也存在层级关系</a:t>
            </a:r>
            <a:endParaRPr lang="en-US" altLang="zh-CN" dirty="0">
              <a:ea typeface="+mn-ea"/>
            </a:endParaRPr>
          </a:p>
          <a:p>
            <a:pPr lvl="0" eaLnBrk="1" hangingPunct="1"/>
            <a:endParaRPr lang="en-US" altLang="zh-CN" dirty="0">
              <a:ea typeface="+mn-ea"/>
            </a:endParaRPr>
          </a:p>
          <a:p>
            <a:pPr lvl="0" eaLnBrk="1" hangingPunct="1"/>
            <a:endParaRPr lang="en-US" altLang="zh-CN" dirty="0">
              <a:ea typeface="+mn-ea"/>
            </a:endParaRPr>
          </a:p>
          <a:p>
            <a:pPr lvl="0" eaLnBrk="1" hangingPunct="1"/>
            <a:endParaRPr lang="en-US" altLang="zh-CN" dirty="0">
              <a:ea typeface="+mn-ea"/>
            </a:endParaRPr>
          </a:p>
          <a:p>
            <a:pPr lvl="0" eaLnBrk="1" hangingPunct="1"/>
            <a:endParaRPr lang="en-US" altLang="zh-CN" dirty="0">
              <a:ea typeface="+mn-ea"/>
            </a:endParaRPr>
          </a:p>
          <a:p>
            <a:pPr lvl="0" eaLnBrk="1" hangingPunct="1"/>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1" eaLnBrk="1" hangingPunct="1"/>
            <a:endParaRPr lang="en-US" altLang="zh-CN" dirty="0">
              <a:ea typeface="宋体" panose="02010600030101010101" pitchFamily="2" charset="-122"/>
            </a:endParaRPr>
          </a:p>
          <a:p>
            <a:pPr lvl="0" eaLnBrk="1" hangingPunct="1"/>
            <a:endParaRPr lang="zh-CN" altLang="en-US"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en-US" sz="1200" dirty="0">
                <a:ea typeface="宋体" panose="02010600030101010101" pitchFamily="2" charset="-122"/>
              </a:rPr>
            </a:fld>
            <a:endParaRPr lang="en-US" altLang="en-US" sz="1200" dirty="0">
              <a:ea typeface="宋体" panose="02010600030101010101" pitchFamily="2" charset="-122"/>
            </a:endParaRPr>
          </a:p>
        </p:txBody>
      </p:sp>
      <p:sp>
        <p:nvSpPr>
          <p:cNvPr id="79875" name="Rectangle 2"/>
          <p:cNvSpPr>
            <a:spLocks noGrp="1" noRot="1" noChangeAspect="1" noTextEdit="1"/>
          </p:cNvSpPr>
          <p:nvPr>
            <p:ph type="sldImg"/>
          </p:nvPr>
        </p:nvSpPr>
        <p:spPr/>
      </p:sp>
      <p:sp>
        <p:nvSpPr>
          <p:cNvPr id="79876" name="Rectangle 3"/>
          <p:cNvSpPr>
            <a:spLocks noGrp="1"/>
          </p:cNvSpPr>
          <p:nvPr>
            <p:ph type="body"/>
          </p:nvPr>
        </p:nvSpPr>
        <p:spPr/>
        <p:txBody>
          <a:bodyPr wrap="square" lIns="91440" tIns="45720" rIns="91440" bIns="45720" anchor="t" anchorCtr="0"/>
          <a:lstStyle/>
          <a:p>
            <a:pPr lvl="0" eaLnBrk="1" hangingPunct="1"/>
            <a:r>
              <a:rPr lang="en-US" altLang="zh-CN" dirty="0">
                <a:ea typeface="宋体" panose="02010600030101010101" pitchFamily="2" charset="-122"/>
              </a:rPr>
              <a:t>To accommodate X.500 directory sevices in the Internet, a simplified protocol has been devised, known as the Light-weight Directory Access Protocol (LDAP). </a:t>
            </a:r>
            <a:endParaRPr lang="en-US" altLang="zh-CN" dirty="0">
              <a:ea typeface="宋体" panose="02010600030101010101" pitchFamily="2" charset="-122"/>
            </a:endParaRPr>
          </a:p>
          <a:p>
            <a:pPr lvl="0" eaLnBrk="1" hangingPunct="1"/>
            <a:r>
              <a:rPr lang="en-US" altLang="zh-CN" dirty="0">
                <a:ea typeface="宋体" panose="02010600030101010101" pitchFamily="2" charset="-122"/>
              </a:rPr>
              <a:t>Simplified X.500 is LDAP.LDAP is an application-level protocol that is implemented directly on top of TCP.LDAP is gradually becoming a de facto standard for Internet-based directory services.</a:t>
            </a:r>
            <a:endParaRPr lang="en-US" altLang="zh-CN" dirty="0">
              <a:ea typeface="宋体" panose="02010600030101010101" pitchFamily="2" charset="-122"/>
            </a:endParaRPr>
          </a:p>
          <a:p>
            <a:pPr lvl="0" eaLnBrk="1" hangingPunct="1"/>
            <a:r>
              <a:rPr lang="en-US" altLang="zh-CN" dirty="0">
                <a:ea typeface="宋体" panose="02010600030101010101" pitchFamily="2" charset="-122"/>
              </a:rPr>
              <a:t>Two directory entries having </a:t>
            </a:r>
            <a:r>
              <a:rPr lang="en-US" altLang="zh-CN" i="1" dirty="0">
                <a:ea typeface="宋体" panose="02010600030101010101" pitchFamily="2" charset="-122"/>
              </a:rPr>
              <a:t>Host_Name</a:t>
            </a:r>
            <a:r>
              <a:rPr lang="en-US" altLang="zh-CN" dirty="0">
                <a:ea typeface="宋体" panose="02010600030101010101" pitchFamily="2" charset="-122"/>
              </a:rPr>
              <a:t> as RDN.</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zh-CN" altLang="en-US" dirty="0">
                <a:ea typeface="宋体" panose="02010600030101010101" pitchFamily="2" charset="-122"/>
              </a:rPr>
              <a:t>一个节点对应一个条目：</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zh-CN" altLang="en-US" dirty="0">
                <a:ea typeface="宋体" panose="02010600030101010101" pitchFamily="2" charset="-122"/>
              </a:rPr>
              <a:t>逻辑上：条目组织成树，存储上，条目一个接着一个；</a:t>
            </a:r>
            <a:endParaRPr lang="en-US" altLang="zh-CN" dirty="0">
              <a:ea typeface="宋体" panose="02010600030101010101" pitchFamily="2" charset="-122"/>
            </a:endParaRPr>
          </a:p>
          <a:p>
            <a:pPr lvl="0" eaLnBrk="1" hangingPunct="1"/>
            <a:endParaRPr lang="en-US" altLang="zh-CN" dirty="0">
              <a:ea typeface="宋体" panose="02010600030101010101" pitchFamily="2" charset="-122"/>
            </a:endParaRPr>
          </a:p>
          <a:p>
            <a:pPr lvl="0" eaLnBrk="1" hangingPunct="1"/>
            <a:r>
              <a:rPr lang="zh-CN" altLang="en-US" dirty="0">
                <a:ea typeface="宋体" panose="02010600030101010101" pitchFamily="2" charset="-122"/>
              </a:rPr>
              <a:t>目录服务与命名服务的区别：支持更加复杂的查询操作；</a:t>
            </a:r>
            <a:endParaRPr lang="en-US" altLang="zh-CN"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4294967295"/>
          </p:nvPr>
        </p:nvSpPr>
        <p:spPr/>
        <p:txBody>
          <a:bodyPr/>
          <a:p>
            <a:r>
              <a:rPr lang="zh-CN" altLang="en-US"/>
              <a:t>逻辑结构；</a:t>
            </a:r>
            <a:endParaRPr lang="zh-CN" altLang="en-US"/>
          </a:p>
          <a:p>
            <a:endParaRPr lang="zh-CN" altLang="en-US"/>
          </a:p>
          <a:p>
            <a:endParaRPr lang="zh-CN" altLang="en-US"/>
          </a:p>
          <a:p>
            <a:r>
              <a:rPr lang="zh-CN" altLang="en-US"/>
              <a:t>物理结构；</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553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0" y="0"/>
            <a:ext cx="6705600" cy="6553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553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0" y="0"/>
            <a:ext cx="6705600" cy="6553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0" y="0"/>
            <a:ext cx="9144000" cy="1143000"/>
          </a:xfrm>
          <a:prstGeom prst="rect">
            <a:avLst/>
          </a:prstGeom>
          <a:noFill/>
          <a:ln w="9525">
            <a:noFill/>
          </a:ln>
        </p:spPr>
        <p:txBody>
          <a:bodyPr anchor="ctr" anchorCtr="0"/>
          <a:lstStyle/>
          <a:p>
            <a:pPr lvl="0"/>
            <a:r>
              <a:rPr lang="en-US" altLang="zh-CN" dirty="0"/>
              <a:t>Click to edit Master title style</a:t>
            </a:r>
            <a:endParaRPr lang="en-US" altLang="zh-CN" dirty="0"/>
          </a:p>
        </p:txBody>
      </p:sp>
      <p:sp>
        <p:nvSpPr>
          <p:cNvPr id="1027" name="Rectangle 3"/>
          <p:cNvSpPr>
            <a:spLocks noGrp="1"/>
          </p:cNvSpPr>
          <p:nvPr>
            <p:ph type="body"/>
          </p:nvPr>
        </p:nvSpPr>
        <p:spPr>
          <a:xfrm>
            <a:off x="0" y="5715000"/>
            <a:ext cx="9144000" cy="8382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buFontTx/>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 typeface="Arial" panose="020B0604020202020204" pitchFamily="34" charset="0"/>
              <a:buNone/>
              <a:defRPr sz="1400" noProof="1">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p:titleStyle>
    <p:body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0" y="0"/>
            <a:ext cx="9144000" cy="1143000"/>
          </a:xfrm>
          <a:prstGeom prst="rect">
            <a:avLst/>
          </a:prstGeom>
          <a:noFill/>
          <a:ln w="9525">
            <a:noFill/>
          </a:ln>
        </p:spPr>
        <p:txBody>
          <a:bodyPr anchor="ctr" anchorCtr="0"/>
          <a:lstStyle/>
          <a:p>
            <a:pPr lvl="0"/>
            <a:r>
              <a:rPr lang="en-US" altLang="zh-CN" dirty="0"/>
              <a:t>Click to edit Master title style</a:t>
            </a:r>
            <a:endParaRPr lang="en-US" altLang="zh-CN" dirty="0"/>
          </a:p>
        </p:txBody>
      </p:sp>
      <p:sp>
        <p:nvSpPr>
          <p:cNvPr id="1027" name="Rectangle 3"/>
          <p:cNvSpPr>
            <a:spLocks noGrp="1"/>
          </p:cNvSpPr>
          <p:nvPr>
            <p:ph type="body"/>
          </p:nvPr>
        </p:nvSpPr>
        <p:spPr>
          <a:xfrm>
            <a:off x="0" y="5715000"/>
            <a:ext cx="9144000" cy="8382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buFontTx/>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 typeface="Arial" panose="020B0604020202020204" pitchFamily="34" charset="0"/>
              <a:buNone/>
              <a:defRPr sz="1400" noProof="1">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C981CE-ECD4-46B1-A797-5359D0F16DD2}" type="slidenum">
              <a:rPr kumimoji="0" altLang="en-US" sz="1400" b="0"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p:titleStyle>
    <p:body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jpeg"/><Relationship Id="rId1" Type="http://schemas.openxmlformats.org/officeDocument/2006/relationships/image" Target="../media/image22.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4.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net.pku.edu.cn/~course/cs501/2008/info.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ctrTitle"/>
          </p:nvPr>
        </p:nvSpPr>
        <p:spPr>
          <a:xfrm>
            <a:off x="685800" y="2286000"/>
            <a:ext cx="7772400" cy="1143000"/>
          </a:xfrm>
        </p:spPr>
        <p:txBody>
          <a:bodyPr vert="horz" wrap="square" lIns="91440" tIns="45720" rIns="91440" bIns="45720" anchor="ctr" anchorCtr="0"/>
          <a:lstStyle/>
          <a:p>
            <a:pPr eaLnBrk="1" hangingPunct="1">
              <a:buClrTx/>
              <a:buSzTx/>
              <a:buFontTx/>
            </a:pPr>
            <a:r>
              <a:rPr lang="en-US" altLang="zh-CN" dirty="0">
                <a:ea typeface="宋体" panose="02010600030101010101" pitchFamily="2" charset="-122"/>
              </a:rPr>
              <a:t>Naming</a:t>
            </a:r>
            <a:endParaRPr lang="en-US" altLang="zh-CN" dirty="0">
              <a:ea typeface="宋体" panose="02010600030101010101" pitchFamily="2" charset="-122"/>
            </a:endParaRPr>
          </a:p>
        </p:txBody>
      </p:sp>
      <p:sp>
        <p:nvSpPr>
          <p:cNvPr id="4099" name="Rectangle 3"/>
          <p:cNvSpPr>
            <a:spLocks noGrp="1"/>
          </p:cNvSpPr>
          <p:nvPr>
            <p:ph type="subTitle" idx="1"/>
          </p:nvPr>
        </p:nvSpPr>
        <p:spPr>
          <a:xfrm>
            <a:off x="1460500" y="3848100"/>
            <a:ext cx="6400800" cy="1752600"/>
          </a:xfrm>
        </p:spPr>
        <p:txBody>
          <a:bodyPr vert="horz" wrap="square" lIns="91440" tIns="45720" rIns="91440" bIns="45720" anchor="t" anchorCtr="0"/>
          <a:lstStyle/>
          <a:p>
            <a:pPr eaLnBrk="1" hangingPunct="1">
              <a:buSzTx/>
              <a:buFontTx/>
            </a:pPr>
            <a:r>
              <a:rPr lang="en-US" altLang="zh-CN" dirty="0">
                <a:latin typeface="+mn-lt"/>
                <a:ea typeface="宋体" panose="02010600030101010101" pitchFamily="2" charset="-122"/>
                <a:cs typeface="+mn-cs"/>
              </a:rPr>
              <a:t>Chapter 5</a:t>
            </a:r>
            <a:endParaRPr lang="en-US" altLang="zh-CN" dirty="0">
              <a:latin typeface="+mn-lt"/>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Outline</a:t>
            </a:r>
            <a:endParaRPr lang="en-US" altLang="zh-CN" dirty="0">
              <a:ea typeface="宋体" panose="02010600030101010101" pitchFamily="2" charset="-122"/>
            </a:endParaRPr>
          </a:p>
        </p:txBody>
      </p:sp>
      <p:sp>
        <p:nvSpPr>
          <p:cNvPr id="6147" name="Rectangle 3"/>
          <p:cNvSpPr>
            <a:spLocks noGrp="1"/>
          </p:cNvSpPr>
          <p:nvPr>
            <p:ph idx="1"/>
          </p:nvPr>
        </p:nvSpPr>
        <p:spPr>
          <a:xfrm>
            <a:off x="531813" y="1390650"/>
            <a:ext cx="7340600" cy="3671888"/>
          </a:xfrm>
        </p:spPr>
        <p:txBody>
          <a:bodyPr vert="horz" wrap="square" lIns="91440" tIns="45720" rIns="91440" bIns="45720" anchor="t" anchorCtr="0"/>
          <a:lstStyle/>
          <a:p>
            <a:pPr algn="l" eaLnBrk="1" hangingPunct="1">
              <a:lnSpc>
                <a:spcPct val="150000"/>
              </a:lnSpc>
            </a:pPr>
            <a:r>
              <a:rPr lang="en-US" altLang="zh-CN" dirty="0">
                <a:solidFill>
                  <a:srgbClr val="FF0000"/>
                </a:solidFill>
                <a:ea typeface="宋体" panose="02010600030101010101" pitchFamily="2" charset="-122"/>
              </a:rPr>
              <a:t>Names Entities</a:t>
            </a:r>
            <a:endParaRPr lang="en-US" altLang="zh-CN" dirty="0">
              <a:solidFill>
                <a:srgbClr val="FF0000"/>
              </a:solidFill>
              <a:ea typeface="宋体" panose="02010600030101010101" pitchFamily="2" charset="-122"/>
            </a:endParaRPr>
          </a:p>
          <a:p>
            <a:pPr algn="l" eaLnBrk="1" hangingPunct="1">
              <a:lnSpc>
                <a:spcPct val="150000"/>
              </a:lnSpc>
            </a:pPr>
            <a:r>
              <a:rPr lang="en-US" altLang="zh-CN" dirty="0">
                <a:ea typeface="宋体" panose="02010600030101010101" pitchFamily="2" charset="-122"/>
              </a:rPr>
              <a:t>Flat Naming</a:t>
            </a:r>
            <a:endParaRPr lang="en-US" altLang="zh-CN" dirty="0">
              <a:ea typeface="宋体" panose="02010600030101010101" pitchFamily="2" charset="-122"/>
            </a:endParaRPr>
          </a:p>
          <a:p>
            <a:pPr algn="l" eaLnBrk="1" hangingPunct="1">
              <a:lnSpc>
                <a:spcPct val="150000"/>
              </a:lnSpc>
            </a:pPr>
            <a:r>
              <a:rPr lang="en-US" altLang="zh-CN" dirty="0">
                <a:ea typeface="宋体" panose="02010600030101010101" pitchFamily="2" charset="-122"/>
              </a:rPr>
              <a:t>Structured Naming</a:t>
            </a:r>
            <a:endParaRPr lang="en-US" altLang="zh-CN" dirty="0">
              <a:ea typeface="宋体" panose="02010600030101010101" pitchFamily="2" charset="-122"/>
            </a:endParaRPr>
          </a:p>
          <a:p>
            <a:pPr algn="l" eaLnBrk="1" hangingPunct="1">
              <a:lnSpc>
                <a:spcPct val="150000"/>
              </a:lnSpc>
            </a:pPr>
            <a:r>
              <a:rPr lang="en-US" altLang="zh-CN" dirty="0">
                <a:ea typeface="宋体" panose="02010600030101010101" pitchFamily="2" charset="-122"/>
              </a:rPr>
              <a:t>Attribute-Based Naming</a:t>
            </a:r>
            <a:endParaRPr lang="en-US" altLang="zh-CN" dirty="0">
              <a:ea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txBox="1"/>
          <p:nvPr/>
        </p:nvSpPr>
        <p:spPr>
          <a:xfrm>
            <a:off x="533400" y="0"/>
            <a:ext cx="7772400" cy="822325"/>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4400" dirty="0">
                <a:solidFill>
                  <a:srgbClr val="FF0000"/>
                </a:solidFill>
                <a:ea typeface="宋体" panose="02010600030101010101" pitchFamily="2" charset="-122"/>
              </a:rPr>
              <a:t>Names Entities</a:t>
            </a:r>
            <a:endParaRPr lang="en-US" altLang="zh-CN" sz="4400" dirty="0">
              <a:solidFill>
                <a:srgbClr val="FF0000"/>
              </a:solidFill>
              <a:ea typeface="宋体" panose="02010600030101010101" pitchFamily="2" charset="-122"/>
            </a:endParaRPr>
          </a:p>
        </p:txBody>
      </p:sp>
      <p:sp>
        <p:nvSpPr>
          <p:cNvPr id="6" name="Rectangle 3"/>
          <p:cNvSpPr txBox="1">
            <a:spLocks noChangeArrowheads="1"/>
          </p:cNvSpPr>
          <p:nvPr/>
        </p:nvSpPr>
        <p:spPr bwMode="auto">
          <a:xfrm>
            <a:off x="0" y="822325"/>
            <a:ext cx="9061450" cy="6035675"/>
          </a:xfrm>
          <a:prstGeom prst="rect">
            <a:avLst/>
          </a:prstGeom>
          <a:noFill/>
          <a:ln w="9525">
            <a:noFill/>
            <a:miter lim="800000"/>
          </a:ln>
        </p:spPr>
        <p:txBody>
          <a:bodyPr/>
          <a:lstStyle/>
          <a:p>
            <a:pPr marR="0" defTabSz="914400">
              <a:spcBef>
                <a:spcPct val="20000"/>
              </a:spcBef>
              <a:buClr>
                <a:schemeClr val="accent2"/>
              </a:buClr>
              <a:buSzTx/>
              <a:buFontTx/>
              <a:buNone/>
              <a:defRPr/>
            </a:pPr>
            <a:r>
              <a:rPr kumimoji="0" lang="en-US" altLang="zh-CN" sz="3200" kern="0" cap="none" spc="0" normalizeH="0" baseline="0" noProof="0" dirty="0">
                <a:latin typeface="+mn-lt"/>
                <a:ea typeface="宋体" panose="02010600030101010101" pitchFamily="2" charset="-122"/>
                <a:cs typeface="+mn-cs"/>
                <a:sym typeface="+mn-ea"/>
              </a:rPr>
              <a:t>What do names do?</a:t>
            </a:r>
            <a:endParaRPr kumimoji="0" lang="en-US" altLang="zh-CN" sz="3200" kern="0" cap="none" spc="0" normalizeH="0" baseline="0" noProof="0" dirty="0">
              <a:latin typeface="+mn-lt"/>
              <a:ea typeface="宋体" panose="02010600030101010101" pitchFamily="2" charset="-122"/>
              <a:cs typeface="+mn-cs"/>
              <a:sym typeface="+mn-ea"/>
            </a:endParaRPr>
          </a:p>
          <a:p>
            <a:pPr marL="457200" marR="0" lvl="1"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identify objects</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457200" marR="0" lvl="1"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help locate objects</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457200" marR="0" lvl="1"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define membership in a group </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457200" marR="0" lvl="1"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specify a role</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457200" marR="0" lvl="1"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convey knowledge of a secret </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457200" marR="0" lvl="1"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R="0" defTabSz="914400">
              <a:spcBef>
                <a:spcPct val="20000"/>
              </a:spcBef>
              <a:buClr>
                <a:schemeClr val="accent2"/>
              </a:buClr>
              <a:buSzTx/>
              <a:buFontTx/>
              <a:buNone/>
              <a:defRPr/>
            </a:pPr>
            <a:r>
              <a:rPr kumimoji="0" lang="en-US" altLang="zh-CN" sz="3200" kern="0" cap="none" spc="0" normalizeH="0" baseline="0" noProof="0" dirty="0">
                <a:latin typeface="+mn-lt"/>
                <a:ea typeface="宋体" panose="02010600030101010101" pitchFamily="2" charset="-122"/>
                <a:cs typeface="+mn-cs"/>
                <a:sym typeface="+mn-ea"/>
              </a:rPr>
              <a:t>Name space</a:t>
            </a:r>
            <a:endParaRPr kumimoji="0" lang="en-US" altLang="zh-CN" sz="3200" kern="0" cap="none" spc="0" normalizeH="0" baseline="0" noProof="0" dirty="0">
              <a:latin typeface="+mn-lt"/>
              <a:ea typeface="宋体" panose="02010600030101010101" pitchFamily="2" charset="-122"/>
              <a:cs typeface="+mn-cs"/>
              <a:sym typeface="+mn-ea"/>
            </a:endParaRPr>
          </a:p>
          <a:p>
            <a:pPr marL="457200" marR="0" lvl="1"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defines set of possible names, consists of a set of name to value </a:t>
            </a:r>
            <a:r>
              <a:rPr kumimoji="0" lang="en-US" altLang="zh-CN" sz="2800" b="0" i="1"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bindings;</a:t>
            </a:r>
            <a:r>
              <a:rPr kumimoji="0" lang="zh-CN" altLang="en-US" sz="2400" b="0" i="0" u="none" strike="noStrike" kern="1200" cap="none" spc="0" normalizeH="0" baseline="0" noProof="0" dirty="0">
                <a:ln>
                  <a:noFill/>
                </a:ln>
                <a:solidFill>
                  <a:srgbClr val="222222"/>
                </a:solidFill>
                <a:effectLst/>
                <a:uLnTx/>
                <a:uFillTx/>
                <a:latin typeface="Helvetica Neue"/>
                <a:ea typeface="+mn-ea"/>
                <a:cs typeface="+mn-cs"/>
              </a:rPr>
              <a:t> </a:t>
            </a:r>
            <a:r>
              <a:rPr kumimoji="0" lang="zh-CN" altLang="en-US" sz="2000" b="0" i="0" u="none" strike="noStrike" kern="1200" cap="none" spc="0" normalizeH="0" baseline="0" noProof="0" dirty="0">
                <a:ln>
                  <a:noFill/>
                </a:ln>
                <a:solidFill>
                  <a:srgbClr val="222222"/>
                </a:solidFill>
                <a:effectLst/>
                <a:uLnTx/>
                <a:uFillTx/>
                <a:latin typeface="宋体" panose="02010600030101010101" pitchFamily="2" charset="-122"/>
                <a:ea typeface="宋体" panose="02010600030101010101" pitchFamily="2" charset="-122"/>
                <a:cs typeface="+mn-cs"/>
              </a:rPr>
              <a:t>表示一个标识符</a:t>
            </a:r>
            <a:r>
              <a:rPr kumimoji="0" lang="en-US" altLang="zh-CN" sz="2000" b="0" i="0" u="none" strike="noStrike" kern="1200" cap="none" spc="0" normalizeH="0" baseline="0" noProof="0" dirty="0">
                <a:ln>
                  <a:noFill/>
                </a:ln>
                <a:solidFill>
                  <a:srgbClr val="222222"/>
                </a:solidFill>
                <a:effectLst/>
                <a:uLnTx/>
                <a:uFillTx/>
                <a:latin typeface="宋体" panose="02010600030101010101" pitchFamily="2" charset="-122"/>
                <a:ea typeface="宋体" panose="02010600030101010101" pitchFamily="2" charset="-122"/>
                <a:cs typeface="+mn-cs"/>
              </a:rPr>
              <a:t>(identifier)</a:t>
            </a:r>
            <a:r>
              <a:rPr kumimoji="0" lang="zh-CN" altLang="en-US" sz="2000" b="0" i="0" u="none" strike="noStrike" kern="1200" cap="none" spc="0" normalizeH="0" baseline="0" noProof="0" dirty="0">
                <a:ln>
                  <a:noFill/>
                </a:ln>
                <a:solidFill>
                  <a:srgbClr val="222222"/>
                </a:solidFill>
                <a:effectLst/>
                <a:uLnTx/>
                <a:uFillTx/>
                <a:latin typeface="宋体" panose="02010600030101010101" pitchFamily="2" charset="-122"/>
                <a:ea typeface="宋体" panose="02010600030101010101" pitchFamily="2" charset="-122"/>
                <a:cs typeface="+mn-cs"/>
              </a:rPr>
              <a:t>的可见范围。一个标识符可在多个名字空间中定义，它在不同名字空间中的含义是互不相干的。比如学号、车牌号等；</a:t>
            </a:r>
            <a:endParaRPr kumimoji="0" lang="en-US" altLang="zh-CN" sz="20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457200" y="0"/>
            <a:ext cx="8229600" cy="876300"/>
          </a:xfrm>
        </p:spPr>
        <p:txBody>
          <a:bodyPr vert="horz" wrap="square" lIns="91440" tIns="45720" rIns="91440" bIns="45720" anchor="ctr" anchorCtr="0"/>
          <a:lstStyle/>
          <a:p>
            <a:pPr eaLnBrk="1" hangingPunct="1"/>
            <a:r>
              <a:rPr lang="en-US" altLang="zh-CN" sz="4000" dirty="0">
                <a:ea typeface="宋体" panose="02010600030101010101" pitchFamily="2" charset="-122"/>
              </a:rPr>
              <a:t>Entities, Names, IDs, and Addresses</a:t>
            </a:r>
            <a:endParaRPr lang="en-US" altLang="zh-CN" sz="4000" dirty="0">
              <a:ea typeface="宋体" panose="02010600030101010101" pitchFamily="2" charset="-122"/>
            </a:endParaRPr>
          </a:p>
        </p:txBody>
      </p:sp>
      <p:sp>
        <p:nvSpPr>
          <p:cNvPr id="202755" name="Rectangle 3"/>
          <p:cNvSpPr>
            <a:spLocks noGrp="1" noChangeArrowheads="1"/>
          </p:cNvSpPr>
          <p:nvPr>
            <p:ph idx="1"/>
          </p:nvPr>
        </p:nvSpPr>
        <p:spPr>
          <a:xfrm>
            <a:off x="368300" y="1079500"/>
            <a:ext cx="8369300" cy="4737100"/>
          </a:xfrm>
        </p:spPr>
        <p:txBody>
          <a:bodyPr vert="horz" wrap="square" lIns="91440" tIns="45720" rIns="91440" bIns="45720" numCol="1" anchor="t" anchorCtr="0" compatLnSpc="1"/>
          <a:lstStyle/>
          <a:p>
            <a:pPr marL="342900" marR="0" lvl="1"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A </a:t>
            </a:r>
            <a:r>
              <a:rPr kumimoji="0" lang="en-US" altLang="zh-CN" sz="2400" b="0" i="0" u="none" strike="noStrike" kern="0" cap="none" spc="0" normalizeH="0" baseline="0" noProof="0" dirty="0">
                <a:ln>
                  <a:noFill/>
                </a:ln>
                <a:solidFill>
                  <a:srgbClr val="0033CC"/>
                </a:solidFill>
                <a:effectLst/>
                <a:uLnTx/>
                <a:uFillTx/>
                <a:latin typeface="+mn-lt"/>
                <a:ea typeface="宋体" panose="02010600030101010101" pitchFamily="2" charset="-122"/>
              </a:rPr>
              <a:t>name</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 is a sequence of bits that can be used to refer to an </a:t>
            </a:r>
            <a:r>
              <a:rPr kumimoji="0" lang="en-US" altLang="zh-CN" sz="2400" b="0" i="0" u="none" strike="noStrike" kern="0" cap="none" spc="0" normalizeH="0" baseline="0" noProof="0" dirty="0">
                <a:ln>
                  <a:noFill/>
                </a:ln>
                <a:solidFill>
                  <a:srgbClr val="0033CC"/>
                </a:solidFill>
                <a:effectLst/>
                <a:uLnTx/>
                <a:uFillTx/>
                <a:latin typeface="+mn-lt"/>
                <a:ea typeface="宋体" panose="02010600030101010101" pitchFamily="2" charset="-122"/>
              </a:rPr>
              <a:t>entity</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400" b="0" i="0" u="none" strike="noStrike" kern="0" cap="none" spc="0" normalizeH="0" baseline="0" noProof="0" dirty="0">
                <a:ln>
                  <a:noFill/>
                </a:ln>
                <a:solidFill>
                  <a:schemeClr val="tx1"/>
                </a:solidFill>
                <a:effectLst/>
                <a:uLnTx/>
                <a:uFillTx/>
                <a:latin typeface="+mn-lt"/>
              </a:rPr>
              <a:t> (Names are in theory unique, but in practice maybe not.  DNS name.)</a:t>
            </a:r>
            <a:endParaRPr kumimoji="0" lang="en-US" altLang="zh-CN" sz="2400" b="0" i="0" u="none" strike="noStrike" kern="0" cap="none" spc="0" normalizeH="0" baseline="0" noProof="0" dirty="0">
              <a:ln>
                <a:noFill/>
              </a:ln>
              <a:solidFill>
                <a:schemeClr val="tx1"/>
              </a:solidFill>
              <a:effectLst/>
              <a:uLnTx/>
              <a:uFillTx/>
              <a:latin typeface="+mn-lt"/>
            </a:endParaRPr>
          </a:p>
          <a:p>
            <a:pPr marL="342900" marR="0" lvl="1"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600" b="0" i="0" u="none" strike="noStrike" kern="0" cap="none" spc="0" normalizeH="0" baseline="0" noProof="0" dirty="0">
                <a:ln>
                  <a:noFill/>
                </a:ln>
                <a:solidFill>
                  <a:schemeClr val="tx1"/>
                </a:solidFill>
                <a:effectLst/>
                <a:uLnTx/>
                <a:uFillTx/>
                <a:latin typeface="+mn-lt"/>
                <a:ea typeface="宋体" panose="02010600030101010101" pitchFamily="2" charset="-122"/>
              </a:rPr>
              <a:t>Entities: The “thing” that we want to refer to.</a:t>
            </a:r>
            <a:endParaRPr kumimoji="0" lang="en-US" altLang="zh-CN" sz="26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What properties are desired in name?</a:t>
            </a:r>
            <a:endParaRPr kumimoji="0" lang="en-US" altLang="zh-CN" sz="2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ü"/>
              <a:defRPr/>
            </a:pPr>
            <a:r>
              <a:rPr kumimoji="0" lang="en-US" altLang="zh-CN" sz="2600" b="0" i="0" u="none" strike="noStrike" kern="0" cap="none" spc="0" normalizeH="0" baseline="0" noProof="0" dirty="0">
                <a:ln>
                  <a:noFill/>
                </a:ln>
                <a:solidFill>
                  <a:schemeClr val="tx1"/>
                </a:solidFill>
                <a:effectLst/>
                <a:uLnTx/>
                <a:uFillTx/>
                <a:latin typeface="+mn-lt"/>
                <a:ea typeface="宋体" panose="02010600030101010101" pitchFamily="2" charset="-122"/>
              </a:rPr>
              <a:t> Location independence</a:t>
            </a:r>
            <a:endParaRPr kumimoji="0" lang="en-US" altLang="zh-CN" sz="2600" b="0"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ü"/>
              <a:defRPr/>
            </a:pPr>
            <a:r>
              <a:rPr kumimoji="0" lang="en-US" altLang="zh-CN" sz="2600" b="0" i="0" u="none" strike="noStrike" kern="0" cap="none" spc="0" normalizeH="0" baseline="0" noProof="0" dirty="0">
                <a:ln>
                  <a:noFill/>
                </a:ln>
                <a:solidFill>
                  <a:schemeClr val="tx1"/>
                </a:solidFill>
                <a:effectLst/>
                <a:uLnTx/>
                <a:uFillTx/>
                <a:latin typeface="+mn-lt"/>
                <a:ea typeface="宋体" panose="02010600030101010101" pitchFamily="2" charset="-122"/>
              </a:rPr>
              <a:t> Easy to remember</a:t>
            </a:r>
            <a:endParaRPr kumimoji="0" lang="en-US" altLang="zh-CN" sz="2600" b="0"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75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27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457200" y="0"/>
            <a:ext cx="8229600" cy="876300"/>
          </a:xfrm>
        </p:spPr>
        <p:txBody>
          <a:bodyPr vert="horz" wrap="square" lIns="91440" tIns="45720" rIns="91440" bIns="45720" anchor="ctr" anchorCtr="0"/>
          <a:lstStyle/>
          <a:p>
            <a:pPr eaLnBrk="1" hangingPunct="1"/>
            <a:r>
              <a:rPr lang="en-US" altLang="zh-CN" sz="4000" dirty="0">
                <a:ea typeface="宋体" panose="02010600030101010101" pitchFamily="2" charset="-122"/>
              </a:rPr>
              <a:t>Entities, Names, IDs, and Addresses</a:t>
            </a:r>
            <a:endParaRPr lang="en-US" altLang="zh-CN" sz="4000" dirty="0">
              <a:ea typeface="宋体" panose="02010600030101010101" pitchFamily="2" charset="-122"/>
            </a:endParaRPr>
          </a:p>
        </p:txBody>
      </p:sp>
      <p:sp>
        <p:nvSpPr>
          <p:cNvPr id="202755" name="Rectangle 3"/>
          <p:cNvSpPr>
            <a:spLocks noGrp="1"/>
          </p:cNvSpPr>
          <p:nvPr>
            <p:ph idx="1"/>
          </p:nvPr>
        </p:nvSpPr>
        <p:spPr>
          <a:xfrm>
            <a:off x="457200" y="942975"/>
            <a:ext cx="8426450" cy="3952875"/>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2800" dirty="0">
                <a:ea typeface="宋体" panose="02010600030101010101" pitchFamily="2" charset="-122"/>
              </a:rPr>
              <a:t>To operate on an entity, necessary to access it, via an </a:t>
            </a:r>
            <a:r>
              <a:rPr lang="en-US" altLang="zh-CN" sz="2800" dirty="0">
                <a:solidFill>
                  <a:srgbClr val="0033CC"/>
                </a:solidFill>
                <a:ea typeface="宋体" panose="02010600030101010101" pitchFamily="2" charset="-122"/>
              </a:rPr>
              <a:t>access point</a:t>
            </a:r>
            <a:r>
              <a:rPr lang="zh-CN" altLang="en-US" sz="2800" dirty="0">
                <a:ea typeface="宋体" panose="02010600030101010101" pitchFamily="2" charset="-122"/>
              </a:rPr>
              <a:t>（</a:t>
            </a:r>
            <a:r>
              <a:rPr lang="en-US" altLang="zh-CN" sz="2800" dirty="0">
                <a:solidFill>
                  <a:srgbClr val="0033CC"/>
                </a:solidFill>
                <a:ea typeface="宋体" panose="02010600030101010101" pitchFamily="2" charset="-122"/>
              </a:rPr>
              <a:t>addresses</a:t>
            </a:r>
            <a:r>
              <a:rPr lang="zh-CN" altLang="en-US" sz="2800" dirty="0">
                <a:ea typeface="宋体" panose="02010600030101010101" pitchFamily="2" charset="-122"/>
              </a:rPr>
              <a:t>）</a:t>
            </a:r>
            <a:r>
              <a:rPr lang="en-US" altLang="zh-CN" sz="2800" dirty="0">
                <a:ea typeface="宋体" panose="02010600030101010101" pitchFamily="2" charset="-122"/>
              </a:rPr>
              <a:t>.</a:t>
            </a:r>
            <a:endParaRPr lang="en-US" altLang="zh-CN" sz="2800" dirty="0">
              <a:ea typeface="宋体" panose="02010600030101010101" pitchFamily="2" charset="-122"/>
            </a:endParaRPr>
          </a:p>
          <a:p>
            <a:pPr lvl="1" eaLnBrk="1" hangingPunct="1">
              <a:buFont typeface="Wingdings" panose="05000000000000000000" pitchFamily="2" charset="2"/>
              <a:buChar char="ü"/>
            </a:pPr>
            <a:r>
              <a:rPr lang="en-US" altLang="zh-CN" dirty="0">
                <a:ea typeface="宋体" panose="02010600030101010101" pitchFamily="2" charset="-122"/>
              </a:rPr>
              <a:t> Can an entity have more than one access point?</a:t>
            </a:r>
            <a:endParaRPr lang="en-US" altLang="zh-CN" dirty="0">
              <a:ea typeface="宋体" panose="02010600030101010101" pitchFamily="2" charset="-122"/>
            </a:endParaRPr>
          </a:p>
          <a:p>
            <a:pPr lvl="1" eaLnBrk="1" hangingPunct="1">
              <a:buFont typeface="Wingdings" panose="05000000000000000000" pitchFamily="2" charset="2"/>
              <a:buChar char="ü"/>
            </a:pPr>
            <a:r>
              <a:rPr lang="en-US" altLang="zh-CN" dirty="0">
                <a:ea typeface="宋体" panose="02010600030101010101" pitchFamily="2" charset="-122"/>
              </a:rPr>
              <a:t> Can an entities access point change over time?</a:t>
            </a:r>
            <a:endParaRPr lang="en-US" altLang="zh-CN"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800" dirty="0">
                <a:ea typeface="宋体" panose="02010600030101010101" pitchFamily="2" charset="-122"/>
              </a:rPr>
              <a:t>Are names unique? Permanent?</a:t>
            </a:r>
            <a:endParaRPr lang="en-US" altLang="zh-CN" sz="28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800" dirty="0">
                <a:ea typeface="宋体" panose="02010600030101010101" pitchFamily="2" charset="-122"/>
              </a:rPr>
              <a:t>Addresses unique? Permanent?</a:t>
            </a:r>
            <a:endParaRPr lang="en-US" altLang="zh-CN" sz="2800"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2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27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27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27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27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0" y="0"/>
            <a:ext cx="9144000" cy="571500"/>
          </a:xfrm>
        </p:spPr>
        <p:txBody>
          <a:bodyPr vert="horz" wrap="square" lIns="91440" tIns="45720" rIns="91440" bIns="45720" anchor="ctr" anchorCtr="0"/>
          <a:lstStyle/>
          <a:p>
            <a:pPr eaLnBrk="1" hangingPunct="1"/>
            <a:r>
              <a:rPr lang="en-US" altLang="zh-CN" dirty="0">
                <a:ea typeface="宋体" panose="02010600030101010101" pitchFamily="2" charset="-122"/>
              </a:rPr>
              <a:t>Name</a:t>
            </a:r>
            <a:r>
              <a:rPr lang="en-US" altLang="zh-CN" sz="4000" dirty="0">
                <a:ea typeface="宋体" panose="02010600030101010101" pitchFamily="2" charset="-122"/>
              </a:rPr>
              <a:t> </a:t>
            </a:r>
            <a:r>
              <a:rPr lang="en-US" altLang="zh-CN" dirty="0">
                <a:ea typeface="宋体" panose="02010600030101010101" pitchFamily="2" charset="-122"/>
              </a:rPr>
              <a:t>Types</a:t>
            </a:r>
            <a:endParaRPr lang="en-US" altLang="zh-CN" dirty="0">
              <a:ea typeface="宋体" panose="02010600030101010101" pitchFamily="2" charset="-122"/>
            </a:endParaRPr>
          </a:p>
        </p:txBody>
      </p:sp>
      <p:sp>
        <p:nvSpPr>
          <p:cNvPr id="13315" name="Rectangle 3"/>
          <p:cNvSpPr>
            <a:spLocks noGrp="1"/>
          </p:cNvSpPr>
          <p:nvPr>
            <p:ph idx="1"/>
          </p:nvPr>
        </p:nvSpPr>
        <p:spPr>
          <a:xfrm>
            <a:off x="315913" y="685800"/>
            <a:ext cx="8737600" cy="1930400"/>
          </a:xfrm>
        </p:spPr>
        <p:txBody>
          <a:bodyPr vert="horz" wrap="square" lIns="91440" tIns="45720" rIns="91440" bIns="45720" anchor="t" anchorCtr="0"/>
          <a:lstStyle/>
          <a:p>
            <a:pPr marL="609600" indent="-609600" algn="l" eaLnBrk="1" hangingPunct="1">
              <a:buFont typeface="Wingdings" panose="05000000000000000000" pitchFamily="2" charset="2"/>
              <a:buChar char="n"/>
            </a:pPr>
            <a:r>
              <a:rPr lang="en-US" altLang="zh-CN" sz="2400" dirty="0">
                <a:ea typeface="宋体" panose="02010600030101010101" pitchFamily="2" charset="-122"/>
              </a:rPr>
              <a:t>Identifier:</a:t>
            </a:r>
            <a:r>
              <a:rPr lang="zh-CN" altLang="en-US" sz="2400" dirty="0">
                <a:ea typeface="宋体" panose="02010600030101010101" pitchFamily="2" charset="-122"/>
              </a:rPr>
              <a:t> </a:t>
            </a:r>
            <a:r>
              <a:rPr lang="en-US" altLang="zh-CN" sz="2400" dirty="0">
                <a:ea typeface="宋体" panose="02010600030101010101" pitchFamily="2" charset="-122"/>
              </a:rPr>
              <a:t>unambiguously refers to an entity(1 to 1)</a:t>
            </a:r>
            <a:endParaRPr lang="en-US" altLang="zh-CN" sz="2400" dirty="0">
              <a:ea typeface="宋体" panose="02010600030101010101" pitchFamily="2" charset="-122"/>
            </a:endParaRPr>
          </a:p>
          <a:p>
            <a:pPr marL="609600" indent="-609600" algn="l" eaLnBrk="1" hangingPunct="1">
              <a:buFont typeface="Wingdings" panose="05000000000000000000" pitchFamily="2" charset="2"/>
              <a:buChar char="n"/>
            </a:pPr>
            <a:r>
              <a:rPr lang="en-US" altLang="zh-CN" sz="2400" dirty="0">
                <a:ea typeface="宋体" panose="02010600030101010101" pitchFamily="2" charset="-122"/>
              </a:rPr>
              <a:t>Address:</a:t>
            </a:r>
            <a:r>
              <a:rPr lang="zh-CN" altLang="en-US" sz="2400" dirty="0">
                <a:ea typeface="宋体" panose="02010600030101010101" pitchFamily="2" charset="-122"/>
              </a:rPr>
              <a:t> </a:t>
            </a:r>
            <a:r>
              <a:rPr lang="en-US" altLang="zh-CN" sz="2400" dirty="0">
                <a:ea typeface="宋体" panose="02010600030101010101" pitchFamily="2" charset="-122"/>
              </a:rPr>
              <a:t>access point</a:t>
            </a:r>
            <a:endParaRPr lang="en-US" altLang="zh-CN" sz="2400" dirty="0">
              <a:ea typeface="宋体" panose="02010600030101010101" pitchFamily="2" charset="-122"/>
            </a:endParaRPr>
          </a:p>
          <a:p>
            <a:pPr marL="609600" indent="-609600" algn="l" eaLnBrk="1" hangingPunct="1">
              <a:buFont typeface="Wingdings" panose="05000000000000000000" pitchFamily="2" charset="2"/>
              <a:buChar char="n"/>
            </a:pPr>
            <a:r>
              <a:rPr lang="en-US" altLang="zh-CN" sz="2400" dirty="0">
                <a:ea typeface="宋体" panose="02010600030101010101" pitchFamily="2" charset="-122"/>
              </a:rPr>
              <a:t>Human Friendly Name</a:t>
            </a:r>
            <a:r>
              <a:rPr lang="zh-CN" altLang="en-US" sz="2400" dirty="0">
                <a:ea typeface="宋体" panose="02010600030101010101" pitchFamily="2" charset="-122"/>
              </a:rPr>
              <a:t>：</a:t>
            </a:r>
            <a:endParaRPr lang="en-US" altLang="zh-CN" sz="2400" dirty="0">
              <a:ea typeface="宋体" panose="02010600030101010101" pitchFamily="2" charset="-122"/>
            </a:endParaRPr>
          </a:p>
          <a:p>
            <a:pPr marL="1009650" lvl="1" indent="-609600" eaLnBrk="1" hangingPunct="1">
              <a:buNone/>
            </a:pPr>
            <a:r>
              <a:rPr lang="zh-CN" altLang="en-US" sz="2400" dirty="0">
                <a:ea typeface="宋体" panose="02010600030101010101" pitchFamily="2" charset="-122"/>
              </a:rPr>
              <a:t>   </a:t>
            </a:r>
            <a:r>
              <a:rPr lang="en-US" altLang="zh-CN" sz="2400" dirty="0">
                <a:ea typeface="宋体" panose="02010600030101010101" pitchFamily="2" charset="-122"/>
              </a:rPr>
              <a:t>a name tailored to be used by humans, often a character string</a:t>
            </a:r>
            <a:endParaRPr lang="en-US" altLang="zh-CN" sz="2400" dirty="0">
              <a:ea typeface="宋体" panose="02010600030101010101" pitchFamily="2" charset="-122"/>
            </a:endParaRPr>
          </a:p>
        </p:txBody>
      </p:sp>
      <p:sp>
        <p:nvSpPr>
          <p:cNvPr id="5" name="Rectangle 2"/>
          <p:cNvSpPr txBox="1">
            <a:spLocks noChangeArrowheads="1"/>
          </p:cNvSpPr>
          <p:nvPr/>
        </p:nvSpPr>
        <p:spPr bwMode="auto">
          <a:xfrm>
            <a:off x="0" y="2762250"/>
            <a:ext cx="3214688" cy="598488"/>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Properties </a:t>
            </a:r>
            <a:endParaRPr kumimoji="0" lang="en-US" altLang="zh-CN" sz="32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6" name="Rectangle 3"/>
          <p:cNvSpPr txBox="1">
            <a:spLocks noChangeArrowheads="1"/>
          </p:cNvSpPr>
          <p:nvPr/>
        </p:nvSpPr>
        <p:spPr bwMode="auto">
          <a:xfrm>
            <a:off x="284163" y="3506788"/>
            <a:ext cx="8769350" cy="306546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Names versus addresses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Location transparent versus location-dependent </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Flat versus hierarchical</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name assignment vs name resolution</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Global versus local </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Absolute versus relative </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Unique versus ambiguous </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txBox="1">
            <a:spLocks noGrp="1"/>
          </p:cNvSpPr>
          <p:nvPr>
            <p:ph type="sldNum" sz="quarter" idx="12"/>
          </p:nvPr>
        </p:nvSpPr>
        <p:spPr/>
        <p:txBody>
          <a:bodyPr/>
          <a:lstStyle/>
          <a:p>
            <a:pPr marL="0" indent="0" algn="r" eaLnBrk="1" hangingPunct="1">
              <a:spcBef>
                <a:spcPct val="0"/>
              </a:spcBef>
              <a:buClr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5363" name="Rectangle 2"/>
          <p:cNvSpPr>
            <a:spLocks noGrp="1"/>
          </p:cNvSpPr>
          <p:nvPr>
            <p:ph type="title"/>
          </p:nvPr>
        </p:nvSpPr>
        <p:spPr>
          <a:xfrm>
            <a:off x="0" y="0"/>
            <a:ext cx="9144000" cy="742950"/>
          </a:xfrm>
        </p:spPr>
        <p:txBody>
          <a:bodyPr vert="horz" wrap="square" lIns="91440" tIns="45720" rIns="91440" bIns="45720" anchor="ctr" anchorCtr="0"/>
          <a:lstStyle/>
          <a:p>
            <a:r>
              <a:rPr lang="en-US" altLang="zh-CN" dirty="0">
                <a:ea typeface="宋体" panose="02010600030101010101" pitchFamily="2" charset="-122"/>
              </a:rPr>
              <a:t>Fundamental Tricotomy</a:t>
            </a:r>
            <a:r>
              <a:rPr lang="en-US" altLang="zh-CN" sz="2400" dirty="0">
                <a:ea typeface="宋体" panose="02010600030101010101" pitchFamily="2" charset="-122"/>
              </a:rPr>
              <a:t>(</a:t>
            </a:r>
            <a:r>
              <a:rPr lang="zh-CN" altLang="en-US" sz="2400" dirty="0">
                <a:ea typeface="宋体" panose="02010600030101010101" pitchFamily="2" charset="-122"/>
              </a:rPr>
              <a:t>三分法</a:t>
            </a:r>
            <a:r>
              <a:rPr lang="en-US" altLang="zh-CN" sz="2400" dirty="0">
                <a:ea typeface="宋体" panose="02010600030101010101" pitchFamily="2" charset="-122"/>
              </a:rPr>
              <a:t>)</a:t>
            </a:r>
            <a:endParaRPr lang="en-US" altLang="zh-CN" sz="2400" dirty="0">
              <a:ea typeface="宋体" panose="02010600030101010101" pitchFamily="2" charset="-122"/>
            </a:endParaRPr>
          </a:p>
        </p:txBody>
      </p:sp>
      <p:sp>
        <p:nvSpPr>
          <p:cNvPr id="10244" name="Rectangle 3"/>
          <p:cNvSpPr>
            <a:spLocks noGrp="1" noChangeArrowheads="1"/>
          </p:cNvSpPr>
          <p:nvPr>
            <p:ph idx="1"/>
          </p:nvPr>
        </p:nvSpPr>
        <p:spPr>
          <a:xfrm>
            <a:off x="215900" y="844550"/>
            <a:ext cx="8915400" cy="15970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Names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Addresses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2"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Routes(sometimes called paths)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5365" name="Rectangle 2"/>
          <p:cNvSpPr txBox="1"/>
          <p:nvPr/>
        </p:nvSpPr>
        <p:spPr>
          <a:xfrm>
            <a:off x="282575" y="2782888"/>
            <a:ext cx="5308600" cy="698500"/>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en-US" altLang="zh-CN" sz="2800" dirty="0">
                <a:solidFill>
                  <a:srgbClr val="FF0000"/>
                </a:solidFill>
                <a:ea typeface="宋体" panose="02010600030101010101" pitchFamily="2" charset="-122"/>
              </a:rPr>
              <a:t>Example — a Person</a:t>
            </a:r>
            <a:endParaRPr lang="en-US" altLang="zh-CN" sz="2800" dirty="0">
              <a:solidFill>
                <a:srgbClr val="FF0000"/>
              </a:solidFill>
              <a:ea typeface="宋体" panose="02010600030101010101" pitchFamily="2" charset="-122"/>
            </a:endParaRPr>
          </a:p>
        </p:txBody>
      </p:sp>
      <p:sp>
        <p:nvSpPr>
          <p:cNvPr id="6" name="Rectangle 3"/>
          <p:cNvSpPr txBox="1">
            <a:spLocks noChangeArrowheads="1"/>
          </p:cNvSpPr>
          <p:nvPr/>
        </p:nvSpPr>
        <p:spPr bwMode="auto">
          <a:xfrm>
            <a:off x="282575" y="3630613"/>
            <a:ext cx="8420100" cy="2730500"/>
          </a:xfrm>
          <a:prstGeom prst="rect">
            <a:avLst/>
          </a:prstGeom>
          <a:noFill/>
          <a:ln w="9525">
            <a:noFill/>
            <a:miter lim="800000"/>
          </a:ln>
        </p:spPr>
        <p:txBody>
          <a:bodyPr/>
          <a:lstStyle/>
          <a:p>
            <a:pPr marL="342900" marR="0" indent="-342900" defTabSz="914400">
              <a:spcBef>
                <a:spcPct val="20000"/>
              </a:spcBef>
              <a:buClr>
                <a:schemeClr val="accent2"/>
              </a:buClr>
              <a:buSzTx/>
              <a:buFont typeface="Wingdings" panose="05000000000000000000" pitchFamily="2" charset="2"/>
              <a:buChar char="u"/>
              <a:defRPr/>
            </a:pPr>
            <a:r>
              <a:rPr kumimoji="0" lang="en-US" altLang="zh-CN" sz="2400" kern="0" cap="none" spc="0" normalizeH="0" baseline="0" noProof="0" dirty="0">
                <a:latin typeface="+mn-lt"/>
                <a:ea typeface="宋体" panose="02010600030101010101" pitchFamily="2" charset="-122"/>
                <a:cs typeface="+mn-cs"/>
                <a:sym typeface="+mn-ea"/>
              </a:rPr>
              <a:t>Name — Jonathan M. Smith</a:t>
            </a:r>
            <a:endParaRPr kumimoji="0" lang="en-US" altLang="zh-CN" sz="2400" kern="0" cap="none" spc="0" normalizeH="0" baseline="0" noProof="0" dirty="0">
              <a:latin typeface="+mn-lt"/>
              <a:ea typeface="宋体" panose="02010600030101010101" pitchFamily="2" charset="-122"/>
              <a:cs typeface="+mn-cs"/>
              <a:sym typeface="+mn-ea"/>
            </a:endParaRPr>
          </a:p>
          <a:p>
            <a:pPr marL="342900" marR="0" indent="-342900" defTabSz="914400">
              <a:spcBef>
                <a:spcPct val="20000"/>
              </a:spcBef>
              <a:buClr>
                <a:schemeClr val="accent2"/>
              </a:buClr>
              <a:buSzTx/>
              <a:buFont typeface="Wingdings" panose="05000000000000000000" pitchFamily="2" charset="2"/>
              <a:buChar char="u"/>
              <a:defRPr/>
            </a:pPr>
            <a:r>
              <a:rPr kumimoji="0" lang="en-US" altLang="zh-CN" sz="2400" kern="0" cap="none" spc="0" normalizeH="0" baseline="0" noProof="0" dirty="0">
                <a:latin typeface="+mn-lt"/>
                <a:ea typeface="宋体" panose="02010600030101010101" pitchFamily="2" charset="-122"/>
                <a:cs typeface="+mn-cs"/>
                <a:sym typeface="+mn-ea"/>
              </a:rPr>
              <a:t>Address — 123 Park St., Andover, MA</a:t>
            </a:r>
            <a:endParaRPr kumimoji="0" lang="en-US" altLang="zh-CN" sz="2400" kern="0" cap="none" spc="0" normalizeH="0" baseline="0" noProof="0" dirty="0">
              <a:latin typeface="+mn-lt"/>
              <a:ea typeface="宋体" panose="02010600030101010101" pitchFamily="2" charset="-122"/>
              <a:cs typeface="+mn-cs"/>
              <a:sym typeface="+mn-ea"/>
            </a:endParaRPr>
          </a:p>
          <a:p>
            <a:pPr marL="342900" marR="0" indent="-342900" defTabSz="914400">
              <a:spcBef>
                <a:spcPct val="20000"/>
              </a:spcBef>
              <a:buClr>
                <a:schemeClr val="accent2"/>
              </a:buClr>
              <a:buSzTx/>
              <a:buFont typeface="Wingdings" panose="05000000000000000000" pitchFamily="2" charset="2"/>
              <a:buChar char="u"/>
              <a:defRPr/>
            </a:pPr>
            <a:r>
              <a:rPr kumimoji="0" lang="en-US" altLang="zh-CN" sz="2400" kern="0" cap="none" spc="0" normalizeH="0" baseline="0" noProof="0" dirty="0">
                <a:latin typeface="+mn-lt"/>
                <a:ea typeface="宋体" panose="02010600030101010101" pitchFamily="2" charset="-122"/>
                <a:cs typeface="+mn-cs"/>
                <a:sym typeface="+mn-ea"/>
              </a:rPr>
              <a:t>Route — </a:t>
            </a:r>
            <a:endParaRPr kumimoji="0" lang="en-US" altLang="zh-CN" sz="2400" kern="0" cap="none" spc="0" normalizeH="0" baseline="0" noProof="0" dirty="0">
              <a:latin typeface="+mn-lt"/>
              <a:ea typeface="宋体" panose="02010600030101010101" pitchFamily="2" charset="-122"/>
              <a:cs typeface="+mn-cs"/>
              <a:sym typeface="+mn-ea"/>
            </a:endParaRPr>
          </a:p>
          <a:p>
            <a:pPr marL="1143000" marR="0" lvl="2" indent="-22860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From Andover center, go west 1.2 miles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1143000" marR="0" lvl="2" indent="-22860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Turn right, then take 3</a:t>
            </a:r>
            <a:r>
              <a:rPr kumimoji="0" lang="en-US" altLang="zh-CN" sz="24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sym typeface="+mn-ea"/>
              </a:rPr>
              <a:t>rd</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 left</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endParaRPr>
          </a:p>
          <a:p>
            <a:pPr marL="1143000" marR="0" lvl="2" indent="-228600" algn="l" defTabSz="914400" rtl="0" eaLnBrk="0" fontAlgn="base" latinLnBrk="0" hangingPunct="0">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He lives at the 2</a:t>
            </a:r>
            <a:r>
              <a:rPr kumimoji="0" lang="en-US" altLang="zh-CN" sz="24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sym typeface="+mn-ea"/>
              </a:rPr>
              <a:t>nd</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rPr>
              <a:t> house on the right</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txBox="1">
            <a:spLocks noGrp="1"/>
          </p:cNvSpPr>
          <p:nvPr>
            <p:ph type="sldNum" sz="quarter" idx="12"/>
          </p:nvPr>
        </p:nvSpPr>
        <p:spPr/>
        <p:txBody>
          <a:bodyPr/>
          <a:lstStyle/>
          <a:p>
            <a:pPr marL="0" indent="0" algn="r" eaLnBrk="1" hangingPunct="1">
              <a:spcBef>
                <a:spcPct val="0"/>
              </a:spcBef>
              <a:buClr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7411" name="Rectangle 2"/>
          <p:cNvSpPr>
            <a:spLocks noGrp="1"/>
          </p:cNvSpPr>
          <p:nvPr>
            <p:ph type="title"/>
          </p:nvPr>
        </p:nvSpPr>
        <p:spPr>
          <a:xfrm>
            <a:off x="0" y="0"/>
            <a:ext cx="5283200" cy="600075"/>
          </a:xfrm>
        </p:spPr>
        <p:txBody>
          <a:bodyPr vert="horz" wrap="square" lIns="91440" tIns="45720" rIns="91440" bIns="45720" anchor="ctr" anchorCtr="0"/>
          <a:lstStyle/>
          <a:p>
            <a:pPr algn="l"/>
            <a:r>
              <a:rPr lang="en-US" altLang="zh-CN" sz="3200" dirty="0">
                <a:ea typeface="宋体" panose="02010600030101010101" pitchFamily="2" charset="-122"/>
              </a:rPr>
              <a:t>Example — a File</a:t>
            </a:r>
            <a:endParaRPr lang="en-US" altLang="zh-CN" sz="3200" dirty="0">
              <a:ea typeface="宋体" panose="02010600030101010101" pitchFamily="2" charset="-122"/>
            </a:endParaRPr>
          </a:p>
        </p:txBody>
      </p:sp>
      <p:sp>
        <p:nvSpPr>
          <p:cNvPr id="17412" name="Rectangle 3"/>
          <p:cNvSpPr>
            <a:spLocks noGrp="1"/>
          </p:cNvSpPr>
          <p:nvPr>
            <p:ph idx="1"/>
          </p:nvPr>
        </p:nvSpPr>
        <p:spPr>
          <a:xfrm>
            <a:off x="292100" y="733425"/>
            <a:ext cx="8928100" cy="1866900"/>
          </a:xfrm>
        </p:spPr>
        <p:txBody>
          <a:bodyPr vert="horz" wrap="square" lIns="91440" tIns="45720" rIns="91440" bIns="45720" anchor="t" anchorCtr="0"/>
          <a:lstStyle/>
          <a:p>
            <a:pPr algn="l">
              <a:buFont typeface="Wingdings" panose="05000000000000000000" pitchFamily="2" charset="2"/>
              <a:buChar char="u"/>
            </a:pPr>
            <a:r>
              <a:rPr lang="en-US" altLang="zh-CN" sz="2400" dirty="0">
                <a:ea typeface="宋体" panose="02010600030101010101" pitchFamily="2" charset="-122"/>
              </a:rPr>
              <a:t>Name — </a:t>
            </a:r>
            <a:r>
              <a:rPr lang="en-US" altLang="zh-CN" sz="2400" b="1" dirty="0">
                <a:latin typeface="Courier New" panose="02070309020205020404" pitchFamily="49" charset="0"/>
                <a:ea typeface="宋体" panose="02010600030101010101" pitchFamily="2" charset="-122"/>
              </a:rPr>
              <a:t>index.html</a:t>
            </a:r>
            <a:endParaRPr lang="en-US" altLang="zh-CN" sz="2400" b="1" dirty="0">
              <a:latin typeface="Courier New" panose="02070309020205020404" pitchFamily="49" charset="0"/>
              <a:ea typeface="宋体" panose="02010600030101010101" pitchFamily="2" charset="-122"/>
            </a:endParaRPr>
          </a:p>
          <a:p>
            <a:pPr algn="l">
              <a:buFont typeface="Wingdings" panose="05000000000000000000" pitchFamily="2" charset="2"/>
              <a:buChar char="u"/>
            </a:pPr>
            <a:r>
              <a:rPr lang="en-US" altLang="zh-CN" sz="2400" dirty="0">
                <a:ea typeface="宋体" panose="02010600030101010101" pitchFamily="2" charset="-122"/>
              </a:rPr>
              <a:t>Address — inode </a:t>
            </a:r>
            <a:r>
              <a:rPr lang="en-US" altLang="zh-CN" sz="2400" b="1" dirty="0">
                <a:latin typeface="Courier New" panose="02070309020205020404" pitchFamily="49" charset="0"/>
                <a:ea typeface="宋体" panose="02010600030101010101" pitchFamily="2" charset="-122"/>
              </a:rPr>
              <a:t>#54321</a:t>
            </a:r>
            <a:endParaRPr lang="en-US" altLang="zh-CN" sz="2400" b="1" dirty="0">
              <a:latin typeface="Courier New" panose="02070309020205020404" pitchFamily="49" charset="0"/>
              <a:ea typeface="宋体" panose="02010600030101010101" pitchFamily="2" charset="-122"/>
            </a:endParaRPr>
          </a:p>
          <a:p>
            <a:pPr algn="l">
              <a:buFont typeface="Wingdings" panose="05000000000000000000" pitchFamily="2" charset="2"/>
              <a:buChar char="u"/>
            </a:pPr>
            <a:r>
              <a:rPr lang="en-US" altLang="zh-CN" sz="2400" dirty="0">
                <a:ea typeface="宋体" panose="02010600030101010101" pitchFamily="2" charset="-122"/>
              </a:rPr>
              <a:t>Route (path) —</a:t>
            </a:r>
            <a:endParaRPr lang="en-US" altLang="zh-CN" sz="2400" dirty="0">
              <a:ea typeface="宋体" panose="02010600030101010101" pitchFamily="2" charset="-122"/>
            </a:endParaRPr>
          </a:p>
          <a:p>
            <a:pPr lvl="2"/>
            <a:r>
              <a:rPr lang="en-US" altLang="zh-CN" b="1" dirty="0">
                <a:latin typeface="Courier New" panose="02070309020205020404" pitchFamily="49" charset="0"/>
                <a:ea typeface="宋体" panose="02010600030101010101" pitchFamily="2" charset="-122"/>
              </a:rPr>
              <a:t>/csopt1/cs4513/public_html/d07/index.html</a:t>
            </a:r>
            <a:endParaRPr lang="en-US" altLang="zh-CN" b="1" dirty="0">
              <a:latin typeface="Courier New" panose="02070309020205020404" pitchFamily="49" charset="0"/>
              <a:ea typeface="宋体" panose="02010600030101010101" pitchFamily="2" charset="-122"/>
            </a:endParaRPr>
          </a:p>
        </p:txBody>
      </p:sp>
      <p:sp>
        <p:nvSpPr>
          <p:cNvPr id="17413" name="Rectangle 2"/>
          <p:cNvSpPr txBox="1"/>
          <p:nvPr/>
        </p:nvSpPr>
        <p:spPr>
          <a:xfrm>
            <a:off x="0" y="2466975"/>
            <a:ext cx="6464300" cy="812800"/>
          </a:xfrm>
          <a:prstGeom prst="rect">
            <a:avLst/>
          </a:prstGeom>
          <a:noFill/>
          <a:ln w="9525">
            <a:noFill/>
          </a:ln>
        </p:spPr>
        <p:txBody>
          <a:bodyPr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a:spcBef>
                <a:spcPct val="0"/>
              </a:spcBef>
              <a:buClrTx/>
              <a:buNone/>
            </a:pPr>
            <a:r>
              <a:rPr lang="en-US" altLang="zh-CN" dirty="0">
                <a:solidFill>
                  <a:srgbClr val="FF0000"/>
                </a:solidFill>
                <a:ea typeface="宋体" panose="02010600030101010101" pitchFamily="2" charset="-122"/>
              </a:rPr>
              <a:t>Example — a Web Page</a:t>
            </a:r>
            <a:endParaRPr lang="en-US" altLang="zh-CN" dirty="0">
              <a:solidFill>
                <a:srgbClr val="FF0000"/>
              </a:solidFill>
              <a:ea typeface="宋体" panose="02010600030101010101" pitchFamily="2" charset="-122"/>
            </a:endParaRPr>
          </a:p>
        </p:txBody>
      </p:sp>
      <p:sp>
        <p:nvSpPr>
          <p:cNvPr id="17414" name="Rectangle 3"/>
          <p:cNvSpPr txBox="1"/>
          <p:nvPr/>
        </p:nvSpPr>
        <p:spPr>
          <a:xfrm>
            <a:off x="215900" y="3235325"/>
            <a:ext cx="7670800" cy="137160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a:buFont typeface="Wingdings" panose="05000000000000000000" pitchFamily="2" charset="2"/>
              <a:buChar char="u"/>
            </a:pPr>
            <a:r>
              <a:rPr lang="en-US" altLang="zh-CN" sz="2400" dirty="0">
                <a:ea typeface="宋体" panose="02010600030101010101" pitchFamily="2" charset="-122"/>
              </a:rPr>
              <a:t>Name — CS-4513 Home Page</a:t>
            </a:r>
            <a:endParaRPr lang="en-US" altLang="zh-CN" sz="2400" dirty="0">
              <a:ea typeface="宋体" panose="02010600030101010101" pitchFamily="2" charset="-122"/>
            </a:endParaRPr>
          </a:p>
          <a:p>
            <a:pPr marL="342900" lvl="0" indent="-342900" algn="l">
              <a:buFont typeface="Wingdings" panose="05000000000000000000" pitchFamily="2" charset="2"/>
              <a:buChar char="u"/>
            </a:pPr>
            <a:r>
              <a:rPr lang="en-US" altLang="zh-CN" sz="2400" dirty="0">
                <a:ea typeface="宋体" panose="02010600030101010101" pitchFamily="2" charset="-122"/>
              </a:rPr>
              <a:t>Address — inode </a:t>
            </a:r>
            <a:r>
              <a:rPr lang="en-US" altLang="zh-CN" sz="2400" b="1" dirty="0">
                <a:latin typeface="Courier New" panose="02070309020205020404" pitchFamily="49" charset="0"/>
                <a:ea typeface="宋体" panose="02010600030101010101" pitchFamily="2" charset="-122"/>
              </a:rPr>
              <a:t>#54321</a:t>
            </a:r>
            <a:endParaRPr lang="en-US" altLang="zh-CN" sz="2400" dirty="0">
              <a:ea typeface="宋体" panose="02010600030101010101" pitchFamily="2" charset="-122"/>
            </a:endParaRPr>
          </a:p>
          <a:p>
            <a:pPr marL="342900" lvl="0" indent="-342900" algn="l">
              <a:buFont typeface="Wingdings" panose="05000000000000000000" pitchFamily="2" charset="2"/>
              <a:buChar char="u"/>
            </a:pPr>
            <a:r>
              <a:rPr lang="en-US" altLang="zh-CN" sz="2400" dirty="0">
                <a:ea typeface="宋体" panose="02010600030101010101" pitchFamily="2" charset="-122"/>
              </a:rPr>
              <a:t>Route —</a:t>
            </a:r>
            <a:r>
              <a:rPr lang="zh-CN" altLang="en-US" sz="2400" dirty="0">
                <a:ea typeface="宋体" panose="02010600030101010101" pitchFamily="2" charset="-122"/>
              </a:rPr>
              <a:t> </a:t>
            </a:r>
            <a:r>
              <a:rPr lang="en-US" altLang="zh-CN" sz="2400" dirty="0">
                <a:ea typeface="宋体" panose="02010600030101010101" pitchFamily="2" charset="-122"/>
              </a:rPr>
              <a:t>http://www.cs.wpi.edu/~cs4513/d07</a:t>
            </a:r>
            <a:endParaRPr lang="en-US" altLang="zh-CN" sz="2400" dirty="0">
              <a:ea typeface="宋体" panose="02010600030101010101" pitchFamily="2" charset="-122"/>
            </a:endParaRPr>
          </a:p>
        </p:txBody>
      </p:sp>
      <p:sp>
        <p:nvSpPr>
          <p:cNvPr id="7" name="Rectangle 2"/>
          <p:cNvSpPr txBox="1">
            <a:spLocks noChangeArrowheads="1"/>
          </p:cNvSpPr>
          <p:nvPr/>
        </p:nvSpPr>
        <p:spPr bwMode="auto">
          <a:xfrm>
            <a:off x="-161925" y="4772025"/>
            <a:ext cx="4391025" cy="304800"/>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Example — Remote Object</a:t>
            </a:r>
            <a:endParaRPr kumimoji="0" lang="en-US" altLang="zh-CN" sz="28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8" name="Rectangle 3"/>
          <p:cNvSpPr txBox="1">
            <a:spLocks noChangeArrowheads="1"/>
          </p:cNvSpPr>
          <p:nvPr/>
        </p:nvSpPr>
        <p:spPr bwMode="auto">
          <a:xfrm>
            <a:off x="215900" y="5241925"/>
            <a:ext cx="8077200" cy="146367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Name — Gutenberg (a print server)</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Address — ???</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Route —</a:t>
            </a:r>
            <a:r>
              <a:rPr kumimoji="0" lang="en-US" altLang="zh-CN" sz="2400" b="1" i="0" u="none" strike="noStrike" kern="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rPr>
              <a:t>rmi://garden.wpi.edu:1099/Gutenberg</a:t>
            </a:r>
            <a:endParaRPr kumimoji="0" lang="en-US" altLang="zh-CN" sz="2400" b="1" i="0" u="none" strike="noStrike" kern="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txBox="1">
            <a:spLocks noGrp="1"/>
          </p:cNvSpPr>
          <p:nvPr>
            <p:ph type="sldNum" sz="quarter" idx="12"/>
          </p:nvPr>
        </p:nvSpPr>
        <p:spPr/>
        <p:txBody>
          <a:bodyPr/>
          <a:lstStyle/>
          <a:p>
            <a:pPr marL="0" indent="0" algn="r" eaLnBrk="1" hangingPunct="1">
              <a:spcBef>
                <a:spcPct val="0"/>
              </a:spcBef>
              <a:buClr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19459" name="Rectangle 2"/>
          <p:cNvSpPr>
            <a:spLocks noGrp="1"/>
          </p:cNvSpPr>
          <p:nvPr>
            <p:ph type="title"/>
          </p:nvPr>
        </p:nvSpPr>
        <p:spPr>
          <a:xfrm>
            <a:off x="1143000" y="0"/>
            <a:ext cx="6410325" cy="581025"/>
          </a:xfrm>
        </p:spPr>
        <p:txBody>
          <a:bodyPr vert="horz" wrap="square" lIns="91440" tIns="45720" rIns="91440" bIns="45720" anchor="ctr" anchorCtr="0"/>
          <a:lstStyle/>
          <a:p>
            <a:r>
              <a:rPr lang="en-US" altLang="zh-CN" dirty="0">
                <a:ea typeface="宋体" panose="02010600030101010101" pitchFamily="2" charset="-122"/>
              </a:rPr>
              <a:t>Names </a:t>
            </a:r>
            <a:r>
              <a:rPr lang="en-US" altLang="zh-CN" i="1" dirty="0">
                <a:ea typeface="宋体" panose="02010600030101010101" pitchFamily="2" charset="-122"/>
              </a:rPr>
              <a:t>vs.</a:t>
            </a:r>
            <a:r>
              <a:rPr lang="en-US" altLang="zh-CN" dirty="0">
                <a:ea typeface="宋体" panose="02010600030101010101" pitchFamily="2" charset="-122"/>
              </a:rPr>
              <a:t> Addresses</a:t>
            </a:r>
            <a:endParaRPr lang="en-US" altLang="zh-CN" dirty="0">
              <a:ea typeface="宋体" panose="02010600030101010101" pitchFamily="2" charset="-122"/>
            </a:endParaRPr>
          </a:p>
        </p:txBody>
      </p:sp>
      <p:sp>
        <p:nvSpPr>
          <p:cNvPr id="5" name="Rectangle 3"/>
          <p:cNvSpPr txBox="1">
            <a:spLocks noChangeArrowheads="1"/>
          </p:cNvSpPr>
          <p:nvPr/>
        </p:nvSpPr>
        <p:spPr bwMode="auto">
          <a:xfrm>
            <a:off x="319088" y="833438"/>
            <a:ext cx="8505825" cy="343217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When you hand a </a:t>
            </a:r>
            <a:r>
              <a:rPr kumimoji="0" lang="en-US" altLang="zh-CN" sz="24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name</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to a naming system to resolve, it must look it up to find the corresponding </a:t>
            </a:r>
            <a:r>
              <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object or entity</a:t>
            </a:r>
            <a:endPar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When you hand an </a:t>
            </a:r>
            <a:r>
              <a:rPr kumimoji="0" lang="en-US" altLang="zh-CN" sz="2400" b="0" i="1" u="none" strike="noStrike" kern="0" cap="none" spc="0" normalizeH="0" baseline="0" noProof="0" dirty="0">
                <a:ln>
                  <a:noFill/>
                </a:ln>
                <a:solidFill>
                  <a:srgbClr val="C00000"/>
                </a:solidFill>
                <a:effectLst/>
                <a:uLnTx/>
                <a:uFillTx/>
                <a:latin typeface="+mn-lt"/>
                <a:ea typeface="宋体" panose="02010600030101010101" pitchFamily="2" charset="-122"/>
                <a:cs typeface="+mn-cs"/>
              </a:rPr>
              <a:t>address</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to a </a:t>
            </a:r>
            <a:r>
              <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system</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it already knows how to find it.   E.g., and IP address</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When you hand a </a:t>
            </a:r>
            <a:r>
              <a:rPr kumimoji="0" lang="en-US" altLang="zh-CN" sz="2400" b="0" i="1" u="none" strike="noStrike" kern="0" cap="none" spc="0" normalizeH="0" baseline="0" noProof="0" dirty="0">
                <a:ln>
                  <a:noFill/>
                </a:ln>
                <a:solidFill>
                  <a:srgbClr val="C00000"/>
                </a:solidFill>
                <a:effectLst/>
                <a:uLnTx/>
                <a:uFillTx/>
                <a:latin typeface="+mn-lt"/>
                <a:ea typeface="宋体" panose="02010600030101010101" pitchFamily="2" charset="-122"/>
                <a:cs typeface="+mn-cs"/>
              </a:rPr>
              <a:t>path</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(i.e., a route) to a </a:t>
            </a:r>
            <a:r>
              <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system</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you are giving it a sequence of things it knows how to find</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Ø"/>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Step-by-step</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Ø"/>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Iterative or recursive follow</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6" name="Rectangle 2"/>
          <p:cNvSpPr txBox="1">
            <a:spLocks noChangeArrowheads="1"/>
          </p:cNvSpPr>
          <p:nvPr/>
        </p:nvSpPr>
        <p:spPr bwMode="auto">
          <a:xfrm>
            <a:off x="655638" y="4757738"/>
            <a:ext cx="2638425" cy="523875"/>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Naming Systems we all know</a:t>
            </a:r>
            <a:endParaRPr kumimoji="0" lang="en-US" altLang="zh-CN" sz="2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7" name="Rectangle 3"/>
          <p:cNvSpPr txBox="1">
            <a:spLocks noChangeArrowheads="1"/>
          </p:cNvSpPr>
          <p:nvPr/>
        </p:nvSpPr>
        <p:spPr bwMode="auto">
          <a:xfrm>
            <a:off x="3416300" y="4446588"/>
            <a:ext cx="5549900" cy="180181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Unix/Linux file names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URL’s on the World Wide Web</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Types and objects in a C++ or Java program</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Computers attached to the Internet</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xfrm>
            <a:off x="619125" y="0"/>
            <a:ext cx="7143750" cy="914400"/>
          </a:xfrm>
        </p:spPr>
        <p:txBody>
          <a:bodyPr vert="horz" wrap="square" lIns="91440" tIns="45720" rIns="91440" bIns="45720" anchor="ctr" anchorCtr="0"/>
          <a:lstStyle/>
          <a:p>
            <a:pPr eaLnBrk="1" hangingPunct="1"/>
            <a:r>
              <a:rPr lang="en-US" altLang="zh-CN" dirty="0">
                <a:ea typeface="宋体" panose="02010600030101010101" pitchFamily="2" charset="-122"/>
              </a:rPr>
              <a:t>Name Spaces</a:t>
            </a:r>
            <a:endParaRPr lang="en-US" altLang="zh-CN" dirty="0">
              <a:ea typeface="宋体" panose="02010600030101010101" pitchFamily="2" charset="-122"/>
            </a:endParaRPr>
          </a:p>
        </p:txBody>
      </p:sp>
      <p:sp>
        <p:nvSpPr>
          <p:cNvPr id="30723" name="Rectangle 3"/>
          <p:cNvSpPr>
            <a:spLocks noGrp="1"/>
          </p:cNvSpPr>
          <p:nvPr>
            <p:ph idx="1"/>
          </p:nvPr>
        </p:nvSpPr>
        <p:spPr>
          <a:xfrm>
            <a:off x="266700" y="914400"/>
            <a:ext cx="8801100" cy="5648325"/>
          </a:xfrm>
        </p:spPr>
        <p:txBody>
          <a:bodyPr vert="horz" wrap="square" lIns="91440" tIns="45720" rIns="91440" bIns="45720" anchor="t" anchorCtr="0"/>
          <a:lstStyle/>
          <a:p>
            <a:pPr algn="l" eaLnBrk="1" hangingPunct="1">
              <a:lnSpc>
                <a:spcPct val="150000"/>
              </a:lnSpc>
            </a:pPr>
            <a:r>
              <a:rPr lang="zh-CN" altLang="en-US" sz="2000" dirty="0">
                <a:ea typeface="宋体" panose="02010600030101010101" pitchFamily="2" charset="-122"/>
              </a:rPr>
              <a:t>命空间是一个系统中所有名字的集合，表示一个标识符的可见范围，例如</a:t>
            </a:r>
            <a:r>
              <a:rPr lang="en-US" altLang="zh-CN" sz="2000" dirty="0">
                <a:ea typeface="宋体" panose="02010600030101010101" pitchFamily="2" charset="-122"/>
              </a:rPr>
              <a:t>:</a:t>
            </a:r>
            <a:endParaRPr lang="en-US" altLang="zh-CN" sz="2000" dirty="0">
              <a:ea typeface="宋体" panose="02010600030101010101" pitchFamily="2" charset="-122"/>
            </a:endParaRPr>
          </a:p>
          <a:p>
            <a:pPr lvl="1" eaLnBrk="1" hangingPunct="1">
              <a:lnSpc>
                <a:spcPct val="150000"/>
              </a:lnSpc>
            </a:pPr>
            <a:r>
              <a:rPr lang="en-US" altLang="zh-CN" sz="2000" dirty="0">
                <a:ea typeface="宋体" panose="02010600030101010101" pitchFamily="2" charset="-122"/>
              </a:rPr>
              <a:t>Phone numbers</a:t>
            </a:r>
            <a:endParaRPr lang="en-US" altLang="zh-CN" sz="2000" dirty="0">
              <a:ea typeface="宋体" panose="02010600030101010101" pitchFamily="2" charset="-122"/>
            </a:endParaRPr>
          </a:p>
          <a:p>
            <a:pPr lvl="1" eaLnBrk="1" hangingPunct="1">
              <a:lnSpc>
                <a:spcPct val="150000"/>
              </a:lnSpc>
            </a:pPr>
            <a:r>
              <a:rPr lang="en-US" altLang="zh-CN" sz="2000" dirty="0">
                <a:ea typeface="宋体" panose="02010600030101010101" pitchFamily="2" charset="-122"/>
              </a:rPr>
              <a:t>Human names in the China</a:t>
            </a:r>
            <a:endParaRPr lang="en-US" altLang="zh-CN" sz="2000" dirty="0">
              <a:ea typeface="宋体" panose="02010600030101010101" pitchFamily="2" charset="-122"/>
            </a:endParaRPr>
          </a:p>
          <a:p>
            <a:pPr lvl="1" eaLnBrk="1" hangingPunct="1">
              <a:lnSpc>
                <a:spcPct val="150000"/>
              </a:lnSpc>
            </a:pPr>
            <a:r>
              <a:rPr lang="en-US" altLang="zh-CN" sz="2000" dirty="0">
                <a:ea typeface="宋体" panose="02010600030101010101" pitchFamily="2" charset="-122"/>
              </a:rPr>
              <a:t>DNS</a:t>
            </a:r>
            <a:endParaRPr lang="en-US" altLang="zh-CN" sz="2000" dirty="0">
              <a:ea typeface="宋体" panose="02010600030101010101" pitchFamily="2" charset="-122"/>
            </a:endParaRPr>
          </a:p>
          <a:p>
            <a:pPr lvl="1" eaLnBrk="1" hangingPunct="1">
              <a:lnSpc>
                <a:spcPct val="150000"/>
              </a:lnSpc>
            </a:pPr>
            <a:r>
              <a:rPr lang="en-US" altLang="zh-CN" sz="2000" dirty="0">
                <a:ea typeface="宋体" panose="02010600030101010101" pitchFamily="2" charset="-122"/>
              </a:rPr>
              <a:t>Files in UNIX, Windows</a:t>
            </a:r>
            <a:endParaRPr lang="en-US" altLang="zh-CN" sz="2000" dirty="0">
              <a:ea typeface="宋体" panose="02010600030101010101" pitchFamily="2" charset="-122"/>
            </a:endParaRPr>
          </a:p>
          <a:p>
            <a:pPr lvl="1" eaLnBrk="1" hangingPunct="1">
              <a:lnSpc>
                <a:spcPct val="150000"/>
              </a:lnSpc>
            </a:pPr>
            <a:r>
              <a:rPr lang="en-US" altLang="zh-CN" sz="2000" dirty="0">
                <a:ea typeface="宋体" panose="02010600030101010101" pitchFamily="2" charset="-122"/>
              </a:rPr>
              <a:t>Credit card numbers</a:t>
            </a:r>
            <a:endParaRPr lang="en-US" altLang="zh-CN" sz="2000" dirty="0">
              <a:ea typeface="宋体" panose="02010600030101010101" pitchFamily="2" charset="-122"/>
            </a:endParaRPr>
          </a:p>
          <a:p>
            <a:pPr lvl="1" eaLnBrk="1" hangingPunct="1">
              <a:lnSpc>
                <a:spcPct val="150000"/>
              </a:lnSpc>
            </a:pPr>
            <a:r>
              <a:rPr lang="en-US" altLang="zh-CN" sz="2000" dirty="0">
                <a:ea typeface="宋体" panose="02010600030101010101" pitchFamily="2" charset="-122"/>
              </a:rPr>
              <a:t>Robert Ludlum books</a:t>
            </a:r>
            <a:endParaRPr lang="en-US" altLang="zh-CN" sz="2000" dirty="0">
              <a:ea typeface="宋体" panose="02010600030101010101" pitchFamily="2" charset="-122"/>
            </a:endParaRPr>
          </a:p>
          <a:p>
            <a:pPr lvl="1" eaLnBrk="1" hangingPunct="1">
              <a:lnSpc>
                <a:spcPct val="150000"/>
              </a:lnSpc>
            </a:pPr>
            <a:r>
              <a:rPr lang="en-US" altLang="zh-CN" sz="2000" dirty="0">
                <a:ea typeface="宋体" panose="02010600030101010101" pitchFamily="2" charset="-122"/>
              </a:rPr>
              <a:t>URLs</a:t>
            </a:r>
            <a:endParaRPr lang="en-US" altLang="zh-CN" sz="2000" dirty="0">
              <a:ea typeface="宋体" panose="02010600030101010101" pitchFamily="2" charset="-122"/>
            </a:endParaRPr>
          </a:p>
          <a:p>
            <a:pPr algn="l" eaLnBrk="1" hangingPunct="1">
              <a:lnSpc>
                <a:spcPct val="150000"/>
              </a:lnSpc>
            </a:pPr>
            <a:r>
              <a:rPr lang="en-US" altLang="zh-CN" sz="2400" dirty="0">
                <a:ea typeface="宋体" panose="02010600030101010101" pitchFamily="2" charset="-122"/>
              </a:rPr>
              <a:t>A name space can be represented as a labeled, directed graph with two types of nodes(</a:t>
            </a:r>
            <a:r>
              <a:rPr lang="zh-CN" altLang="en-US" sz="2400" dirty="0">
                <a:ea typeface="宋体" panose="02010600030101010101" pitchFamily="2" charset="-122"/>
              </a:rPr>
              <a:t>带有标注的具有两种类型的节点的有向图</a:t>
            </a:r>
            <a:r>
              <a:rPr lang="en-US" altLang="zh-CN" sz="2400" dirty="0">
                <a:ea typeface="宋体" panose="02010600030101010101" pitchFamily="2" charset="-122"/>
              </a:rPr>
              <a:t>).</a:t>
            </a:r>
            <a:endParaRPr lang="en-US" altLang="zh-CN" sz="2400" dirty="0">
              <a:ea typeface="宋体" panose="02010600030101010101" pitchFamily="2" charset="-122"/>
            </a:endParaRPr>
          </a:p>
          <a:p>
            <a:pPr algn="l" eaLnBrk="1" hangingPunct="1">
              <a:lnSpc>
                <a:spcPct val="150000"/>
              </a:lnSpc>
            </a:pPr>
            <a:endParaRPr lang="en-US" altLang="zh-CN" sz="2400" dirty="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95250" y="-142875"/>
            <a:ext cx="9144000" cy="990600"/>
          </a:xfrm>
        </p:spPr>
        <p:txBody>
          <a:bodyPr vert="horz" wrap="square" lIns="91440" tIns="45720" rIns="91440" bIns="45720" anchor="ctr" anchorCtr="0"/>
          <a:lstStyle/>
          <a:p>
            <a:pPr eaLnBrk="1" hangingPunct="1"/>
            <a:r>
              <a:rPr lang="en-US" altLang="zh-CN" dirty="0">
                <a:ea typeface="宋体" panose="02010600030101010101" pitchFamily="2" charset="-122"/>
              </a:rPr>
              <a:t>Name Space </a:t>
            </a:r>
            <a:endParaRPr lang="en-US" altLang="zh-CN" dirty="0">
              <a:ea typeface="宋体" panose="02010600030101010101" pitchFamily="2" charset="-122"/>
            </a:endParaRPr>
          </a:p>
        </p:txBody>
      </p:sp>
      <p:sp>
        <p:nvSpPr>
          <p:cNvPr id="32771" name="Rectangle 3"/>
          <p:cNvSpPr>
            <a:spLocks noGrp="1"/>
          </p:cNvSpPr>
          <p:nvPr>
            <p:ph idx="1"/>
          </p:nvPr>
        </p:nvSpPr>
        <p:spPr>
          <a:xfrm>
            <a:off x="6350" y="847725"/>
            <a:ext cx="9144000" cy="5867400"/>
          </a:xfrm>
        </p:spPr>
        <p:txBody>
          <a:bodyPr vert="horz" wrap="square" lIns="91440" tIns="45720" rIns="91440" bIns="45720" anchor="t" anchorCtr="0"/>
          <a:lstStyle/>
          <a:p>
            <a:pPr algn="l" eaLnBrk="1" hangingPunct="1">
              <a:lnSpc>
                <a:spcPct val="110000"/>
              </a:lnSpc>
            </a:pPr>
            <a:r>
              <a:rPr lang="en-US" altLang="zh-CN" sz="2800" dirty="0">
                <a:ea typeface="宋体" panose="02010600030101010101" pitchFamily="2" charset="-122"/>
              </a:rPr>
              <a:t>A graph in which a </a:t>
            </a:r>
            <a:r>
              <a:rPr lang="en-US" altLang="zh-CN" sz="2800" b="1" dirty="0">
                <a:solidFill>
                  <a:srgbClr val="FF0000"/>
                </a:solidFill>
                <a:ea typeface="宋体" panose="02010600030101010101" pitchFamily="2" charset="-122"/>
              </a:rPr>
              <a:t>leaf node</a:t>
            </a:r>
            <a:r>
              <a:rPr lang="en-US" altLang="zh-CN" sz="2800" b="1" dirty="0">
                <a:ea typeface="宋体" panose="02010600030101010101" pitchFamily="2" charset="-122"/>
              </a:rPr>
              <a:t> </a:t>
            </a:r>
            <a:r>
              <a:rPr lang="en-US" altLang="zh-CN" sz="2800" dirty="0">
                <a:ea typeface="宋体" panose="02010600030101010101" pitchFamily="2" charset="-122"/>
              </a:rPr>
              <a:t>represents a (named) entity. A </a:t>
            </a:r>
            <a:r>
              <a:rPr lang="en-US" altLang="zh-CN" sz="2800" b="1" dirty="0">
                <a:solidFill>
                  <a:srgbClr val="FF0000"/>
                </a:solidFill>
                <a:ea typeface="宋体" panose="02010600030101010101" pitchFamily="2" charset="-122"/>
              </a:rPr>
              <a:t>directory node</a:t>
            </a:r>
            <a:r>
              <a:rPr lang="en-US" altLang="zh-CN" sz="2800" b="1" dirty="0">
                <a:ea typeface="宋体" panose="02010600030101010101" pitchFamily="2" charset="-122"/>
              </a:rPr>
              <a:t> </a:t>
            </a:r>
            <a:r>
              <a:rPr lang="en-US" altLang="zh-CN" sz="2800" dirty="0">
                <a:ea typeface="宋体" panose="02010600030101010101" pitchFamily="2" charset="-122"/>
              </a:rPr>
              <a:t>is an entity that refers to other nodes.</a:t>
            </a: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b="1" dirty="0">
              <a:solidFill>
                <a:srgbClr val="FF0000"/>
              </a:solidFill>
              <a:ea typeface="宋体" panose="02010600030101010101" pitchFamily="2" charset="-122"/>
            </a:endParaRPr>
          </a:p>
          <a:p>
            <a:pPr algn="l" eaLnBrk="1" hangingPunct="1">
              <a:lnSpc>
                <a:spcPct val="110000"/>
              </a:lnSpc>
            </a:pPr>
            <a:r>
              <a:rPr lang="en-US" altLang="zh-CN" sz="2800" b="1" dirty="0">
                <a:solidFill>
                  <a:srgbClr val="FF0000"/>
                </a:solidFill>
                <a:ea typeface="宋体" panose="02010600030101010101" pitchFamily="2" charset="-122"/>
              </a:rPr>
              <a:t>Note</a:t>
            </a:r>
            <a:r>
              <a:rPr lang="en-US" altLang="zh-CN" sz="2800" b="1" dirty="0">
                <a:ea typeface="宋体" panose="02010600030101010101" pitchFamily="2" charset="-122"/>
              </a:rPr>
              <a:t>: </a:t>
            </a:r>
            <a:r>
              <a:rPr lang="en-US" altLang="zh-CN" sz="2800" dirty="0">
                <a:ea typeface="宋体" panose="02010600030101010101" pitchFamily="2" charset="-122"/>
              </a:rPr>
              <a:t>A directory node contains a (directory) table of </a:t>
            </a:r>
            <a:r>
              <a:rPr lang="en-US" altLang="zh-CN" sz="2800" i="1" dirty="0">
                <a:ea typeface="宋体" panose="02010600030101010101" pitchFamily="2" charset="-122"/>
              </a:rPr>
              <a:t>(edge label, node identifier) </a:t>
            </a:r>
            <a:r>
              <a:rPr lang="en-US" altLang="zh-CN" sz="2800" dirty="0">
                <a:ea typeface="宋体" panose="02010600030101010101" pitchFamily="2" charset="-122"/>
              </a:rPr>
              <a:t>pairs.</a:t>
            </a:r>
            <a:endParaRPr lang="en-US" altLang="zh-CN" sz="2800" dirty="0">
              <a:ea typeface="宋体" panose="02010600030101010101" pitchFamily="2" charset="-122"/>
            </a:endParaRPr>
          </a:p>
        </p:txBody>
      </p:sp>
      <p:pic>
        <p:nvPicPr>
          <p:cNvPr id="32772" name="Picture 4"/>
          <p:cNvPicPr>
            <a:picLocks noChangeAspect="1"/>
          </p:cNvPicPr>
          <p:nvPr/>
        </p:nvPicPr>
        <p:blipFill>
          <a:blip r:embed="rId1"/>
          <a:srcRect l="22447" t="44864" r="20096" b="39879"/>
          <a:stretch>
            <a:fillRect/>
          </a:stretch>
        </p:blipFill>
        <p:spPr>
          <a:xfrm>
            <a:off x="444500" y="1838325"/>
            <a:ext cx="8064500" cy="3808413"/>
          </a:xfrm>
          <a:prstGeom prst="rect">
            <a:avLst/>
          </a:prstGeom>
          <a:noFill/>
          <a:ln w="9525">
            <a:noFill/>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p:cNvSpPr>
          <p:nvPr>
            <p:ph idx="1"/>
          </p:nvPr>
        </p:nvSpPr>
        <p:spPr>
          <a:xfrm>
            <a:off x="330200" y="1481138"/>
            <a:ext cx="8483600" cy="4943475"/>
          </a:xfrm>
        </p:spPr>
        <p:txBody>
          <a:bodyPr vert="horz" wrap="square" lIns="91440" tIns="45720" rIns="91440" bIns="45720" anchor="t" anchorCtr="0"/>
          <a:lstStyle/>
          <a:p>
            <a:pPr algn="l" eaLnBrk="1" hangingPunct="1">
              <a:lnSpc>
                <a:spcPct val="150000"/>
              </a:lnSpc>
              <a:buNone/>
            </a:pPr>
            <a:r>
              <a:rPr lang="en-US" altLang="zh-CN" sz="2800" b="1" dirty="0">
                <a:ea typeface="宋体" panose="02010600030101010101" pitchFamily="2" charset="-122"/>
              </a:rPr>
              <a:t>Name resolution</a:t>
            </a:r>
            <a:r>
              <a:rPr lang="en-US" altLang="zh-CN" sz="2800" dirty="0">
                <a:ea typeface="宋体" panose="02010600030101010101" pitchFamily="2" charset="-122"/>
              </a:rPr>
              <a:t>---The process of looking up a name. </a:t>
            </a:r>
            <a:endParaRPr lang="en-US" altLang="zh-CN" sz="2800" dirty="0">
              <a:ea typeface="宋体" panose="02010600030101010101" pitchFamily="2" charset="-122"/>
            </a:endParaRPr>
          </a:p>
          <a:p>
            <a:pPr algn="l" eaLnBrk="1" hangingPunct="1">
              <a:lnSpc>
                <a:spcPct val="150000"/>
              </a:lnSpc>
              <a:buNone/>
            </a:pPr>
            <a:r>
              <a:rPr lang="en-US" altLang="zh-CN" sz="2800" dirty="0">
                <a:ea typeface="宋体" panose="02010600030101010101" pitchFamily="2" charset="-122"/>
              </a:rPr>
              <a:t>for example, UNIX</a:t>
            </a:r>
            <a:endParaRPr lang="en-US" altLang="zh-CN" sz="2800" dirty="0">
              <a:ea typeface="宋体" panose="02010600030101010101" pitchFamily="2" charset="-122"/>
            </a:endParaRPr>
          </a:p>
          <a:p>
            <a:pPr algn="l" eaLnBrk="1" hangingPunct="1">
              <a:lnSpc>
                <a:spcPct val="150000"/>
              </a:lnSpc>
              <a:buNone/>
            </a:pPr>
            <a:r>
              <a:rPr lang="en-US" altLang="zh-CN" sz="2800" dirty="0">
                <a:ea typeface="宋体" panose="02010600030101010101" pitchFamily="2" charset="-122"/>
              </a:rPr>
              <a:t>    1) /user/zhang/sub</a:t>
            </a:r>
            <a:endParaRPr lang="en-US" altLang="zh-CN" sz="2800" dirty="0">
              <a:ea typeface="宋体" panose="02010600030101010101" pitchFamily="2" charset="-122"/>
            </a:endParaRPr>
          </a:p>
          <a:p>
            <a:pPr algn="l" eaLnBrk="1" hangingPunct="1">
              <a:lnSpc>
                <a:spcPct val="150000"/>
              </a:lnSpc>
              <a:buNone/>
            </a:pPr>
            <a:r>
              <a:rPr lang="en-US" altLang="zh-CN" sz="2800" dirty="0">
                <a:ea typeface="宋体" panose="02010600030101010101" pitchFamily="2" charset="-122"/>
              </a:rPr>
              <a:t>    2) ./sub</a:t>
            </a:r>
            <a:endParaRPr lang="en-US" altLang="zh-CN" sz="2800" dirty="0">
              <a:ea typeface="宋体" panose="02010600030101010101" pitchFamily="2" charset="-122"/>
            </a:endParaRPr>
          </a:p>
          <a:p>
            <a:pPr algn="l" eaLnBrk="1" hangingPunct="1">
              <a:lnSpc>
                <a:spcPct val="150000"/>
              </a:lnSpc>
              <a:buNone/>
            </a:pPr>
            <a:r>
              <a:rPr lang="en-US" altLang="zh-CN" sz="2800" b="1" dirty="0">
                <a:ea typeface="宋体" panose="02010600030101010101" pitchFamily="2" charset="-122"/>
              </a:rPr>
              <a:t>Closure(</a:t>
            </a:r>
            <a:r>
              <a:rPr lang="zh-CN" altLang="en-US" sz="2800" b="1" dirty="0">
                <a:ea typeface="宋体" panose="02010600030101010101" pitchFamily="2" charset="-122"/>
              </a:rPr>
              <a:t>闭合</a:t>
            </a:r>
            <a:r>
              <a:rPr lang="en-US" altLang="zh-CN" sz="2800" b="1" dirty="0">
                <a:ea typeface="宋体" panose="02010600030101010101" pitchFamily="2" charset="-122"/>
              </a:rPr>
              <a:t>) mechanism</a:t>
            </a:r>
            <a:r>
              <a:rPr lang="en-US" altLang="zh-CN" sz="2800" dirty="0">
                <a:ea typeface="宋体" panose="02010600030101010101" pitchFamily="2" charset="-122"/>
              </a:rPr>
              <a:t>---knowing how and where to start name resolution. </a:t>
            </a:r>
            <a:endParaRPr lang="en-US" altLang="zh-CN" sz="2800" dirty="0">
              <a:ea typeface="宋体" panose="02010600030101010101" pitchFamily="2" charset="-122"/>
            </a:endParaRPr>
          </a:p>
          <a:p>
            <a:pPr algn="l" eaLnBrk="1" hangingPunct="1">
              <a:lnSpc>
                <a:spcPct val="150000"/>
              </a:lnSpc>
              <a:buNone/>
            </a:pPr>
            <a:r>
              <a:rPr lang="en-US" altLang="zh-CN" sz="2800" dirty="0">
                <a:ea typeface="宋体" panose="02010600030101010101" pitchFamily="2" charset="-122"/>
              </a:rPr>
              <a:t>  (for example, the i-node of the root directory in UNIX)</a:t>
            </a:r>
            <a:endParaRPr lang="en-US" altLang="zh-CN" sz="2800" dirty="0">
              <a:ea typeface="宋体" panose="02010600030101010101" pitchFamily="2" charset="-122"/>
            </a:endParaRPr>
          </a:p>
        </p:txBody>
      </p:sp>
      <p:sp>
        <p:nvSpPr>
          <p:cNvPr id="22531" name="Rectangle 11"/>
          <p:cNvSpPr>
            <a:spLocks noGrp="1"/>
          </p:cNvSpPr>
          <p:nvPr>
            <p:ph type="title"/>
          </p:nvPr>
        </p:nvSpPr>
        <p:spPr>
          <a:xfrm>
            <a:off x="0" y="0"/>
            <a:ext cx="9144000" cy="1335088"/>
          </a:xfrm>
        </p:spPr>
        <p:txBody>
          <a:bodyPr vert="horz" wrap="square" lIns="91440" tIns="45720" rIns="91440" bIns="45720" anchor="ctr" anchorCtr="0"/>
          <a:lstStyle/>
          <a:p>
            <a:pPr eaLnBrk="1" hangingPunct="1"/>
            <a:r>
              <a:rPr lang="en-US" altLang="zh-CN" dirty="0">
                <a:ea typeface="宋体" panose="02010600030101010101" pitchFamily="2" charset="-122"/>
              </a:rPr>
              <a:t>Example: UNIX(linking and mounting</a:t>
            </a:r>
            <a:br>
              <a:rPr lang="en-US" altLang="zh-CN" dirty="0">
                <a:ea typeface="宋体" panose="02010600030101010101" pitchFamily="2" charset="-122"/>
              </a:rPr>
            </a:br>
            <a:r>
              <a:rPr lang="en-US" altLang="zh-CN" dirty="0">
                <a:ea typeface="宋体" panose="02010600030101010101" pitchFamily="2" charset="-122"/>
              </a:rPr>
              <a:t>within a single name space)</a:t>
            </a:r>
            <a:endParaRPr lang="en-US" altLang="zh-CN" sz="2400" dirty="0">
              <a:solidFill>
                <a:schemeClr val="tx1"/>
              </a:solidFill>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a:spLocks noGrp="1"/>
          </p:cNvSpPr>
          <p:nvPr>
            <p:ph type="title"/>
          </p:nvPr>
        </p:nvSpPr>
        <p:spPr>
          <a:xfrm>
            <a:off x="0" y="0"/>
            <a:ext cx="9144000" cy="1563688"/>
          </a:xfrm>
        </p:spPr>
        <p:txBody>
          <a:bodyPr vert="horz" wrap="square" lIns="91440" tIns="45720" rIns="91440" bIns="45720" anchor="ctr" anchorCtr="0"/>
          <a:lstStyle/>
          <a:p>
            <a:pPr eaLnBrk="1" hangingPunct="1"/>
            <a:r>
              <a:rPr lang="en-US" altLang="zh-CN" dirty="0">
                <a:ea typeface="宋体" panose="02010600030101010101" pitchFamily="2" charset="-122"/>
              </a:rPr>
              <a:t>Example: UNIX(linking and mounting</a:t>
            </a:r>
            <a:br>
              <a:rPr lang="en-US" altLang="zh-CN" dirty="0">
                <a:ea typeface="宋体" panose="02010600030101010101" pitchFamily="2" charset="-122"/>
              </a:rPr>
            </a:br>
            <a:r>
              <a:rPr lang="en-US" altLang="zh-CN" dirty="0">
                <a:ea typeface="宋体" panose="02010600030101010101" pitchFamily="2" charset="-122"/>
              </a:rPr>
              <a:t>within a single name space)</a:t>
            </a:r>
            <a:br>
              <a:rPr lang="en-US" altLang="zh-CN" dirty="0">
                <a:ea typeface="宋体" panose="02010600030101010101" pitchFamily="2" charset="-122"/>
              </a:rPr>
            </a:br>
            <a:r>
              <a:rPr lang="en-US" altLang="zh-CN" sz="2400" dirty="0">
                <a:solidFill>
                  <a:schemeClr val="tx1"/>
                </a:solidFill>
                <a:ea typeface="宋体" panose="02010600030101010101" pitchFamily="2" charset="-122"/>
              </a:rPr>
              <a:t>there are different ways to organize a name space</a:t>
            </a:r>
            <a:endParaRPr lang="en-US" altLang="zh-CN" sz="2400" dirty="0">
              <a:solidFill>
                <a:schemeClr val="tx1"/>
              </a:solidFill>
              <a:ea typeface="宋体" panose="02010600030101010101" pitchFamily="2" charset="-122"/>
            </a:endParaRPr>
          </a:p>
        </p:txBody>
      </p:sp>
      <p:sp>
        <p:nvSpPr>
          <p:cNvPr id="21507" name="Rectangle 12"/>
          <p:cNvSpPr>
            <a:spLocks noGrp="1"/>
          </p:cNvSpPr>
          <p:nvPr>
            <p:ph idx="1"/>
          </p:nvPr>
        </p:nvSpPr>
        <p:spPr>
          <a:xfrm>
            <a:off x="0" y="5219700"/>
            <a:ext cx="9144000" cy="971550"/>
          </a:xfrm>
        </p:spPr>
        <p:txBody>
          <a:bodyPr vert="horz" wrap="square" lIns="91440" tIns="45720" rIns="91440" bIns="45720" anchor="t" anchorCtr="0"/>
          <a:lstStyle/>
          <a:p>
            <a:pPr eaLnBrk="1" hangingPunct="1">
              <a:buNone/>
            </a:pPr>
            <a:r>
              <a:rPr lang="en-US" altLang="zh-CN" sz="2800" dirty="0">
                <a:ea typeface="宋体" panose="02010600030101010101" pitchFamily="2" charset="-122"/>
              </a:rPr>
              <a:t>The general organization of the UNIX file system implementation on a logical disk of contiguous disk blocks.</a:t>
            </a:r>
            <a:endParaRPr lang="en-US" altLang="zh-CN" sz="2800" dirty="0">
              <a:ea typeface="宋体" panose="02010600030101010101" pitchFamily="2" charset="-122"/>
            </a:endParaRPr>
          </a:p>
        </p:txBody>
      </p:sp>
      <p:pic>
        <p:nvPicPr>
          <p:cNvPr id="21508" name="Picture 13"/>
          <p:cNvPicPr>
            <a:picLocks noChangeAspect="1"/>
          </p:cNvPicPr>
          <p:nvPr/>
        </p:nvPicPr>
        <p:blipFill>
          <a:blip r:embed="rId1"/>
          <a:srcRect l="23517" t="46375" r="20738" b="40936"/>
          <a:stretch>
            <a:fillRect/>
          </a:stretch>
        </p:blipFill>
        <p:spPr>
          <a:xfrm>
            <a:off x="76200" y="1790700"/>
            <a:ext cx="8867775" cy="285750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idx="1"/>
          </p:nvPr>
        </p:nvSpPr>
        <p:spPr>
          <a:xfrm>
            <a:off x="141288" y="298450"/>
            <a:ext cx="3306762" cy="1587500"/>
          </a:xfrm>
        </p:spPr>
        <p:txBody>
          <a:bodyPr vert="horz" wrap="square" lIns="91440" tIns="45720" rIns="91440" bIns="45720" anchor="t" anchorCtr="0"/>
          <a:lstStyle/>
          <a:p>
            <a:pPr algn="l">
              <a:lnSpc>
                <a:spcPct val="150000"/>
              </a:lnSpc>
              <a:buFont typeface="Wingdings" panose="05000000000000000000" pitchFamily="2" charset="2"/>
              <a:buChar char="u"/>
            </a:pPr>
            <a:r>
              <a:rPr lang="en-US" altLang="zh-CN" sz="2400" b="1" dirty="0">
                <a:solidFill>
                  <a:srgbClr val="FF0000"/>
                </a:solidFill>
                <a:latin typeface="宋体" panose="02010600030101010101" pitchFamily="2" charset="-122"/>
                <a:ea typeface="宋体" panose="02010600030101010101" pitchFamily="2" charset="-122"/>
              </a:rPr>
              <a:t>UNIX</a:t>
            </a:r>
            <a:r>
              <a:rPr lang="zh-CN" altLang="en-US" sz="2400" b="1" dirty="0">
                <a:solidFill>
                  <a:srgbClr val="FF0000"/>
                </a:solidFill>
                <a:latin typeface="宋体" panose="02010600030101010101" pitchFamily="2" charset="-122"/>
                <a:ea typeface="宋体" panose="02010600030101010101" pitchFamily="2" charset="-122"/>
              </a:rPr>
              <a:t>给定文件路径名／</a:t>
            </a:r>
            <a:r>
              <a:rPr lang="en-US" altLang="zh-CN" sz="2400" b="1" dirty="0">
                <a:solidFill>
                  <a:srgbClr val="FF0000"/>
                </a:solidFill>
                <a:latin typeface="宋体" panose="02010600030101010101" pitchFamily="2" charset="-122"/>
                <a:ea typeface="宋体" panose="02010600030101010101" pitchFamily="2" charset="-122"/>
              </a:rPr>
              <a:t>usr</a:t>
            </a:r>
            <a:r>
              <a:rPr lang="zh-CN" altLang="en-US" sz="2400" b="1" dirty="0">
                <a:solidFill>
                  <a:srgbClr val="FF0000"/>
                </a:solidFill>
                <a:latin typeface="宋体" panose="02010600030101010101" pitchFamily="2" charset="-122"/>
                <a:ea typeface="宋体" panose="02010600030101010101" pitchFamily="2" charset="-122"/>
              </a:rPr>
              <a:t>／</a:t>
            </a:r>
            <a:r>
              <a:rPr lang="en-US" altLang="zh-CN" sz="2400" b="1" dirty="0">
                <a:solidFill>
                  <a:srgbClr val="FF0000"/>
                </a:solidFill>
                <a:latin typeface="宋体" panose="02010600030101010101" pitchFamily="2" charset="-122"/>
                <a:ea typeface="宋体" panose="02010600030101010101" pitchFamily="2" charset="-122"/>
              </a:rPr>
              <a:t>ast</a:t>
            </a:r>
            <a:r>
              <a:rPr lang="zh-CN" altLang="en-US" sz="2400" b="1" dirty="0">
                <a:solidFill>
                  <a:srgbClr val="FF0000"/>
                </a:solidFill>
                <a:latin typeface="宋体" panose="02010600030101010101" pitchFamily="2" charset="-122"/>
                <a:ea typeface="宋体" panose="02010600030101010101" pitchFamily="2" charset="-122"/>
              </a:rPr>
              <a:t>／</a:t>
            </a:r>
            <a:r>
              <a:rPr lang="en-US" altLang="zh-CN" sz="2400" b="1" dirty="0">
                <a:solidFill>
                  <a:srgbClr val="FF0000"/>
                </a:solidFill>
                <a:latin typeface="宋体" panose="02010600030101010101" pitchFamily="2" charset="-122"/>
                <a:ea typeface="宋体" panose="02010600030101010101" pitchFamily="2" charset="-122"/>
              </a:rPr>
              <a:t>mbox</a:t>
            </a:r>
            <a:r>
              <a:rPr lang="zh-CN" altLang="en-US" sz="2400" b="1" dirty="0">
                <a:solidFill>
                  <a:srgbClr val="FF0000"/>
                </a:solidFill>
                <a:latin typeface="宋体" panose="02010600030101010101" pitchFamily="2" charset="-122"/>
                <a:ea typeface="宋体" panose="02010600030101010101" pitchFamily="2" charset="-122"/>
              </a:rPr>
              <a:t>，解析过程如下</a:t>
            </a:r>
            <a:r>
              <a:rPr lang="en-US" altLang="zh-CN" sz="2400" b="1" dirty="0">
                <a:solidFill>
                  <a:srgbClr val="FF0000"/>
                </a:solidFill>
                <a:latin typeface="宋体" panose="02010600030101010101" pitchFamily="2" charset="-122"/>
                <a:ea typeface="宋体" panose="02010600030101010101" pitchFamily="2" charset="-122"/>
              </a:rPr>
              <a:t>:</a:t>
            </a:r>
            <a:endParaRPr lang="zh-CN" altLang="en-US" sz="2400" b="1" dirty="0">
              <a:solidFill>
                <a:srgbClr val="FF0000"/>
              </a:solidFill>
              <a:latin typeface="宋体" panose="02010600030101010101" pitchFamily="2" charset="-122"/>
              <a:ea typeface="宋体" panose="02010600030101010101" pitchFamily="2" charset="-122"/>
            </a:endParaRPr>
          </a:p>
        </p:txBody>
      </p:sp>
      <p:grpSp>
        <p:nvGrpSpPr>
          <p:cNvPr id="23555" name="组合 38"/>
          <p:cNvGrpSpPr/>
          <p:nvPr/>
        </p:nvGrpSpPr>
        <p:grpSpPr>
          <a:xfrm>
            <a:off x="246063" y="3195638"/>
            <a:ext cx="8624887" cy="3571875"/>
            <a:chOff x="290513" y="1914568"/>
            <a:chExt cx="8624887" cy="3571832"/>
          </a:xfrm>
        </p:grpSpPr>
        <p:grpSp>
          <p:nvGrpSpPr>
            <p:cNvPr id="23559" name="Group 3"/>
            <p:cNvGrpSpPr/>
            <p:nvPr/>
          </p:nvGrpSpPr>
          <p:grpSpPr>
            <a:xfrm>
              <a:off x="290513" y="2560638"/>
              <a:ext cx="1279526" cy="2849563"/>
              <a:chOff x="183" y="1613"/>
              <a:chExt cx="806" cy="1795"/>
            </a:xfrm>
          </p:grpSpPr>
          <p:sp>
            <p:nvSpPr>
              <p:cNvPr id="23585" name="Rectangle 4"/>
              <p:cNvSpPr/>
              <p:nvPr/>
            </p:nvSpPr>
            <p:spPr>
              <a:xfrm>
                <a:off x="183" y="1613"/>
                <a:ext cx="384" cy="1795"/>
              </a:xfrm>
              <a:prstGeom prst="rect">
                <a:avLst/>
              </a:prstGeom>
              <a:solidFill>
                <a:srgbClr val="0066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1</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1</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4</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7</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14</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9</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6</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8</a:t>
                </a:r>
                <a:endParaRPr lang="en-US" altLang="zh-CN" sz="1800" dirty="0">
                  <a:solidFill>
                    <a:schemeClr val="bg1"/>
                  </a:solidFill>
                  <a:latin typeface="Tahoma" panose="020B0604030504040204" pitchFamily="34" charset="0"/>
                  <a:ea typeface="宋体" panose="02010600030101010101" pitchFamily="2" charset="-122"/>
                </a:endParaRPr>
              </a:p>
            </p:txBody>
          </p:sp>
          <p:sp>
            <p:nvSpPr>
              <p:cNvPr id="23586" name="Rectangle 5"/>
              <p:cNvSpPr/>
              <p:nvPr/>
            </p:nvSpPr>
            <p:spPr>
              <a:xfrm>
                <a:off x="557" y="1613"/>
                <a:ext cx="432" cy="1795"/>
              </a:xfrm>
              <a:prstGeom prst="rect">
                <a:avLst/>
              </a:prstGeom>
              <a:solidFill>
                <a:srgbClr val="0066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bin</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dev</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lib</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etc</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usr</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tmp</a:t>
                </a:r>
                <a:endParaRPr lang="en-US" altLang="zh-CN" sz="1800" dirty="0">
                  <a:solidFill>
                    <a:schemeClr val="bg1"/>
                  </a:solidFill>
                  <a:latin typeface="Tahoma" panose="020B0604030504040204" pitchFamily="34" charset="0"/>
                  <a:ea typeface="宋体" panose="02010600030101010101" pitchFamily="2" charset="-122"/>
                </a:endParaRPr>
              </a:p>
            </p:txBody>
          </p:sp>
          <p:sp>
            <p:nvSpPr>
              <p:cNvPr id="23587" name="Line 6"/>
              <p:cNvSpPr/>
              <p:nvPr/>
            </p:nvSpPr>
            <p:spPr>
              <a:xfrm>
                <a:off x="197" y="2160"/>
                <a:ext cx="768" cy="0"/>
              </a:xfrm>
              <a:prstGeom prst="line">
                <a:avLst/>
              </a:prstGeom>
              <a:ln w="9525" cap="flat" cmpd="sng">
                <a:solidFill>
                  <a:schemeClr val="tx1"/>
                </a:solidFill>
                <a:prstDash val="solid"/>
                <a:miter/>
                <a:headEnd type="none" w="med" len="med"/>
                <a:tailEnd type="none" w="med" len="med"/>
              </a:ln>
            </p:spPr>
          </p:sp>
          <p:sp>
            <p:nvSpPr>
              <p:cNvPr id="23588" name="Line 7"/>
              <p:cNvSpPr/>
              <p:nvPr/>
            </p:nvSpPr>
            <p:spPr>
              <a:xfrm>
                <a:off x="198" y="2333"/>
                <a:ext cx="768" cy="0"/>
              </a:xfrm>
              <a:prstGeom prst="line">
                <a:avLst/>
              </a:prstGeom>
              <a:ln w="9525" cap="flat" cmpd="sng">
                <a:solidFill>
                  <a:schemeClr val="tx1"/>
                </a:solidFill>
                <a:prstDash val="solid"/>
                <a:miter/>
                <a:headEnd type="none" w="med" len="med"/>
                <a:tailEnd type="none" w="med" len="med"/>
              </a:ln>
            </p:spPr>
          </p:sp>
          <p:sp>
            <p:nvSpPr>
              <p:cNvPr id="23589" name="Line 8"/>
              <p:cNvSpPr/>
              <p:nvPr/>
            </p:nvSpPr>
            <p:spPr>
              <a:xfrm>
                <a:off x="195" y="2510"/>
                <a:ext cx="768" cy="0"/>
              </a:xfrm>
              <a:prstGeom prst="line">
                <a:avLst/>
              </a:prstGeom>
              <a:ln w="9525" cap="flat" cmpd="sng">
                <a:solidFill>
                  <a:schemeClr val="tx1"/>
                </a:solidFill>
                <a:prstDash val="solid"/>
                <a:miter/>
                <a:headEnd type="none" w="med" len="med"/>
                <a:tailEnd type="none" w="med" len="med"/>
              </a:ln>
            </p:spPr>
          </p:sp>
          <p:sp>
            <p:nvSpPr>
              <p:cNvPr id="23590" name="Line 9"/>
              <p:cNvSpPr/>
              <p:nvPr/>
            </p:nvSpPr>
            <p:spPr>
              <a:xfrm>
                <a:off x="207" y="2682"/>
                <a:ext cx="768" cy="0"/>
              </a:xfrm>
              <a:prstGeom prst="line">
                <a:avLst/>
              </a:prstGeom>
              <a:ln w="9525" cap="flat" cmpd="sng">
                <a:solidFill>
                  <a:schemeClr val="tx1"/>
                </a:solidFill>
                <a:prstDash val="solid"/>
                <a:miter/>
                <a:headEnd type="none" w="med" len="med"/>
                <a:tailEnd type="none" w="med" len="med"/>
              </a:ln>
            </p:spPr>
          </p:sp>
          <p:sp>
            <p:nvSpPr>
              <p:cNvPr id="23591" name="Line 10"/>
              <p:cNvSpPr/>
              <p:nvPr/>
            </p:nvSpPr>
            <p:spPr>
              <a:xfrm>
                <a:off x="207" y="2863"/>
                <a:ext cx="768" cy="0"/>
              </a:xfrm>
              <a:prstGeom prst="line">
                <a:avLst/>
              </a:prstGeom>
              <a:ln w="9525" cap="flat" cmpd="sng">
                <a:solidFill>
                  <a:schemeClr val="tx1"/>
                </a:solidFill>
                <a:prstDash val="solid"/>
                <a:miter/>
                <a:headEnd type="none" w="med" len="med"/>
                <a:tailEnd type="none" w="med" len="med"/>
              </a:ln>
            </p:spPr>
          </p:sp>
          <p:sp>
            <p:nvSpPr>
              <p:cNvPr id="23592" name="Line 11"/>
              <p:cNvSpPr/>
              <p:nvPr/>
            </p:nvSpPr>
            <p:spPr>
              <a:xfrm>
                <a:off x="201" y="3034"/>
                <a:ext cx="768" cy="0"/>
              </a:xfrm>
              <a:prstGeom prst="line">
                <a:avLst/>
              </a:prstGeom>
              <a:ln w="9525" cap="flat" cmpd="sng">
                <a:solidFill>
                  <a:schemeClr val="tx1"/>
                </a:solidFill>
                <a:prstDash val="solid"/>
                <a:miter/>
                <a:headEnd type="none" w="med" len="med"/>
                <a:tailEnd type="none" w="med" len="med"/>
              </a:ln>
            </p:spPr>
          </p:sp>
          <p:sp>
            <p:nvSpPr>
              <p:cNvPr id="23593" name="Line 12"/>
              <p:cNvSpPr/>
              <p:nvPr/>
            </p:nvSpPr>
            <p:spPr>
              <a:xfrm>
                <a:off x="204" y="3216"/>
                <a:ext cx="768" cy="0"/>
              </a:xfrm>
              <a:prstGeom prst="line">
                <a:avLst/>
              </a:prstGeom>
              <a:ln w="9525" cap="flat" cmpd="sng">
                <a:solidFill>
                  <a:schemeClr val="tx1"/>
                </a:solidFill>
                <a:prstDash val="solid"/>
                <a:miter/>
                <a:headEnd type="none" w="med" len="med"/>
                <a:tailEnd type="none" w="med" len="med"/>
              </a:ln>
            </p:spPr>
          </p:sp>
        </p:grpSp>
        <p:grpSp>
          <p:nvGrpSpPr>
            <p:cNvPr id="23560" name="Group 13"/>
            <p:cNvGrpSpPr/>
            <p:nvPr/>
          </p:nvGrpSpPr>
          <p:grpSpPr>
            <a:xfrm>
              <a:off x="1814513" y="3200403"/>
              <a:ext cx="1447800" cy="928688"/>
              <a:chOff x="1152" y="2295"/>
              <a:chExt cx="912" cy="585"/>
            </a:xfrm>
          </p:grpSpPr>
          <p:sp>
            <p:nvSpPr>
              <p:cNvPr id="23582" name="Rectangle 14"/>
              <p:cNvSpPr/>
              <p:nvPr/>
            </p:nvSpPr>
            <p:spPr>
              <a:xfrm>
                <a:off x="1152" y="2295"/>
                <a:ext cx="912" cy="585"/>
              </a:xfrm>
              <a:prstGeom prst="rect">
                <a:avLst/>
              </a:prstGeom>
              <a:solidFill>
                <a:srgbClr val="0066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132</a:t>
                </a:r>
                <a:endParaRPr lang="en-US" altLang="zh-CN" sz="1800" dirty="0">
                  <a:solidFill>
                    <a:schemeClr val="bg1"/>
                  </a:solidFill>
                  <a:latin typeface="Tahoma" panose="020B0604030504040204" pitchFamily="34" charset="0"/>
                  <a:ea typeface="宋体" panose="02010600030101010101" pitchFamily="2" charset="-122"/>
                </a:endParaRPr>
              </a:p>
            </p:txBody>
          </p:sp>
          <p:sp>
            <p:nvSpPr>
              <p:cNvPr id="23583" name="Line 15"/>
              <p:cNvSpPr/>
              <p:nvPr/>
            </p:nvSpPr>
            <p:spPr>
              <a:xfrm>
                <a:off x="1152" y="2479"/>
                <a:ext cx="912" cy="0"/>
              </a:xfrm>
              <a:prstGeom prst="line">
                <a:avLst/>
              </a:prstGeom>
              <a:ln w="9525" cap="flat" cmpd="sng">
                <a:solidFill>
                  <a:schemeClr val="tx1"/>
                </a:solidFill>
                <a:prstDash val="solid"/>
                <a:miter/>
                <a:headEnd type="none" w="med" len="med"/>
                <a:tailEnd type="none" w="med" len="med"/>
              </a:ln>
            </p:spPr>
          </p:sp>
          <p:sp>
            <p:nvSpPr>
              <p:cNvPr id="23584" name="Line 16"/>
              <p:cNvSpPr/>
              <p:nvPr/>
            </p:nvSpPr>
            <p:spPr>
              <a:xfrm>
                <a:off x="1152" y="2706"/>
                <a:ext cx="912" cy="0"/>
              </a:xfrm>
              <a:prstGeom prst="line">
                <a:avLst/>
              </a:prstGeom>
              <a:ln w="9525" cap="flat" cmpd="sng">
                <a:solidFill>
                  <a:schemeClr val="tx1"/>
                </a:solidFill>
                <a:prstDash val="solid"/>
                <a:miter/>
                <a:headEnd type="none" w="med" len="med"/>
                <a:tailEnd type="none" w="med" len="med"/>
              </a:ln>
            </p:spPr>
          </p:sp>
        </p:grpSp>
        <p:grpSp>
          <p:nvGrpSpPr>
            <p:cNvPr id="23561" name="Group 17"/>
            <p:cNvGrpSpPr/>
            <p:nvPr/>
          </p:nvGrpSpPr>
          <p:grpSpPr>
            <a:xfrm>
              <a:off x="3810000" y="2713296"/>
              <a:ext cx="1219200" cy="2391550"/>
              <a:chOff x="192" y="1626"/>
              <a:chExt cx="768" cy="1661"/>
            </a:xfrm>
          </p:grpSpPr>
          <p:sp>
            <p:nvSpPr>
              <p:cNvPr id="23580" name="Rectangle 18"/>
              <p:cNvSpPr/>
              <p:nvPr/>
            </p:nvSpPr>
            <p:spPr>
              <a:xfrm>
                <a:off x="192" y="1626"/>
                <a:ext cx="384" cy="1661"/>
              </a:xfrm>
              <a:prstGeom prst="rect">
                <a:avLst/>
              </a:prstGeom>
              <a:solidFill>
                <a:srgbClr val="0066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6</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1</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19</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30</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51</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26</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45</a:t>
                </a:r>
                <a:endParaRPr lang="en-US" altLang="zh-CN" sz="1800" dirty="0">
                  <a:solidFill>
                    <a:schemeClr val="bg1"/>
                  </a:solidFill>
                  <a:latin typeface="Tahoma" panose="020B0604030504040204" pitchFamily="34" charset="0"/>
                  <a:ea typeface="宋体" panose="02010600030101010101" pitchFamily="2" charset="-122"/>
                </a:endParaRPr>
              </a:p>
            </p:txBody>
          </p:sp>
          <p:sp>
            <p:nvSpPr>
              <p:cNvPr id="23581" name="Rectangle 19"/>
              <p:cNvSpPr/>
              <p:nvPr/>
            </p:nvSpPr>
            <p:spPr>
              <a:xfrm>
                <a:off x="528" y="1626"/>
                <a:ext cx="432" cy="1661"/>
              </a:xfrm>
              <a:prstGeom prst="rect">
                <a:avLst/>
              </a:prstGeom>
              <a:solidFill>
                <a:srgbClr val="0066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disk</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erik</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jim</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ast</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bat</a:t>
                </a:r>
                <a:endParaRPr lang="en-US" altLang="zh-CN" sz="1800" dirty="0">
                  <a:solidFill>
                    <a:schemeClr val="bg1"/>
                  </a:solidFill>
                  <a:latin typeface="Tahoma" panose="020B0604030504040204" pitchFamily="34" charset="0"/>
                  <a:ea typeface="宋体" panose="02010600030101010101" pitchFamily="2" charset="-122"/>
                </a:endParaRPr>
              </a:p>
            </p:txBody>
          </p:sp>
        </p:grpSp>
        <p:grpSp>
          <p:nvGrpSpPr>
            <p:cNvPr id="23562" name="Group 20"/>
            <p:cNvGrpSpPr/>
            <p:nvPr/>
          </p:nvGrpSpPr>
          <p:grpSpPr>
            <a:xfrm>
              <a:off x="5334000" y="3429000"/>
              <a:ext cx="1447800" cy="990600"/>
              <a:chOff x="1152" y="2256"/>
              <a:chExt cx="912" cy="624"/>
            </a:xfrm>
          </p:grpSpPr>
          <p:sp>
            <p:nvSpPr>
              <p:cNvPr id="23577" name="Rectangle 21"/>
              <p:cNvSpPr/>
              <p:nvPr/>
            </p:nvSpPr>
            <p:spPr>
              <a:xfrm>
                <a:off x="1152" y="2256"/>
                <a:ext cx="912" cy="624"/>
              </a:xfrm>
              <a:prstGeom prst="rect">
                <a:avLst/>
              </a:prstGeom>
              <a:solidFill>
                <a:srgbClr val="0066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406</a:t>
                </a:r>
                <a:endParaRPr lang="en-US" altLang="zh-CN" sz="1800" dirty="0">
                  <a:solidFill>
                    <a:schemeClr val="bg1"/>
                  </a:solidFill>
                  <a:latin typeface="Tahoma" panose="020B0604030504040204" pitchFamily="34" charset="0"/>
                  <a:ea typeface="宋体" panose="02010600030101010101" pitchFamily="2" charset="-122"/>
                </a:endParaRPr>
              </a:p>
            </p:txBody>
          </p:sp>
          <p:sp>
            <p:nvSpPr>
              <p:cNvPr id="23578" name="Line 22"/>
              <p:cNvSpPr/>
              <p:nvPr/>
            </p:nvSpPr>
            <p:spPr>
              <a:xfrm>
                <a:off x="1152" y="2451"/>
                <a:ext cx="912" cy="0"/>
              </a:xfrm>
              <a:prstGeom prst="line">
                <a:avLst/>
              </a:prstGeom>
              <a:ln w="9525" cap="flat" cmpd="sng">
                <a:solidFill>
                  <a:schemeClr val="tx1"/>
                </a:solidFill>
                <a:prstDash val="solid"/>
                <a:miter/>
                <a:headEnd type="none" w="med" len="med"/>
                <a:tailEnd type="none" w="med" len="med"/>
              </a:ln>
            </p:spPr>
          </p:sp>
          <p:sp>
            <p:nvSpPr>
              <p:cNvPr id="23579" name="Line 23"/>
              <p:cNvSpPr/>
              <p:nvPr/>
            </p:nvSpPr>
            <p:spPr>
              <a:xfrm>
                <a:off x="1152" y="2677"/>
                <a:ext cx="912" cy="0"/>
              </a:xfrm>
              <a:prstGeom prst="line">
                <a:avLst/>
              </a:prstGeom>
              <a:ln w="9525" cap="flat" cmpd="sng">
                <a:solidFill>
                  <a:schemeClr val="tx1"/>
                </a:solidFill>
                <a:prstDash val="solid"/>
                <a:miter/>
                <a:headEnd type="none" w="med" len="med"/>
                <a:tailEnd type="none" w="med" len="med"/>
              </a:ln>
            </p:spPr>
          </p:sp>
        </p:grpSp>
        <p:grpSp>
          <p:nvGrpSpPr>
            <p:cNvPr id="23563" name="Group 24"/>
            <p:cNvGrpSpPr/>
            <p:nvPr/>
          </p:nvGrpSpPr>
          <p:grpSpPr>
            <a:xfrm>
              <a:off x="7079754" y="2895600"/>
              <a:ext cx="1759446" cy="2590800"/>
              <a:chOff x="189" y="1632"/>
              <a:chExt cx="771" cy="1632"/>
            </a:xfrm>
          </p:grpSpPr>
          <p:sp>
            <p:nvSpPr>
              <p:cNvPr id="23569" name="Rectangle 25"/>
              <p:cNvSpPr/>
              <p:nvPr/>
            </p:nvSpPr>
            <p:spPr>
              <a:xfrm>
                <a:off x="192" y="1632"/>
                <a:ext cx="384" cy="1632"/>
              </a:xfrm>
              <a:prstGeom prst="rect">
                <a:avLst/>
              </a:prstGeom>
              <a:solidFill>
                <a:srgbClr val="0066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26</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6</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64</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92</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60</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81</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17</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endParaRPr lang="zh-CN" altLang="en-US" sz="1800" dirty="0">
                  <a:solidFill>
                    <a:schemeClr val="bg1"/>
                  </a:solidFill>
                  <a:latin typeface="Tahoma" panose="020B0604030504040204" pitchFamily="34" charset="0"/>
                  <a:ea typeface="宋体" panose="02010600030101010101" pitchFamily="2" charset="-122"/>
                </a:endParaRPr>
              </a:p>
            </p:txBody>
          </p:sp>
          <p:sp>
            <p:nvSpPr>
              <p:cNvPr id="23570" name="Rectangle 26"/>
              <p:cNvSpPr/>
              <p:nvPr/>
            </p:nvSpPr>
            <p:spPr>
              <a:xfrm>
                <a:off x="528" y="1632"/>
                <a:ext cx="432" cy="1632"/>
              </a:xfrm>
              <a:prstGeom prst="rect">
                <a:avLst/>
              </a:prstGeom>
              <a:solidFill>
                <a:srgbClr val="0066FF"/>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grants</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books</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mbox</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minix</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r>
                  <a:rPr lang="en-US" altLang="zh-CN" sz="1800" dirty="0">
                    <a:solidFill>
                      <a:schemeClr val="bg1"/>
                    </a:solidFill>
                    <a:latin typeface="Tahoma" panose="020B0604030504040204" pitchFamily="34" charset="0"/>
                    <a:ea typeface="宋体" panose="02010600030101010101" pitchFamily="2" charset="-122"/>
                  </a:rPr>
                  <a:t>src</a:t>
                </a:r>
                <a:endParaRPr lang="en-US" altLang="zh-CN" sz="1800" dirty="0">
                  <a:solidFill>
                    <a:schemeClr val="bg1"/>
                  </a:solidFill>
                  <a:latin typeface="Tahoma" panose="020B0604030504040204" pitchFamily="34" charset="0"/>
                  <a:ea typeface="宋体" panose="02010600030101010101" pitchFamily="2" charset="-122"/>
                </a:endParaRPr>
              </a:p>
              <a:p>
                <a:pPr marL="0" lvl="0" indent="0" eaLnBrk="1" hangingPunct="1">
                  <a:spcBef>
                    <a:spcPct val="0"/>
                  </a:spcBef>
                  <a:buClrTx/>
                  <a:buNone/>
                </a:pPr>
                <a:endParaRPr lang="zh-CN" altLang="en-US" sz="1800" dirty="0">
                  <a:solidFill>
                    <a:schemeClr val="bg1"/>
                  </a:solidFill>
                  <a:latin typeface="Tahoma" panose="020B0604030504040204" pitchFamily="34" charset="0"/>
                  <a:ea typeface="宋体" panose="02010600030101010101" pitchFamily="2" charset="-122"/>
                </a:endParaRPr>
              </a:p>
            </p:txBody>
          </p:sp>
          <p:sp>
            <p:nvSpPr>
              <p:cNvPr id="23571" name="Line 27"/>
              <p:cNvSpPr/>
              <p:nvPr/>
            </p:nvSpPr>
            <p:spPr>
              <a:xfrm>
                <a:off x="189" y="1928"/>
                <a:ext cx="768" cy="0"/>
              </a:xfrm>
              <a:prstGeom prst="line">
                <a:avLst/>
              </a:prstGeom>
              <a:ln w="9525" cap="flat" cmpd="sng">
                <a:solidFill>
                  <a:schemeClr val="tx1"/>
                </a:solidFill>
                <a:prstDash val="solid"/>
                <a:miter/>
                <a:headEnd type="none" w="med" len="med"/>
                <a:tailEnd type="none" w="med" len="med"/>
              </a:ln>
            </p:spPr>
          </p:sp>
          <p:sp>
            <p:nvSpPr>
              <p:cNvPr id="23572" name="Line 28"/>
              <p:cNvSpPr/>
              <p:nvPr/>
            </p:nvSpPr>
            <p:spPr>
              <a:xfrm>
                <a:off x="192" y="2115"/>
                <a:ext cx="768" cy="0"/>
              </a:xfrm>
              <a:prstGeom prst="line">
                <a:avLst/>
              </a:prstGeom>
              <a:ln w="9525" cap="flat" cmpd="sng">
                <a:solidFill>
                  <a:schemeClr val="tx1"/>
                </a:solidFill>
                <a:prstDash val="solid"/>
                <a:miter/>
                <a:headEnd type="none" w="med" len="med"/>
                <a:tailEnd type="none" w="med" len="med"/>
              </a:ln>
            </p:spPr>
          </p:sp>
          <p:sp>
            <p:nvSpPr>
              <p:cNvPr id="23573" name="Line 29"/>
              <p:cNvSpPr/>
              <p:nvPr/>
            </p:nvSpPr>
            <p:spPr>
              <a:xfrm>
                <a:off x="192" y="2304"/>
                <a:ext cx="768" cy="0"/>
              </a:xfrm>
              <a:prstGeom prst="line">
                <a:avLst/>
              </a:prstGeom>
              <a:ln w="9525" cap="flat" cmpd="sng">
                <a:solidFill>
                  <a:schemeClr val="tx1"/>
                </a:solidFill>
                <a:prstDash val="solid"/>
                <a:miter/>
                <a:headEnd type="none" w="med" len="med"/>
                <a:tailEnd type="none" w="med" len="med"/>
              </a:ln>
            </p:spPr>
          </p:sp>
          <p:sp>
            <p:nvSpPr>
              <p:cNvPr id="23574" name="Line 30"/>
              <p:cNvSpPr/>
              <p:nvPr/>
            </p:nvSpPr>
            <p:spPr>
              <a:xfrm>
                <a:off x="192" y="2448"/>
                <a:ext cx="768" cy="0"/>
              </a:xfrm>
              <a:prstGeom prst="line">
                <a:avLst/>
              </a:prstGeom>
              <a:ln w="9525" cap="flat" cmpd="sng">
                <a:solidFill>
                  <a:schemeClr val="tx1"/>
                </a:solidFill>
                <a:prstDash val="solid"/>
                <a:miter/>
                <a:headEnd type="none" w="med" len="med"/>
                <a:tailEnd type="none" w="med" len="med"/>
              </a:ln>
            </p:spPr>
          </p:sp>
          <p:sp>
            <p:nvSpPr>
              <p:cNvPr id="23575" name="Line 31"/>
              <p:cNvSpPr/>
              <p:nvPr/>
            </p:nvSpPr>
            <p:spPr>
              <a:xfrm>
                <a:off x="192" y="2790"/>
                <a:ext cx="768" cy="0"/>
              </a:xfrm>
              <a:prstGeom prst="line">
                <a:avLst/>
              </a:prstGeom>
              <a:ln w="9525" cap="flat" cmpd="sng">
                <a:solidFill>
                  <a:schemeClr val="tx1"/>
                </a:solidFill>
                <a:prstDash val="solid"/>
                <a:miter/>
                <a:headEnd type="none" w="med" len="med"/>
                <a:tailEnd type="none" w="med" len="med"/>
              </a:ln>
            </p:spPr>
          </p:sp>
          <p:sp>
            <p:nvSpPr>
              <p:cNvPr id="23576" name="Line 32"/>
              <p:cNvSpPr/>
              <p:nvPr/>
            </p:nvSpPr>
            <p:spPr>
              <a:xfrm>
                <a:off x="192" y="2976"/>
                <a:ext cx="768" cy="0"/>
              </a:xfrm>
              <a:prstGeom prst="line">
                <a:avLst/>
              </a:prstGeom>
              <a:ln w="9525" cap="flat" cmpd="sng">
                <a:solidFill>
                  <a:schemeClr val="tx1"/>
                </a:solidFill>
                <a:prstDash val="solid"/>
                <a:miter/>
                <a:headEnd type="none" w="med" len="med"/>
                <a:tailEnd type="none" w="med" len="med"/>
              </a:ln>
            </p:spPr>
          </p:sp>
        </p:grpSp>
        <p:sp>
          <p:nvSpPr>
            <p:cNvPr id="23564" name="Text Box 34"/>
            <p:cNvSpPr txBox="1"/>
            <p:nvPr/>
          </p:nvSpPr>
          <p:spPr>
            <a:xfrm>
              <a:off x="319786" y="2110314"/>
              <a:ext cx="1219200" cy="36933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zh-CN" altLang="en-US" sz="1800" b="1" dirty="0">
                  <a:latin typeface="宋体" panose="02010600030101010101" pitchFamily="2" charset="-122"/>
                  <a:ea typeface="宋体" panose="02010600030101010101" pitchFamily="2" charset="-122"/>
                </a:rPr>
                <a:t>根目录</a:t>
              </a:r>
              <a:endParaRPr lang="zh-CN" altLang="en-US" sz="1800" b="1" dirty="0">
                <a:latin typeface="Tahoma" panose="020B0604030504040204" pitchFamily="34" charset="0"/>
                <a:ea typeface="宋体" panose="02010600030101010101" pitchFamily="2" charset="-122"/>
              </a:endParaRPr>
            </a:p>
          </p:txBody>
        </p:sp>
        <p:sp>
          <p:nvSpPr>
            <p:cNvPr id="23565" name="Text Box 35"/>
            <p:cNvSpPr txBox="1"/>
            <p:nvPr/>
          </p:nvSpPr>
          <p:spPr>
            <a:xfrm>
              <a:off x="1728787" y="2305548"/>
              <a:ext cx="1662113" cy="61863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b="1" dirty="0">
                  <a:latin typeface="宋体" panose="02010600030101010101" pitchFamily="2" charset="-122"/>
                  <a:ea typeface="宋体" panose="02010600030101010101" pitchFamily="2" charset="-122"/>
                </a:rPr>
                <a:t>结点</a:t>
              </a:r>
              <a:r>
                <a:rPr lang="en-US" altLang="zh-CN" sz="1800" b="1" dirty="0">
                  <a:latin typeface="宋体" panose="02010600030101010101" pitchFamily="2" charset="-122"/>
                  <a:ea typeface="宋体" panose="02010600030101010101" pitchFamily="2" charset="-122"/>
                </a:rPr>
                <a:t>6</a:t>
              </a:r>
              <a:r>
                <a:rPr lang="zh-CN" altLang="en-US" sz="1800" b="1" dirty="0">
                  <a:latin typeface="宋体" panose="02010600030101010101" pitchFamily="2" charset="-122"/>
                  <a:ea typeface="宋体" panose="02010600030101010101" pitchFamily="2" charset="-122"/>
                </a:rPr>
                <a:t>是</a:t>
              </a:r>
              <a:endParaRPr lang="zh-CN" altLang="en-US" sz="1800" b="1" dirty="0">
                <a:latin typeface="宋体" panose="02010600030101010101" pitchFamily="2" charset="-122"/>
                <a:ea typeface="宋体" panose="02010600030101010101" pitchFamily="2" charset="-122"/>
              </a:endParaRPr>
            </a:p>
            <a:p>
              <a:pPr marL="0" lvl="0" indent="0" eaLnBrk="1" hangingPunct="1">
                <a:lnSpc>
                  <a:spcPct val="40000"/>
                </a:lnSpc>
                <a:spcBef>
                  <a:spcPct val="50000"/>
                </a:spcBef>
                <a:buClrTx/>
                <a:buNone/>
              </a:pPr>
              <a:r>
                <a:rPr lang="zh-CN" altLang="en-US" sz="1800" b="1" dirty="0">
                  <a:latin typeface="宋体" panose="02010600030101010101" pitchFamily="2" charset="-122"/>
                  <a:ea typeface="宋体" panose="02010600030101010101" pitchFamily="2" charset="-122"/>
                </a:rPr>
                <a:t>／</a:t>
              </a:r>
              <a:r>
                <a:rPr lang="en-US" altLang="zh-CN" sz="1800" b="1" dirty="0">
                  <a:latin typeface="宋体" panose="02010600030101010101" pitchFamily="2" charset="-122"/>
                  <a:ea typeface="宋体" panose="02010600030101010101" pitchFamily="2" charset="-122"/>
                </a:rPr>
                <a:t>usr</a:t>
              </a:r>
              <a:r>
                <a:rPr lang="zh-CN" altLang="en-US" sz="1800" b="1" dirty="0">
                  <a:latin typeface="宋体" panose="02010600030101010101" pitchFamily="2" charset="-122"/>
                  <a:ea typeface="宋体" panose="02010600030101010101" pitchFamily="2" charset="-122"/>
                </a:rPr>
                <a:t>的目录 </a:t>
              </a:r>
              <a:endParaRPr lang="zh-CN" altLang="en-US" sz="1800" b="1" dirty="0">
                <a:latin typeface="宋体" panose="02010600030101010101" pitchFamily="2" charset="-122"/>
                <a:ea typeface="宋体" panose="02010600030101010101" pitchFamily="2" charset="-122"/>
              </a:endParaRPr>
            </a:p>
          </p:txBody>
        </p:sp>
        <p:sp>
          <p:nvSpPr>
            <p:cNvPr id="23566" name="Text Box 36"/>
            <p:cNvSpPr txBox="1"/>
            <p:nvPr/>
          </p:nvSpPr>
          <p:spPr>
            <a:xfrm>
              <a:off x="3657600" y="1914568"/>
              <a:ext cx="1676400" cy="64633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800" b="1" dirty="0">
                  <a:latin typeface="宋体" panose="02010600030101010101" pitchFamily="2" charset="-122"/>
                  <a:ea typeface="宋体" panose="02010600030101010101" pitchFamily="2" charset="-122"/>
                </a:rPr>
                <a:t>132#</a:t>
              </a:r>
              <a:r>
                <a:rPr lang="zh-CN" altLang="en-US" sz="1800" b="1" dirty="0">
                  <a:latin typeface="宋体" panose="02010600030101010101" pitchFamily="2" charset="-122"/>
                  <a:ea typeface="宋体" panose="02010600030101010101" pitchFamily="2" charset="-122"/>
                </a:rPr>
                <a:t>块是</a:t>
              </a:r>
              <a:r>
                <a:rPr lang="en-US" altLang="zh-CN" sz="1800" b="1" dirty="0">
                  <a:latin typeface="宋体" panose="02010600030101010101" pitchFamily="2" charset="-122"/>
                  <a:ea typeface="宋体" panose="02010600030101010101" pitchFamily="2" charset="-122"/>
                </a:rPr>
                <a:t>/usr</a:t>
              </a:r>
              <a:r>
                <a:rPr lang="zh-CN" altLang="en-US" sz="1800" b="1" dirty="0">
                  <a:latin typeface="宋体" panose="02010600030101010101" pitchFamily="2" charset="-122"/>
                  <a:ea typeface="宋体" panose="02010600030101010101" pitchFamily="2" charset="-122"/>
                </a:rPr>
                <a:t>的目录 </a:t>
              </a:r>
              <a:endParaRPr lang="zh-CN" altLang="en-US" sz="1800" b="1" dirty="0">
                <a:latin typeface="宋体" panose="02010600030101010101" pitchFamily="2" charset="-122"/>
                <a:ea typeface="宋体" panose="02010600030101010101" pitchFamily="2" charset="-122"/>
              </a:endParaRPr>
            </a:p>
          </p:txBody>
        </p:sp>
        <p:sp>
          <p:nvSpPr>
            <p:cNvPr id="23567" name="Text Box 37"/>
            <p:cNvSpPr txBox="1"/>
            <p:nvPr/>
          </p:nvSpPr>
          <p:spPr>
            <a:xfrm>
              <a:off x="5219700" y="2512924"/>
              <a:ext cx="1600200" cy="64633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b="1" dirty="0">
                  <a:latin typeface="宋体" panose="02010600030101010101" pitchFamily="2" charset="-122"/>
                  <a:ea typeface="宋体" panose="02010600030101010101" pitchFamily="2" charset="-122"/>
                </a:rPr>
                <a:t>结点</a:t>
              </a:r>
              <a:r>
                <a:rPr lang="en-US" altLang="zh-CN" sz="1800" b="1" dirty="0">
                  <a:latin typeface="宋体" panose="02010600030101010101" pitchFamily="2" charset="-122"/>
                  <a:ea typeface="宋体" panose="02010600030101010101" pitchFamily="2" charset="-122"/>
                </a:rPr>
                <a:t>26</a:t>
              </a:r>
              <a:r>
                <a:rPr lang="zh-CN" altLang="en-US" sz="1800" b="1" dirty="0">
                  <a:latin typeface="宋体" panose="02010600030101010101" pitchFamily="2" charset="-122"/>
                  <a:ea typeface="宋体" panose="02010600030101010101" pitchFamily="2" charset="-122"/>
                </a:rPr>
                <a:t>是</a:t>
              </a:r>
              <a:r>
                <a:rPr lang="en-US" altLang="zh-CN" sz="1800" b="1" dirty="0">
                  <a:latin typeface="宋体" panose="02010600030101010101" pitchFamily="2" charset="-122"/>
                  <a:ea typeface="宋体" panose="02010600030101010101" pitchFamily="2" charset="-122"/>
                </a:rPr>
                <a:t>/usr/ast</a:t>
              </a:r>
              <a:r>
                <a:rPr lang="zh-CN" altLang="en-US" sz="1800" b="1" dirty="0">
                  <a:latin typeface="宋体" panose="02010600030101010101" pitchFamily="2" charset="-122"/>
                  <a:ea typeface="宋体" panose="02010600030101010101" pitchFamily="2" charset="-122"/>
                </a:rPr>
                <a:t>目录 </a:t>
              </a:r>
              <a:endParaRPr lang="zh-CN" altLang="en-US" sz="1800" b="1" dirty="0">
                <a:latin typeface="宋体" panose="02010600030101010101" pitchFamily="2" charset="-122"/>
                <a:ea typeface="宋体" panose="02010600030101010101" pitchFamily="2" charset="-122"/>
              </a:endParaRPr>
            </a:p>
          </p:txBody>
        </p:sp>
        <p:sp>
          <p:nvSpPr>
            <p:cNvPr id="23568" name="Text Box 38"/>
            <p:cNvSpPr txBox="1"/>
            <p:nvPr/>
          </p:nvSpPr>
          <p:spPr>
            <a:xfrm>
              <a:off x="7010400" y="2066853"/>
              <a:ext cx="1905000" cy="64633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800" b="1" dirty="0">
                  <a:latin typeface="宋体" panose="02010600030101010101" pitchFamily="2" charset="-122"/>
                  <a:ea typeface="宋体" panose="02010600030101010101" pitchFamily="2" charset="-122"/>
                </a:rPr>
                <a:t>406#</a:t>
              </a:r>
              <a:r>
                <a:rPr lang="zh-CN" altLang="en-US" sz="1800" b="1" dirty="0">
                  <a:latin typeface="宋体" panose="02010600030101010101" pitchFamily="2" charset="-122"/>
                  <a:ea typeface="宋体" panose="02010600030101010101" pitchFamily="2" charset="-122"/>
                </a:rPr>
                <a:t>块是</a:t>
              </a:r>
              <a:r>
                <a:rPr lang="en-US" altLang="zh-CN" sz="1800" b="1" dirty="0">
                  <a:latin typeface="宋体" panose="02010600030101010101" pitchFamily="2" charset="-122"/>
                  <a:ea typeface="宋体" panose="02010600030101010101" pitchFamily="2" charset="-122"/>
                </a:rPr>
                <a:t>/usr/ast</a:t>
              </a:r>
              <a:r>
                <a:rPr lang="zh-CN" altLang="en-US" sz="1800" b="1" dirty="0">
                  <a:latin typeface="宋体" panose="02010600030101010101" pitchFamily="2" charset="-122"/>
                  <a:ea typeface="宋体" panose="02010600030101010101" pitchFamily="2" charset="-122"/>
                </a:rPr>
                <a:t>的目录</a:t>
              </a:r>
              <a:endParaRPr lang="zh-CN" altLang="en-US" sz="1800" b="1" dirty="0">
                <a:latin typeface="宋体" panose="02010600030101010101" pitchFamily="2" charset="-122"/>
                <a:ea typeface="宋体" panose="02010600030101010101" pitchFamily="2" charset="-122"/>
              </a:endParaRPr>
            </a:p>
          </p:txBody>
        </p:sp>
      </p:grpSp>
      <p:pic>
        <p:nvPicPr>
          <p:cNvPr id="23556" name="Picture 5"/>
          <p:cNvPicPr>
            <a:picLocks noChangeAspect="1"/>
          </p:cNvPicPr>
          <p:nvPr/>
        </p:nvPicPr>
        <p:blipFill>
          <a:blip r:embed="rId1"/>
          <a:stretch>
            <a:fillRect/>
          </a:stretch>
        </p:blipFill>
        <p:spPr>
          <a:xfrm>
            <a:off x="3633788" y="49213"/>
            <a:ext cx="4933950" cy="3117850"/>
          </a:xfrm>
          <a:prstGeom prst="rect">
            <a:avLst/>
          </a:prstGeom>
          <a:noFill/>
          <a:ln w="9525">
            <a:noFill/>
          </a:ln>
        </p:spPr>
      </p:pic>
      <p:sp>
        <p:nvSpPr>
          <p:cNvPr id="23557" name="Line 12"/>
          <p:cNvSpPr/>
          <p:nvPr/>
        </p:nvSpPr>
        <p:spPr>
          <a:xfrm>
            <a:off x="284163" y="4448175"/>
            <a:ext cx="1219200" cy="0"/>
          </a:xfrm>
          <a:prstGeom prst="line">
            <a:avLst/>
          </a:prstGeom>
          <a:ln w="9525" cap="flat" cmpd="sng">
            <a:solidFill>
              <a:schemeClr val="tx1"/>
            </a:solidFill>
            <a:prstDash val="solid"/>
            <a:miter/>
            <a:headEnd type="none" w="med" len="med"/>
            <a:tailEnd type="none" w="med" len="med"/>
          </a:ln>
        </p:spPr>
      </p:sp>
      <p:sp>
        <p:nvSpPr>
          <p:cNvPr id="23558" name="Line 31"/>
          <p:cNvSpPr/>
          <p:nvPr/>
        </p:nvSpPr>
        <p:spPr>
          <a:xfrm>
            <a:off x="7042150" y="5718175"/>
            <a:ext cx="1752600" cy="0"/>
          </a:xfrm>
          <a:prstGeom prst="line">
            <a:avLst/>
          </a:prstGeom>
          <a:ln w="9525" cap="flat" cmpd="sng">
            <a:solidFill>
              <a:schemeClr val="tx1"/>
            </a:solidFill>
            <a:prstDash val="solid"/>
            <a:miter/>
            <a:headEnd type="none" w="med" len="med"/>
            <a:tailEnd type="none" w="med" len="med"/>
          </a:ln>
        </p:spPr>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587375" y="131763"/>
            <a:ext cx="7994650" cy="1595437"/>
          </a:xfrm>
        </p:spPr>
        <p:txBody>
          <a:bodyPr vert="horz" wrap="square" lIns="91440" tIns="45720" rIns="91440" bIns="45720" anchor="ctr" anchorCtr="0"/>
          <a:lstStyle/>
          <a:p>
            <a:pPr algn="l" eaLnBrk="1" hangingPunct="1"/>
            <a:r>
              <a:rPr lang="en-US" altLang="zh-CN" dirty="0">
                <a:ea typeface="宋体" panose="02010600030101010101" pitchFamily="2" charset="-122"/>
              </a:rPr>
              <a:t>Linking and Mounting</a:t>
            </a:r>
            <a:r>
              <a:rPr lang="en-US" altLang="zh-CN" sz="2800" dirty="0">
                <a:solidFill>
                  <a:schemeClr val="tx1"/>
                </a:solidFill>
                <a:ea typeface="宋体" panose="02010600030101010101" pitchFamily="2" charset="-122"/>
              </a:rPr>
              <a:t>(name resolution can also be used to merge different name space in a transparent)</a:t>
            </a:r>
            <a:endParaRPr lang="en-US" altLang="zh-CN" sz="2800" dirty="0">
              <a:solidFill>
                <a:schemeClr val="tx1"/>
              </a:solidFill>
              <a:ea typeface="宋体" panose="02010600030101010101" pitchFamily="2" charset="-122"/>
            </a:endParaRPr>
          </a:p>
        </p:txBody>
      </p:sp>
      <p:sp>
        <p:nvSpPr>
          <p:cNvPr id="25603" name="Rectangle 3"/>
          <p:cNvSpPr>
            <a:spLocks noGrp="1"/>
          </p:cNvSpPr>
          <p:nvPr>
            <p:ph idx="1"/>
          </p:nvPr>
        </p:nvSpPr>
        <p:spPr>
          <a:xfrm>
            <a:off x="261938" y="1785938"/>
            <a:ext cx="8666162" cy="4975225"/>
          </a:xfrm>
        </p:spPr>
        <p:txBody>
          <a:bodyPr vert="horz" wrap="square" lIns="91440" tIns="45720" rIns="91440" bIns="45720" anchor="t" anchorCtr="0"/>
          <a:lstStyle/>
          <a:p>
            <a:pPr marL="0" indent="0" algn="l" eaLnBrk="1" hangingPunct="1">
              <a:lnSpc>
                <a:spcPct val="90000"/>
              </a:lnSpc>
              <a:buNone/>
            </a:pPr>
            <a:r>
              <a:rPr lang="en-US" altLang="zh-CN" sz="2400" b="1" dirty="0">
                <a:ea typeface="宋体" panose="02010600030101010101" pitchFamily="2" charset="-122"/>
              </a:rPr>
              <a:t>Mount point</a:t>
            </a:r>
            <a:r>
              <a:rPr lang="en-US" altLang="zh-CN" sz="2400" dirty="0">
                <a:ea typeface="宋体" panose="02010600030101010101" pitchFamily="2" charset="-122"/>
              </a:rPr>
              <a:t>—the directory node storing the node identifier.</a:t>
            </a:r>
            <a:endParaRPr lang="en-US" altLang="zh-CN" sz="2400" dirty="0">
              <a:ea typeface="宋体" panose="02010600030101010101" pitchFamily="2" charset="-122"/>
            </a:endParaRPr>
          </a:p>
          <a:p>
            <a:pPr marL="0" indent="0" algn="l" eaLnBrk="1" hangingPunct="1">
              <a:lnSpc>
                <a:spcPct val="90000"/>
              </a:lnSpc>
              <a:buNone/>
            </a:pPr>
            <a:endParaRPr lang="en-US" altLang="zh-CN" sz="2400" dirty="0">
              <a:ea typeface="宋体" panose="02010600030101010101" pitchFamily="2" charset="-122"/>
            </a:endParaRPr>
          </a:p>
          <a:p>
            <a:pPr marL="0" indent="0" algn="l" eaLnBrk="1" hangingPunct="1">
              <a:lnSpc>
                <a:spcPct val="90000"/>
              </a:lnSpc>
              <a:buNone/>
            </a:pPr>
            <a:r>
              <a:rPr lang="en-US" altLang="zh-CN" sz="2400" b="1" dirty="0">
                <a:ea typeface="宋体" panose="02010600030101010101" pitchFamily="2" charset="-122"/>
              </a:rPr>
              <a:t>Mounting point</a:t>
            </a:r>
            <a:r>
              <a:rPr lang="en-US" altLang="zh-CN" sz="2400" dirty="0">
                <a:ea typeface="宋体" panose="02010600030101010101" pitchFamily="2" charset="-122"/>
              </a:rPr>
              <a:t> (</a:t>
            </a:r>
            <a:r>
              <a:rPr lang="zh-CN" altLang="en-US" sz="2400" dirty="0">
                <a:ea typeface="宋体" panose="02010600030101010101" pitchFamily="2" charset="-122"/>
              </a:rPr>
              <a:t>被安装点</a:t>
            </a:r>
            <a:r>
              <a:rPr lang="en-US" altLang="zh-CN" sz="2400" dirty="0">
                <a:ea typeface="宋体" panose="02010600030101010101" pitchFamily="2" charset="-122"/>
              </a:rPr>
              <a:t>)—the directory node in the foreign name space (root node). </a:t>
            </a:r>
            <a:endParaRPr lang="en-US" altLang="zh-CN" sz="2400" dirty="0">
              <a:ea typeface="宋体" panose="02010600030101010101" pitchFamily="2" charset="-122"/>
            </a:endParaRPr>
          </a:p>
          <a:p>
            <a:pPr marL="0" indent="0" algn="l" eaLnBrk="1" hangingPunct="1">
              <a:lnSpc>
                <a:spcPct val="90000"/>
              </a:lnSpc>
              <a:buNone/>
            </a:pPr>
            <a:endParaRPr lang="en-US" altLang="zh-CN" sz="2400" dirty="0">
              <a:ea typeface="宋体" panose="02010600030101010101" pitchFamily="2" charset="-122"/>
            </a:endParaRPr>
          </a:p>
          <a:p>
            <a:pPr marL="0" indent="0" algn="l" eaLnBrk="1" hangingPunct="1">
              <a:lnSpc>
                <a:spcPct val="90000"/>
              </a:lnSpc>
              <a:buNone/>
            </a:pPr>
            <a:r>
              <a:rPr lang="en-US" altLang="zh-CN" sz="2400" dirty="0">
                <a:ea typeface="宋体" panose="02010600030101010101" pitchFamily="2" charset="-122"/>
              </a:rPr>
              <a:t>To mount a foreign name space in a distributed system requires at least the following information</a:t>
            </a:r>
            <a:r>
              <a:rPr lang="en-US" altLang="zh-CN" sz="2400" dirty="0">
                <a:ea typeface="宋体" panose="02010600030101010101" pitchFamily="2" charset="-122"/>
                <a:sym typeface="Wingdings" panose="05000000000000000000" pitchFamily="2" charset="2"/>
              </a:rPr>
              <a:t>:</a:t>
            </a:r>
            <a:endParaRPr lang="en-US" altLang="zh-CN" sz="2400" dirty="0">
              <a:ea typeface="宋体" panose="02010600030101010101" pitchFamily="2" charset="-122"/>
            </a:endParaRPr>
          </a:p>
          <a:p>
            <a:pPr marL="0" indent="0" algn="l" eaLnBrk="1" hangingPunct="1">
              <a:lnSpc>
                <a:spcPct val="90000"/>
              </a:lnSpc>
              <a:buNone/>
            </a:pPr>
            <a:r>
              <a:rPr lang="en-US" altLang="zh-CN" sz="2400" dirty="0">
                <a:ea typeface="宋体" panose="02010600030101010101" pitchFamily="2" charset="-122"/>
              </a:rPr>
              <a:t>    1. The name of an access protocol.</a:t>
            </a:r>
            <a:endParaRPr lang="en-US" altLang="zh-CN" sz="2400" dirty="0">
              <a:ea typeface="宋体" panose="02010600030101010101" pitchFamily="2" charset="-122"/>
            </a:endParaRPr>
          </a:p>
          <a:p>
            <a:pPr marL="0" indent="0" algn="l" eaLnBrk="1" hangingPunct="1">
              <a:lnSpc>
                <a:spcPct val="90000"/>
              </a:lnSpc>
              <a:buNone/>
            </a:pPr>
            <a:r>
              <a:rPr lang="en-US" altLang="zh-CN" sz="2400" dirty="0">
                <a:ea typeface="宋体" panose="02010600030101010101" pitchFamily="2" charset="-122"/>
              </a:rPr>
              <a:t>    2. The name of the server.</a:t>
            </a:r>
            <a:endParaRPr lang="en-US" altLang="zh-CN" sz="2400" dirty="0">
              <a:ea typeface="宋体" panose="02010600030101010101" pitchFamily="2" charset="-122"/>
            </a:endParaRPr>
          </a:p>
          <a:p>
            <a:pPr marL="0" indent="0" algn="l" eaLnBrk="1" hangingPunct="1">
              <a:lnSpc>
                <a:spcPct val="90000"/>
              </a:lnSpc>
              <a:buNone/>
            </a:pPr>
            <a:r>
              <a:rPr lang="en-US" altLang="zh-CN" sz="2400" dirty="0">
                <a:ea typeface="宋体" panose="02010600030101010101" pitchFamily="2" charset="-122"/>
              </a:rPr>
              <a:t>    3. The name of the mounting  point in the foreign name space. </a:t>
            </a:r>
            <a:endParaRPr lang="en-US" altLang="zh-CN" sz="2400" dirty="0">
              <a:ea typeface="宋体" panose="02010600030101010101" pitchFamily="2" charset="-122"/>
            </a:endParaRPr>
          </a:p>
          <a:p>
            <a:pPr marL="0" indent="0" algn="l" eaLnBrk="1" hangingPunct="1">
              <a:lnSpc>
                <a:spcPct val="90000"/>
              </a:lnSpc>
              <a:buNone/>
            </a:pPr>
            <a:endParaRPr lang="en-US" altLang="zh-CN" sz="2400" dirty="0">
              <a:ea typeface="宋体" panose="02010600030101010101" pitchFamily="2" charset="-122"/>
            </a:endParaRPr>
          </a:p>
          <a:p>
            <a:pPr marL="0" indent="0" algn="l" eaLnBrk="1" hangingPunct="1">
              <a:lnSpc>
                <a:spcPct val="90000"/>
              </a:lnSpc>
              <a:buNone/>
            </a:pPr>
            <a:r>
              <a:rPr lang="en-US" altLang="zh-CN" sz="2400" dirty="0">
                <a:ea typeface="宋体" panose="02010600030101010101" pitchFamily="2" charset="-122"/>
                <a:sym typeface="Wingdings" panose="05000000000000000000" pitchFamily="2" charset="2"/>
              </a:rPr>
              <a:t>    (None of the three points may be needed in nondistributed system, for example, in UNIX, no 1 and 2, root is the mounting point)</a:t>
            </a:r>
            <a:endParaRPr lang="en-US" altLang="zh-CN" sz="2400" dirty="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txBox="1">
            <a:spLocks noGrp="1"/>
          </p:cNvSpPr>
          <p:nvPr>
            <p:ph type="sldNum" sz="quarter" idx="12"/>
          </p:nvPr>
        </p:nvSpPr>
        <p:spPr>
          <a:xfrm>
            <a:off x="6553200" y="6245225"/>
            <a:ext cx="2133600" cy="476250"/>
          </a:xfrm>
        </p:spPr>
        <p:txBody>
          <a:bodyPr/>
          <a:lstStyle/>
          <a:p>
            <a:pPr marL="0" indent="0" algn="r" eaLnBrk="1" hangingPunct="1">
              <a:spcBef>
                <a:spcPct val="0"/>
              </a:spcBef>
              <a:buClr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26627"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Example</a:t>
            </a:r>
            <a:endParaRPr lang="en-US" altLang="zh-CN" dirty="0">
              <a:ea typeface="宋体" panose="02010600030101010101" pitchFamily="2" charset="-122"/>
            </a:endParaRPr>
          </a:p>
        </p:txBody>
      </p:sp>
      <p:pic>
        <p:nvPicPr>
          <p:cNvPr id="26628" name="Picture 4"/>
          <p:cNvPicPr>
            <a:picLocks noChangeAspect="1"/>
          </p:cNvPicPr>
          <p:nvPr/>
        </p:nvPicPr>
        <p:blipFill>
          <a:blip r:embed="rId1"/>
          <a:stretch>
            <a:fillRect/>
          </a:stretch>
        </p:blipFill>
        <p:spPr>
          <a:xfrm>
            <a:off x="647700" y="1257300"/>
            <a:ext cx="7683500" cy="499110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xfrm>
            <a:off x="587375" y="131763"/>
            <a:ext cx="7994650" cy="1130300"/>
          </a:xfrm>
        </p:spPr>
        <p:txBody>
          <a:bodyPr vert="horz" wrap="square" lIns="91440" tIns="45720" rIns="91440" bIns="45720" anchor="ctr" anchorCtr="0"/>
          <a:lstStyle/>
          <a:p>
            <a:pPr eaLnBrk="1" hangingPunct="1"/>
            <a:r>
              <a:rPr lang="en-US" altLang="zh-CN" sz="4000" dirty="0">
                <a:ea typeface="宋体" panose="02010600030101010101" pitchFamily="2" charset="-122"/>
              </a:rPr>
              <a:t>Mounting a remote file system</a:t>
            </a:r>
            <a:br>
              <a:rPr lang="en-US" altLang="zh-CN" sz="4000" dirty="0">
                <a:ea typeface="宋体" panose="02010600030101010101" pitchFamily="2" charset="-122"/>
              </a:rPr>
            </a:br>
            <a:r>
              <a:rPr lang="en-US" altLang="zh-CN" sz="4000" dirty="0">
                <a:ea typeface="宋体" panose="02010600030101010101" pitchFamily="2" charset="-122"/>
              </a:rPr>
              <a:t> (in distributed file system)</a:t>
            </a:r>
            <a:endParaRPr lang="en-US" altLang="zh-CN" sz="4000" dirty="0">
              <a:ea typeface="宋体" panose="02010600030101010101" pitchFamily="2" charset="-122"/>
            </a:endParaRPr>
          </a:p>
        </p:txBody>
      </p:sp>
      <p:sp>
        <p:nvSpPr>
          <p:cNvPr id="28675" name="Rectangle 3"/>
          <p:cNvSpPr>
            <a:spLocks noGrp="1"/>
          </p:cNvSpPr>
          <p:nvPr>
            <p:ph idx="1"/>
          </p:nvPr>
        </p:nvSpPr>
        <p:spPr>
          <a:xfrm>
            <a:off x="0" y="6096000"/>
            <a:ext cx="9144000" cy="660400"/>
          </a:xfrm>
        </p:spPr>
        <p:txBody>
          <a:bodyPr vert="horz" wrap="square" lIns="91440" tIns="45720" rIns="91440" bIns="45720" anchor="t" anchorCtr="0"/>
          <a:lstStyle/>
          <a:p>
            <a:pPr eaLnBrk="1" hangingPunct="1">
              <a:lnSpc>
                <a:spcPct val="90000"/>
              </a:lnSpc>
              <a:buNone/>
            </a:pPr>
            <a:r>
              <a:rPr lang="en-US" altLang="zh-CN" sz="2400" dirty="0">
                <a:ea typeface="宋体" panose="02010600030101010101" pitchFamily="2" charset="-122"/>
              </a:rPr>
              <a:t>Mounting remote name spaces through a specific process protocol.</a:t>
            </a:r>
            <a:endParaRPr lang="en-US" altLang="zh-CN" sz="2400" dirty="0">
              <a:ea typeface="宋体" panose="02010600030101010101" pitchFamily="2" charset="-122"/>
            </a:endParaRPr>
          </a:p>
          <a:p>
            <a:pPr eaLnBrk="1" hangingPunct="1">
              <a:lnSpc>
                <a:spcPct val="90000"/>
              </a:lnSpc>
              <a:buNone/>
            </a:pPr>
            <a:r>
              <a:rPr lang="en-US" altLang="zh-CN" sz="2400" dirty="0">
                <a:ea typeface="宋体" panose="02010600030101010101" pitchFamily="2" charset="-122"/>
              </a:rPr>
              <a:t> (in NFS)</a:t>
            </a:r>
            <a:endParaRPr lang="en-US" altLang="zh-CN" sz="2400" dirty="0">
              <a:ea typeface="宋体" panose="02010600030101010101" pitchFamily="2" charset="-122"/>
            </a:endParaRPr>
          </a:p>
        </p:txBody>
      </p:sp>
      <p:sp>
        <p:nvSpPr>
          <p:cNvPr id="28676" name="Oval 6"/>
          <p:cNvSpPr/>
          <p:nvPr/>
        </p:nvSpPr>
        <p:spPr>
          <a:xfrm>
            <a:off x="2595563" y="3348038"/>
            <a:ext cx="295275" cy="19843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pic>
        <p:nvPicPr>
          <p:cNvPr id="28677" name="Picture 4"/>
          <p:cNvPicPr>
            <a:picLocks noChangeAspect="1"/>
          </p:cNvPicPr>
          <p:nvPr/>
        </p:nvPicPr>
        <p:blipFill>
          <a:blip r:embed="rId1"/>
          <a:srcRect l="21165" t="39426" r="19455" b="33534"/>
          <a:stretch>
            <a:fillRect/>
          </a:stretch>
        </p:blipFill>
        <p:spPr>
          <a:xfrm>
            <a:off x="500063" y="1290638"/>
            <a:ext cx="8002587" cy="4881562"/>
          </a:xfrm>
          <a:prstGeom prst="rect">
            <a:avLst/>
          </a:prstGeom>
          <a:noFill/>
          <a:ln w="9525">
            <a:noFill/>
          </a:ln>
        </p:spPr>
      </p:pic>
      <p:sp>
        <p:nvSpPr>
          <p:cNvPr id="28678" name="Line 7"/>
          <p:cNvSpPr/>
          <p:nvPr/>
        </p:nvSpPr>
        <p:spPr>
          <a:xfrm>
            <a:off x="2606675" y="3521075"/>
            <a:ext cx="260350" cy="0"/>
          </a:xfrm>
          <a:prstGeom prst="line">
            <a:avLst/>
          </a:prstGeom>
          <a:ln w="9525" cap="flat" cmpd="sng">
            <a:solidFill>
              <a:srgbClr val="FF0000"/>
            </a:solidFill>
            <a:prstDash val="solid"/>
            <a:headEnd type="none" w="med" len="med"/>
            <a:tailEnd type="none" w="med" len="med"/>
          </a:ln>
        </p:spPr>
      </p:sp>
      <p:sp>
        <p:nvSpPr>
          <p:cNvPr id="28679" name="Line 9"/>
          <p:cNvSpPr/>
          <p:nvPr/>
        </p:nvSpPr>
        <p:spPr>
          <a:xfrm flipH="1" flipV="1">
            <a:off x="2730500" y="3521075"/>
            <a:ext cx="790575" cy="1038225"/>
          </a:xfrm>
          <a:prstGeom prst="line">
            <a:avLst/>
          </a:prstGeom>
          <a:ln w="9525" cap="flat" cmpd="sng">
            <a:solidFill>
              <a:srgbClr val="FF0000"/>
            </a:solidFill>
            <a:prstDash val="solid"/>
            <a:headEnd type="none" w="med" len="med"/>
            <a:tailEnd type="triangle" w="med" len="med"/>
          </a:ln>
        </p:spPr>
      </p:sp>
      <p:sp>
        <p:nvSpPr>
          <p:cNvPr id="28680" name="Rectangle 10"/>
          <p:cNvSpPr/>
          <p:nvPr/>
        </p:nvSpPr>
        <p:spPr>
          <a:xfrm>
            <a:off x="2989263" y="4518025"/>
            <a:ext cx="2989262" cy="322263"/>
          </a:xfrm>
          <a:prstGeom prst="rect">
            <a:avLst/>
          </a:prstGeom>
          <a:noFill/>
          <a:ln w="9525" cap="flat" cmpd="sng">
            <a:solidFill>
              <a:schemeClr val="bg1"/>
            </a:solidFill>
            <a:prstDash val="solid"/>
            <a:miter/>
            <a:headEnd type="none" w="med" len="med"/>
            <a:tailEnd type="none" w="med" len="med"/>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lnSpc>
                <a:spcPct val="90000"/>
              </a:lnSpc>
              <a:buNone/>
            </a:pPr>
            <a:r>
              <a:rPr lang="en-US" altLang="zh-CN" sz="1600" dirty="0">
                <a:solidFill>
                  <a:schemeClr val="accent2"/>
                </a:solidFill>
                <a:ea typeface="宋体" panose="02010600030101010101" pitchFamily="2" charset="-122"/>
              </a:rPr>
              <a:t>(</a:t>
            </a:r>
            <a:r>
              <a:rPr lang="en-US" altLang="zh-CN" sz="1600" dirty="0">
                <a:solidFill>
                  <a:srgbClr val="FF0000"/>
                </a:solidFill>
                <a:ea typeface="宋体" panose="02010600030101010101" pitchFamily="2" charset="-122"/>
              </a:rPr>
              <a:t>Protocol</a:t>
            </a:r>
            <a:r>
              <a:rPr lang="en-US" altLang="zh-CN" sz="1600" dirty="0">
                <a:solidFill>
                  <a:schemeClr val="accent2"/>
                </a:solidFill>
                <a:ea typeface="宋体" panose="02010600030101010101" pitchFamily="2" charset="-122"/>
              </a:rPr>
              <a:t>, Server, </a:t>
            </a:r>
            <a:r>
              <a:rPr lang="en-US" altLang="zh-CN" sz="1600" dirty="0">
                <a:solidFill>
                  <a:schemeClr val="accent1"/>
                </a:solidFill>
                <a:ea typeface="宋体" panose="02010600030101010101" pitchFamily="2" charset="-122"/>
              </a:rPr>
              <a:t>Mounting point</a:t>
            </a:r>
            <a:r>
              <a:rPr lang="en-US" altLang="zh-CN" sz="1600" dirty="0">
                <a:solidFill>
                  <a:schemeClr val="accent2"/>
                </a:solidFill>
                <a:ea typeface="宋体" panose="02010600030101010101" pitchFamily="2" charset="-122"/>
              </a:rPr>
              <a:t>)</a:t>
            </a:r>
            <a:endParaRPr lang="en-US" altLang="zh-CN" sz="1600" dirty="0">
              <a:solidFill>
                <a:schemeClr val="accent2"/>
              </a:solidFill>
              <a:ea typeface="宋体" panose="02010600030101010101" pitchFamily="2" charset="-122"/>
            </a:endParaRPr>
          </a:p>
        </p:txBody>
      </p:sp>
      <p:sp>
        <p:nvSpPr>
          <p:cNvPr id="28681" name="Line 11"/>
          <p:cNvSpPr/>
          <p:nvPr/>
        </p:nvSpPr>
        <p:spPr>
          <a:xfrm flipV="1">
            <a:off x="2928938" y="3521075"/>
            <a:ext cx="1012825" cy="12700"/>
          </a:xfrm>
          <a:prstGeom prst="line">
            <a:avLst/>
          </a:prstGeom>
          <a:ln w="9525" cap="flat" cmpd="sng">
            <a:solidFill>
              <a:schemeClr val="accent2"/>
            </a:solidFill>
            <a:prstDash val="solid"/>
            <a:headEnd type="none" w="med" len="med"/>
            <a:tailEnd type="none" w="med" len="med"/>
          </a:ln>
        </p:spPr>
      </p:sp>
      <p:sp>
        <p:nvSpPr>
          <p:cNvPr id="28682" name="Line 12"/>
          <p:cNvSpPr/>
          <p:nvPr/>
        </p:nvSpPr>
        <p:spPr>
          <a:xfrm flipH="1" flipV="1">
            <a:off x="3497263" y="3533775"/>
            <a:ext cx="703262" cy="1050925"/>
          </a:xfrm>
          <a:prstGeom prst="line">
            <a:avLst/>
          </a:prstGeom>
          <a:ln w="9525" cap="flat" cmpd="sng">
            <a:solidFill>
              <a:schemeClr val="accent2"/>
            </a:solidFill>
            <a:prstDash val="solid"/>
            <a:headEnd type="none" w="med" len="med"/>
            <a:tailEnd type="triangle" w="med" len="med"/>
          </a:ln>
        </p:spPr>
      </p:sp>
      <p:sp>
        <p:nvSpPr>
          <p:cNvPr id="28683" name="Line 13"/>
          <p:cNvSpPr/>
          <p:nvPr/>
        </p:nvSpPr>
        <p:spPr>
          <a:xfrm>
            <a:off x="3990975" y="3509963"/>
            <a:ext cx="976313" cy="11112"/>
          </a:xfrm>
          <a:prstGeom prst="line">
            <a:avLst/>
          </a:prstGeom>
          <a:ln w="9525" cap="flat" cmpd="sng">
            <a:solidFill>
              <a:schemeClr val="accent1"/>
            </a:solidFill>
            <a:prstDash val="solid"/>
            <a:headEnd type="none" w="med" len="med"/>
            <a:tailEnd type="none" w="med" len="med"/>
          </a:ln>
        </p:spPr>
      </p:sp>
      <p:sp>
        <p:nvSpPr>
          <p:cNvPr id="28684" name="Line 14"/>
          <p:cNvSpPr/>
          <p:nvPr/>
        </p:nvSpPr>
        <p:spPr>
          <a:xfrm flipH="1" flipV="1">
            <a:off x="4597400" y="3521075"/>
            <a:ext cx="542925" cy="1112838"/>
          </a:xfrm>
          <a:prstGeom prst="line">
            <a:avLst/>
          </a:prstGeom>
          <a:ln w="9525" cap="flat" cmpd="sng">
            <a:solidFill>
              <a:schemeClr val="accent1"/>
            </a:solidFill>
            <a:prstDash val="solid"/>
            <a:headEnd type="none" w="med" len="med"/>
            <a:tailEnd type="triangle" w="med" len="me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Linking and Mounting (3)</a:t>
            </a:r>
            <a:br>
              <a:rPr lang="en-US" altLang="zh-CN" sz="4000" dirty="0">
                <a:ea typeface="宋体" panose="02010600030101010101" pitchFamily="2" charset="-122"/>
              </a:rPr>
            </a:br>
            <a:r>
              <a:rPr lang="zh-CN" altLang="en-US" sz="2400" dirty="0">
                <a:solidFill>
                  <a:schemeClr val="tx1"/>
                </a:solidFill>
                <a:ea typeface="宋体" panose="02010600030101010101" pitchFamily="2" charset="-122"/>
              </a:rPr>
              <a:t>另一种</a:t>
            </a:r>
            <a:r>
              <a:rPr lang="en-US" altLang="zh-CN" sz="2400" dirty="0">
                <a:solidFill>
                  <a:schemeClr val="tx1"/>
                </a:solidFill>
                <a:ea typeface="宋体" panose="02010600030101010101" pitchFamily="2" charset="-122"/>
              </a:rPr>
              <a:t>Mounting</a:t>
            </a:r>
            <a:r>
              <a:rPr lang="zh-CN" altLang="en-US" sz="2400" dirty="0">
                <a:solidFill>
                  <a:schemeClr val="tx1"/>
                </a:solidFill>
                <a:ea typeface="宋体" panose="02010600030101010101" pitchFamily="2" charset="-122"/>
              </a:rPr>
              <a:t>方式</a:t>
            </a:r>
            <a:r>
              <a:rPr lang="en-US" altLang="zh-CN" sz="2400" dirty="0">
                <a:solidFill>
                  <a:schemeClr val="tx1"/>
                </a:solidFill>
                <a:ea typeface="宋体" panose="02010600030101010101" pitchFamily="2" charset="-122"/>
              </a:rPr>
              <a:t>(DEC’ GNS)</a:t>
            </a:r>
            <a:endParaRPr lang="en-US" altLang="zh-CN" sz="2400" dirty="0">
              <a:solidFill>
                <a:schemeClr val="tx1"/>
              </a:solidFill>
              <a:ea typeface="宋体" panose="02010600030101010101" pitchFamily="2" charset="-122"/>
            </a:endParaRPr>
          </a:p>
        </p:txBody>
      </p:sp>
      <p:sp>
        <p:nvSpPr>
          <p:cNvPr id="29699" name="Rectangle 3"/>
          <p:cNvSpPr>
            <a:spLocks noGrp="1"/>
          </p:cNvSpPr>
          <p:nvPr>
            <p:ph idx="1"/>
          </p:nvPr>
        </p:nvSpPr>
        <p:spPr>
          <a:xfrm>
            <a:off x="0" y="6019800"/>
            <a:ext cx="9144000" cy="838200"/>
          </a:xfrm>
        </p:spPr>
        <p:txBody>
          <a:bodyPr vert="horz" wrap="square" lIns="91440" tIns="45720" rIns="91440" bIns="45720" anchor="t" anchorCtr="0"/>
          <a:lstStyle/>
          <a:p>
            <a:pPr eaLnBrk="1" hangingPunct="1">
              <a:lnSpc>
                <a:spcPct val="90000"/>
              </a:lnSpc>
              <a:buNone/>
            </a:pPr>
            <a:r>
              <a:rPr lang="en-US" altLang="zh-CN" sz="2400" dirty="0">
                <a:ea typeface="宋体" panose="02010600030101010101" pitchFamily="2" charset="-122"/>
              </a:rPr>
              <a:t>Organization of the DEC Global Name Service</a:t>
            </a:r>
            <a:endParaRPr lang="en-US" altLang="zh-CN" sz="2400" dirty="0">
              <a:ea typeface="宋体" panose="02010600030101010101" pitchFamily="2" charset="-122"/>
            </a:endParaRPr>
          </a:p>
          <a:p>
            <a:pPr eaLnBrk="1" hangingPunct="1">
              <a:lnSpc>
                <a:spcPct val="90000"/>
              </a:lnSpc>
              <a:buNone/>
            </a:pPr>
            <a:r>
              <a:rPr lang="en-US" altLang="zh-CN" sz="2400" dirty="0">
                <a:ea typeface="宋体" panose="02010600030101010101" pitchFamily="2" charset="-122"/>
              </a:rPr>
              <a:t>(to add a new root node and to make the existing root nodes its children)</a:t>
            </a:r>
            <a:endParaRPr lang="en-US" altLang="zh-CN" sz="2400" dirty="0">
              <a:ea typeface="宋体" panose="02010600030101010101" pitchFamily="2" charset="-122"/>
            </a:endParaRPr>
          </a:p>
        </p:txBody>
      </p:sp>
      <p:pic>
        <p:nvPicPr>
          <p:cNvPr id="29700" name="Picture 5"/>
          <p:cNvPicPr>
            <a:picLocks noChangeAspect="1"/>
          </p:cNvPicPr>
          <p:nvPr/>
        </p:nvPicPr>
        <p:blipFill>
          <a:blip r:embed="rId1"/>
          <a:srcRect l="28862" t="41843" r="27151" b="36102"/>
          <a:stretch>
            <a:fillRect/>
          </a:stretch>
        </p:blipFill>
        <p:spPr>
          <a:xfrm>
            <a:off x="1050925" y="1090613"/>
            <a:ext cx="7000875" cy="4903787"/>
          </a:xfrm>
          <a:prstGeom prst="rect">
            <a:avLst/>
          </a:prstGeom>
          <a:noFill/>
          <a:ln w="9525">
            <a:noFill/>
          </a:ln>
        </p:spPr>
      </p:pic>
      <p:sp>
        <p:nvSpPr>
          <p:cNvPr id="29701" name="Rectangle 6"/>
          <p:cNvSpPr/>
          <p:nvPr/>
        </p:nvSpPr>
        <p:spPr>
          <a:xfrm>
            <a:off x="4589463" y="4578350"/>
            <a:ext cx="4170362" cy="284163"/>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lnSpc>
                <a:spcPct val="90000"/>
              </a:lnSpc>
              <a:buNone/>
            </a:pPr>
            <a:r>
              <a:rPr lang="zh-CN" altLang="en-US" sz="1400" dirty="0">
                <a:solidFill>
                  <a:schemeClr val="accent2"/>
                </a:solidFill>
                <a:ea typeface="宋体" panose="02010600030101010101" pitchFamily="2" charset="-122"/>
              </a:rPr>
              <a:t>增加</a:t>
            </a:r>
            <a:r>
              <a:rPr lang="zh-CN" altLang="en-US" sz="1400" dirty="0">
                <a:solidFill>
                  <a:srgbClr val="FF0000"/>
                </a:solidFill>
                <a:ea typeface="宋体" panose="02010600030101010101" pitchFamily="2" charset="-122"/>
              </a:rPr>
              <a:t>新的</a:t>
            </a:r>
            <a:r>
              <a:rPr lang="en-US" altLang="zh-CN" sz="1400" dirty="0">
                <a:solidFill>
                  <a:srgbClr val="FF0000"/>
                </a:solidFill>
                <a:ea typeface="宋体" panose="02010600030101010101" pitchFamily="2" charset="-122"/>
              </a:rPr>
              <a:t>Root</a:t>
            </a:r>
            <a:r>
              <a:rPr lang="zh-CN" altLang="en-US" sz="1400" dirty="0">
                <a:solidFill>
                  <a:srgbClr val="FF0000"/>
                </a:solidFill>
                <a:ea typeface="宋体" panose="02010600030101010101" pitchFamily="2" charset="-122"/>
              </a:rPr>
              <a:t>结点</a:t>
            </a:r>
            <a:r>
              <a:rPr lang="en-US" altLang="zh-CN" sz="1400" dirty="0">
                <a:solidFill>
                  <a:schemeClr val="accent2"/>
                </a:solidFill>
                <a:ea typeface="宋体" panose="02010600030101010101" pitchFamily="2" charset="-122"/>
              </a:rPr>
              <a:t>,</a:t>
            </a:r>
            <a:r>
              <a:rPr lang="zh-CN" altLang="en-US" sz="1400" dirty="0">
                <a:solidFill>
                  <a:schemeClr val="accent2"/>
                </a:solidFill>
                <a:ea typeface="宋体" panose="02010600030101010101" pitchFamily="2" charset="-122"/>
              </a:rPr>
              <a:t>并使老的</a:t>
            </a:r>
            <a:r>
              <a:rPr lang="en-US" altLang="zh-CN" sz="1400" dirty="0">
                <a:solidFill>
                  <a:schemeClr val="accent2"/>
                </a:solidFill>
                <a:ea typeface="宋体" panose="02010600030101010101" pitchFamily="2" charset="-122"/>
              </a:rPr>
              <a:t>Root</a:t>
            </a:r>
            <a:r>
              <a:rPr lang="zh-CN" altLang="en-US" sz="1400" dirty="0">
                <a:solidFill>
                  <a:schemeClr val="accent2"/>
                </a:solidFill>
                <a:ea typeface="宋体" panose="02010600030101010101" pitchFamily="2" charset="-122"/>
              </a:rPr>
              <a:t>结点变为其子结点</a:t>
            </a:r>
            <a:r>
              <a:rPr lang="en-US" altLang="zh-CN" sz="1400" dirty="0">
                <a:solidFill>
                  <a:schemeClr val="accent2"/>
                </a:solidFill>
                <a:ea typeface="宋体" panose="02010600030101010101" pitchFamily="2" charset="-122"/>
              </a:rPr>
              <a:t>;</a:t>
            </a:r>
            <a:endParaRPr lang="zh-CN" altLang="en-US" sz="1400" dirty="0">
              <a:solidFill>
                <a:schemeClr val="accent2"/>
              </a:solidFill>
              <a:ea typeface="宋体" panose="02010600030101010101" pitchFamily="2" charset="-122"/>
            </a:endParaRPr>
          </a:p>
        </p:txBody>
      </p:sp>
      <p:sp>
        <p:nvSpPr>
          <p:cNvPr id="29702" name="Line 7"/>
          <p:cNvSpPr/>
          <p:nvPr/>
        </p:nvSpPr>
        <p:spPr>
          <a:xfrm flipH="1" flipV="1">
            <a:off x="4781550" y="1828800"/>
            <a:ext cx="679450" cy="2755900"/>
          </a:xfrm>
          <a:prstGeom prst="line">
            <a:avLst/>
          </a:prstGeom>
          <a:ln w="9525" cap="flat" cmpd="sng">
            <a:solidFill>
              <a:srgbClr val="FF0000"/>
            </a:solidFill>
            <a:prstDash val="solid"/>
            <a:headEnd type="none" w="med" len="med"/>
            <a:tailEnd type="triangle" w="med" len="med"/>
          </a:ln>
        </p:spPr>
      </p:sp>
      <p:sp>
        <p:nvSpPr>
          <p:cNvPr id="29703" name="Line 8"/>
          <p:cNvSpPr/>
          <p:nvPr/>
        </p:nvSpPr>
        <p:spPr>
          <a:xfrm flipH="1" flipV="1">
            <a:off x="3324225" y="2582863"/>
            <a:ext cx="3608388" cy="1976437"/>
          </a:xfrm>
          <a:prstGeom prst="line">
            <a:avLst/>
          </a:prstGeom>
          <a:ln w="9525" cap="flat" cmpd="sng">
            <a:solidFill>
              <a:schemeClr val="accent2"/>
            </a:solidFill>
            <a:prstDash val="solid"/>
            <a:headEnd type="none" w="med" len="med"/>
            <a:tailEnd type="triangle" w="med" len="med"/>
          </a:ln>
        </p:spPr>
      </p:sp>
      <p:sp>
        <p:nvSpPr>
          <p:cNvPr id="29704" name="Line 9"/>
          <p:cNvSpPr/>
          <p:nvPr/>
        </p:nvSpPr>
        <p:spPr>
          <a:xfrm flipH="1" flipV="1">
            <a:off x="6067425" y="2743200"/>
            <a:ext cx="901700" cy="1803400"/>
          </a:xfrm>
          <a:prstGeom prst="line">
            <a:avLst/>
          </a:prstGeom>
          <a:ln w="9525" cap="flat" cmpd="sng">
            <a:solidFill>
              <a:schemeClr val="accent2"/>
            </a:solidFill>
            <a:prstDash val="solid"/>
            <a:headEnd type="none" w="med" len="med"/>
            <a:tailEnd type="triangle" w="med" len="med"/>
          </a:ln>
        </p:spPr>
      </p:sp>
      <p:sp>
        <p:nvSpPr>
          <p:cNvPr id="29705" name="Rectangle 10"/>
          <p:cNvSpPr/>
          <p:nvPr/>
        </p:nvSpPr>
        <p:spPr>
          <a:xfrm>
            <a:off x="6335713" y="5626100"/>
            <a:ext cx="2570162" cy="33972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lnSpc>
                <a:spcPct val="90000"/>
              </a:lnSpc>
              <a:buNone/>
            </a:pPr>
            <a:r>
              <a:rPr lang="zh-CN" altLang="en-US" sz="1600" dirty="0">
                <a:solidFill>
                  <a:schemeClr val="accent2"/>
                </a:solidFill>
                <a:ea typeface="宋体" panose="02010600030101010101" pitchFamily="2" charset="-122"/>
              </a:rPr>
              <a:t>变为</a:t>
            </a:r>
            <a:r>
              <a:rPr lang="en-US" altLang="zh-CN" sz="1800" dirty="0">
                <a:solidFill>
                  <a:schemeClr val="accent2"/>
                </a:solidFill>
                <a:ea typeface="宋体" panose="02010600030101010101" pitchFamily="2" charset="-122"/>
              </a:rPr>
              <a:t>:/vu/home/steen/keys</a:t>
            </a:r>
            <a:endParaRPr lang="en-US" altLang="zh-CN" sz="1800" dirty="0">
              <a:solidFill>
                <a:schemeClr val="accent2"/>
              </a:solidFill>
              <a:ea typeface="宋体" panose="02010600030101010101" pitchFamily="2" charset="-122"/>
            </a:endParaRPr>
          </a:p>
        </p:txBody>
      </p:sp>
      <p:sp>
        <p:nvSpPr>
          <p:cNvPr id="29706" name="Line 11"/>
          <p:cNvSpPr/>
          <p:nvPr/>
        </p:nvSpPr>
        <p:spPr>
          <a:xfrm>
            <a:off x="6264275" y="5264150"/>
            <a:ext cx="692150" cy="420688"/>
          </a:xfrm>
          <a:prstGeom prst="line">
            <a:avLst/>
          </a:prstGeom>
          <a:ln w="9525" cap="flat" cmpd="sng">
            <a:solidFill>
              <a:schemeClr val="accent2"/>
            </a:solidFill>
            <a:prstDash val="solid"/>
            <a:headEnd type="none" w="med" len="med"/>
            <a:tailEnd type="triangle" w="med" len="med"/>
          </a:ln>
        </p:spPr>
      </p:sp>
      <p:sp>
        <p:nvSpPr>
          <p:cNvPr id="29707" name="Rectangle 13"/>
          <p:cNvSpPr/>
          <p:nvPr/>
        </p:nvSpPr>
        <p:spPr>
          <a:xfrm>
            <a:off x="3681413" y="1281113"/>
            <a:ext cx="565150" cy="228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29708" name="Text Box 12"/>
          <p:cNvSpPr txBox="1"/>
          <p:nvPr/>
        </p:nvSpPr>
        <p:spPr>
          <a:xfrm>
            <a:off x="3570288" y="1196975"/>
            <a:ext cx="806450" cy="346075"/>
          </a:xfrm>
          <a:prstGeom prst="rect">
            <a:avLst/>
          </a:prstGeom>
          <a:noFill/>
          <a:ln w="9525" cap="flat" cmpd="sng">
            <a:solidFill>
              <a:schemeClr val="accent2"/>
            </a:solidFill>
            <a:prstDash val="solid"/>
            <a:miter/>
            <a:headEnd type="none" w="med" len="med"/>
            <a:tailEnd type="none" w="med" len="med"/>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en-US" altLang="zh-CN" sz="1600" dirty="0">
                <a:ea typeface="宋体" panose="02010600030101010101" pitchFamily="2" charset="-122"/>
              </a:rPr>
              <a:t>oxford</a:t>
            </a:r>
            <a:endParaRPr lang="en-US" altLang="zh-CN" sz="1600"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p:cNvPicPr>
          <p:nvPr/>
        </p:nvPicPr>
        <p:blipFill>
          <a:blip r:embed="rId1"/>
          <a:srcRect l="19882" t="37160" r="16461" b="32024"/>
          <a:stretch>
            <a:fillRect/>
          </a:stretch>
        </p:blipFill>
        <p:spPr>
          <a:xfrm>
            <a:off x="722313" y="1822450"/>
            <a:ext cx="7826375" cy="4265613"/>
          </a:xfrm>
          <a:prstGeom prst="rect">
            <a:avLst/>
          </a:prstGeom>
          <a:noFill/>
          <a:ln w="9525">
            <a:noFill/>
          </a:ln>
        </p:spPr>
      </p:pic>
      <p:sp>
        <p:nvSpPr>
          <p:cNvPr id="34819" name="Rectangle 3"/>
          <p:cNvSpPr>
            <a:spLocks noGrp="1"/>
          </p:cNvSpPr>
          <p:nvPr>
            <p:ph type="title"/>
          </p:nvPr>
        </p:nvSpPr>
        <p:spPr>
          <a:xfrm>
            <a:off x="914400" y="0"/>
            <a:ext cx="7461250" cy="1033463"/>
          </a:xfrm>
        </p:spPr>
        <p:txBody>
          <a:bodyPr vert="horz" wrap="square" lIns="91440" tIns="45720" rIns="91440" bIns="45720" anchor="ctr" anchorCtr="0"/>
          <a:lstStyle/>
          <a:p>
            <a:pPr eaLnBrk="1" hangingPunct="1"/>
            <a:r>
              <a:rPr lang="en-US" altLang="zh-CN" dirty="0">
                <a:ea typeface="宋体" panose="02010600030101010101" pitchFamily="2" charset="-122"/>
              </a:rPr>
              <a:t>Name Space Distribution</a:t>
            </a:r>
            <a:endParaRPr lang="en-US" altLang="zh-CN" dirty="0">
              <a:ea typeface="宋体" panose="02010600030101010101" pitchFamily="2" charset="-122"/>
            </a:endParaRPr>
          </a:p>
        </p:txBody>
      </p:sp>
      <p:sp>
        <p:nvSpPr>
          <p:cNvPr id="34820" name="Rectangle 4"/>
          <p:cNvSpPr>
            <a:spLocks noGrp="1"/>
          </p:cNvSpPr>
          <p:nvPr>
            <p:ph idx="1"/>
          </p:nvPr>
        </p:nvSpPr>
        <p:spPr>
          <a:xfrm>
            <a:off x="782638" y="6096000"/>
            <a:ext cx="7766050" cy="762000"/>
          </a:xfrm>
        </p:spPr>
        <p:txBody>
          <a:bodyPr vert="horz" wrap="square" lIns="91440" tIns="45720" rIns="91440" bIns="45720" anchor="t" anchorCtr="0"/>
          <a:lstStyle/>
          <a:p>
            <a:pPr eaLnBrk="1" hangingPunct="1">
              <a:lnSpc>
                <a:spcPct val="90000"/>
              </a:lnSpc>
              <a:buNone/>
            </a:pPr>
            <a:r>
              <a:rPr lang="en-US" altLang="zh-CN" sz="2000" dirty="0">
                <a:ea typeface="宋体" panose="02010600030101010101" pitchFamily="2" charset="-122"/>
              </a:rPr>
              <a:t>An example partitioning of the DNS name space, including Internet-accessible files, into three layers.</a:t>
            </a:r>
            <a:endParaRPr lang="en-US" altLang="zh-CN" sz="2000" dirty="0">
              <a:ea typeface="宋体" panose="02010600030101010101" pitchFamily="2" charset="-122"/>
            </a:endParaRPr>
          </a:p>
        </p:txBody>
      </p:sp>
      <p:sp>
        <p:nvSpPr>
          <p:cNvPr id="34821" name="矩形 1"/>
          <p:cNvSpPr/>
          <p:nvPr/>
        </p:nvSpPr>
        <p:spPr>
          <a:xfrm>
            <a:off x="549275" y="814388"/>
            <a:ext cx="8232775" cy="10160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en-US" altLang="zh-CN" sz="2000" dirty="0">
                <a:ea typeface="宋体" panose="02010600030101010101" pitchFamily="2" charset="-122"/>
              </a:rPr>
              <a:t>The DNS name space is hierarchically organized as a rooted tree. Each node in the DNS name space has exactly one incoming edge. </a:t>
            </a:r>
            <a:endParaRPr lang="en-US" altLang="zh-CN" sz="2000" dirty="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p:cNvSpPr>
          <p:nvPr>
            <p:ph type="title"/>
          </p:nvPr>
        </p:nvSpPr>
        <p:spPr>
          <a:xfrm>
            <a:off x="0" y="0"/>
            <a:ext cx="9144000" cy="590550"/>
          </a:xfrm>
        </p:spPr>
        <p:txBody>
          <a:bodyPr vert="horz" wrap="square" lIns="91440" tIns="45720" rIns="91440" bIns="45720" anchor="ctr" anchorCtr="0"/>
          <a:lstStyle/>
          <a:p>
            <a:pPr eaLnBrk="1" hangingPunct="1"/>
            <a:r>
              <a:rPr lang="en-US" altLang="zh-CN" dirty="0">
                <a:ea typeface="宋体" panose="02010600030101010101" pitchFamily="2" charset="-122"/>
              </a:rPr>
              <a:t>Three layers</a:t>
            </a:r>
            <a:endParaRPr lang="en-US" altLang="zh-CN" dirty="0">
              <a:ea typeface="宋体" panose="02010600030101010101" pitchFamily="2" charset="-122"/>
            </a:endParaRPr>
          </a:p>
        </p:txBody>
      </p:sp>
      <p:sp>
        <p:nvSpPr>
          <p:cNvPr id="35843" name="Rectangle 4"/>
          <p:cNvSpPr>
            <a:spLocks noGrp="1"/>
          </p:cNvSpPr>
          <p:nvPr>
            <p:ph idx="1"/>
          </p:nvPr>
        </p:nvSpPr>
        <p:spPr>
          <a:xfrm>
            <a:off x="284163" y="615950"/>
            <a:ext cx="8694737" cy="2008188"/>
          </a:xfrm>
        </p:spPr>
        <p:txBody>
          <a:bodyPr vert="horz" wrap="square" lIns="91440" tIns="45720" rIns="91440" bIns="45720" anchor="t" anchorCtr="0"/>
          <a:lstStyle/>
          <a:p>
            <a:pPr marL="0" indent="0" algn="l" eaLnBrk="1" hangingPunct="1">
              <a:buFont typeface="Wingdings" panose="05000000000000000000" pitchFamily="2" charset="2"/>
              <a:buChar char="u"/>
            </a:pPr>
            <a:r>
              <a:rPr lang="en-US" altLang="zh-CN" sz="2000" dirty="0">
                <a:ea typeface="宋体" panose="02010600030101010101" pitchFamily="2" charset="-122"/>
              </a:rPr>
              <a:t>The </a:t>
            </a:r>
            <a:r>
              <a:rPr lang="en-US" altLang="zh-CN" sz="2000" b="1" dirty="0">
                <a:ea typeface="宋体" panose="02010600030101010101" pitchFamily="2" charset="-122"/>
              </a:rPr>
              <a:t>global layer</a:t>
            </a:r>
            <a:r>
              <a:rPr lang="en-US" altLang="zh-CN" sz="2000" dirty="0">
                <a:ea typeface="宋体" panose="02010600030101010101" pitchFamily="2" charset="-122"/>
              </a:rPr>
              <a:t> is formed by highest-level nodes, Such nodes may represent </a:t>
            </a:r>
            <a:r>
              <a:rPr lang="en-US" altLang="zh-CN" sz="2000" dirty="0">
                <a:solidFill>
                  <a:srgbClr val="FF0000"/>
                </a:solidFill>
                <a:ea typeface="宋体" panose="02010600030101010101" pitchFamily="2" charset="-122"/>
              </a:rPr>
              <a:t>organizations, or groups of organizations </a:t>
            </a:r>
            <a:r>
              <a:rPr lang="en-US" altLang="zh-CN" sz="2000" dirty="0">
                <a:ea typeface="宋体" panose="02010600030101010101" pitchFamily="2" charset="-122"/>
              </a:rPr>
              <a:t>(stability,</a:t>
            </a:r>
            <a:r>
              <a:rPr lang="zh-CN" altLang="en-US" sz="2000" dirty="0">
                <a:ea typeface="宋体" panose="02010600030101010101" pitchFamily="2" charset="-122"/>
              </a:rPr>
              <a:t>某类组织</a:t>
            </a:r>
            <a:r>
              <a:rPr lang="en-US" altLang="zh-CN" sz="2000" dirty="0">
                <a:ea typeface="宋体" panose="02010600030101010101" pitchFamily="2" charset="-122"/>
              </a:rPr>
              <a:t>). </a:t>
            </a:r>
            <a:endParaRPr lang="en-US" altLang="zh-CN" sz="2000" dirty="0">
              <a:ea typeface="宋体" panose="02010600030101010101" pitchFamily="2" charset="-122"/>
            </a:endParaRPr>
          </a:p>
          <a:p>
            <a:pPr marL="0" indent="0" algn="l" eaLnBrk="1" hangingPunct="1">
              <a:buFont typeface="Wingdings" panose="05000000000000000000" pitchFamily="2" charset="2"/>
              <a:buChar char="u"/>
            </a:pPr>
            <a:r>
              <a:rPr lang="en-US" altLang="zh-CN" sz="2000" dirty="0">
                <a:ea typeface="宋体" panose="02010600030101010101" pitchFamily="2" charset="-122"/>
              </a:rPr>
              <a:t>The </a:t>
            </a:r>
            <a:r>
              <a:rPr lang="en-US" altLang="zh-CN" sz="2000" b="1" dirty="0">
                <a:ea typeface="宋体" panose="02010600030101010101" pitchFamily="2" charset="-122"/>
              </a:rPr>
              <a:t>administrational</a:t>
            </a:r>
            <a:r>
              <a:rPr lang="en-US" altLang="zh-CN" sz="2000" dirty="0">
                <a:ea typeface="宋体" panose="02010600030101010101" pitchFamily="2" charset="-122"/>
              </a:rPr>
              <a:t>(</a:t>
            </a:r>
            <a:r>
              <a:rPr lang="zh-CN" altLang="en-US" sz="2000" dirty="0">
                <a:ea typeface="宋体" panose="02010600030101010101" pitchFamily="2" charset="-122"/>
              </a:rPr>
              <a:t>机构组织层</a:t>
            </a:r>
            <a:r>
              <a:rPr lang="en-US" altLang="zh-CN" sz="2000" dirty="0">
                <a:ea typeface="宋体" panose="02010600030101010101" pitchFamily="2" charset="-122"/>
              </a:rPr>
              <a:t>) </a:t>
            </a:r>
            <a:r>
              <a:rPr lang="en-US" altLang="zh-CN" sz="2000" b="1" dirty="0">
                <a:ea typeface="宋体" panose="02010600030101010101" pitchFamily="2" charset="-122"/>
              </a:rPr>
              <a:t>layer</a:t>
            </a:r>
            <a:r>
              <a:rPr lang="en-US" altLang="zh-CN" sz="2000" dirty="0">
                <a:ea typeface="宋体" panose="02010600030101010101" pitchFamily="2" charset="-122"/>
              </a:rPr>
              <a:t> is formed by directory </a:t>
            </a:r>
            <a:r>
              <a:rPr lang="en-US" altLang="zh-CN" sz="2000" dirty="0">
                <a:solidFill>
                  <a:srgbClr val="FF0000"/>
                </a:solidFill>
                <a:ea typeface="宋体" panose="02010600030101010101" pitchFamily="2" charset="-122"/>
              </a:rPr>
              <a:t>nodes </a:t>
            </a:r>
            <a:r>
              <a:rPr lang="en-US" altLang="zh-CN" sz="2000" dirty="0">
                <a:ea typeface="宋体" panose="02010600030101010101" pitchFamily="2" charset="-122"/>
              </a:rPr>
              <a:t>that together are managed </a:t>
            </a:r>
            <a:r>
              <a:rPr lang="en-US" altLang="zh-CN" sz="2000" dirty="0">
                <a:solidFill>
                  <a:srgbClr val="FF0000"/>
                </a:solidFill>
                <a:ea typeface="宋体" panose="02010600030101010101" pitchFamily="2" charset="-122"/>
              </a:rPr>
              <a:t>within a single organization. </a:t>
            </a:r>
            <a:endParaRPr lang="en-US" altLang="zh-CN" sz="2000" dirty="0">
              <a:solidFill>
                <a:srgbClr val="FF0000"/>
              </a:solidFill>
              <a:ea typeface="宋体" panose="02010600030101010101" pitchFamily="2" charset="-122"/>
            </a:endParaRPr>
          </a:p>
          <a:p>
            <a:pPr marL="0" indent="0" algn="l" eaLnBrk="1" hangingPunct="1">
              <a:buFont typeface="Wingdings" panose="05000000000000000000" pitchFamily="2" charset="2"/>
              <a:buChar char="u"/>
            </a:pPr>
            <a:r>
              <a:rPr lang="en-US" altLang="zh-CN" sz="2000" dirty="0">
                <a:ea typeface="宋体" panose="02010600030101010101" pitchFamily="2" charset="-122"/>
              </a:rPr>
              <a:t>The </a:t>
            </a:r>
            <a:r>
              <a:rPr lang="en-US" altLang="zh-CN" sz="2000" b="1" dirty="0">
                <a:ea typeface="宋体" panose="02010600030101010101" pitchFamily="2" charset="-122"/>
              </a:rPr>
              <a:t>managerial layer</a:t>
            </a:r>
            <a:r>
              <a:rPr lang="en-US" altLang="zh-CN" sz="2000" dirty="0">
                <a:ea typeface="宋体" panose="02010600030101010101" pitchFamily="2" charset="-122"/>
              </a:rPr>
              <a:t> consists of nodes that may typically </a:t>
            </a:r>
            <a:r>
              <a:rPr lang="en-US" altLang="zh-CN" sz="2000" dirty="0">
                <a:solidFill>
                  <a:srgbClr val="FF0000"/>
                </a:solidFill>
                <a:ea typeface="宋体" panose="02010600030101010101" pitchFamily="2" charset="-122"/>
              </a:rPr>
              <a:t>changed regularly</a:t>
            </a:r>
            <a:r>
              <a:rPr lang="en-US" altLang="zh-CN" sz="2000" dirty="0">
                <a:ea typeface="宋体" panose="02010600030101010101" pitchFamily="2" charset="-122"/>
              </a:rPr>
              <a:t>. for example, host.</a:t>
            </a:r>
            <a:endParaRPr lang="en-US" altLang="zh-CN" sz="2000" dirty="0">
              <a:ea typeface="宋体" panose="02010600030101010101" pitchFamily="2" charset="-122"/>
            </a:endParaRPr>
          </a:p>
        </p:txBody>
      </p:sp>
      <p:sp>
        <p:nvSpPr>
          <p:cNvPr id="4" name="Rectangle 4"/>
          <p:cNvSpPr txBox="1">
            <a:spLocks noChangeArrowheads="1"/>
          </p:cNvSpPr>
          <p:nvPr/>
        </p:nvSpPr>
        <p:spPr bwMode="auto">
          <a:xfrm>
            <a:off x="390525" y="5276850"/>
            <a:ext cx="8515350" cy="14097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subtree is called a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domain</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（逻辑上）</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zone</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is a part of the name space that is implemented by a separate name server</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（名字服务器，物理上授权）；</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例如 </a:t>
            </a:r>
            <a:r>
              <a:rPr kumimoji="0" lang="en-US" altLang="en-US"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berkeley</a:t>
            </a:r>
            <a:r>
              <a:rPr kumimoji="0" lang="en-US"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域（</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Domain</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）是所有以 </a:t>
            </a:r>
            <a:r>
              <a:rPr kumimoji="0" lang="en-US"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berkeley.edu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结尾的域名空间；而 </a:t>
            </a:r>
            <a:r>
              <a:rPr kumimoji="0" lang="en-US" altLang="en-US"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edu</a:t>
            </a:r>
            <a:r>
              <a:rPr kumimoji="0" lang="en-US"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zone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可以包括 </a:t>
            </a:r>
            <a:r>
              <a:rPr kumimoji="0" lang="en-US" altLang="en-US"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berkeley</a:t>
            </a:r>
            <a:r>
              <a:rPr kumimoji="0" lang="en-US"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 </a:t>
            </a:r>
            <a:r>
              <a:rPr kumimoji="0" lang="en-US" altLang="en-US"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purdue</a:t>
            </a:r>
            <a:r>
              <a:rPr kumimoji="0" lang="en-US"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两个域，都统一归 </a:t>
            </a:r>
            <a:r>
              <a:rPr kumimoji="0" lang="en-US" altLang="en-US"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edu</a:t>
            </a:r>
            <a:r>
              <a:rPr kumimoji="0" lang="en-US"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这个 </a:t>
            </a:r>
            <a:r>
              <a:rPr kumimoji="0" lang="en-US"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zone </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管理。</a:t>
            </a:r>
            <a:endPar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graphicFrame>
        <p:nvGraphicFramePr>
          <p:cNvPr id="5" name="Group 55"/>
          <p:cNvGraphicFramePr>
            <a:graphicFrameLocks noGrp="1"/>
          </p:cNvGraphicFramePr>
          <p:nvPr/>
        </p:nvGraphicFramePr>
        <p:xfrm>
          <a:off x="657225" y="2716213"/>
          <a:ext cx="7981950" cy="2346432"/>
        </p:xfrm>
        <a:graphic>
          <a:graphicData uri="http://schemas.openxmlformats.org/drawingml/2006/table">
            <a:tbl>
              <a:tblPr/>
              <a:tblGrid>
                <a:gridCol w="2931957"/>
                <a:gridCol w="1479852"/>
                <a:gridCol w="1923807"/>
                <a:gridCol w="1646334"/>
              </a:tblGrid>
              <a:tr h="33518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Item</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Global</a:t>
                      </a:r>
                      <a:endParaRPr kumimoji="0" lang="en-US" altLang="zh-CN"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Administrational</a:t>
                      </a:r>
                      <a:endParaRPr kumimoji="0" lang="en-US" altLang="zh-CN"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Managerial</a:t>
                      </a:r>
                      <a:endParaRPr kumimoji="0" lang="en-US" altLang="zh-CN"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18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Geographical scale of network</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Worldwide</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Organization</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Department</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18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Total number of nodes</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Few</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Many</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Vast numbers</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18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Responsiveness to lookups</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Seconds</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Milliseconds</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Immediate</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28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Number of replicas</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Many</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None or few</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None</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18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Update propagation</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Lazy</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Immediate</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Immediate</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18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Is client-side caching applied?</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Yes</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Yes</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Sometimes</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76" marB="4567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Outline</a:t>
            </a:r>
            <a:endParaRPr lang="en-US" altLang="zh-CN" dirty="0">
              <a:ea typeface="宋体" panose="02010600030101010101" pitchFamily="2" charset="-122"/>
            </a:endParaRPr>
          </a:p>
        </p:txBody>
      </p:sp>
      <p:sp>
        <p:nvSpPr>
          <p:cNvPr id="36867" name="Rectangle 3"/>
          <p:cNvSpPr>
            <a:spLocks noGrp="1"/>
          </p:cNvSpPr>
          <p:nvPr>
            <p:ph idx="1"/>
          </p:nvPr>
        </p:nvSpPr>
        <p:spPr>
          <a:xfrm>
            <a:off x="531813" y="1390650"/>
            <a:ext cx="7340600" cy="2863850"/>
          </a:xfrm>
        </p:spPr>
        <p:txBody>
          <a:bodyPr vert="horz" wrap="square" lIns="91440" tIns="45720" rIns="91440" bIns="45720" anchor="t" anchorCtr="0"/>
          <a:lstStyle/>
          <a:p>
            <a:pPr algn="l" eaLnBrk="1" hangingPunct="1"/>
            <a:r>
              <a:rPr lang="en-US" altLang="zh-CN" dirty="0">
                <a:ea typeface="宋体" panose="02010600030101010101" pitchFamily="2" charset="-122"/>
              </a:rPr>
              <a:t>Names Entities</a:t>
            </a:r>
            <a:endParaRPr lang="en-US" altLang="zh-CN" dirty="0">
              <a:ea typeface="宋体" panose="02010600030101010101" pitchFamily="2" charset="-122"/>
            </a:endParaRPr>
          </a:p>
          <a:p>
            <a:pPr algn="l" eaLnBrk="1" hangingPunct="1"/>
            <a:r>
              <a:rPr lang="en-US" altLang="zh-CN" dirty="0">
                <a:solidFill>
                  <a:srgbClr val="FF0000"/>
                </a:solidFill>
                <a:ea typeface="宋体" panose="02010600030101010101" pitchFamily="2" charset="-122"/>
              </a:rPr>
              <a:t>Flat Naming</a:t>
            </a:r>
            <a:endParaRPr lang="en-US" altLang="zh-CN" dirty="0">
              <a:solidFill>
                <a:srgbClr val="FF0000"/>
              </a:solidFill>
              <a:ea typeface="宋体" panose="02010600030101010101" pitchFamily="2" charset="-122"/>
            </a:endParaRPr>
          </a:p>
          <a:p>
            <a:pPr algn="l" eaLnBrk="1" hangingPunct="1"/>
            <a:r>
              <a:rPr lang="en-US" altLang="zh-CN" dirty="0">
                <a:ea typeface="宋体" panose="02010600030101010101" pitchFamily="2" charset="-122"/>
              </a:rPr>
              <a:t>Structured Naming</a:t>
            </a:r>
            <a:endParaRPr lang="en-US" altLang="zh-CN" dirty="0">
              <a:ea typeface="宋体" panose="02010600030101010101" pitchFamily="2" charset="-122"/>
            </a:endParaRPr>
          </a:p>
          <a:p>
            <a:pPr algn="l" eaLnBrk="1" hangingPunct="1"/>
            <a:r>
              <a:rPr lang="en-US" altLang="zh-CN" dirty="0">
                <a:ea typeface="宋体" panose="02010600030101010101" pitchFamily="2" charset="-122"/>
              </a:rPr>
              <a:t>Attribute-Based Naming</a:t>
            </a:r>
            <a:endParaRPr lang="en-US" altLang="zh-CN" dirty="0">
              <a:ea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a:xfrm>
            <a:off x="0" y="0"/>
            <a:ext cx="9144000" cy="904875"/>
          </a:xfrm>
        </p:spPr>
        <p:txBody>
          <a:bodyPr vert="horz" wrap="square" lIns="91440" tIns="45720" rIns="91440" bIns="45720" anchor="ctr" anchorCtr="0"/>
          <a:lstStyle/>
          <a:p>
            <a:pPr eaLnBrk="1" hangingPunct="1"/>
            <a:r>
              <a:rPr lang="en-US" altLang="zh-CN" dirty="0">
                <a:ea typeface="宋体" panose="02010600030101010101" pitchFamily="2" charset="-122"/>
              </a:rPr>
              <a:t>Flat Naming</a:t>
            </a:r>
            <a:endParaRPr lang="en-US" altLang="zh-CN" dirty="0">
              <a:ea typeface="宋体" panose="02010600030101010101" pitchFamily="2" charset="-122"/>
            </a:endParaRPr>
          </a:p>
        </p:txBody>
      </p:sp>
      <p:sp>
        <p:nvSpPr>
          <p:cNvPr id="38915" name="Rectangle 3"/>
          <p:cNvSpPr>
            <a:spLocks noGrp="1"/>
          </p:cNvSpPr>
          <p:nvPr>
            <p:ph idx="1"/>
          </p:nvPr>
        </p:nvSpPr>
        <p:spPr>
          <a:xfrm>
            <a:off x="303213" y="771525"/>
            <a:ext cx="8535987" cy="5638800"/>
          </a:xfrm>
        </p:spPr>
        <p:txBody>
          <a:bodyPr vert="horz" wrap="square" lIns="91440" tIns="45720" rIns="91440" bIns="45720" anchor="t" anchorCtr="0"/>
          <a:lstStyle/>
          <a:p>
            <a:pPr algn="l" eaLnBrk="1" hangingPunct="1">
              <a:lnSpc>
                <a:spcPct val="150000"/>
              </a:lnSpc>
            </a:pPr>
            <a:r>
              <a:rPr lang="en-US" altLang="zh-CN" sz="2800" b="1" dirty="0">
                <a:solidFill>
                  <a:srgbClr val="FF0000"/>
                </a:solidFill>
                <a:ea typeface="宋体" panose="02010600030101010101" pitchFamily="2" charset="-122"/>
              </a:rPr>
              <a:t>Problem</a:t>
            </a:r>
            <a:r>
              <a:rPr lang="en-US" altLang="zh-CN" sz="2800" b="1" dirty="0">
                <a:ea typeface="宋体" panose="02010600030101010101" pitchFamily="2" charset="-122"/>
              </a:rPr>
              <a:t>: </a:t>
            </a:r>
            <a:r>
              <a:rPr lang="en-US" altLang="zh-CN" sz="2800" dirty="0">
                <a:ea typeface="宋体" panose="02010600030101010101" pitchFamily="2" charset="-122"/>
              </a:rPr>
              <a:t>Given an essentially </a:t>
            </a:r>
            <a:r>
              <a:rPr lang="en-US" altLang="zh-CN" sz="2800" b="1" dirty="0">
                <a:solidFill>
                  <a:srgbClr val="FF0000"/>
                </a:solidFill>
                <a:ea typeface="宋体" panose="02010600030101010101" pitchFamily="2" charset="-122"/>
              </a:rPr>
              <a:t>unstructured name</a:t>
            </a:r>
            <a:r>
              <a:rPr lang="en-US" altLang="zh-CN" sz="2800" b="1" dirty="0">
                <a:ea typeface="宋体" panose="02010600030101010101" pitchFamily="2" charset="-122"/>
              </a:rPr>
              <a:t> </a:t>
            </a:r>
            <a:r>
              <a:rPr lang="en-US" altLang="zh-CN" sz="2800" dirty="0">
                <a:ea typeface="宋体" panose="02010600030101010101" pitchFamily="2" charset="-122"/>
              </a:rPr>
              <a:t>(e.g., an identifier), how can we locate its associated </a:t>
            </a:r>
            <a:r>
              <a:rPr lang="en-US" altLang="zh-CN" sz="2800" b="1" dirty="0">
                <a:solidFill>
                  <a:srgbClr val="FF0000"/>
                </a:solidFill>
                <a:ea typeface="宋体" panose="02010600030101010101" pitchFamily="2" charset="-122"/>
              </a:rPr>
              <a:t>access point(addresses)</a:t>
            </a:r>
            <a:r>
              <a:rPr lang="en-US" altLang="zh-CN" sz="2800" dirty="0">
                <a:ea typeface="宋体" panose="02010600030101010101" pitchFamily="2" charset="-122"/>
              </a:rPr>
              <a:t>?</a:t>
            </a:r>
            <a:endParaRPr lang="en-US" altLang="zh-CN" sz="2800" dirty="0">
              <a:ea typeface="宋体" panose="02010600030101010101" pitchFamily="2" charset="-122"/>
            </a:endParaRPr>
          </a:p>
          <a:p>
            <a:pPr lvl="1" eaLnBrk="1" hangingPunct="1">
              <a:lnSpc>
                <a:spcPct val="150000"/>
              </a:lnSpc>
            </a:pPr>
            <a:r>
              <a:rPr lang="en-US" altLang="zh-CN" dirty="0">
                <a:ea typeface="宋体" panose="02010600030101010101" pitchFamily="2" charset="-122"/>
              </a:rPr>
              <a:t>Simple solutions:</a:t>
            </a:r>
            <a:endParaRPr lang="en-US" altLang="zh-CN" dirty="0">
              <a:ea typeface="宋体" panose="02010600030101010101" pitchFamily="2" charset="-122"/>
            </a:endParaRPr>
          </a:p>
          <a:p>
            <a:pPr lvl="2" eaLnBrk="1" hangingPunct="1">
              <a:lnSpc>
                <a:spcPct val="150000"/>
              </a:lnSpc>
              <a:buFont typeface="Wingdings" panose="05000000000000000000" pitchFamily="2" charset="2"/>
              <a:buChar char="u"/>
            </a:pPr>
            <a:r>
              <a:rPr lang="en-US" altLang="zh-CN" sz="2800" dirty="0">
                <a:ea typeface="宋体" panose="02010600030101010101" pitchFamily="2" charset="-122"/>
              </a:rPr>
              <a:t> broadcasting;</a:t>
            </a:r>
            <a:endParaRPr lang="en-US" altLang="zh-CN" sz="2800" dirty="0">
              <a:ea typeface="宋体" panose="02010600030101010101" pitchFamily="2" charset="-122"/>
            </a:endParaRPr>
          </a:p>
          <a:p>
            <a:pPr lvl="2" eaLnBrk="1" hangingPunct="1">
              <a:lnSpc>
                <a:spcPct val="150000"/>
              </a:lnSpc>
              <a:buFont typeface="Wingdings" panose="05000000000000000000" pitchFamily="2" charset="2"/>
              <a:buChar char="u"/>
            </a:pPr>
            <a:r>
              <a:rPr lang="en-US" altLang="zh-CN" sz="2800" dirty="0">
                <a:ea typeface="宋体" panose="02010600030101010101" pitchFamily="2" charset="-122"/>
              </a:rPr>
              <a:t> Forwarding pointers);</a:t>
            </a:r>
            <a:endParaRPr lang="en-US" altLang="zh-CN" sz="2800" dirty="0">
              <a:ea typeface="宋体" panose="02010600030101010101" pitchFamily="2" charset="-122"/>
            </a:endParaRPr>
          </a:p>
          <a:p>
            <a:pPr lvl="2" eaLnBrk="1" hangingPunct="1">
              <a:lnSpc>
                <a:spcPct val="150000"/>
              </a:lnSpc>
              <a:buFont typeface="Wingdings" panose="05000000000000000000" pitchFamily="2" charset="2"/>
              <a:buChar char="u"/>
            </a:pPr>
            <a:r>
              <a:rPr lang="en-US" altLang="zh-CN" sz="2800" dirty="0">
                <a:ea typeface="宋体" panose="02010600030101010101" pitchFamily="2" charset="-122"/>
              </a:rPr>
              <a:t> Home-based approaches;</a:t>
            </a:r>
            <a:endParaRPr lang="en-US" altLang="zh-CN" sz="2800" dirty="0">
              <a:ea typeface="宋体" panose="02010600030101010101" pitchFamily="2" charset="-122"/>
            </a:endParaRPr>
          </a:p>
          <a:p>
            <a:pPr lvl="1" eaLnBrk="1" hangingPunct="1">
              <a:lnSpc>
                <a:spcPct val="150000"/>
              </a:lnSpc>
            </a:pPr>
            <a:r>
              <a:rPr lang="en-US" altLang="zh-CN" dirty="0">
                <a:ea typeface="宋体" panose="02010600030101010101" pitchFamily="2" charset="-122"/>
              </a:rPr>
              <a:t>Distributed Hash Tables</a:t>
            </a:r>
            <a:endParaRPr lang="en-US" altLang="zh-CN" dirty="0">
              <a:ea typeface="宋体" panose="0201060003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Simple Solusions</a:t>
            </a:r>
            <a:endParaRPr lang="en-US" altLang="zh-CN" dirty="0">
              <a:ea typeface="宋体" panose="02010600030101010101" pitchFamily="2" charset="-122"/>
            </a:endParaRPr>
          </a:p>
        </p:txBody>
      </p:sp>
      <p:sp>
        <p:nvSpPr>
          <p:cNvPr id="39939" name="Rectangle 3"/>
          <p:cNvSpPr>
            <a:spLocks noGrp="1"/>
          </p:cNvSpPr>
          <p:nvPr>
            <p:ph idx="1"/>
          </p:nvPr>
        </p:nvSpPr>
        <p:spPr>
          <a:xfrm>
            <a:off x="127000" y="1014413"/>
            <a:ext cx="8826500" cy="5273675"/>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2400" b="1" dirty="0">
                <a:solidFill>
                  <a:srgbClr val="FF0000"/>
                </a:solidFill>
                <a:ea typeface="宋体" panose="02010600030101010101" pitchFamily="2" charset="-122"/>
              </a:rPr>
              <a:t>Broadcasting</a:t>
            </a:r>
            <a:r>
              <a:rPr lang="en-US" altLang="zh-CN" sz="2400" b="1" dirty="0">
                <a:ea typeface="宋体" panose="02010600030101010101" pitchFamily="2" charset="-122"/>
              </a:rPr>
              <a:t>: </a:t>
            </a:r>
            <a:r>
              <a:rPr lang="en-US" altLang="zh-CN" sz="2400" dirty="0">
                <a:ea typeface="宋体" panose="02010600030101010101" pitchFamily="2" charset="-122"/>
              </a:rPr>
              <a:t>Simply broadcast the ID, requesting the entity to return its current address.</a:t>
            </a:r>
            <a:endParaRPr lang="en-US" altLang="zh-CN" sz="2400" dirty="0">
              <a:ea typeface="宋体" panose="02010600030101010101" pitchFamily="2" charset="-122"/>
            </a:endParaRPr>
          </a:p>
          <a:p>
            <a:pPr lvl="1">
              <a:lnSpc>
                <a:spcPct val="150000"/>
              </a:lnSpc>
              <a:buChar char="–"/>
            </a:pPr>
            <a:r>
              <a:rPr lang="en-US" altLang="zh-CN" sz="2400" dirty="0">
                <a:ea typeface="宋体" panose="02010600030101010101" pitchFamily="2" charset="-122"/>
              </a:rPr>
              <a:t>Can never scale beyond local-area networks </a:t>
            </a:r>
            <a:endParaRPr lang="en-US" altLang="zh-CN" sz="2400" dirty="0">
              <a:ea typeface="宋体" panose="02010600030101010101" pitchFamily="2" charset="-122"/>
            </a:endParaRPr>
          </a:p>
          <a:p>
            <a:pPr lvl="1">
              <a:lnSpc>
                <a:spcPct val="150000"/>
              </a:lnSpc>
              <a:buChar char="–"/>
            </a:pPr>
            <a:r>
              <a:rPr lang="en-US" altLang="zh-CN" sz="2400" dirty="0">
                <a:ea typeface="宋体" panose="02010600030101010101" pitchFamily="2" charset="-122"/>
              </a:rPr>
              <a:t>Requires all processes to listen to incoming location requests</a:t>
            </a:r>
            <a:endParaRPr lang="en-US" altLang="zh-CN" sz="2400" dirty="0">
              <a:ea typeface="宋体" panose="02010600030101010101" pitchFamily="2" charset="-122"/>
            </a:endParaRPr>
          </a:p>
          <a:p>
            <a:pPr algn="l" eaLnBrk="1" hangingPunct="1">
              <a:lnSpc>
                <a:spcPct val="150000"/>
              </a:lnSpc>
              <a:buFont typeface="Wingdings" panose="05000000000000000000" pitchFamily="2" charset="2"/>
              <a:buChar char="u"/>
            </a:pPr>
            <a:r>
              <a:rPr lang="zh-CN" altLang="en-US" sz="2400" dirty="0">
                <a:ea typeface="宋体" panose="02010600030101010101" pitchFamily="2" charset="-122"/>
              </a:rPr>
              <a:t>例如：</a:t>
            </a:r>
            <a:r>
              <a:rPr lang="en-US" altLang="zh-CN" sz="2400" dirty="0">
                <a:ea typeface="宋体" panose="02010600030101010101" pitchFamily="2" charset="-122"/>
              </a:rPr>
              <a:t>Internet ARP(Address Resolution Protocol) /RARP</a:t>
            </a:r>
            <a:r>
              <a:rPr lang="zh-CN" altLang="en-US" sz="2400" dirty="0">
                <a:ea typeface="宋体" panose="02010600030101010101" pitchFamily="2" charset="-122"/>
              </a:rPr>
              <a:t>，</a:t>
            </a:r>
            <a:r>
              <a:rPr lang="en-US" altLang="zh-CN" sz="2400" dirty="0">
                <a:ea typeface="宋体" panose="02010600030101010101" pitchFamily="2" charset="-122"/>
              </a:rPr>
              <a:t>Reverse Address Resolution Protocol</a:t>
            </a:r>
            <a:r>
              <a:rPr lang="zh-CN" altLang="en-US" sz="2400" dirty="0">
                <a:ea typeface="宋体" panose="02010600030101010101" pitchFamily="2" charset="-122"/>
              </a:rPr>
              <a:t>），</a:t>
            </a:r>
            <a:r>
              <a:rPr lang="en-US" altLang="zh-CN" sz="2400" dirty="0">
                <a:ea typeface="宋体" panose="02010600030101010101" pitchFamily="2" charset="-122"/>
              </a:rPr>
              <a:t>IP</a:t>
            </a:r>
            <a:r>
              <a:rPr lang="zh-CN" altLang="en-US" sz="2400" dirty="0">
                <a:ea typeface="宋体" panose="02010600030101010101" pitchFamily="2" charset="-122"/>
              </a:rPr>
              <a:t>与 </a:t>
            </a:r>
            <a:r>
              <a:rPr lang="en-US" altLang="zh-CN" sz="2400" dirty="0">
                <a:ea typeface="宋体" panose="02010600030101010101" pitchFamily="2" charset="-122"/>
              </a:rPr>
              <a:t>MAC</a:t>
            </a:r>
            <a:r>
              <a:rPr lang="zh-CN" altLang="en-US" sz="2400" dirty="0">
                <a:ea typeface="宋体" panose="02010600030101010101" pitchFamily="2" charset="-122"/>
              </a:rPr>
              <a:t>地址互转换，可以广播方式。机器在本网中广播一个数据包，以查找拥有指定</a:t>
            </a:r>
            <a:r>
              <a:rPr lang="en-US" altLang="zh-CN" sz="2400" dirty="0">
                <a:ea typeface="宋体" panose="02010600030101010101" pitchFamily="2" charset="-122"/>
              </a:rPr>
              <a:t>IP</a:t>
            </a:r>
            <a:r>
              <a:rPr lang="zh-CN" altLang="en-US" sz="2400" dirty="0">
                <a:ea typeface="宋体" panose="02010600030101010101" pitchFamily="2" charset="-122"/>
              </a:rPr>
              <a:t>地址的机器，或者反之。</a:t>
            </a:r>
            <a:endParaRPr lang="en-US" altLang="zh-CN" sz="2400" dirty="0">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a:xfrm>
            <a:off x="0" y="0"/>
            <a:ext cx="9144000" cy="531813"/>
          </a:xfrm>
        </p:spPr>
        <p:txBody>
          <a:bodyPr vert="horz" wrap="square" lIns="91440" tIns="45720" rIns="91440" bIns="45720" anchor="ctr" anchorCtr="0"/>
          <a:lstStyle/>
          <a:p>
            <a:pPr eaLnBrk="1" hangingPunct="1"/>
            <a:r>
              <a:rPr lang="en-US" altLang="zh-CN" dirty="0">
                <a:ea typeface="宋体" panose="02010600030101010101" pitchFamily="2" charset="-122"/>
              </a:rPr>
              <a:t>Forwarding Pointers</a:t>
            </a:r>
            <a:endParaRPr lang="en-US" altLang="zh-CN" dirty="0">
              <a:ea typeface="宋体" panose="02010600030101010101" pitchFamily="2" charset="-122"/>
            </a:endParaRPr>
          </a:p>
        </p:txBody>
      </p:sp>
      <p:sp>
        <p:nvSpPr>
          <p:cNvPr id="40963" name="Rectangle 3"/>
          <p:cNvSpPr>
            <a:spLocks noGrp="1"/>
          </p:cNvSpPr>
          <p:nvPr>
            <p:ph idx="1"/>
          </p:nvPr>
        </p:nvSpPr>
        <p:spPr>
          <a:xfrm>
            <a:off x="73025" y="795338"/>
            <a:ext cx="8931275" cy="1649412"/>
          </a:xfrm>
        </p:spPr>
        <p:txBody>
          <a:bodyPr vert="horz" wrap="square" lIns="91440" tIns="45720" rIns="91440" bIns="45720" anchor="t" anchorCtr="0"/>
          <a:lstStyle/>
          <a:p>
            <a:pPr algn="l" eaLnBrk="1" hangingPunct="1"/>
            <a:r>
              <a:rPr lang="en-US" altLang="zh-CN" sz="2000" b="1" dirty="0">
                <a:solidFill>
                  <a:srgbClr val="FF0000"/>
                </a:solidFill>
                <a:ea typeface="宋体" panose="02010600030101010101" pitchFamily="2" charset="-122"/>
              </a:rPr>
              <a:t>Forwarding pointers</a:t>
            </a:r>
            <a:r>
              <a:rPr lang="en-US" altLang="zh-CN" sz="2000" b="1" dirty="0">
                <a:ea typeface="宋体" panose="02010600030101010101" pitchFamily="2" charset="-122"/>
              </a:rPr>
              <a:t>: </a:t>
            </a:r>
            <a:r>
              <a:rPr lang="en-US" altLang="zh-CN" sz="2000" dirty="0">
                <a:ea typeface="宋体" panose="02010600030101010101" pitchFamily="2" charset="-122"/>
              </a:rPr>
              <a:t>Each time an entity moves, it leaves behind a pointer telling where it has gone to.</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Dereferencing(</a:t>
            </a:r>
            <a:r>
              <a:rPr lang="zh-CN" altLang="en-US" sz="2000" dirty="0">
                <a:ea typeface="宋体" panose="02010600030101010101" pitchFamily="2" charset="-122"/>
              </a:rPr>
              <a:t>间接引用</a:t>
            </a:r>
            <a:r>
              <a:rPr lang="en-US" altLang="zh-CN" sz="2000" dirty="0">
                <a:ea typeface="宋体" panose="02010600030101010101" pitchFamily="2" charset="-122"/>
              </a:rPr>
              <a:t>) can be made entirely transparent to clients by simply following the chain of pointers; Update a client’s reference as soon as present location has been found;</a:t>
            </a:r>
            <a:endParaRPr lang="en-US" altLang="zh-CN" sz="2000" dirty="0">
              <a:ea typeface="宋体" panose="02010600030101010101" pitchFamily="2" charset="-122"/>
            </a:endParaRPr>
          </a:p>
        </p:txBody>
      </p:sp>
      <p:sp>
        <p:nvSpPr>
          <p:cNvPr id="4" name="Rectangle 3"/>
          <p:cNvSpPr txBox="1">
            <a:spLocks noChangeArrowheads="1"/>
          </p:cNvSpPr>
          <p:nvPr/>
        </p:nvSpPr>
        <p:spPr bwMode="auto">
          <a:xfrm>
            <a:off x="855663" y="6035675"/>
            <a:ext cx="7219950" cy="423863"/>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9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principle of forwarding pointers using (</a:t>
            </a:r>
            <a:r>
              <a:rPr kumimoji="0" lang="en-US" altLang="zh-CN" sz="18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proxy, skeleton</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pairs.</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40965" name="Picture 5"/>
          <p:cNvPicPr>
            <a:picLocks noChangeAspect="1"/>
          </p:cNvPicPr>
          <p:nvPr/>
        </p:nvPicPr>
        <p:blipFill>
          <a:blip r:embed="rId1"/>
          <a:srcRect l="28648" t="43353" r="24345" b="37764"/>
          <a:stretch>
            <a:fillRect/>
          </a:stretch>
        </p:blipFill>
        <p:spPr>
          <a:xfrm>
            <a:off x="723900" y="3071813"/>
            <a:ext cx="7915275" cy="2701925"/>
          </a:xfrm>
          <a:prstGeom prst="rect">
            <a:avLst/>
          </a:prstGeom>
          <a:noFill/>
          <a:ln w="9525">
            <a:noFill/>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0" y="0"/>
            <a:ext cx="9144000" cy="647700"/>
          </a:xfrm>
        </p:spPr>
        <p:txBody>
          <a:bodyPr vert="horz" wrap="square" lIns="91440" tIns="45720" rIns="91440" bIns="45720" anchor="ctr" anchorCtr="0"/>
          <a:lstStyle/>
          <a:p>
            <a:pPr eaLnBrk="1" hangingPunct="1"/>
            <a:r>
              <a:rPr lang="en-US" altLang="zh-CN" dirty="0">
                <a:ea typeface="宋体" panose="02010600030101010101" pitchFamily="2" charset="-122"/>
              </a:rPr>
              <a:t>Forwarding Pointers (2)</a:t>
            </a:r>
            <a:endParaRPr lang="en-US" altLang="zh-CN" dirty="0">
              <a:ea typeface="宋体" panose="02010600030101010101" pitchFamily="2" charset="-122"/>
            </a:endParaRPr>
          </a:p>
        </p:txBody>
      </p:sp>
      <p:sp>
        <p:nvSpPr>
          <p:cNvPr id="43011" name="Rectangle 3"/>
          <p:cNvSpPr>
            <a:spLocks noGrp="1"/>
          </p:cNvSpPr>
          <p:nvPr>
            <p:ph idx="1"/>
          </p:nvPr>
        </p:nvSpPr>
        <p:spPr>
          <a:xfrm>
            <a:off x="1255713" y="5913438"/>
            <a:ext cx="6632575" cy="400050"/>
          </a:xfrm>
        </p:spPr>
        <p:txBody>
          <a:bodyPr vert="horz" wrap="square" lIns="91440" tIns="45720" rIns="91440" bIns="45720" anchor="t" anchorCtr="0"/>
          <a:lstStyle/>
          <a:p>
            <a:pPr algn="l" eaLnBrk="1" hangingPunct="1">
              <a:buNone/>
            </a:pPr>
            <a:r>
              <a:rPr lang="en-US" altLang="zh-CN" sz="1800" dirty="0">
                <a:ea typeface="宋体" panose="02010600030101010101" pitchFamily="2" charset="-122"/>
              </a:rPr>
              <a:t>Redirecting a forwarding pointer, by storing a shortcut in a proxy.</a:t>
            </a:r>
            <a:endParaRPr lang="en-US" altLang="zh-CN" sz="1800" dirty="0">
              <a:ea typeface="宋体" panose="02010600030101010101" pitchFamily="2" charset="-122"/>
            </a:endParaRPr>
          </a:p>
        </p:txBody>
      </p:sp>
      <p:pic>
        <p:nvPicPr>
          <p:cNvPr id="43012" name="Picture 5"/>
          <p:cNvPicPr>
            <a:picLocks noChangeAspect="1"/>
          </p:cNvPicPr>
          <p:nvPr/>
        </p:nvPicPr>
        <p:blipFill>
          <a:blip r:embed="rId1"/>
          <a:srcRect l="19882" t="45015" r="16890" b="38972"/>
          <a:stretch>
            <a:fillRect/>
          </a:stretch>
        </p:blipFill>
        <p:spPr>
          <a:xfrm>
            <a:off x="598488" y="2432050"/>
            <a:ext cx="7829550" cy="3114675"/>
          </a:xfrm>
          <a:prstGeom prst="rect">
            <a:avLst/>
          </a:prstGeom>
          <a:noFill/>
          <a:ln w="9525">
            <a:noFill/>
          </a:ln>
        </p:spPr>
      </p:pic>
      <p:sp>
        <p:nvSpPr>
          <p:cNvPr id="43013" name="矩形 1"/>
          <p:cNvSpPr/>
          <p:nvPr/>
        </p:nvSpPr>
        <p:spPr>
          <a:xfrm>
            <a:off x="227013" y="804863"/>
            <a:ext cx="8396287" cy="132397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742950" lvl="1" indent="-285750" eaLnBrk="1" hangingPunct="1">
              <a:spcBef>
                <a:spcPct val="0"/>
              </a:spcBef>
              <a:buClrTx/>
              <a:buFont typeface="Wingdings" panose="05000000000000000000" pitchFamily="2" charset="2"/>
              <a:buChar char="Ø"/>
            </a:pPr>
            <a:r>
              <a:rPr lang="en-US" altLang="zh-CN" sz="2000" dirty="0">
                <a:ea typeface="宋体" panose="02010600030101010101" pitchFamily="2" charset="-122"/>
              </a:rPr>
              <a:t>Geographical scalability problems:</a:t>
            </a:r>
            <a:endParaRPr lang="en-US" altLang="zh-CN" sz="2000" dirty="0">
              <a:ea typeface="宋体" panose="02010600030101010101" pitchFamily="2" charset="-122"/>
            </a:endParaRPr>
          </a:p>
          <a:p>
            <a:pPr marL="1200150" lvl="2" indent="-285750" eaLnBrk="1" hangingPunct="1">
              <a:spcBef>
                <a:spcPct val="0"/>
              </a:spcBef>
              <a:buClrTx/>
              <a:buFont typeface="Wingdings" panose="05000000000000000000" pitchFamily="2" charset="2"/>
              <a:buChar char="Ø"/>
            </a:pPr>
            <a:r>
              <a:rPr lang="en-US" altLang="zh-CN" sz="2000" dirty="0">
                <a:ea typeface="宋体" panose="02010600030101010101" pitchFamily="2" charset="-122"/>
              </a:rPr>
              <a:t>Long chains are not fault tolerant</a:t>
            </a:r>
            <a:endParaRPr lang="en-US" altLang="zh-CN" sz="2000" dirty="0">
              <a:ea typeface="宋体" panose="02010600030101010101" pitchFamily="2" charset="-122"/>
            </a:endParaRPr>
          </a:p>
          <a:p>
            <a:pPr marL="1200150" lvl="2" indent="-285750" eaLnBrk="1" hangingPunct="1">
              <a:spcBef>
                <a:spcPct val="0"/>
              </a:spcBef>
              <a:buClrTx/>
              <a:buFont typeface="Wingdings" panose="05000000000000000000" pitchFamily="2" charset="2"/>
              <a:buChar char="Ø"/>
            </a:pPr>
            <a:r>
              <a:rPr lang="en-US" altLang="zh-CN" sz="2000" dirty="0">
                <a:ea typeface="宋体" panose="02010600030101010101" pitchFamily="2" charset="-122"/>
              </a:rPr>
              <a:t>Increased network latency at dereferencing</a:t>
            </a:r>
            <a:endParaRPr lang="en-US" altLang="zh-CN" sz="2000" dirty="0">
              <a:ea typeface="宋体" panose="02010600030101010101" pitchFamily="2" charset="-122"/>
            </a:endParaRPr>
          </a:p>
          <a:p>
            <a:pPr marL="742950" lvl="1" indent="-285750" eaLnBrk="1" hangingPunct="1">
              <a:spcBef>
                <a:spcPct val="0"/>
              </a:spcBef>
              <a:buClrTx/>
              <a:buFont typeface="Wingdings" panose="05000000000000000000" pitchFamily="2" charset="2"/>
              <a:buChar char="Ø"/>
            </a:pPr>
            <a:r>
              <a:rPr lang="en-US" altLang="zh-CN" sz="2000" dirty="0">
                <a:ea typeface="宋体" panose="02010600030101010101" pitchFamily="2" charset="-122"/>
              </a:rPr>
              <a:t>Essential to have separate chain reduction mechanisms(</a:t>
            </a:r>
            <a:r>
              <a:rPr lang="zh-CN" altLang="en-US" sz="2000" dirty="0">
                <a:ea typeface="宋体" panose="02010600030101010101" pitchFamily="2" charset="-122"/>
              </a:rPr>
              <a:t>还原机制</a:t>
            </a:r>
            <a:r>
              <a:rPr lang="en-US" altLang="zh-CN" sz="2000" dirty="0">
                <a:ea typeface="宋体" panose="02010600030101010101" pitchFamily="2" charset="-122"/>
              </a:rPr>
              <a:t>)</a:t>
            </a:r>
            <a:endParaRPr lang="en-US" altLang="zh-CN" sz="2000" dirty="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0" y="0"/>
            <a:ext cx="9144000" cy="600075"/>
          </a:xfrm>
        </p:spPr>
        <p:txBody>
          <a:bodyPr vert="horz" wrap="square" lIns="91440" tIns="45720" rIns="91440" bIns="45720" anchor="ctr" anchorCtr="0"/>
          <a:lstStyle/>
          <a:p>
            <a:pPr eaLnBrk="1" hangingPunct="1"/>
            <a:r>
              <a:rPr lang="en-US" altLang="zh-CN" dirty="0">
                <a:ea typeface="宋体" panose="02010600030101010101" pitchFamily="2" charset="-122"/>
              </a:rPr>
              <a:t>Home-Based Approaches </a:t>
            </a:r>
            <a:endParaRPr lang="en-US" altLang="zh-CN" dirty="0">
              <a:ea typeface="宋体" panose="02010600030101010101" pitchFamily="2" charset="-122"/>
            </a:endParaRPr>
          </a:p>
        </p:txBody>
      </p:sp>
      <p:sp>
        <p:nvSpPr>
          <p:cNvPr id="44035" name="Rectangle 3"/>
          <p:cNvSpPr>
            <a:spLocks noGrp="1"/>
          </p:cNvSpPr>
          <p:nvPr>
            <p:ph idx="1"/>
          </p:nvPr>
        </p:nvSpPr>
        <p:spPr>
          <a:xfrm>
            <a:off x="273050" y="600075"/>
            <a:ext cx="8382000" cy="2000250"/>
          </a:xfrm>
        </p:spPr>
        <p:txBody>
          <a:bodyPr vert="horz" wrap="square" lIns="91440" tIns="45720" rIns="91440" bIns="45720" anchor="t" anchorCtr="0"/>
          <a:lstStyle/>
          <a:p>
            <a:pPr algn="l" eaLnBrk="1" hangingPunct="1"/>
            <a:r>
              <a:rPr lang="en-US" altLang="zh-CN" sz="2000" b="1" dirty="0">
                <a:solidFill>
                  <a:srgbClr val="FF0000"/>
                </a:solidFill>
                <a:ea typeface="宋体" panose="02010600030101010101" pitchFamily="2" charset="-122"/>
              </a:rPr>
              <a:t>Single-tiered scheme</a:t>
            </a:r>
            <a:r>
              <a:rPr lang="en-US" altLang="zh-CN" sz="2000" b="1" dirty="0">
                <a:ea typeface="宋体" panose="02010600030101010101" pitchFamily="2" charset="-122"/>
              </a:rPr>
              <a:t>: </a:t>
            </a:r>
            <a:r>
              <a:rPr lang="en-US" altLang="zh-CN" sz="2000" dirty="0">
                <a:ea typeface="宋体" panose="02010600030101010101" pitchFamily="2" charset="-122"/>
              </a:rPr>
              <a:t>Let a </a:t>
            </a:r>
            <a:r>
              <a:rPr lang="en-US" altLang="zh-CN" sz="2000" b="1" dirty="0">
                <a:solidFill>
                  <a:srgbClr val="FF0000"/>
                </a:solidFill>
                <a:ea typeface="宋体" panose="02010600030101010101" pitchFamily="2" charset="-122"/>
              </a:rPr>
              <a:t>home</a:t>
            </a:r>
            <a:r>
              <a:rPr lang="en-US" altLang="zh-CN" sz="2000" b="1" dirty="0">
                <a:ea typeface="宋体" panose="02010600030101010101" pitchFamily="2" charset="-122"/>
              </a:rPr>
              <a:t> </a:t>
            </a:r>
            <a:r>
              <a:rPr lang="en-US" altLang="zh-CN" sz="2000" dirty="0">
                <a:ea typeface="宋体" panose="02010600030101010101" pitchFamily="2" charset="-122"/>
              </a:rPr>
              <a:t>keep track of where the entity is:</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An entity’s </a:t>
            </a:r>
            <a:r>
              <a:rPr lang="en-US" altLang="zh-CN" sz="2000" b="1" dirty="0">
                <a:solidFill>
                  <a:srgbClr val="FF0000"/>
                </a:solidFill>
                <a:ea typeface="宋体" panose="02010600030101010101" pitchFamily="2" charset="-122"/>
              </a:rPr>
              <a:t>home address</a:t>
            </a:r>
            <a:r>
              <a:rPr lang="en-US" altLang="zh-CN" sz="2000" b="1" dirty="0">
                <a:ea typeface="宋体" panose="02010600030101010101" pitchFamily="2" charset="-122"/>
              </a:rPr>
              <a:t> </a:t>
            </a:r>
            <a:r>
              <a:rPr lang="en-US" altLang="zh-CN" sz="2000" dirty="0">
                <a:ea typeface="宋体" panose="02010600030101010101" pitchFamily="2" charset="-122"/>
              </a:rPr>
              <a:t>is registered at a naming service</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The home registers the </a:t>
            </a:r>
            <a:r>
              <a:rPr lang="en-US" altLang="zh-CN" sz="2000" b="1" dirty="0">
                <a:solidFill>
                  <a:srgbClr val="FF0000"/>
                </a:solidFill>
                <a:ea typeface="宋体" panose="02010600030101010101" pitchFamily="2" charset="-122"/>
              </a:rPr>
              <a:t>foreign address</a:t>
            </a:r>
            <a:r>
              <a:rPr lang="en-US" altLang="zh-CN" sz="2000" b="1" dirty="0">
                <a:ea typeface="宋体" panose="02010600030101010101" pitchFamily="2" charset="-122"/>
              </a:rPr>
              <a:t> </a:t>
            </a:r>
            <a:r>
              <a:rPr lang="en-US" altLang="zh-CN" sz="2000" dirty="0">
                <a:ea typeface="宋体" panose="02010600030101010101" pitchFamily="2" charset="-122"/>
              </a:rPr>
              <a:t>of the entity</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Clients always contact the home first, and then continues with the foreign location(</a:t>
            </a:r>
            <a:r>
              <a:rPr lang="zh-CN" altLang="en-US" sz="2000" dirty="0">
                <a:ea typeface="宋体" panose="02010600030101010101" pitchFamily="2" charset="-122"/>
              </a:rPr>
              <a:t>假设每个实体都有一个</a:t>
            </a:r>
            <a:r>
              <a:rPr lang="en-US" altLang="zh-CN" sz="2000" dirty="0">
                <a:ea typeface="宋体" panose="02010600030101010101" pitchFamily="2" charset="-122"/>
              </a:rPr>
              <a:t>HOME)</a:t>
            </a:r>
            <a:endParaRPr lang="en-US" altLang="zh-CN" sz="2000" dirty="0">
              <a:ea typeface="宋体" panose="02010600030101010101" pitchFamily="2" charset="-122"/>
            </a:endParaRPr>
          </a:p>
        </p:txBody>
      </p:sp>
      <p:pic>
        <p:nvPicPr>
          <p:cNvPr id="44036" name="Picture 4"/>
          <p:cNvPicPr>
            <a:picLocks noChangeAspect="1"/>
          </p:cNvPicPr>
          <p:nvPr/>
        </p:nvPicPr>
        <p:blipFill>
          <a:blip r:embed="rId1"/>
          <a:srcRect l="20738" t="39577" r="17744" b="34441"/>
          <a:stretch>
            <a:fillRect/>
          </a:stretch>
        </p:blipFill>
        <p:spPr>
          <a:xfrm>
            <a:off x="568325" y="2478088"/>
            <a:ext cx="7975600" cy="4037012"/>
          </a:xfrm>
          <a:prstGeom prst="rect">
            <a:avLst/>
          </a:prstGeom>
          <a:noFill/>
          <a:ln w="9525">
            <a:noFill/>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0" y="0"/>
            <a:ext cx="9144000" cy="735013"/>
          </a:xfrm>
        </p:spPr>
        <p:txBody>
          <a:bodyPr vert="horz" wrap="square" lIns="91440" tIns="45720" rIns="91440" bIns="45720" anchor="ctr" anchorCtr="0"/>
          <a:lstStyle/>
          <a:p>
            <a:pPr eaLnBrk="1" hangingPunct="1"/>
            <a:r>
              <a:rPr lang="en-US" altLang="zh-CN" dirty="0">
                <a:ea typeface="宋体" panose="02010600030101010101" pitchFamily="2" charset="-122"/>
              </a:rPr>
              <a:t>Home-Based Approaches (2)</a:t>
            </a:r>
            <a:endParaRPr lang="en-US" altLang="zh-CN" dirty="0">
              <a:ea typeface="宋体" panose="02010600030101010101" pitchFamily="2" charset="-122"/>
            </a:endParaRPr>
          </a:p>
        </p:txBody>
      </p:sp>
      <p:sp>
        <p:nvSpPr>
          <p:cNvPr id="45059" name="Rectangle 3"/>
          <p:cNvSpPr>
            <a:spLocks noGrp="1"/>
          </p:cNvSpPr>
          <p:nvPr>
            <p:ph idx="1"/>
          </p:nvPr>
        </p:nvSpPr>
        <p:spPr>
          <a:xfrm>
            <a:off x="115888" y="696913"/>
            <a:ext cx="8912225" cy="2593975"/>
          </a:xfrm>
        </p:spPr>
        <p:txBody>
          <a:bodyPr vert="horz" wrap="square" lIns="91440" tIns="45720" rIns="91440" bIns="45720" anchor="t" anchorCtr="0"/>
          <a:lstStyle/>
          <a:p>
            <a:pPr algn="l" eaLnBrk="1" hangingPunct="1"/>
            <a:r>
              <a:rPr lang="en-US" altLang="zh-CN" sz="2400" b="1" dirty="0">
                <a:solidFill>
                  <a:srgbClr val="FF0000"/>
                </a:solidFill>
                <a:ea typeface="宋体" panose="02010600030101010101" pitchFamily="2" charset="-122"/>
              </a:rPr>
              <a:t>Problems with home-based approaches</a:t>
            </a:r>
            <a:r>
              <a:rPr lang="en-US" altLang="zh-CN" sz="2400" b="1" dirty="0">
                <a:ea typeface="宋体" panose="02010600030101010101" pitchFamily="2" charset="-122"/>
              </a:rPr>
              <a:t>:</a:t>
            </a:r>
            <a:endParaRPr lang="en-US" altLang="zh-CN" sz="2400" b="1" dirty="0">
              <a:ea typeface="宋体" panose="02010600030101010101" pitchFamily="2" charset="-122"/>
            </a:endParaRPr>
          </a:p>
          <a:p>
            <a:pPr lvl="1" eaLnBrk="1" hangingPunct="1"/>
            <a:r>
              <a:rPr lang="en-US" altLang="zh-CN" sz="2400" dirty="0">
                <a:ea typeface="宋体" panose="02010600030101010101" pitchFamily="2" charset="-122"/>
              </a:rPr>
              <a:t>The home address has to be supported as long as the entity lives.</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The home address is fixed, which means an unnecessary burden when the entity permanently moves to another location</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Poor geographical scalability (the entity may be next to the client</a:t>
            </a:r>
            <a:r>
              <a:rPr lang="zh-CN" altLang="en-US" sz="2400" dirty="0">
                <a:ea typeface="宋体" panose="02010600030101010101" pitchFamily="2" charset="-122"/>
              </a:rPr>
              <a:t>实体可能就靠近客户</a:t>
            </a:r>
            <a:r>
              <a:rPr lang="en-US" altLang="zh-CN" sz="2400" dirty="0">
                <a:ea typeface="宋体" panose="02010600030101010101" pitchFamily="2" charset="-122"/>
              </a:rPr>
              <a:t>)</a:t>
            </a:r>
            <a:endParaRPr lang="en-US" altLang="zh-CN" sz="2400" dirty="0">
              <a:ea typeface="宋体" panose="02010600030101010101" pitchFamily="2" charset="-122"/>
            </a:endParaRPr>
          </a:p>
        </p:txBody>
      </p:sp>
      <p:sp>
        <p:nvSpPr>
          <p:cNvPr id="4" name="Rectangle 3"/>
          <p:cNvSpPr txBox="1">
            <a:spLocks noChangeArrowheads="1"/>
          </p:cNvSpPr>
          <p:nvPr/>
        </p:nvSpPr>
        <p:spPr bwMode="auto">
          <a:xfrm>
            <a:off x="228600" y="5545138"/>
            <a:ext cx="8562975" cy="12319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How can we solve the “permanent move” problem?</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Register the home at a traditional naming service and to let a client first look up the location of the home</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grpSp>
        <p:nvGrpSpPr>
          <p:cNvPr id="45061" name="组合 4"/>
          <p:cNvGrpSpPr/>
          <p:nvPr/>
        </p:nvGrpSpPr>
        <p:grpSpPr>
          <a:xfrm>
            <a:off x="2395538" y="3429000"/>
            <a:ext cx="4229100" cy="1905000"/>
            <a:chOff x="1600200" y="3433762"/>
            <a:chExt cx="4229100" cy="2332038"/>
          </a:xfrm>
        </p:grpSpPr>
        <p:sp>
          <p:nvSpPr>
            <p:cNvPr id="45062" name="Oval 4"/>
            <p:cNvSpPr/>
            <p:nvPr/>
          </p:nvSpPr>
          <p:spPr>
            <a:xfrm>
              <a:off x="3549650" y="3433762"/>
              <a:ext cx="1714500" cy="6350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naming service</a:t>
              </a:r>
              <a:endParaRPr lang="zh-CN" altLang="en-US" sz="2000" dirty="0">
                <a:ea typeface="宋体" panose="02010600030101010101" pitchFamily="2" charset="-122"/>
              </a:endParaRPr>
            </a:p>
          </p:txBody>
        </p:sp>
        <p:sp>
          <p:nvSpPr>
            <p:cNvPr id="45063" name="Rectangle 5"/>
            <p:cNvSpPr/>
            <p:nvPr/>
          </p:nvSpPr>
          <p:spPr>
            <a:xfrm>
              <a:off x="1600200" y="5080000"/>
              <a:ext cx="736600" cy="685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home</a:t>
              </a:r>
              <a:endParaRPr lang="zh-CN" altLang="en-US" sz="2000" dirty="0">
                <a:ea typeface="宋体" panose="02010600030101010101" pitchFamily="2" charset="-122"/>
              </a:endParaRPr>
            </a:p>
          </p:txBody>
        </p:sp>
        <p:sp>
          <p:nvSpPr>
            <p:cNvPr id="45064" name="Rectangle 6"/>
            <p:cNvSpPr/>
            <p:nvPr/>
          </p:nvSpPr>
          <p:spPr>
            <a:xfrm>
              <a:off x="5118100" y="5080000"/>
              <a:ext cx="711200" cy="660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home</a:t>
              </a:r>
              <a:endParaRPr lang="zh-CN" altLang="en-US" sz="2000" dirty="0">
                <a:ea typeface="宋体" panose="02010600030101010101" pitchFamily="2" charset="-122"/>
              </a:endParaRPr>
            </a:p>
          </p:txBody>
        </p:sp>
        <p:sp>
          <p:nvSpPr>
            <p:cNvPr id="45065" name="Line 7"/>
            <p:cNvSpPr/>
            <p:nvPr/>
          </p:nvSpPr>
          <p:spPr>
            <a:xfrm flipV="1">
              <a:off x="2374900" y="5376863"/>
              <a:ext cx="2743200" cy="12700"/>
            </a:xfrm>
            <a:prstGeom prst="line">
              <a:avLst/>
            </a:prstGeom>
            <a:ln w="9525" cap="flat" cmpd="sng">
              <a:solidFill>
                <a:schemeClr val="tx1"/>
              </a:solidFill>
              <a:prstDash val="solid"/>
              <a:headEnd type="none" w="med" len="med"/>
              <a:tailEnd type="triangle" w="med" len="med"/>
            </a:ln>
          </p:spPr>
        </p:sp>
        <p:sp>
          <p:nvSpPr>
            <p:cNvPr id="45066" name="Line 8"/>
            <p:cNvSpPr/>
            <p:nvPr/>
          </p:nvSpPr>
          <p:spPr>
            <a:xfrm flipV="1">
              <a:off x="2146300" y="4043363"/>
              <a:ext cx="1917700" cy="1016000"/>
            </a:xfrm>
            <a:prstGeom prst="line">
              <a:avLst/>
            </a:prstGeom>
            <a:ln w="9525" cap="flat" cmpd="sng">
              <a:solidFill>
                <a:schemeClr val="tx1"/>
              </a:solidFill>
              <a:prstDash val="dash"/>
              <a:headEnd type="triangle" w="med" len="med"/>
              <a:tailEnd type="triangle" w="med" len="med"/>
            </a:ln>
          </p:spPr>
        </p:sp>
        <p:sp>
          <p:nvSpPr>
            <p:cNvPr id="45067" name="Line 9"/>
            <p:cNvSpPr/>
            <p:nvPr/>
          </p:nvSpPr>
          <p:spPr>
            <a:xfrm flipH="1" flipV="1">
              <a:off x="4749800" y="4068763"/>
              <a:ext cx="685800" cy="990600"/>
            </a:xfrm>
            <a:prstGeom prst="line">
              <a:avLst/>
            </a:prstGeom>
            <a:ln w="9525" cap="flat" cmpd="sng">
              <a:solidFill>
                <a:schemeClr val="tx1"/>
              </a:solidFill>
              <a:prstDash val="dash"/>
              <a:headEnd type="triangle" w="med" len="med"/>
              <a:tailEnd type="triangle" w="med" len="med"/>
            </a:ln>
          </p:spPr>
        </p:sp>
        <p:sp>
          <p:nvSpPr>
            <p:cNvPr id="45068" name="Rectangle 10"/>
            <p:cNvSpPr/>
            <p:nvPr/>
          </p:nvSpPr>
          <p:spPr>
            <a:xfrm>
              <a:off x="2867817" y="5254351"/>
              <a:ext cx="1881188" cy="396875"/>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permanent move</a:t>
              </a:r>
              <a:endParaRPr lang="zh-CN" altLang="en-US" sz="2000" dirty="0">
                <a:ea typeface="宋体" panose="02010600030101010101" pitchFamily="2" charset="-122"/>
              </a:endParaRPr>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0" y="0"/>
            <a:ext cx="9144000" cy="657225"/>
          </a:xfrm>
        </p:spPr>
        <p:txBody>
          <a:bodyPr vert="horz" wrap="square" lIns="91440" tIns="45720" rIns="91440" bIns="45720" anchor="ctr" anchorCtr="0"/>
          <a:lstStyle/>
          <a:p>
            <a:pPr eaLnBrk="1" hangingPunct="1"/>
            <a:r>
              <a:rPr lang="en-US" altLang="zh-CN" dirty="0">
                <a:ea typeface="宋体" panose="02010600030101010101" pitchFamily="2" charset="-122"/>
              </a:rPr>
              <a:t>Distributed Hash Tables</a:t>
            </a:r>
            <a:endParaRPr lang="en-US" altLang="zh-CN" dirty="0">
              <a:ea typeface="宋体" panose="02010600030101010101" pitchFamily="2" charset="-122"/>
            </a:endParaRPr>
          </a:p>
        </p:txBody>
      </p:sp>
      <p:sp>
        <p:nvSpPr>
          <p:cNvPr id="51203" name="Rectangle 3"/>
          <p:cNvSpPr>
            <a:spLocks noGrp="1" noChangeArrowheads="1"/>
          </p:cNvSpPr>
          <p:nvPr>
            <p:ph idx="1"/>
          </p:nvPr>
        </p:nvSpPr>
        <p:spPr>
          <a:xfrm>
            <a:off x="234950" y="688975"/>
            <a:ext cx="8674100" cy="182562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Balakrishnan</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etc.2003.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Commun</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ACM.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提出了</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DHT.</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Example</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Consider the organization of many nodes into a </a:t>
            </a:r>
            <a:r>
              <a:rPr kumimoji="0" lang="en-US" altLang="zh-CN"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logical ring</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Chord </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Project at MIT)</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每个结点存储一部分数据和负责一部分路由，从而实现整个网络的寻址和存储；</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Supports only one Operation</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a:ln>
                  <a:noFill/>
                </a:ln>
                <a:solidFill>
                  <a:schemeClr val="accent2"/>
                </a:solidFill>
                <a:effectLst/>
                <a:uLnTx/>
                <a:uFillTx/>
                <a:latin typeface="Courier New" panose="02070309020205020404" pitchFamily="49" charset="0"/>
                <a:ea typeface="宋体" panose="02010600030101010101" pitchFamily="2" charset="-122"/>
                <a:cs typeface="+mn-cs"/>
              </a:rPr>
              <a:t>node = lookup(Key)</a:t>
            </a:r>
            <a:endParaRPr kumimoji="0" lang="en-US" altLang="zh-CN" sz="2000" b="1" i="0" u="none" strike="noStrike" kern="0" cap="none" spc="0" normalizeH="0" baseline="0" noProof="0" dirty="0">
              <a:ln>
                <a:noFill/>
              </a:ln>
              <a:solidFill>
                <a:schemeClr val="accent2"/>
              </a:solidFill>
              <a:effectLst/>
              <a:uLnTx/>
              <a:uFillTx/>
              <a:latin typeface="Courier New" panose="02070309020205020404" pitchFamily="49" charset="0"/>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defRPr/>
            </a:pP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4" name="Rectangle 3"/>
          <p:cNvSpPr txBox="1">
            <a:spLocks noChangeArrowheads="1"/>
          </p:cNvSpPr>
          <p:nvPr/>
        </p:nvSpPr>
        <p:spPr bwMode="auto">
          <a:xfrm>
            <a:off x="227013" y="2649538"/>
            <a:ext cx="4953000" cy="21304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chemeClr val="accent2"/>
              </a:buClr>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Use some </a:t>
            </a:r>
            <a:r>
              <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hashing function</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to map nodes and object Ids into one namespace()</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Tx/>
              <a:buFontTx/>
              <a:buChar char="•"/>
              <a:defRPr/>
            </a:pPr>
            <a:r>
              <a:rPr kumimoji="0" lang="sv-SE"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Modulo </a:t>
            </a:r>
            <a:r>
              <a:rPr kumimoji="0" lang="sv-SE"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divide </a:t>
            </a:r>
            <a:r>
              <a:rPr kumimoji="0" lang="sv-SE"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the key </a:t>
            </a:r>
            <a:r>
              <a:rPr kumimoji="0" lang="sv-SE"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to get a circular structur</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sv-SE"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key</a:t>
            </a:r>
            <a:r>
              <a:rPr kumimoji="0" lang="en-US"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a:t>
            </a:r>
            <a:r>
              <a:rPr kumimoji="0" lang="sv-SE" altLang="zh-CN" sz="2400" b="0" i="0" u="none" strike="noStrike" kern="0" cap="none" spc="0" normalizeH="0" baseline="0" noProof="0" dirty="0">
                <a:ln>
                  <a:noFill/>
                </a:ln>
                <a:solidFill>
                  <a:srgbClr val="FF0000"/>
                </a:solidFill>
                <a:effectLst/>
                <a:uLnTx/>
                <a:uFillTx/>
                <a:latin typeface="+mn-lt"/>
                <a:ea typeface="宋体" panose="02010600030101010101" pitchFamily="2" charset="-122"/>
                <a:cs typeface="+mn-cs"/>
              </a:rPr>
              <a:t>modulo</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grpSp>
        <p:nvGrpSpPr>
          <p:cNvPr id="47109" name="组合 4"/>
          <p:cNvGrpSpPr/>
          <p:nvPr/>
        </p:nvGrpSpPr>
        <p:grpSpPr>
          <a:xfrm>
            <a:off x="5180013" y="2601913"/>
            <a:ext cx="3408362" cy="4002087"/>
            <a:chOff x="5257801" y="1905000"/>
            <a:chExt cx="3505199" cy="4419600"/>
          </a:xfrm>
        </p:grpSpPr>
        <p:grpSp>
          <p:nvGrpSpPr>
            <p:cNvPr id="47111" name="组合 6"/>
            <p:cNvGrpSpPr/>
            <p:nvPr/>
          </p:nvGrpSpPr>
          <p:grpSpPr>
            <a:xfrm>
              <a:off x="5334000" y="1905000"/>
              <a:ext cx="3429000" cy="4419600"/>
              <a:chOff x="5334000" y="1905000"/>
              <a:chExt cx="3429000" cy="4419600"/>
            </a:xfrm>
          </p:grpSpPr>
          <p:sp>
            <p:nvSpPr>
              <p:cNvPr id="47113" name="Text Box 4"/>
              <p:cNvSpPr txBox="1"/>
              <p:nvPr/>
            </p:nvSpPr>
            <p:spPr>
              <a:xfrm>
                <a:off x="7086600" y="5480200"/>
                <a:ext cx="914400" cy="645837"/>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spcBef>
                    <a:spcPct val="0"/>
                  </a:spcBef>
                  <a:buClrTx/>
                  <a:buNone/>
                </a:pPr>
                <a:r>
                  <a:rPr lang="sv-SE" altLang="zh-CN" sz="1600" dirty="0">
                    <a:ea typeface="宋体" panose="02010600030101010101" pitchFamily="2" charset="-122"/>
                  </a:rPr>
                  <a:t>Nodes</a:t>
                </a:r>
                <a:endParaRPr lang="sv-SE" altLang="zh-CN" sz="1600" dirty="0">
                  <a:ea typeface="宋体" panose="02010600030101010101" pitchFamily="2" charset="-122"/>
                </a:endParaRPr>
              </a:p>
              <a:p>
                <a:pPr marL="0" lvl="0" indent="0">
                  <a:spcBef>
                    <a:spcPct val="0"/>
                  </a:spcBef>
                  <a:buClrTx/>
                  <a:buNone/>
                </a:pPr>
                <a:r>
                  <a:rPr lang="sv-SE" altLang="zh-CN" sz="1600" dirty="0">
                    <a:ea typeface="宋体" panose="02010600030101010101" pitchFamily="2" charset="-122"/>
                  </a:rPr>
                  <a:t>Items</a:t>
                </a:r>
                <a:endParaRPr lang="en-US" altLang="zh-CN" sz="1600" dirty="0">
                  <a:ea typeface="宋体" panose="02010600030101010101" pitchFamily="2" charset="-122"/>
                </a:endParaRPr>
              </a:p>
            </p:txBody>
          </p:sp>
          <p:sp>
            <p:nvSpPr>
              <p:cNvPr id="47114" name="Oval 5"/>
              <p:cNvSpPr/>
              <p:nvPr/>
            </p:nvSpPr>
            <p:spPr>
              <a:xfrm>
                <a:off x="6705600" y="5562600"/>
                <a:ext cx="381000" cy="381000"/>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15" name="Rectangle 6"/>
              <p:cNvSpPr/>
              <p:nvPr/>
            </p:nvSpPr>
            <p:spPr>
              <a:xfrm>
                <a:off x="6781800" y="60960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16" name="Oval 7"/>
              <p:cNvSpPr/>
              <p:nvPr/>
            </p:nvSpPr>
            <p:spPr>
              <a:xfrm>
                <a:off x="5486400" y="1981200"/>
                <a:ext cx="2895600" cy="2819400"/>
              </a:xfrm>
              <a:prstGeom prst="ellipse">
                <a:avLst/>
              </a:prstGeom>
              <a:noFill/>
              <a:ln w="2857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17" name="Oval 8"/>
              <p:cNvSpPr/>
              <p:nvPr/>
            </p:nvSpPr>
            <p:spPr>
              <a:xfrm>
                <a:off x="7696200" y="1970169"/>
                <a:ext cx="609600" cy="641189"/>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2</a:t>
                </a:r>
                <a:endParaRPr lang="en-US" altLang="zh-CN" sz="2000" dirty="0">
                  <a:ea typeface="宋体" panose="02010600030101010101" pitchFamily="2" charset="-122"/>
                </a:endParaRPr>
              </a:p>
            </p:txBody>
          </p:sp>
          <p:sp>
            <p:nvSpPr>
              <p:cNvPr id="47118" name="Oval 9"/>
              <p:cNvSpPr/>
              <p:nvPr/>
            </p:nvSpPr>
            <p:spPr>
              <a:xfrm>
                <a:off x="8077200" y="3527507"/>
                <a:ext cx="609600" cy="641189"/>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3</a:t>
                </a:r>
                <a:endParaRPr lang="en-US" altLang="zh-CN" sz="2000" dirty="0">
                  <a:ea typeface="宋体" panose="02010600030101010101" pitchFamily="2" charset="-122"/>
                </a:endParaRPr>
              </a:p>
            </p:txBody>
          </p:sp>
          <p:sp>
            <p:nvSpPr>
              <p:cNvPr id="47119" name="Oval 10"/>
              <p:cNvSpPr/>
              <p:nvPr/>
            </p:nvSpPr>
            <p:spPr>
              <a:xfrm>
                <a:off x="6553200" y="4518106"/>
                <a:ext cx="609601" cy="641189"/>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4</a:t>
                </a:r>
                <a:endParaRPr lang="en-US" altLang="zh-CN" sz="2000" dirty="0">
                  <a:ea typeface="宋体" panose="02010600030101010101" pitchFamily="2" charset="-122"/>
                </a:endParaRPr>
              </a:p>
            </p:txBody>
          </p:sp>
          <p:sp>
            <p:nvSpPr>
              <p:cNvPr id="47120" name="Oval 12"/>
              <p:cNvSpPr/>
              <p:nvPr/>
            </p:nvSpPr>
            <p:spPr>
              <a:xfrm>
                <a:off x="5945188" y="1927306"/>
                <a:ext cx="608012" cy="641189"/>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1</a:t>
                </a:r>
                <a:endParaRPr lang="en-US" altLang="zh-CN" sz="2000" dirty="0">
                  <a:ea typeface="宋体" panose="02010600030101010101" pitchFamily="2" charset="-122"/>
                </a:endParaRPr>
              </a:p>
            </p:txBody>
          </p:sp>
          <p:sp>
            <p:nvSpPr>
              <p:cNvPr id="47121" name="Rectangle 13"/>
              <p:cNvSpPr/>
              <p:nvPr/>
            </p:nvSpPr>
            <p:spPr>
              <a:xfrm>
                <a:off x="5791200" y="42672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22" name="Rectangle 14"/>
              <p:cNvSpPr/>
              <p:nvPr/>
            </p:nvSpPr>
            <p:spPr>
              <a:xfrm>
                <a:off x="6096000" y="44958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23" name="Rectangle 15"/>
              <p:cNvSpPr/>
              <p:nvPr/>
            </p:nvSpPr>
            <p:spPr>
              <a:xfrm>
                <a:off x="7315200" y="45720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24" name="Rectangle 16"/>
              <p:cNvSpPr/>
              <p:nvPr/>
            </p:nvSpPr>
            <p:spPr>
              <a:xfrm>
                <a:off x="6629400" y="19050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25" name="Rectangle 17"/>
              <p:cNvSpPr/>
              <p:nvPr/>
            </p:nvSpPr>
            <p:spPr>
              <a:xfrm>
                <a:off x="7391400" y="19812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26" name="Rectangle 18"/>
              <p:cNvSpPr/>
              <p:nvPr/>
            </p:nvSpPr>
            <p:spPr>
              <a:xfrm>
                <a:off x="8153400" y="28194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27" name="Rectangle 19"/>
              <p:cNvSpPr/>
              <p:nvPr/>
            </p:nvSpPr>
            <p:spPr>
              <a:xfrm>
                <a:off x="8153400" y="32766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28" name="Rectangle 20"/>
              <p:cNvSpPr/>
              <p:nvPr/>
            </p:nvSpPr>
            <p:spPr>
              <a:xfrm>
                <a:off x="7848600" y="41910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29" name="Rectangle 21"/>
              <p:cNvSpPr/>
              <p:nvPr/>
            </p:nvSpPr>
            <p:spPr>
              <a:xfrm>
                <a:off x="5486400" y="26670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30" name="Rectangle 22"/>
              <p:cNvSpPr/>
              <p:nvPr/>
            </p:nvSpPr>
            <p:spPr>
              <a:xfrm>
                <a:off x="5410200" y="29718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31" name="Rectangle 23"/>
              <p:cNvSpPr/>
              <p:nvPr/>
            </p:nvSpPr>
            <p:spPr>
              <a:xfrm>
                <a:off x="5334000" y="32766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7132" name="Line 24"/>
              <p:cNvSpPr/>
              <p:nvPr/>
            </p:nvSpPr>
            <p:spPr>
              <a:xfrm flipH="1">
                <a:off x="7391400" y="2438400"/>
                <a:ext cx="1219200" cy="457200"/>
              </a:xfrm>
              <a:prstGeom prst="line">
                <a:avLst/>
              </a:prstGeom>
              <a:ln w="9525" cap="flat" cmpd="sng">
                <a:solidFill>
                  <a:schemeClr val="tx1"/>
                </a:solidFill>
                <a:prstDash val="solid"/>
                <a:headEnd type="none" w="med" len="med"/>
                <a:tailEnd type="none" w="med" len="med"/>
              </a:ln>
            </p:spPr>
          </p:sp>
          <p:sp>
            <p:nvSpPr>
              <p:cNvPr id="47133" name="Line 25"/>
              <p:cNvSpPr/>
              <p:nvPr/>
            </p:nvSpPr>
            <p:spPr>
              <a:xfrm>
                <a:off x="7620000" y="3657600"/>
                <a:ext cx="1143000" cy="914400"/>
              </a:xfrm>
              <a:prstGeom prst="line">
                <a:avLst/>
              </a:prstGeom>
              <a:ln w="9525" cap="flat" cmpd="sng">
                <a:solidFill>
                  <a:schemeClr val="tx1"/>
                </a:solidFill>
                <a:prstDash val="solid"/>
                <a:headEnd type="none" w="med" len="med"/>
                <a:tailEnd type="none" w="med" len="med"/>
              </a:ln>
            </p:spPr>
          </p:sp>
          <p:sp>
            <p:nvSpPr>
              <p:cNvPr id="47134" name="Rectangle 26"/>
              <p:cNvSpPr/>
              <p:nvPr/>
            </p:nvSpPr>
            <p:spPr>
              <a:xfrm>
                <a:off x="7010400" y="19050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grpSp>
        <p:sp>
          <p:nvSpPr>
            <p:cNvPr id="47112" name="Oval 11"/>
            <p:cNvSpPr/>
            <p:nvPr/>
          </p:nvSpPr>
          <p:spPr>
            <a:xfrm>
              <a:off x="5257801" y="3646568"/>
              <a:ext cx="533400" cy="641189"/>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000" dirty="0">
                  <a:ea typeface="宋体" panose="02010600030101010101" pitchFamily="2" charset="-122"/>
                </a:rPr>
                <a:t>5</a:t>
              </a:r>
              <a:endParaRPr lang="en-US" altLang="zh-CN" sz="2000" dirty="0">
                <a:ea typeface="宋体" panose="02010600030101010101" pitchFamily="2" charset="-122"/>
              </a:endParaRPr>
            </a:p>
          </p:txBody>
        </p:sp>
      </p:grpSp>
      <p:sp>
        <p:nvSpPr>
          <p:cNvPr id="31" name="Text Box 27"/>
          <p:cNvSpPr txBox="1"/>
          <p:nvPr/>
        </p:nvSpPr>
        <p:spPr>
          <a:xfrm>
            <a:off x="333375" y="4913313"/>
            <a:ext cx="4237038" cy="1506855"/>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buClrTx/>
              <a:buFont typeface="Wingdings" panose="05000000000000000000" pitchFamily="2" charset="2"/>
              <a:buChar char="u"/>
            </a:pPr>
            <a:r>
              <a:rPr lang="en-US" altLang="zh-CN" sz="2000" dirty="0">
                <a:ea typeface="宋体" panose="02010600030101010101" pitchFamily="2" charset="-122"/>
              </a:rPr>
              <a:t>Simple, elegant and powerful(logN)</a:t>
            </a:r>
            <a:endParaRPr lang="en-US" altLang="zh-CN" sz="2000" dirty="0">
              <a:ea typeface="宋体" panose="02010600030101010101" pitchFamily="2" charset="-122"/>
            </a:endParaRPr>
          </a:p>
          <a:p>
            <a:pPr marL="342900" lvl="0" indent="-342900" algn="l" eaLnBrk="1" hangingPunct="1">
              <a:buClrTx/>
              <a:buFont typeface="Wingdings" panose="05000000000000000000" pitchFamily="2" charset="2"/>
              <a:buChar char="u"/>
            </a:pPr>
            <a:r>
              <a:rPr lang="sv-SE" altLang="zh-CN" sz="2000" dirty="0">
                <a:ea typeface="宋体" panose="02010600030101010101" pitchFamily="2" charset="-122"/>
              </a:rPr>
              <a:t>Related issues involve:</a:t>
            </a:r>
            <a:endParaRPr lang="sv-SE" altLang="zh-CN" sz="2000" dirty="0">
              <a:ea typeface="宋体" panose="02010600030101010101" pitchFamily="2" charset="-122"/>
            </a:endParaRPr>
          </a:p>
          <a:p>
            <a:pPr marL="457200" lvl="1" indent="0" eaLnBrk="1" hangingPunct="1">
              <a:buClrTx/>
            </a:pPr>
            <a:r>
              <a:rPr lang="en-US" altLang="zh-CN" sz="2000" dirty="0">
                <a:ea typeface="宋体" panose="02010600030101010101" pitchFamily="2" charset="-122"/>
              </a:rPr>
              <a:t> Load Balancing</a:t>
            </a:r>
            <a:endParaRPr lang="en-US" altLang="zh-CN" sz="2000" dirty="0">
              <a:ea typeface="宋体" panose="02010600030101010101" pitchFamily="2" charset="-122"/>
            </a:endParaRPr>
          </a:p>
          <a:p>
            <a:pPr marL="457200" lvl="1" indent="0" eaLnBrk="1" hangingPunct="1">
              <a:buClrTx/>
            </a:pPr>
            <a:r>
              <a:rPr lang="en-US" altLang="zh-CN" sz="2000" dirty="0">
                <a:ea typeface="宋体" panose="02010600030101010101" pitchFamily="2" charset="-122"/>
              </a:rPr>
              <a:t> Security</a:t>
            </a:r>
            <a:endParaRPr lang="zh-CN" altLang="en-US" sz="20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0-#ppt_w/2"/>
                                          </p:val>
                                        </p:tav>
                                        <p:tav tm="100000">
                                          <p:val>
                                            <p:strVal val="#ppt_x"/>
                                          </p:val>
                                        </p:tav>
                                      </p:tavLst>
                                    </p:anim>
                                    <p:anim calcmode="lin" valueType="num">
                                      <p:cBhvr additive="base">
                                        <p:cTn id="20"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3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0" y="0"/>
            <a:ext cx="9144000" cy="628650"/>
          </a:xfrm>
        </p:spPr>
        <p:txBody>
          <a:bodyPr vert="horz" wrap="square" lIns="91440" tIns="45720" rIns="91440" bIns="45720" anchor="ctr" anchorCtr="0"/>
          <a:lstStyle/>
          <a:p>
            <a:pPr eaLnBrk="1" hangingPunct="1"/>
            <a:r>
              <a:rPr lang="en-US" altLang="zh-CN" dirty="0">
                <a:ea typeface="宋体" panose="02010600030101010101" pitchFamily="2" charset="-122"/>
              </a:rPr>
              <a:t>Chord - Search</a:t>
            </a:r>
            <a:endParaRPr lang="en-US" altLang="zh-CN" dirty="0">
              <a:ea typeface="宋体" panose="02010600030101010101" pitchFamily="2" charset="-122"/>
            </a:endParaRPr>
          </a:p>
        </p:txBody>
      </p:sp>
      <p:sp>
        <p:nvSpPr>
          <p:cNvPr id="49155" name="Rectangle 3"/>
          <p:cNvSpPr>
            <a:spLocks noGrp="1"/>
          </p:cNvSpPr>
          <p:nvPr>
            <p:ph idx="1"/>
          </p:nvPr>
        </p:nvSpPr>
        <p:spPr>
          <a:xfrm>
            <a:off x="3830638" y="941388"/>
            <a:ext cx="4811712" cy="933450"/>
          </a:xfrm>
        </p:spPr>
        <p:txBody>
          <a:bodyPr vert="horz" wrap="square" lIns="91440" tIns="45720" rIns="91440" bIns="45720" anchor="t" anchorCtr="0"/>
          <a:lstStyle/>
          <a:p>
            <a:pPr algn="l" eaLnBrk="1" hangingPunct="1">
              <a:buFont typeface="Wingdings" panose="05000000000000000000" pitchFamily="2" charset="2"/>
              <a:buChar char="u"/>
            </a:pPr>
            <a:r>
              <a:rPr lang="en-US" altLang="zh-CN" sz="2000" dirty="0">
                <a:ea typeface="宋体" panose="02010600030101010101" pitchFamily="2" charset="-122"/>
              </a:rPr>
              <a:t>Every node n knows  about </a:t>
            </a:r>
            <a:r>
              <a:rPr lang="en-US" altLang="zh-CN" sz="2000" dirty="0">
                <a:solidFill>
                  <a:srgbClr val="FF0000"/>
                </a:solidFill>
                <a:ea typeface="宋体" panose="02010600030101010101" pitchFamily="2" charset="-122"/>
              </a:rPr>
              <a:t>Successor(n)</a:t>
            </a:r>
            <a:endParaRPr lang="en-US" altLang="zh-CN" sz="2000" dirty="0">
              <a:ea typeface="宋体" panose="02010600030101010101" pitchFamily="2" charset="-122"/>
            </a:endParaRPr>
          </a:p>
          <a:p>
            <a:pPr algn="l" eaLnBrk="1" hangingPunct="1">
              <a:buFont typeface="Wingdings" panose="05000000000000000000" pitchFamily="2" charset="2"/>
              <a:buChar char="u"/>
            </a:pPr>
            <a:r>
              <a:rPr lang="en-US" altLang="zh-CN" sz="2000" dirty="0">
                <a:ea typeface="宋体" panose="02010600030101010101" pitchFamily="2" charset="-122"/>
              </a:rPr>
              <a:t>but is this enough ?</a:t>
            </a:r>
            <a:endParaRPr lang="en-GB" altLang="zh-CN" sz="2000" dirty="0">
              <a:ea typeface="宋体" panose="02010600030101010101" pitchFamily="2" charset="-122"/>
            </a:endParaRPr>
          </a:p>
        </p:txBody>
      </p:sp>
      <p:grpSp>
        <p:nvGrpSpPr>
          <p:cNvPr id="49156" name="组合 1"/>
          <p:cNvGrpSpPr/>
          <p:nvPr/>
        </p:nvGrpSpPr>
        <p:grpSpPr>
          <a:xfrm>
            <a:off x="282575" y="561975"/>
            <a:ext cx="3124200" cy="3295650"/>
            <a:chOff x="4191000" y="1981200"/>
            <a:chExt cx="3124200" cy="3781425"/>
          </a:xfrm>
        </p:grpSpPr>
        <p:sp>
          <p:nvSpPr>
            <p:cNvPr id="49179" name="Oval 4"/>
            <p:cNvSpPr/>
            <p:nvPr/>
          </p:nvSpPr>
          <p:spPr>
            <a:xfrm>
              <a:off x="4343400" y="2057400"/>
              <a:ext cx="2895600" cy="2819400"/>
            </a:xfrm>
            <a:prstGeom prst="ellipse">
              <a:avLst/>
            </a:prstGeom>
            <a:noFill/>
            <a:ln w="2857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80" name="Oval 5"/>
            <p:cNvSpPr/>
            <p:nvPr/>
          </p:nvSpPr>
          <p:spPr>
            <a:xfrm>
              <a:off x="6629400" y="2286000"/>
              <a:ext cx="381000" cy="381000"/>
            </a:xfrm>
            <a:prstGeom prst="ellipse">
              <a:avLst/>
            </a:prstGeom>
            <a:solidFill>
              <a:schemeClr val="accent2"/>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81" name="Oval 6"/>
            <p:cNvSpPr/>
            <p:nvPr/>
          </p:nvSpPr>
          <p:spPr>
            <a:xfrm>
              <a:off x="6934200" y="3733800"/>
              <a:ext cx="381000" cy="381000"/>
            </a:xfrm>
            <a:prstGeom prst="ellipse">
              <a:avLst/>
            </a:prstGeom>
            <a:solidFill>
              <a:schemeClr val="accent2"/>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82" name="Oval 7"/>
            <p:cNvSpPr/>
            <p:nvPr/>
          </p:nvSpPr>
          <p:spPr>
            <a:xfrm>
              <a:off x="5562600" y="4648200"/>
              <a:ext cx="381000" cy="381000"/>
            </a:xfrm>
            <a:prstGeom prst="ellipse">
              <a:avLst/>
            </a:prstGeom>
            <a:solidFill>
              <a:schemeClr val="accent2"/>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83" name="Oval 8"/>
            <p:cNvSpPr/>
            <p:nvPr/>
          </p:nvSpPr>
          <p:spPr>
            <a:xfrm>
              <a:off x="4267200" y="3886200"/>
              <a:ext cx="381000" cy="381000"/>
            </a:xfrm>
            <a:prstGeom prst="ellipse">
              <a:avLst/>
            </a:prstGeom>
            <a:solidFill>
              <a:schemeClr val="accent2"/>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84" name="Oval 9"/>
            <p:cNvSpPr/>
            <p:nvPr/>
          </p:nvSpPr>
          <p:spPr>
            <a:xfrm>
              <a:off x="4800600" y="2133600"/>
              <a:ext cx="381000" cy="381000"/>
            </a:xfrm>
            <a:prstGeom prst="ellipse">
              <a:avLst/>
            </a:prstGeom>
            <a:solidFill>
              <a:schemeClr val="accent2"/>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85" name="Rectangle 10"/>
            <p:cNvSpPr/>
            <p:nvPr/>
          </p:nvSpPr>
          <p:spPr>
            <a:xfrm>
              <a:off x="4648200" y="43434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86" name="Rectangle 11"/>
            <p:cNvSpPr/>
            <p:nvPr/>
          </p:nvSpPr>
          <p:spPr>
            <a:xfrm>
              <a:off x="4953000" y="45720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87" name="Rectangle 12"/>
            <p:cNvSpPr/>
            <p:nvPr/>
          </p:nvSpPr>
          <p:spPr>
            <a:xfrm>
              <a:off x="6172200" y="46482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88" name="Rectangle 13"/>
            <p:cNvSpPr/>
            <p:nvPr/>
          </p:nvSpPr>
          <p:spPr>
            <a:xfrm>
              <a:off x="5486400" y="19812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89" name="Rectangle 14"/>
            <p:cNvSpPr/>
            <p:nvPr/>
          </p:nvSpPr>
          <p:spPr>
            <a:xfrm>
              <a:off x="6248400" y="20574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90" name="Rectangle 15"/>
            <p:cNvSpPr/>
            <p:nvPr/>
          </p:nvSpPr>
          <p:spPr>
            <a:xfrm>
              <a:off x="7010400" y="28956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91" name="Rectangle 16"/>
            <p:cNvSpPr/>
            <p:nvPr/>
          </p:nvSpPr>
          <p:spPr>
            <a:xfrm>
              <a:off x="7010400" y="33528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92" name="Rectangle 17"/>
            <p:cNvSpPr/>
            <p:nvPr/>
          </p:nvSpPr>
          <p:spPr>
            <a:xfrm>
              <a:off x="6705600" y="42672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93" name="Rectangle 18"/>
            <p:cNvSpPr/>
            <p:nvPr/>
          </p:nvSpPr>
          <p:spPr>
            <a:xfrm>
              <a:off x="4343400" y="27432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94" name="Rectangle 19"/>
            <p:cNvSpPr/>
            <p:nvPr/>
          </p:nvSpPr>
          <p:spPr>
            <a:xfrm>
              <a:off x="4267200" y="30480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95" name="Rectangle 20"/>
            <p:cNvSpPr/>
            <p:nvPr/>
          </p:nvSpPr>
          <p:spPr>
            <a:xfrm>
              <a:off x="4191000" y="3352800"/>
              <a:ext cx="304800" cy="228600"/>
            </a:xfrm>
            <a:prstGeom prst="rect">
              <a:avLst/>
            </a:prstGeom>
            <a:solidFill>
              <a:srgbClr val="FF66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96" name="Rectangle 21"/>
            <p:cNvSpPr/>
            <p:nvPr/>
          </p:nvSpPr>
          <p:spPr>
            <a:xfrm>
              <a:off x="5867400" y="1981200"/>
              <a:ext cx="304800" cy="228600"/>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97" name="Line 23"/>
            <p:cNvSpPr/>
            <p:nvPr/>
          </p:nvSpPr>
          <p:spPr>
            <a:xfrm flipH="1">
              <a:off x="5791200" y="3886200"/>
              <a:ext cx="1143000" cy="609600"/>
            </a:xfrm>
            <a:prstGeom prst="line">
              <a:avLst/>
            </a:prstGeom>
            <a:ln w="28575" cap="flat" cmpd="sng">
              <a:solidFill>
                <a:srgbClr val="008000"/>
              </a:solidFill>
              <a:prstDash val="solid"/>
              <a:headEnd type="none" w="med" len="med"/>
              <a:tailEnd type="triangle" w="med" len="med"/>
            </a:ln>
          </p:spPr>
        </p:sp>
        <p:sp>
          <p:nvSpPr>
            <p:cNvPr id="49198" name="Line 24"/>
            <p:cNvSpPr/>
            <p:nvPr/>
          </p:nvSpPr>
          <p:spPr>
            <a:xfrm flipH="1" flipV="1">
              <a:off x="4724400" y="3886200"/>
              <a:ext cx="914400" cy="609600"/>
            </a:xfrm>
            <a:prstGeom prst="line">
              <a:avLst/>
            </a:prstGeom>
            <a:ln w="28575" cap="flat" cmpd="sng">
              <a:solidFill>
                <a:srgbClr val="008000"/>
              </a:solidFill>
              <a:prstDash val="solid"/>
              <a:headEnd type="none" w="med" len="med"/>
              <a:tailEnd type="triangle" w="med" len="med"/>
            </a:ln>
          </p:spPr>
        </p:sp>
        <p:sp>
          <p:nvSpPr>
            <p:cNvPr id="49199" name="Line 25"/>
            <p:cNvSpPr/>
            <p:nvPr/>
          </p:nvSpPr>
          <p:spPr>
            <a:xfrm flipV="1">
              <a:off x="4800600" y="2667000"/>
              <a:ext cx="304800" cy="1066800"/>
            </a:xfrm>
            <a:prstGeom prst="line">
              <a:avLst/>
            </a:prstGeom>
            <a:ln w="28575" cap="flat" cmpd="sng">
              <a:solidFill>
                <a:srgbClr val="008000"/>
              </a:solidFill>
              <a:prstDash val="solid"/>
              <a:headEnd type="none" w="med" len="med"/>
              <a:tailEnd type="triangle" w="med" len="med"/>
            </a:ln>
          </p:spPr>
        </p:sp>
        <p:sp>
          <p:nvSpPr>
            <p:cNvPr id="49200" name="Text Box 26"/>
            <p:cNvSpPr txBox="1"/>
            <p:nvPr/>
          </p:nvSpPr>
          <p:spPr>
            <a:xfrm>
              <a:off x="4826000" y="5362575"/>
              <a:ext cx="2274888" cy="40005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spcBef>
                  <a:spcPct val="0"/>
                </a:spcBef>
                <a:buClrTx/>
                <a:buNone/>
              </a:pPr>
              <a:r>
                <a:rPr lang="sv-SE" altLang="zh-CN" sz="2000" dirty="0">
                  <a:ea typeface="宋体" panose="02010600030101010101" pitchFamily="2" charset="-122"/>
                </a:rPr>
                <a:t>Routing table size: 1</a:t>
              </a:r>
              <a:endParaRPr lang="en-US" altLang="zh-CN" sz="2000" dirty="0">
                <a:ea typeface="宋体" panose="02010600030101010101" pitchFamily="2" charset="-122"/>
              </a:endParaRPr>
            </a:p>
          </p:txBody>
        </p:sp>
      </p:grpSp>
      <p:sp>
        <p:nvSpPr>
          <p:cNvPr id="27" name="Rectangle 2"/>
          <p:cNvSpPr txBox="1">
            <a:spLocks noChangeArrowheads="1"/>
          </p:cNvSpPr>
          <p:nvPr/>
        </p:nvSpPr>
        <p:spPr bwMode="auto">
          <a:xfrm>
            <a:off x="12700" y="3940175"/>
            <a:ext cx="4972050" cy="623888"/>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Chord - Complete Routing</a:t>
            </a:r>
            <a:endParaRPr kumimoji="0" lang="en-US" altLang="zh-CN" sz="32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
        <p:nvSpPr>
          <p:cNvPr id="28" name="Rectangle 3"/>
          <p:cNvSpPr txBox="1">
            <a:spLocks noChangeArrowheads="1"/>
          </p:cNvSpPr>
          <p:nvPr/>
        </p:nvSpPr>
        <p:spPr bwMode="auto">
          <a:xfrm>
            <a:off x="180975" y="4618038"/>
            <a:ext cx="4695825" cy="1830388"/>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sv-SE"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Routing table(</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finger table)</a:t>
            </a:r>
            <a:endParaRPr kumimoji="0" lang="en-GB"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sv-SE"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table size: M(2</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次方</a:t>
            </a:r>
            <a:r>
              <a:rPr kumimoji="0" lang="sv-SE"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endParaRPr kumimoji="0" lang="sv-SE"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Tx/>
              <a:buNone/>
              <a:defRPr/>
            </a:pPr>
            <a:r>
              <a:rPr kumimoji="0" lang="sv-SE"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where N = 2</a:t>
            </a:r>
            <a:r>
              <a:rPr kumimoji="0" lang="sv-SE" altLang="zh-CN" sz="20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M</a:t>
            </a:r>
            <a:endPar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Every node n knows successor(n + 2 </a:t>
            </a:r>
            <a:r>
              <a:rPr kumimoji="0" lang="en-US" altLang="zh-CN" sz="2000" b="0" i="0" u="none" strike="noStrike" kern="0" cap="none" spc="0" normalizeH="0" baseline="30000" noProof="0" dirty="0">
                <a:ln>
                  <a:noFill/>
                </a:ln>
                <a:solidFill>
                  <a:schemeClr val="tx1"/>
                </a:solidFill>
                <a:effectLst/>
                <a:uLnTx/>
                <a:uFillTx/>
                <a:latin typeface="+mn-lt"/>
                <a:ea typeface="宋体" panose="02010600030101010101" pitchFamily="2" charset="-122"/>
                <a:cs typeface="+mn-cs"/>
              </a:rPr>
              <a:t>i-1</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b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b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for </a:t>
            </a:r>
            <a:r>
              <a:rPr kumimoji="0" lang="en-US" altLang="zh-CN" sz="20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i</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 1..M </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grpSp>
        <p:nvGrpSpPr>
          <p:cNvPr id="49159" name="组合 28"/>
          <p:cNvGrpSpPr/>
          <p:nvPr/>
        </p:nvGrpSpPr>
        <p:grpSpPr>
          <a:xfrm>
            <a:off x="4940300" y="2522538"/>
            <a:ext cx="3900488" cy="3857625"/>
            <a:chOff x="3890963" y="1447800"/>
            <a:chExt cx="4791075" cy="4886326"/>
          </a:xfrm>
        </p:grpSpPr>
        <p:sp>
          <p:nvSpPr>
            <p:cNvPr id="49160" name="Oval 4"/>
            <p:cNvSpPr/>
            <p:nvPr/>
          </p:nvSpPr>
          <p:spPr>
            <a:xfrm>
              <a:off x="4191000" y="2057400"/>
              <a:ext cx="4191000" cy="3962401"/>
            </a:xfrm>
            <a:prstGeom prst="ellipse">
              <a:avLst/>
            </a:prstGeom>
            <a:noFill/>
            <a:ln w="2857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61" name="Oval 5"/>
            <p:cNvSpPr/>
            <p:nvPr/>
          </p:nvSpPr>
          <p:spPr>
            <a:xfrm>
              <a:off x="6019800" y="1828800"/>
              <a:ext cx="681038" cy="619125"/>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dirty="0">
                  <a:ea typeface="宋体" panose="02010600030101010101" pitchFamily="2" charset="-122"/>
                </a:rPr>
                <a:t>0</a:t>
              </a:r>
              <a:endParaRPr lang="en-GB" altLang="zh-CN" sz="2400" dirty="0">
                <a:ea typeface="宋体" panose="02010600030101010101" pitchFamily="2" charset="-122"/>
              </a:endParaRPr>
            </a:p>
          </p:txBody>
        </p:sp>
        <p:sp>
          <p:nvSpPr>
            <p:cNvPr id="49162" name="Rectangle 6"/>
            <p:cNvSpPr/>
            <p:nvPr/>
          </p:nvSpPr>
          <p:spPr>
            <a:xfrm>
              <a:off x="4267200" y="4724401"/>
              <a:ext cx="304800" cy="228600"/>
            </a:xfrm>
            <a:prstGeom prst="rect">
              <a:avLst/>
            </a:prstGeom>
            <a:solidFill>
              <a:srgbClr val="FF6600"/>
            </a:solidFill>
            <a:ln w="9525" cap="flat" cmpd="sng">
              <a:solidFill>
                <a:schemeClr val="tx1"/>
              </a:solidFill>
              <a:prstDash val="solid"/>
              <a:miter/>
              <a:headEnd type="none" w="med" len="med"/>
              <a:tailEnd type="none" w="med" len="med"/>
            </a:ln>
          </p:spPr>
          <p:txBody>
            <a:bodyPr wrap="none"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000" dirty="0">
                <a:ea typeface="宋体" panose="02010600030101010101" pitchFamily="2" charset="-122"/>
              </a:endParaRPr>
            </a:p>
          </p:txBody>
        </p:sp>
        <p:sp>
          <p:nvSpPr>
            <p:cNvPr id="49163" name="Text Box 7"/>
            <p:cNvSpPr txBox="1"/>
            <p:nvPr/>
          </p:nvSpPr>
          <p:spPr>
            <a:xfrm>
              <a:off x="6781800" y="1447800"/>
              <a:ext cx="1868488" cy="581026"/>
            </a:xfrm>
            <a:prstGeom prst="rect">
              <a:avLst/>
            </a:prstGeom>
            <a:noFill/>
            <a:ln w="9525">
              <a:noFill/>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spcBef>
                  <a:spcPct val="0"/>
                </a:spcBef>
                <a:buClrTx/>
                <a:buNone/>
              </a:pPr>
              <a:r>
                <a:rPr lang="sv-SE" altLang="zh-CN" sz="1600" dirty="0">
                  <a:ea typeface="宋体" panose="02010600030101010101" pitchFamily="2" charset="-122"/>
                </a:rPr>
                <a:t>Only  node 0</a:t>
              </a:r>
              <a:endParaRPr lang="sv-SE" altLang="zh-CN" sz="1600" dirty="0">
                <a:ea typeface="宋体" panose="02010600030101010101" pitchFamily="2" charset="-122"/>
              </a:endParaRPr>
            </a:p>
            <a:p>
              <a:pPr marL="0" lvl="0" indent="0">
                <a:spcBef>
                  <a:spcPct val="0"/>
                </a:spcBef>
                <a:buClrTx/>
                <a:buNone/>
              </a:pPr>
              <a:r>
                <a:rPr lang="sv-SE" altLang="zh-CN" sz="1600" dirty="0">
                  <a:ea typeface="宋体" panose="02010600030101010101" pitchFamily="2" charset="-122"/>
                </a:rPr>
                <a:t>Routing table shown</a:t>
              </a:r>
              <a:endParaRPr lang="en-US" altLang="zh-CN" sz="1600" dirty="0">
                <a:ea typeface="宋体" panose="02010600030101010101" pitchFamily="2" charset="-122"/>
              </a:endParaRPr>
            </a:p>
          </p:txBody>
        </p:sp>
        <p:sp>
          <p:nvSpPr>
            <p:cNvPr id="49164" name="Oval 8"/>
            <p:cNvSpPr/>
            <p:nvPr/>
          </p:nvSpPr>
          <p:spPr>
            <a:xfrm>
              <a:off x="8001000" y="3733800"/>
              <a:ext cx="681038" cy="619125"/>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dirty="0">
                  <a:ea typeface="宋体" panose="02010600030101010101" pitchFamily="2" charset="-122"/>
                </a:rPr>
                <a:t>2</a:t>
              </a:r>
              <a:endParaRPr lang="en-GB" altLang="zh-CN" sz="2400" dirty="0">
                <a:ea typeface="宋体" panose="02010600030101010101" pitchFamily="2" charset="-122"/>
              </a:endParaRPr>
            </a:p>
          </p:txBody>
        </p:sp>
        <p:sp>
          <p:nvSpPr>
            <p:cNvPr id="49165" name="Oval 9"/>
            <p:cNvSpPr/>
            <p:nvPr/>
          </p:nvSpPr>
          <p:spPr>
            <a:xfrm>
              <a:off x="4572000" y="2362200"/>
              <a:ext cx="681038" cy="619125"/>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dirty="0">
                  <a:ea typeface="宋体" panose="02010600030101010101" pitchFamily="2" charset="-122"/>
                </a:rPr>
                <a:t>7</a:t>
              </a:r>
              <a:endParaRPr lang="en-GB" altLang="zh-CN" sz="2400" dirty="0">
                <a:ea typeface="宋体" panose="02010600030101010101" pitchFamily="2" charset="-122"/>
              </a:endParaRPr>
            </a:p>
          </p:txBody>
        </p:sp>
        <p:sp>
          <p:nvSpPr>
            <p:cNvPr id="49166" name="Oval 10"/>
            <p:cNvSpPr/>
            <p:nvPr/>
          </p:nvSpPr>
          <p:spPr>
            <a:xfrm>
              <a:off x="3890963" y="3657601"/>
              <a:ext cx="681037" cy="619125"/>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dirty="0">
                  <a:ea typeface="宋体" panose="02010600030101010101" pitchFamily="2" charset="-122"/>
                </a:rPr>
                <a:t>6</a:t>
              </a:r>
              <a:endParaRPr lang="en-GB" altLang="zh-CN" sz="2400" dirty="0">
                <a:ea typeface="宋体" panose="02010600030101010101" pitchFamily="2" charset="-122"/>
              </a:endParaRPr>
            </a:p>
          </p:txBody>
        </p:sp>
        <p:sp>
          <p:nvSpPr>
            <p:cNvPr id="49167" name="Oval 11"/>
            <p:cNvSpPr/>
            <p:nvPr/>
          </p:nvSpPr>
          <p:spPr>
            <a:xfrm>
              <a:off x="4419601" y="5257800"/>
              <a:ext cx="681039" cy="619125"/>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dirty="0">
                  <a:ea typeface="宋体" panose="02010600030101010101" pitchFamily="2" charset="-122"/>
                </a:rPr>
                <a:t>5</a:t>
              </a:r>
              <a:endParaRPr lang="en-GB" altLang="zh-CN" sz="2400" dirty="0">
                <a:ea typeface="宋体" panose="02010600030101010101" pitchFamily="2" charset="-122"/>
              </a:endParaRPr>
            </a:p>
          </p:txBody>
        </p:sp>
        <p:sp>
          <p:nvSpPr>
            <p:cNvPr id="49168" name="Oval 12"/>
            <p:cNvSpPr/>
            <p:nvPr/>
          </p:nvSpPr>
          <p:spPr>
            <a:xfrm>
              <a:off x="5943600" y="5715001"/>
              <a:ext cx="681038" cy="619125"/>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dirty="0">
                  <a:ea typeface="宋体" panose="02010600030101010101" pitchFamily="2" charset="-122"/>
                </a:rPr>
                <a:t>4</a:t>
              </a:r>
              <a:endParaRPr lang="en-GB" altLang="zh-CN" sz="2400" dirty="0">
                <a:ea typeface="宋体" panose="02010600030101010101" pitchFamily="2" charset="-122"/>
              </a:endParaRPr>
            </a:p>
          </p:txBody>
        </p:sp>
        <p:sp>
          <p:nvSpPr>
            <p:cNvPr id="49169" name="Oval 13"/>
            <p:cNvSpPr/>
            <p:nvPr/>
          </p:nvSpPr>
          <p:spPr>
            <a:xfrm>
              <a:off x="7467600" y="5029200"/>
              <a:ext cx="681038" cy="619125"/>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dirty="0">
                  <a:ea typeface="宋体" panose="02010600030101010101" pitchFamily="2" charset="-122"/>
                </a:rPr>
                <a:t>3</a:t>
              </a:r>
              <a:endParaRPr lang="en-GB" altLang="zh-CN" sz="2400" dirty="0">
                <a:ea typeface="宋体" panose="02010600030101010101" pitchFamily="2" charset="-122"/>
              </a:endParaRPr>
            </a:p>
          </p:txBody>
        </p:sp>
        <p:sp>
          <p:nvSpPr>
            <p:cNvPr id="49170" name="Oval 14"/>
            <p:cNvSpPr/>
            <p:nvPr/>
          </p:nvSpPr>
          <p:spPr>
            <a:xfrm>
              <a:off x="7467600" y="2438400"/>
              <a:ext cx="681038" cy="619125"/>
            </a:xfrm>
            <a:prstGeom prst="ellipse">
              <a:avLst/>
            </a:prstGeom>
            <a:solidFill>
              <a:schemeClr val="accent1"/>
            </a:solidFill>
            <a:ln w="9525" cap="flat" cmpd="sng">
              <a:solidFill>
                <a:schemeClr val="tx1"/>
              </a:solidFill>
              <a:prstDash val="solid"/>
              <a:headEnd type="none" w="med" len="med"/>
              <a:tailEnd type="none" w="med" len="med"/>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2400" dirty="0">
                  <a:ea typeface="宋体" panose="02010600030101010101" pitchFamily="2" charset="-122"/>
                </a:rPr>
                <a:t>1</a:t>
              </a:r>
              <a:endParaRPr lang="en-GB" altLang="zh-CN" sz="2400" dirty="0">
                <a:ea typeface="宋体" panose="02010600030101010101" pitchFamily="2" charset="-122"/>
              </a:endParaRPr>
            </a:p>
          </p:txBody>
        </p:sp>
        <p:grpSp>
          <p:nvGrpSpPr>
            <p:cNvPr id="49171" name="Group 15"/>
            <p:cNvGrpSpPr/>
            <p:nvPr/>
          </p:nvGrpSpPr>
          <p:grpSpPr>
            <a:xfrm>
              <a:off x="5780088" y="2212975"/>
              <a:ext cx="1765300" cy="3402013"/>
              <a:chOff x="3641" y="1394"/>
              <a:chExt cx="1112" cy="2143"/>
            </a:xfrm>
          </p:grpSpPr>
          <p:sp>
            <p:nvSpPr>
              <p:cNvPr id="49176" name="Line 16"/>
              <p:cNvSpPr/>
              <p:nvPr/>
            </p:nvSpPr>
            <p:spPr>
              <a:xfrm rot="4157591" flipV="1">
                <a:off x="4201" y="1410"/>
                <a:ext cx="460" cy="428"/>
              </a:xfrm>
              <a:prstGeom prst="line">
                <a:avLst/>
              </a:prstGeom>
              <a:ln w="28575" cap="flat" cmpd="sng">
                <a:solidFill>
                  <a:schemeClr val="tx2"/>
                </a:solidFill>
                <a:prstDash val="solid"/>
                <a:headEnd type="none" w="med" len="med"/>
                <a:tailEnd type="triangle" w="med" len="med"/>
              </a:ln>
            </p:spPr>
          </p:sp>
          <p:sp>
            <p:nvSpPr>
              <p:cNvPr id="49177" name="Line 17"/>
              <p:cNvSpPr/>
              <p:nvPr/>
            </p:nvSpPr>
            <p:spPr>
              <a:xfrm rot="4157591" flipV="1">
                <a:off x="3913" y="1819"/>
                <a:ext cx="1248" cy="432"/>
              </a:xfrm>
              <a:prstGeom prst="line">
                <a:avLst/>
              </a:prstGeom>
              <a:ln w="28575" cap="flat" cmpd="sng">
                <a:solidFill>
                  <a:schemeClr val="tx2"/>
                </a:solidFill>
                <a:prstDash val="solid"/>
                <a:headEnd type="none" w="med" len="med"/>
                <a:tailEnd type="triangle" w="med" len="med"/>
              </a:ln>
            </p:spPr>
          </p:sp>
          <p:sp>
            <p:nvSpPr>
              <p:cNvPr id="49178" name="Line 18"/>
              <p:cNvSpPr/>
              <p:nvPr/>
            </p:nvSpPr>
            <p:spPr>
              <a:xfrm rot="4157591">
                <a:off x="3025" y="2195"/>
                <a:ext cx="1955" cy="726"/>
              </a:xfrm>
              <a:prstGeom prst="line">
                <a:avLst/>
              </a:prstGeom>
              <a:ln w="28575" cap="flat" cmpd="sng">
                <a:solidFill>
                  <a:schemeClr val="tx2"/>
                </a:solidFill>
                <a:prstDash val="solid"/>
                <a:headEnd type="none" w="med" len="med"/>
                <a:tailEnd type="triangle" w="med" len="med"/>
              </a:ln>
            </p:spPr>
          </p:sp>
        </p:grpSp>
        <p:grpSp>
          <p:nvGrpSpPr>
            <p:cNvPr id="49172" name="Group 19"/>
            <p:cNvGrpSpPr/>
            <p:nvPr/>
          </p:nvGrpSpPr>
          <p:grpSpPr>
            <a:xfrm>
              <a:off x="4822825" y="2498725"/>
              <a:ext cx="2020888" cy="3514725"/>
              <a:chOff x="3038" y="1574"/>
              <a:chExt cx="1273" cy="2214"/>
            </a:xfrm>
          </p:grpSpPr>
          <p:sp>
            <p:nvSpPr>
              <p:cNvPr id="49173" name="Line 20"/>
              <p:cNvSpPr/>
              <p:nvPr/>
            </p:nvSpPr>
            <p:spPr>
              <a:xfrm rot="4157591" flipH="1">
                <a:off x="3321" y="3327"/>
                <a:ext cx="388" cy="464"/>
              </a:xfrm>
              <a:prstGeom prst="line">
                <a:avLst/>
              </a:prstGeom>
              <a:ln w="28575" cap="flat" cmpd="sng">
                <a:solidFill>
                  <a:srgbClr val="FF0000"/>
                </a:solidFill>
                <a:prstDash val="solid"/>
                <a:headEnd type="none" w="med" len="med"/>
                <a:tailEnd type="triangle" w="med" len="med"/>
              </a:ln>
            </p:spPr>
          </p:sp>
          <p:sp>
            <p:nvSpPr>
              <p:cNvPr id="49174" name="Line 21"/>
              <p:cNvSpPr/>
              <p:nvPr/>
            </p:nvSpPr>
            <p:spPr>
              <a:xfrm rot="4157591" flipH="1">
                <a:off x="2707" y="2825"/>
                <a:ext cx="1294" cy="632"/>
              </a:xfrm>
              <a:prstGeom prst="line">
                <a:avLst/>
              </a:prstGeom>
              <a:ln w="28575" cap="flat" cmpd="sng">
                <a:solidFill>
                  <a:srgbClr val="FF0000"/>
                </a:solidFill>
                <a:prstDash val="solid"/>
                <a:headEnd type="none" w="med" len="med"/>
                <a:tailEnd type="triangle" w="med" len="med"/>
              </a:ln>
            </p:spPr>
          </p:sp>
          <p:sp>
            <p:nvSpPr>
              <p:cNvPr id="49175" name="Line 22"/>
              <p:cNvSpPr/>
              <p:nvPr/>
            </p:nvSpPr>
            <p:spPr>
              <a:xfrm rot="4157591" flipH="1" flipV="1">
                <a:off x="2950" y="2185"/>
                <a:ext cx="1972" cy="750"/>
              </a:xfrm>
              <a:prstGeom prst="line">
                <a:avLst/>
              </a:prstGeom>
              <a:ln w="28575" cap="flat" cmpd="sng">
                <a:solidFill>
                  <a:srgbClr val="FF0000"/>
                </a:solidFill>
                <a:prstDash val="solid"/>
                <a:headEnd type="none" w="med" len="med"/>
                <a:tailEnd type="triangle" w="med" len="med"/>
              </a:ln>
            </p:spPr>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a:xfrm>
            <a:off x="0" y="0"/>
            <a:ext cx="9144000" cy="790575"/>
          </a:xfrm>
        </p:spPr>
        <p:txBody>
          <a:bodyPr vert="horz" wrap="square" lIns="91440" tIns="45720" rIns="91440" bIns="45720" anchor="ctr" anchorCtr="0"/>
          <a:lstStyle/>
          <a:p>
            <a:pPr eaLnBrk="1" hangingPunct="1"/>
            <a:r>
              <a:rPr lang="en-US" altLang="zh-CN" dirty="0">
                <a:ea typeface="宋体" panose="02010600030101010101" pitchFamily="2" charset="-122"/>
              </a:rPr>
              <a:t>DHTs: Finger Tables (1)</a:t>
            </a:r>
            <a:endParaRPr lang="en-US" altLang="zh-CN" dirty="0">
              <a:ea typeface="宋体" panose="02010600030101010101" pitchFamily="2" charset="-122"/>
            </a:endParaRPr>
          </a:p>
        </p:txBody>
      </p:sp>
      <p:sp>
        <p:nvSpPr>
          <p:cNvPr id="50179" name="Rectangle 3"/>
          <p:cNvSpPr>
            <a:spLocks noGrp="1"/>
          </p:cNvSpPr>
          <p:nvPr>
            <p:ph idx="1"/>
          </p:nvPr>
        </p:nvSpPr>
        <p:spPr>
          <a:xfrm>
            <a:off x="139700" y="1117600"/>
            <a:ext cx="8851900" cy="4826000"/>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2400" b="1" dirty="0">
                <a:solidFill>
                  <a:srgbClr val="FF0000"/>
                </a:solidFill>
                <a:ea typeface="宋体" panose="02010600030101010101" pitchFamily="2" charset="-122"/>
              </a:rPr>
              <a:t>Princeple</a:t>
            </a:r>
            <a:r>
              <a:rPr lang="zh-CN" altLang="en-US" sz="2400" b="1" dirty="0">
                <a:solidFill>
                  <a:srgbClr val="FF0000"/>
                </a:solidFill>
                <a:ea typeface="宋体" panose="02010600030101010101" pitchFamily="2" charset="-122"/>
              </a:rPr>
              <a:t>：</a:t>
            </a:r>
            <a:r>
              <a:rPr lang="en-US" altLang="zh-CN" sz="2400" dirty="0">
                <a:ea typeface="宋体" panose="02010600030101010101" pitchFamily="2" charset="-122"/>
              </a:rPr>
              <a:t>Each node </a:t>
            </a:r>
            <a:r>
              <a:rPr lang="en-US" altLang="zh-CN" sz="2400" i="1" dirty="0">
                <a:ea typeface="宋体" panose="02010600030101010101" pitchFamily="2" charset="-122"/>
              </a:rPr>
              <a:t>p </a:t>
            </a:r>
            <a:r>
              <a:rPr lang="en-US" altLang="zh-CN" sz="2400" dirty="0">
                <a:ea typeface="宋体" panose="02010600030101010101" pitchFamily="2" charset="-122"/>
              </a:rPr>
              <a:t>maintains a finger table</a:t>
            </a:r>
            <a:r>
              <a:rPr lang="en-US" altLang="zh-CN" sz="2400" b="1" dirty="0">
                <a:ea typeface="宋体" panose="02010600030101010101" pitchFamily="2" charset="-122"/>
              </a:rPr>
              <a:t> </a:t>
            </a:r>
            <a:r>
              <a:rPr lang="en-US" altLang="zh-CN" sz="2400" i="1" dirty="0">
                <a:ea typeface="宋体" panose="02010600030101010101" pitchFamily="2" charset="-122"/>
              </a:rPr>
              <a:t>FT</a:t>
            </a:r>
            <a:r>
              <a:rPr lang="en-US" altLang="zh-CN" sz="2400" i="1" baseline="-25000" dirty="0">
                <a:ea typeface="宋体" panose="02010600030101010101" pitchFamily="2" charset="-122"/>
              </a:rPr>
              <a:t>p</a:t>
            </a:r>
            <a:r>
              <a:rPr lang="en-US" altLang="zh-CN" sz="2400" dirty="0">
                <a:ea typeface="宋体" panose="02010600030101010101" pitchFamily="2" charset="-122"/>
              </a:rPr>
              <a:t>[] with at most </a:t>
            </a:r>
            <a:r>
              <a:rPr lang="en-US" altLang="zh-CN" sz="2400" i="1" dirty="0">
                <a:ea typeface="宋体" panose="02010600030101010101" pitchFamily="2" charset="-122"/>
              </a:rPr>
              <a:t>m </a:t>
            </a:r>
            <a:r>
              <a:rPr lang="en-US" altLang="zh-CN" sz="2400" dirty="0">
                <a:ea typeface="宋体" panose="02010600030101010101" pitchFamily="2" charset="-122"/>
              </a:rPr>
              <a:t>entries:        </a:t>
            </a:r>
            <a:r>
              <a:rPr lang="en-US" altLang="zh-CN" sz="2400" i="1" dirty="0">
                <a:ea typeface="宋体" panose="02010600030101010101" pitchFamily="2" charset="-122"/>
              </a:rPr>
              <a:t>FT</a:t>
            </a:r>
            <a:r>
              <a:rPr lang="en-US" altLang="zh-CN" sz="2400" i="1" baseline="-25000" dirty="0">
                <a:ea typeface="宋体" panose="02010600030101010101" pitchFamily="2" charset="-122"/>
              </a:rPr>
              <a:t>p</a:t>
            </a:r>
            <a:r>
              <a:rPr lang="en-US" altLang="zh-CN" sz="2400" dirty="0">
                <a:ea typeface="宋体" panose="02010600030101010101" pitchFamily="2" charset="-122"/>
              </a:rPr>
              <a:t>[</a:t>
            </a:r>
            <a:r>
              <a:rPr lang="en-US" altLang="zh-CN" sz="2400" i="1" dirty="0">
                <a:ea typeface="宋体" panose="02010600030101010101" pitchFamily="2" charset="-122"/>
              </a:rPr>
              <a:t>i</a:t>
            </a:r>
            <a:r>
              <a:rPr lang="en-US" altLang="zh-CN" sz="2400" dirty="0">
                <a:ea typeface="宋体" panose="02010600030101010101" pitchFamily="2" charset="-122"/>
              </a:rPr>
              <a:t>] = succ(</a:t>
            </a:r>
            <a:r>
              <a:rPr lang="en-US" altLang="zh-CN" sz="2400" i="1" dirty="0">
                <a:ea typeface="宋体" panose="02010600030101010101" pitchFamily="2" charset="-122"/>
              </a:rPr>
              <a:t>p</a:t>
            </a:r>
            <a:r>
              <a:rPr lang="en-US" altLang="zh-CN" sz="2400" dirty="0">
                <a:ea typeface="宋体" panose="02010600030101010101" pitchFamily="2" charset="-122"/>
              </a:rPr>
              <a:t> + 2</a:t>
            </a:r>
            <a:r>
              <a:rPr lang="en-US" altLang="zh-CN" sz="2400" i="1" baseline="30000" dirty="0">
                <a:ea typeface="宋体" panose="02010600030101010101" pitchFamily="2" charset="-122"/>
              </a:rPr>
              <a:t>i</a:t>
            </a:r>
            <a:r>
              <a:rPr lang="en-US" altLang="zh-CN" sz="2400" baseline="30000" dirty="0">
                <a:ea typeface="宋体" panose="02010600030101010101" pitchFamily="2" charset="-122"/>
              </a:rPr>
              <a:t>−1</a:t>
            </a:r>
            <a:r>
              <a:rPr lang="en-US" altLang="zh-CN" sz="2400" dirty="0">
                <a:ea typeface="宋体" panose="02010600030101010101" pitchFamily="2" charset="-122"/>
              </a:rPr>
              <a:t>)</a:t>
            </a:r>
            <a:r>
              <a:rPr lang="zh-CN" altLang="en-US" sz="2400" dirty="0">
                <a:ea typeface="宋体" panose="02010600030101010101" pitchFamily="2" charset="-122"/>
              </a:rPr>
              <a:t>  以</a:t>
            </a:r>
            <a:r>
              <a:rPr lang="en-US" altLang="zh-CN" sz="2400" dirty="0">
                <a:ea typeface="宋体" panose="02010600030101010101" pitchFamily="2" charset="-122"/>
              </a:rPr>
              <a:t>2</a:t>
            </a:r>
            <a:r>
              <a:rPr lang="zh-CN" altLang="en-US" sz="2400" dirty="0">
                <a:ea typeface="宋体" panose="02010600030101010101" pitchFamily="2" charset="-122"/>
              </a:rPr>
              <a:t>为底的指数增长</a:t>
            </a:r>
            <a:endParaRPr lang="en-US" altLang="zh-CN" sz="24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400" dirty="0">
                <a:ea typeface="宋体" panose="02010600030101010101" pitchFamily="2" charset="-122"/>
              </a:rPr>
              <a:t>Note: </a:t>
            </a:r>
            <a:r>
              <a:rPr lang="en-US" altLang="zh-CN" sz="2400" i="1" dirty="0">
                <a:ea typeface="宋体" panose="02010600030101010101" pitchFamily="2" charset="-122"/>
              </a:rPr>
              <a:t>FT</a:t>
            </a:r>
            <a:r>
              <a:rPr lang="en-US" altLang="zh-CN" sz="2400" i="1" baseline="-25000" dirty="0">
                <a:ea typeface="宋体" panose="02010600030101010101" pitchFamily="2" charset="-122"/>
              </a:rPr>
              <a:t>p</a:t>
            </a:r>
            <a:r>
              <a:rPr lang="en-US" altLang="zh-CN" sz="2400" dirty="0">
                <a:ea typeface="宋体" panose="02010600030101010101" pitchFamily="2" charset="-122"/>
              </a:rPr>
              <a:t>[</a:t>
            </a:r>
            <a:r>
              <a:rPr lang="en-US" altLang="zh-CN" sz="2400" i="1" dirty="0">
                <a:ea typeface="宋体" panose="02010600030101010101" pitchFamily="2" charset="-122"/>
              </a:rPr>
              <a:t>i</a:t>
            </a:r>
            <a:r>
              <a:rPr lang="en-US" altLang="zh-CN" sz="2400" dirty="0">
                <a:ea typeface="宋体" panose="02010600030101010101" pitchFamily="2" charset="-122"/>
              </a:rPr>
              <a:t>] points to the first node succeeding </a:t>
            </a:r>
            <a:r>
              <a:rPr lang="en-US" altLang="zh-CN" sz="2400" i="1" dirty="0">
                <a:ea typeface="宋体" panose="02010600030101010101" pitchFamily="2" charset="-122"/>
              </a:rPr>
              <a:t>p </a:t>
            </a:r>
            <a:r>
              <a:rPr lang="en-US" altLang="zh-CN" sz="2400" dirty="0">
                <a:ea typeface="宋体" panose="02010600030101010101" pitchFamily="2" charset="-122"/>
              </a:rPr>
              <a:t>by at least 2</a:t>
            </a:r>
            <a:r>
              <a:rPr lang="en-US" altLang="zh-CN" sz="2400" i="1" baseline="30000" dirty="0">
                <a:ea typeface="宋体" panose="02010600030101010101" pitchFamily="2" charset="-122"/>
              </a:rPr>
              <a:t>i</a:t>
            </a:r>
            <a:r>
              <a:rPr lang="en-US" altLang="zh-CN" sz="2400" baseline="30000" dirty="0">
                <a:ea typeface="宋体" panose="02010600030101010101" pitchFamily="2" charset="-122"/>
              </a:rPr>
              <a:t>−1</a:t>
            </a:r>
            <a:r>
              <a:rPr lang="en-US" altLang="zh-CN" sz="2400" dirty="0">
                <a:ea typeface="宋体" panose="02010600030101010101" pitchFamily="2" charset="-122"/>
              </a:rPr>
              <a:t>.</a:t>
            </a:r>
            <a:endParaRPr lang="en-US" altLang="zh-CN" sz="2400" dirty="0">
              <a:ea typeface="宋体" panose="02010600030101010101" pitchFamily="2" charset="-122"/>
            </a:endParaRPr>
          </a:p>
          <a:p>
            <a:pPr algn="l" eaLnBrk="1" hangingPunct="1">
              <a:lnSpc>
                <a:spcPct val="150000"/>
              </a:lnSpc>
              <a:buNone/>
            </a:pPr>
            <a:r>
              <a:rPr lang="en-US" altLang="zh-CN" sz="2000" dirty="0">
                <a:ea typeface="宋体" panose="02010600030101010101" pitchFamily="2" charset="-122"/>
              </a:rPr>
              <a:t>     (</a:t>
            </a:r>
            <a:r>
              <a:rPr lang="zh-CN" altLang="en-US" sz="2000" dirty="0">
                <a:ea typeface="宋体" panose="02010600030101010101" pitchFamily="2" charset="-122"/>
              </a:rPr>
              <a:t>指向从</a:t>
            </a:r>
            <a:r>
              <a:rPr lang="en-US" altLang="zh-CN" sz="2000" dirty="0">
                <a:ea typeface="宋体" panose="02010600030101010101" pitchFamily="2" charset="-122"/>
              </a:rPr>
              <a:t>2</a:t>
            </a:r>
            <a:r>
              <a:rPr lang="en-US" altLang="zh-CN" sz="2000" i="1" baseline="30000" dirty="0">
                <a:ea typeface="宋体" panose="02010600030101010101" pitchFamily="2" charset="-122"/>
              </a:rPr>
              <a:t>i</a:t>
            </a:r>
            <a:r>
              <a:rPr lang="en-US" altLang="zh-CN" sz="2000" baseline="30000" dirty="0">
                <a:ea typeface="宋体" panose="02010600030101010101" pitchFamily="2" charset="-122"/>
              </a:rPr>
              <a:t>−1</a:t>
            </a:r>
            <a:r>
              <a:rPr lang="zh-CN" altLang="en-US" sz="2000" dirty="0">
                <a:ea typeface="宋体" panose="02010600030101010101" pitchFamily="2" charset="-122"/>
              </a:rPr>
              <a:t>节点开始向后的第一个可用结点</a:t>
            </a:r>
            <a:r>
              <a:rPr lang="en-US" altLang="zh-CN" sz="2000" dirty="0">
                <a:ea typeface="宋体" panose="02010600030101010101" pitchFamily="2" charset="-122"/>
              </a:rPr>
              <a:t>, </a:t>
            </a:r>
            <a:r>
              <a:rPr lang="zh-CN" altLang="en-US" sz="2000" dirty="0">
                <a:ea typeface="宋体" panose="02010600030101010101" pitchFamily="2" charset="-122"/>
              </a:rPr>
              <a:t>有些结点不可用</a:t>
            </a:r>
            <a:r>
              <a:rPr lang="en-US" altLang="zh-CN" sz="2000" dirty="0">
                <a:ea typeface="宋体" panose="02010600030101010101" pitchFamily="2" charset="-122"/>
              </a:rPr>
              <a:t>)</a:t>
            </a:r>
            <a:endParaRPr lang="en-US" altLang="zh-CN" sz="20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400" dirty="0">
                <a:ea typeface="宋体" panose="02010600030101010101" pitchFamily="2" charset="-122"/>
              </a:rPr>
              <a:t>To look up a key </a:t>
            </a:r>
            <a:r>
              <a:rPr lang="en-US" altLang="zh-CN" sz="2400" i="1" dirty="0">
                <a:ea typeface="宋体" panose="02010600030101010101" pitchFamily="2" charset="-122"/>
              </a:rPr>
              <a:t>k</a:t>
            </a:r>
            <a:r>
              <a:rPr lang="en-US" altLang="zh-CN" sz="2400" dirty="0">
                <a:ea typeface="宋体" panose="02010600030101010101" pitchFamily="2" charset="-122"/>
              </a:rPr>
              <a:t>, node </a:t>
            </a:r>
            <a:r>
              <a:rPr lang="en-US" altLang="zh-CN" sz="2400" i="1" dirty="0">
                <a:ea typeface="宋体" panose="02010600030101010101" pitchFamily="2" charset="-122"/>
              </a:rPr>
              <a:t>p </a:t>
            </a:r>
            <a:r>
              <a:rPr lang="en-US" altLang="zh-CN" sz="2400" dirty="0">
                <a:ea typeface="宋体" panose="02010600030101010101" pitchFamily="2" charset="-122"/>
              </a:rPr>
              <a:t>forwards the request to node with index </a:t>
            </a:r>
            <a:r>
              <a:rPr lang="en-US" altLang="zh-CN" sz="2400" i="1" dirty="0">
                <a:ea typeface="宋体" panose="02010600030101010101" pitchFamily="2" charset="-122"/>
              </a:rPr>
              <a:t>j </a:t>
            </a:r>
            <a:r>
              <a:rPr lang="en-US" altLang="zh-CN" sz="2400" dirty="0">
                <a:ea typeface="宋体" panose="02010600030101010101" pitchFamily="2" charset="-122"/>
              </a:rPr>
              <a:t>satisfying</a:t>
            </a:r>
            <a:r>
              <a:rPr lang="en-US" altLang="zh-CN" sz="2000" dirty="0">
                <a:ea typeface="宋体" panose="02010600030101010101" pitchFamily="2" charset="-122"/>
              </a:rPr>
              <a:t>(</a:t>
            </a:r>
            <a:r>
              <a:rPr lang="zh-CN" altLang="en-US" sz="2000" dirty="0">
                <a:ea typeface="宋体" panose="02010600030101010101" pitchFamily="2" charset="-122"/>
              </a:rPr>
              <a:t>为查找</a:t>
            </a:r>
            <a:r>
              <a:rPr lang="en-US" altLang="zh-CN" sz="2000" dirty="0">
                <a:ea typeface="宋体" panose="02010600030101010101" pitchFamily="2" charset="-122"/>
              </a:rPr>
              <a:t>k</a:t>
            </a:r>
            <a:r>
              <a:rPr lang="zh-CN" altLang="en-US" sz="2000" dirty="0">
                <a:ea typeface="宋体" panose="02010600030101010101" pitchFamily="2" charset="-122"/>
              </a:rPr>
              <a:t>，结点</a:t>
            </a:r>
            <a:r>
              <a:rPr lang="en-US" altLang="zh-CN" sz="2000" dirty="0">
                <a:ea typeface="宋体" panose="02010600030101010101" pitchFamily="2" charset="-122"/>
              </a:rPr>
              <a:t>p</a:t>
            </a:r>
            <a:r>
              <a:rPr lang="zh-CN" altLang="en-US" sz="2000" dirty="0">
                <a:ea typeface="宋体" panose="02010600030101010101" pitchFamily="2" charset="-122"/>
              </a:rPr>
              <a:t>将请求转发给索引为</a:t>
            </a:r>
            <a:r>
              <a:rPr lang="en-US" altLang="zh-CN" sz="2000" dirty="0">
                <a:ea typeface="宋体" panose="02010600030101010101" pitchFamily="2" charset="-122"/>
              </a:rPr>
              <a:t>j</a:t>
            </a:r>
            <a:r>
              <a:rPr lang="zh-CN" altLang="en-US" sz="2000" dirty="0">
                <a:ea typeface="宋体" panose="02010600030101010101" pitchFamily="2" charset="-122"/>
              </a:rPr>
              <a:t>的结点</a:t>
            </a:r>
            <a:r>
              <a:rPr lang="en-US" altLang="zh-CN" sz="2000" dirty="0">
                <a:ea typeface="宋体" panose="02010600030101010101" pitchFamily="2" charset="-122"/>
              </a:rPr>
              <a:t>,</a:t>
            </a:r>
            <a:r>
              <a:rPr lang="zh-CN" altLang="en-US" sz="2000" dirty="0">
                <a:ea typeface="宋体" panose="02010600030101010101" pitchFamily="2" charset="-122"/>
              </a:rPr>
              <a:t>且满足）</a:t>
            </a:r>
            <a:endParaRPr lang="en-US" altLang="zh-CN" sz="2000" dirty="0">
              <a:ea typeface="宋体" panose="02010600030101010101" pitchFamily="2" charset="-122"/>
            </a:endParaRPr>
          </a:p>
          <a:p>
            <a:pPr algn="l" eaLnBrk="1" hangingPunct="1">
              <a:lnSpc>
                <a:spcPct val="150000"/>
              </a:lnSpc>
              <a:buNone/>
            </a:pPr>
            <a:r>
              <a:rPr lang="en-US" altLang="zh-CN" sz="2400" i="1" dirty="0">
                <a:ea typeface="宋体" panose="02010600030101010101" pitchFamily="2" charset="-122"/>
              </a:rPr>
              <a:t>                               q</a:t>
            </a:r>
            <a:r>
              <a:rPr lang="en-US" altLang="zh-CN" sz="2400" dirty="0">
                <a:ea typeface="宋体" panose="02010600030101010101" pitchFamily="2" charset="-122"/>
              </a:rPr>
              <a:t> = </a:t>
            </a:r>
            <a:r>
              <a:rPr lang="en-US" altLang="zh-CN" sz="2400" i="1" dirty="0">
                <a:ea typeface="宋体" panose="02010600030101010101" pitchFamily="2" charset="-122"/>
              </a:rPr>
              <a:t>FT</a:t>
            </a:r>
            <a:r>
              <a:rPr lang="en-US" altLang="zh-CN" sz="2400" i="1" baseline="-25000" dirty="0">
                <a:ea typeface="宋体" panose="02010600030101010101" pitchFamily="2" charset="-122"/>
              </a:rPr>
              <a:t>p</a:t>
            </a:r>
            <a:r>
              <a:rPr lang="en-US" altLang="zh-CN" sz="2400" dirty="0">
                <a:ea typeface="宋体" panose="02010600030101010101" pitchFamily="2" charset="-122"/>
              </a:rPr>
              <a:t>[</a:t>
            </a:r>
            <a:r>
              <a:rPr lang="en-US" altLang="zh-CN" sz="2400" i="1" dirty="0">
                <a:ea typeface="宋体" panose="02010600030101010101" pitchFamily="2" charset="-122"/>
              </a:rPr>
              <a:t>j</a:t>
            </a:r>
            <a:r>
              <a:rPr lang="en-US" altLang="zh-CN" sz="2400" dirty="0">
                <a:ea typeface="宋体" panose="02010600030101010101" pitchFamily="2" charset="-122"/>
              </a:rPr>
              <a:t>] ≤</a:t>
            </a:r>
            <a:r>
              <a:rPr lang="en-US" altLang="zh-CN" sz="2400" i="1" dirty="0">
                <a:ea typeface="宋体" panose="02010600030101010101" pitchFamily="2" charset="-122"/>
              </a:rPr>
              <a:t>k</a:t>
            </a:r>
            <a:r>
              <a:rPr lang="en-US" altLang="zh-CN" sz="2400" dirty="0">
                <a:ea typeface="宋体" panose="02010600030101010101" pitchFamily="2" charset="-122"/>
              </a:rPr>
              <a:t> &lt; FT</a:t>
            </a:r>
            <a:r>
              <a:rPr lang="en-US" altLang="zh-CN" sz="2400" baseline="-25000" dirty="0">
                <a:ea typeface="宋体" panose="02010600030101010101" pitchFamily="2" charset="-122"/>
              </a:rPr>
              <a:t>p</a:t>
            </a:r>
            <a:r>
              <a:rPr lang="en-US" altLang="zh-CN" sz="2400" dirty="0">
                <a:ea typeface="宋体" panose="02010600030101010101" pitchFamily="2" charset="-122"/>
              </a:rPr>
              <a:t>[</a:t>
            </a:r>
            <a:r>
              <a:rPr lang="en-US" altLang="zh-CN" sz="2400" i="1" dirty="0">
                <a:ea typeface="宋体" panose="02010600030101010101" pitchFamily="2" charset="-122"/>
              </a:rPr>
              <a:t>j</a:t>
            </a:r>
            <a:r>
              <a:rPr lang="en-US" altLang="zh-CN" sz="2400" dirty="0">
                <a:ea typeface="宋体" panose="02010600030101010101" pitchFamily="2" charset="-122"/>
              </a:rPr>
              <a:t> + 1] </a:t>
            </a:r>
            <a:r>
              <a:rPr lang="zh-CN" altLang="en-US" sz="2400" dirty="0">
                <a:solidFill>
                  <a:srgbClr val="FF0000"/>
                </a:solidFill>
                <a:ea typeface="宋体" panose="02010600030101010101" pitchFamily="2" charset="-122"/>
              </a:rPr>
              <a:t>（快速确定范围）</a:t>
            </a:r>
            <a:endParaRPr lang="en-US" altLang="zh-CN" sz="2400" dirty="0">
              <a:solidFill>
                <a:srgbClr val="FF0000"/>
              </a:solidFill>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400" dirty="0">
                <a:ea typeface="宋体" panose="02010600030101010101" pitchFamily="2" charset="-122"/>
              </a:rPr>
              <a:t>If </a:t>
            </a:r>
            <a:r>
              <a:rPr lang="en-US" altLang="zh-CN" sz="2400" i="1" dirty="0">
                <a:ea typeface="宋体" panose="02010600030101010101" pitchFamily="2" charset="-122"/>
              </a:rPr>
              <a:t>p </a:t>
            </a:r>
            <a:r>
              <a:rPr lang="en-US" altLang="zh-CN" sz="2400" dirty="0">
                <a:ea typeface="宋体" panose="02010600030101010101" pitchFamily="2" charset="-122"/>
              </a:rPr>
              <a:t>&lt; </a:t>
            </a:r>
            <a:r>
              <a:rPr lang="en-US" altLang="zh-CN" sz="2400" i="1" dirty="0">
                <a:ea typeface="宋体" panose="02010600030101010101" pitchFamily="2" charset="-122"/>
              </a:rPr>
              <a:t>k </a:t>
            </a:r>
            <a:r>
              <a:rPr lang="en-US" altLang="zh-CN" sz="2400" dirty="0">
                <a:ea typeface="宋体" panose="02010600030101010101" pitchFamily="2" charset="-122"/>
              </a:rPr>
              <a:t>&lt; </a:t>
            </a:r>
            <a:r>
              <a:rPr lang="en-US" altLang="zh-CN" sz="2400" i="1" dirty="0">
                <a:ea typeface="宋体" panose="02010600030101010101" pitchFamily="2" charset="-122"/>
              </a:rPr>
              <a:t>FT</a:t>
            </a:r>
            <a:r>
              <a:rPr lang="en-US" altLang="zh-CN" sz="2400" i="1" baseline="-25000" dirty="0">
                <a:ea typeface="宋体" panose="02010600030101010101" pitchFamily="2" charset="-122"/>
              </a:rPr>
              <a:t>p</a:t>
            </a:r>
            <a:r>
              <a:rPr lang="en-US" altLang="zh-CN" sz="2400" dirty="0">
                <a:ea typeface="宋体" panose="02010600030101010101" pitchFamily="2" charset="-122"/>
              </a:rPr>
              <a:t>[1], the request is also forwarded to </a:t>
            </a:r>
            <a:r>
              <a:rPr lang="en-US" altLang="zh-CN" sz="2400" i="1" dirty="0">
                <a:ea typeface="宋体" panose="02010600030101010101" pitchFamily="2" charset="-122"/>
              </a:rPr>
              <a:t>FT</a:t>
            </a:r>
            <a:r>
              <a:rPr lang="en-US" altLang="zh-CN" sz="2400" i="1" baseline="-25000" dirty="0">
                <a:ea typeface="宋体" panose="02010600030101010101" pitchFamily="2" charset="-122"/>
              </a:rPr>
              <a:t>p</a:t>
            </a:r>
            <a:r>
              <a:rPr lang="en-US" altLang="zh-CN" sz="2400" dirty="0">
                <a:ea typeface="宋体" panose="02010600030101010101" pitchFamily="2" charset="-122"/>
              </a:rPr>
              <a:t>[1]</a:t>
            </a:r>
            <a:endParaRPr lang="en-US" altLang="zh-CN" sz="2400" dirty="0">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a:xfrm>
            <a:off x="1587500" y="165100"/>
            <a:ext cx="5791200" cy="468313"/>
          </a:xfrm>
        </p:spPr>
        <p:txBody>
          <a:bodyPr vert="horz" wrap="square" lIns="91440" tIns="45720" rIns="91440" bIns="45720" anchor="ctr" anchorCtr="0"/>
          <a:lstStyle/>
          <a:p>
            <a:pPr eaLnBrk="1" hangingPunct="1"/>
            <a:r>
              <a:rPr lang="en-US" altLang="zh-CN" sz="4000" dirty="0">
                <a:ea typeface="宋体" panose="02010600030101010101" pitchFamily="2" charset="-122"/>
              </a:rPr>
              <a:t>DHTs: Finger Tables (2)</a:t>
            </a:r>
            <a:endParaRPr lang="zh-CN" altLang="en-US" sz="4000" dirty="0">
              <a:ea typeface="宋体" panose="02010600030101010101" pitchFamily="2" charset="-122"/>
            </a:endParaRPr>
          </a:p>
        </p:txBody>
      </p:sp>
      <p:pic>
        <p:nvPicPr>
          <p:cNvPr id="51203" name="Picture 3"/>
          <p:cNvPicPr>
            <a:picLocks noChangeAspect="1"/>
          </p:cNvPicPr>
          <p:nvPr/>
        </p:nvPicPr>
        <p:blipFill>
          <a:blip r:embed="rId1"/>
          <a:stretch>
            <a:fillRect/>
          </a:stretch>
        </p:blipFill>
        <p:spPr>
          <a:xfrm>
            <a:off x="3098800" y="819150"/>
            <a:ext cx="5829300" cy="5873750"/>
          </a:xfrm>
          <a:prstGeom prst="rect">
            <a:avLst/>
          </a:prstGeom>
          <a:noFill/>
          <a:ln w="9525">
            <a:noFill/>
          </a:ln>
        </p:spPr>
      </p:pic>
      <p:sp>
        <p:nvSpPr>
          <p:cNvPr id="51204" name="Rectangle 3"/>
          <p:cNvSpPr txBox="1"/>
          <p:nvPr/>
        </p:nvSpPr>
        <p:spPr>
          <a:xfrm>
            <a:off x="0" y="774700"/>
            <a:ext cx="3162300" cy="5994400"/>
          </a:xfrm>
          <a:prstGeom prst="rect">
            <a:avLst/>
          </a:prstGeom>
          <a:noFill/>
          <a:ln w="9525">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342900" lvl="0" indent="-342900" algn="l" eaLnBrk="1" hangingPunct="1">
              <a:lnSpc>
                <a:spcPct val="150000"/>
              </a:lnSpc>
              <a:buFont typeface="Wingdings" panose="05000000000000000000" pitchFamily="2" charset="2"/>
              <a:buChar char="u"/>
            </a:pPr>
            <a:r>
              <a:rPr lang="zh-CN" altLang="en-US" sz="1600" b="1" dirty="0">
                <a:ea typeface="宋体" panose="02010600030101010101" pitchFamily="2" charset="-122"/>
              </a:rPr>
              <a:t>由</a:t>
            </a:r>
            <a:r>
              <a:rPr lang="en-US" altLang="zh-CN" sz="1600" b="1" dirty="0">
                <a:ea typeface="宋体" panose="02010600030101010101" pitchFamily="2" charset="-122"/>
              </a:rPr>
              <a:t>32</a:t>
            </a:r>
            <a:r>
              <a:rPr lang="zh-CN" altLang="en-US" sz="1600" b="1" dirty="0">
                <a:ea typeface="宋体" panose="02010600030101010101" pitchFamily="2" charset="-122"/>
              </a:rPr>
              <a:t>个结点组成的名空间，</a:t>
            </a:r>
            <a:r>
              <a:rPr lang="en-US" altLang="zh-CN" sz="1600" b="1" dirty="0">
                <a:ea typeface="宋体" panose="02010600030101010101" pitchFamily="2" charset="-122"/>
              </a:rPr>
              <a:t>32=2</a:t>
            </a:r>
            <a:r>
              <a:rPr lang="en-US" altLang="zh-CN" sz="1600" b="1" baseline="30000" dirty="0">
                <a:ea typeface="宋体" panose="02010600030101010101" pitchFamily="2" charset="-122"/>
              </a:rPr>
              <a:t>5 </a:t>
            </a:r>
            <a:r>
              <a:rPr lang="zh-CN" altLang="en-US" sz="1600" b="1" dirty="0">
                <a:ea typeface="宋体" panose="02010600030101010101" pitchFamily="2" charset="-122"/>
              </a:rPr>
              <a:t>，表长度</a:t>
            </a:r>
            <a:r>
              <a:rPr lang="en-US" altLang="zh-CN" sz="1600" b="1" dirty="0">
                <a:ea typeface="宋体" panose="02010600030101010101" pitchFamily="2" charset="-122"/>
              </a:rPr>
              <a:t>m=5</a:t>
            </a:r>
            <a:r>
              <a:rPr lang="zh-CN" altLang="en-US" sz="1600" b="1" dirty="0">
                <a:ea typeface="宋体" panose="02010600030101010101" pitchFamily="2" charset="-122"/>
              </a:rPr>
              <a:t>，</a:t>
            </a:r>
            <a:r>
              <a:rPr lang="en-US" altLang="zh-CN" sz="1600" b="1" i="1" dirty="0">
                <a:ea typeface="宋体" panose="02010600030101010101" pitchFamily="2" charset="-122"/>
              </a:rPr>
              <a:t>FT</a:t>
            </a:r>
            <a:r>
              <a:rPr lang="en-US" altLang="zh-CN" sz="1600" b="1" i="1" baseline="-25000" dirty="0">
                <a:ea typeface="宋体" panose="02010600030101010101" pitchFamily="2" charset="-122"/>
              </a:rPr>
              <a:t>p</a:t>
            </a:r>
            <a:r>
              <a:rPr lang="en-US" altLang="zh-CN" sz="1600" b="1" dirty="0">
                <a:ea typeface="宋体" panose="02010600030101010101" pitchFamily="2" charset="-122"/>
              </a:rPr>
              <a:t>[</a:t>
            </a:r>
            <a:r>
              <a:rPr lang="en-US" altLang="zh-CN" sz="1600" b="1" i="1" dirty="0">
                <a:ea typeface="宋体" panose="02010600030101010101" pitchFamily="2" charset="-122"/>
              </a:rPr>
              <a:t>i</a:t>
            </a:r>
            <a:r>
              <a:rPr lang="en-US" altLang="zh-CN" sz="1600" b="1" dirty="0">
                <a:ea typeface="宋体" panose="02010600030101010101" pitchFamily="2" charset="-122"/>
              </a:rPr>
              <a:t>]</a:t>
            </a:r>
            <a:r>
              <a:rPr lang="zh-CN" altLang="en-US" sz="1600" b="1" dirty="0">
                <a:ea typeface="宋体" panose="02010600030101010101" pitchFamily="2" charset="-122"/>
              </a:rPr>
              <a:t>项指向从</a:t>
            </a:r>
            <a:r>
              <a:rPr lang="en-US" altLang="zh-CN" sz="1600" b="1" dirty="0">
                <a:ea typeface="宋体" panose="02010600030101010101" pitchFamily="2" charset="-122"/>
              </a:rPr>
              <a:t>2</a:t>
            </a:r>
            <a:r>
              <a:rPr lang="en-US" altLang="zh-CN" sz="1600" b="1" baseline="30000" dirty="0">
                <a:ea typeface="宋体" panose="02010600030101010101" pitchFamily="2" charset="-122"/>
              </a:rPr>
              <a:t>i−1</a:t>
            </a:r>
            <a:r>
              <a:rPr lang="zh-CN" altLang="en-US" sz="1600" b="1" dirty="0">
                <a:ea typeface="宋体" panose="02010600030101010101" pitchFamily="2" charset="-122"/>
              </a:rPr>
              <a:t>节点开始向后的第一个可用结点。节点</a:t>
            </a:r>
            <a:r>
              <a:rPr lang="en-US" altLang="zh-CN" sz="1600" b="1" dirty="0">
                <a:ea typeface="宋体" panose="02010600030101010101" pitchFamily="2" charset="-122"/>
              </a:rPr>
              <a:t>4</a:t>
            </a:r>
            <a:r>
              <a:rPr lang="zh-CN" altLang="en-US" sz="1600" b="1" dirty="0">
                <a:ea typeface="宋体" panose="02010600030101010101" pitchFamily="2" charset="-122"/>
              </a:rPr>
              <a:t>为例后续可用节点为</a:t>
            </a:r>
            <a:r>
              <a:rPr lang="en-US" altLang="zh-CN" sz="1600" b="1" dirty="0">
                <a:ea typeface="宋体" panose="02010600030101010101" pitchFamily="2" charset="-122"/>
              </a:rPr>
              <a:t>9:</a:t>
            </a:r>
            <a:endParaRPr lang="en-US" altLang="zh-CN" sz="1600" b="1" dirty="0">
              <a:ea typeface="宋体" panose="02010600030101010101" pitchFamily="2" charset="-122"/>
            </a:endParaRPr>
          </a:p>
          <a:p>
            <a:pPr marL="342900" lvl="0" indent="-342900" algn="l" eaLnBrk="1" hangingPunct="1">
              <a:lnSpc>
                <a:spcPct val="150000"/>
              </a:lnSpc>
              <a:buNone/>
            </a:pPr>
            <a:r>
              <a:rPr lang="en-US" altLang="zh-CN" sz="1400" b="1" dirty="0">
                <a:ea typeface="宋体" panose="02010600030101010101" pitchFamily="2" charset="-122"/>
              </a:rPr>
              <a:t>         </a:t>
            </a:r>
            <a:r>
              <a:rPr lang="en-US" altLang="zh-CN" sz="1600" b="1" i="1" dirty="0">
                <a:ea typeface="宋体" panose="02010600030101010101" pitchFamily="2" charset="-122"/>
              </a:rPr>
              <a:t>FT</a:t>
            </a:r>
            <a:r>
              <a:rPr lang="en-US" altLang="zh-CN" sz="1600" b="1" i="1" baseline="-25000" dirty="0">
                <a:ea typeface="宋体" panose="02010600030101010101" pitchFamily="2" charset="-122"/>
              </a:rPr>
              <a:t>4</a:t>
            </a:r>
            <a:r>
              <a:rPr lang="en-US" altLang="zh-CN" sz="1600" b="1" dirty="0">
                <a:ea typeface="宋体" panose="02010600030101010101" pitchFamily="2" charset="-122"/>
              </a:rPr>
              <a:t>[1] = 4+ 2</a:t>
            </a:r>
            <a:r>
              <a:rPr lang="en-US" altLang="zh-CN" sz="1600" b="1" i="1" baseline="30000" dirty="0">
                <a:ea typeface="宋体" panose="02010600030101010101" pitchFamily="2" charset="-122"/>
              </a:rPr>
              <a:t>1</a:t>
            </a:r>
            <a:r>
              <a:rPr lang="en-US" altLang="zh-CN" sz="1600" b="1" baseline="30000" dirty="0">
                <a:ea typeface="宋体" panose="02010600030101010101" pitchFamily="2" charset="-122"/>
              </a:rPr>
              <a:t>−1 </a:t>
            </a:r>
            <a:r>
              <a:rPr lang="en-US" altLang="zh-CN" sz="1600" b="1" dirty="0">
                <a:ea typeface="宋体" panose="02010600030101010101" pitchFamily="2" charset="-122"/>
              </a:rPr>
              <a:t>= 9</a:t>
            </a:r>
            <a:r>
              <a:rPr lang="zh-CN" altLang="en-US" sz="1600" b="1" dirty="0">
                <a:ea typeface="宋体" panose="02010600030101010101" pitchFamily="2" charset="-122"/>
              </a:rPr>
              <a:t>（</a:t>
            </a:r>
            <a:r>
              <a:rPr lang="en-US" altLang="zh-CN" sz="1600" b="1" dirty="0">
                <a:solidFill>
                  <a:srgbClr val="FF0000"/>
                </a:solidFill>
                <a:ea typeface="宋体" panose="02010600030101010101" pitchFamily="2" charset="-122"/>
              </a:rPr>
              <a:t>5</a:t>
            </a:r>
            <a:r>
              <a:rPr lang="zh-CN" altLang="en-US" sz="1600" b="1" dirty="0">
                <a:ea typeface="宋体" panose="02010600030101010101" pitchFamily="2" charset="-122"/>
              </a:rPr>
              <a:t>）</a:t>
            </a:r>
            <a:endParaRPr lang="en-US" altLang="zh-CN" sz="1600" b="1" dirty="0">
              <a:ea typeface="宋体" panose="02010600030101010101" pitchFamily="2" charset="-122"/>
            </a:endParaRPr>
          </a:p>
          <a:p>
            <a:pPr marL="342900" lvl="0" indent="-342900" algn="l" eaLnBrk="1" hangingPunct="1">
              <a:lnSpc>
                <a:spcPct val="150000"/>
              </a:lnSpc>
              <a:buNone/>
            </a:pPr>
            <a:r>
              <a:rPr lang="en-US" altLang="zh-CN" sz="1600" b="1" i="1" dirty="0">
                <a:ea typeface="宋体" panose="02010600030101010101" pitchFamily="2" charset="-122"/>
              </a:rPr>
              <a:t>        FT</a:t>
            </a:r>
            <a:r>
              <a:rPr lang="en-US" altLang="zh-CN" sz="1600" b="1" i="1" baseline="-25000" dirty="0">
                <a:ea typeface="宋体" panose="02010600030101010101" pitchFamily="2" charset="-122"/>
              </a:rPr>
              <a:t>4</a:t>
            </a:r>
            <a:r>
              <a:rPr lang="en-US" altLang="zh-CN" sz="1600" b="1" dirty="0">
                <a:ea typeface="宋体" panose="02010600030101010101" pitchFamily="2" charset="-122"/>
              </a:rPr>
              <a:t>[2] = 4+ 2</a:t>
            </a:r>
            <a:r>
              <a:rPr lang="en-US" altLang="zh-CN" sz="1600" b="1" i="1" baseline="30000" dirty="0">
                <a:ea typeface="宋体" panose="02010600030101010101" pitchFamily="2" charset="-122"/>
              </a:rPr>
              <a:t>2</a:t>
            </a:r>
            <a:r>
              <a:rPr lang="en-US" altLang="zh-CN" sz="1600" b="1" baseline="30000" dirty="0">
                <a:ea typeface="宋体" panose="02010600030101010101" pitchFamily="2" charset="-122"/>
              </a:rPr>
              <a:t>−1 </a:t>
            </a:r>
            <a:r>
              <a:rPr lang="en-US" altLang="zh-CN" sz="1600" b="1" dirty="0">
                <a:ea typeface="宋体" panose="02010600030101010101" pitchFamily="2" charset="-122"/>
              </a:rPr>
              <a:t>= 9</a:t>
            </a:r>
            <a:r>
              <a:rPr lang="zh-CN" altLang="en-US" sz="1600" b="1" dirty="0">
                <a:ea typeface="宋体" panose="02010600030101010101" pitchFamily="2" charset="-122"/>
              </a:rPr>
              <a:t>（</a:t>
            </a:r>
            <a:r>
              <a:rPr lang="en-US" altLang="zh-CN" sz="1600" b="1" dirty="0">
                <a:solidFill>
                  <a:srgbClr val="FF0000"/>
                </a:solidFill>
                <a:ea typeface="宋体" panose="02010600030101010101" pitchFamily="2" charset="-122"/>
              </a:rPr>
              <a:t>6</a:t>
            </a:r>
            <a:r>
              <a:rPr lang="zh-CN" altLang="en-US" sz="1600" b="1" dirty="0">
                <a:ea typeface="宋体" panose="02010600030101010101" pitchFamily="2" charset="-122"/>
              </a:rPr>
              <a:t>）</a:t>
            </a:r>
            <a:endParaRPr lang="en-US" altLang="zh-CN" sz="1600" b="1" dirty="0">
              <a:ea typeface="宋体" panose="02010600030101010101" pitchFamily="2" charset="-122"/>
            </a:endParaRPr>
          </a:p>
          <a:p>
            <a:pPr marL="342900" lvl="0" indent="-342900" algn="l" eaLnBrk="1" hangingPunct="1">
              <a:lnSpc>
                <a:spcPct val="150000"/>
              </a:lnSpc>
              <a:buNone/>
            </a:pPr>
            <a:r>
              <a:rPr lang="en-US" altLang="zh-CN" sz="1600" b="1" i="1" dirty="0">
                <a:ea typeface="宋体" panose="02010600030101010101" pitchFamily="2" charset="-122"/>
              </a:rPr>
              <a:t>        FT</a:t>
            </a:r>
            <a:r>
              <a:rPr lang="en-US" altLang="zh-CN" sz="1600" b="1" i="1" baseline="-25000" dirty="0">
                <a:ea typeface="宋体" panose="02010600030101010101" pitchFamily="2" charset="-122"/>
              </a:rPr>
              <a:t>4</a:t>
            </a:r>
            <a:r>
              <a:rPr lang="en-US" altLang="zh-CN" sz="1600" b="1" dirty="0">
                <a:ea typeface="宋体" panose="02010600030101010101" pitchFamily="2" charset="-122"/>
              </a:rPr>
              <a:t>[3] = 4+ 2</a:t>
            </a:r>
            <a:r>
              <a:rPr lang="en-US" altLang="zh-CN" sz="1600" b="1" i="1" baseline="30000" dirty="0">
                <a:ea typeface="宋体" panose="02010600030101010101" pitchFamily="2" charset="-122"/>
              </a:rPr>
              <a:t>3</a:t>
            </a:r>
            <a:r>
              <a:rPr lang="en-US" altLang="zh-CN" sz="1600" b="1" baseline="30000" dirty="0">
                <a:ea typeface="宋体" panose="02010600030101010101" pitchFamily="2" charset="-122"/>
              </a:rPr>
              <a:t>−1 </a:t>
            </a:r>
            <a:r>
              <a:rPr lang="en-US" altLang="zh-CN" sz="1600" b="1" dirty="0">
                <a:ea typeface="宋体" panose="02010600030101010101" pitchFamily="2" charset="-122"/>
              </a:rPr>
              <a:t>= 9</a:t>
            </a:r>
            <a:r>
              <a:rPr lang="zh-CN" altLang="en-US" sz="1600" b="1" dirty="0">
                <a:ea typeface="宋体" panose="02010600030101010101" pitchFamily="2" charset="-122"/>
              </a:rPr>
              <a:t> （</a:t>
            </a:r>
            <a:r>
              <a:rPr lang="en-US" altLang="zh-CN" sz="1600" b="1" dirty="0">
                <a:solidFill>
                  <a:srgbClr val="FF0000"/>
                </a:solidFill>
                <a:ea typeface="宋体" panose="02010600030101010101" pitchFamily="2" charset="-122"/>
              </a:rPr>
              <a:t>8</a:t>
            </a:r>
            <a:r>
              <a:rPr lang="zh-CN" altLang="en-US" sz="1600" b="1" dirty="0">
                <a:ea typeface="宋体" panose="02010600030101010101" pitchFamily="2" charset="-122"/>
              </a:rPr>
              <a:t>）</a:t>
            </a:r>
            <a:endParaRPr lang="en-US" altLang="zh-CN" sz="1600" b="1" dirty="0">
              <a:ea typeface="宋体" panose="02010600030101010101" pitchFamily="2" charset="-122"/>
            </a:endParaRPr>
          </a:p>
          <a:p>
            <a:pPr marL="342900" lvl="0" indent="-342900" algn="l" eaLnBrk="1" hangingPunct="1">
              <a:lnSpc>
                <a:spcPct val="150000"/>
              </a:lnSpc>
              <a:buNone/>
            </a:pPr>
            <a:r>
              <a:rPr lang="en-US" altLang="zh-CN" sz="1600" b="1" i="1" dirty="0">
                <a:ea typeface="宋体" panose="02010600030101010101" pitchFamily="2" charset="-122"/>
              </a:rPr>
              <a:t>        FT</a:t>
            </a:r>
            <a:r>
              <a:rPr lang="en-US" altLang="zh-CN" sz="1600" b="1" i="1" baseline="-25000" dirty="0">
                <a:ea typeface="宋体" panose="02010600030101010101" pitchFamily="2" charset="-122"/>
              </a:rPr>
              <a:t>4</a:t>
            </a:r>
            <a:r>
              <a:rPr lang="en-US" altLang="zh-CN" sz="1600" b="1" dirty="0">
                <a:ea typeface="宋体" panose="02010600030101010101" pitchFamily="2" charset="-122"/>
              </a:rPr>
              <a:t>[4] = 4+ 2</a:t>
            </a:r>
            <a:r>
              <a:rPr lang="en-US" altLang="zh-CN" sz="1600" b="1" i="1" baseline="30000" dirty="0">
                <a:ea typeface="宋体" panose="02010600030101010101" pitchFamily="2" charset="-122"/>
              </a:rPr>
              <a:t>4</a:t>
            </a:r>
            <a:r>
              <a:rPr lang="en-US" altLang="zh-CN" sz="1600" b="1" baseline="30000" dirty="0">
                <a:ea typeface="宋体" panose="02010600030101010101" pitchFamily="2" charset="-122"/>
              </a:rPr>
              <a:t>−1 </a:t>
            </a:r>
            <a:r>
              <a:rPr lang="en-US" altLang="zh-CN" sz="1600" b="1" dirty="0">
                <a:ea typeface="宋体" panose="02010600030101010101" pitchFamily="2" charset="-122"/>
              </a:rPr>
              <a:t>=14</a:t>
            </a:r>
            <a:r>
              <a:rPr lang="zh-CN" altLang="en-US" sz="1600" b="1" dirty="0">
                <a:ea typeface="宋体" panose="02010600030101010101" pitchFamily="2" charset="-122"/>
              </a:rPr>
              <a:t>（</a:t>
            </a:r>
            <a:r>
              <a:rPr lang="en-US" altLang="zh-CN" sz="1600" b="1" dirty="0">
                <a:solidFill>
                  <a:srgbClr val="FF0000"/>
                </a:solidFill>
                <a:ea typeface="宋体" panose="02010600030101010101" pitchFamily="2" charset="-122"/>
              </a:rPr>
              <a:t>12</a:t>
            </a:r>
            <a:r>
              <a:rPr lang="zh-CN" altLang="en-US" sz="1600" b="1" dirty="0">
                <a:ea typeface="宋体" panose="02010600030101010101" pitchFamily="2" charset="-122"/>
              </a:rPr>
              <a:t>）</a:t>
            </a:r>
            <a:endParaRPr lang="en-US" altLang="zh-CN" sz="1600" b="1" dirty="0">
              <a:ea typeface="宋体" panose="02010600030101010101" pitchFamily="2" charset="-122"/>
            </a:endParaRPr>
          </a:p>
          <a:p>
            <a:pPr marL="342900" lvl="0" indent="-342900" algn="l" eaLnBrk="1" hangingPunct="1">
              <a:lnSpc>
                <a:spcPct val="150000"/>
              </a:lnSpc>
              <a:buNone/>
            </a:pPr>
            <a:r>
              <a:rPr lang="en-US" altLang="zh-CN" sz="1600" b="1" i="1" dirty="0">
                <a:ea typeface="宋体" panose="02010600030101010101" pitchFamily="2" charset="-122"/>
              </a:rPr>
              <a:t>        FT</a:t>
            </a:r>
            <a:r>
              <a:rPr lang="en-US" altLang="zh-CN" sz="1600" b="1" i="1" baseline="-25000" dirty="0">
                <a:ea typeface="宋体" panose="02010600030101010101" pitchFamily="2" charset="-122"/>
              </a:rPr>
              <a:t>4</a:t>
            </a:r>
            <a:r>
              <a:rPr lang="en-US" altLang="zh-CN" sz="1600" b="1" dirty="0">
                <a:ea typeface="宋体" panose="02010600030101010101" pitchFamily="2" charset="-122"/>
              </a:rPr>
              <a:t>[5] = 4+ 2</a:t>
            </a:r>
            <a:r>
              <a:rPr lang="en-US" altLang="zh-CN" sz="1600" b="1" i="1" baseline="30000" dirty="0">
                <a:ea typeface="宋体" panose="02010600030101010101" pitchFamily="2" charset="-122"/>
              </a:rPr>
              <a:t>5</a:t>
            </a:r>
            <a:r>
              <a:rPr lang="en-US" altLang="zh-CN" sz="1600" b="1" baseline="30000" dirty="0">
                <a:ea typeface="宋体" panose="02010600030101010101" pitchFamily="2" charset="-122"/>
              </a:rPr>
              <a:t>−1 </a:t>
            </a:r>
            <a:r>
              <a:rPr lang="en-US" altLang="zh-CN" sz="1600" b="1" dirty="0">
                <a:ea typeface="宋体" panose="02010600030101010101" pitchFamily="2" charset="-122"/>
              </a:rPr>
              <a:t>=20</a:t>
            </a:r>
            <a:r>
              <a:rPr lang="zh-CN" altLang="en-US" sz="1600" b="1" dirty="0">
                <a:ea typeface="宋体" panose="02010600030101010101" pitchFamily="2" charset="-122"/>
              </a:rPr>
              <a:t> （</a:t>
            </a:r>
            <a:r>
              <a:rPr lang="en-US" altLang="zh-CN" sz="1600" b="1" dirty="0">
                <a:solidFill>
                  <a:srgbClr val="FF0000"/>
                </a:solidFill>
                <a:ea typeface="宋体" panose="02010600030101010101" pitchFamily="2" charset="-122"/>
              </a:rPr>
              <a:t>20</a:t>
            </a:r>
            <a:r>
              <a:rPr lang="zh-CN" altLang="en-US" sz="1600" b="1" dirty="0">
                <a:ea typeface="宋体" panose="02010600030101010101" pitchFamily="2" charset="-122"/>
              </a:rPr>
              <a:t>）</a:t>
            </a:r>
            <a:endParaRPr lang="en-US" altLang="zh-CN" sz="1600" b="1" dirty="0">
              <a:ea typeface="宋体" panose="02010600030101010101" pitchFamily="2" charset="-122"/>
            </a:endParaRPr>
          </a:p>
          <a:p>
            <a:pPr marL="342900" lvl="0" indent="-342900" algn="l" eaLnBrk="1" hangingPunct="1">
              <a:lnSpc>
                <a:spcPct val="150000"/>
              </a:lnSpc>
              <a:buFont typeface="Wingdings" panose="05000000000000000000" pitchFamily="2" charset="2"/>
              <a:buChar char="u"/>
            </a:pPr>
            <a:r>
              <a:rPr lang="zh-CN" altLang="en-US" sz="1600" b="1" dirty="0">
                <a:ea typeface="宋体" panose="02010600030101010101" pitchFamily="2" charset="-122"/>
              </a:rPr>
              <a:t>节点</a:t>
            </a:r>
            <a:r>
              <a:rPr lang="en-US" altLang="zh-CN" sz="1600" b="1" dirty="0">
                <a:ea typeface="宋体" panose="02010600030101010101" pitchFamily="2" charset="-122"/>
              </a:rPr>
              <a:t>1</a:t>
            </a:r>
            <a:r>
              <a:rPr lang="zh-CN" altLang="en-US" sz="1600" b="1" dirty="0">
                <a:ea typeface="宋体" panose="02010600030101010101" pitchFamily="2" charset="-122"/>
              </a:rPr>
              <a:t>要查找键值</a:t>
            </a:r>
            <a:r>
              <a:rPr lang="en-US" altLang="zh-CN" sz="1600" b="1" dirty="0">
                <a:ea typeface="宋体" panose="02010600030101010101" pitchFamily="2" charset="-122"/>
              </a:rPr>
              <a:t>k =26</a:t>
            </a:r>
            <a:r>
              <a:rPr lang="zh-CN" altLang="en-US" sz="1600" b="1" dirty="0">
                <a:ea typeface="宋体" panose="02010600030101010101" pitchFamily="2" charset="-122"/>
              </a:rPr>
              <a:t>，结点</a:t>
            </a:r>
            <a:r>
              <a:rPr lang="en-US" altLang="zh-CN" sz="1600" b="1" dirty="0">
                <a:ea typeface="宋体" panose="02010600030101010101" pitchFamily="2" charset="-122"/>
              </a:rPr>
              <a:t>1</a:t>
            </a:r>
            <a:r>
              <a:rPr lang="zh-CN" altLang="en-US" sz="1600" b="1" dirty="0">
                <a:ea typeface="宋体" panose="02010600030101010101" pitchFamily="2" charset="-122"/>
              </a:rPr>
              <a:t>将请求转发给指状表中索引为</a:t>
            </a:r>
            <a:r>
              <a:rPr lang="en-US" altLang="zh-CN" sz="1600" b="1" dirty="0">
                <a:ea typeface="宋体" panose="02010600030101010101" pitchFamily="2" charset="-122"/>
              </a:rPr>
              <a:t>j</a:t>
            </a:r>
            <a:r>
              <a:rPr lang="zh-CN" altLang="en-US" sz="1600" b="1" dirty="0">
                <a:ea typeface="宋体" panose="02010600030101010101" pitchFamily="2" charset="-122"/>
              </a:rPr>
              <a:t>的结点</a:t>
            </a:r>
            <a:r>
              <a:rPr lang="en-US" altLang="zh-CN" sz="1600" b="1" dirty="0">
                <a:ea typeface="宋体" panose="02010600030101010101" pitchFamily="2" charset="-122"/>
              </a:rPr>
              <a:t>,</a:t>
            </a:r>
            <a:r>
              <a:rPr lang="zh-CN" altLang="en-US" sz="1600" b="1" dirty="0">
                <a:ea typeface="宋体" panose="02010600030101010101" pitchFamily="2" charset="-122"/>
              </a:rPr>
              <a:t>且满足</a:t>
            </a:r>
            <a:endParaRPr lang="en-US" altLang="zh-CN" sz="1600" b="1" dirty="0">
              <a:ea typeface="宋体" panose="02010600030101010101" pitchFamily="2" charset="-122"/>
            </a:endParaRPr>
          </a:p>
          <a:p>
            <a:pPr marL="342900" lvl="0" indent="-342900" algn="l" eaLnBrk="1" hangingPunct="1">
              <a:lnSpc>
                <a:spcPct val="150000"/>
              </a:lnSpc>
              <a:buNone/>
            </a:pPr>
            <a:r>
              <a:rPr lang="zh-CN" altLang="en-US" sz="1600" b="1" dirty="0">
                <a:ea typeface="宋体" panose="02010600030101010101" pitchFamily="2" charset="-122"/>
              </a:rPr>
              <a:t>      （</a:t>
            </a:r>
            <a:r>
              <a:rPr lang="en-US" altLang="zh-CN" sz="1600" b="1" dirty="0">
                <a:ea typeface="宋体" panose="02010600030101010101" pitchFamily="2" charset="-122"/>
              </a:rPr>
              <a:t> FT</a:t>
            </a:r>
            <a:r>
              <a:rPr lang="en-US" altLang="zh-CN" sz="1600" b="1" baseline="-25000" dirty="0">
                <a:ea typeface="宋体" panose="02010600030101010101" pitchFamily="2" charset="-122"/>
              </a:rPr>
              <a:t>p</a:t>
            </a:r>
            <a:r>
              <a:rPr lang="en-US" altLang="zh-CN" sz="1600" b="1" dirty="0">
                <a:ea typeface="宋体" panose="02010600030101010101" pitchFamily="2" charset="-122"/>
              </a:rPr>
              <a:t>[j] ≤k &lt; FT</a:t>
            </a:r>
            <a:r>
              <a:rPr lang="en-US" altLang="zh-CN" sz="1600" b="1" baseline="-25000" dirty="0">
                <a:ea typeface="宋体" panose="02010600030101010101" pitchFamily="2" charset="-122"/>
              </a:rPr>
              <a:t>p</a:t>
            </a:r>
            <a:r>
              <a:rPr lang="en-US" altLang="zh-CN" sz="1600" b="1" dirty="0">
                <a:ea typeface="宋体" panose="02010600030101010101" pitchFamily="2" charset="-122"/>
              </a:rPr>
              <a:t>[j + 1]</a:t>
            </a:r>
            <a:r>
              <a:rPr lang="zh-CN" altLang="en-US" sz="1600" b="1" dirty="0">
                <a:ea typeface="宋体" panose="02010600030101010101" pitchFamily="2" charset="-122"/>
              </a:rPr>
              <a:t>）。</a:t>
            </a:r>
            <a:endParaRPr lang="en-US" altLang="zh-CN" sz="1600" b="1" i="1" dirty="0">
              <a:ea typeface="宋体" panose="02010600030101010101" pitchFamily="2" charset="-122"/>
            </a:endParaRPr>
          </a:p>
          <a:p>
            <a:pPr marL="342900" lvl="0" indent="-342900" algn="l" eaLnBrk="1" hangingPunct="1">
              <a:lnSpc>
                <a:spcPct val="150000"/>
              </a:lnSpc>
              <a:buFont typeface="Wingdings" panose="05000000000000000000" pitchFamily="2" charset="2"/>
              <a:buChar char="u"/>
            </a:pPr>
            <a:r>
              <a:rPr lang="en-US" altLang="zh-CN" sz="1600" b="1" i="1" dirty="0">
                <a:solidFill>
                  <a:srgbClr val="FF0000"/>
                </a:solidFill>
                <a:ea typeface="宋体" panose="02010600030101010101" pitchFamily="2" charset="-122"/>
              </a:rPr>
              <a:t>FT</a:t>
            </a:r>
            <a:r>
              <a:rPr lang="en-US" altLang="zh-CN" sz="1600" b="1" i="1" baseline="-25000" dirty="0">
                <a:solidFill>
                  <a:srgbClr val="FF0000"/>
                </a:solidFill>
                <a:ea typeface="宋体" panose="02010600030101010101" pitchFamily="2" charset="-122"/>
              </a:rPr>
              <a:t>28</a:t>
            </a:r>
            <a:r>
              <a:rPr lang="en-US" altLang="zh-CN" sz="1600" b="1" dirty="0">
                <a:solidFill>
                  <a:srgbClr val="FF0000"/>
                </a:solidFill>
                <a:ea typeface="宋体" panose="02010600030101010101" pitchFamily="2" charset="-122"/>
              </a:rPr>
              <a:t>[i] = ?</a:t>
            </a:r>
            <a:endParaRPr lang="en-US" altLang="zh-CN" sz="1600" b="1" dirty="0">
              <a:solidFill>
                <a:srgbClr val="FF0000"/>
              </a:solidFill>
              <a:ea typeface="宋体" panose="02010600030101010101" pitchFamily="2" charset="-122"/>
            </a:endParaRPr>
          </a:p>
          <a:p>
            <a:pPr marL="342900" lvl="0" indent="-342900" algn="l" eaLnBrk="1" hangingPunct="1">
              <a:lnSpc>
                <a:spcPct val="150000"/>
              </a:lnSpc>
              <a:buNone/>
            </a:pPr>
            <a:endParaRPr lang="en-US" altLang="zh-CN" sz="1600" b="1" dirty="0">
              <a:ea typeface="宋体" panose="02010600030101010101" pitchFamily="2" charset="-122"/>
            </a:endParaRPr>
          </a:p>
          <a:p>
            <a:pPr marL="342900" lvl="0" indent="-342900" algn="l" eaLnBrk="1" hangingPunct="1">
              <a:lnSpc>
                <a:spcPct val="150000"/>
              </a:lnSpc>
              <a:buNone/>
            </a:pPr>
            <a:endParaRPr lang="zh-CN" altLang="en-US" sz="1600" b="1" dirty="0">
              <a:ea typeface="宋体" panose="02010600030101010101" pitchFamily="2"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xfrm>
            <a:off x="0" y="0"/>
            <a:ext cx="9144000" cy="676275"/>
          </a:xfrm>
        </p:spPr>
        <p:txBody>
          <a:bodyPr vert="horz" wrap="square" lIns="91440" tIns="45720" rIns="91440" bIns="45720" anchor="ctr" anchorCtr="0"/>
          <a:lstStyle/>
          <a:p>
            <a:pPr eaLnBrk="1" hangingPunct="1"/>
            <a:r>
              <a:rPr lang="en-US" altLang="zh-CN" dirty="0">
                <a:ea typeface="宋体" panose="02010600030101010101" pitchFamily="2" charset="-122"/>
              </a:rPr>
              <a:t>DHTs: Finger Tables (3)</a:t>
            </a:r>
            <a:endParaRPr lang="en-US" altLang="zh-CN" dirty="0">
              <a:ea typeface="宋体" panose="02010600030101010101" pitchFamily="2" charset="-122"/>
            </a:endParaRPr>
          </a:p>
        </p:txBody>
      </p:sp>
      <p:sp>
        <p:nvSpPr>
          <p:cNvPr id="52227" name="Rectangle 3"/>
          <p:cNvSpPr>
            <a:spLocks noGrp="1"/>
          </p:cNvSpPr>
          <p:nvPr>
            <p:ph idx="1"/>
          </p:nvPr>
        </p:nvSpPr>
        <p:spPr>
          <a:xfrm>
            <a:off x="311150" y="676275"/>
            <a:ext cx="6248400" cy="2562225"/>
          </a:xfrm>
        </p:spPr>
        <p:txBody>
          <a:bodyPr vert="horz" wrap="square" lIns="91440" tIns="45720" rIns="91440" bIns="45720" anchor="t" anchorCtr="0"/>
          <a:lstStyle/>
          <a:p>
            <a:pPr algn="l" eaLnBrk="1" hangingPunct="1">
              <a:lnSpc>
                <a:spcPct val="150000"/>
              </a:lnSpc>
              <a:spcBef>
                <a:spcPct val="0"/>
              </a:spcBef>
              <a:buClrTx/>
              <a:buFont typeface="Wingdings" panose="05000000000000000000" pitchFamily="2" charset="2"/>
              <a:buChar char="u"/>
            </a:pPr>
            <a:r>
              <a:rPr lang="en-US" altLang="zh-CN" sz="2000" dirty="0">
                <a:ea typeface="宋体" panose="02010600030101010101" pitchFamily="2" charset="-122"/>
              </a:rPr>
              <a:t>Chord</a:t>
            </a:r>
            <a:r>
              <a:rPr lang="zh-CN" altLang="en-US" sz="2000" dirty="0">
                <a:ea typeface="宋体" panose="02010600030101010101" pitchFamily="2" charset="-122"/>
              </a:rPr>
              <a:t>提供的应用接口：</a:t>
            </a:r>
            <a:endParaRPr lang="en-US" altLang="zh-CN" sz="2000" dirty="0">
              <a:ea typeface="宋体" panose="02010600030101010101" pitchFamily="2" charset="-122"/>
            </a:endParaRPr>
          </a:p>
          <a:p>
            <a:pPr lvl="1" eaLnBrk="1" hangingPunct="1">
              <a:lnSpc>
                <a:spcPct val="150000"/>
              </a:lnSpc>
              <a:spcBef>
                <a:spcPct val="0"/>
              </a:spcBef>
              <a:buClrTx/>
              <a:buFont typeface="Wingdings" panose="05000000000000000000" pitchFamily="2" charset="2"/>
              <a:buChar char="Ø"/>
            </a:pPr>
            <a:r>
              <a:rPr lang="en-US" altLang="zh-CN" sz="2000" b="1" dirty="0">
                <a:ea typeface="宋体" panose="02010600030101010101" pitchFamily="2" charset="-122"/>
              </a:rPr>
              <a:t>Lookup(k)</a:t>
            </a:r>
            <a:endParaRPr lang="en-US" altLang="zh-CN" sz="2000" b="1" dirty="0">
              <a:ea typeface="宋体" panose="02010600030101010101" pitchFamily="2" charset="-122"/>
            </a:endParaRPr>
          </a:p>
          <a:p>
            <a:pPr lvl="1" eaLnBrk="1" hangingPunct="1">
              <a:lnSpc>
                <a:spcPct val="150000"/>
              </a:lnSpc>
              <a:spcBef>
                <a:spcPct val="0"/>
              </a:spcBef>
              <a:buClrTx/>
              <a:buFont typeface="Wingdings" panose="05000000000000000000" pitchFamily="2" charset="2"/>
              <a:buChar char="Ø"/>
            </a:pPr>
            <a:r>
              <a:rPr lang="en-US" altLang="zh-CN" sz="2000" b="1" dirty="0">
                <a:ea typeface="宋体" panose="02010600030101010101" pitchFamily="2" charset="-122"/>
              </a:rPr>
              <a:t>Insert(k,v)</a:t>
            </a:r>
            <a:endParaRPr lang="en-US" altLang="zh-CN" sz="2000" b="1" dirty="0">
              <a:ea typeface="宋体" panose="02010600030101010101" pitchFamily="2" charset="-122"/>
            </a:endParaRPr>
          </a:p>
          <a:p>
            <a:pPr lvl="1" eaLnBrk="1" hangingPunct="1">
              <a:lnSpc>
                <a:spcPct val="150000"/>
              </a:lnSpc>
              <a:spcBef>
                <a:spcPct val="0"/>
              </a:spcBef>
              <a:buClrTx/>
              <a:buFont typeface="Wingdings" panose="05000000000000000000" pitchFamily="2" charset="2"/>
              <a:buChar char="Ø"/>
            </a:pPr>
            <a:r>
              <a:rPr lang="en-US" altLang="zh-CN" sz="2000" b="1" dirty="0">
                <a:ea typeface="宋体" panose="02010600030101010101" pitchFamily="2" charset="-122"/>
              </a:rPr>
              <a:t>Update(k,new-v)</a:t>
            </a:r>
            <a:endParaRPr lang="en-US" altLang="zh-CN" sz="2000" b="1" dirty="0">
              <a:ea typeface="宋体" panose="02010600030101010101" pitchFamily="2" charset="-122"/>
            </a:endParaRPr>
          </a:p>
          <a:p>
            <a:pPr lvl="1" eaLnBrk="1" hangingPunct="1">
              <a:lnSpc>
                <a:spcPct val="150000"/>
              </a:lnSpc>
              <a:spcBef>
                <a:spcPct val="0"/>
              </a:spcBef>
              <a:buClrTx/>
              <a:buFont typeface="Wingdings" panose="05000000000000000000" pitchFamily="2" charset="2"/>
              <a:buChar char="Ø"/>
            </a:pPr>
            <a:r>
              <a:rPr lang="en-US" altLang="zh-CN" sz="2000" b="1" dirty="0">
                <a:ea typeface="宋体" panose="02010600030101010101" pitchFamily="2" charset="-122"/>
              </a:rPr>
              <a:t>Jion(NID)</a:t>
            </a:r>
            <a:endParaRPr lang="en-US" altLang="zh-CN" sz="2000" b="1" dirty="0">
              <a:ea typeface="宋体" panose="02010600030101010101" pitchFamily="2" charset="-122"/>
            </a:endParaRPr>
          </a:p>
          <a:p>
            <a:pPr lvl="1" eaLnBrk="1" hangingPunct="1">
              <a:lnSpc>
                <a:spcPct val="150000"/>
              </a:lnSpc>
              <a:spcBef>
                <a:spcPct val="0"/>
              </a:spcBef>
              <a:buClrTx/>
              <a:buFont typeface="Wingdings" panose="05000000000000000000" pitchFamily="2" charset="2"/>
              <a:buChar char="Ø"/>
            </a:pPr>
            <a:r>
              <a:rPr lang="en-US" altLang="zh-CN" sz="2000" b="1" dirty="0">
                <a:ea typeface="宋体" panose="02010600030101010101" pitchFamily="2" charset="-122"/>
              </a:rPr>
              <a:t>Leave()</a:t>
            </a:r>
            <a:endParaRPr lang="zh-CN" altLang="en-US" sz="2000" b="1" dirty="0">
              <a:ea typeface="宋体" panose="02010600030101010101" pitchFamily="2" charset="-122"/>
            </a:endParaRPr>
          </a:p>
        </p:txBody>
      </p:sp>
      <p:sp>
        <p:nvSpPr>
          <p:cNvPr id="4" name="Rectangle 3"/>
          <p:cNvSpPr txBox="1">
            <a:spLocks noChangeArrowheads="1"/>
          </p:cNvSpPr>
          <p:nvPr/>
        </p:nvSpPr>
        <p:spPr bwMode="auto">
          <a:xfrm>
            <a:off x="311150" y="3422650"/>
            <a:ext cx="8223250" cy="33020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可以证明</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结点数为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的系统，查找时间复杂度为</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O(log(N));</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结点加入</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离开</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加入的结点可与系统中任意结点联系，请求查找</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succ</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 + 1),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标示后即可插入</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系统复杂性在于指状表的更新，每个结点</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q</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定期运行一个进程与</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succ</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q + 1)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联系，并请求返回</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pred</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succ</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q + 1))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。如果</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q= </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pred</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succ</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(q + 1))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，则一致，否则，需要进行调整</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u"/>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DHT</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在</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P2P</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研究和应用上具有重要作用。</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0" y="0"/>
            <a:ext cx="9144000" cy="581025"/>
          </a:xfrm>
        </p:spPr>
        <p:txBody>
          <a:bodyPr vert="horz" wrap="square" lIns="91440" tIns="45720" rIns="91440" bIns="45720" anchor="ctr" anchorCtr="0"/>
          <a:lstStyle/>
          <a:p>
            <a:pPr eaLnBrk="1" hangingPunct="1"/>
            <a:r>
              <a:rPr lang="en-US" altLang="zh-CN" sz="4000" dirty="0">
                <a:ea typeface="宋体" panose="02010600030101010101" pitchFamily="2" charset="-122"/>
              </a:rPr>
              <a:t>Hierarchical Location Services (HLS)</a:t>
            </a:r>
            <a:endParaRPr lang="en-US" altLang="zh-CN" sz="4000" dirty="0">
              <a:ea typeface="宋体" panose="02010600030101010101" pitchFamily="2" charset="-122"/>
            </a:endParaRPr>
          </a:p>
        </p:txBody>
      </p:sp>
      <p:sp>
        <p:nvSpPr>
          <p:cNvPr id="52227" name="Rectangle 3"/>
          <p:cNvSpPr>
            <a:spLocks noGrp="1" noChangeArrowheads="1"/>
          </p:cNvSpPr>
          <p:nvPr>
            <p:ph idx="1"/>
          </p:nvPr>
        </p:nvSpPr>
        <p:spPr>
          <a:xfrm>
            <a:off x="5424488" y="658813"/>
            <a:ext cx="3529013" cy="2860675"/>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Hierarchical organization of a location service into domains, each having an associated directory node.</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（组织成域，每个域有一个目录节点）。</a:t>
            </a:r>
            <a:endPar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55300" name="Text Box 4"/>
          <p:cNvSpPr txBox="1"/>
          <p:nvPr/>
        </p:nvSpPr>
        <p:spPr>
          <a:xfrm>
            <a:off x="4860925" y="3241675"/>
            <a:ext cx="1387475" cy="4572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endParaRPr lang="zh-CN" altLang="en-US" sz="2400" dirty="0">
              <a:ea typeface="宋体" panose="02010600030101010101" pitchFamily="2" charset="-122"/>
            </a:endParaRPr>
          </a:p>
        </p:txBody>
      </p:sp>
      <p:pic>
        <p:nvPicPr>
          <p:cNvPr id="55301" name="Picture 5"/>
          <p:cNvPicPr>
            <a:picLocks noChangeAspect="1"/>
          </p:cNvPicPr>
          <p:nvPr/>
        </p:nvPicPr>
        <p:blipFill>
          <a:blip r:embed="rId1"/>
          <a:srcRect l="21593" t="43655" r="21379" b="37915"/>
          <a:stretch>
            <a:fillRect/>
          </a:stretch>
        </p:blipFill>
        <p:spPr>
          <a:xfrm>
            <a:off x="138113" y="658813"/>
            <a:ext cx="5286375" cy="3198812"/>
          </a:xfrm>
          <a:prstGeom prst="rect">
            <a:avLst/>
          </a:prstGeom>
          <a:noFill/>
          <a:ln w="9525">
            <a:noFill/>
          </a:ln>
        </p:spPr>
      </p:pic>
      <p:pic>
        <p:nvPicPr>
          <p:cNvPr id="55302" name="Picture 4"/>
          <p:cNvPicPr>
            <a:picLocks noChangeAspect="1"/>
          </p:cNvPicPr>
          <p:nvPr/>
        </p:nvPicPr>
        <p:blipFill>
          <a:blip r:embed="rId2"/>
          <a:srcRect l="27365" t="43353" r="24345" b="37613"/>
          <a:stretch>
            <a:fillRect/>
          </a:stretch>
        </p:blipFill>
        <p:spPr>
          <a:xfrm>
            <a:off x="3714750" y="3790950"/>
            <a:ext cx="5238750" cy="2952750"/>
          </a:xfrm>
          <a:prstGeom prst="rect">
            <a:avLst/>
          </a:prstGeom>
          <a:noFill/>
          <a:ln w="9525">
            <a:noFill/>
          </a:ln>
        </p:spPr>
      </p:pic>
      <p:sp>
        <p:nvSpPr>
          <p:cNvPr id="7" name="Rectangle 3"/>
          <p:cNvSpPr txBox="1">
            <a:spLocks noChangeArrowheads="1"/>
          </p:cNvSpPr>
          <p:nvPr/>
        </p:nvSpPr>
        <p:spPr bwMode="auto">
          <a:xfrm>
            <a:off x="258763" y="3779838"/>
            <a:ext cx="3455988" cy="2897188"/>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An example of storing information of an entity having two addresses in different leaf domains.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每个域结点包含下属每个实体位置</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,M)</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Hierarchical Location Services (HLS)</a:t>
            </a:r>
            <a:endParaRPr lang="en-US" altLang="zh-CN" sz="4000" dirty="0">
              <a:ea typeface="宋体" panose="02010600030101010101" pitchFamily="2" charset="-122"/>
            </a:endParaRPr>
          </a:p>
        </p:txBody>
      </p:sp>
      <p:sp>
        <p:nvSpPr>
          <p:cNvPr id="56323" name="Rectangle 3"/>
          <p:cNvSpPr>
            <a:spLocks noGrp="1"/>
          </p:cNvSpPr>
          <p:nvPr>
            <p:ph idx="1"/>
          </p:nvPr>
        </p:nvSpPr>
        <p:spPr>
          <a:xfrm>
            <a:off x="6181725" y="1143000"/>
            <a:ext cx="2838450" cy="1793875"/>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1800" dirty="0">
                <a:ea typeface="宋体" panose="02010600030101010101" pitchFamily="2" charset="-122"/>
              </a:rPr>
              <a:t>Looking up a location in a hierarchically organized location service</a:t>
            </a:r>
            <a:r>
              <a:rPr lang="zh-CN" altLang="en-US" sz="1800" dirty="0">
                <a:ea typeface="宋体" panose="02010600030101010101" pitchFamily="2" charset="-122"/>
              </a:rPr>
              <a:t>（查找过程）</a:t>
            </a:r>
            <a:endParaRPr lang="en-US" altLang="zh-CN" sz="1800" dirty="0">
              <a:ea typeface="宋体" panose="02010600030101010101" pitchFamily="2" charset="-122"/>
            </a:endParaRPr>
          </a:p>
        </p:txBody>
      </p:sp>
      <p:pic>
        <p:nvPicPr>
          <p:cNvPr id="56324" name="Picture 4"/>
          <p:cNvPicPr>
            <a:picLocks noChangeAspect="1"/>
          </p:cNvPicPr>
          <p:nvPr/>
        </p:nvPicPr>
        <p:blipFill>
          <a:blip r:embed="rId1"/>
          <a:srcRect l="31000" t="43655" r="28435" b="37613"/>
          <a:stretch>
            <a:fillRect/>
          </a:stretch>
        </p:blipFill>
        <p:spPr>
          <a:xfrm>
            <a:off x="342900" y="900113"/>
            <a:ext cx="5715000" cy="2228850"/>
          </a:xfrm>
          <a:prstGeom prst="rect">
            <a:avLst/>
          </a:prstGeom>
          <a:noFill/>
          <a:ln w="9525">
            <a:noFill/>
          </a:ln>
        </p:spPr>
      </p:pic>
      <p:sp>
        <p:nvSpPr>
          <p:cNvPr id="5" name="Rectangle 3"/>
          <p:cNvSpPr txBox="1">
            <a:spLocks noChangeArrowheads="1"/>
          </p:cNvSpPr>
          <p:nvPr/>
        </p:nvSpPr>
        <p:spPr bwMode="auto">
          <a:xfrm>
            <a:off x="428625" y="6003925"/>
            <a:ext cx="8591550" cy="70167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609600" marR="0" lvl="0" indent="-609600" algn="l" defTabSz="914400" rtl="0" eaLnBrk="1" fontAlgn="base" latinLnBrk="0" hangingPunct="1">
              <a:lnSpc>
                <a:spcPct val="90000"/>
              </a:lnSpc>
              <a:spcBef>
                <a:spcPct val="20000"/>
              </a:spcBef>
              <a:spcAft>
                <a:spcPct val="0"/>
              </a:spcAft>
              <a:buClr>
                <a:schemeClr val="accent2"/>
              </a:buClr>
              <a:buSzTx/>
              <a:buFontTx/>
              <a:buAutoNum type="alphaLcParenR"/>
              <a:defRPr/>
            </a:pP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An insert request is forwarded to the first node that knows about entity </a:t>
            </a:r>
            <a:r>
              <a:rPr kumimoji="0" lang="en-US" altLang="zh-CN" sz="1600" b="0" i="1"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插入</a:t>
            </a: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a:t>
            </a:r>
            <a:r>
              <a:rPr kumimoji="0" lang="zh-CN" altLang="en-US"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的过程</a:t>
            </a: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609600" marR="0" lvl="0" indent="-609600" algn="l" defTabSz="914400" rtl="0" eaLnBrk="1" fontAlgn="base" latinLnBrk="0" hangingPunct="1">
              <a:lnSpc>
                <a:spcPct val="90000"/>
              </a:lnSpc>
              <a:spcBef>
                <a:spcPct val="20000"/>
              </a:spcBef>
              <a:spcAft>
                <a:spcPct val="0"/>
              </a:spcAft>
              <a:buClr>
                <a:schemeClr val="accent2"/>
              </a:buClr>
              <a:buSzTx/>
              <a:buFontTx/>
              <a:buAutoNum type="alphaLcParenR"/>
              <a:defRPr/>
            </a:pP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chain of forwarding pointers to the leaf node is created.</a:t>
            </a:r>
            <a:r>
              <a:rPr kumimoji="0" lang="zh-CN" altLang="en-US"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（创建指向新节点的链）</a:t>
            </a:r>
            <a:endPar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56326" name="Picture 4"/>
          <p:cNvPicPr>
            <a:picLocks noChangeAspect="1"/>
          </p:cNvPicPr>
          <p:nvPr/>
        </p:nvPicPr>
        <p:blipFill>
          <a:blip r:embed="rId2"/>
          <a:srcRect l="19028" t="43353" r="16248" b="37311"/>
          <a:stretch>
            <a:fillRect/>
          </a:stretch>
        </p:blipFill>
        <p:spPr>
          <a:xfrm>
            <a:off x="708025" y="3568700"/>
            <a:ext cx="7483475" cy="2336800"/>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p:nvPr>
        </p:nvSpPr>
        <p:spPr>
          <a:xfrm>
            <a:off x="1587500" y="0"/>
            <a:ext cx="6223000" cy="1104900"/>
          </a:xfrm>
        </p:spPr>
        <p:txBody>
          <a:bodyPr vert="horz" wrap="square" lIns="91440" tIns="45720" rIns="91440" bIns="45720" anchor="ctr" anchorCtr="0"/>
          <a:lstStyle/>
          <a:p>
            <a:pPr eaLnBrk="1" hangingPunct="1"/>
            <a:r>
              <a:rPr lang="en-US" altLang="zh-CN" sz="2400" dirty="0">
                <a:ea typeface="宋体" panose="02010600030101010101" pitchFamily="2" charset="-122"/>
              </a:rPr>
              <a:t>Pointer Caches (1)</a:t>
            </a:r>
            <a:br>
              <a:rPr lang="en-US" altLang="zh-CN" sz="2400" dirty="0">
                <a:ea typeface="宋体" panose="02010600030101010101" pitchFamily="2" charset="-122"/>
              </a:rPr>
            </a:br>
            <a:r>
              <a:rPr lang="zh-CN" altLang="en-US" sz="2400" dirty="0">
                <a:ea typeface="宋体" panose="02010600030101010101" pitchFamily="2" charset="-122"/>
              </a:rPr>
              <a:t>通过缓存引用来提高定位效率</a:t>
            </a:r>
            <a:endParaRPr lang="zh-CN" altLang="en-US" sz="2400" dirty="0">
              <a:ea typeface="宋体" panose="02010600030101010101" pitchFamily="2" charset="-122"/>
            </a:endParaRPr>
          </a:p>
        </p:txBody>
      </p:sp>
      <p:sp>
        <p:nvSpPr>
          <p:cNvPr id="57347" name="Rectangle 3"/>
          <p:cNvSpPr>
            <a:spLocks noGrp="1"/>
          </p:cNvSpPr>
          <p:nvPr>
            <p:ph idx="1"/>
          </p:nvPr>
        </p:nvSpPr>
        <p:spPr>
          <a:xfrm>
            <a:off x="5276850" y="1104900"/>
            <a:ext cx="3748088" cy="1952625"/>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2000" dirty="0">
                <a:ea typeface="宋体" panose="02010600030101010101" pitchFamily="2" charset="-122"/>
              </a:rPr>
              <a:t>Caching a reference to a directory node of the lowest-level domain in which an entity will reside most of the time.</a:t>
            </a:r>
            <a:endParaRPr lang="zh-CN" altLang="en-US" sz="2000" dirty="0">
              <a:ea typeface="宋体" panose="02010600030101010101" pitchFamily="2" charset="-122"/>
            </a:endParaRPr>
          </a:p>
        </p:txBody>
      </p:sp>
      <p:pic>
        <p:nvPicPr>
          <p:cNvPr id="57348" name="Picture 4"/>
          <p:cNvPicPr>
            <a:picLocks noChangeAspect="1"/>
          </p:cNvPicPr>
          <p:nvPr/>
        </p:nvPicPr>
        <p:blipFill>
          <a:blip r:embed="rId1"/>
          <a:srcRect l="30785" t="43202" r="28435" b="37160"/>
          <a:stretch>
            <a:fillRect/>
          </a:stretch>
        </p:blipFill>
        <p:spPr>
          <a:xfrm>
            <a:off x="185738" y="1104900"/>
            <a:ext cx="4886325" cy="2365375"/>
          </a:xfrm>
          <a:prstGeom prst="rect">
            <a:avLst/>
          </a:prstGeom>
          <a:noFill/>
          <a:ln w="9525">
            <a:noFill/>
          </a:ln>
        </p:spPr>
      </p:pic>
      <p:sp>
        <p:nvSpPr>
          <p:cNvPr id="5" name="Rectangle 3"/>
          <p:cNvSpPr txBox="1">
            <a:spLocks noChangeArrowheads="1"/>
          </p:cNvSpPr>
          <p:nvPr/>
        </p:nvSpPr>
        <p:spPr bwMode="auto">
          <a:xfrm>
            <a:off x="4900613" y="3581400"/>
            <a:ext cx="4124325" cy="196532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cache entry that needs to be invalidated because it returns a nonlocal address, while such an address is available.</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ctr"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问题：什么时候让缓存失效？例如建立了</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new address.</a:t>
            </a:r>
            <a:endPar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57350" name="Picture 4"/>
          <p:cNvPicPr>
            <a:picLocks noChangeAspect="1"/>
          </p:cNvPicPr>
          <p:nvPr/>
        </p:nvPicPr>
        <p:blipFill>
          <a:blip r:embed="rId2"/>
          <a:srcRect l="32283" t="45468" r="29930" b="39577"/>
          <a:stretch>
            <a:fillRect/>
          </a:stretch>
        </p:blipFill>
        <p:spPr>
          <a:xfrm>
            <a:off x="430213" y="4230688"/>
            <a:ext cx="4395787" cy="2428875"/>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p:cNvSpPr>
          <p:nvPr>
            <p:ph type="title"/>
          </p:nvPr>
        </p:nvSpPr>
        <p:spPr>
          <a:xfrm>
            <a:off x="0" y="0"/>
            <a:ext cx="9144000" cy="711200"/>
          </a:xfrm>
        </p:spPr>
        <p:txBody>
          <a:bodyPr vert="horz" wrap="square" lIns="91440" tIns="45720" rIns="91440" bIns="45720" anchor="ctr" anchorCtr="0"/>
          <a:lstStyle/>
          <a:p>
            <a:pPr eaLnBrk="1" hangingPunct="1"/>
            <a:r>
              <a:rPr lang="en-US" altLang="zh-CN" dirty="0">
                <a:ea typeface="宋体" panose="02010600030101010101" pitchFamily="2" charset="-122"/>
              </a:rPr>
              <a:t>Scalability Issues</a:t>
            </a:r>
            <a:endParaRPr lang="en-US" altLang="zh-CN" dirty="0">
              <a:ea typeface="宋体" panose="02010600030101010101" pitchFamily="2" charset="-122"/>
            </a:endParaRPr>
          </a:p>
        </p:txBody>
      </p:sp>
      <p:sp>
        <p:nvSpPr>
          <p:cNvPr id="59395" name="Rectangle 4"/>
          <p:cNvSpPr>
            <a:spLocks noGrp="1"/>
          </p:cNvSpPr>
          <p:nvPr>
            <p:ph idx="1"/>
          </p:nvPr>
        </p:nvSpPr>
        <p:spPr>
          <a:xfrm>
            <a:off x="0" y="5970588"/>
            <a:ext cx="9144000" cy="895350"/>
          </a:xfrm>
        </p:spPr>
        <p:txBody>
          <a:bodyPr vert="horz" wrap="square" lIns="91440" tIns="45720" rIns="91440" bIns="45720" anchor="t" anchorCtr="0"/>
          <a:lstStyle/>
          <a:p>
            <a:pPr eaLnBrk="1" hangingPunct="1">
              <a:buNone/>
            </a:pPr>
            <a:r>
              <a:rPr lang="en-US" altLang="zh-CN" sz="1600" dirty="0">
                <a:ea typeface="宋体" panose="02010600030101010101" pitchFamily="2" charset="-122"/>
              </a:rPr>
              <a:t>The scalability issues related to uniformly placing subnodes of a partitioned root node across the network covered by a location service.</a:t>
            </a:r>
            <a:endParaRPr lang="en-US" altLang="zh-CN" sz="1600" dirty="0">
              <a:ea typeface="宋体" panose="02010600030101010101" pitchFamily="2" charset="-122"/>
            </a:endParaRPr>
          </a:p>
          <a:p>
            <a:pPr eaLnBrk="1" hangingPunct="1">
              <a:buNone/>
            </a:pPr>
            <a:r>
              <a:rPr lang="zh-CN" altLang="en-US" sz="1600" dirty="0">
                <a:ea typeface="宋体" panose="02010600030101010101" pitchFamily="2" charset="-122"/>
              </a:rPr>
              <a:t>在定位服务覆盖网上均匀的放置子结点</a:t>
            </a:r>
            <a:endParaRPr lang="en-US" altLang="zh-CN" sz="1600" dirty="0">
              <a:ea typeface="宋体" panose="02010600030101010101" pitchFamily="2" charset="-122"/>
            </a:endParaRPr>
          </a:p>
        </p:txBody>
      </p:sp>
      <p:grpSp>
        <p:nvGrpSpPr>
          <p:cNvPr id="59396" name="组合 1"/>
          <p:cNvGrpSpPr/>
          <p:nvPr/>
        </p:nvGrpSpPr>
        <p:grpSpPr>
          <a:xfrm>
            <a:off x="1112838" y="2279650"/>
            <a:ext cx="7229475" cy="3624263"/>
            <a:chOff x="601619" y="705893"/>
            <a:chExt cx="8181975" cy="4997450"/>
          </a:xfrm>
        </p:grpSpPr>
        <p:pic>
          <p:nvPicPr>
            <p:cNvPr id="59398" name="Picture 2"/>
            <p:cNvPicPr>
              <a:picLocks noChangeAspect="1"/>
            </p:cNvPicPr>
            <p:nvPr/>
          </p:nvPicPr>
          <p:blipFill>
            <a:blip r:embed="rId1"/>
            <a:srcRect l="20952" t="39577" r="18172" b="33685"/>
            <a:stretch>
              <a:fillRect/>
            </a:stretch>
          </p:blipFill>
          <p:spPr>
            <a:xfrm>
              <a:off x="601619" y="705893"/>
              <a:ext cx="8181975" cy="4997450"/>
            </a:xfrm>
            <a:prstGeom prst="rect">
              <a:avLst/>
            </a:prstGeom>
            <a:noFill/>
            <a:ln w="9525">
              <a:noFill/>
            </a:ln>
          </p:spPr>
        </p:pic>
        <p:sp>
          <p:nvSpPr>
            <p:cNvPr id="59399" name="Text Box 6"/>
            <p:cNvSpPr txBox="1"/>
            <p:nvPr/>
          </p:nvSpPr>
          <p:spPr>
            <a:xfrm>
              <a:off x="4889500" y="2120900"/>
              <a:ext cx="1130300" cy="41484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200" b="1" dirty="0">
                  <a:solidFill>
                    <a:srgbClr val="FF0000"/>
                  </a:solidFill>
                  <a:ea typeface="宋体" panose="02010600030101010101" pitchFamily="2" charset="-122"/>
                </a:rPr>
                <a:t>通信代价高</a:t>
              </a:r>
              <a:endParaRPr lang="zh-CN" altLang="en-US" sz="1200" b="1" dirty="0">
                <a:solidFill>
                  <a:srgbClr val="FF0000"/>
                </a:solidFill>
                <a:ea typeface="宋体" panose="02010600030101010101" pitchFamily="2" charset="-122"/>
              </a:endParaRPr>
            </a:p>
          </p:txBody>
        </p:sp>
        <p:sp>
          <p:nvSpPr>
            <p:cNvPr id="59400" name="Text Box 7"/>
            <p:cNvSpPr txBox="1"/>
            <p:nvPr/>
          </p:nvSpPr>
          <p:spPr>
            <a:xfrm>
              <a:off x="1676400" y="2997200"/>
              <a:ext cx="1130300" cy="41484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200" b="1" dirty="0">
                  <a:solidFill>
                    <a:srgbClr val="FF0000"/>
                  </a:solidFill>
                  <a:ea typeface="宋体" panose="02010600030101010101" pitchFamily="2" charset="-122"/>
                </a:rPr>
                <a:t>通信代价低</a:t>
              </a:r>
              <a:endParaRPr lang="zh-CN" altLang="en-US" sz="1200" b="1" dirty="0">
                <a:solidFill>
                  <a:srgbClr val="FF0000"/>
                </a:solidFill>
                <a:ea typeface="宋体" panose="02010600030101010101" pitchFamily="2" charset="-122"/>
              </a:endParaRPr>
            </a:p>
          </p:txBody>
        </p:sp>
      </p:grpSp>
      <p:sp>
        <p:nvSpPr>
          <p:cNvPr id="8" name="Rectangle 3"/>
          <p:cNvSpPr txBox="1">
            <a:spLocks noChangeArrowheads="1"/>
          </p:cNvSpPr>
          <p:nvPr/>
        </p:nvSpPr>
        <p:spPr bwMode="auto">
          <a:xfrm>
            <a:off x="436563" y="749300"/>
            <a:ext cx="8583613" cy="14922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根节点需要存储所有实体的位置记录，以及一个或多个指向较低层目录结点的指针，需要处理太多的查找和更新请求，会成为瓶颈。</a:t>
            </a:r>
            <a:endPar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一种方法将根结点分成多个子结点。问题：让哪一个子结点处理哪个实体？</a:t>
            </a:r>
            <a:endPar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xfrm>
            <a:off x="0" y="0"/>
            <a:ext cx="9144000" cy="850900"/>
          </a:xfrm>
        </p:spPr>
        <p:txBody>
          <a:bodyPr vert="horz" wrap="square" lIns="91440" tIns="45720" rIns="91440" bIns="45720" anchor="ctr" anchorCtr="0"/>
          <a:lstStyle/>
          <a:p>
            <a:pPr eaLnBrk="1" hangingPunct="1"/>
            <a:r>
              <a:rPr lang="en-US" altLang="zh-CN" dirty="0">
                <a:ea typeface="宋体" panose="02010600030101010101" pitchFamily="2" charset="-122"/>
              </a:rPr>
              <a:t>Outline</a:t>
            </a:r>
            <a:endParaRPr lang="en-US" altLang="zh-CN" dirty="0">
              <a:ea typeface="宋体" panose="02010600030101010101" pitchFamily="2" charset="-122"/>
            </a:endParaRPr>
          </a:p>
        </p:txBody>
      </p:sp>
      <p:sp>
        <p:nvSpPr>
          <p:cNvPr id="53251" name="Rectangle 3"/>
          <p:cNvSpPr>
            <a:spLocks noGrp="1"/>
          </p:cNvSpPr>
          <p:nvPr>
            <p:ph idx="1"/>
          </p:nvPr>
        </p:nvSpPr>
        <p:spPr>
          <a:xfrm>
            <a:off x="495300" y="1016000"/>
            <a:ext cx="7921625" cy="2201863"/>
          </a:xfrm>
        </p:spPr>
        <p:txBody>
          <a:bodyPr vert="horz" wrap="square" lIns="91440" tIns="45720" rIns="91440" bIns="45720" anchor="t" anchorCtr="0"/>
          <a:lstStyle/>
          <a:p>
            <a:pPr algn="l" eaLnBrk="1" hangingPunct="1">
              <a:buFont typeface="Wingdings" panose="05000000000000000000" pitchFamily="2" charset="2"/>
              <a:buChar char="u"/>
            </a:pPr>
            <a:r>
              <a:rPr lang="en-US" altLang="zh-CN" sz="2800" dirty="0">
                <a:ea typeface="宋体" panose="02010600030101010101" pitchFamily="2" charset="-122"/>
              </a:rPr>
              <a:t>Names Entities</a:t>
            </a:r>
            <a:endParaRPr lang="en-US" altLang="zh-CN" sz="2800" dirty="0">
              <a:ea typeface="宋体" panose="02010600030101010101" pitchFamily="2" charset="-122"/>
            </a:endParaRPr>
          </a:p>
          <a:p>
            <a:pPr algn="l" eaLnBrk="1" hangingPunct="1">
              <a:buFont typeface="Wingdings" panose="05000000000000000000" pitchFamily="2" charset="2"/>
              <a:buChar char="u"/>
            </a:pPr>
            <a:r>
              <a:rPr lang="en-US" altLang="zh-CN" sz="2800" dirty="0">
                <a:ea typeface="宋体" panose="02010600030101010101" pitchFamily="2" charset="-122"/>
              </a:rPr>
              <a:t>Flat Naming</a:t>
            </a:r>
            <a:endParaRPr lang="en-US" altLang="zh-CN" sz="2800" dirty="0">
              <a:ea typeface="宋体" panose="02010600030101010101" pitchFamily="2" charset="-122"/>
            </a:endParaRPr>
          </a:p>
          <a:p>
            <a:pPr algn="l" eaLnBrk="1" hangingPunct="1">
              <a:buFont typeface="Wingdings" panose="05000000000000000000" pitchFamily="2" charset="2"/>
              <a:buChar char="u"/>
            </a:pPr>
            <a:r>
              <a:rPr lang="en-US" altLang="zh-CN" sz="2800" dirty="0">
                <a:solidFill>
                  <a:srgbClr val="FF0000"/>
                </a:solidFill>
                <a:ea typeface="宋体" panose="02010600030101010101" pitchFamily="2" charset="-122"/>
              </a:rPr>
              <a:t>Structured Naming</a:t>
            </a:r>
            <a:endParaRPr lang="en-US" altLang="zh-CN" sz="2800" dirty="0">
              <a:solidFill>
                <a:srgbClr val="FF0000"/>
              </a:solidFill>
              <a:ea typeface="宋体" panose="02010600030101010101" pitchFamily="2" charset="-122"/>
            </a:endParaRPr>
          </a:p>
          <a:p>
            <a:pPr algn="l" eaLnBrk="1" hangingPunct="1">
              <a:buFont typeface="Wingdings" panose="05000000000000000000" pitchFamily="2" charset="2"/>
              <a:buChar char="u"/>
            </a:pPr>
            <a:r>
              <a:rPr lang="en-US" altLang="zh-CN" sz="2800" dirty="0">
                <a:ea typeface="宋体" panose="02010600030101010101" pitchFamily="2" charset="-122"/>
              </a:rPr>
              <a:t>Attribute-Based Naming</a:t>
            </a:r>
            <a:endParaRPr lang="en-US" altLang="zh-CN" sz="2800" dirty="0">
              <a:ea typeface="宋体" panose="02010600030101010101" pitchFamily="2" charset="-122"/>
            </a:endParaRPr>
          </a:p>
        </p:txBody>
      </p:sp>
      <p:sp>
        <p:nvSpPr>
          <p:cNvPr id="4" name="Rectangle 3"/>
          <p:cNvSpPr txBox="1">
            <a:spLocks noChangeArrowheads="1"/>
          </p:cNvSpPr>
          <p:nvPr/>
        </p:nvSpPr>
        <p:spPr bwMode="auto">
          <a:xfrm>
            <a:off x="495300" y="4068763"/>
            <a:ext cx="8153400" cy="20193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Hierarchical Location Services</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Implementation of a Name Space</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Example: </a:t>
            </a:r>
            <a:r>
              <a:rPr kumimoji="0" lang="en-US" altLang="zh-CN" sz="2800" b="0" i="0" u="none" strike="noStrike" kern="0" cap="none" spc="0" normalizeH="0" baseline="0" noProof="0" dirty="0" err="1">
                <a:ln>
                  <a:noFill/>
                </a:ln>
                <a:solidFill>
                  <a:schemeClr val="tx1"/>
                </a:solidFill>
                <a:effectLst/>
                <a:uLnTx/>
                <a:uFillTx/>
                <a:latin typeface="+mn-lt"/>
                <a:ea typeface="宋体" panose="02010600030101010101" pitchFamily="2" charset="-122"/>
                <a:cs typeface="+mn-cs"/>
              </a:rPr>
              <a:t>UNIX,The</a:t>
            </a:r>
            <a:r>
              <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Domain Name System (++)</a:t>
            </a:r>
            <a:endParaRPr kumimoji="0" lang="en-US" altLang="zh-CN" sz="2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5" name="Rectangle 2"/>
          <p:cNvSpPr txBox="1">
            <a:spLocks noChangeArrowheads="1"/>
          </p:cNvSpPr>
          <p:nvPr/>
        </p:nvSpPr>
        <p:spPr bwMode="auto">
          <a:xfrm>
            <a:off x="400050" y="3429000"/>
            <a:ext cx="5324475" cy="639763"/>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Structured Naming</a:t>
            </a:r>
            <a:endParaRPr kumimoji="0" lang="en-US" altLang="zh-CN" sz="4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95250" y="-142875"/>
            <a:ext cx="9144000" cy="990600"/>
          </a:xfrm>
        </p:spPr>
        <p:txBody>
          <a:bodyPr vert="horz" wrap="square" lIns="91440" tIns="45720" rIns="91440" bIns="45720" anchor="ctr" anchorCtr="0"/>
          <a:lstStyle/>
          <a:p>
            <a:pPr eaLnBrk="1" hangingPunct="1"/>
            <a:r>
              <a:rPr lang="en-US" altLang="zh-CN" dirty="0">
                <a:ea typeface="宋体" panose="02010600030101010101" pitchFamily="2" charset="-122"/>
              </a:rPr>
              <a:t>Name Space </a:t>
            </a:r>
            <a:endParaRPr lang="en-US" altLang="zh-CN" dirty="0">
              <a:ea typeface="宋体" panose="02010600030101010101" pitchFamily="2" charset="-122"/>
            </a:endParaRPr>
          </a:p>
        </p:txBody>
      </p:sp>
      <p:sp>
        <p:nvSpPr>
          <p:cNvPr id="32771" name="Rectangle 3"/>
          <p:cNvSpPr>
            <a:spLocks noGrp="1"/>
          </p:cNvSpPr>
          <p:nvPr>
            <p:ph idx="1"/>
          </p:nvPr>
        </p:nvSpPr>
        <p:spPr>
          <a:xfrm>
            <a:off x="6350" y="847725"/>
            <a:ext cx="9144000" cy="5867400"/>
          </a:xfrm>
        </p:spPr>
        <p:txBody>
          <a:bodyPr vert="horz" wrap="square" lIns="91440" tIns="45720" rIns="91440" bIns="45720" anchor="t" anchorCtr="0"/>
          <a:lstStyle/>
          <a:p>
            <a:pPr algn="l" eaLnBrk="1" hangingPunct="1">
              <a:lnSpc>
                <a:spcPct val="110000"/>
              </a:lnSpc>
            </a:pPr>
            <a:r>
              <a:rPr lang="en-US" altLang="zh-CN" sz="2800" dirty="0">
                <a:ea typeface="宋体" panose="02010600030101010101" pitchFamily="2" charset="-122"/>
              </a:rPr>
              <a:t>A graph in which a </a:t>
            </a:r>
            <a:r>
              <a:rPr lang="en-US" altLang="zh-CN" sz="2800" b="1" dirty="0">
                <a:solidFill>
                  <a:srgbClr val="FF0000"/>
                </a:solidFill>
                <a:ea typeface="宋体" panose="02010600030101010101" pitchFamily="2" charset="-122"/>
              </a:rPr>
              <a:t>leaf node</a:t>
            </a:r>
            <a:r>
              <a:rPr lang="en-US" altLang="zh-CN" sz="2800" b="1" dirty="0">
                <a:ea typeface="宋体" panose="02010600030101010101" pitchFamily="2" charset="-122"/>
              </a:rPr>
              <a:t> </a:t>
            </a:r>
            <a:r>
              <a:rPr lang="en-US" altLang="zh-CN" sz="2800" dirty="0">
                <a:ea typeface="宋体" panose="02010600030101010101" pitchFamily="2" charset="-122"/>
              </a:rPr>
              <a:t>represents a (named) entity. A </a:t>
            </a:r>
            <a:r>
              <a:rPr lang="en-US" altLang="zh-CN" sz="2800" b="1" dirty="0">
                <a:solidFill>
                  <a:srgbClr val="FF0000"/>
                </a:solidFill>
                <a:ea typeface="宋体" panose="02010600030101010101" pitchFamily="2" charset="-122"/>
              </a:rPr>
              <a:t>directory node</a:t>
            </a:r>
            <a:r>
              <a:rPr lang="en-US" altLang="zh-CN" sz="2800" b="1" dirty="0">
                <a:ea typeface="宋体" panose="02010600030101010101" pitchFamily="2" charset="-122"/>
              </a:rPr>
              <a:t> </a:t>
            </a:r>
            <a:r>
              <a:rPr lang="en-US" altLang="zh-CN" sz="2800" dirty="0">
                <a:ea typeface="宋体" panose="02010600030101010101" pitchFamily="2" charset="-122"/>
              </a:rPr>
              <a:t>is an entity that refers to other nodes.</a:t>
            </a: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dirty="0">
              <a:ea typeface="宋体" panose="02010600030101010101" pitchFamily="2" charset="-122"/>
            </a:endParaRPr>
          </a:p>
          <a:p>
            <a:pPr algn="l" eaLnBrk="1" hangingPunct="1">
              <a:lnSpc>
                <a:spcPct val="110000"/>
              </a:lnSpc>
            </a:pPr>
            <a:endParaRPr lang="en-US" altLang="zh-CN" sz="2800" b="1" dirty="0">
              <a:solidFill>
                <a:srgbClr val="FF0000"/>
              </a:solidFill>
              <a:ea typeface="宋体" panose="02010600030101010101" pitchFamily="2" charset="-122"/>
            </a:endParaRPr>
          </a:p>
          <a:p>
            <a:pPr algn="l" eaLnBrk="1" hangingPunct="1">
              <a:lnSpc>
                <a:spcPct val="110000"/>
              </a:lnSpc>
            </a:pPr>
            <a:r>
              <a:rPr lang="en-US" altLang="zh-CN" sz="2800" b="1" dirty="0">
                <a:solidFill>
                  <a:srgbClr val="FF0000"/>
                </a:solidFill>
                <a:ea typeface="宋体" panose="02010600030101010101" pitchFamily="2" charset="-122"/>
              </a:rPr>
              <a:t>Note</a:t>
            </a:r>
            <a:r>
              <a:rPr lang="en-US" altLang="zh-CN" sz="2800" b="1" dirty="0">
                <a:ea typeface="宋体" panose="02010600030101010101" pitchFamily="2" charset="-122"/>
              </a:rPr>
              <a:t>: </a:t>
            </a:r>
            <a:r>
              <a:rPr lang="en-US" altLang="zh-CN" sz="2800" dirty="0">
                <a:ea typeface="宋体" panose="02010600030101010101" pitchFamily="2" charset="-122"/>
              </a:rPr>
              <a:t>A directory node contains a (directory) table of </a:t>
            </a:r>
            <a:r>
              <a:rPr lang="en-US" altLang="zh-CN" sz="2800" i="1" dirty="0">
                <a:ea typeface="宋体" panose="02010600030101010101" pitchFamily="2" charset="-122"/>
              </a:rPr>
              <a:t>(edge label, node identifier) </a:t>
            </a:r>
            <a:r>
              <a:rPr lang="en-US" altLang="zh-CN" sz="2800" dirty="0">
                <a:ea typeface="宋体" panose="02010600030101010101" pitchFamily="2" charset="-122"/>
              </a:rPr>
              <a:t>pairs.</a:t>
            </a:r>
            <a:endParaRPr lang="en-US" altLang="zh-CN" sz="2800" dirty="0">
              <a:ea typeface="宋体" panose="02010600030101010101" pitchFamily="2" charset="-122"/>
            </a:endParaRPr>
          </a:p>
        </p:txBody>
      </p:sp>
      <p:pic>
        <p:nvPicPr>
          <p:cNvPr id="32772" name="Picture 4"/>
          <p:cNvPicPr>
            <a:picLocks noChangeAspect="1"/>
          </p:cNvPicPr>
          <p:nvPr/>
        </p:nvPicPr>
        <p:blipFill>
          <a:blip r:embed="rId1"/>
          <a:srcRect l="22447" t="44864" r="20096" b="39879"/>
          <a:stretch>
            <a:fillRect/>
          </a:stretch>
        </p:blipFill>
        <p:spPr>
          <a:xfrm>
            <a:off x="444500" y="1838325"/>
            <a:ext cx="8064500" cy="3808413"/>
          </a:xfrm>
          <a:prstGeom prst="rect">
            <a:avLst/>
          </a:prstGeom>
          <a:noFill/>
          <a:ln w="9525">
            <a:noFill/>
          </a:ln>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a:xfrm>
            <a:off x="417513" y="209550"/>
            <a:ext cx="8281987" cy="933450"/>
          </a:xfrm>
        </p:spPr>
        <p:txBody>
          <a:bodyPr vert="horz" wrap="square" lIns="91440" tIns="45720" rIns="91440" bIns="45720" anchor="ctr" anchorCtr="0"/>
          <a:lstStyle/>
          <a:p>
            <a:pPr eaLnBrk="1" hangingPunct="1"/>
            <a:r>
              <a:rPr lang="en-US" altLang="zh-CN" sz="4000" dirty="0">
                <a:ea typeface="宋体" panose="02010600030101010101" pitchFamily="2" charset="-122"/>
              </a:rPr>
              <a:t>Implementation of Name Resolution</a:t>
            </a:r>
            <a:endParaRPr lang="en-US" altLang="zh-CN" sz="4000" dirty="0">
              <a:ea typeface="宋体" panose="02010600030101010101" pitchFamily="2" charset="-122"/>
            </a:endParaRPr>
          </a:p>
        </p:txBody>
      </p:sp>
      <p:sp>
        <p:nvSpPr>
          <p:cNvPr id="61443" name="Rectangle 3"/>
          <p:cNvSpPr>
            <a:spLocks noGrp="1"/>
          </p:cNvSpPr>
          <p:nvPr>
            <p:ph idx="1"/>
          </p:nvPr>
        </p:nvSpPr>
        <p:spPr>
          <a:xfrm>
            <a:off x="239713" y="1143000"/>
            <a:ext cx="8636000" cy="1428750"/>
          </a:xfrm>
        </p:spPr>
        <p:txBody>
          <a:bodyPr vert="horz" wrap="square" lIns="91440" tIns="45720" rIns="91440" bIns="45720" anchor="t" anchorCtr="0"/>
          <a:lstStyle/>
          <a:p>
            <a:pPr marL="0" indent="0" algn="l" eaLnBrk="1" hangingPunct="1">
              <a:buNone/>
            </a:pPr>
            <a:r>
              <a:rPr lang="en-US" altLang="zh-CN" sz="2400" dirty="0">
                <a:ea typeface="宋体" panose="02010600030101010101" pitchFamily="2" charset="-122"/>
              </a:rPr>
              <a:t>There are two ways to implement name resolution:</a:t>
            </a:r>
            <a:endParaRPr lang="en-US" altLang="zh-CN" sz="2400" dirty="0">
              <a:ea typeface="宋体" panose="02010600030101010101" pitchFamily="2" charset="-122"/>
            </a:endParaRPr>
          </a:p>
          <a:p>
            <a:pPr marL="0" indent="0" algn="l" eaLnBrk="1" hangingPunct="1">
              <a:buNone/>
            </a:pPr>
            <a:r>
              <a:rPr lang="en-US" altLang="zh-CN" sz="2400" dirty="0">
                <a:ea typeface="宋体" panose="02010600030101010101" pitchFamily="2" charset="-122"/>
              </a:rPr>
              <a:t>      1. Iterative name resolution</a:t>
            </a:r>
            <a:endParaRPr lang="en-US" altLang="zh-CN" sz="2400" dirty="0">
              <a:ea typeface="宋体" panose="02010600030101010101" pitchFamily="2" charset="-122"/>
            </a:endParaRPr>
          </a:p>
          <a:p>
            <a:pPr marL="0" indent="0" algn="l" eaLnBrk="1" hangingPunct="1">
              <a:buNone/>
            </a:pPr>
            <a:r>
              <a:rPr lang="en-US" altLang="zh-CN" sz="2400" dirty="0">
                <a:ea typeface="宋体" panose="02010600030101010101" pitchFamily="2" charset="-122"/>
              </a:rPr>
              <a:t>      2. Recursive name resolution </a:t>
            </a:r>
            <a:endParaRPr lang="en-US" altLang="zh-CN" sz="2400" dirty="0">
              <a:ea typeface="宋体" panose="02010600030101010101" pitchFamily="2" charset="-122"/>
            </a:endParaRPr>
          </a:p>
        </p:txBody>
      </p:sp>
      <p:sp>
        <p:nvSpPr>
          <p:cNvPr id="4" name="Rectangle 3"/>
          <p:cNvSpPr txBox="1">
            <a:spLocks noChangeArrowheads="1"/>
          </p:cNvSpPr>
          <p:nvPr/>
        </p:nvSpPr>
        <p:spPr bwMode="auto">
          <a:xfrm>
            <a:off x="935038" y="6381750"/>
            <a:ext cx="6399213" cy="47625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90000"/>
              </a:lnSpc>
              <a:spcBef>
                <a:spcPct val="20000"/>
              </a:spcBef>
              <a:spcAft>
                <a:spcPct val="0"/>
              </a:spcAft>
              <a:buClr>
                <a:schemeClr val="accent2"/>
              </a:buClr>
              <a:buSzTx/>
              <a:buFontTx/>
              <a:buNone/>
              <a:defRPr/>
            </a:pP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The principle of iterative name resolution.</a:t>
            </a:r>
            <a:endPar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61445" name="Picture 4"/>
          <p:cNvPicPr>
            <a:picLocks noChangeAspect="1"/>
          </p:cNvPicPr>
          <p:nvPr/>
        </p:nvPicPr>
        <p:blipFill>
          <a:blip r:embed="rId1"/>
          <a:srcRect l="24345" t="42598" r="21379" b="36404"/>
          <a:stretch>
            <a:fillRect/>
          </a:stretch>
        </p:blipFill>
        <p:spPr>
          <a:xfrm>
            <a:off x="417513" y="2747963"/>
            <a:ext cx="8185150" cy="3457575"/>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Implementation of Name Resolution (2)</a:t>
            </a:r>
            <a:endParaRPr lang="en-US" altLang="zh-CN" sz="4000" dirty="0">
              <a:ea typeface="宋体" panose="02010600030101010101" pitchFamily="2" charset="-122"/>
            </a:endParaRPr>
          </a:p>
        </p:txBody>
      </p:sp>
      <p:sp>
        <p:nvSpPr>
          <p:cNvPr id="62467" name="Rectangle 3"/>
          <p:cNvSpPr>
            <a:spLocks noGrp="1"/>
          </p:cNvSpPr>
          <p:nvPr>
            <p:ph idx="1"/>
          </p:nvPr>
        </p:nvSpPr>
        <p:spPr>
          <a:xfrm>
            <a:off x="533400" y="6045200"/>
            <a:ext cx="8059738" cy="485775"/>
          </a:xfrm>
        </p:spPr>
        <p:txBody>
          <a:bodyPr vert="horz" wrap="square" lIns="91440" tIns="45720" rIns="91440" bIns="45720" anchor="t" anchorCtr="0"/>
          <a:lstStyle/>
          <a:p>
            <a:pPr eaLnBrk="1" hangingPunct="1">
              <a:lnSpc>
                <a:spcPct val="90000"/>
              </a:lnSpc>
              <a:buNone/>
            </a:pPr>
            <a:r>
              <a:rPr lang="en-US" altLang="zh-CN" sz="2800" dirty="0">
                <a:ea typeface="宋体" panose="02010600030101010101" pitchFamily="2" charset="-122"/>
              </a:rPr>
              <a:t>The principle of recursive name resolution.</a:t>
            </a:r>
            <a:endParaRPr lang="en-US" altLang="zh-CN" sz="2800" dirty="0">
              <a:ea typeface="宋体" panose="02010600030101010101" pitchFamily="2" charset="-122"/>
            </a:endParaRPr>
          </a:p>
        </p:txBody>
      </p:sp>
      <p:pic>
        <p:nvPicPr>
          <p:cNvPr id="62468" name="Picture 5"/>
          <p:cNvPicPr>
            <a:picLocks noChangeAspect="1"/>
          </p:cNvPicPr>
          <p:nvPr/>
        </p:nvPicPr>
        <p:blipFill>
          <a:blip r:embed="rId1"/>
          <a:srcRect l="24345" t="43504" r="21593" b="37915"/>
          <a:stretch>
            <a:fillRect/>
          </a:stretch>
        </p:blipFill>
        <p:spPr>
          <a:xfrm>
            <a:off x="254000" y="1177925"/>
            <a:ext cx="8637588" cy="4508500"/>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a:xfrm>
            <a:off x="234950" y="120650"/>
            <a:ext cx="8713788" cy="908050"/>
          </a:xfrm>
        </p:spPr>
        <p:txBody>
          <a:bodyPr vert="horz" wrap="square" lIns="91440" tIns="45720" rIns="91440" bIns="45720" anchor="ctr" anchorCtr="0"/>
          <a:lstStyle/>
          <a:p>
            <a:pPr eaLnBrk="1" hangingPunct="1"/>
            <a:r>
              <a:rPr lang="en-US" altLang="zh-CN" sz="4000" dirty="0">
                <a:ea typeface="宋体" panose="02010600030101010101" pitchFamily="2" charset="-122"/>
              </a:rPr>
              <a:t>Implementation of Name Resolution (3)</a:t>
            </a:r>
            <a:endParaRPr lang="en-US" altLang="zh-CN" sz="4000" dirty="0">
              <a:ea typeface="宋体" panose="02010600030101010101" pitchFamily="2" charset="-122"/>
            </a:endParaRPr>
          </a:p>
        </p:txBody>
      </p:sp>
      <p:sp>
        <p:nvSpPr>
          <p:cNvPr id="63491" name="Rectangle 3"/>
          <p:cNvSpPr>
            <a:spLocks noGrp="1"/>
          </p:cNvSpPr>
          <p:nvPr>
            <p:ph idx="1"/>
          </p:nvPr>
        </p:nvSpPr>
        <p:spPr>
          <a:xfrm>
            <a:off x="774700" y="5595938"/>
            <a:ext cx="7573963" cy="838200"/>
          </a:xfrm>
        </p:spPr>
        <p:txBody>
          <a:bodyPr vert="horz" wrap="square" lIns="91440" tIns="45720" rIns="91440" bIns="45720" anchor="t" anchorCtr="0"/>
          <a:lstStyle/>
          <a:p>
            <a:pPr algn="l" eaLnBrk="1" hangingPunct="1">
              <a:buNone/>
            </a:pPr>
            <a:r>
              <a:rPr lang="en-US" altLang="zh-CN" sz="2400" dirty="0">
                <a:ea typeface="宋体" panose="02010600030101010101" pitchFamily="2" charset="-122"/>
              </a:rPr>
              <a:t>Recursive name resolution of &lt;</a:t>
            </a:r>
            <a:r>
              <a:rPr lang="en-US" altLang="zh-CN" sz="2400" i="1" dirty="0">
                <a:ea typeface="宋体" panose="02010600030101010101" pitchFamily="2" charset="-122"/>
              </a:rPr>
              <a:t>nl, vu, cs, ftp</a:t>
            </a:r>
            <a:r>
              <a:rPr lang="en-US" altLang="zh-CN" sz="2400" dirty="0">
                <a:ea typeface="宋体" panose="02010600030101010101" pitchFamily="2" charset="-122"/>
              </a:rPr>
              <a:t>&gt;. Name servers cache intermediate results for subsequent lookups.</a:t>
            </a:r>
            <a:endParaRPr lang="en-US" altLang="zh-CN" sz="2400" dirty="0">
              <a:ea typeface="宋体" panose="02010600030101010101" pitchFamily="2" charset="-122"/>
            </a:endParaRPr>
          </a:p>
        </p:txBody>
      </p:sp>
      <p:graphicFrame>
        <p:nvGraphicFramePr>
          <p:cNvPr id="12408" name="Group 120"/>
          <p:cNvGraphicFramePr>
            <a:graphicFrameLocks noGrp="1"/>
          </p:cNvGraphicFramePr>
          <p:nvPr/>
        </p:nvGraphicFramePr>
        <p:xfrm>
          <a:off x="488950" y="1414463"/>
          <a:ext cx="8275638" cy="3854452"/>
        </p:xfrm>
        <a:graphic>
          <a:graphicData uri="http://schemas.openxmlformats.org/drawingml/2006/table">
            <a:tbl>
              <a:tblPr/>
              <a:tblGrid>
                <a:gridCol w="1271588"/>
                <a:gridCol w="1487487"/>
                <a:gridCol w="1220788"/>
                <a:gridCol w="1328737"/>
                <a:gridCol w="1327150"/>
                <a:gridCol w="1639888"/>
              </a:tblGrid>
              <a:tr h="774471">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Server for node</a:t>
                      </a:r>
                      <a:endPar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Should resolve</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Looks up</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Passes to child</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Receives and caches</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Returns to requester</a:t>
                      </a:r>
                      <a:endPar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802">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cs</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ftp&gt;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ftp&gt;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ftp&gt;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74471">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vu</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cs,ftp&gt;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cs&gt;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ftp&gt;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ftp&gt;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cs&gt;</a:t>
                      </a:r>
                      <a:b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#&lt;cs, ftp&gt;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2934">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nI</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vu,cs,ftp&gt;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vu&gt;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cs,ftp&gt;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cs&gt;</a:t>
                      </a:r>
                      <a:b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#&lt;cs,ftp&gt;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vu&gt;</a:t>
                      </a:r>
                      <a:b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#&lt;vu,cs&gt;</a:t>
                      </a:r>
                      <a:b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#&lt;vu,cs,ftp&gt;</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6677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root</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nl,vu,cs,ftp</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nl</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vu,cs,ftp</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vu&gt;</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vu,cs</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vu,cs,ftp</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nl</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nl,vu</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nl,vu,cs</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a:t>
                      </a:r>
                      <a:b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a:t>
                      </a:r>
                      <a:r>
                        <a:rPr kumimoji="0" lang="en-US" altLang="zh-CN" sz="16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nl,vu,cs,ftp</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p:txBody>
          <a:bodyPr vert="horz" wrap="square" lIns="91440" tIns="45720" rIns="91440" bIns="45720" anchor="ctr" anchorCtr="0"/>
          <a:lstStyle/>
          <a:p>
            <a:pPr eaLnBrk="1" hangingPunct="1"/>
            <a:r>
              <a:rPr lang="en-US" altLang="zh-CN" sz="4000" dirty="0">
                <a:ea typeface="宋体" panose="02010600030101010101" pitchFamily="2" charset="-122"/>
              </a:rPr>
              <a:t>Implementation of Name Resolution (4)</a:t>
            </a:r>
            <a:endParaRPr lang="en-US" altLang="zh-CN" sz="4000" dirty="0">
              <a:ea typeface="宋体" panose="02010600030101010101" pitchFamily="2" charset="-122"/>
            </a:endParaRPr>
          </a:p>
        </p:txBody>
      </p:sp>
      <p:sp>
        <p:nvSpPr>
          <p:cNvPr id="64515" name="Rectangle 3"/>
          <p:cNvSpPr>
            <a:spLocks noGrp="1"/>
          </p:cNvSpPr>
          <p:nvPr>
            <p:ph idx="1"/>
          </p:nvPr>
        </p:nvSpPr>
        <p:spPr>
          <a:xfrm>
            <a:off x="685800" y="5765800"/>
            <a:ext cx="7810500" cy="838200"/>
          </a:xfrm>
        </p:spPr>
        <p:txBody>
          <a:bodyPr vert="horz" wrap="square" lIns="91440" tIns="45720" rIns="91440" bIns="45720" anchor="t" anchorCtr="0"/>
          <a:lstStyle/>
          <a:p>
            <a:pPr eaLnBrk="1" hangingPunct="1">
              <a:buNone/>
            </a:pPr>
            <a:r>
              <a:rPr lang="en-US" altLang="zh-CN" sz="2400" dirty="0">
                <a:ea typeface="宋体" panose="02010600030101010101" pitchFamily="2" charset="-122"/>
              </a:rPr>
              <a:t>The comparison between recursive and iterative name resolution with respect to communication costs.</a:t>
            </a:r>
            <a:endParaRPr lang="en-US" altLang="zh-CN" sz="2400" dirty="0">
              <a:ea typeface="宋体" panose="02010600030101010101" pitchFamily="2" charset="-122"/>
            </a:endParaRPr>
          </a:p>
        </p:txBody>
      </p:sp>
      <p:pic>
        <p:nvPicPr>
          <p:cNvPr id="64516" name="Picture 5"/>
          <p:cNvPicPr>
            <a:picLocks noChangeAspect="1"/>
          </p:cNvPicPr>
          <p:nvPr/>
        </p:nvPicPr>
        <p:blipFill>
          <a:blip r:embed="rId1"/>
          <a:srcRect l="20952" t="44411" r="18385" b="38972"/>
          <a:stretch>
            <a:fillRect/>
          </a:stretch>
        </p:blipFill>
        <p:spPr>
          <a:xfrm>
            <a:off x="495300" y="1149350"/>
            <a:ext cx="8105775" cy="4471988"/>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80963" y="30163"/>
            <a:ext cx="8961437" cy="842962"/>
          </a:xfrm>
        </p:spPr>
        <p:txBody>
          <a:bodyPr vert="horz" wrap="square" lIns="91440" tIns="45720" rIns="91440" bIns="45720" anchor="ctr" anchorCtr="0"/>
          <a:lstStyle/>
          <a:p>
            <a:pPr eaLnBrk="1" hangingPunct="1"/>
            <a:r>
              <a:rPr lang="en-US" altLang="zh-CN" dirty="0">
                <a:ea typeface="宋体" panose="02010600030101010101" pitchFamily="2" charset="-122"/>
              </a:rPr>
              <a:t>Example: The Domain  Name  System</a:t>
            </a:r>
            <a:endParaRPr lang="en-US" altLang="zh-CN" dirty="0">
              <a:ea typeface="宋体" panose="02010600030101010101" pitchFamily="2" charset="-122"/>
            </a:endParaRPr>
          </a:p>
        </p:txBody>
      </p:sp>
      <p:sp>
        <p:nvSpPr>
          <p:cNvPr id="65539" name="Rectangle 3"/>
          <p:cNvSpPr>
            <a:spLocks noGrp="1"/>
          </p:cNvSpPr>
          <p:nvPr>
            <p:ph idx="1"/>
          </p:nvPr>
        </p:nvSpPr>
        <p:spPr>
          <a:xfrm>
            <a:off x="80963" y="1071563"/>
            <a:ext cx="8991600" cy="5291137"/>
          </a:xfrm>
        </p:spPr>
        <p:txBody>
          <a:bodyPr vert="horz" wrap="square" lIns="91440" tIns="45720" rIns="91440" bIns="45720" anchor="t" anchorCtr="0"/>
          <a:lstStyle/>
          <a:p>
            <a:pPr marL="0" indent="0" algn="l" eaLnBrk="1" hangingPunct="1">
              <a:lnSpc>
                <a:spcPct val="200000"/>
              </a:lnSpc>
              <a:buFont typeface="Wingdings" panose="05000000000000000000" pitchFamily="2" charset="2"/>
              <a:buChar char="u"/>
            </a:pPr>
            <a:r>
              <a:rPr lang="en-US" altLang="zh-CN" sz="2200" dirty="0">
                <a:ea typeface="宋体" panose="02010600030101010101" pitchFamily="2" charset="-122"/>
              </a:rPr>
              <a:t>The Internet </a:t>
            </a:r>
            <a:r>
              <a:rPr lang="en-US" altLang="zh-CN" sz="2200" b="1" dirty="0">
                <a:ea typeface="宋体" panose="02010600030101010101" pitchFamily="2" charset="-122"/>
              </a:rPr>
              <a:t>Domain Name System</a:t>
            </a:r>
            <a:r>
              <a:rPr lang="en-US" altLang="zh-CN" sz="2200" dirty="0">
                <a:ea typeface="宋体" panose="02010600030101010101" pitchFamily="2" charset="-122"/>
              </a:rPr>
              <a:t>(</a:t>
            </a:r>
            <a:r>
              <a:rPr lang="en-US" altLang="zh-CN" sz="2200" b="1" dirty="0">
                <a:ea typeface="宋体" panose="02010600030101010101" pitchFamily="2" charset="-122"/>
              </a:rPr>
              <a:t>DNS</a:t>
            </a:r>
            <a:r>
              <a:rPr lang="en-US" altLang="zh-CN" sz="2200" dirty="0">
                <a:ea typeface="宋体" panose="02010600030101010101" pitchFamily="2" charset="-122"/>
              </a:rPr>
              <a:t>) is the largest distributed naming services in use today.</a:t>
            </a:r>
            <a:r>
              <a:rPr lang="zh-CN" altLang="en-US" sz="2200" b="1" dirty="0">
                <a:ea typeface="_x000B__x000C_"/>
              </a:rPr>
              <a:t> </a:t>
            </a:r>
            <a:r>
              <a:rPr lang="zh-CN" altLang="en-US" sz="2200" b="1" dirty="0">
                <a:ea typeface="宋体" panose="02010600030101010101" pitchFamily="2" charset="-122"/>
              </a:rPr>
              <a:t>它为互联网上的每个实体起个独一无二的名字，并能够通过名字查找其在“网图”中的位置。</a:t>
            </a:r>
            <a:endParaRPr lang="zh-CN" altLang="en-US" sz="2200" b="1" dirty="0">
              <a:ea typeface="宋体" panose="02010600030101010101" pitchFamily="2" charset="-122"/>
            </a:endParaRPr>
          </a:p>
          <a:p>
            <a:pPr marL="0" indent="0" algn="l" eaLnBrk="1" hangingPunct="1">
              <a:lnSpc>
                <a:spcPct val="200000"/>
              </a:lnSpc>
              <a:buFont typeface="Wingdings" panose="05000000000000000000" pitchFamily="2" charset="2"/>
              <a:buChar char="u"/>
            </a:pPr>
            <a:r>
              <a:rPr lang="en-US" altLang="zh-CN" sz="2200" b="1" dirty="0">
                <a:ea typeface="宋体" panose="02010600030101010101" pitchFamily="2" charset="-122"/>
              </a:rPr>
              <a:t>DNS</a:t>
            </a:r>
            <a:r>
              <a:rPr lang="zh-CN" altLang="en-US" sz="2200" b="1" dirty="0">
                <a:ea typeface="宋体" panose="02010600030101010101" pitchFamily="2" charset="-122"/>
              </a:rPr>
              <a:t>将整个</a:t>
            </a:r>
            <a:r>
              <a:rPr lang="en-US" altLang="zh-CN" sz="2200" b="1" dirty="0">
                <a:ea typeface="宋体" panose="02010600030101010101" pitchFamily="2" charset="-122"/>
              </a:rPr>
              <a:t>Internet</a:t>
            </a:r>
            <a:r>
              <a:rPr lang="zh-CN" altLang="en-US" sz="2200" b="1" dirty="0">
                <a:ea typeface="宋体" panose="02010600030101010101" pitchFamily="2" charset="-122"/>
              </a:rPr>
              <a:t>视为一个域名空间（</a:t>
            </a:r>
            <a:r>
              <a:rPr lang="en-US" altLang="zh-CN" sz="2200" b="1" dirty="0">
                <a:ea typeface="宋体" panose="02010600030101010101" pitchFamily="2" charset="-122"/>
              </a:rPr>
              <a:t>Name Space</a:t>
            </a:r>
            <a:r>
              <a:rPr lang="zh-CN" altLang="en-US" sz="2200" b="1" dirty="0">
                <a:ea typeface="宋体" panose="02010600030101010101" pitchFamily="2" charset="-122"/>
              </a:rPr>
              <a:t>）</a:t>
            </a:r>
            <a:r>
              <a:rPr lang="en-US" altLang="zh-CN" sz="2200" b="1" dirty="0">
                <a:ea typeface="宋体" panose="02010600030101010101" pitchFamily="2" charset="-122"/>
              </a:rPr>
              <a:t>,  </a:t>
            </a:r>
            <a:r>
              <a:rPr lang="zh-CN" altLang="en-US" sz="2200" b="1" dirty="0">
                <a:solidFill>
                  <a:srgbClr val="FF0000"/>
                </a:solidFill>
                <a:ea typeface="宋体" panose="02010600030101010101" pitchFamily="2" charset="-122"/>
              </a:rPr>
              <a:t>域</a:t>
            </a:r>
            <a:r>
              <a:rPr lang="zh-CN" altLang="en-US" sz="2200" b="1" dirty="0">
                <a:ea typeface="宋体" panose="02010600030101010101" pitchFamily="2" charset="-122"/>
              </a:rPr>
              <a:t>代表网络中命名资源的集合，资源包括工作站、</a:t>
            </a:r>
            <a:r>
              <a:rPr lang="en-US" altLang="zh-CN" sz="2200" b="1" dirty="0">
                <a:ea typeface="宋体" panose="02010600030101010101" pitchFamily="2" charset="-122"/>
              </a:rPr>
              <a:t>PC</a:t>
            </a:r>
            <a:r>
              <a:rPr lang="zh-CN" altLang="en-US" sz="2200" b="1" dirty="0">
                <a:ea typeface="宋体" panose="02010600030101010101" pitchFamily="2" charset="-122"/>
              </a:rPr>
              <a:t>机、路由器等任何标识的东西；</a:t>
            </a:r>
            <a:endParaRPr lang="zh-CN" altLang="en-US" sz="2200" b="1" dirty="0">
              <a:ea typeface="宋体" panose="02010600030101010101" pitchFamily="2" charset="-122"/>
            </a:endParaRPr>
          </a:p>
          <a:p>
            <a:pPr marL="0" indent="0" algn="l" eaLnBrk="1" hangingPunct="1">
              <a:lnSpc>
                <a:spcPct val="200000"/>
              </a:lnSpc>
              <a:buFont typeface="Wingdings" panose="05000000000000000000" pitchFamily="2" charset="2"/>
              <a:buChar char="u"/>
            </a:pPr>
            <a:r>
              <a:rPr lang="zh-CN" altLang="en-US" sz="2200" b="1" dirty="0">
                <a:solidFill>
                  <a:srgbClr val="FF0000"/>
                </a:solidFill>
                <a:ea typeface="宋体" panose="02010600030101010101" pitchFamily="2" charset="-122"/>
              </a:rPr>
              <a:t>域名服务器</a:t>
            </a:r>
            <a:r>
              <a:rPr lang="zh-CN" altLang="en-US" sz="2200" b="1" dirty="0">
                <a:ea typeface="宋体" panose="02010600030101010101" pitchFamily="2" charset="-122"/>
              </a:rPr>
              <a:t>负责管理存放</a:t>
            </a:r>
            <a:r>
              <a:rPr lang="zh-CN" altLang="en-US" sz="2200" b="1" dirty="0">
                <a:solidFill>
                  <a:srgbClr val="FF0000"/>
                </a:solidFill>
                <a:ea typeface="宋体" panose="02010600030101010101" pitchFamily="2" charset="-122"/>
              </a:rPr>
              <a:t>主机名和</a:t>
            </a:r>
            <a:r>
              <a:rPr lang="en-US" altLang="zh-CN" sz="2200" b="1" dirty="0">
                <a:solidFill>
                  <a:srgbClr val="FF0000"/>
                </a:solidFill>
                <a:ea typeface="宋体" panose="02010600030101010101" pitchFamily="2" charset="-122"/>
              </a:rPr>
              <a:t>IP</a:t>
            </a:r>
            <a:r>
              <a:rPr lang="zh-CN" altLang="en-US" sz="2200" b="1" dirty="0">
                <a:solidFill>
                  <a:srgbClr val="FF0000"/>
                </a:solidFill>
                <a:ea typeface="宋体" panose="02010600030101010101" pitchFamily="2" charset="-122"/>
              </a:rPr>
              <a:t>地址</a:t>
            </a:r>
            <a:r>
              <a:rPr lang="zh-CN" altLang="en-US" sz="2200" b="1" dirty="0">
                <a:ea typeface="宋体" panose="02010600030101010101" pitchFamily="2" charset="-122"/>
              </a:rPr>
              <a:t>的数据库文件，以及</a:t>
            </a:r>
            <a:r>
              <a:rPr lang="zh-CN" altLang="en-US" sz="2200" b="1" dirty="0">
                <a:solidFill>
                  <a:srgbClr val="FF0000"/>
                </a:solidFill>
                <a:ea typeface="宋体" panose="02010600030101010101" pitchFamily="2" charset="-122"/>
              </a:rPr>
              <a:t>主机名和</a:t>
            </a:r>
            <a:r>
              <a:rPr lang="en-US" altLang="zh-CN" sz="2200" b="1" dirty="0">
                <a:solidFill>
                  <a:srgbClr val="FF0000"/>
                </a:solidFill>
                <a:ea typeface="宋体" panose="02010600030101010101" pitchFamily="2" charset="-122"/>
              </a:rPr>
              <a:t>IP</a:t>
            </a:r>
            <a:r>
              <a:rPr lang="zh-CN" altLang="en-US" sz="2200" b="1" dirty="0">
                <a:solidFill>
                  <a:srgbClr val="FF0000"/>
                </a:solidFill>
                <a:ea typeface="宋体" panose="02010600030101010101" pitchFamily="2" charset="-122"/>
              </a:rPr>
              <a:t>地址映射</a:t>
            </a:r>
            <a:r>
              <a:rPr lang="zh-CN" altLang="en-US" sz="2200" b="1" dirty="0">
                <a:ea typeface="宋体" panose="02010600030101010101" pitchFamily="2" charset="-122"/>
              </a:rPr>
              <a:t>。它们分布在不同地方，通过特定方式进行联络；</a:t>
            </a:r>
            <a:endParaRPr lang="zh-CN" altLang="en-US" sz="2200" b="1" dirty="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a:xfrm>
            <a:off x="80963" y="30163"/>
            <a:ext cx="8961437" cy="765175"/>
          </a:xfrm>
        </p:spPr>
        <p:txBody>
          <a:bodyPr vert="horz" wrap="square" lIns="91440" tIns="45720" rIns="91440" bIns="45720" anchor="ctr" anchorCtr="0"/>
          <a:lstStyle/>
          <a:p>
            <a:pPr eaLnBrk="1" hangingPunct="1"/>
            <a:r>
              <a:rPr lang="en-US" altLang="zh-CN" dirty="0">
                <a:ea typeface="宋体" panose="02010600030101010101" pitchFamily="2" charset="-122"/>
              </a:rPr>
              <a:t>Example: The Domain  Name  System</a:t>
            </a:r>
            <a:endParaRPr lang="en-US" altLang="zh-CN" dirty="0">
              <a:ea typeface="宋体" panose="02010600030101010101" pitchFamily="2" charset="-122"/>
            </a:endParaRPr>
          </a:p>
        </p:txBody>
      </p:sp>
      <p:sp>
        <p:nvSpPr>
          <p:cNvPr id="66563" name="Rectangle 3"/>
          <p:cNvSpPr>
            <a:spLocks noGrp="1"/>
          </p:cNvSpPr>
          <p:nvPr>
            <p:ph idx="1"/>
          </p:nvPr>
        </p:nvSpPr>
        <p:spPr>
          <a:xfrm>
            <a:off x="361950" y="669925"/>
            <a:ext cx="8399463" cy="1362075"/>
          </a:xfrm>
        </p:spPr>
        <p:txBody>
          <a:bodyPr vert="horz" wrap="square" lIns="91440" tIns="45720" rIns="91440" bIns="45720" anchor="t" anchorCtr="0"/>
          <a:lstStyle/>
          <a:p>
            <a:pPr marL="0" indent="0" algn="l" eaLnBrk="1" hangingPunct="1">
              <a:lnSpc>
                <a:spcPct val="150000"/>
              </a:lnSpc>
              <a:buFont typeface="Wingdings" panose="05000000000000000000" pitchFamily="2" charset="2"/>
              <a:buChar char="u"/>
            </a:pPr>
            <a:r>
              <a:rPr lang="en-US" altLang="zh-CN" sz="1800" b="1" dirty="0">
                <a:latin typeface="宋体" panose="02010600030101010101" pitchFamily="2" charset="-122"/>
                <a:ea typeface="宋体" panose="02010600030101010101" pitchFamily="2" charset="-122"/>
              </a:rPr>
              <a:t>Domain Name</a:t>
            </a:r>
            <a:r>
              <a:rPr lang="zh-CN" altLang="en-US" sz="1800" b="1" dirty="0">
                <a:latin typeface="宋体" panose="02010600030101010101" pitchFamily="2" charset="-122"/>
                <a:ea typeface="宋体" panose="02010600030101010101" pitchFamily="2" charset="-122"/>
              </a:rPr>
              <a:t>域名（ </a:t>
            </a:r>
            <a:r>
              <a:rPr lang="en-US" altLang="zh-CN" sz="1800" dirty="0">
                <a:latin typeface="宋体" panose="02010600030101010101" pitchFamily="2" charset="-122"/>
                <a:ea typeface="宋体" panose="02010600030101010101" pitchFamily="2" charset="-122"/>
              </a:rPr>
              <a:t>a path name to its root node</a:t>
            </a:r>
            <a:r>
              <a:rPr lang="zh-CN" altLang="en-US" sz="1800" b="1"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ea typeface="宋体" panose="02010600030101010101" pitchFamily="2" charset="-122"/>
              </a:rPr>
              <a:t>——公司在网上的唯一标识；例如：学校域名</a:t>
            </a:r>
            <a:r>
              <a:rPr lang="en-US" altLang="zh-CN" sz="1800" dirty="0">
                <a:latin typeface="宋体" panose="02010600030101010101" pitchFamily="2" charset="-122"/>
                <a:ea typeface="宋体" panose="02010600030101010101" pitchFamily="2" charset="-122"/>
              </a:rPr>
              <a:t> www.xjtu.edu.cn</a:t>
            </a:r>
            <a:endParaRPr lang="en-US" altLang="zh-CN" sz="1800" dirty="0">
              <a:latin typeface="宋体" panose="02010600030101010101" pitchFamily="2" charset="-122"/>
              <a:ea typeface="宋体" panose="02010600030101010101" pitchFamily="2" charset="-122"/>
            </a:endParaRPr>
          </a:p>
          <a:p>
            <a:pPr marL="0" indent="0" algn="l">
              <a:lnSpc>
                <a:spcPct val="150000"/>
              </a:lnSpc>
              <a:buFont typeface="Wingdings" panose="05000000000000000000" pitchFamily="2" charset="2"/>
              <a:buChar char="u"/>
            </a:pPr>
            <a:r>
              <a:rPr lang="zh-CN" altLang="en-US" sz="1800" b="1" dirty="0">
                <a:latin typeface="宋体" panose="02010600030101010101" pitchFamily="2" charset="-122"/>
                <a:ea typeface="宋体" panose="02010600030101010101" pitchFamily="2" charset="-122"/>
              </a:rPr>
              <a:t>主机名的书写方法</a:t>
            </a:r>
            <a:r>
              <a:rPr lang="en-US" altLang="zh-CN" sz="1800"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ea typeface="宋体" panose="02010600030101010101" pitchFamily="2" charset="-122"/>
              </a:rPr>
              <a:t> 叶节点名</a:t>
            </a:r>
            <a:r>
              <a:rPr lang="en-US" altLang="zh-CN" sz="1800"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ea typeface="宋体" panose="02010600030101010101" pitchFamily="2" charset="-122"/>
              </a:rPr>
              <a:t>三级域名</a:t>
            </a:r>
            <a:r>
              <a:rPr lang="en-US" altLang="zh-CN" sz="1800"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ea typeface="宋体" panose="02010600030101010101" pitchFamily="2" charset="-122"/>
              </a:rPr>
              <a:t>二级域名</a:t>
            </a:r>
            <a:r>
              <a:rPr lang="en-US" altLang="zh-CN" sz="1800"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ea typeface="宋体" panose="02010600030101010101" pitchFamily="2" charset="-122"/>
              </a:rPr>
              <a:t>顶级域名</a:t>
            </a:r>
            <a:endParaRPr lang="zh-CN" altLang="en-US" sz="1800" dirty="0">
              <a:latin typeface="宋体" panose="02010600030101010101" pitchFamily="2" charset="-122"/>
              <a:ea typeface="宋体" panose="02010600030101010101" pitchFamily="2" charset="-122"/>
            </a:endParaRPr>
          </a:p>
        </p:txBody>
      </p:sp>
      <p:pic>
        <p:nvPicPr>
          <p:cNvPr id="66564" name="Picture 5" descr="351"/>
          <p:cNvPicPr>
            <a:picLocks noChangeAspect="1"/>
          </p:cNvPicPr>
          <p:nvPr/>
        </p:nvPicPr>
        <p:blipFill>
          <a:blip r:embed="rId1"/>
          <a:stretch>
            <a:fillRect/>
          </a:stretch>
        </p:blipFill>
        <p:spPr>
          <a:xfrm>
            <a:off x="25400" y="2051050"/>
            <a:ext cx="5289550" cy="2908300"/>
          </a:xfrm>
          <a:prstGeom prst="rect">
            <a:avLst/>
          </a:prstGeom>
          <a:noFill/>
          <a:ln w="9525">
            <a:noFill/>
          </a:ln>
        </p:spPr>
      </p:pic>
      <p:pic>
        <p:nvPicPr>
          <p:cNvPr id="66565" name="Picture 4" descr="352"/>
          <p:cNvPicPr>
            <a:picLocks noChangeAspect="1"/>
          </p:cNvPicPr>
          <p:nvPr/>
        </p:nvPicPr>
        <p:blipFill>
          <a:blip r:embed="rId2"/>
          <a:stretch>
            <a:fillRect/>
          </a:stretch>
        </p:blipFill>
        <p:spPr>
          <a:xfrm>
            <a:off x="3932238" y="3489325"/>
            <a:ext cx="5165725" cy="3343275"/>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a:xfrm>
            <a:off x="80963" y="30163"/>
            <a:ext cx="8961437" cy="842962"/>
          </a:xfrm>
        </p:spPr>
        <p:txBody>
          <a:bodyPr vert="horz" wrap="square" lIns="91440" tIns="45720" rIns="91440" bIns="45720" anchor="ctr" anchorCtr="0"/>
          <a:lstStyle/>
          <a:p>
            <a:pPr eaLnBrk="1" hangingPunct="1"/>
            <a:r>
              <a:rPr lang="en-US" altLang="zh-CN" dirty="0">
                <a:ea typeface="宋体" panose="02010600030101010101" pitchFamily="2" charset="-122"/>
              </a:rPr>
              <a:t>Example: The Domain  Name  System</a:t>
            </a:r>
            <a:endParaRPr lang="en-US" altLang="zh-CN" dirty="0">
              <a:ea typeface="宋体" panose="02010600030101010101" pitchFamily="2" charset="-122"/>
            </a:endParaRPr>
          </a:p>
        </p:txBody>
      </p:sp>
      <p:sp>
        <p:nvSpPr>
          <p:cNvPr id="67587" name="Rectangle 3"/>
          <p:cNvSpPr/>
          <p:nvPr/>
        </p:nvSpPr>
        <p:spPr>
          <a:xfrm>
            <a:off x="0" y="777081"/>
            <a:ext cx="9144000" cy="6092825"/>
          </a:xfrm>
          <a:prstGeom prst="rect">
            <a:avLst/>
          </a:prstGeom>
          <a:noFill/>
          <a:ln w="9525">
            <a:noFill/>
          </a:ln>
        </p:spPr>
        <p:txBody>
          <a:bodyPr anchor="ctr" anchorCtr="0">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en-US" altLang="zh-CN" sz="2000" dirty="0">
                <a:latin typeface="宋体" panose="02010600030101010101" pitchFamily="2" charset="-122"/>
                <a:ea typeface="宋体" panose="02010600030101010101" pitchFamily="2" charset="-122"/>
              </a:rPr>
              <a:t>DNS</a:t>
            </a:r>
            <a:r>
              <a:rPr lang="zh-CN" altLang="en-US" sz="2000" dirty="0">
                <a:latin typeface="宋体" panose="02010600030101010101" pitchFamily="2" charset="-122"/>
                <a:ea typeface="宋体" panose="02010600030101010101" pitchFamily="2" charset="-122"/>
              </a:rPr>
              <a:t>域名服务采用</a:t>
            </a:r>
            <a:r>
              <a:rPr lang="en-US" altLang="zh-CN" sz="2000" dirty="0">
                <a:latin typeface="宋体" panose="02010600030101010101" pitchFamily="2" charset="-122"/>
                <a:ea typeface="宋体" panose="02010600030101010101" pitchFamily="2" charset="-122"/>
              </a:rPr>
              <a:t>C/S</a:t>
            </a:r>
            <a:r>
              <a:rPr lang="zh-CN" altLang="en-US" sz="2000" dirty="0">
                <a:latin typeface="宋体" panose="02010600030101010101" pitchFamily="2" charset="-122"/>
                <a:ea typeface="宋体" panose="02010600030101010101" pitchFamily="2" charset="-122"/>
              </a:rPr>
              <a:t>的查找模式，查找“</a:t>
            </a:r>
            <a:r>
              <a:rPr lang="en-US" altLang="zh-CN" sz="2000" dirty="0">
                <a:latin typeface="宋体" panose="02010600030101010101" pitchFamily="2" charset="-122"/>
                <a:ea typeface="宋体" panose="02010600030101010101" pitchFamily="2" charset="-122"/>
              </a:rPr>
              <a:t>ftp.cdrom.com”</a:t>
            </a:r>
            <a:r>
              <a:rPr lang="zh-CN" altLang="en-US" sz="2000" dirty="0">
                <a:latin typeface="宋体" panose="02010600030101010101" pitchFamily="2" charset="-122"/>
                <a:ea typeface="宋体" panose="02010600030101010101" pitchFamily="2" charset="-122"/>
              </a:rPr>
              <a:t>的</a:t>
            </a:r>
            <a:r>
              <a:rPr lang="en-US" altLang="zh-CN" sz="2000" dirty="0">
                <a:latin typeface="宋体" panose="02010600030101010101" pitchFamily="2" charset="-122"/>
                <a:ea typeface="宋体" panose="02010600030101010101" pitchFamily="2" charset="-122"/>
              </a:rPr>
              <a:t>IP</a:t>
            </a:r>
            <a:r>
              <a:rPr lang="zh-CN" altLang="en-US" sz="2000" dirty="0">
                <a:latin typeface="宋体" panose="02010600030101010101" pitchFamily="2" charset="-122"/>
                <a:ea typeface="宋体" panose="02010600030101010101" pitchFamily="2" charset="-122"/>
              </a:rPr>
              <a:t>地址：</a:t>
            </a:r>
            <a:endParaRPr lang="zh-CN" altLang="en-US" sz="2000" dirty="0">
              <a:latin typeface="宋体" panose="02010600030101010101" pitchFamily="2" charset="-122"/>
              <a:ea typeface="宋体" panose="02010600030101010101" pitchFamily="2" charset="-122"/>
            </a:endParaRPr>
          </a:p>
          <a:p>
            <a:pPr marL="0" lvl="0" indent="0" algn="l" eaLnBrk="1" hangingPunct="1">
              <a:lnSpc>
                <a:spcPct val="150000"/>
              </a:lnSpc>
              <a:spcBef>
                <a:spcPct val="0"/>
              </a:spcBef>
              <a:buClrTx/>
              <a:buNone/>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）本地域名服务器查找缓存中的域名信息</a:t>
            </a:r>
            <a:r>
              <a:rPr lang="en-US" altLang="zh-CN"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marL="457200" lvl="1" indent="0" eaLnBrk="1" hangingPunct="1">
              <a:lnSpc>
                <a:spcPct val="150000"/>
              </a:lnSpc>
              <a:spcBef>
                <a:spcPct val="0"/>
              </a:spcBef>
              <a:buClrTx/>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如果有，服务器进程就将结果返回给客户程序；</a:t>
            </a:r>
            <a:endParaRPr lang="zh-CN" altLang="en-US" sz="2000" dirty="0">
              <a:latin typeface="宋体" panose="02010600030101010101" pitchFamily="2" charset="-122"/>
              <a:ea typeface="宋体" panose="02010600030101010101" pitchFamily="2" charset="-122"/>
            </a:endParaRPr>
          </a:p>
          <a:p>
            <a:pPr marL="457200" lvl="1" indent="0" eaLnBrk="1" hangingPunct="1">
              <a:lnSpc>
                <a:spcPct val="150000"/>
              </a:lnSpc>
              <a:spcBef>
                <a:spcPct val="0"/>
              </a:spcBef>
              <a:buClrTx/>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若没有，则本地域名服务器会询问其他名字服务器，或直接向根名字服务器发送一个</a:t>
            </a:r>
            <a:r>
              <a:rPr lang="zh-CN" altLang="en-US" sz="2000" dirty="0">
                <a:latin typeface="宋体" panose="02010600030101010101" pitchFamily="2" charset="-122"/>
                <a:ea typeface="宋体" panose="02010600030101010101" pitchFamily="2" charset="-122"/>
              </a:rPr>
              <a:t>查询。</a:t>
            </a:r>
            <a:endParaRPr lang="en-US" altLang="zh-CN" sz="2000" dirty="0">
              <a:latin typeface="宋体" panose="02010600030101010101" pitchFamily="2" charset="-122"/>
              <a:ea typeface="宋体" panose="02010600030101010101" pitchFamily="2" charset="-122"/>
            </a:endParaRPr>
          </a:p>
          <a:p>
            <a:pPr marL="0" lvl="0" indent="0" algn="l" eaLnBrk="1" hangingPunct="1">
              <a:lnSpc>
                <a:spcPct val="150000"/>
              </a:lnSpc>
              <a:spcBef>
                <a:spcPct val="0"/>
              </a:spcBef>
              <a:buClrTx/>
              <a:buNone/>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）根名字服务器返回知道的结果</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com.”</a:t>
            </a:r>
            <a:r>
              <a:rPr lang="zh-CN" altLang="en-US" sz="2000" dirty="0">
                <a:latin typeface="宋体" panose="02010600030101010101" pitchFamily="2" charset="-122"/>
                <a:ea typeface="宋体" panose="02010600030101010101" pitchFamily="2" charset="-122"/>
              </a:rPr>
              <a:t>的域名服务器名字和</a:t>
            </a:r>
            <a:r>
              <a:rPr lang="en-US" altLang="zh-CN" sz="2000" dirty="0">
                <a:latin typeface="宋体" panose="02010600030101010101" pitchFamily="2" charset="-122"/>
                <a:ea typeface="宋体" panose="02010600030101010101" pitchFamily="2" charset="-122"/>
              </a:rPr>
              <a:t>IP</a:t>
            </a:r>
            <a:r>
              <a:rPr lang="zh-CN" altLang="en-US" sz="2000" dirty="0">
                <a:latin typeface="宋体" panose="02010600030101010101" pitchFamily="2" charset="-122"/>
                <a:ea typeface="宋体" panose="02010600030101010101" pitchFamily="2" charset="-122"/>
              </a:rPr>
              <a:t>地址</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a:t>
            </a:r>
            <a:br>
              <a:rPr lang="zh-CN" altLang="en-US" sz="2000" dirty="0">
                <a:latin typeface="宋体" panose="02010600030101010101" pitchFamily="2" charset="-122"/>
                <a:ea typeface="宋体" panose="02010600030101010101" pitchFamily="2" charset="-122"/>
              </a:rPr>
            </a:b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）本地名字服务器查询“</a:t>
            </a:r>
            <a:r>
              <a:rPr lang="en-US" altLang="zh-CN" sz="2000" dirty="0">
                <a:latin typeface="宋体" panose="02010600030101010101" pitchFamily="2" charset="-122"/>
                <a:ea typeface="宋体" panose="02010600030101010101" pitchFamily="2" charset="-122"/>
              </a:rPr>
              <a:t>com.”</a:t>
            </a:r>
            <a:r>
              <a:rPr lang="zh-CN" altLang="en-US" sz="2000" dirty="0">
                <a:latin typeface="宋体" panose="02010600030101010101" pitchFamily="2" charset="-122"/>
                <a:ea typeface="宋体" panose="02010600030101010101" pitchFamily="2" charset="-122"/>
              </a:rPr>
              <a:t>的名字服务器；</a:t>
            </a:r>
            <a:endParaRPr lang="en-US" altLang="zh-CN" sz="2000" dirty="0">
              <a:latin typeface="宋体" panose="02010600030101010101" pitchFamily="2" charset="-122"/>
              <a:ea typeface="宋体" panose="02010600030101010101" pitchFamily="2" charset="-122"/>
            </a:endParaRPr>
          </a:p>
          <a:p>
            <a:pPr marL="0" lvl="0" indent="0" algn="l" eaLnBrk="1" hangingPunct="1">
              <a:lnSpc>
                <a:spcPct val="150000"/>
              </a:lnSpc>
              <a:spcBef>
                <a:spcPct val="0"/>
              </a:spcBef>
              <a:buClrTx/>
              <a:buNone/>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com.”</a:t>
            </a:r>
            <a:r>
              <a:rPr lang="zh-CN" altLang="en-US" sz="2000" dirty="0">
                <a:latin typeface="宋体" panose="02010600030101010101" pitchFamily="2" charset="-122"/>
                <a:ea typeface="宋体" panose="02010600030101010101" pitchFamily="2" charset="-122"/>
              </a:rPr>
              <a:t>名字服务器返回</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cdrom.com”</a:t>
            </a:r>
            <a:r>
              <a:rPr lang="zh-CN" altLang="en-US" sz="2000" dirty="0">
                <a:latin typeface="宋体" panose="02010600030101010101" pitchFamily="2" charset="-122"/>
                <a:ea typeface="宋体" panose="02010600030101010101" pitchFamily="2" charset="-122"/>
              </a:rPr>
              <a:t>的名字服务器域名和</a:t>
            </a:r>
            <a:r>
              <a:rPr lang="en-US" altLang="zh-CN" sz="2000" dirty="0">
                <a:latin typeface="宋体" panose="02010600030101010101" pitchFamily="2" charset="-122"/>
                <a:ea typeface="宋体" panose="02010600030101010101" pitchFamily="2" charset="-122"/>
              </a:rPr>
              <a:t>IP</a:t>
            </a:r>
            <a:r>
              <a:rPr lang="zh-CN" altLang="en-US" sz="2000" dirty="0">
                <a:latin typeface="宋体" panose="02010600030101010101" pitchFamily="2" charset="-122"/>
                <a:ea typeface="宋体" panose="02010600030101010101" pitchFamily="2" charset="-122"/>
              </a:rPr>
              <a:t>地址</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a:t>
            </a:r>
            <a:br>
              <a:rPr lang="zh-CN" altLang="en-US" sz="2000" dirty="0">
                <a:latin typeface="宋体" panose="02010600030101010101" pitchFamily="2" charset="-122"/>
                <a:ea typeface="宋体" panose="02010600030101010101" pitchFamily="2" charset="-122"/>
              </a:rPr>
            </a:b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5</a:t>
            </a:r>
            <a:r>
              <a:rPr lang="zh-CN" altLang="en-US" sz="2000" dirty="0">
                <a:latin typeface="宋体" panose="02010600030101010101" pitchFamily="2" charset="-122"/>
                <a:ea typeface="宋体" panose="02010600030101010101" pitchFamily="2" charset="-122"/>
              </a:rPr>
              <a:t>）本地域名服务器和 “</a:t>
            </a:r>
            <a:r>
              <a:rPr lang="en-US" altLang="zh-CN" sz="2000" dirty="0">
                <a:latin typeface="宋体" panose="02010600030101010101" pitchFamily="2" charset="-122"/>
                <a:ea typeface="宋体" panose="02010600030101010101" pitchFamily="2" charset="-122"/>
              </a:rPr>
              <a:t>cdrom.com.”</a:t>
            </a:r>
            <a:r>
              <a:rPr lang="zh-CN" altLang="en-US" sz="2000" dirty="0">
                <a:latin typeface="宋体" panose="02010600030101010101" pitchFamily="2" charset="-122"/>
                <a:ea typeface="宋体" panose="02010600030101010101" pitchFamily="2" charset="-122"/>
              </a:rPr>
              <a:t>名字服务器建立连接，发送查询请求；</a:t>
            </a:r>
            <a:br>
              <a:rPr lang="zh-CN" altLang="en-US" sz="2000" dirty="0">
                <a:latin typeface="宋体" panose="02010600030101010101" pitchFamily="2" charset="-122"/>
                <a:ea typeface="宋体" panose="02010600030101010101" pitchFamily="2" charset="-122"/>
              </a:rPr>
            </a:b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6</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cdrom.com.”</a:t>
            </a:r>
            <a:r>
              <a:rPr lang="zh-CN" altLang="en-US" sz="2000" dirty="0">
                <a:latin typeface="宋体" panose="02010600030101010101" pitchFamily="2" charset="-122"/>
                <a:ea typeface="宋体" panose="02010600030101010101" pitchFamily="2" charset="-122"/>
              </a:rPr>
              <a:t>域名服务器返回“</a:t>
            </a:r>
            <a:r>
              <a:rPr lang="en-US" altLang="zh-CN" sz="2000" dirty="0">
                <a:latin typeface="宋体" panose="02010600030101010101" pitchFamily="2" charset="-122"/>
                <a:ea typeface="宋体" panose="02010600030101010101" pitchFamily="2" charset="-122"/>
              </a:rPr>
              <a:t>ftp.cdrom.com”</a:t>
            </a:r>
            <a:r>
              <a:rPr lang="zh-CN" altLang="en-US" sz="2000" dirty="0">
                <a:latin typeface="宋体" panose="02010600030101010101" pitchFamily="2" charset="-122"/>
                <a:ea typeface="宋体" panose="02010600030101010101" pitchFamily="2" charset="-122"/>
              </a:rPr>
              <a:t>的</a:t>
            </a:r>
            <a:r>
              <a:rPr lang="en-US" altLang="zh-CN" sz="2000" dirty="0">
                <a:latin typeface="宋体" panose="02010600030101010101" pitchFamily="2" charset="-122"/>
                <a:ea typeface="宋体" panose="02010600030101010101" pitchFamily="2" charset="-122"/>
              </a:rPr>
              <a:t>IP</a:t>
            </a:r>
            <a:r>
              <a:rPr lang="zh-CN" altLang="en-US" sz="2000" dirty="0">
                <a:latin typeface="宋体" panose="02010600030101010101" pitchFamily="2" charset="-122"/>
                <a:ea typeface="宋体" panose="02010600030101010101" pitchFamily="2" charset="-122"/>
              </a:rPr>
              <a:t>地址，由本地服务器将该查询最后结果返给客户。</a:t>
            </a:r>
            <a:endParaRPr lang="en-US" altLang="zh-CN" sz="2000" dirty="0">
              <a:latin typeface="宋体" panose="02010600030101010101" pitchFamily="2" charset="-122"/>
              <a:ea typeface="宋体" panose="02010600030101010101" pitchFamily="2" charset="-122"/>
            </a:endParaRPr>
          </a:p>
          <a:p>
            <a:pPr marL="0" lvl="0" indent="0" algn="l" eaLnBrk="1" hangingPunct="1">
              <a:lnSpc>
                <a:spcPct val="150000"/>
              </a:lnSpc>
              <a:spcBef>
                <a:spcPct val="0"/>
              </a:spcBef>
              <a:buClrTx/>
              <a:buNone/>
            </a:pPr>
            <a:endParaRPr lang="en-US" altLang="zh-CN" sz="2000" dirty="0">
              <a:latin typeface="宋体" panose="02010600030101010101" pitchFamily="2" charset="-122"/>
              <a:ea typeface="宋体" panose="02010600030101010101" pitchFamily="2" charset="-122"/>
            </a:endParaRPr>
          </a:p>
          <a:p>
            <a:pPr marL="0" lvl="0" indent="0" algn="l" eaLnBrk="1" hangingPunct="1">
              <a:lnSpc>
                <a:spcPct val="150000"/>
              </a:lnSpc>
              <a:spcBef>
                <a:spcPct val="0"/>
              </a:spcBef>
              <a:buClrTx/>
              <a:buNone/>
            </a:pPr>
            <a:r>
              <a:rPr lang="zh-CN" altLang="en-US" sz="2000" dirty="0">
                <a:latin typeface="宋体" panose="02010600030101010101" pitchFamily="2" charset="-122"/>
                <a:ea typeface="宋体" panose="02010600030101010101" pitchFamily="2" charset="-122"/>
              </a:rPr>
              <a:t>            </a:t>
            </a:r>
            <a:r>
              <a:rPr lang="zh-CN" altLang="en-US" sz="2000" dirty="0">
                <a:solidFill>
                  <a:srgbClr val="FF0000"/>
                </a:solidFill>
                <a:latin typeface="宋体" panose="02010600030101010101" pitchFamily="2" charset="-122"/>
                <a:ea typeface="宋体" panose="02010600030101010101" pitchFamily="2" charset="-122"/>
              </a:rPr>
              <a:t>客户系统获得相应</a:t>
            </a:r>
            <a:r>
              <a:rPr lang="en-US" altLang="zh-CN" sz="2000" dirty="0">
                <a:solidFill>
                  <a:srgbClr val="FF0000"/>
                </a:solidFill>
                <a:latin typeface="宋体" panose="02010600030101010101" pitchFamily="2" charset="-122"/>
                <a:ea typeface="宋体" panose="02010600030101010101" pitchFamily="2" charset="-122"/>
              </a:rPr>
              <a:t>IP</a:t>
            </a:r>
            <a:r>
              <a:rPr lang="zh-CN" altLang="en-US" sz="2000" dirty="0">
                <a:solidFill>
                  <a:srgbClr val="FF0000"/>
                </a:solidFill>
                <a:latin typeface="宋体" panose="02010600030101010101" pitchFamily="2" charset="-122"/>
                <a:ea typeface="宋体" panose="02010600030101010101" pitchFamily="2" charset="-122"/>
              </a:rPr>
              <a:t>后，客户方命令继续执行。</a:t>
            </a:r>
            <a:endParaRPr lang="zh-CN" altLang="en-US" sz="2000" dirty="0">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0" y="0"/>
            <a:ext cx="9144000" cy="800100"/>
          </a:xfrm>
        </p:spPr>
        <p:txBody>
          <a:bodyPr vert="horz" wrap="square" lIns="91440" tIns="45720" rIns="91440" bIns="45720" anchor="ctr" anchorCtr="0"/>
          <a:lstStyle/>
          <a:p>
            <a:pPr eaLnBrk="1" hangingPunct="1"/>
            <a:r>
              <a:rPr lang="en-US" altLang="zh-CN" dirty="0">
                <a:ea typeface="宋体" panose="02010600030101010101" pitchFamily="2" charset="-122"/>
              </a:rPr>
              <a:t>The DNS Name Space</a:t>
            </a:r>
            <a:endParaRPr lang="en-US" altLang="zh-CN" dirty="0">
              <a:ea typeface="宋体" panose="02010600030101010101" pitchFamily="2" charset="-122"/>
            </a:endParaRPr>
          </a:p>
        </p:txBody>
      </p:sp>
      <p:sp>
        <p:nvSpPr>
          <p:cNvPr id="68611" name="Rectangle 3"/>
          <p:cNvSpPr>
            <a:spLocks noGrp="1"/>
          </p:cNvSpPr>
          <p:nvPr>
            <p:ph idx="1"/>
          </p:nvPr>
        </p:nvSpPr>
        <p:spPr>
          <a:xfrm>
            <a:off x="152400" y="6172200"/>
            <a:ext cx="8831263" cy="685800"/>
          </a:xfrm>
        </p:spPr>
        <p:txBody>
          <a:bodyPr vert="horz" wrap="square" lIns="91440" tIns="45720" rIns="91440" bIns="45720" anchor="t" anchorCtr="0"/>
          <a:lstStyle/>
          <a:p>
            <a:pPr eaLnBrk="1" hangingPunct="1">
              <a:lnSpc>
                <a:spcPct val="90000"/>
              </a:lnSpc>
              <a:buNone/>
            </a:pPr>
            <a:r>
              <a:rPr lang="en-US" altLang="zh-CN" sz="2400" dirty="0">
                <a:ea typeface="宋体" panose="02010600030101010101" pitchFamily="2" charset="-122"/>
              </a:rPr>
              <a:t>The most important types of resource records forming the contents of nodes in the DNS name space.</a:t>
            </a:r>
            <a:endParaRPr lang="en-US" altLang="zh-CN" sz="2400" dirty="0">
              <a:ea typeface="宋体" panose="02010600030101010101" pitchFamily="2" charset="-122"/>
            </a:endParaRPr>
          </a:p>
        </p:txBody>
      </p:sp>
      <p:graphicFrame>
        <p:nvGraphicFramePr>
          <p:cNvPr id="69636" name="表格 69635"/>
          <p:cNvGraphicFramePr/>
          <p:nvPr/>
        </p:nvGraphicFramePr>
        <p:xfrm>
          <a:off x="319088" y="1371600"/>
          <a:ext cx="8485187" cy="4749800"/>
        </p:xfrm>
        <a:graphic>
          <a:graphicData uri="http://schemas.openxmlformats.org/drawingml/2006/table">
            <a:tbl>
              <a:tblPr/>
              <a:tblGrid>
                <a:gridCol w="1095375"/>
                <a:gridCol w="1349375"/>
                <a:gridCol w="6040437"/>
              </a:tblGrid>
              <a:tr h="712788">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b="1" dirty="0">
                          <a:latin typeface="Times New Roman" panose="02020603050405020304" pitchFamily="18" charset="0"/>
                          <a:ea typeface="宋体" panose="02010600030101010101" pitchFamily="2" charset="-122"/>
                        </a:rPr>
                        <a:t>Type of record</a:t>
                      </a:r>
                      <a:endParaRPr lang="en-US" altLang="zh-CN" sz="1600" b="1"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b="1" dirty="0">
                          <a:latin typeface="Times New Roman" panose="02020603050405020304" pitchFamily="18" charset="0"/>
                          <a:ea typeface="宋体" panose="02010600030101010101" pitchFamily="2" charset="-122"/>
                        </a:rPr>
                        <a:t>Associated entity</a:t>
                      </a:r>
                      <a:endParaRPr lang="en-US" altLang="zh-CN" sz="1600" b="1" dirty="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b="1" dirty="0">
                          <a:latin typeface="Times New Roman" panose="02020603050405020304" pitchFamily="18" charset="0"/>
                          <a:ea typeface="宋体" panose="02010600030101010101" pitchFamily="2" charset="-122"/>
                        </a:rPr>
                        <a:t>Description(p202---p203)</a:t>
                      </a:r>
                      <a:endParaRPr lang="en-US" altLang="zh-CN" sz="1600" b="1" dirty="0">
                        <a:latin typeface="Times New Roman" panose="02020603050405020304" pitchFamily="18" charset="0"/>
                        <a:ea typeface="宋体" panose="02010600030101010101" pitchFamily="2" charset="-12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9262">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SOA()</a:t>
                      </a:r>
                      <a:endParaRPr lang="zh-CN" altLang="en-US" sz="16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Zone</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Holds information on the represented zone</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6088">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A</a:t>
                      </a:r>
                      <a:endParaRPr lang="en-US" altLang="zh-CN" sz="16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Host</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Contains an IP address of the host this node represents</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9262">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MX</a:t>
                      </a:r>
                      <a:endParaRPr lang="en-US" altLang="zh-CN" sz="16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Domain</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Refers to a mail server to handle mail addressed to this node</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9263">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SRV</a:t>
                      </a:r>
                      <a:endParaRPr lang="en-US" altLang="zh-CN" sz="16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Domain</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Refers to a server handling a specific service</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9262">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NS</a:t>
                      </a:r>
                      <a:endParaRPr lang="en-US" altLang="zh-CN" sz="16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Zone</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Refers to a name server that implements the represented zone</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9263">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CNAME</a:t>
                      </a:r>
                      <a:endParaRPr lang="en-US" altLang="zh-CN" sz="16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Node</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Symbolic link with the primary name of the represented node</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6087">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PTR</a:t>
                      </a:r>
                      <a:endParaRPr lang="en-US" altLang="zh-CN" sz="16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Host</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Contains the canonical</a:t>
                      </a:r>
                      <a:r>
                        <a:rPr lang="zh-CN" altLang="en-US" sz="1600" dirty="0">
                          <a:latin typeface="Arial" panose="020B0604020202020204" pitchFamily="34" charset="0"/>
                          <a:ea typeface="宋体" panose="02010600030101010101" pitchFamily="2" charset="-122"/>
                        </a:rPr>
                        <a:t>（规范</a:t>
                      </a:r>
                      <a:r>
                        <a:rPr lang="en-US" altLang="zh-CN" sz="1600" dirty="0">
                          <a:latin typeface="Arial" panose="020B0604020202020204" pitchFamily="34" charset="0"/>
                          <a:ea typeface="宋体" panose="02010600030101010101" pitchFamily="2" charset="-122"/>
                        </a:rPr>
                        <a:t>,</a:t>
                      </a:r>
                      <a:r>
                        <a:rPr lang="zh-CN" altLang="en-US" sz="1600" dirty="0">
                          <a:latin typeface="Arial" panose="020B0604020202020204" pitchFamily="34" charset="0"/>
                          <a:ea typeface="宋体" panose="02010600030101010101" pitchFamily="2" charset="-122"/>
                        </a:rPr>
                        <a:t>别名</a:t>
                      </a:r>
                      <a:r>
                        <a:rPr lang="en-US" altLang="zh-CN" sz="1600" dirty="0">
                          <a:latin typeface="Arial" panose="020B0604020202020204" pitchFamily="34" charset="0"/>
                          <a:ea typeface="宋体" panose="02010600030101010101" pitchFamily="2" charset="-122"/>
                        </a:rPr>
                        <a:t>,</a:t>
                      </a:r>
                      <a:r>
                        <a:rPr lang="zh-CN" altLang="en-US" sz="1600" dirty="0">
                          <a:latin typeface="Arial" panose="020B0604020202020204" pitchFamily="34" charset="0"/>
                          <a:ea typeface="宋体" panose="02010600030101010101" pitchFamily="2" charset="-122"/>
                        </a:rPr>
                        <a:t>反向影射） </a:t>
                      </a:r>
                      <a:r>
                        <a:rPr lang="en-US" altLang="zh-CN" sz="1600" dirty="0">
                          <a:latin typeface="Arial" panose="020B0604020202020204" pitchFamily="34" charset="0"/>
                          <a:ea typeface="宋体" panose="02010600030101010101" pitchFamily="2" charset="-122"/>
                        </a:rPr>
                        <a:t>name of a host</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9263">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HINFO</a:t>
                      </a:r>
                      <a:endParaRPr lang="en-US" altLang="zh-CN" sz="16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Host</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Holds information on the host this node represents</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49262">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TXT</a:t>
                      </a:r>
                      <a:endParaRPr lang="en-US" altLang="zh-CN" sz="1600" dirty="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Any kind</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algn="l" eaLnBrk="1" hangingPunct="1">
                        <a:spcBef>
                          <a:spcPct val="20000"/>
                        </a:spcBef>
                        <a:buClr>
                          <a:schemeClr val="accent2"/>
                        </a:buClr>
                        <a:buNone/>
                      </a:pPr>
                      <a:r>
                        <a:rPr lang="en-US" altLang="zh-CN" sz="1600" dirty="0">
                          <a:latin typeface="Arial" panose="020B0604020202020204" pitchFamily="34" charset="0"/>
                          <a:ea typeface="宋体" panose="02010600030101010101" pitchFamily="2" charset="-122"/>
                        </a:rPr>
                        <a:t>Contains any entity-specific information considered useful</a:t>
                      </a:r>
                      <a:endParaRPr lang="en-US" altLang="zh-CN" sz="16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8658" name="矩形 4"/>
          <p:cNvSpPr/>
          <p:nvPr/>
        </p:nvSpPr>
        <p:spPr>
          <a:xfrm>
            <a:off x="279400" y="836613"/>
            <a:ext cx="8763000" cy="508000"/>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algn="l" eaLnBrk="1" hangingPunct="1">
              <a:lnSpc>
                <a:spcPct val="150000"/>
              </a:lnSpc>
              <a:spcBef>
                <a:spcPct val="0"/>
              </a:spcBef>
              <a:buClrTx/>
              <a:buNone/>
            </a:pPr>
            <a:r>
              <a:rPr lang="en-US" altLang="zh-CN" sz="1800" dirty="0">
                <a:ea typeface="宋体" panose="02010600030101010101" pitchFamily="2" charset="-122"/>
              </a:rPr>
              <a:t>The contents of a node in the DNS name space  is formed by a collection of resource records.</a:t>
            </a:r>
            <a:endParaRPr lang="en-US" altLang="zh-CN" sz="1800" dirty="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Outline</a:t>
            </a:r>
            <a:endParaRPr lang="en-US" altLang="zh-CN" dirty="0">
              <a:ea typeface="宋体" panose="02010600030101010101" pitchFamily="2" charset="-122"/>
            </a:endParaRPr>
          </a:p>
        </p:txBody>
      </p:sp>
      <p:sp>
        <p:nvSpPr>
          <p:cNvPr id="71683" name="Rectangle 3"/>
          <p:cNvSpPr>
            <a:spLocks noGrp="1"/>
          </p:cNvSpPr>
          <p:nvPr>
            <p:ph idx="1"/>
          </p:nvPr>
        </p:nvSpPr>
        <p:spPr>
          <a:xfrm>
            <a:off x="609600" y="1384300"/>
            <a:ext cx="7429500" cy="3657600"/>
          </a:xfrm>
        </p:spPr>
        <p:txBody>
          <a:bodyPr vert="horz" wrap="square" lIns="91440" tIns="45720" rIns="91440" bIns="45720" anchor="t" anchorCtr="0"/>
          <a:lstStyle/>
          <a:p>
            <a:pPr algn="l" eaLnBrk="1" hangingPunct="1"/>
            <a:r>
              <a:rPr lang="en-US" altLang="zh-CN" dirty="0">
                <a:ea typeface="宋体" panose="02010600030101010101" pitchFamily="2" charset="-122"/>
              </a:rPr>
              <a:t>Names Entities</a:t>
            </a:r>
            <a:endParaRPr lang="en-US" altLang="zh-CN" dirty="0">
              <a:ea typeface="宋体" panose="02010600030101010101" pitchFamily="2" charset="-122"/>
            </a:endParaRPr>
          </a:p>
          <a:p>
            <a:pPr algn="l" eaLnBrk="1" hangingPunct="1"/>
            <a:r>
              <a:rPr lang="en-US" altLang="zh-CN" dirty="0">
                <a:ea typeface="宋体" panose="02010600030101010101" pitchFamily="2" charset="-122"/>
              </a:rPr>
              <a:t>Flat Naming</a:t>
            </a:r>
            <a:endParaRPr lang="en-US" altLang="zh-CN" dirty="0">
              <a:ea typeface="宋体" panose="02010600030101010101" pitchFamily="2" charset="-122"/>
            </a:endParaRPr>
          </a:p>
          <a:p>
            <a:pPr algn="l" eaLnBrk="1" hangingPunct="1"/>
            <a:r>
              <a:rPr lang="en-US" altLang="zh-CN" dirty="0">
                <a:ea typeface="宋体" panose="02010600030101010101" pitchFamily="2" charset="-122"/>
              </a:rPr>
              <a:t>Structured Naming</a:t>
            </a:r>
            <a:endParaRPr lang="en-US" altLang="zh-CN" dirty="0">
              <a:ea typeface="宋体" panose="02010600030101010101" pitchFamily="2" charset="-122"/>
            </a:endParaRPr>
          </a:p>
          <a:p>
            <a:pPr algn="l" eaLnBrk="1" hangingPunct="1"/>
            <a:r>
              <a:rPr lang="en-US" altLang="zh-CN" dirty="0">
                <a:solidFill>
                  <a:srgbClr val="FF0000"/>
                </a:solidFill>
                <a:ea typeface="宋体" panose="02010600030101010101" pitchFamily="2" charset="-122"/>
              </a:rPr>
              <a:t>Attribute-Based Naming</a:t>
            </a:r>
            <a:endParaRPr lang="en-US" altLang="zh-CN" dirty="0">
              <a:solidFill>
                <a:srgbClr val="FF0000"/>
              </a:solidFill>
              <a:ea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Attribute-Based Naming</a:t>
            </a:r>
            <a:endParaRPr lang="en-US" altLang="zh-CN" dirty="0">
              <a:ea typeface="宋体" panose="02010600030101010101" pitchFamily="2" charset="-122"/>
            </a:endParaRPr>
          </a:p>
        </p:txBody>
      </p:sp>
      <p:sp>
        <p:nvSpPr>
          <p:cNvPr id="73731" name="Rectangle 3"/>
          <p:cNvSpPr>
            <a:spLocks noGrp="1"/>
          </p:cNvSpPr>
          <p:nvPr>
            <p:ph idx="1"/>
          </p:nvPr>
        </p:nvSpPr>
        <p:spPr>
          <a:xfrm>
            <a:off x="76200" y="1066800"/>
            <a:ext cx="8902700" cy="5473700"/>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2800" b="1" dirty="0">
                <a:ea typeface="宋体" panose="02010600030101010101" pitchFamily="2" charset="-122"/>
              </a:rPr>
              <a:t>Observation: </a:t>
            </a:r>
            <a:r>
              <a:rPr lang="en-US" altLang="zh-CN" sz="2800" dirty="0">
                <a:ea typeface="宋体" panose="02010600030101010101" pitchFamily="2" charset="-122"/>
              </a:rPr>
              <a:t>In many cases, it is much more convenient to name, and look up entities by means of their </a:t>
            </a:r>
            <a:r>
              <a:rPr lang="en-US" altLang="zh-CN" sz="2800" b="1" dirty="0">
                <a:solidFill>
                  <a:srgbClr val="FF0000"/>
                </a:solidFill>
                <a:ea typeface="宋体" panose="02010600030101010101" pitchFamily="2" charset="-122"/>
              </a:rPr>
              <a:t>attributes</a:t>
            </a:r>
            <a:r>
              <a:rPr lang="en-US" altLang="zh-CN" sz="2800" b="1" dirty="0">
                <a:ea typeface="宋体" panose="02010600030101010101" pitchFamily="2" charset="-122"/>
              </a:rPr>
              <a:t> </a:t>
            </a:r>
            <a:r>
              <a:rPr lang="en-US" altLang="zh-CN" sz="2800" dirty="0">
                <a:ea typeface="宋体" panose="02010600030101010101" pitchFamily="2" charset="-122"/>
              </a:rPr>
              <a:t>⇒ traditional </a:t>
            </a:r>
            <a:r>
              <a:rPr lang="en-US" altLang="zh-CN" sz="2800" b="1" dirty="0">
                <a:solidFill>
                  <a:srgbClr val="FF0000"/>
                </a:solidFill>
                <a:ea typeface="宋体" panose="02010600030101010101" pitchFamily="2" charset="-122"/>
              </a:rPr>
              <a:t>directory</a:t>
            </a:r>
            <a:r>
              <a:rPr lang="en-US" altLang="zh-CN" sz="2800" b="1" dirty="0">
                <a:solidFill>
                  <a:schemeClr val="folHlink"/>
                </a:solidFill>
                <a:ea typeface="宋体" panose="02010600030101010101" pitchFamily="2" charset="-122"/>
              </a:rPr>
              <a:t> </a:t>
            </a:r>
            <a:r>
              <a:rPr lang="en-US" altLang="zh-CN" sz="2800" b="1" dirty="0">
                <a:solidFill>
                  <a:srgbClr val="FF0000"/>
                </a:solidFill>
                <a:ea typeface="宋体" panose="02010600030101010101" pitchFamily="2" charset="-122"/>
              </a:rPr>
              <a:t>services</a:t>
            </a:r>
            <a:r>
              <a:rPr lang="en-US" altLang="zh-CN" sz="2800" b="1" dirty="0">
                <a:ea typeface="宋体" panose="02010600030101010101" pitchFamily="2" charset="-122"/>
              </a:rPr>
              <a:t> </a:t>
            </a:r>
            <a:r>
              <a:rPr lang="en-US" altLang="zh-CN" sz="2800" dirty="0">
                <a:ea typeface="宋体" panose="02010600030101010101" pitchFamily="2" charset="-122"/>
              </a:rPr>
              <a:t>(a.k.a., </a:t>
            </a:r>
            <a:r>
              <a:rPr lang="en-US" altLang="zh-CN" sz="2800" b="1" dirty="0">
                <a:ea typeface="宋体" panose="02010600030101010101" pitchFamily="2" charset="-122"/>
              </a:rPr>
              <a:t>yellow pages</a:t>
            </a:r>
            <a:r>
              <a:rPr lang="en-US" altLang="zh-CN" sz="2800" dirty="0">
                <a:ea typeface="宋体" panose="02010600030101010101" pitchFamily="2" charset="-122"/>
              </a:rPr>
              <a:t>).</a:t>
            </a:r>
            <a:endParaRPr lang="en-US" altLang="zh-CN" sz="28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800" b="1" dirty="0">
                <a:ea typeface="宋体" panose="02010600030101010101" pitchFamily="2" charset="-122"/>
              </a:rPr>
              <a:t>Problem: </a:t>
            </a:r>
            <a:r>
              <a:rPr lang="en-US" altLang="zh-CN" sz="2800" dirty="0">
                <a:ea typeface="宋体" panose="02010600030101010101" pitchFamily="2" charset="-122"/>
              </a:rPr>
              <a:t>Lookup operations can be extremely expensive, as they require to match </a:t>
            </a:r>
            <a:r>
              <a:rPr lang="en-US" altLang="zh-CN" sz="2800" dirty="0">
                <a:solidFill>
                  <a:srgbClr val="FF0000"/>
                </a:solidFill>
                <a:ea typeface="宋体" panose="02010600030101010101" pitchFamily="2" charset="-122"/>
              </a:rPr>
              <a:t>requested</a:t>
            </a:r>
            <a:r>
              <a:rPr lang="en-US" altLang="zh-CN" sz="2800" dirty="0">
                <a:solidFill>
                  <a:schemeClr val="folHlink"/>
                </a:solidFill>
                <a:ea typeface="宋体" panose="02010600030101010101" pitchFamily="2" charset="-122"/>
              </a:rPr>
              <a:t> </a:t>
            </a:r>
            <a:r>
              <a:rPr lang="en-US" altLang="zh-CN" sz="2800" dirty="0">
                <a:solidFill>
                  <a:srgbClr val="FF0000"/>
                </a:solidFill>
                <a:ea typeface="宋体" panose="02010600030101010101" pitchFamily="2" charset="-122"/>
              </a:rPr>
              <a:t>attribute values</a:t>
            </a:r>
            <a:r>
              <a:rPr lang="en-US" altLang="zh-CN" sz="2800" dirty="0">
                <a:ea typeface="宋体" panose="02010600030101010101" pitchFamily="2" charset="-122"/>
              </a:rPr>
              <a:t>, against </a:t>
            </a:r>
            <a:r>
              <a:rPr lang="en-US" altLang="zh-CN" sz="2800" dirty="0">
                <a:solidFill>
                  <a:srgbClr val="FF0000"/>
                </a:solidFill>
                <a:ea typeface="宋体" panose="02010600030101010101" pitchFamily="2" charset="-122"/>
              </a:rPr>
              <a:t>actual attribute values</a:t>
            </a:r>
            <a:r>
              <a:rPr lang="en-US" altLang="zh-CN" sz="2800" dirty="0">
                <a:ea typeface="宋体" panose="02010600030101010101" pitchFamily="2" charset="-122"/>
              </a:rPr>
              <a:t> ⇒ inspect </a:t>
            </a:r>
            <a:r>
              <a:rPr lang="en-US" altLang="zh-CN" sz="2800" dirty="0">
                <a:solidFill>
                  <a:srgbClr val="FF0000"/>
                </a:solidFill>
                <a:ea typeface="宋体" panose="02010600030101010101" pitchFamily="2" charset="-122"/>
              </a:rPr>
              <a:t>all entities</a:t>
            </a:r>
            <a:r>
              <a:rPr lang="en-US" altLang="zh-CN" sz="2800" dirty="0">
                <a:ea typeface="宋体" panose="02010600030101010101" pitchFamily="2" charset="-122"/>
              </a:rPr>
              <a:t> (in principle).</a:t>
            </a:r>
            <a:endParaRPr lang="en-US" altLang="zh-CN" sz="28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800" b="1" dirty="0">
                <a:ea typeface="宋体" panose="02010600030101010101" pitchFamily="2" charset="-122"/>
              </a:rPr>
              <a:t>Solution: </a:t>
            </a:r>
            <a:r>
              <a:rPr lang="en-US" altLang="zh-CN" sz="2800" dirty="0">
                <a:ea typeface="宋体" panose="02010600030101010101" pitchFamily="2" charset="-122"/>
              </a:rPr>
              <a:t>Implement basic directory service as database, and combine with traditional structured naming system.</a:t>
            </a:r>
            <a:endParaRPr lang="en-US" altLang="zh-CN" sz="2800" dirty="0">
              <a:ea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Example: The X.500 </a:t>
            </a:r>
            <a:endParaRPr lang="en-US" altLang="zh-CN" dirty="0">
              <a:ea typeface="宋体" panose="02010600030101010101" pitchFamily="2" charset="-122"/>
            </a:endParaRPr>
          </a:p>
        </p:txBody>
      </p:sp>
      <p:sp>
        <p:nvSpPr>
          <p:cNvPr id="75779" name="Rectangle 3"/>
          <p:cNvSpPr>
            <a:spLocks noGrp="1"/>
          </p:cNvSpPr>
          <p:nvPr>
            <p:ph idx="1"/>
          </p:nvPr>
        </p:nvSpPr>
        <p:spPr>
          <a:xfrm>
            <a:off x="254000" y="2863850"/>
            <a:ext cx="8753475" cy="3646488"/>
          </a:xfrm>
        </p:spPr>
        <p:txBody>
          <a:bodyPr vert="horz" wrap="square" lIns="91440" tIns="45720" rIns="91440" bIns="45720" anchor="t" anchorCtr="0"/>
          <a:lstStyle/>
          <a:p>
            <a:pPr marL="0" indent="0" algn="l" defTabSz="914400" eaLnBrk="1" hangingPunct="1">
              <a:lnSpc>
                <a:spcPct val="150000"/>
              </a:lnSpc>
              <a:buFont typeface="Wingdings" panose="05000000000000000000" pitchFamily="2" charset="2"/>
              <a:buChar char="u"/>
              <a:tabLst>
                <a:tab pos="0" algn="l"/>
                <a:tab pos="92075" algn="l"/>
              </a:tabLst>
            </a:pPr>
            <a:r>
              <a:rPr lang="en-US" altLang="zh-CN" sz="2000" dirty="0">
                <a:solidFill>
                  <a:srgbClr val="000000"/>
                </a:solidFill>
                <a:ea typeface="宋体" panose="02010600030101010101" pitchFamily="2" charset="-122"/>
              </a:rPr>
              <a:t>X.500</a:t>
            </a:r>
            <a:r>
              <a:rPr lang="zh-CN" altLang="en-US" sz="2000" dirty="0">
                <a:solidFill>
                  <a:srgbClr val="000000"/>
                </a:solidFill>
                <a:ea typeface="宋体" panose="02010600030101010101" pitchFamily="2" charset="-122"/>
              </a:rPr>
              <a:t>是一个将局部名录服务连接起来，构成全球分布式的名录服务系统的协议 </a:t>
            </a:r>
            <a:r>
              <a:rPr lang="en-US" altLang="zh-CN" sz="2000" dirty="0">
                <a:solidFill>
                  <a:srgbClr val="000000"/>
                </a:solidFill>
                <a:ea typeface="宋体" panose="02010600030101010101" pitchFamily="2" charset="-122"/>
              </a:rPr>
              <a:t>(CCITT</a:t>
            </a:r>
            <a:r>
              <a:rPr lang="zh-CN" altLang="en-US" sz="2000" dirty="0">
                <a:solidFill>
                  <a:srgbClr val="000000"/>
                </a:solidFill>
                <a:ea typeface="宋体" panose="02010600030101010101" pitchFamily="2" charset="-122"/>
              </a:rPr>
              <a:t>在</a:t>
            </a:r>
            <a:r>
              <a:rPr lang="en-US" altLang="zh-CN" sz="2000" dirty="0">
                <a:solidFill>
                  <a:srgbClr val="000000"/>
                </a:solidFill>
                <a:ea typeface="宋体" panose="02010600030101010101" pitchFamily="2" charset="-122"/>
              </a:rPr>
              <a:t>X.400</a:t>
            </a:r>
            <a:r>
              <a:rPr lang="zh-CN" altLang="en-US" sz="2000" dirty="0">
                <a:solidFill>
                  <a:srgbClr val="000000"/>
                </a:solidFill>
                <a:ea typeface="宋体" panose="02010600030101010101" pitchFamily="2" charset="-122"/>
              </a:rPr>
              <a:t>基础上提出</a:t>
            </a:r>
            <a:r>
              <a:rPr lang="en-US" altLang="zh-CN" sz="2000" dirty="0">
                <a:solidFill>
                  <a:srgbClr val="000000"/>
                </a:solidFill>
                <a:ea typeface="宋体" panose="02010600030101010101" pitchFamily="2" charset="-122"/>
              </a:rPr>
              <a:t>)</a:t>
            </a:r>
            <a:r>
              <a:rPr lang="zh-CN" altLang="en-US" sz="2000" dirty="0">
                <a:solidFill>
                  <a:srgbClr val="000000"/>
                </a:solidFill>
                <a:ea typeface="宋体" panose="02010600030101010101" pitchFamily="2" charset="-122"/>
              </a:rPr>
              <a:t>。他可用来查询有关人员信息（如邮政地址、电话号码、电子邮件地 址等）：姓名、人员所在机构名、所在机构的部 门名称以及国家名称。</a:t>
            </a:r>
            <a:endParaRPr lang="en-US" altLang="zh-CN" sz="2000" dirty="0">
              <a:solidFill>
                <a:srgbClr val="000000"/>
              </a:solidFill>
              <a:ea typeface="宋体" panose="02010600030101010101" pitchFamily="2" charset="-122"/>
            </a:endParaRPr>
          </a:p>
          <a:p>
            <a:pPr marL="0" indent="0" algn="l" defTabSz="914400" eaLnBrk="1" hangingPunct="1">
              <a:lnSpc>
                <a:spcPct val="150000"/>
              </a:lnSpc>
              <a:buFont typeface="Wingdings" panose="05000000000000000000" pitchFamily="2" charset="2"/>
              <a:buChar char="u"/>
              <a:tabLst>
                <a:tab pos="0" algn="l"/>
                <a:tab pos="92075" algn="l"/>
              </a:tabLst>
            </a:pPr>
            <a:r>
              <a:rPr lang="zh-CN" altLang="en-US" sz="2000" dirty="0">
                <a:ea typeface="宋体" panose="02010600030101010101" pitchFamily="2" charset="-122"/>
              </a:rPr>
              <a:t>两个知名的</a:t>
            </a:r>
            <a:r>
              <a:rPr lang="en-US" altLang="zh-CN" sz="2000" dirty="0">
                <a:ea typeface="宋体" panose="02010600030101010101" pitchFamily="2" charset="-122"/>
              </a:rPr>
              <a:t>X.500</a:t>
            </a:r>
            <a:r>
              <a:rPr lang="zh-CN" altLang="en-US" sz="2000" dirty="0">
                <a:ea typeface="宋体" panose="02010600030101010101" pitchFamily="2" charset="-122"/>
              </a:rPr>
              <a:t>目录：</a:t>
            </a:r>
            <a:endParaRPr lang="zh-CN" altLang="en-US" sz="2000" dirty="0">
              <a:ea typeface="宋体" panose="02010600030101010101" pitchFamily="2" charset="-122"/>
            </a:endParaRPr>
          </a:p>
          <a:p>
            <a:pPr marL="0" indent="0" algn="l" defTabSz="914400" eaLnBrk="1" hangingPunct="1">
              <a:lnSpc>
                <a:spcPct val="150000"/>
              </a:lnSpc>
              <a:buNone/>
              <a:tabLst>
                <a:tab pos="0" algn="l"/>
                <a:tab pos="92075" algn="l"/>
              </a:tabLst>
            </a:pPr>
            <a:r>
              <a:rPr lang="en-US" altLang="zh-CN" sz="2000" dirty="0">
                <a:ea typeface="宋体" panose="02010600030101010101" pitchFamily="2" charset="-122"/>
              </a:rPr>
              <a:t>       1</a:t>
            </a:r>
            <a:r>
              <a:rPr lang="zh-CN" altLang="en-US" sz="2000" dirty="0">
                <a:ea typeface="宋体" panose="02010600030101010101" pitchFamily="2" charset="-122"/>
              </a:rPr>
              <a:t>、管理域名注册的</a:t>
            </a:r>
            <a:r>
              <a:rPr lang="en-US" altLang="zh-CN" sz="2000" dirty="0">
                <a:ea typeface="宋体" panose="02010600030101010101" pitchFamily="2" charset="-122"/>
              </a:rPr>
              <a:t>InterNIC</a:t>
            </a:r>
            <a:r>
              <a:rPr lang="zh-CN" altLang="en-US" sz="2000" dirty="0">
                <a:ea typeface="宋体" panose="02010600030101010101" pitchFamily="2" charset="-122"/>
              </a:rPr>
              <a:t>；</a:t>
            </a:r>
            <a:endParaRPr lang="en-US" altLang="zh-CN" sz="2000" dirty="0">
              <a:ea typeface="宋体" panose="02010600030101010101" pitchFamily="2" charset="-122"/>
            </a:endParaRPr>
          </a:p>
          <a:p>
            <a:pPr marL="0" indent="0" algn="l" defTabSz="914400" eaLnBrk="1" hangingPunct="1">
              <a:lnSpc>
                <a:spcPct val="150000"/>
              </a:lnSpc>
              <a:buNone/>
              <a:tabLst>
                <a:tab pos="0" algn="l"/>
                <a:tab pos="92075" algn="l"/>
              </a:tabLst>
            </a:pPr>
            <a:r>
              <a:rPr lang="en-US" altLang="zh-CN" sz="2000" dirty="0">
                <a:ea typeface="宋体" panose="02010600030101010101" pitchFamily="2" charset="-122"/>
              </a:rPr>
              <a:t>       2</a:t>
            </a:r>
            <a:r>
              <a:rPr lang="zh-CN" altLang="en-US" sz="2000" dirty="0">
                <a:ea typeface="宋体" panose="02010600030101010101" pitchFamily="2" charset="-122"/>
              </a:rPr>
              <a:t>、存储全美国家实验室的</a:t>
            </a:r>
            <a:r>
              <a:rPr lang="en-US" altLang="zh-CN" sz="2000" dirty="0">
                <a:ea typeface="宋体" panose="02010600030101010101" pitchFamily="2" charset="-122"/>
              </a:rPr>
              <a:t>Esnet。</a:t>
            </a:r>
            <a:endParaRPr lang="en-US" altLang="zh-CN" sz="2000" dirty="0">
              <a:ea typeface="宋体" panose="02010600030101010101" pitchFamily="2" charset="-122"/>
            </a:endParaRPr>
          </a:p>
        </p:txBody>
      </p:sp>
      <p:sp>
        <p:nvSpPr>
          <p:cNvPr id="4" name="Rectangle 67"/>
          <p:cNvSpPr txBox="1">
            <a:spLocks noChangeArrowheads="1"/>
          </p:cNvSpPr>
          <p:nvPr/>
        </p:nvSpPr>
        <p:spPr bwMode="auto">
          <a:xfrm>
            <a:off x="317500" y="974725"/>
            <a:ext cx="8191500" cy="1603375"/>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目录服务</a:t>
            </a:r>
            <a: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(directory  service)    </a:t>
            </a:r>
            <a:br>
              <a:rPr kumimoji="0" lang="en-US" altLang="zh-CN"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br>
            <a:r>
              <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目录服务是命名服务的延伸，他不仅保存对象名，而且保存这个对象的各种属性，你可以根据属性进行查询、修改、增删等操作。</a:t>
            </a:r>
            <a:endParaRPr kumimoji="0" lang="zh-CN" altLang="en-US" sz="20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a:xfrm>
            <a:off x="0" y="0"/>
            <a:ext cx="9144000" cy="542925"/>
          </a:xfrm>
        </p:spPr>
        <p:txBody>
          <a:bodyPr vert="horz" wrap="square" lIns="91440" tIns="45720" rIns="91440" bIns="45720" anchor="ctr" anchorCtr="0"/>
          <a:lstStyle/>
          <a:p>
            <a:pPr eaLnBrk="1" hangingPunct="1"/>
            <a:r>
              <a:rPr lang="en-US" altLang="zh-CN" dirty="0">
                <a:ea typeface="宋体" panose="02010600030101010101" pitchFamily="2" charset="-122"/>
              </a:rPr>
              <a:t>X.500 Directory Service</a:t>
            </a:r>
            <a:endParaRPr lang="en-US" altLang="zh-CN" dirty="0">
              <a:ea typeface="宋体" panose="02010600030101010101" pitchFamily="2" charset="-122"/>
            </a:endParaRPr>
          </a:p>
        </p:txBody>
      </p:sp>
      <p:sp>
        <p:nvSpPr>
          <p:cNvPr id="76803" name="Rectangle 3"/>
          <p:cNvSpPr>
            <a:spLocks noGrp="1"/>
          </p:cNvSpPr>
          <p:nvPr>
            <p:ph idx="1"/>
          </p:nvPr>
        </p:nvSpPr>
        <p:spPr>
          <a:xfrm>
            <a:off x="349250" y="657225"/>
            <a:ext cx="8559800" cy="1906588"/>
          </a:xfrm>
        </p:spPr>
        <p:txBody>
          <a:bodyPr vert="horz" wrap="square" lIns="91440" tIns="45720" rIns="91440" bIns="45720" anchor="t" anchorCtr="0"/>
          <a:lstStyle/>
          <a:p>
            <a:pPr algn="l" eaLnBrk="1" hangingPunct="1">
              <a:buFont typeface="Wingdings" panose="05000000000000000000" pitchFamily="2" charset="2"/>
              <a:buChar char="u"/>
            </a:pPr>
            <a:r>
              <a:rPr lang="en-US" altLang="zh-CN" sz="2000" dirty="0">
                <a:ea typeface="宋体" panose="02010600030101010101" pitchFamily="2" charset="-122"/>
              </a:rPr>
              <a:t>an X.500 directory entry is comparable to a resource record in DNS. Each record is made up of a collection of (attribute, value) pairs</a:t>
            </a:r>
            <a:endParaRPr lang="en-US" altLang="zh-CN" sz="2000" dirty="0">
              <a:ea typeface="宋体" panose="02010600030101010101" pitchFamily="2" charset="-122"/>
            </a:endParaRPr>
          </a:p>
          <a:p>
            <a:pPr algn="l" eaLnBrk="1" hangingPunct="1">
              <a:buFont typeface="Wingdings" panose="05000000000000000000" pitchFamily="2" charset="2"/>
              <a:buChar char="u"/>
            </a:pPr>
            <a:r>
              <a:rPr lang="en-US" altLang="zh-CN" sz="2000" dirty="0">
                <a:ea typeface="宋体" panose="02010600030101010101" pitchFamily="2" charset="-122"/>
              </a:rPr>
              <a:t>Collection of all entries is a </a:t>
            </a:r>
            <a:r>
              <a:rPr lang="en-US" altLang="zh-CN" sz="2000" dirty="0">
                <a:solidFill>
                  <a:srgbClr val="FF0000"/>
                </a:solidFill>
                <a:ea typeface="宋体" panose="02010600030101010101" pitchFamily="2" charset="-122"/>
              </a:rPr>
              <a:t>Directory Information Base </a:t>
            </a:r>
            <a:r>
              <a:rPr lang="en-US" altLang="zh-CN" sz="2000" dirty="0">
                <a:ea typeface="宋体" panose="02010600030101010101" pitchFamily="2" charset="-122"/>
              </a:rPr>
              <a:t>(</a:t>
            </a:r>
            <a:r>
              <a:rPr lang="en-US" altLang="zh-CN" sz="2000" dirty="0">
                <a:solidFill>
                  <a:srgbClr val="FF0000"/>
                </a:solidFill>
                <a:ea typeface="宋体" panose="02010600030101010101" pitchFamily="2" charset="-122"/>
              </a:rPr>
              <a:t>DIB</a:t>
            </a:r>
            <a:r>
              <a:rPr lang="en-US" altLang="zh-CN" sz="2000" dirty="0">
                <a:ea typeface="宋体" panose="02010600030101010101" pitchFamily="2" charset="-122"/>
              </a:rPr>
              <a:t>)</a:t>
            </a:r>
            <a:endParaRPr lang="en-US" altLang="zh-CN" sz="2000" dirty="0">
              <a:ea typeface="宋体" panose="02010600030101010101" pitchFamily="2" charset="-122"/>
            </a:endParaRPr>
          </a:p>
          <a:p>
            <a:pPr algn="l" eaLnBrk="1" hangingPunct="1">
              <a:buFont typeface="Wingdings" panose="05000000000000000000" pitchFamily="2" charset="2"/>
              <a:buChar char="u"/>
            </a:pPr>
            <a:r>
              <a:rPr lang="en-US" altLang="zh-CN" sz="2000" dirty="0">
                <a:ea typeface="宋体" panose="02010600030101010101" pitchFamily="2" charset="-122"/>
              </a:rPr>
              <a:t>Each naming attribute is a </a:t>
            </a:r>
            <a:r>
              <a:rPr lang="en-US" altLang="zh-CN" sz="2000" dirty="0">
                <a:solidFill>
                  <a:srgbClr val="FF0000"/>
                </a:solidFill>
                <a:ea typeface="宋体" panose="02010600030101010101" pitchFamily="2" charset="-122"/>
              </a:rPr>
              <a:t>Relative Distinguished Name </a:t>
            </a:r>
            <a:r>
              <a:rPr lang="en-US" altLang="zh-CN" sz="2000" dirty="0">
                <a:ea typeface="宋体" panose="02010600030101010101" pitchFamily="2" charset="-122"/>
              </a:rPr>
              <a:t>(</a:t>
            </a:r>
            <a:r>
              <a:rPr lang="en-US" altLang="zh-CN" sz="2000" dirty="0">
                <a:solidFill>
                  <a:srgbClr val="FF0000"/>
                </a:solidFill>
                <a:ea typeface="宋体" panose="02010600030101010101" pitchFamily="2" charset="-122"/>
              </a:rPr>
              <a:t>RDN</a:t>
            </a:r>
            <a:r>
              <a:rPr lang="en-US" altLang="zh-CN" sz="2000" dirty="0">
                <a:ea typeface="宋体" panose="02010600030101010101" pitchFamily="2" charset="-122"/>
              </a:rPr>
              <a:t>)</a:t>
            </a:r>
            <a:endParaRPr lang="en-US" altLang="zh-CN" sz="2000" dirty="0">
              <a:ea typeface="宋体" panose="02010600030101010101" pitchFamily="2" charset="-122"/>
            </a:endParaRPr>
          </a:p>
          <a:p>
            <a:pPr algn="l" eaLnBrk="1" hangingPunct="1">
              <a:buFont typeface="Wingdings" panose="05000000000000000000" pitchFamily="2" charset="2"/>
              <a:buChar char="u"/>
            </a:pPr>
            <a:r>
              <a:rPr lang="en-US" altLang="zh-CN" sz="2000" dirty="0">
                <a:ea typeface="宋体" panose="02010600030101010101" pitchFamily="2" charset="-122"/>
              </a:rPr>
              <a:t>RDNs, in sequence, can be used to form a Directory Information Tree (</a:t>
            </a:r>
            <a:r>
              <a:rPr lang="en-US" altLang="zh-CN" sz="2000" dirty="0">
                <a:solidFill>
                  <a:srgbClr val="FF0000"/>
                </a:solidFill>
                <a:ea typeface="宋体" panose="02010600030101010101" pitchFamily="2" charset="-122"/>
              </a:rPr>
              <a:t>DIT</a:t>
            </a:r>
            <a:r>
              <a:rPr lang="en-US" altLang="zh-CN" sz="2000" dirty="0">
                <a:ea typeface="宋体" panose="02010600030101010101" pitchFamily="2" charset="-122"/>
              </a:rPr>
              <a:t>)</a:t>
            </a:r>
            <a:endParaRPr lang="en-US" altLang="zh-CN" sz="2000" dirty="0">
              <a:ea typeface="宋体" panose="02010600030101010101" pitchFamily="2" charset="-122"/>
            </a:endParaRPr>
          </a:p>
        </p:txBody>
      </p:sp>
      <p:sp>
        <p:nvSpPr>
          <p:cNvPr id="4" name="Rectangle 3"/>
          <p:cNvSpPr txBox="1">
            <a:spLocks noChangeArrowheads="1"/>
          </p:cNvSpPr>
          <p:nvPr/>
        </p:nvSpPr>
        <p:spPr bwMode="auto">
          <a:xfrm>
            <a:off x="374650" y="5926138"/>
            <a:ext cx="8305800" cy="8382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ctr" defTabSz="914400" rtl="0" eaLnBrk="1" fontAlgn="base" latinLnBrk="0" hangingPunct="1">
              <a:lnSpc>
                <a:spcPct val="80000"/>
              </a:lnSpc>
              <a:spcBef>
                <a:spcPct val="20000"/>
              </a:spcBef>
              <a:spcAft>
                <a:spcPct val="0"/>
              </a:spcAft>
              <a:buClr>
                <a:schemeClr val="accent2"/>
              </a:buClr>
              <a:buSzTx/>
              <a:buFontTx/>
              <a:buNone/>
              <a:defRPr/>
            </a:pP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 simple example of a X.500 directory entry using X.500 naming conventions.</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80000"/>
              </a:lnSpc>
              <a:spcBef>
                <a:spcPct val="20000"/>
              </a:spcBef>
              <a:spcAft>
                <a:spcPct val="0"/>
              </a:spcAft>
              <a:buClr>
                <a:schemeClr val="accent2"/>
              </a:buClr>
              <a:buSzTx/>
              <a:buFontTx/>
              <a:buChar char="–"/>
              <a:defRPr/>
            </a:pP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/C=NL/O=Peking University/OU=School of EECS</a:t>
            </a:r>
            <a:endPar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80000"/>
              </a:lnSpc>
              <a:spcBef>
                <a:spcPct val="20000"/>
              </a:spcBef>
              <a:spcAft>
                <a:spcPct val="0"/>
              </a:spcAft>
              <a:buClr>
                <a:schemeClr val="accent2"/>
              </a:buClr>
              <a:buSzTx/>
              <a:buFontTx/>
              <a:buChar char="–"/>
              <a:defRPr/>
            </a:pPr>
            <a:r>
              <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is analogous to the DNS name eecs.pku.edu.cn</a:t>
            </a:r>
            <a:endParaRPr kumimoji="0" lang="en-US" altLang="zh-CN" sz="16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graphicFrame>
        <p:nvGraphicFramePr>
          <p:cNvPr id="5" name="表格 4"/>
          <p:cNvGraphicFramePr/>
          <p:nvPr/>
        </p:nvGraphicFramePr>
        <p:xfrm>
          <a:off x="374650" y="2679700"/>
          <a:ext cx="8534400" cy="3017835"/>
        </p:xfrm>
        <a:graphic>
          <a:graphicData uri="http://schemas.openxmlformats.org/drawingml/2006/table">
            <a:tbl>
              <a:tblPr/>
              <a:tblGrid>
                <a:gridCol w="2606675"/>
                <a:gridCol w="1235075"/>
                <a:gridCol w="4692650"/>
              </a:tblGrid>
              <a:tr h="335315">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b="1" dirty="0">
                          <a:latin typeface="Times New Roman" panose="02020603050405020304" pitchFamily="18" charset="0"/>
                          <a:ea typeface="宋体" panose="02010600030101010101" pitchFamily="2" charset="-122"/>
                        </a:rPr>
                        <a:t>Attribute</a:t>
                      </a:r>
                      <a:endParaRPr lang="en-US" altLang="zh-CN" sz="1600" b="1" dirty="0">
                        <a:latin typeface="Times New Roman" panose="02020603050405020304" pitchFamily="18" charset="0"/>
                        <a:ea typeface="宋体" panose="02010600030101010101" pitchFamily="2" charset="-122"/>
                      </a:endParaRPr>
                    </a:p>
                  </a:txBody>
                  <a:tcPr marT="45711" marB="4571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b="1" dirty="0">
                          <a:latin typeface="Times New Roman" panose="02020603050405020304" pitchFamily="18" charset="0"/>
                          <a:ea typeface="宋体" panose="02010600030101010101" pitchFamily="2" charset="-122"/>
                        </a:rPr>
                        <a:t>Abbr.</a:t>
                      </a:r>
                      <a:endParaRPr lang="en-US" altLang="zh-CN" sz="1600" b="1"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b="1" dirty="0">
                          <a:latin typeface="Times New Roman" panose="02020603050405020304" pitchFamily="18" charset="0"/>
                          <a:ea typeface="宋体" panose="02010600030101010101" pitchFamily="2" charset="-122"/>
                        </a:rPr>
                        <a:t>Value</a:t>
                      </a:r>
                      <a:endParaRPr lang="en-US" altLang="zh-CN" sz="1600" b="1"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5315">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Country</a:t>
                      </a:r>
                      <a:endParaRPr lang="en-US" altLang="zh-CN" sz="1600" dirty="0">
                        <a:latin typeface="Times New Roman" panose="02020603050405020304" pitchFamily="18" charset="0"/>
                        <a:ea typeface="宋体" panose="02010600030101010101" pitchFamily="2" charset="-122"/>
                      </a:endParaRPr>
                    </a:p>
                  </a:txBody>
                  <a:tcPr marT="45711" marB="4571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C</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CN</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5315">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Locality</a:t>
                      </a:r>
                      <a:endParaRPr lang="en-US" altLang="zh-CN" sz="1600" dirty="0">
                        <a:latin typeface="Times New Roman" panose="02020603050405020304" pitchFamily="18" charset="0"/>
                        <a:ea typeface="宋体" panose="02010600030101010101" pitchFamily="2" charset="-122"/>
                      </a:endParaRPr>
                    </a:p>
                  </a:txBody>
                  <a:tcPr marT="45711" marB="4571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L</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Beijing</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5315">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Organization</a:t>
                      </a:r>
                      <a:endParaRPr lang="en-US" altLang="zh-CN" sz="1600" dirty="0">
                        <a:latin typeface="Times New Roman" panose="02020603050405020304" pitchFamily="18" charset="0"/>
                        <a:ea typeface="宋体" panose="02010600030101010101" pitchFamily="2" charset="-122"/>
                      </a:endParaRPr>
                    </a:p>
                  </a:txBody>
                  <a:tcPr marT="45711" marB="4571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O</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Beijng University</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5315">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OrganizationalUnit</a:t>
                      </a:r>
                      <a:endParaRPr lang="en-US" altLang="zh-CN" sz="1600" dirty="0">
                        <a:latin typeface="Times New Roman" panose="02020603050405020304" pitchFamily="18" charset="0"/>
                        <a:ea typeface="宋体" panose="02010600030101010101" pitchFamily="2" charset="-122"/>
                      </a:endParaRPr>
                    </a:p>
                  </a:txBody>
                  <a:tcPr marT="45711" marB="4571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OU</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School of EECS</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5315">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CommonName</a:t>
                      </a:r>
                      <a:endParaRPr lang="en-US" altLang="zh-CN" sz="1600" dirty="0">
                        <a:latin typeface="Times New Roman" panose="02020603050405020304" pitchFamily="18" charset="0"/>
                        <a:ea typeface="宋体" panose="02010600030101010101" pitchFamily="2" charset="-122"/>
                      </a:endParaRPr>
                    </a:p>
                  </a:txBody>
                  <a:tcPr marT="45711" marB="4571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CN</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Main server</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5315">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Mail_Servers</a:t>
                      </a:r>
                      <a:endParaRPr lang="en-US" altLang="zh-CN" sz="1600" dirty="0">
                        <a:latin typeface="Times New Roman" panose="02020603050405020304" pitchFamily="18" charset="0"/>
                        <a:ea typeface="宋体" panose="02010600030101010101" pitchFamily="2" charset="-122"/>
                      </a:endParaRPr>
                    </a:p>
                  </a:txBody>
                  <a:tcPr marT="45711" marB="4571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162.105.203.25</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5315">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FTP_Server</a:t>
                      </a:r>
                      <a:endParaRPr lang="en-US" altLang="zh-CN" sz="1600" dirty="0">
                        <a:latin typeface="Times New Roman" panose="02020603050405020304" pitchFamily="18" charset="0"/>
                        <a:ea typeface="宋体" panose="02010600030101010101" pitchFamily="2" charset="-122"/>
                      </a:endParaRPr>
                    </a:p>
                  </a:txBody>
                  <a:tcPr marT="45711" marB="4571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162.105.146.3</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5315">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WWW_Server</a:t>
                      </a:r>
                      <a:endParaRPr lang="en-US" altLang="zh-CN" sz="1600" dirty="0">
                        <a:latin typeface="Times New Roman" panose="02020603050405020304" pitchFamily="18" charset="0"/>
                        <a:ea typeface="宋体" panose="02010600030101010101" pitchFamily="2" charset="-122"/>
                      </a:endParaRPr>
                    </a:p>
                  </a:txBody>
                  <a:tcPr marT="45711" marB="4571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000" b="0" i="0" u="none" kern="1200" baseline="0">
                          <a:solidFill>
                            <a:schemeClr val="tx1"/>
                          </a:solidFill>
                          <a:latin typeface="Times New Roman" panose="02020603050405020304" pitchFamily="18" charset="0"/>
                        </a:defRPr>
                      </a:lvl1pPr>
                      <a:lvl2pPr marL="457200" lvl="1"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2pPr>
                      <a:lvl3pPr marL="914400" lvl="2"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3pPr>
                      <a:lvl4pPr marL="1371600" lvl="3"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4pPr>
                      <a:lvl5pPr marL="1828800" lvl="4" indent="0" algn="ctr"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mn-ea"/>
                          <a:cs typeface="+mn-cs"/>
                        </a:defRPr>
                      </a:lvl5pPr>
                    </a:lstStyle>
                    <a:p>
                      <a:pPr lvl="0" eaLnBrk="1" hangingPunct="1">
                        <a:spcBef>
                          <a:spcPct val="20000"/>
                        </a:spcBef>
                        <a:buClr>
                          <a:schemeClr val="accent2"/>
                        </a:buClr>
                        <a:buNone/>
                      </a:pPr>
                      <a:r>
                        <a:rPr lang="en-US" altLang="zh-CN" sz="1600" dirty="0">
                          <a:latin typeface="Times New Roman" panose="02020603050405020304" pitchFamily="18" charset="0"/>
                          <a:ea typeface="宋体" panose="02010600030101010101" pitchFamily="2" charset="-122"/>
                        </a:rPr>
                        <a:t>162.105.203.25</a:t>
                      </a:r>
                      <a:endParaRPr lang="en-US" altLang="zh-CN" sz="1600" dirty="0">
                        <a:latin typeface="Times New Roman" panose="02020603050405020304" pitchFamily="18" charset="0"/>
                        <a:ea typeface="宋体" panose="02010600030101010101" pitchFamily="2" charset="-122"/>
                      </a:endParaRPr>
                    </a:p>
                  </a:txBody>
                  <a:tcPr marT="45711" marB="4571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title"/>
          </p:nvPr>
        </p:nvSpPr>
        <p:spPr>
          <a:xfrm>
            <a:off x="0" y="0"/>
            <a:ext cx="9144000" cy="895350"/>
          </a:xfrm>
        </p:spPr>
        <p:txBody>
          <a:bodyPr vert="horz" wrap="square" lIns="91440" tIns="45720" rIns="91440" bIns="45720" anchor="ctr" anchorCtr="0"/>
          <a:lstStyle/>
          <a:p>
            <a:pPr eaLnBrk="1" hangingPunct="1"/>
            <a:r>
              <a:rPr lang="en-US" altLang="zh-CN" dirty="0">
                <a:ea typeface="宋体" panose="02010600030101010101" pitchFamily="2" charset="-122"/>
              </a:rPr>
              <a:t>Example: LDAP</a:t>
            </a:r>
            <a:endParaRPr lang="en-US" altLang="zh-CN" dirty="0">
              <a:ea typeface="宋体" panose="02010600030101010101" pitchFamily="2" charset="-122"/>
            </a:endParaRPr>
          </a:p>
        </p:txBody>
      </p:sp>
      <p:pic>
        <p:nvPicPr>
          <p:cNvPr id="78851" name="Picture 3"/>
          <p:cNvPicPr>
            <a:picLocks noChangeAspect="1"/>
          </p:cNvPicPr>
          <p:nvPr/>
        </p:nvPicPr>
        <p:blipFill>
          <a:blip r:embed="rId1"/>
          <a:stretch>
            <a:fillRect/>
          </a:stretch>
        </p:blipFill>
        <p:spPr>
          <a:xfrm>
            <a:off x="666750" y="1139825"/>
            <a:ext cx="7605713" cy="5105400"/>
          </a:xfrm>
          <a:prstGeom prst="rect">
            <a:avLst/>
          </a:prstGeom>
          <a:noFill/>
          <a:ln w="9525">
            <a:noFill/>
          </a:ln>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Example: LDAP</a:t>
            </a:r>
            <a:endParaRPr lang="en-US" altLang="zh-CN" dirty="0">
              <a:ea typeface="宋体" panose="02010600030101010101" pitchFamily="2" charset="-122"/>
            </a:endParaRPr>
          </a:p>
        </p:txBody>
      </p:sp>
      <p:sp>
        <p:nvSpPr>
          <p:cNvPr id="80899" name="Rectangle 3"/>
          <p:cNvSpPr>
            <a:spLocks noGrp="1"/>
          </p:cNvSpPr>
          <p:nvPr>
            <p:ph idx="1"/>
          </p:nvPr>
        </p:nvSpPr>
        <p:spPr>
          <a:xfrm>
            <a:off x="77788" y="1077913"/>
            <a:ext cx="8988425" cy="1317625"/>
          </a:xfrm>
        </p:spPr>
        <p:txBody>
          <a:bodyPr vert="horz" wrap="square" lIns="91440" tIns="45720" rIns="91440" bIns="45720" anchor="t" anchorCtr="0"/>
          <a:lstStyle/>
          <a:p>
            <a:pPr marL="0" indent="0" algn="l" eaLnBrk="1" hangingPunct="1">
              <a:lnSpc>
                <a:spcPct val="150000"/>
              </a:lnSpc>
              <a:buFont typeface="Wingdings" panose="05000000000000000000" pitchFamily="2" charset="2"/>
              <a:buChar char="u"/>
            </a:pPr>
            <a:r>
              <a:rPr lang="en-US" altLang="zh-CN" sz="1800" dirty="0">
                <a:ea typeface="宋体" panose="02010600030101010101" pitchFamily="2" charset="-122"/>
              </a:rPr>
              <a:t>LDAP(Light-weight Directory Access Protocal) </a:t>
            </a:r>
            <a:r>
              <a:rPr lang="zh-CN" altLang="en-US" sz="1800" dirty="0">
                <a:ea typeface="宋体" panose="02010600030101010101" pitchFamily="2" charset="-122"/>
              </a:rPr>
              <a:t>是</a:t>
            </a:r>
            <a:r>
              <a:rPr lang="en-US" altLang="zh-CN" sz="1800" dirty="0">
                <a:ea typeface="宋体" panose="02010600030101010101" pitchFamily="2" charset="-122"/>
              </a:rPr>
              <a:t>X.500</a:t>
            </a:r>
            <a:r>
              <a:rPr lang="zh-CN" altLang="en-US" sz="1800" dirty="0">
                <a:ea typeface="宋体" panose="02010600030101010101" pitchFamily="2" charset="-122"/>
              </a:rPr>
              <a:t>目录协议的一个子集，是企业级的通用身份和访问管理（</a:t>
            </a:r>
            <a:r>
              <a:rPr lang="en-US" altLang="zh-CN" sz="1800" dirty="0">
                <a:ea typeface="宋体" panose="02010600030101010101" pitchFamily="2" charset="-122"/>
              </a:rPr>
              <a:t>IAM</a:t>
            </a:r>
            <a:r>
              <a:rPr lang="zh-CN" altLang="en-US" sz="1800" dirty="0">
                <a:ea typeface="宋体" panose="02010600030101010101" pitchFamily="2" charset="-122"/>
              </a:rPr>
              <a:t>）工具；是数据库访问控制的一个开源跨平台的解决方案。管理员通过</a:t>
            </a:r>
            <a:r>
              <a:rPr lang="en-US" altLang="zh-CN" sz="1800" dirty="0">
                <a:ea typeface="宋体" panose="02010600030101010101" pitchFamily="2" charset="-122"/>
              </a:rPr>
              <a:t>LDAP</a:t>
            </a:r>
            <a:r>
              <a:rPr lang="zh-CN" altLang="en-US" sz="1800" dirty="0">
                <a:ea typeface="宋体" panose="02010600030101010101" pitchFamily="2" charset="-122"/>
              </a:rPr>
              <a:t>客户端远程进行目录管理操作，如添加、删除和修改用户账户信息等；</a:t>
            </a:r>
            <a:endParaRPr lang="en-US" altLang="zh-CN" sz="1800" dirty="0">
              <a:ea typeface="宋体" panose="02010600030101010101" pitchFamily="2" charset="-122"/>
            </a:endParaRPr>
          </a:p>
        </p:txBody>
      </p:sp>
      <p:sp>
        <p:nvSpPr>
          <p:cNvPr id="4" name="Rectangle 3"/>
          <p:cNvSpPr txBox="1">
            <a:spLocks noChangeArrowheads="1"/>
          </p:cNvSpPr>
          <p:nvPr/>
        </p:nvSpPr>
        <p:spPr bwMode="auto">
          <a:xfrm>
            <a:off x="112713" y="2395538"/>
            <a:ext cx="8918575" cy="3263900"/>
          </a:xfrm>
          <a:prstGeom prst="rect">
            <a:avLst/>
          </a:prstGeom>
          <a:noFill/>
          <a:ln>
            <a:noFill/>
          </a:ln>
        </p:spPr>
        <p:txBody>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vl6pPr marL="2514600" indent="-228600" algn="l" rtl="0" fontAlgn="base">
              <a:spcBef>
                <a:spcPct val="20000"/>
              </a:spcBef>
              <a:spcAft>
                <a:spcPct val="0"/>
              </a:spcAft>
              <a:buClr>
                <a:schemeClr val="accent2"/>
              </a:buClr>
              <a:buChar char="»"/>
              <a:defRPr sz="2000">
                <a:solidFill>
                  <a:schemeClr val="tx1"/>
                </a:solidFill>
                <a:latin typeface="+mn-lt"/>
              </a:defRPr>
            </a:lvl6pPr>
            <a:lvl7pPr marL="2971800" indent="-228600" algn="l" rtl="0" fontAlgn="base">
              <a:spcBef>
                <a:spcPct val="20000"/>
              </a:spcBef>
              <a:spcAft>
                <a:spcPct val="0"/>
              </a:spcAft>
              <a:buClr>
                <a:schemeClr val="accent2"/>
              </a:buClr>
              <a:buChar char="»"/>
              <a:defRPr sz="2000">
                <a:solidFill>
                  <a:schemeClr val="tx1"/>
                </a:solidFill>
                <a:latin typeface="+mn-lt"/>
              </a:defRPr>
            </a:lvl7pPr>
            <a:lvl8pPr marL="3429000" indent="-228600" algn="l" rtl="0" fontAlgn="base">
              <a:spcBef>
                <a:spcPct val="20000"/>
              </a:spcBef>
              <a:spcAft>
                <a:spcPct val="0"/>
              </a:spcAft>
              <a:buClr>
                <a:schemeClr val="accent2"/>
              </a:buClr>
              <a:buChar char="»"/>
              <a:defRPr sz="2000">
                <a:solidFill>
                  <a:schemeClr val="tx1"/>
                </a:solidFill>
                <a:latin typeface="+mn-lt"/>
              </a:defRPr>
            </a:lvl8pPr>
            <a:lvl9pPr marL="3886200" indent="-228600" algn="l" rtl="0" fontAlgn="base">
              <a:spcBef>
                <a:spcPct val="20000"/>
              </a:spcBef>
              <a:spcAft>
                <a:spcPct val="0"/>
              </a:spcAft>
              <a:buClr>
                <a:schemeClr val="accent2"/>
              </a:buClr>
              <a:buChar char="»"/>
              <a:defRPr sz="2000">
                <a:solidFill>
                  <a:schemeClr val="tx1"/>
                </a:solidFill>
                <a:latin typeface="+mn-lt"/>
              </a:defRPr>
            </a:lvl9pPr>
          </a:lstStyle>
          <a:p>
            <a:pPr marL="342900" marR="0" lvl="0" indent="-342900" algn="l" defTabSz="914400" rtl="0" eaLnBrk="1" fontAlgn="base" latinLnBrk="0" hangingPunct="1">
              <a:lnSpc>
                <a:spcPct val="150000"/>
              </a:lnSpc>
              <a:spcBef>
                <a:spcPct val="20000"/>
              </a:spcBef>
              <a:spcAft>
                <a:spcPct val="0"/>
              </a:spcAft>
              <a:buClr>
                <a:schemeClr val="accent2"/>
              </a:buClr>
              <a:buSzTx/>
              <a:buFont typeface="Wingdings" panose="05000000000000000000" pitchFamily="2" charset="2"/>
              <a:buChar char="u"/>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信息被集中存储在服务器上的 </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LDAP </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目录中，他是一种数据库，数据按层次存储：</a:t>
            </a:r>
            <a:endPar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1</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、“根”或“基本 </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DN”（</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专有名称，</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Distinguished Name）；</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2</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、目录被进一步细分成组织单元（</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Organization Units </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或 </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OU）；</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OU </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中是包含数据的项。</a:t>
            </a:r>
            <a:endPar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accent2"/>
              </a:buClr>
              <a:buSzTx/>
              <a:buFontTx/>
              <a:buNone/>
              <a:defRPr/>
            </a:pP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        这种树-叶结构不仅使 </a:t>
            </a:r>
            <a:r>
              <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LDAP </a:t>
            </a:r>
            <a:r>
              <a:rPr kumimoji="0" lang="zh-CN" altLang="en-US"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变得可扩展，而且当进行简单的搜索或查询时，比传统的关系数据库更快。</a:t>
            </a:r>
            <a:endParaRPr kumimoji="0" lang="en-US" altLang="zh-CN" sz="1800" b="0"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a:xfrm>
            <a:off x="0" y="0"/>
            <a:ext cx="9144000" cy="601663"/>
          </a:xfrm>
        </p:spPr>
        <p:txBody>
          <a:bodyPr vert="horz" wrap="square" lIns="91440" tIns="45720" rIns="91440" bIns="45720" anchor="ctr" anchorCtr="0"/>
          <a:lstStyle/>
          <a:p>
            <a:pPr eaLnBrk="1" hangingPunct="1"/>
            <a:r>
              <a:rPr lang="en-US" altLang="zh-CN" dirty="0">
                <a:ea typeface="宋体" panose="02010600030101010101" pitchFamily="2" charset="-122"/>
              </a:rPr>
              <a:t>Example: LDAP</a:t>
            </a:r>
            <a:endParaRPr lang="en-US" altLang="zh-CN" dirty="0">
              <a:ea typeface="宋体" panose="02010600030101010101" pitchFamily="2" charset="-122"/>
            </a:endParaRPr>
          </a:p>
        </p:txBody>
      </p:sp>
      <p:sp>
        <p:nvSpPr>
          <p:cNvPr id="81923" name="Rectangle 3"/>
          <p:cNvSpPr>
            <a:spLocks noGrp="1"/>
          </p:cNvSpPr>
          <p:nvPr>
            <p:ph idx="1"/>
          </p:nvPr>
        </p:nvSpPr>
        <p:spPr>
          <a:xfrm>
            <a:off x="0" y="695325"/>
            <a:ext cx="8967788" cy="2686050"/>
          </a:xfrm>
        </p:spPr>
        <p:txBody>
          <a:bodyPr vert="horz" wrap="square" lIns="91440" tIns="45720" rIns="91440" bIns="45720" anchor="t" anchorCtr="0"/>
          <a:lstStyle/>
          <a:p>
            <a:pPr algn="l">
              <a:lnSpc>
                <a:spcPct val="150000"/>
              </a:lnSpc>
            </a:pPr>
            <a:r>
              <a:rPr lang="en-US" altLang="zh-CN" sz="1800" dirty="0">
                <a:ea typeface="宋体" panose="02010600030101010101" pitchFamily="2" charset="-122"/>
              </a:rPr>
              <a:t>LDAP</a:t>
            </a:r>
            <a:r>
              <a:rPr lang="zh-CN" altLang="en-US" sz="1800" dirty="0">
                <a:ea typeface="宋体" panose="02010600030101010101" pitchFamily="2" charset="-122"/>
              </a:rPr>
              <a:t>基于客户端</a:t>
            </a:r>
            <a:r>
              <a:rPr lang="en-US" altLang="zh-CN" sz="1800" dirty="0">
                <a:ea typeface="宋体" panose="02010600030101010101" pitchFamily="2" charset="-122"/>
              </a:rPr>
              <a:t>-</a:t>
            </a:r>
            <a:r>
              <a:rPr lang="zh-CN" altLang="en-US" sz="1800" dirty="0">
                <a:ea typeface="宋体" panose="02010600030101010101" pitchFamily="2" charset="-122"/>
              </a:rPr>
              <a:t>服务器模型，可以位于企业内部或云中。</a:t>
            </a:r>
            <a:r>
              <a:rPr lang="en-US" altLang="zh-CN" sz="1800" dirty="0">
                <a:ea typeface="宋体" panose="02010600030101010101" pitchFamily="2" charset="-122"/>
              </a:rPr>
              <a:t>LDAP</a:t>
            </a:r>
            <a:r>
              <a:rPr lang="zh-CN" altLang="en-US" sz="1800" dirty="0">
                <a:ea typeface="宋体" panose="02010600030101010101" pitchFamily="2" charset="-122"/>
              </a:rPr>
              <a:t>服务器可以存储用户名、密码、属性和权限，通常用于存储核心用户标识；</a:t>
            </a:r>
            <a:endParaRPr lang="en-US" altLang="zh-CN" sz="1800" dirty="0">
              <a:ea typeface="宋体" panose="02010600030101010101" pitchFamily="2" charset="-122"/>
            </a:endParaRPr>
          </a:p>
          <a:p>
            <a:pPr algn="l">
              <a:lnSpc>
                <a:spcPct val="150000"/>
              </a:lnSpc>
            </a:pPr>
            <a:r>
              <a:rPr lang="zh-CN" altLang="en-US" sz="1800" dirty="0">
                <a:ea typeface="宋体" panose="02010600030101010101" pitchFamily="2" charset="-122"/>
              </a:rPr>
              <a:t>当用户访问时，输入其凭据并等待验证，系统将凭据与</a:t>
            </a:r>
            <a:r>
              <a:rPr lang="en-US" altLang="zh-CN" sz="1800" dirty="0">
                <a:ea typeface="宋体" panose="02010600030101010101" pitchFamily="2" charset="-122"/>
              </a:rPr>
              <a:t>LDAP</a:t>
            </a:r>
            <a:r>
              <a:rPr lang="zh-CN" altLang="en-US" sz="1800" dirty="0">
                <a:ea typeface="宋体" panose="02010600030101010101" pitchFamily="2" charset="-122"/>
              </a:rPr>
              <a:t>数据库中的核心标识进行比较，如果匹配则进行身份验证。经过验证的凭据可授予对信息的访问权限。否则不进行身份验证，并且会阻止用户与请求的数据进行交互，保证系统的完整性；</a:t>
            </a:r>
            <a:endParaRPr lang="zh-CN" altLang="en-US" sz="1800" dirty="0">
              <a:ea typeface="宋体" panose="02010600030101010101" pitchFamily="2" charset="-122"/>
            </a:endParaRPr>
          </a:p>
          <a:p>
            <a:pPr algn="l">
              <a:lnSpc>
                <a:spcPct val="150000"/>
              </a:lnSpc>
            </a:pPr>
            <a:r>
              <a:rPr lang="zh-CN" altLang="en-US" sz="1800" dirty="0">
                <a:ea typeface="宋体" panose="02010600030101010101" pitchFamily="2" charset="-122"/>
              </a:rPr>
              <a:t>基于云的</a:t>
            </a:r>
            <a:r>
              <a:rPr lang="en-US" altLang="zh-CN" sz="1800" dirty="0">
                <a:ea typeface="宋体" panose="02010600030101010101" pitchFamily="2" charset="-122"/>
              </a:rPr>
              <a:t>LDAP</a:t>
            </a:r>
            <a:r>
              <a:rPr lang="zh-CN" altLang="en-US" sz="1800" dirty="0">
                <a:ea typeface="宋体" panose="02010600030101010101" pitchFamily="2" charset="-122"/>
              </a:rPr>
              <a:t>或 </a:t>
            </a:r>
            <a:r>
              <a:rPr lang="en-US" altLang="zh-CN" sz="1800" dirty="0">
                <a:ea typeface="宋体" panose="02010600030101010101" pitchFamily="2" charset="-122"/>
              </a:rPr>
              <a:t>LDAP-as-a-Service</a:t>
            </a:r>
            <a:r>
              <a:rPr lang="zh-CN" altLang="en-US" sz="1800" dirty="0">
                <a:ea typeface="宋体" panose="02010600030101010101" pitchFamily="2" charset="-122"/>
              </a:rPr>
              <a:t>不需要任何现场服务器硬件。</a:t>
            </a:r>
            <a:endParaRPr lang="zh-CN" altLang="en-US" sz="1800" dirty="0">
              <a:ea typeface="宋体" panose="02010600030101010101" pitchFamily="2" charset="-122"/>
            </a:endParaRPr>
          </a:p>
          <a:p>
            <a:pPr algn="l" eaLnBrk="1" hangingPunct="1">
              <a:lnSpc>
                <a:spcPct val="150000"/>
              </a:lnSpc>
              <a:buNone/>
            </a:pPr>
            <a:endParaRPr lang="en-US" altLang="zh-CN" sz="1800" dirty="0">
              <a:ea typeface="宋体" panose="02010600030101010101" pitchFamily="2" charset="-122"/>
            </a:endParaRPr>
          </a:p>
        </p:txBody>
      </p:sp>
      <p:grpSp>
        <p:nvGrpSpPr>
          <p:cNvPr id="81924" name="组合 3"/>
          <p:cNvGrpSpPr/>
          <p:nvPr/>
        </p:nvGrpSpPr>
        <p:grpSpPr>
          <a:xfrm>
            <a:off x="3551238" y="3810000"/>
            <a:ext cx="5173662" cy="2905125"/>
            <a:chOff x="1920239" y="1608138"/>
            <a:chExt cx="5172711" cy="3307793"/>
          </a:xfrm>
        </p:grpSpPr>
        <p:sp>
          <p:nvSpPr>
            <p:cNvPr id="81926" name="Text Box 4"/>
            <p:cNvSpPr txBox="1"/>
            <p:nvPr/>
          </p:nvSpPr>
          <p:spPr>
            <a:xfrm>
              <a:off x="1920239" y="3040063"/>
              <a:ext cx="1119823" cy="420524"/>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客户端</a:t>
              </a:r>
              <a:endParaRPr lang="zh-CN" altLang="en-US" sz="1800" dirty="0">
                <a:ea typeface="宋体" panose="02010600030101010101" pitchFamily="2" charset="-122"/>
              </a:endParaRPr>
            </a:p>
          </p:txBody>
        </p:sp>
        <p:sp>
          <p:nvSpPr>
            <p:cNvPr id="81927" name="Rectangle 5"/>
            <p:cNvSpPr/>
            <p:nvPr/>
          </p:nvSpPr>
          <p:spPr>
            <a:xfrm>
              <a:off x="5389244" y="1608138"/>
              <a:ext cx="1510349" cy="369332"/>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0"/>
                </a:spcBef>
                <a:buClrTx/>
                <a:buNone/>
              </a:pPr>
              <a:r>
                <a:rPr lang="en-US" altLang="zh-CN" sz="1800" dirty="0">
                  <a:ea typeface="宋体" panose="02010600030101010101" pitchFamily="2" charset="-122"/>
                </a:rPr>
                <a:t>LDAP</a:t>
              </a:r>
              <a:r>
                <a:rPr lang="zh-CN" altLang="en-US" sz="1800" dirty="0">
                  <a:ea typeface="宋体" panose="02010600030101010101" pitchFamily="2" charset="-122"/>
                </a:rPr>
                <a:t>服务器</a:t>
              </a:r>
              <a:endParaRPr lang="zh-CN" altLang="en-US" sz="1800" dirty="0">
                <a:ea typeface="宋体" panose="02010600030101010101" pitchFamily="2" charset="-122"/>
              </a:endParaRPr>
            </a:p>
          </p:txBody>
        </p:sp>
        <p:sp>
          <p:nvSpPr>
            <p:cNvPr id="81928" name="Text Box 6"/>
            <p:cNvSpPr txBox="1"/>
            <p:nvPr/>
          </p:nvSpPr>
          <p:spPr>
            <a:xfrm>
              <a:off x="2642551" y="1916270"/>
              <a:ext cx="2746692" cy="646331"/>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搜索请求通过</a:t>
              </a:r>
              <a:r>
                <a:rPr lang="en-US" altLang="zh-CN" sz="1800" dirty="0">
                  <a:ea typeface="宋体" panose="02010600030101010101" pitchFamily="2" charset="-122"/>
                </a:rPr>
                <a:t>LDAP API</a:t>
              </a:r>
              <a:r>
                <a:rPr lang="zh-CN" altLang="en-US" sz="1800" dirty="0">
                  <a:ea typeface="宋体" panose="02010600030101010101" pitchFamily="2" charset="-122"/>
                </a:rPr>
                <a:t>（支持所有语言）</a:t>
              </a:r>
              <a:endParaRPr lang="zh-CN" altLang="en-US" sz="1800" dirty="0">
                <a:ea typeface="宋体" panose="02010600030101010101" pitchFamily="2" charset="-122"/>
              </a:endParaRPr>
            </a:p>
          </p:txBody>
        </p:sp>
        <p:sp>
          <p:nvSpPr>
            <p:cNvPr id="81929" name="Line 7"/>
            <p:cNvSpPr/>
            <p:nvPr/>
          </p:nvSpPr>
          <p:spPr>
            <a:xfrm flipV="1">
              <a:off x="3014662" y="2239436"/>
              <a:ext cx="3114675" cy="937152"/>
            </a:xfrm>
            <a:prstGeom prst="line">
              <a:avLst/>
            </a:prstGeom>
            <a:ln w="9525" cap="flat" cmpd="sng">
              <a:solidFill>
                <a:schemeClr val="tx1"/>
              </a:solidFill>
              <a:prstDash val="solid"/>
              <a:headEnd type="none" w="med" len="med"/>
              <a:tailEnd type="triangle" w="med" len="med"/>
            </a:ln>
          </p:spPr>
        </p:sp>
        <p:sp>
          <p:nvSpPr>
            <p:cNvPr id="81930" name="Text Box 8"/>
            <p:cNvSpPr txBox="1"/>
            <p:nvPr/>
          </p:nvSpPr>
          <p:spPr>
            <a:xfrm>
              <a:off x="5424488" y="2792413"/>
              <a:ext cx="1519237" cy="369332"/>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权限检查</a:t>
              </a:r>
              <a:endParaRPr lang="zh-CN" altLang="en-US" sz="1800" dirty="0">
                <a:ea typeface="宋体" panose="02010600030101010101" pitchFamily="2" charset="-122"/>
              </a:endParaRPr>
            </a:p>
          </p:txBody>
        </p:sp>
        <p:sp>
          <p:nvSpPr>
            <p:cNvPr id="81931" name="Text Box 9"/>
            <p:cNvSpPr txBox="1"/>
            <p:nvPr/>
          </p:nvSpPr>
          <p:spPr>
            <a:xfrm>
              <a:off x="5302250" y="3805238"/>
              <a:ext cx="1790700" cy="369332"/>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相应处理</a:t>
              </a:r>
              <a:endParaRPr lang="zh-CN" altLang="en-US" sz="1800" dirty="0">
                <a:ea typeface="宋体" panose="02010600030101010101" pitchFamily="2" charset="-122"/>
              </a:endParaRPr>
            </a:p>
          </p:txBody>
        </p:sp>
        <p:sp>
          <p:nvSpPr>
            <p:cNvPr id="81932" name="Line 10"/>
            <p:cNvSpPr/>
            <p:nvPr/>
          </p:nvSpPr>
          <p:spPr>
            <a:xfrm flipH="1" flipV="1">
              <a:off x="3040063" y="3423711"/>
              <a:ext cx="3162300" cy="1389525"/>
            </a:xfrm>
            <a:prstGeom prst="line">
              <a:avLst/>
            </a:prstGeom>
            <a:ln w="9525" cap="flat" cmpd="sng">
              <a:solidFill>
                <a:schemeClr val="tx1"/>
              </a:solidFill>
              <a:prstDash val="solid"/>
              <a:headEnd type="none" w="med" len="med"/>
              <a:tailEnd type="triangle" w="med" len="med"/>
            </a:ln>
          </p:spPr>
        </p:sp>
        <p:sp>
          <p:nvSpPr>
            <p:cNvPr id="81933" name="Text Box 11"/>
            <p:cNvSpPr txBox="1"/>
            <p:nvPr/>
          </p:nvSpPr>
          <p:spPr>
            <a:xfrm>
              <a:off x="3465575" y="4174570"/>
              <a:ext cx="1232345" cy="369332"/>
            </a:xfrm>
            <a:prstGeom prst="rect">
              <a:avLst/>
            </a:prstGeom>
            <a:noFill/>
            <a:ln w="9525">
              <a:noFill/>
            </a:ln>
          </p:spPr>
          <p:txBody>
            <a:bodyPr>
              <a:spAutoFit/>
            </a:bodyPr>
            <a:lstStyle>
              <a:lvl1pPr marL="342900" indent="-342900" algn="ctr" rtl="0" eaLnBrk="0" fontAlgn="base" hangingPunct="0">
                <a:spcBef>
                  <a:spcPct val="20000"/>
                </a:spcBef>
                <a:spcAft>
                  <a:spcPct val="0"/>
                </a:spcAft>
                <a:buClr>
                  <a:schemeClr val="accent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defRPr>
              </a:lvl5pPr>
            </a:lstStyle>
            <a:p>
              <a:pPr marL="0" lvl="0" indent="0" eaLnBrk="1" hangingPunct="1">
                <a:spcBef>
                  <a:spcPct val="50000"/>
                </a:spcBef>
                <a:buClrTx/>
                <a:buNone/>
              </a:pPr>
              <a:r>
                <a:rPr lang="zh-CN" altLang="en-US" sz="1800" dirty="0">
                  <a:ea typeface="宋体" panose="02010600030101010101" pitchFamily="2" charset="-122"/>
                </a:rPr>
                <a:t>返回请求</a:t>
              </a:r>
              <a:endParaRPr lang="zh-CN" altLang="en-US" sz="1800" dirty="0">
                <a:ea typeface="宋体" panose="02010600030101010101" pitchFamily="2" charset="-122"/>
              </a:endParaRPr>
            </a:p>
          </p:txBody>
        </p:sp>
        <p:sp>
          <p:nvSpPr>
            <p:cNvPr id="81934" name="Line 13"/>
            <p:cNvSpPr/>
            <p:nvPr/>
          </p:nvSpPr>
          <p:spPr>
            <a:xfrm>
              <a:off x="6129338" y="2051050"/>
              <a:ext cx="12700" cy="692150"/>
            </a:xfrm>
            <a:prstGeom prst="line">
              <a:avLst/>
            </a:prstGeom>
            <a:ln w="9525" cap="flat" cmpd="sng">
              <a:solidFill>
                <a:schemeClr val="tx1"/>
              </a:solidFill>
              <a:prstDash val="solid"/>
              <a:headEnd type="none" w="med" len="med"/>
              <a:tailEnd type="triangle" w="med" len="med"/>
            </a:ln>
          </p:spPr>
        </p:sp>
        <p:sp>
          <p:nvSpPr>
            <p:cNvPr id="81935" name="Line 14"/>
            <p:cNvSpPr/>
            <p:nvPr/>
          </p:nvSpPr>
          <p:spPr>
            <a:xfrm>
              <a:off x="6142038" y="3161746"/>
              <a:ext cx="11112" cy="606980"/>
            </a:xfrm>
            <a:prstGeom prst="line">
              <a:avLst/>
            </a:prstGeom>
            <a:ln w="9525" cap="flat" cmpd="sng">
              <a:solidFill>
                <a:schemeClr val="tx1"/>
              </a:solidFill>
              <a:prstDash val="solid"/>
              <a:headEnd type="none" w="med" len="med"/>
              <a:tailEnd type="triangle" w="med" len="med"/>
            </a:ln>
          </p:spPr>
        </p:sp>
        <p:sp>
          <p:nvSpPr>
            <p:cNvPr id="81936" name="Line 15"/>
            <p:cNvSpPr/>
            <p:nvPr/>
          </p:nvSpPr>
          <p:spPr>
            <a:xfrm>
              <a:off x="6174169" y="4174570"/>
              <a:ext cx="0" cy="741361"/>
            </a:xfrm>
            <a:prstGeom prst="line">
              <a:avLst/>
            </a:prstGeom>
            <a:ln w="9525" cap="flat" cmpd="sng">
              <a:solidFill>
                <a:schemeClr val="tx1"/>
              </a:solidFill>
              <a:prstDash val="solid"/>
              <a:headEnd type="none" w="med" len="med"/>
              <a:tailEnd type="triangle" w="med" len="med"/>
            </a:ln>
          </p:spPr>
        </p:sp>
      </p:grpSp>
      <p:sp>
        <p:nvSpPr>
          <p:cNvPr id="16" name="Rectangle 2"/>
          <p:cNvSpPr txBox="1">
            <a:spLocks noChangeArrowheads="1"/>
          </p:cNvSpPr>
          <p:nvPr/>
        </p:nvSpPr>
        <p:spPr bwMode="auto">
          <a:xfrm>
            <a:off x="233363" y="4751388"/>
            <a:ext cx="3317875" cy="698500"/>
          </a:xfrm>
          <a:prstGeom prst="rect">
            <a:avLst/>
          </a:prstGeom>
          <a:noFill/>
          <a:ln>
            <a:noFill/>
          </a:ln>
        </p:spPr>
        <p:txBody>
          <a:bodyPr anchor="ctr"/>
          <a:lst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anose="02020603050405020304" pitchFamily="18" charset="0"/>
              </a:defRPr>
            </a:lvl2pPr>
            <a:lvl3pPr algn="ctr" rtl="0" eaLnBrk="0" fontAlgn="base" hangingPunct="0">
              <a:spcBef>
                <a:spcPct val="0"/>
              </a:spcBef>
              <a:spcAft>
                <a:spcPct val="0"/>
              </a:spcAft>
              <a:defRPr sz="4400">
                <a:solidFill>
                  <a:srgbClr val="FF0000"/>
                </a:solidFill>
                <a:latin typeface="Times New Roman" panose="02020603050405020304" pitchFamily="18" charset="0"/>
              </a:defRPr>
            </a:lvl3pPr>
            <a:lvl4pPr algn="ctr" rtl="0" eaLnBrk="0" fontAlgn="base" hangingPunct="0">
              <a:spcBef>
                <a:spcPct val="0"/>
              </a:spcBef>
              <a:spcAft>
                <a:spcPct val="0"/>
              </a:spcAft>
              <a:defRPr sz="4400">
                <a:solidFill>
                  <a:srgbClr val="FF0000"/>
                </a:solidFill>
                <a:latin typeface="Times New Roman" panose="02020603050405020304" pitchFamily="18" charset="0"/>
              </a:defRPr>
            </a:lvl4pPr>
            <a:lvl5pPr algn="ctr" rtl="0" eaLnBrk="0" fontAlgn="base" hangingPunct="0">
              <a:spcBef>
                <a:spcPct val="0"/>
              </a:spcBef>
              <a:spcAft>
                <a:spcPct val="0"/>
              </a:spcAft>
              <a:defRPr sz="4400">
                <a:solidFill>
                  <a:srgbClr val="FF0000"/>
                </a:solidFill>
                <a:latin typeface="Times New Roman" panose="02020603050405020304" pitchFamily="18" charset="0"/>
              </a:defRPr>
            </a:lvl5pPr>
            <a:lvl6pPr marL="457200" algn="ctr" rtl="0" fontAlgn="base">
              <a:spcBef>
                <a:spcPct val="0"/>
              </a:spcBef>
              <a:spcAft>
                <a:spcPct val="0"/>
              </a:spcAft>
              <a:defRPr sz="4400">
                <a:solidFill>
                  <a:srgbClr val="FF0000"/>
                </a:solidFill>
                <a:latin typeface="Times New Roman" panose="02020603050405020304" pitchFamily="18" charset="0"/>
              </a:defRPr>
            </a:lvl6pPr>
            <a:lvl7pPr marL="914400" algn="ctr" rtl="0" fontAlgn="base">
              <a:spcBef>
                <a:spcPct val="0"/>
              </a:spcBef>
              <a:spcAft>
                <a:spcPct val="0"/>
              </a:spcAft>
              <a:defRPr sz="4400">
                <a:solidFill>
                  <a:srgbClr val="FF0000"/>
                </a:solidFill>
                <a:latin typeface="Times New Roman" panose="02020603050405020304" pitchFamily="18" charset="0"/>
              </a:defRPr>
            </a:lvl7pPr>
            <a:lvl8pPr marL="1371600" algn="ctr" rtl="0" fontAlgn="base">
              <a:spcBef>
                <a:spcPct val="0"/>
              </a:spcBef>
              <a:spcAft>
                <a:spcPct val="0"/>
              </a:spcAft>
              <a:defRPr sz="4400">
                <a:solidFill>
                  <a:srgbClr val="FF0000"/>
                </a:solidFill>
                <a:latin typeface="Times New Roman" panose="02020603050405020304" pitchFamily="18" charset="0"/>
              </a:defRPr>
            </a:lvl8pPr>
            <a:lvl9pPr marL="1828800" algn="ctr" rtl="0" fontAlgn="base">
              <a:spcBef>
                <a:spcPct val="0"/>
              </a:spcBef>
              <a:spcAft>
                <a:spcPct val="0"/>
              </a:spcAft>
              <a:defRPr sz="4400">
                <a:solidFill>
                  <a:srgbClr val="FF0000"/>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LDAP</a:t>
            </a:r>
            <a:r>
              <a:rPr kumimoji="0" lang="zh-CN" altLang="en-US" sz="2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rPr>
              <a:t>处理过程</a:t>
            </a:r>
            <a:endParaRPr kumimoji="0" lang="zh-CN" altLang="en-US" sz="2400" b="0" i="0" u="none" strike="noStrike" kern="0" cap="none" spc="0" normalizeH="0" baseline="0" noProof="0" dirty="0">
              <a:ln>
                <a:noFill/>
              </a:ln>
              <a:solidFill>
                <a:srgbClr val="FF0000"/>
              </a:solidFill>
              <a:effectLst/>
              <a:uLnTx/>
              <a:uFillTx/>
              <a:latin typeface="+mj-lt"/>
              <a:ea typeface="宋体" panose="02010600030101010101" pitchFamily="2" charset="-122"/>
              <a:cs typeface="+mj-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p:cNvSpPr>
          <p:nvPr>
            <p:ph type="title"/>
          </p:nvPr>
        </p:nvSpPr>
        <p:spPr>
          <a:xfrm>
            <a:off x="0" y="0"/>
            <a:ext cx="9144000" cy="927100"/>
          </a:xfrm>
        </p:spPr>
        <p:txBody>
          <a:bodyPr vert="horz" wrap="square" lIns="91440" tIns="45720" rIns="91440" bIns="45720" anchor="ctr" anchorCtr="0"/>
          <a:lstStyle/>
          <a:p>
            <a:pPr eaLnBrk="1" hangingPunct="1"/>
            <a:r>
              <a:rPr lang="en-US" altLang="zh-CN" dirty="0">
                <a:ea typeface="宋体" panose="02010600030101010101" pitchFamily="2" charset="-122"/>
              </a:rPr>
              <a:t>What Are We Anticipating?</a:t>
            </a:r>
            <a:endParaRPr lang="en-US" altLang="zh-CN" dirty="0">
              <a:ea typeface="宋体" panose="02010600030101010101" pitchFamily="2" charset="-122"/>
            </a:endParaRPr>
          </a:p>
        </p:txBody>
      </p:sp>
      <p:sp>
        <p:nvSpPr>
          <p:cNvPr id="82947" name="Rectangle 3"/>
          <p:cNvSpPr>
            <a:spLocks noGrp="1"/>
          </p:cNvSpPr>
          <p:nvPr>
            <p:ph idx="1"/>
          </p:nvPr>
        </p:nvSpPr>
        <p:spPr>
          <a:xfrm>
            <a:off x="622300" y="850900"/>
            <a:ext cx="6780213" cy="5676900"/>
          </a:xfrm>
        </p:spPr>
        <p:txBody>
          <a:bodyPr vert="horz" wrap="square" lIns="91440" tIns="45720" rIns="91440" bIns="45720" anchor="t" anchorCtr="0"/>
          <a:lstStyle/>
          <a:p>
            <a:pPr algn="l" eaLnBrk="1" hangingPunct="1">
              <a:lnSpc>
                <a:spcPct val="150000"/>
              </a:lnSpc>
              <a:buFont typeface="Wingdings" panose="05000000000000000000" pitchFamily="2" charset="2"/>
              <a:buChar char="u"/>
            </a:pPr>
            <a:r>
              <a:rPr lang="en-US" altLang="zh-CN" sz="2800" dirty="0">
                <a:ea typeface="宋体" panose="02010600030101010101" pitchFamily="2" charset="-122"/>
              </a:rPr>
              <a:t>Decentralization? </a:t>
            </a:r>
            <a:endParaRPr lang="en-US" altLang="zh-CN" sz="28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800" dirty="0">
                <a:ea typeface="宋体" panose="02010600030101010101" pitchFamily="2" charset="-122"/>
              </a:rPr>
              <a:t>Guarantees?</a:t>
            </a:r>
            <a:endParaRPr lang="en-US" altLang="zh-CN" sz="28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800" dirty="0">
                <a:ea typeface="宋体" panose="02010600030101010101" pitchFamily="2" charset="-122"/>
              </a:rPr>
              <a:t>Frequent Updates?</a:t>
            </a:r>
            <a:endParaRPr lang="en-US" altLang="zh-CN" sz="28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800" dirty="0">
                <a:ea typeface="宋体" panose="02010600030101010101" pitchFamily="2" charset="-122"/>
              </a:rPr>
              <a:t>Scalability?</a:t>
            </a:r>
            <a:endParaRPr lang="en-US" altLang="zh-CN" sz="28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800" dirty="0">
                <a:ea typeface="宋体" panose="02010600030101010101" pitchFamily="2" charset="-122"/>
              </a:rPr>
              <a:t>Efficiency?</a:t>
            </a:r>
            <a:endParaRPr lang="en-US" altLang="zh-CN" sz="28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800" dirty="0">
                <a:ea typeface="宋体" panose="02010600030101010101" pitchFamily="2" charset="-122"/>
              </a:rPr>
              <a:t>High-Availability?</a:t>
            </a:r>
            <a:endParaRPr lang="en-US" altLang="zh-CN" sz="28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800" dirty="0">
                <a:ea typeface="宋体" panose="02010600030101010101" pitchFamily="2" charset="-122"/>
              </a:rPr>
              <a:t>Replication?</a:t>
            </a:r>
            <a:endParaRPr lang="en-US" altLang="zh-CN" sz="2800" dirty="0">
              <a:ea typeface="宋体" panose="02010600030101010101" pitchFamily="2" charset="-122"/>
            </a:endParaRPr>
          </a:p>
          <a:p>
            <a:pPr algn="l" eaLnBrk="1" hangingPunct="1">
              <a:lnSpc>
                <a:spcPct val="150000"/>
              </a:lnSpc>
              <a:buFont typeface="Wingdings" panose="05000000000000000000" pitchFamily="2" charset="2"/>
              <a:buChar char="u"/>
            </a:pPr>
            <a:r>
              <a:rPr lang="en-US" altLang="zh-CN" sz="2800" dirty="0">
                <a:ea typeface="宋体" panose="02010600030101010101" pitchFamily="2" charset="-122"/>
              </a:rPr>
              <a:t>Fault-Tolerance?</a:t>
            </a:r>
            <a:endParaRPr lang="zh-CN" altLang="en-US" sz="2800" dirty="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p:cNvSpPr>
          <p:nvPr>
            <p:ph type="title"/>
          </p:nvPr>
        </p:nvSpPr>
        <p:spPr>
          <a:xfrm>
            <a:off x="0" y="0"/>
            <a:ext cx="9144000" cy="825500"/>
          </a:xfrm>
        </p:spPr>
        <p:txBody>
          <a:bodyPr vert="horz" wrap="square" lIns="91440" tIns="45720" rIns="91440" bIns="45720" anchor="ctr" anchorCtr="0"/>
          <a:lstStyle/>
          <a:p>
            <a:pPr eaLnBrk="1" hangingPunct="1"/>
            <a:r>
              <a:rPr lang="zh-CN" altLang="en-US" dirty="0">
                <a:ea typeface="宋体" panose="02010600030101010101" pitchFamily="2" charset="-122"/>
              </a:rPr>
              <a:t>万物互联时代的命名</a:t>
            </a:r>
            <a:endParaRPr lang="en-US" altLang="zh-CN" dirty="0">
              <a:ea typeface="宋体" panose="02010600030101010101" pitchFamily="2" charset="-122"/>
            </a:endParaRPr>
          </a:p>
        </p:txBody>
      </p:sp>
      <p:sp>
        <p:nvSpPr>
          <p:cNvPr id="83971" name="内容占位符 3"/>
          <p:cNvSpPr>
            <a:spLocks noGrp="1"/>
          </p:cNvSpPr>
          <p:nvPr>
            <p:ph idx="1"/>
          </p:nvPr>
        </p:nvSpPr>
        <p:spPr>
          <a:xfrm>
            <a:off x="196850" y="971550"/>
            <a:ext cx="8750300" cy="3802063"/>
          </a:xfrm>
        </p:spPr>
        <p:txBody>
          <a:bodyPr vert="horz" wrap="square" lIns="91440" tIns="45720" rIns="91440" bIns="45720" anchor="t" anchorCtr="0"/>
          <a:lstStyle/>
          <a:p>
            <a:pPr algn="l">
              <a:lnSpc>
                <a:spcPct val="150000"/>
              </a:lnSpc>
            </a:pPr>
            <a:r>
              <a:rPr lang="en-US" altLang="zh-CN" sz="2000" dirty="0">
                <a:ea typeface="宋体" panose="02010600030101010101" pitchFamily="2" charset="-122"/>
              </a:rPr>
              <a:t>DNS</a:t>
            </a:r>
            <a:r>
              <a:rPr lang="zh-CN" altLang="en-US" sz="2000" dirty="0">
                <a:ea typeface="宋体" panose="02010600030101010101" pitchFamily="2" charset="-122"/>
              </a:rPr>
              <a:t>设计于</a:t>
            </a:r>
            <a:r>
              <a:rPr lang="en-US" altLang="zh-CN" sz="2000" dirty="0">
                <a:ea typeface="宋体" panose="02010600030101010101" pitchFamily="2" charset="-122"/>
              </a:rPr>
              <a:t>PC</a:t>
            </a:r>
            <a:r>
              <a:rPr lang="zh-CN" altLang="en-US" sz="2000" dirty="0">
                <a:ea typeface="宋体" panose="02010600030101010101" pitchFamily="2" charset="-122"/>
              </a:rPr>
              <a:t>环境，很容易输入由</a:t>
            </a:r>
            <a:r>
              <a:rPr lang="en-US" altLang="zh-CN" sz="2000" dirty="0">
                <a:ea typeface="宋体" panose="02010600030101010101" pitchFamily="2" charset="-122"/>
              </a:rPr>
              <a:t>”</a:t>
            </a:r>
            <a:r>
              <a:rPr lang="zh-CN" altLang="en-US" sz="2000" dirty="0">
                <a:ea typeface="宋体" panose="02010600030101010101" pitchFamily="2" charset="-122"/>
              </a:rPr>
              <a:t>文本</a:t>
            </a:r>
            <a:r>
              <a:rPr lang="en-US" altLang="zh-CN" sz="2000" dirty="0">
                <a:ea typeface="宋体" panose="02010600030101010101" pitchFamily="2" charset="-122"/>
              </a:rPr>
              <a:t>’</a:t>
            </a:r>
            <a:r>
              <a:rPr lang="zh-CN" altLang="en-US" sz="2000" dirty="0">
                <a:ea typeface="宋体" panose="02010600030101010101" pitchFamily="2" charset="-122"/>
              </a:rPr>
              <a:t>和</a:t>
            </a:r>
            <a:r>
              <a:rPr lang="en-US" altLang="zh-CN" sz="2000" dirty="0">
                <a:ea typeface="宋体" panose="02010600030101010101" pitchFamily="2" charset="-122"/>
              </a:rPr>
              <a:t>”.”</a:t>
            </a:r>
            <a:r>
              <a:rPr lang="zh-CN" altLang="en-US" sz="2000" dirty="0">
                <a:ea typeface="宋体" panose="02010600030101010101" pitchFamily="2" charset="-122"/>
              </a:rPr>
              <a:t>组成的域名</a:t>
            </a:r>
            <a:r>
              <a:rPr lang="en-US" altLang="zh-CN" sz="2000" dirty="0">
                <a:ea typeface="宋体" panose="02010600030101010101" pitchFamily="2" charset="-122"/>
              </a:rPr>
              <a:t>;</a:t>
            </a:r>
            <a:endParaRPr lang="en-US" altLang="zh-CN" sz="2000" dirty="0">
              <a:ea typeface="宋体" panose="02010600030101010101" pitchFamily="2" charset="-122"/>
            </a:endParaRPr>
          </a:p>
          <a:p>
            <a:pPr algn="l">
              <a:lnSpc>
                <a:spcPct val="150000"/>
              </a:lnSpc>
            </a:pPr>
            <a:r>
              <a:rPr lang="zh-CN" altLang="en-US" sz="2000" dirty="0">
                <a:ea typeface="宋体" panose="02010600030101010101" pitchFamily="2" charset="-122"/>
              </a:rPr>
              <a:t>物联网环境没有键盘，输入很困难。二维码作为图形化后的域名可容纳多达</a:t>
            </a:r>
            <a:r>
              <a:rPr lang="en-US" altLang="zh-CN" sz="2000" dirty="0">
                <a:ea typeface="宋体" panose="02010600030101010101" pitchFamily="2" charset="-122"/>
              </a:rPr>
              <a:t>1850</a:t>
            </a:r>
            <a:r>
              <a:rPr lang="zh-CN" altLang="en-US" sz="2000" dirty="0">
                <a:ea typeface="宋体" panose="02010600030101010101" pitchFamily="2" charset="-122"/>
              </a:rPr>
              <a:t>个大写字母或</a:t>
            </a:r>
            <a:r>
              <a:rPr lang="en-US" altLang="zh-CN" sz="2000" dirty="0">
                <a:ea typeface="宋体" panose="02010600030101010101" pitchFamily="2" charset="-122"/>
              </a:rPr>
              <a:t>2710</a:t>
            </a:r>
            <a:r>
              <a:rPr lang="zh-CN" altLang="en-US" sz="2000" dirty="0">
                <a:ea typeface="宋体" panose="02010600030101010101" pitchFamily="2" charset="-122"/>
              </a:rPr>
              <a:t>个数字或</a:t>
            </a:r>
            <a:r>
              <a:rPr lang="en-US" altLang="zh-CN" sz="2000" dirty="0">
                <a:ea typeface="宋体" panose="02010600030101010101" pitchFamily="2" charset="-122"/>
              </a:rPr>
              <a:t>1108</a:t>
            </a:r>
            <a:r>
              <a:rPr lang="zh-CN" altLang="en-US" sz="2000" dirty="0">
                <a:ea typeface="宋体" panose="02010600030101010101" pitchFamily="2" charset="-122"/>
              </a:rPr>
              <a:t>个字节，或</a:t>
            </a:r>
            <a:r>
              <a:rPr lang="en-US" altLang="zh-CN" sz="2000" dirty="0">
                <a:ea typeface="宋体" panose="02010600030101010101" pitchFamily="2" charset="-122"/>
              </a:rPr>
              <a:t>500</a:t>
            </a:r>
            <a:r>
              <a:rPr lang="zh-CN" altLang="en-US" sz="2000" dirty="0">
                <a:ea typeface="宋体" panose="02010600030101010101" pitchFamily="2" charset="-122"/>
              </a:rPr>
              <a:t>多个汉字。</a:t>
            </a:r>
            <a:endParaRPr lang="en-US" altLang="zh-CN" sz="2000" dirty="0">
              <a:ea typeface="宋体" panose="02010600030101010101" pitchFamily="2" charset="-122"/>
            </a:endParaRPr>
          </a:p>
          <a:p>
            <a:pPr algn="l">
              <a:lnSpc>
                <a:spcPct val="150000"/>
              </a:lnSpc>
            </a:pPr>
            <a:r>
              <a:rPr lang="en-US" altLang="zh-CN" sz="2000" dirty="0">
                <a:ea typeface="宋体" panose="02010600030101010101" pitchFamily="2" charset="-122"/>
              </a:rPr>
              <a:t>DNS</a:t>
            </a:r>
            <a:r>
              <a:rPr lang="zh-CN" altLang="en-US" sz="2000" dirty="0">
                <a:ea typeface="宋体" panose="02010600030101010101" pitchFamily="2" charset="-122"/>
              </a:rPr>
              <a:t>其实由两部分组成，一是名字的注册和管理，二是名字的解析服务系统。系统将二维码转换成域名，实现了</a:t>
            </a:r>
            <a:r>
              <a:rPr lang="en-US" altLang="zh-CN" sz="2000" dirty="0">
                <a:ea typeface="宋体" panose="02010600030101010101" pitchFamily="2" charset="-122"/>
              </a:rPr>
              <a:t>DNS</a:t>
            </a:r>
            <a:r>
              <a:rPr lang="zh-CN" altLang="en-US" sz="2000" dirty="0">
                <a:ea typeface="宋体" panose="02010600030101010101" pitchFamily="2" charset="-122"/>
              </a:rPr>
              <a:t>的一部分功能。</a:t>
            </a:r>
            <a:endParaRPr lang="en-US" altLang="zh-CN" sz="2000" dirty="0">
              <a:ea typeface="宋体" panose="02010600030101010101" pitchFamily="2" charset="-122"/>
            </a:endParaRPr>
          </a:p>
          <a:p>
            <a:pPr algn="l">
              <a:lnSpc>
                <a:spcPct val="150000"/>
              </a:lnSpc>
            </a:pPr>
            <a:r>
              <a:rPr lang="zh-CN" altLang="en-US" sz="2000" dirty="0">
                <a:ea typeface="宋体" panose="02010600030101010101" pitchFamily="2" charset="-122"/>
              </a:rPr>
              <a:t>初期为万物命名是为了人识别和记忆，但现在，为万物命名更多是为了机器处理，有人认为 “二维码将取代域名”对吗？</a:t>
            </a:r>
            <a:endParaRPr lang="zh-CN" altLang="en-US" sz="2000" dirty="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p:txBody>
          <a:bodyPr vert="horz" wrap="square" lIns="91440" tIns="45720" rIns="91440" bIns="45720" anchor="ctr" anchorCtr="0"/>
          <a:lstStyle/>
          <a:p>
            <a:pPr eaLnBrk="1" hangingPunct="1"/>
            <a:r>
              <a:rPr lang="en-US" altLang="zh-CN" dirty="0">
                <a:ea typeface="宋体" panose="02010600030101010101" pitchFamily="2" charset="-122"/>
              </a:rPr>
              <a:t>References</a:t>
            </a:r>
            <a:endParaRPr lang="en-US" altLang="zh-CN" dirty="0">
              <a:ea typeface="宋体" panose="02010600030101010101" pitchFamily="2" charset="-122"/>
            </a:endParaRPr>
          </a:p>
        </p:txBody>
      </p:sp>
      <p:sp>
        <p:nvSpPr>
          <p:cNvPr id="84995" name="Rectangle 3"/>
          <p:cNvSpPr>
            <a:spLocks noGrp="1"/>
          </p:cNvSpPr>
          <p:nvPr>
            <p:ph idx="1"/>
          </p:nvPr>
        </p:nvSpPr>
        <p:spPr>
          <a:xfrm>
            <a:off x="177800" y="1193800"/>
            <a:ext cx="8737600" cy="5499100"/>
          </a:xfrm>
        </p:spPr>
        <p:txBody>
          <a:bodyPr vert="horz" wrap="square" lIns="91440" tIns="45720" rIns="91440" bIns="45720" anchor="t" anchorCtr="0"/>
          <a:lstStyle/>
          <a:p>
            <a:pPr algn="l" eaLnBrk="1" hangingPunct="1">
              <a:buNone/>
            </a:pPr>
            <a:r>
              <a:rPr lang="en-US" altLang="zh-CN" dirty="0">
                <a:ea typeface="宋体" panose="02010600030101010101" pitchFamily="2" charset="-122"/>
              </a:rPr>
              <a:t>Chapter 4 of [Tanenbaum, 2002]</a:t>
            </a:r>
            <a:endParaRPr lang="en-US" altLang="zh-CN" dirty="0">
              <a:ea typeface="宋体" panose="02010600030101010101" pitchFamily="2" charset="-122"/>
            </a:endParaRPr>
          </a:p>
          <a:p>
            <a:pPr algn="l" eaLnBrk="1" hangingPunct="1">
              <a:buNone/>
            </a:pPr>
            <a:r>
              <a:rPr lang="en-US" altLang="zh-CN" sz="2800" dirty="0">
                <a:solidFill>
                  <a:srgbClr val="FF0000"/>
                </a:solidFill>
                <a:ea typeface="宋体" panose="02010600030101010101" pitchFamily="2" charset="-122"/>
                <a:hlinkClick r:id="rId1"/>
              </a:rPr>
              <a:t>http://net.pku.edu.cn/~course/cs501/2008/info.html</a:t>
            </a:r>
            <a:endParaRPr lang="en-US" altLang="zh-CN" sz="2800" dirty="0">
              <a:solidFill>
                <a:srgbClr val="FF0000"/>
              </a:solidFill>
              <a:ea typeface="宋体" panose="02010600030101010101" pitchFamily="2" charset="-122"/>
            </a:endParaRPr>
          </a:p>
          <a:p>
            <a:pPr lvl="1" eaLnBrk="1" hangingPunct="1"/>
            <a:r>
              <a:rPr lang="en-US" altLang="zh-CN" dirty="0">
                <a:ea typeface="宋体" panose="02010600030101010101" pitchFamily="2" charset="-122"/>
              </a:rPr>
              <a:t>book1, [Coulouri, 2005]</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book2, [Birman, 2005]</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book3, [Tanenbaum, 2006]</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book4, [Tanenbaum, 2002]</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Book5, [Xining Li, 2006]</a:t>
            </a:r>
            <a:endParaRPr lang="en-US" altLang="zh-CN" dirty="0">
              <a:ea typeface="宋体" panose="02010600030101010101" pitchFamily="2" charset="-122"/>
            </a:endParaRPr>
          </a:p>
          <a:p>
            <a:pPr lvl="1" eaLnBrk="1" hangingPunct="1">
              <a:buNone/>
            </a:pPr>
            <a:endParaRPr lang="en-US" altLang="zh-CN" dirty="0">
              <a:ea typeface="宋体" panose="02010600030101010101" pitchFamily="2" charset="-122"/>
            </a:endParaRPr>
          </a:p>
        </p:txBody>
      </p:sp>
    </p:spTree>
  </p:cSld>
  <p:clrMapOvr>
    <a:masterClrMapping/>
  </p:clrMapOvr>
  <p:transition/>
</p:sld>
</file>

<file path=ppt/tags/tag1.xml><?xml version="1.0" encoding="utf-8"?>
<p:tagLst xmlns:p="http://schemas.openxmlformats.org/presentationml/2006/main">
  <p:tag name="COMMONDATA" val="eyJoZGlkIjoiM2NkNzAyYTY3NmVkMTFhM2MwNTRmNTdhYmVlMzM2ZjgifQ=="/>
</p:tagLst>
</file>

<file path=ppt/theme/theme1.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0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0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0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0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Office\Templates\Tannenbaum.pot</Template>
  <TotalTime>0</TotalTime>
  <Words>16594</Words>
  <Application>WPS 演示</Application>
  <PresentationFormat>全屏显示(4:3)</PresentationFormat>
  <Paragraphs>862</Paragraphs>
  <Slides>56</Slides>
  <Notes>39</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56</vt:i4>
      </vt:variant>
    </vt:vector>
  </HeadingPairs>
  <TitlesOfParts>
    <vt:vector size="70" baseType="lpstr">
      <vt:lpstr>Arial</vt:lpstr>
      <vt:lpstr>宋体</vt:lpstr>
      <vt:lpstr>Wingdings</vt:lpstr>
      <vt:lpstr>Times New Roman</vt:lpstr>
      <vt:lpstr>Helvetica Neue</vt:lpstr>
      <vt:lpstr>Courier New</vt:lpstr>
      <vt:lpstr>微软雅黑</vt:lpstr>
      <vt:lpstr>Arial Unicode MS</vt:lpstr>
      <vt:lpstr>Tahoma</vt:lpstr>
      <vt:lpstr>_x000B__x000C_</vt:lpstr>
      <vt:lpstr>Segoe Print</vt:lpstr>
      <vt:lpstr>Calibri</vt:lpstr>
      <vt:lpstr>Tannenbaum</vt:lpstr>
      <vt:lpstr>1_Tannenbaum</vt:lpstr>
      <vt:lpstr>Naming</vt:lpstr>
      <vt:lpstr>Outline</vt:lpstr>
      <vt:lpstr>PowerPoint 演示文稿</vt:lpstr>
      <vt:lpstr>Entities, Names, IDs, and Addresses</vt:lpstr>
      <vt:lpstr>Entities, Names, IDs, and Addresses</vt:lpstr>
      <vt:lpstr>Name Types</vt:lpstr>
      <vt:lpstr>Fundamental Tricotomy(三分法)</vt:lpstr>
      <vt:lpstr>Example — a File</vt:lpstr>
      <vt:lpstr>Names vs. Addresses</vt:lpstr>
      <vt:lpstr>Name Spaces</vt:lpstr>
      <vt:lpstr>Name Space </vt:lpstr>
      <vt:lpstr>Example: UNIX(linking and mounting within a single name space)</vt:lpstr>
      <vt:lpstr>Example: UNIX(linking and mounting within a single name space) there are different ways to organize a name space</vt:lpstr>
      <vt:lpstr>PowerPoint 演示文稿</vt:lpstr>
      <vt:lpstr>Linking and Mounting(name resolution can also be used to merge different name space in a transparent)</vt:lpstr>
      <vt:lpstr>Example</vt:lpstr>
      <vt:lpstr>Mounting a remote file system  (in distributed file system)</vt:lpstr>
      <vt:lpstr>Linking and Mounting (3) 另一种Mounting方式(DEC’ GNS)</vt:lpstr>
      <vt:lpstr>Name Space Distribution</vt:lpstr>
      <vt:lpstr>Three layers</vt:lpstr>
      <vt:lpstr>Outline</vt:lpstr>
      <vt:lpstr>Flat Naming</vt:lpstr>
      <vt:lpstr>Simple Solusions</vt:lpstr>
      <vt:lpstr>Forwarding Pointers</vt:lpstr>
      <vt:lpstr>Forwarding Pointers (2)</vt:lpstr>
      <vt:lpstr>Home-Based Approaches </vt:lpstr>
      <vt:lpstr>Home-Based Approaches (2)</vt:lpstr>
      <vt:lpstr>Distributed Hash Tables</vt:lpstr>
      <vt:lpstr>Chord - Search</vt:lpstr>
      <vt:lpstr>DHTs: Finger Tables (1)</vt:lpstr>
      <vt:lpstr>DHTs: Finger Tables (2)</vt:lpstr>
      <vt:lpstr>DHTs: Finger Tables (3)</vt:lpstr>
      <vt:lpstr>Hierarchical Location Services (HLS)</vt:lpstr>
      <vt:lpstr>Hierarchical Location Services (HLS)</vt:lpstr>
      <vt:lpstr>Pointer Caches (1) 通过缓存引用来提高定位效率</vt:lpstr>
      <vt:lpstr>Scalability Issues</vt:lpstr>
      <vt:lpstr>Outline</vt:lpstr>
      <vt:lpstr>Name Space </vt:lpstr>
      <vt:lpstr>Implementation of Name Resolution</vt:lpstr>
      <vt:lpstr>Implementation of Name Resolution (2)</vt:lpstr>
      <vt:lpstr>Implementation of Name Resolution (3)</vt:lpstr>
      <vt:lpstr>Implementation of Name Resolution (4)</vt:lpstr>
      <vt:lpstr>Example: The Domain  Name  System</vt:lpstr>
      <vt:lpstr>Example: The Domain  Name  System</vt:lpstr>
      <vt:lpstr>Example: The Domain  Name  System</vt:lpstr>
      <vt:lpstr>The DNS Name Space</vt:lpstr>
      <vt:lpstr>Outline</vt:lpstr>
      <vt:lpstr>Attribute-Based Naming</vt:lpstr>
      <vt:lpstr>Example: The X.500 </vt:lpstr>
      <vt:lpstr>X.500 Directory Service</vt:lpstr>
      <vt:lpstr>Example: LDAP</vt:lpstr>
      <vt:lpstr>Example: LDAP</vt:lpstr>
      <vt:lpstr>Example: LDAP</vt:lpstr>
      <vt:lpstr>What Are We Anticipating?</vt:lpstr>
      <vt:lpstr>万物互联时代的命名</vt:lpstr>
      <vt:lpstr>References</vt:lpstr>
    </vt:vector>
  </TitlesOfParts>
  <Company>East Texas Data Service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Naming</dc:title>
  <dc:creator>Steve  Armstrong</dc:creator>
  <cp:lastModifiedBy>WPS_1681028394</cp:lastModifiedBy>
  <cp:revision>469</cp:revision>
  <dcterms:created xsi:type="dcterms:W3CDTF">2001-05-11T14:09:00Z</dcterms:created>
  <dcterms:modified xsi:type="dcterms:W3CDTF">2025-04-28T03:18:23Z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3737326D2166467CB8DEAD1916209E91_12</vt:lpwstr>
  </property>
</Properties>
</file>