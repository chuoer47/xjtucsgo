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426" r:id="rId4"/>
    <p:sldId id="427" r:id="rId5"/>
    <p:sldId id="316" r:id="rId7"/>
    <p:sldId id="257" r:id="rId8"/>
    <p:sldId id="370" r:id="rId9"/>
    <p:sldId id="455" r:id="rId10"/>
    <p:sldId id="299" r:id="rId11"/>
    <p:sldId id="313" r:id="rId12"/>
    <p:sldId id="292" r:id="rId13"/>
    <p:sldId id="446" r:id="rId14"/>
    <p:sldId id="521" r:id="rId15"/>
    <p:sldId id="447" r:id="rId16"/>
    <p:sldId id="450" r:id="rId17"/>
    <p:sldId id="448" r:id="rId18"/>
    <p:sldId id="421" r:id="rId19"/>
    <p:sldId id="420" r:id="rId20"/>
    <p:sldId id="298" r:id="rId21"/>
    <p:sldId id="522" r:id="rId22"/>
    <p:sldId id="520" r:id="rId23"/>
    <p:sldId id="519" r:id="rId24"/>
    <p:sldId id="297" r:id="rId25"/>
    <p:sldId id="259" r:id="rId26"/>
    <p:sldId id="442" r:id="rId27"/>
    <p:sldId id="260" r:id="rId28"/>
    <p:sldId id="300" r:id="rId29"/>
    <p:sldId id="261" r:id="rId30"/>
    <p:sldId id="262" r:id="rId31"/>
    <p:sldId id="263" r:id="rId32"/>
    <p:sldId id="305" r:id="rId33"/>
    <p:sldId id="302" r:id="rId34"/>
    <p:sldId id="264" r:id="rId35"/>
    <p:sldId id="265" r:id="rId36"/>
    <p:sldId id="266" r:id="rId37"/>
    <p:sldId id="267" r:id="rId38"/>
    <p:sldId id="304" r:id="rId39"/>
    <p:sldId id="306" r:id="rId40"/>
    <p:sldId id="268" r:id="rId41"/>
    <p:sldId id="314" r:id="rId42"/>
    <p:sldId id="307" r:id="rId43"/>
    <p:sldId id="269" r:id="rId44"/>
    <p:sldId id="308" r:id="rId45"/>
    <p:sldId id="270" r:id="rId46"/>
    <p:sldId id="271" r:id="rId47"/>
    <p:sldId id="272" r:id="rId48"/>
    <p:sldId id="273" r:id="rId49"/>
    <p:sldId id="274" r:id="rId50"/>
    <p:sldId id="275" r:id="rId51"/>
    <p:sldId id="276" r:id="rId52"/>
    <p:sldId id="277" r:id="rId53"/>
    <p:sldId id="278" r:id="rId54"/>
    <p:sldId id="418" r:id="rId55"/>
    <p:sldId id="311" r:id="rId56"/>
    <p:sldId id="312" r:id="rId57"/>
    <p:sldId id="280" r:id="rId58"/>
    <p:sldId id="281" r:id="rId59"/>
    <p:sldId id="430" r:id="rId60"/>
    <p:sldId id="439" r:id="rId61"/>
    <p:sldId id="440" r:id="rId62"/>
    <p:sldId id="441" r:id="rId63"/>
    <p:sldId id="433" r:id="rId64"/>
    <p:sldId id="434" r:id="rId65"/>
    <p:sldId id="435" r:id="rId66"/>
    <p:sldId id="453" r:id="rId67"/>
    <p:sldId id="456" r:id="rId68"/>
    <p:sldId id="443" r:id="rId69"/>
    <p:sldId id="451" r:id="rId70"/>
    <p:sldId id="452" r:id="rId71"/>
  </p:sldIdLst>
  <p:sldSz cx="9144000" cy="6858000" type="screen4x3"/>
  <p:notesSz cx="6858000" cy="9144000"/>
  <p:custDataLst>
    <p:tags r:id="rId75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3366FF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333399"/>
    <a:srgbClr val="3366FF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734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578" y="96"/>
      </p:cViewPr>
      <p:guideLst>
        <p:guide orient="horz" pos="214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gs" Target="tags/tag65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按名查找</a:t>
            </a:r>
            <a:endParaRPr lang="zh-CN" altLang="en-US"/>
          </a:p>
          <a:p>
            <a:r>
              <a:rPr lang="en-US" altLang="zh-CN"/>
              <a:t>6.</a:t>
            </a:r>
            <a:r>
              <a:rPr lang="zh-CN" altLang="en-US"/>
              <a:t>进程同步的扩展，难点：同一台主机：共享内存通信，不同主机间：网络</a:t>
            </a:r>
            <a:r>
              <a:rPr lang="zh-CN" altLang="en-US"/>
              <a:t>通信</a:t>
            </a:r>
            <a:endParaRPr lang="zh-CN" altLang="en-US"/>
          </a:p>
          <a:p>
            <a:r>
              <a:rPr lang="en-US" altLang="zh-CN"/>
              <a:t>7.</a:t>
            </a:r>
            <a:r>
              <a:rPr lang="zh-CN" altLang="en-US"/>
              <a:t>复制及一致性：吞吐率</a:t>
            </a:r>
            <a:r>
              <a:rPr lang="en-US" altLang="zh-CN"/>
              <a:t>VS</a:t>
            </a:r>
            <a:r>
              <a:rPr lang="zh-CN" altLang="en-US"/>
              <a:t>一致性</a:t>
            </a:r>
            <a:endParaRPr lang="zh-CN" altLang="en-US"/>
          </a:p>
          <a:p>
            <a:r>
              <a:rPr lang="en-US" altLang="zh-CN"/>
              <a:t>8.</a:t>
            </a:r>
            <a:r>
              <a:rPr lang="zh-CN" altLang="en-US"/>
              <a:t>容错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要点</a:t>
            </a:r>
            <a:r>
              <a:rPr lang="en-US" altLang="zh-CN"/>
              <a:t>1</a:t>
            </a:r>
            <a:r>
              <a:rPr lang="zh-CN" altLang="en-US"/>
              <a:t>：coherent</a:t>
            </a:r>
            <a:r>
              <a:rPr lang="zh-CN" altLang="en-US"/>
              <a:t>连贯性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component</a:t>
            </a:r>
            <a:r>
              <a:rPr lang="zh-CN" altLang="en-US"/>
              <a:t>：举例，</a:t>
            </a:r>
            <a:r>
              <a:rPr lang="zh-CN" altLang="en-US"/>
              <a:t>进程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三个特征：</a:t>
            </a:r>
            <a:r>
              <a:rPr lang="en-US" altLang="zh-CN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concurrency </a:t>
            </a:r>
            <a:r>
              <a:rPr lang="en-US" altLang="zh-CN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of components</a:t>
            </a:r>
            <a:r>
              <a:rPr lang="zh-CN" alt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：进程并发执行，进程控制：互斥及同步</a:t>
            </a:r>
            <a:endParaRPr lang="en-US" altLang="zh-CN" kern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  <a:p>
            <a:r>
              <a:rPr lang="en-US" altLang="zh-CN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lack of </a:t>
            </a:r>
            <a:r>
              <a:rPr lang="en-US" altLang="zh-CN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a global clock</a:t>
            </a:r>
            <a:r>
              <a:rPr lang="zh-CN" altLang="en-US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：举例读写</a:t>
            </a:r>
            <a:r>
              <a:rPr lang="zh-CN" altLang="en-US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顺序</a:t>
            </a:r>
            <a:endParaRPr lang="zh-CN" altLang="en-US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sym typeface="+mn-ea"/>
            </a:endParaRPr>
          </a:p>
          <a:p>
            <a:endParaRPr lang="zh-CN" altLang="en-US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sym typeface="+mn-ea"/>
            </a:endParaRPr>
          </a:p>
          <a:p>
            <a:r>
              <a:rPr lang="en-US" altLang="zh-CN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independent failure</a:t>
            </a:r>
            <a:r>
              <a:rPr lang="en-US" altLang="zh-CN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 of components</a:t>
            </a:r>
            <a:r>
              <a:rPr lang="zh-CN" alt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：</a:t>
            </a:r>
            <a:endParaRPr lang="zh-CN" altLang="en-US" kern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通过网络通信，所以有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message passing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concurrentVS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parallel </a:t>
            </a: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Times New Roman" panose="02020603050405020304" pitchFamily="18" charset="0"/>
              <a:sym typeface="+mn-ea"/>
            </a:endParaRPr>
          </a:p>
          <a:p>
            <a:endParaRPr lang="zh-CN" altLang="en-US"/>
          </a:p>
          <a:p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tightly coupled</a:t>
            </a: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loosely coupled</a:t>
            </a:r>
            <a:endParaRPr lang="en-US" altLang="zh-CN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业务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地理分布；</a:t>
            </a:r>
            <a:endParaRPr lang="zh-CN" altLang="en-US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资源共享、坚定性高和可伸缩性；</a:t>
            </a:r>
            <a:endParaRPr lang="zh-CN" altLang="en-US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摩尔定理：处理器的性能大约每两年翻一倍，同时价格下降为之前的一半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系统是一个全球性的分布式文档系统，它允许用户在互联网上创建并共享</a:t>
            </a:r>
            <a:r>
              <a:rPr lang="zh-CN" altLang="en-US"/>
              <a:t>文档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给出文档名，</a:t>
            </a:r>
            <a:r>
              <a:rPr lang="zh-CN" altLang="en-US"/>
              <a:t>即可在世界范围内任意查找、检索、浏览及添加</a:t>
            </a:r>
            <a:r>
              <a:rPr lang="zh-CN" altLang="en-US">
                <a:sym typeface="+mn-ea"/>
              </a:rPr>
              <a:t>文档</a:t>
            </a:r>
            <a:r>
              <a:rPr lang="zh-CN" altLang="en-US"/>
              <a:t>，而不用关心这些</a:t>
            </a:r>
            <a:r>
              <a:rPr lang="zh-CN" altLang="en-US">
                <a:sym typeface="+mn-ea"/>
              </a:rPr>
              <a:t>文档</a:t>
            </a:r>
            <a:r>
              <a:rPr lang="zh-CN" altLang="en-US"/>
              <a:t>的实际存储</a:t>
            </a:r>
            <a:r>
              <a:rPr lang="zh-CN" altLang="en-US"/>
              <a:t>位置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事务，</a:t>
            </a:r>
            <a:r>
              <a:rPr lang="zh-CN" altLang="en-US"/>
              <a:t>数据库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分布式事务，分布式</a:t>
            </a:r>
            <a:r>
              <a:rPr lang="zh-CN" altLang="en-US"/>
              <a:t>数据库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685800"/>
            <a:ext cx="4573587" cy="3429000"/>
          </a:xfrm>
        </p:spPr>
      </p:sp>
      <p:sp>
        <p:nvSpPr>
          <p:cNvPr id="1536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泛型，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不对等，资源和服务都集中于云端，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提供多种类型的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服务，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云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后台是由多个节点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实现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模式，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/>
            <a:r>
              <a:rPr lang="zh-CN" altLang="en-US" dirty="0">
                <a:ea typeface="宋体" panose="02010600030101010101" pitchFamily="2" charset="-122"/>
              </a:rPr>
              <a:t>点对点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/>
            <a:r>
              <a:rPr lang="zh-CN" altLang="en-US" dirty="0">
                <a:ea typeface="宋体" panose="02010600030101010101" pitchFamily="2" charset="-122"/>
              </a:rPr>
              <a:t>共识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演进历史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纵向扩展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横向扩展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大型机：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垄断，</a:t>
            </a:r>
            <a:r>
              <a:rPr lang="zh-CN" altLang="en-US" dirty="0">
                <a:ea typeface="宋体" panose="02010600030101010101" pitchFamily="2" charset="-122"/>
              </a:rPr>
              <a:t>弹性差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稳定性和安全性好，用于特殊领域，银行，金融领域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分布式：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开放，弹性好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稳定性和安全性不好，分布式系统存在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的意义</a:t>
            </a:r>
            <a:endParaRPr lang="zh-CN" altLang="en-US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0" eaLnBrk="1" hangingPunct="1">
              <a:spcBef>
                <a:spcPct val="0"/>
              </a:spcBef>
            </a:pPr>
            <a:endParaRPr lang="zh-CN" altLang="en-US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共享稀有资源：打印设备，计算设备，不需要人人都有，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共享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  <a:p>
            <a:r>
              <a:rPr lang="zh-CN" altLang="en-US" b="1" dirty="0">
                <a:solidFill>
                  <a:srgbClr val="333399"/>
                </a:solidFill>
                <a:ea typeface="宋体" panose="02010600030101010101" pitchFamily="2" charset="-122"/>
                <a:sym typeface="+mn-ea"/>
              </a:rPr>
              <a:t>可以把程序放在最适合运行它的机器上</a:t>
            </a:r>
            <a:endParaRPr lang="zh-CN" altLang="en-US" b="1" dirty="0">
              <a:solidFill>
                <a:srgbClr val="333399"/>
              </a:solidFill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缺点：</a:t>
            </a:r>
            <a:r>
              <a:rPr lang="zh-CN" altLang="en-US"/>
              <a:t>核心原因：覆盖面</a:t>
            </a:r>
            <a:r>
              <a:rPr lang="zh-CN" altLang="en-US"/>
              <a:t>变大了</a:t>
            </a:r>
            <a:endParaRPr lang="zh-CN" altLang="en-US"/>
          </a:p>
          <a:p>
            <a:endParaRPr lang="zh-CN" altLang="en-US"/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资源共享，经济性，可靠性，可扩展性</a:t>
            </a:r>
            <a:endParaRPr lang="zh-CN" altLang="en-US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安全性，网络延迟，设计复杂性</a:t>
            </a:r>
            <a:endParaRPr lang="zh-CN" altLang="en-US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应用程序层：利用网络协议</a:t>
            </a:r>
            <a:r>
              <a:rPr lang="en-US" altLang="zh-CN"/>
              <a:t>+</a:t>
            </a:r>
            <a:r>
              <a:rPr lang="zh-CN" altLang="en-US"/>
              <a:t>传统操作系统。举例：编写</a:t>
            </a:r>
            <a:r>
              <a:rPr lang="en-US" altLang="zh-CN"/>
              <a:t>client</a:t>
            </a:r>
            <a:r>
              <a:rPr lang="zh-CN" altLang="en-US"/>
              <a:t>程序和</a:t>
            </a:r>
            <a:r>
              <a:rPr lang="en-US" altLang="zh-CN"/>
              <a:t>server</a:t>
            </a:r>
            <a:r>
              <a:rPr lang="zh-CN" altLang="en-US"/>
              <a:t>程序；给用户增加</a:t>
            </a:r>
            <a:r>
              <a:rPr lang="zh-CN" altLang="en-US"/>
              <a:t>负担；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操作系统层：研发面向分布式环境的操作系统，开放性</a:t>
            </a:r>
            <a:r>
              <a:rPr lang="zh-CN" altLang="en-US"/>
              <a:t>差；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中间件：兼容两种</a:t>
            </a:r>
            <a:r>
              <a:rPr lang="zh-CN" altLang="en-US"/>
              <a:t>优缺点；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思想：分层设计，在不同层次进行设计，在灵活性，兼容性，性能方面各有优缺点，所以要根据具体情况</a:t>
            </a:r>
            <a:r>
              <a:rPr lang="zh-CN" altLang="en-US"/>
              <a:t>而定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应用程序层：</a:t>
            </a:r>
            <a:r>
              <a:rPr lang="zh-CN" altLang="en-US">
                <a:sym typeface="+mn-ea"/>
              </a:rPr>
              <a:t>速度快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en-US" altLang="zh-CN" dirty="0">
                <a:solidFill>
                  <a:srgbClr val="333399"/>
                </a:solidFill>
                <a:ea typeface="楷体_GB2312" pitchFamily="49" charset="-122"/>
                <a:sym typeface="+mn-ea"/>
              </a:rPr>
              <a:t>Connecting Users and Resources</a:t>
            </a:r>
            <a:r>
              <a:rPr lang="zh-CN" altLang="en-US" dirty="0">
                <a:solidFill>
                  <a:srgbClr val="333399"/>
                </a:solidFill>
                <a:ea typeface="楷体_GB2312" pitchFamily="49" charset="-122"/>
                <a:sym typeface="+mn-ea"/>
              </a:rPr>
              <a:t>；各种软硬件</a:t>
            </a:r>
            <a:r>
              <a:rPr lang="zh-CN" altLang="en-US" dirty="0">
                <a:solidFill>
                  <a:srgbClr val="333399"/>
                </a:solidFill>
                <a:ea typeface="楷体_GB2312" pitchFamily="49" charset="-122"/>
                <a:sym typeface="+mn-ea"/>
              </a:rPr>
              <a:t>资源；</a:t>
            </a:r>
            <a:endParaRPr lang="zh-CN" altLang="en-US" dirty="0">
              <a:solidFill>
                <a:srgbClr val="333399"/>
              </a:solidFill>
              <a:ea typeface="楷体_GB2312" pitchFamily="49" charset="-122"/>
              <a:sym typeface="+mn-ea"/>
            </a:endParaRPr>
          </a:p>
          <a:p>
            <a:endParaRPr lang="zh-CN" altLang="en-US" dirty="0">
              <a:solidFill>
                <a:srgbClr val="333399"/>
              </a:solidFill>
              <a:ea typeface="楷体_GB2312" pitchFamily="49" charset="-122"/>
              <a:sym typeface="+mn-ea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Openness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；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IDL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举例；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1.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兼容性好；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2.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灵活性好；</a:t>
            </a:r>
            <a:endParaRPr lang="zh-CN" altLang="en-US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Scalability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；</a:t>
            </a:r>
            <a:endParaRPr lang="zh-CN" altLang="en-US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透明性的</a:t>
            </a:r>
            <a:r>
              <a:rPr lang="zh-CN" altLang="en-US"/>
              <a:t>分类：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访问：不同计算机、软件导致数据表达不同，对数据如何操作</a:t>
            </a:r>
            <a:r>
              <a:rPr lang="zh-CN" altLang="en-US"/>
              <a:t>也隐藏；</a:t>
            </a:r>
            <a:endParaRPr lang="zh-CN" altLang="en-US"/>
          </a:p>
          <a:p>
            <a:endParaRPr lang="zh-CN" altLang="en-US"/>
          </a:p>
          <a:p>
            <a:r>
              <a:rPr lang="en-US" altLang="zh-CN" dirty="0">
                <a:ln>
                  <a:noFill/>
                </a:ln>
                <a:effectLst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Location</a:t>
            </a:r>
            <a:r>
              <a:rPr lang="zh-CN" altLang="en-US" dirty="0">
                <a:ln>
                  <a:noFill/>
                </a:ln>
                <a:effectLst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dirty="0">
                <a:ln>
                  <a:noFill/>
                </a:ln>
                <a:effectLst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命名系统；</a:t>
            </a:r>
            <a:endParaRPr lang="zh-CN" altLang="en-US" dirty="0">
              <a:ln>
                <a:noFill/>
              </a:ln>
              <a:effectLst/>
              <a:latin typeface="Tahom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支持不同分类的</a:t>
            </a:r>
            <a:r>
              <a:rPr lang="zh-CN" altLang="en-US"/>
              <a:t>透明性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可扩展性问题的来源是服务器及网络通信的瓶颈造成的，因此拓展</a:t>
            </a:r>
            <a:r>
              <a:rPr lang="zh-CN" altLang="en-US">
                <a:sym typeface="+mn-ea"/>
              </a:rPr>
              <a:t>服务器及网络通信能力；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减少网络延迟：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同步通信变成异步通信；中断；</a:t>
            </a:r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任务分发到客户端；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把一个元素切分成小块分布在不同计算机上，举例：</a:t>
            </a:r>
            <a:r>
              <a:rPr lang="en-US" altLang="zh-CN"/>
              <a:t>DNS</a:t>
            </a:r>
            <a:r>
              <a:rPr lang="zh-CN" altLang="en-US"/>
              <a:t>命名空间切分；分布式数据库</a:t>
            </a:r>
            <a:r>
              <a:rPr lang="zh-CN" altLang="en-US"/>
              <a:t>分片；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复制，读写一致性</a:t>
            </a:r>
            <a:r>
              <a:rPr lang="zh-CN" altLang="en-US"/>
              <a:t>问题；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域名：</a:t>
            </a:r>
            <a:r>
              <a:rPr lang="zh-CN" altLang="en-US"/>
              <a:t>网络地址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从硬件层面看分布式系统的硬件组织形式。主要关注各处理单元（</a:t>
            </a:r>
            <a:r>
              <a:rPr lang="en-US" altLang="zh-CN"/>
              <a:t>CPU</a:t>
            </a:r>
            <a:r>
              <a:rPr lang="zh-CN" altLang="en-US"/>
              <a:t>）间如何</a:t>
            </a:r>
            <a:r>
              <a:rPr lang="zh-CN" altLang="en-US"/>
              <a:t>连接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多处理机：总线</a:t>
            </a:r>
            <a:r>
              <a:rPr lang="en-US" altLang="zh-CN"/>
              <a:t>-</a:t>
            </a:r>
            <a:r>
              <a:rPr lang="zh-CN" altLang="en-US"/>
              <a:t>一条线，紧耦合，</a:t>
            </a:r>
            <a:r>
              <a:rPr lang="en-US" altLang="zh-CN"/>
              <a:t>  </a:t>
            </a:r>
            <a:r>
              <a:rPr lang="zh-CN" altLang="en-US"/>
              <a:t>多核处理器；容易取得</a:t>
            </a:r>
            <a:r>
              <a:rPr lang="zh-CN" altLang="en-US"/>
              <a:t>透明性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多计算机：交换机</a:t>
            </a:r>
            <a:r>
              <a:rPr lang="en-US" altLang="zh-CN"/>
              <a:t>-</a:t>
            </a:r>
            <a:r>
              <a:rPr lang="zh-CN" altLang="en-US"/>
              <a:t>多条线构成网络，通过交换机转发信息，</a:t>
            </a:r>
            <a:r>
              <a:rPr lang="en-US" altLang="zh-CN"/>
              <a:t> </a:t>
            </a:r>
            <a:r>
              <a:rPr lang="zh-CN" altLang="en-US"/>
              <a:t>松耦合，</a:t>
            </a:r>
            <a:r>
              <a:rPr lang="zh-CN" altLang="en-US"/>
              <a:t>多计算机</a:t>
            </a:r>
            <a:endParaRPr lang="zh-CN" altLang="en-US"/>
          </a:p>
          <a:p>
            <a:r>
              <a:rPr lang="zh-CN" altLang="en-US"/>
              <a:t>同构：连接网络及计算机相同；</a:t>
            </a:r>
            <a:r>
              <a:rPr lang="zh-CN" altLang="en-US">
                <a:sym typeface="+mn-ea"/>
              </a:rPr>
              <a:t>容易取得透明性</a:t>
            </a:r>
            <a:endParaRPr lang="zh-CN" altLang="en-US"/>
          </a:p>
          <a:p>
            <a:r>
              <a:rPr lang="zh-CN" altLang="en-US"/>
              <a:t>异构：连接网络及计算机不同；不容易取得透明性</a:t>
            </a:r>
            <a:r>
              <a:rPr lang="en-US" altLang="zh-CN"/>
              <a:t>-</a:t>
            </a:r>
            <a:r>
              <a:rPr lang="zh-CN" altLang="en-US"/>
              <a:t>分布式系统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总线开销大，增加缓存，一致性</a:t>
            </a:r>
            <a:r>
              <a:rPr lang="zh-CN" altLang="en-US"/>
              <a:t>问题；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可扩展性</a:t>
            </a:r>
            <a:r>
              <a:rPr lang="zh-CN" altLang="en-US"/>
              <a:t>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相对</a:t>
            </a:r>
            <a:r>
              <a:rPr lang="zh-CN" altLang="en-US"/>
              <a:t>紧耦合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两种连接</a:t>
            </a:r>
            <a:r>
              <a:rPr lang="zh-CN" altLang="en-US"/>
              <a:t>方式；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交换机</a:t>
            </a:r>
            <a:r>
              <a:rPr lang="zh-CN" altLang="en-US"/>
              <a:t>数量大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交换</a:t>
            </a:r>
            <a:r>
              <a:rPr lang="zh-CN" altLang="en-US"/>
              <a:t>步骤多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相对</a:t>
            </a:r>
            <a:r>
              <a:rPr lang="zh-CN" altLang="en-US"/>
              <a:t>松耦合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CPU-CPU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通信，信息量比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CPU-M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通信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低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Homogeneous Multicomputer Systems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：网络技术统一，有统一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架构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Heterogeneous Multicomputer Systems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网络技术异构，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没有统一架构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分布式系统软件组织方式：功能类似于操作系统：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透明性，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资源管理</a:t>
            </a:r>
            <a:endParaRPr lang="en-US" altLang="zh-CN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和操作系统之间的关系：</a:t>
            </a:r>
            <a:endParaRPr lang="zh-CN" altLang="en-US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single-system image 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分布式操作系统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紧耦合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</a:t>
            </a:r>
            <a:endParaRPr lang="zh-CN" altLang="en-US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网络操作系统，本地服务可以被远端用户访问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松耦合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</a:t>
            </a:r>
            <a:endParaRPr lang="zh-CN" altLang="en-US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微内核？</a:t>
            </a:r>
            <a:endParaRPr lang="zh-CN" altLang="en-US"/>
          </a:p>
          <a:p>
            <a:r>
              <a:rPr lang="zh-CN" altLang="en-US"/>
              <a:t>面向对象？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操作系统：内核态，可以</a:t>
            </a:r>
            <a:r>
              <a:rPr lang="zh-CN" altLang="en-US"/>
              <a:t>直接访问软硬件资源，提供系统</a:t>
            </a:r>
            <a:r>
              <a:rPr lang="zh-CN" altLang="en-US"/>
              <a:t>调用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用户应用程序：用户态，不</a:t>
            </a:r>
            <a:r>
              <a:rPr lang="zh-CN" altLang="en-US">
                <a:sym typeface="+mn-ea"/>
              </a:rPr>
              <a:t>可以直接访问软硬件资源，使用系统调用间接</a:t>
            </a:r>
            <a:r>
              <a:rPr lang="zh-CN" altLang="en-US">
                <a:sym typeface="+mn-ea"/>
              </a:rPr>
              <a:t>访问软硬件资源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微内核架构：操作系统功能划分为多个模块放在用户态，类似于应用程序，支持灵活插拔和</a:t>
            </a:r>
            <a:r>
              <a:rPr lang="zh-CN" altLang="en-US"/>
              <a:t>替换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最基础功能作为微内核放在</a:t>
            </a:r>
            <a:r>
              <a:rPr lang="zh-CN" altLang="en-US"/>
              <a:t>内核态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紧耦合硬件，紧耦合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软件</a:t>
            </a:r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扩展为多个处理器，共享一个内存，需要考虑对共享内存的并发访问来保持数据一致性</a:t>
            </a:r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一个应用可分发至不同</a:t>
            </a:r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执行，为应用隐藏多个</a:t>
            </a:r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并发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控制相对容易，原因：所有</a:t>
            </a:r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采用同样的通讯技术：总线连接共享内存，</a:t>
            </a:r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多个</a:t>
            </a:r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通过并发访问共享内存中的数据来实现同步，因此只需要对这些数据进行并发控制即可</a:t>
            </a:r>
            <a:endParaRPr lang="en-US" altLang="zh-CN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endParaRPr lang="en-US" altLang="zh-CN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primitive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semaphore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 monitor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；</a:t>
            </a:r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不支持</a:t>
            </a:r>
            <a:r>
              <a:rPr lang="zh-CN" altLang="en-US" b="1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分布式系统</a:t>
            </a:r>
            <a:endParaRPr lang="zh-CN" altLang="en-US" b="1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 b="1" dirty="0">
                <a:ea typeface="楷体_GB2312" pitchFamily="49" charset="-122"/>
                <a:sym typeface="+mn-ea"/>
              </a:rPr>
              <a:t>松耦合硬件上（不同计算机上）的紧耦合软件，让用户感觉整个计算机网络系统像一台计算机， 没有总线共享存储</a:t>
            </a:r>
            <a:r>
              <a:rPr lang="en-US" altLang="zh-CN" b="1" dirty="0">
                <a:ea typeface="楷体_GB2312" pitchFamily="49" charset="-122"/>
                <a:sym typeface="+mn-ea"/>
              </a:rPr>
              <a:t>,  </a:t>
            </a:r>
            <a:r>
              <a:rPr lang="zh-CN" altLang="en-US" b="1" dirty="0">
                <a:ea typeface="楷体_GB2312" pitchFamily="49" charset="-122"/>
                <a:sym typeface="+mn-ea"/>
              </a:rPr>
              <a:t>只能通过网络</a:t>
            </a:r>
            <a:r>
              <a:rPr lang="zh-CN" altLang="en-US" b="1" dirty="0">
                <a:ea typeface="楷体_GB2312" pitchFamily="49" charset="-122"/>
                <a:sym typeface="+mn-ea"/>
              </a:rPr>
              <a:t>进行消息传递</a:t>
            </a:r>
            <a:endParaRPr lang="zh-CN" altLang="en-US" b="1" dirty="0">
              <a:ea typeface="楷体_GB2312" pitchFamily="49" charset="-122"/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本地内核类似于单机操作系统，除此以外还包含网络通讯组件以支持</a:t>
            </a:r>
            <a:r>
              <a:rPr lang="zh-CN" altLang="en-US"/>
              <a:t>多机互联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开放性差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同步点：</a:t>
            </a:r>
            <a:r>
              <a:rPr lang="zh-CN" altLang="en-US"/>
              <a:t>可通过系统实现同步</a:t>
            </a:r>
            <a:r>
              <a:rPr lang="zh-CN" altLang="en-US"/>
              <a:t>或异步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分布式操作系统：进程同步</a:t>
            </a:r>
            <a:r>
              <a:rPr lang="zh-CN" altLang="en-US"/>
              <a:t>管理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网络消息传递：缓存，可靠网络通信，</a:t>
            </a:r>
            <a:r>
              <a:rPr lang="zh-CN" altLang="en-US"/>
              <a:t>阻塞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虚拟分布式共享内存：不同机器的本地内存组成一个大的虚拟共享</a:t>
            </a:r>
            <a:r>
              <a:rPr lang="zh-CN" altLang="en-US"/>
              <a:t>内存，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本地内存访问，不在？抛出缺页错误，访问其他</a:t>
            </a:r>
            <a:r>
              <a:rPr lang="zh-CN" altLang="en-US"/>
              <a:t>机器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只读缺页可以直接复制，而不是用完了</a:t>
            </a:r>
            <a:r>
              <a:rPr lang="zh-CN" altLang="en-US"/>
              <a:t>再返回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分布式操作系统：</a:t>
            </a:r>
            <a:r>
              <a:rPr lang="zh-CN" altLang="en-US">
                <a:sym typeface="+mn-ea"/>
              </a:rPr>
              <a:t>内存管理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松耦合硬件，松耦合</a:t>
            </a:r>
            <a:r>
              <a:rPr lang="zh-CN" altLang="en-US"/>
              <a:t>软件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底层机器硬件不同，操作系统</a:t>
            </a:r>
            <a:r>
              <a:rPr lang="zh-CN" altLang="en-US"/>
              <a:t>不同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通过提供网络服务使得多机互联，一个机器上用户可以远程访问另一个机器上的</a:t>
            </a:r>
            <a:r>
              <a:rPr lang="zh-CN" altLang="en-US"/>
              <a:t>服务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透明性差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加载目录访问，实现：虚拟化、</a:t>
            </a:r>
            <a:r>
              <a:rPr lang="zh-CN" altLang="en-US"/>
              <a:t>封装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网络服务：</a:t>
            </a:r>
            <a:r>
              <a:rPr lang="en-US" altLang="zh-CN"/>
              <a:t>network </a:t>
            </a:r>
            <a:r>
              <a:rPr lang="en-US" altLang="zh-CN"/>
              <a:t>OS</a:t>
            </a:r>
            <a:endParaRPr lang="en-US" altLang="zh-CN"/>
          </a:p>
          <a:p>
            <a:r>
              <a:rPr lang="zh-CN" altLang="en-US"/>
              <a:t>本地资源服务：</a:t>
            </a:r>
            <a:r>
              <a:rPr lang="en-US" altLang="zh-CN"/>
              <a:t>kernel</a:t>
            </a:r>
            <a:endParaRPr lang="en-US" altLang="zh-CN"/>
          </a:p>
          <a:p>
            <a:r>
              <a:rPr lang="zh-CN" altLang="en-US"/>
              <a:t>不透明；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中间件：为上层应用提供统一的服务</a:t>
            </a:r>
            <a:r>
              <a:rPr lang="zh-CN" altLang="en-US"/>
              <a:t>接口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paradigm, for describing distribution and communication</a:t>
            </a:r>
            <a:r>
              <a:rPr lang="zh-CN" altLang="en-US" dirty="0">
                <a:solidFill>
                  <a:srgbClr val="002060"/>
                </a:solidFill>
                <a:ea typeface="宋体" panose="02010600030101010101" pitchFamily="2" charset="-122"/>
                <a:sym typeface="+mn-ea"/>
              </a:rPr>
              <a:t>？</a:t>
            </a:r>
            <a:endParaRPr lang="zh-CN" altLang="en-US" dirty="0">
              <a:solidFill>
                <a:srgbClr val="002060"/>
              </a:solidFill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操作系统扩展，所以支持资源管理，同时提供</a:t>
            </a:r>
            <a:r>
              <a:rPr lang="zh-CN" altLang="en-US"/>
              <a:t>透明性</a:t>
            </a:r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TW" alt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8612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0660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2708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4756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680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8852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0900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2948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lnSpc>
                <a:spcPct val="90000"/>
              </a:lnSpc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/>
          <p:nvPr/>
        </p:nvSpPr>
        <p:spPr bwMode="auto">
          <a:xfrm>
            <a:off x="0" y="6597650"/>
            <a:ext cx="9144000" cy="260350"/>
          </a:xfrm>
          <a:prstGeom prst="rect">
            <a:avLst/>
          </a:prstGeom>
          <a:gradFill flip="none" rotWithShape="1">
            <a:gsLst>
              <a:gs pos="0">
                <a:srgbClr val="800000"/>
              </a:gs>
              <a:gs pos="94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/>
        </p:nvSpPr>
        <p:spPr bwMode="auto">
          <a:xfrm>
            <a:off x="0" y="1371600"/>
            <a:ext cx="9144000" cy="495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      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1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2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3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4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/>
        </p:nvSpPr>
        <p:spPr bwMode="auto">
          <a:xfrm>
            <a:off x="0" y="1371600"/>
            <a:ext cx="9144000" cy="495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      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1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2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3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  <a:p>
            <a:pPr marL="0" marR="0" lvl="4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Rounded MT Bold" panose="020F0704030504030204" pitchFamily="34" charset="0"/>
                <a:ea typeface="PMingLiU" pitchFamily="18" charset="-120"/>
                <a:cs typeface="+mn-cs"/>
              </a:rPr>
              <a:t>   </a:t>
            </a:r>
            <a:endParaRPr kumimoji="0" lang="zh-TW" altLang="en-US" sz="4400" b="1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6769100" y="6580188"/>
            <a:ext cx="2374900" cy="277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>
            <a:spAutoFit/>
          </a:bodyPr>
          <a:p>
            <a:pPr lvl="0" algn="r">
              <a:lnSpc>
                <a:spcPct val="90000"/>
              </a:lnSpc>
              <a:buNone/>
            </a:pPr>
            <a:r>
              <a:rPr lang="en-US" altLang="zh-CN" sz="1200" dirty="0">
                <a:solidFill>
                  <a:srgbClr val="C00000"/>
                </a:solidFill>
                <a:latin typeface="Monotype Corsiva" panose="03010101010201010101" pitchFamily="66" charset="0"/>
              </a:rPr>
              <a:t>                                          </a:t>
            </a:r>
            <a:r>
              <a:rPr lang="en-US" altLang="zh-TW" sz="1200" dirty="0">
                <a:solidFill>
                  <a:srgbClr val="C00000"/>
                </a:solidFill>
                <a:latin typeface="Monotype Corsiva" panose="03010101010201010101" pitchFamily="66" charset="0"/>
                <a:ea typeface="PMingLiU" pitchFamily="18" charset="-120"/>
              </a:rPr>
              <a:t> </a:t>
            </a:r>
            <a:fld id="{9A0DB2DC-4C9A-4742-B13C-FB6460FD3503}" type="slidenum">
              <a:rPr lang="en-US" altLang="zh-TW" sz="1200" dirty="0">
                <a:solidFill>
                  <a:srgbClr val="FFCC66"/>
                </a:solidFill>
                <a:latin typeface="Monotype Corsiva" panose="03010101010201010101" pitchFamily="66" charset="0"/>
                <a:ea typeface="PMingLiU" pitchFamily="18" charset="-120"/>
              </a:rPr>
            </a:fld>
            <a:r>
              <a:rPr lang="en-US" altLang="zh-TW" sz="1200" dirty="0">
                <a:solidFill>
                  <a:srgbClr val="FFCC66"/>
                </a:solidFill>
                <a:latin typeface="Monotype Corsiva" panose="03010101010201010101" pitchFamily="66" charset="0"/>
                <a:ea typeface="PMingLiU" pitchFamily="18" charset="-120"/>
              </a:rPr>
              <a:t> </a:t>
            </a:r>
            <a:endParaRPr lang="en-US" altLang="zh-TW" sz="1200" dirty="0">
              <a:solidFill>
                <a:srgbClr val="FFCC66"/>
              </a:solidFill>
              <a:latin typeface="Monotype Corsiva" panose="03010101010201010101" pitchFamily="66" charset="0"/>
              <a:ea typeface="PMingLiU" pitchFamily="18" charset="-120"/>
            </a:endParaRPr>
          </a:p>
        </p:txBody>
      </p:sp>
      <p:pic>
        <p:nvPicPr>
          <p:cNvPr id="2054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72238"/>
            <a:ext cx="1692275" cy="385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19"/>
          <p:cNvSpPr/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gradFill flip="none" rotWithShape="1">
            <a:gsLst>
              <a:gs pos="0">
                <a:srgbClr val="993300"/>
              </a:gs>
              <a:gs pos="86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21.xml"/><Relationship Id="rId21" Type="http://schemas.openxmlformats.org/officeDocument/2006/relationships/image" Target="../media/image17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46.xml"/><Relationship Id="rId25" Type="http://schemas.openxmlformats.org/officeDocument/2006/relationships/image" Target="../media/image17.png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48.xml"/><Relationship Id="rId19" Type="http://schemas.openxmlformats.org/officeDocument/2006/relationships/tags" Target="../tags/tag64.xml"/><Relationship Id="rId18" Type="http://schemas.openxmlformats.org/officeDocument/2006/relationships/image" Target="../media/image17.png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671513" y="209550"/>
            <a:ext cx="7772400" cy="720725"/>
          </a:xfrm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dirty="0">
                <a:ea typeface="宋体" panose="02010600030101010101" pitchFamily="2" charset="-122"/>
              </a:rPr>
              <a:t>分布式系统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99" name="Rectangle 4"/>
          <p:cNvSpPr/>
          <p:nvPr/>
        </p:nvSpPr>
        <p:spPr>
          <a:xfrm>
            <a:off x="363538" y="1033463"/>
            <a:ext cx="8570912" cy="4679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齐</a:t>
            </a: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赛宇，计算机学院软件所   </a:t>
            </a:r>
            <a:endParaRPr lang="en-US" altLang="zh-CN" sz="2800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邮箱：</a:t>
            </a:r>
            <a:r>
              <a:rPr lang="en-US" altLang="zh-CN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saiyu-qi</a:t>
            </a:r>
            <a:r>
              <a:rPr lang="en-US" altLang="zh-CN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@mail.xjtu.edu.cn</a:t>
            </a:r>
            <a:endParaRPr lang="zh-CN" altLang="en-US" sz="2800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参考资料：</a:t>
            </a:r>
            <a:endParaRPr lang="zh-CN" altLang="en-US" sz="2800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1.Distributed Systems--Principle and Paradigms,(Andrew S. Tanenbaum &amp; Maarten Van Steen, Second Edition  </a:t>
            </a:r>
            <a:r>
              <a:rPr lang="zh-CN" altLang="en-US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清华出版社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， 现已改为：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 Distributed Systems</a:t>
            </a:r>
            <a:r>
              <a:rPr lang="zh-CN" altLang="en-US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   2.MIT 6.824 </a:t>
            </a:r>
            <a:r>
              <a:rPr lang="zh-CN" altLang="en-US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分布式</a:t>
            </a:r>
            <a:r>
              <a:rPr lang="zh-CN" altLang="en-US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系统</a:t>
            </a:r>
            <a:endParaRPr lang="zh-CN" altLang="en-US" sz="2400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要求：课堂</a:t>
            </a:r>
            <a:r>
              <a:rPr lang="en-US" altLang="zh-CN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作业</a:t>
            </a:r>
            <a:r>
              <a:rPr lang="en-US" altLang="zh-CN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800" b="1" dirty="0">
                <a:solidFill>
                  <a:schemeClr val="accent2"/>
                </a:solidFill>
                <a:ea typeface="宋体" panose="02010600030101010101" pitchFamily="2" charset="-122"/>
              </a:rPr>
              <a:t>考试</a:t>
            </a:r>
            <a:endParaRPr lang="zh-CN" altLang="en-US" sz="2800" b="1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ctrTitle"/>
          </p:nvPr>
        </p:nvSpPr>
        <p:spPr>
          <a:xfrm>
            <a:off x="482600" y="0"/>
            <a:ext cx="7772400" cy="1143000"/>
          </a:xfrm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zh-CN" altLang="en-US" dirty="0">
                <a:ea typeface="宋体" panose="02010600030101010101" pitchFamily="2" charset="-122"/>
              </a:rPr>
              <a:t>课程范围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123" name="Rectangle 4"/>
          <p:cNvSpPr/>
          <p:nvPr/>
        </p:nvSpPr>
        <p:spPr>
          <a:xfrm>
            <a:off x="474663" y="1042988"/>
            <a:ext cx="7554912" cy="48307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基本概念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基本原理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sz="28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应用范例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sz="2800" b="1" dirty="0">
              <a:solidFill>
                <a:srgbClr val="3333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457200" lvl="0" indent="-45720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第一章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第二章：引言与基本概念</a:t>
            </a:r>
            <a:endParaRPr lang="zh-CN" altLang="en-US" sz="2800" b="1" dirty="0">
              <a:solidFill>
                <a:srgbClr val="3333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457200" lvl="0" indent="-45720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第三章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第九章：原理部分</a:t>
            </a:r>
            <a:endParaRPr lang="zh-CN" altLang="en-US" sz="2800" dirty="0">
              <a:solidFill>
                <a:srgbClr val="3333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457200" lvl="0" indent="-45720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第十章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—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第十三章：范例</a:t>
            </a:r>
            <a:endParaRPr lang="en-US" altLang="zh-CN" sz="2800" b="1" dirty="0">
              <a:solidFill>
                <a:srgbClr val="3333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457200" lvl="0" indent="-45720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新增第十三章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区块链技术原理</a:t>
            </a:r>
            <a:endParaRPr lang="zh-CN" altLang="en-US" sz="2800" b="1" dirty="0">
              <a:solidFill>
                <a:srgbClr val="3333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ctrTitle"/>
          </p:nvPr>
        </p:nvSpPr>
        <p:spPr>
          <a:xfrm>
            <a:off x="482600" y="0"/>
            <a:ext cx="7772400" cy="1031875"/>
          </a:xfrm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zh-CN" altLang="en-US" dirty="0">
                <a:ea typeface="宋体" panose="02010600030101010101" pitchFamily="2" charset="-122"/>
              </a:rPr>
              <a:t>章节目录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/>
          <p:nvPr/>
        </p:nvSpPr>
        <p:spPr>
          <a:xfrm>
            <a:off x="525463" y="920750"/>
            <a:ext cx="7974012" cy="551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609600" lvl="0" indent="-609600" algn="l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1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Introduction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2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Distributed Computing Paradigm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3    Communication(RPC/RMI/MOM)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4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Processes(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虚拟化、代码迁移模型、进程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处理机调度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)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5     Naming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6     Synchronization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7     Consistency and Replication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8     Fault Tolerance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9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Security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10   Distributed File Systems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11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Distributed Object-based Systems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12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Distributed Web-Based Systems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Chapter 13</a:t>
            </a: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Blockchain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buNone/>
            </a:pPr>
            <a:endParaRPr lang="en-US" altLang="zh-CN" sz="1800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buNone/>
            </a:pP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　</a:t>
            </a:r>
            <a:endParaRPr lang="en-US" altLang="zh-CN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  <a:p>
            <a:pPr marL="609600" lvl="0" indent="-609600" algn="l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rgbClr val="17175D"/>
                </a:solidFill>
                <a:ea typeface="黑体" panose="02010609060101010101" pitchFamily="49" charset="-122"/>
              </a:rPr>
              <a:t>        </a:t>
            </a:r>
            <a:endParaRPr lang="zh-CN" altLang="en-US" sz="1800" b="1" dirty="0">
              <a:solidFill>
                <a:srgbClr val="17175D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ea typeface="宋体" panose="02010600030101010101" pitchFamily="2" charset="-122"/>
              </a:rPr>
              <a:t>Introduction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Tx/>
              <a:buFontTx/>
            </a:pPr>
            <a:r>
              <a:rPr lang="en-US" altLang="zh-CN" dirty="0">
                <a:latin typeface="+mn-lt"/>
                <a:ea typeface="宋体" panose="02010600030101010101" pitchFamily="2" charset="-122"/>
                <a:cs typeface="+mn-cs"/>
              </a:rPr>
              <a:t>Chapter 1</a:t>
            </a:r>
            <a:endParaRPr lang="en-US" altLang="zh-CN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374650" y="0"/>
            <a:ext cx="8347075" cy="89535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1.1 Distributed System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895350"/>
            <a:ext cx="8785225" cy="4857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distributed system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is  a collection of independent computers that appears to its users as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single coherent system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distributed system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is a model in which components located on networked  computers communicate and coordinate their actions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by passing messages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 The components interact with each other in order to achieve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common goal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（硬件：各计算机自治，网络互联；软件：具有特定功能的逻辑计算机系统）。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Three significant characteristics: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concurrency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of components, lack of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global clock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, and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independent failure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of components.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3"/>
          <p:cNvSpPr txBox="1"/>
          <p:nvPr/>
        </p:nvSpPr>
        <p:spPr>
          <a:xfrm>
            <a:off x="188913" y="885825"/>
            <a:ext cx="8859837" cy="547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Distributed computing also refers to the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 of distributed systems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to solve computational problems,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which can be divided into many tasks. Each of these tasks is solved by one or more computers, which communicate with each other by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message passing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endParaRPr lang="en-US" altLang="zh-CN" sz="28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实例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: WWW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、云计算、微信、区块链、物联网、大数据处理、企业计算、网购、网游等等。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9" name="Text Box 4"/>
          <p:cNvSpPr txBox="1"/>
          <p:nvPr/>
        </p:nvSpPr>
        <p:spPr>
          <a:xfrm>
            <a:off x="3413125" y="39068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9220" name="Rectangle 6"/>
          <p:cNvSpPr/>
          <p:nvPr/>
        </p:nvSpPr>
        <p:spPr>
          <a:xfrm>
            <a:off x="141288" y="103188"/>
            <a:ext cx="8626475" cy="7826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4000" dirty="0">
                <a:solidFill>
                  <a:srgbClr val="FF0000"/>
                </a:solidFill>
                <a:ea typeface="宋体" panose="02010600030101010101" pitchFamily="2" charset="-122"/>
              </a:rPr>
              <a:t>1.1 Distributed Computing</a:t>
            </a:r>
            <a:endParaRPr lang="en-US" altLang="zh-CN" sz="4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49213" y="720725"/>
            <a:ext cx="9045575" cy="5892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terms "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concurrent computing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", "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parallel computing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", and "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distributed computing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 have a lot of overlap, and no clear distinction exists between them.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same system may be characterized both as "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parallel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 and "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distributed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"; the processors in a typical distributed system run concurrently in parallel.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Parallel computing may be seen as a particular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tightly coupled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form of distributed computing, and distributed computing may be seen as a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loosely coupled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form of parallel computing.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43" name="Rectangle 6"/>
          <p:cNvSpPr/>
          <p:nvPr/>
        </p:nvSpPr>
        <p:spPr>
          <a:xfrm>
            <a:off x="150813" y="82550"/>
            <a:ext cx="8626475" cy="638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1.1 </a:t>
            </a:r>
            <a:r>
              <a:rPr lang="en-US" altLang="zh-CN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Parallel and Distributed computing</a:t>
            </a:r>
            <a:endParaRPr lang="en-US" altLang="zh-CN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/>
          <p:nvPr/>
        </p:nvSpPr>
        <p:spPr>
          <a:xfrm>
            <a:off x="285750" y="930275"/>
            <a:ext cx="8693150" cy="5165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一、应用需求</a:t>
            </a:r>
            <a:endParaRPr lang="en-US" altLang="zh-CN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1、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社会组织形态本身具有分布性：制造、销售、银行、仓储，以及各种服务等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业务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地理分布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2、资源共享、坚定性高和可伸缩性。</a:t>
            </a:r>
            <a:endParaRPr lang="en-US" altLang="zh-CN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二、技术支撑</a:t>
            </a: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硬件技术快速发展为分布式系统提供基础：</a:t>
            </a: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1、摩尔定理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2、高速网络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67" name="矩形 2"/>
          <p:cNvSpPr/>
          <p:nvPr/>
        </p:nvSpPr>
        <p:spPr>
          <a:xfrm>
            <a:off x="3619500" y="152400"/>
            <a:ext cx="1831975" cy="5349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产生背景</a:t>
            </a:r>
            <a:endParaRPr lang="zh-CN" altLang="en-US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242888" y="176213"/>
            <a:ext cx="8570912" cy="1189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00206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分布式文档处理，如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WWW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系统。     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000" b="1" u="sng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2000" b="1" u="sng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URL</a:t>
            </a:r>
            <a:r>
              <a:rPr lang="zh-CN" altLang="en-US" sz="2000" b="1" u="sng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，实现对分布文档以位置透明的方式访问，分布式文档处理。</a:t>
            </a:r>
            <a:r>
              <a: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0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1" name="图片 2" descr="互联网分布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538" y="1795463"/>
            <a:ext cx="7046912" cy="4357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矩形 3"/>
          <p:cNvSpPr/>
          <p:nvPr/>
        </p:nvSpPr>
        <p:spPr>
          <a:xfrm>
            <a:off x="776288" y="6218238"/>
            <a:ext cx="7772400" cy="454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黑体" panose="02010609060101010101" pitchFamily="49" charset="-122"/>
              </a:rPr>
              <a:t>牛津互联网研究所：</a:t>
            </a:r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</a:rPr>
              <a:t>2015</a:t>
            </a:r>
            <a:r>
              <a:rPr lang="zh-CN" altLang="en-US" sz="1800" b="1" dirty="0">
                <a:latin typeface="Arial" panose="020B0604020202020204" pitchFamily="34" charset="0"/>
                <a:ea typeface="黑体" panose="02010609060101010101" pitchFamily="49" charset="-122"/>
              </a:rPr>
              <a:t>年全球互联网“世界地图” 中国“领土”最大</a:t>
            </a:r>
            <a:endParaRPr lang="zh-CN" altLang="en-US" sz="18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285750" y="280988"/>
            <a:ext cx="8510588" cy="175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例2：分布式事务处理：银行机构（总行  省分行  地市分行  支行  营业网点）；分散的各机构计算机存储并处理本地事务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同时与其他分支机构进行协同工作，用户在任何地方都能交易。 </a:t>
            </a:r>
            <a:endParaRPr lang="en-US" altLang="zh-CN" sz="24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315" name="图片 2" descr="中国银行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713" y="2035175"/>
            <a:ext cx="7489825" cy="4351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右箭头 3"/>
          <p:cNvSpPr/>
          <p:nvPr/>
        </p:nvSpPr>
        <p:spPr>
          <a:xfrm>
            <a:off x="1001713" y="1179513"/>
            <a:ext cx="284162" cy="46037"/>
          </a:xfrm>
          <a:prstGeom prst="rightArrow">
            <a:avLst>
              <a:gd name="adj1" fmla="val 50000"/>
              <a:gd name="adj2" fmla="val 496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7" name="右箭头 6"/>
          <p:cNvSpPr/>
          <p:nvPr/>
        </p:nvSpPr>
        <p:spPr>
          <a:xfrm>
            <a:off x="6997700" y="633413"/>
            <a:ext cx="284163" cy="44450"/>
          </a:xfrm>
          <a:prstGeom prst="rightArrow">
            <a:avLst>
              <a:gd name="adj1" fmla="val 50000"/>
              <a:gd name="adj2" fmla="val 51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8" name="右箭头 8"/>
          <p:cNvSpPr/>
          <p:nvPr/>
        </p:nvSpPr>
        <p:spPr>
          <a:xfrm>
            <a:off x="5767388" y="633413"/>
            <a:ext cx="284162" cy="46037"/>
          </a:xfrm>
          <a:prstGeom prst="rightArrow">
            <a:avLst>
              <a:gd name="adj1" fmla="val 50000"/>
              <a:gd name="adj2" fmla="val 496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-68262" y="115888"/>
            <a:ext cx="5602287" cy="504825"/>
          </a:xfrm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2400" b="1" dirty="0">
                <a:solidFill>
                  <a:srgbClr val="00206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.  </a:t>
            </a:r>
            <a:r>
              <a:rPr lang="zh-CN" altLang="en-US" sz="2400" b="1" dirty="0">
                <a:solidFill>
                  <a:srgbClr val="002060"/>
                </a:solidFill>
                <a:ea typeface="宋体" panose="02010600030101010101" pitchFamily="2" charset="-122"/>
              </a:rPr>
              <a:t>云计算</a:t>
            </a: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资源聚合，按需服务；</a:t>
            </a:r>
            <a:endParaRPr lang="zh-CN" altLang="en-US" sz="2400" b="1" dirty="0">
              <a:solidFill>
                <a:srgbClr val="002060"/>
              </a:solidFill>
              <a:ea typeface="宋体" panose="02010600030101010101" pitchFamily="2" charset="-122"/>
            </a:endParaRPr>
          </a:p>
        </p:txBody>
      </p:sp>
      <p:grpSp>
        <p:nvGrpSpPr>
          <p:cNvPr id="14339" name="组合 2"/>
          <p:cNvGrpSpPr/>
          <p:nvPr/>
        </p:nvGrpSpPr>
        <p:grpSpPr>
          <a:xfrm>
            <a:off x="4700588" y="249238"/>
            <a:ext cx="3830637" cy="1943100"/>
            <a:chOff x="4897819" y="3800514"/>
            <a:chExt cx="3831079" cy="1943164"/>
          </a:xfrm>
        </p:grpSpPr>
        <p:sp>
          <p:nvSpPr>
            <p:cNvPr id="7" name="圆角矩形 6"/>
            <p:cNvSpPr/>
            <p:nvPr/>
          </p:nvSpPr>
          <p:spPr bwMode="auto">
            <a:xfrm>
              <a:off x="4897819" y="4235503"/>
              <a:ext cx="452489" cy="9747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特点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" name="左大括号 7"/>
            <p:cNvSpPr/>
            <p:nvPr/>
          </p:nvSpPr>
          <p:spPr bwMode="auto">
            <a:xfrm>
              <a:off x="5285214" y="3800514"/>
              <a:ext cx="587443" cy="1943164"/>
            </a:xfrm>
            <a:prstGeom prst="leftBrac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" name="圆角矩形 8"/>
            <p:cNvSpPr/>
            <p:nvPr/>
          </p:nvSpPr>
          <p:spPr bwMode="auto">
            <a:xfrm>
              <a:off x="5799623" y="4486337"/>
              <a:ext cx="2429155" cy="50166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平台即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服务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PaaS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" name="圆角矩形 9"/>
            <p:cNvSpPr/>
            <p:nvPr/>
          </p:nvSpPr>
          <p:spPr bwMode="auto">
            <a:xfrm>
              <a:off x="5799623" y="3821152"/>
              <a:ext cx="2357709" cy="50166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软件即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服务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SaaS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" name="圆角矩形 10"/>
            <p:cNvSpPr/>
            <p:nvPr/>
          </p:nvSpPr>
          <p:spPr bwMode="auto">
            <a:xfrm>
              <a:off x="5799623" y="5210260"/>
              <a:ext cx="2929275" cy="50166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基础设施即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服务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IaaS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14340" name="组合 4"/>
          <p:cNvGrpSpPr/>
          <p:nvPr/>
        </p:nvGrpSpPr>
        <p:grpSpPr>
          <a:xfrm>
            <a:off x="4351338" y="2760663"/>
            <a:ext cx="4857750" cy="3579812"/>
            <a:chOff x="4286250" y="80396"/>
            <a:chExt cx="4857750" cy="3579813"/>
          </a:xfrm>
        </p:grpSpPr>
        <p:grpSp>
          <p:nvGrpSpPr>
            <p:cNvPr id="14344" name="组合 3"/>
            <p:cNvGrpSpPr/>
            <p:nvPr/>
          </p:nvGrpSpPr>
          <p:grpSpPr>
            <a:xfrm>
              <a:off x="4286250" y="80396"/>
              <a:ext cx="4857750" cy="3579813"/>
              <a:chOff x="4289630" y="-64326"/>
              <a:chExt cx="4857750" cy="3579813"/>
            </a:xfrm>
          </p:grpSpPr>
          <p:pic>
            <p:nvPicPr>
              <p:cNvPr id="14346" name="图片 4" descr="图片1.pn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289630" y="-64326"/>
                <a:ext cx="4857750" cy="35798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347" name="Picture 2" descr="http://img.hexun.com/2011-04-02/128462871.jpg"/>
              <p:cNvPicPr>
                <a:picLocks noChangeAspect="1"/>
              </p:cNvPicPr>
              <p:nvPr/>
            </p:nvPicPr>
            <p:blipFill>
              <a:blip r:embed="rId2"/>
              <a:srcRect l="18333" t="10010" r="16667" b="7407"/>
              <a:stretch>
                <a:fillRect/>
              </a:stretch>
            </p:blipFill>
            <p:spPr>
              <a:xfrm>
                <a:off x="8308975" y="1646238"/>
                <a:ext cx="554038" cy="68103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348" name="Picture 14" descr="http://www.rfidchina.org/company/product_images/201017/20100501133832.JPG"/>
              <p:cNvPicPr>
                <a:picLocks noChangeAspect="1"/>
              </p:cNvPicPr>
              <p:nvPr/>
            </p:nvPicPr>
            <p:blipFill>
              <a:blip r:embed="rId3"/>
              <a:srcRect l="4546" t="17761" r="4546" b="17813"/>
              <a:stretch>
                <a:fillRect/>
              </a:stretch>
            </p:blipFill>
            <p:spPr>
              <a:xfrm>
                <a:off x="4748213" y="1349375"/>
                <a:ext cx="657225" cy="60960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49" name="TextBox 21"/>
              <p:cNvSpPr txBox="1"/>
              <p:nvPr/>
            </p:nvSpPr>
            <p:spPr>
              <a:xfrm>
                <a:off x="6553200" y="407988"/>
                <a:ext cx="100012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</a:lstStyle>
              <a:p>
                <a:pPr marL="0" lvl="0" indent="0">
                  <a:lnSpc>
                    <a:spcPct val="9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阿里云</a:t>
                </a:r>
                <a:endParaRPr lang="zh-CN" altLang="en-US" sz="2000" b="1" dirty="0">
                  <a:solidFill>
                    <a:srgbClr val="0070C0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4345" name="Picture 8" descr="http://www.ccn.com.cn/uploads/allimg/090911/104AB931-0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7225" y="2719388"/>
              <a:ext cx="863600" cy="59055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4341" name="图片 10" descr="数据中心图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8" y="693738"/>
            <a:ext cx="4064000" cy="2365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图片 11" descr="数据中心图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" y="3489325"/>
            <a:ext cx="4054475" cy="299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3" name="矩形 14"/>
          <p:cNvSpPr/>
          <p:nvPr/>
        </p:nvSpPr>
        <p:spPr>
          <a:xfrm>
            <a:off x="1030288" y="3082925"/>
            <a:ext cx="2401887" cy="48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云数据中心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0963" y="80963"/>
            <a:ext cx="8913813" cy="15573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609600" indent="-6096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区块链：一种基于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P2P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+mn-ea"/>
              </a:rPr>
              <a:t>的集体维护的可靠的分布式账本技术方案；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200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8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论文：Bitcoin: A Peer-to-Peer Electronic Cash System，Satoshi Nakamoto 《consulted》；底层的区块链技术是一种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P2P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分布式系统。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16387" name="图片 4" descr="区块链图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9563"/>
            <a:ext cx="5437188" cy="4056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Picture 2" descr="https://timgsa.baidu.com/timg?image&amp;quality=80&amp;size=b9999_10000&amp;sec=1581589921354&amp;di=0a2347a2911a7a99fabdb9fc1f0c3219&amp;imgtype=0&amp;src=http%3A%2F%2Fp0.ifengimg.com%2Fpmop%2F2018%2F0817%2F71F21C5D1136574E7D2A12E051F79B0466A1B257_size55_w590_h3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88" y="1638300"/>
            <a:ext cx="3557587" cy="297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9" name="矩形 18"/>
          <p:cNvSpPr/>
          <p:nvPr/>
        </p:nvSpPr>
        <p:spPr>
          <a:xfrm>
            <a:off x="198438" y="5783263"/>
            <a:ext cx="8796337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其它形态：</a:t>
            </a:r>
            <a:r>
              <a:rPr lang="en-US" altLang="zh-CN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PPStream</a:t>
            </a:r>
            <a:r>
              <a: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、网上商店、社交网、网格计算、物联网、供应链、大数据系统等。</a:t>
            </a:r>
            <a:endParaRPr lang="en-US" altLang="zh-CN" sz="20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内容占位符 2"/>
          <p:cNvSpPr txBox="1"/>
          <p:nvPr/>
        </p:nvSpPr>
        <p:spPr>
          <a:xfrm>
            <a:off x="428625" y="1928813"/>
            <a:ext cx="8215313" cy="171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69900" lvl="0" indent="-469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1943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IBM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创始人托马斯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沃森说过：“我认为也许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台计算机就能满足全世界的需求。”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虚尾箭头 10"/>
          <p:cNvSpPr/>
          <p:nvPr/>
        </p:nvSpPr>
        <p:spPr>
          <a:xfrm>
            <a:off x="4000500" y="3286125"/>
            <a:ext cx="720725" cy="666750"/>
          </a:xfrm>
          <a:prstGeom prst="striped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7"/>
          <p:cNvGrpSpPr/>
          <p:nvPr/>
        </p:nvGrpSpPr>
        <p:grpSpPr>
          <a:xfrm>
            <a:off x="285750" y="1428750"/>
            <a:ext cx="3786188" cy="5137150"/>
            <a:chOff x="285720" y="1428736"/>
            <a:chExt cx="3786214" cy="5137181"/>
          </a:xfrm>
        </p:grpSpPr>
        <p:pic>
          <p:nvPicPr>
            <p:cNvPr id="18443" name="图片 7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85720" y="1428736"/>
              <a:ext cx="3786214" cy="41814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4" name="文本框 6"/>
            <p:cNvSpPr txBox="1"/>
            <p:nvPr/>
          </p:nvSpPr>
          <p:spPr>
            <a:xfrm>
              <a:off x="1142976" y="5857892"/>
              <a:ext cx="2112963" cy="7080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000" b="1" dirty="0">
                  <a:solidFill>
                    <a:srgbClr val="FF0000"/>
                  </a:solidFill>
                  <a:latin typeface="Arial Unicode MS" charset="-122"/>
                  <a:ea typeface="Arial Unicode MS" charset="-122"/>
                </a:rPr>
                <a:t>     Scale Up</a:t>
              </a:r>
              <a:endParaRPr lang="en-US" altLang="zh-CN" sz="2000" b="1" dirty="0">
                <a:solidFill>
                  <a:srgbClr val="FF0000"/>
                </a:solidFill>
                <a:latin typeface="Arial Unicode MS" charset="-122"/>
                <a:ea typeface="Arial Unicode MS" charset="-122"/>
              </a:endParaRPr>
            </a:p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r>
                <a:rPr lang="zh-CN" altLang="zh-CN" sz="2000" b="1" dirty="0">
                  <a:solidFill>
                    <a:srgbClr val="FF0000"/>
                  </a:solidFill>
                  <a:latin typeface="Arial Unicode MS" charset="-122"/>
                  <a:ea typeface="Arial Unicode MS" charset="-122"/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  <a:latin typeface="Arial Unicode MS" charset="-122"/>
                  <a:ea typeface="Arial Unicode MS" charset="-122"/>
                </a:rPr>
                <a:t>Centralized</a:t>
              </a:r>
              <a:r>
                <a:rPr lang="zh-CN" altLang="en-US" sz="2000" b="1" dirty="0">
                  <a:solidFill>
                    <a:srgbClr val="FF0000"/>
                  </a:solidFill>
                  <a:latin typeface="Arial Unicode MS" charset="-122"/>
                  <a:ea typeface="Arial Unicode MS" charset="-122"/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  <a:latin typeface="Arial Unicode MS" charset="-122"/>
                <a:ea typeface="Arial Unicode MS" charset="-122"/>
              </a:endParaRPr>
            </a:p>
          </p:txBody>
        </p:sp>
      </p:grpSp>
      <p:grpSp>
        <p:nvGrpSpPr>
          <p:cNvPr id="3" name="组合 18"/>
          <p:cNvGrpSpPr/>
          <p:nvPr/>
        </p:nvGrpSpPr>
        <p:grpSpPr>
          <a:xfrm>
            <a:off x="285750" y="357188"/>
            <a:ext cx="8715375" cy="6208712"/>
            <a:chOff x="285750" y="357166"/>
            <a:chExt cx="8715376" cy="6208751"/>
          </a:xfrm>
        </p:grpSpPr>
        <p:sp>
          <p:nvSpPr>
            <p:cNvPr id="12" name="文本框 12"/>
            <p:cNvSpPr txBox="1"/>
            <p:nvPr/>
          </p:nvSpPr>
          <p:spPr>
            <a:xfrm>
              <a:off x="285750" y="357166"/>
              <a:ext cx="5111751" cy="46196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New computing paradigm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439" name="组合 16"/>
            <p:cNvGrpSpPr/>
            <p:nvPr/>
          </p:nvGrpSpPr>
          <p:grpSpPr>
            <a:xfrm>
              <a:off x="4714876" y="357166"/>
              <a:ext cx="4286250" cy="6208751"/>
              <a:chOff x="4714876" y="357166"/>
              <a:chExt cx="4286250" cy="6208751"/>
            </a:xfrm>
          </p:grpSpPr>
          <p:pic>
            <p:nvPicPr>
              <p:cNvPr id="18440" name="图片 9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4876" y="1071546"/>
                <a:ext cx="4286250" cy="475297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441" name="文本框 8"/>
              <p:cNvSpPr txBox="1"/>
              <p:nvPr/>
            </p:nvSpPr>
            <p:spPr>
              <a:xfrm>
                <a:off x="6143636" y="5857892"/>
                <a:ext cx="1938338" cy="7080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</a:lstStyle>
              <a:p>
                <a:pPr marL="0" lvl="0" indent="0">
                  <a:lnSpc>
                    <a:spcPct val="90000"/>
                  </a:lnSpc>
                  <a:spcBef>
                    <a:spcPct val="0"/>
                  </a:spcBef>
                  <a:buClrTx/>
                  <a:buNone/>
                </a:pPr>
                <a:r>
                  <a:rPr lang="en-US" altLang="zh-CN" sz="2000" b="1" dirty="0">
                    <a:solidFill>
                      <a:srgbClr val="FF0000"/>
                    </a:solidFill>
                    <a:latin typeface="Arial Unicode MS" charset="-122"/>
                    <a:ea typeface="Arial Unicode MS" charset="-122"/>
                  </a:rPr>
                  <a:t>    Scale Out</a:t>
                </a:r>
                <a:endParaRPr lang="en-US" altLang="zh-CN" sz="2000" b="1" dirty="0">
                  <a:solidFill>
                    <a:srgbClr val="FF0000"/>
                  </a:solidFill>
                  <a:latin typeface="Arial Unicode MS" charset="-122"/>
                  <a:ea typeface="Arial Unicode MS" charset="-122"/>
                </a:endParaRPr>
              </a:p>
              <a:p>
                <a:pPr marL="0" lvl="0" indent="0">
                  <a:lnSpc>
                    <a:spcPct val="9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zh-CN" sz="2000" b="1" dirty="0">
                    <a:solidFill>
                      <a:srgbClr val="FF0000"/>
                    </a:solidFill>
                    <a:latin typeface="Arial Unicode MS" charset="-122"/>
                    <a:ea typeface="Arial Unicode MS" charset="-122"/>
                  </a:rPr>
                  <a:t>（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Arial Unicode MS" charset="-122"/>
                    <a:ea typeface="Arial Unicode MS" charset="-122"/>
                  </a:rPr>
                  <a:t>Distributed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Arial Unicode MS" charset="-122"/>
                    <a:ea typeface="Arial Unicode MS" charset="-122"/>
                  </a:rPr>
                  <a:t>）</a:t>
                </a:r>
                <a:endParaRPr lang="zh-CN" altLang="en-US" sz="2000" b="1" dirty="0">
                  <a:solidFill>
                    <a:srgbClr val="FF0000"/>
                  </a:solidFill>
                  <a:latin typeface="Arial Unicode MS" charset="-122"/>
                  <a:ea typeface="Arial Unicode MS" charset="-122"/>
                </a:endParaRPr>
              </a:p>
            </p:txBody>
          </p:sp>
          <p:sp>
            <p:nvSpPr>
              <p:cNvPr id="16" name="Rectangle 3"/>
              <p:cNvSpPr>
                <a:spLocks noChangeArrowheads="1"/>
              </p:cNvSpPr>
              <p:nvPr/>
            </p:nvSpPr>
            <p:spPr bwMode="auto">
              <a:xfrm>
                <a:off x="5572126" y="357166"/>
                <a:ext cx="3286125" cy="6429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lvl1pPr marL="685800" indent="-685800"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685800" marR="0" lvl="0" indent="-68580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+mj-cs"/>
                  </a:rPr>
                  <a:t>分布式系统</a:t>
                </a:r>
                <a:endParaRPr kumimoji="1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+mj-cs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/>
          <p:nvPr/>
        </p:nvSpPr>
        <p:spPr>
          <a:xfrm>
            <a:off x="0" y="0"/>
            <a:ext cx="8072438" cy="128588"/>
          </a:xfrm>
          <a:prstGeom prst="rect">
            <a:avLst/>
          </a:prstGeom>
          <a:solidFill>
            <a:srgbClr val="F7F7F7"/>
          </a:solidFill>
          <a:ln w="9525">
            <a:noFill/>
          </a:ln>
        </p:spPr>
        <p:txBody>
          <a:bodyPr wrap="none" lIns="0" tIns="0" rIns="25392" bIns="0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fontAlgn="ctr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900" dirty="0">
                <a:solidFill>
                  <a:srgbClr val="1582BD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endParaRPr lang="en-US" altLang="zh-CN" sz="900" dirty="0">
              <a:solidFill>
                <a:srgbClr val="1582BD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459" name="标题 1"/>
          <p:cNvSpPr/>
          <p:nvPr/>
        </p:nvSpPr>
        <p:spPr>
          <a:xfrm>
            <a:off x="479425" y="185738"/>
            <a:ext cx="82296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大型主机与分布式系统</a:t>
            </a:r>
            <a:endParaRPr lang="zh-CN" altLang="en-US" sz="4400" b="1" dirty="0">
              <a:solidFill>
                <a:srgbClr val="FF3300"/>
              </a:solidFill>
              <a:latin typeface="Maiandra GD" panose="020E0502030308020204" pitchFamily="34" charset="0"/>
              <a:ea typeface="黑体" panose="02010609060101010101" pitchFamily="49" charset="-122"/>
            </a:endParaRPr>
          </a:p>
        </p:txBody>
      </p:sp>
      <p:sp>
        <p:nvSpPr>
          <p:cNvPr id="19460" name="矩形 4"/>
          <p:cNvSpPr/>
          <p:nvPr/>
        </p:nvSpPr>
        <p:spPr>
          <a:xfrm>
            <a:off x="393700" y="1247775"/>
            <a:ext cx="8401050" cy="3786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>
              <a:lnSpc>
                <a:spcPct val="2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大型机（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mainframe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）是上世纪六十年代发展起来的计算机系统。装在大机箱里的计算机系统，稳定性和安全性是首屈一指的。比如天河、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IBM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系列机器等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eaLnBrk="1">
              <a:lnSpc>
                <a:spcPct val="2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分布式系统通过协同工作达到高性能等处理能力。在处理大数据方面更具特点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(Scale-out).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:Hadoop/MapReduce</a:t>
            </a:r>
            <a:endParaRPr lang="zh-CN" altLang="en-US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5750" y="274638"/>
            <a:ext cx="8689975" cy="4810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 explosion in  our society(Scale Out , Distributed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6013" y="6405563"/>
            <a:ext cx="74168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12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http://www.csc.com/insights/flxwd/78931-big_data_growth_just_beginning_to_explode</a:t>
            </a:r>
            <a:endParaRPr lang="zh-CN" altLang="en-US" sz="12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21509" name="图片 12" descr="小机下线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625" y="1214438"/>
            <a:ext cx="4995863" cy="300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图片 11" descr="小机下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4357688"/>
            <a:ext cx="5000625" cy="2000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1" name="矩形 13"/>
          <p:cNvSpPr/>
          <p:nvPr/>
        </p:nvSpPr>
        <p:spPr>
          <a:xfrm>
            <a:off x="301625" y="1317625"/>
            <a:ext cx="3322638" cy="3786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2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2013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年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17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日，阿里集团最后一台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IBM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小机在支付宝下线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algn="l">
              <a:lnSpc>
                <a:spcPct val="2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“去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IOE”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的一个重要节点。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2"/>
          <p:cNvSpPr txBox="1"/>
          <p:nvPr/>
        </p:nvSpPr>
        <p:spPr>
          <a:xfrm>
            <a:off x="196850" y="890270"/>
            <a:ext cx="8775700" cy="56311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优点：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可以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共享稀有资源</a:t>
            </a: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；</a:t>
            </a:r>
            <a:endParaRPr lang="zh-CN" altLang="en-US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可以在多台计算机上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平衡计算负载</a:t>
            </a: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；</a:t>
            </a:r>
            <a:endParaRPr lang="zh-CN" altLang="en-US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可以把程序放在最适合运行它的机器上。</a:t>
            </a:r>
            <a:endParaRPr lang="zh-CN" altLang="en-US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经济性，可靠性，可扩展性</a:t>
            </a:r>
            <a:endParaRPr lang="zh-CN" altLang="en-US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缺点：</a:t>
            </a:r>
            <a:endParaRPr lang="en-US" altLang="zh-CN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多点故障：一台（条）或多台（条）计算机（链路）的故障会导致系统出现问题；</a:t>
            </a:r>
            <a:endParaRPr lang="en-US" altLang="zh-CN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33399"/>
                </a:solidFill>
                <a:ea typeface="宋体" panose="02010600030101010101" pitchFamily="2" charset="-122"/>
              </a:rPr>
              <a:t>安全问题：分散式管理使安全策略实现和增强变得困难。</a:t>
            </a:r>
            <a:endParaRPr lang="zh-CN" altLang="en-US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设计复杂性</a:t>
            </a:r>
            <a:r>
              <a:rPr lang="zh-CN" altLang="en-US" sz="240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1" name="矩形 2"/>
          <p:cNvSpPr/>
          <p:nvPr/>
        </p:nvSpPr>
        <p:spPr>
          <a:xfrm>
            <a:off x="615950" y="0"/>
            <a:ext cx="4837113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分布式计算主要特点：</a:t>
            </a:r>
            <a:endParaRPr lang="en-US" altLang="zh-CN" sz="3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/>
          <p:nvPr/>
        </p:nvSpPr>
        <p:spPr>
          <a:xfrm>
            <a:off x="231775" y="4703763"/>
            <a:ext cx="8751888" cy="178593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742950" lvl="1" indent="-285750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中间件技术：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对广泛的一类问题具有较好的适用性。它可支持广泛一类应用软件的高效和高质量的开发。</a:t>
            </a:r>
            <a:endParaRPr lang="zh-CN" altLang="en-US" sz="24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1925" y="1266825"/>
            <a:ext cx="8301038" cy="160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742950" lvl="1" indent="-285750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编程方式：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利用网络协议和操作系统等服务来构造各种分布式应用系统。</a:t>
            </a:r>
            <a:endParaRPr lang="zh-CN" altLang="en-US" sz="24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1925" y="2986088"/>
            <a:ext cx="8283575" cy="160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742950" lvl="1" indent="-285750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操作系统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兼容现存软件＋适应开放异构性＋适应应用多样性等方面存在不足。</a:t>
            </a:r>
            <a:endParaRPr lang="zh-CN" altLang="en-US" sz="24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7" name="矩形 1"/>
          <p:cNvSpPr/>
          <p:nvPr/>
        </p:nvSpPr>
        <p:spPr>
          <a:xfrm>
            <a:off x="231775" y="249238"/>
            <a:ext cx="4511675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分布式系统的实现途径: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3"/>
          <p:cNvSpPr txBox="1"/>
          <p:nvPr/>
        </p:nvSpPr>
        <p:spPr>
          <a:xfrm>
            <a:off x="1676400" y="35052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1.1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24579" name="Picture 4"/>
          <p:cNvPicPr>
            <a:picLocks noChangeAspect="1"/>
          </p:cNvPicPr>
          <p:nvPr/>
        </p:nvPicPr>
        <p:blipFill>
          <a:blip r:embed="rId1"/>
          <a:srcRect l="28149" t="42708" r="25113" b="37561"/>
          <a:stretch>
            <a:fillRect/>
          </a:stretch>
        </p:blipFill>
        <p:spPr>
          <a:xfrm>
            <a:off x="546100" y="1389063"/>
            <a:ext cx="7924800" cy="4778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0" name="Text Box 5"/>
          <p:cNvSpPr txBox="1"/>
          <p:nvPr/>
        </p:nvSpPr>
        <p:spPr>
          <a:xfrm>
            <a:off x="328613" y="169863"/>
            <a:ext cx="8510587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A distributed system organized as middleware.  </a:t>
            </a:r>
            <a:endParaRPr lang="en-US" altLang="zh-CN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Note that the middleware layer extends over multiple machines.</a:t>
            </a:r>
            <a:endParaRPr lang="en-US" altLang="zh-CN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3"/>
          <p:cNvSpPr txBox="1"/>
          <p:nvPr>
            <p:custDataLst>
              <p:tags r:id="rId1"/>
            </p:custDataLst>
          </p:nvPr>
        </p:nvSpPr>
        <p:spPr>
          <a:xfrm>
            <a:off x="914400" y="877888"/>
            <a:ext cx="7315200" cy="1476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属于分布式系统范例的是：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3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计算机网络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4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云计算环境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5" name="文本框 6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区块链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6" name="文本框 7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多核处理系统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1" name="圆角矩形 12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2" name="矩形 19"/>
          <p:cNvSpPr/>
          <p:nvPr>
            <p:custDataLst>
              <p:tags r:id="rId7"/>
            </p:custDataLst>
          </p:nvPr>
        </p:nvSpPr>
        <p:spPr>
          <a:xfrm>
            <a:off x="9525000" y="0"/>
            <a:ext cx="3840163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13" name="文本框 24"/>
          <p:cNvSpPr txBox="1"/>
          <p:nvPr>
            <p:custDataLst>
              <p:tags r:id="rId8"/>
            </p:custDataLst>
          </p:nvPr>
        </p:nvSpPr>
        <p:spPr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4" name="文本框 25"/>
          <p:cNvSpPr txBox="1"/>
          <p:nvPr>
            <p:custDataLst>
              <p:tags r:id="rId9"/>
            </p:custDataLst>
          </p:nvPr>
        </p:nvSpPr>
        <p:spPr>
          <a:xfrm>
            <a:off x="9779000" y="1270000"/>
            <a:ext cx="3332163" cy="2862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网络在逻辑上没有为用户提供统一视图，所以不是；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云计算环境是一种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C/S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的分布式系统；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区块链是一种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P2P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的分布式系统；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多核处理系统不是基于消息传递方式完成通信和协同的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所以错；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5615" name="组合 23"/>
          <p:cNvGrpSpPr/>
          <p:nvPr/>
        </p:nvGrpSpPr>
        <p:grpSpPr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25625" name="RemarkBack"/>
            <p:cNvSpPr/>
            <p:nvPr>
              <p:custDataLst>
                <p:tags r:id="rId10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6" name="RemarkBlock"/>
            <p:cNvSpPr/>
            <p:nvPr>
              <p:custDataLst>
                <p:tags r:id="rId11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7" name="RemarkTitleText"/>
            <p:cNvSpPr txBox="1"/>
            <p:nvPr>
              <p:custDataLst>
                <p:tags r:id="rId12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5616" name="RemarkBack"/>
          <p:cNvSpPr/>
          <p:nvPr>
            <p:custDataLst>
              <p:tags r:id="rId13"/>
            </p:custDataLst>
          </p:nvPr>
        </p:nvSpPr>
        <p:spPr>
          <a:xfrm>
            <a:off x="9537700" y="12700"/>
            <a:ext cx="3814763" cy="635000"/>
          </a:xfrm>
          <a:prstGeom prst="rect">
            <a:avLst/>
          </a:prstGeom>
          <a:solidFill>
            <a:srgbClr val="F6F7F8"/>
          </a:solidFill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17" name="RemarkBlock"/>
          <p:cNvSpPr/>
          <p:nvPr>
            <p:custDataLst>
              <p:tags r:id="rId14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18" name="RemarkTitleText"/>
          <p:cNvSpPr txBox="1"/>
          <p:nvPr>
            <p:custDataLst>
              <p:tags r:id="rId15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5619" name="组合 17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5621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2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3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5624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25620" name="图片 2"/>
          <p:cNvPicPr/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2"/>
    </p:custData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文本框 3"/>
          <p:cNvSpPr txBox="1"/>
          <p:nvPr>
            <p:custDataLst>
              <p:tags r:id="rId1"/>
            </p:custDataLst>
          </p:nvPr>
        </p:nvSpPr>
        <p:spPr>
          <a:xfrm>
            <a:off x="914400" y="877888"/>
            <a:ext cx="7315200" cy="1476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属于分布式系统范例的是：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3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计算机网络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4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云计算环境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5" name="文本框 6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区块链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6" name="文本框 7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多核处理系统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7" name="矩形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5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8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681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09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0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31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1" name="圆角矩形 12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2" name="矩形 19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163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13" name="文本框 24"/>
          <p:cNvSpPr txBox="1"/>
          <p:nvPr>
            <p:custDataLst>
              <p:tags r:id="rId12"/>
            </p:custDataLst>
          </p:nvPr>
        </p:nvSpPr>
        <p:spPr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614" name="文本框 25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2163" cy="2862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网络在逻辑上没有为用户提供统一视图，所以不是；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云计算环境是一种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C/S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的分布式系统；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区块链是一种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P2P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的分布式系统；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多核处理系统不是基于消息传递方式完成通信和协同的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所以错；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5615" name="组合 23"/>
          <p:cNvGrpSpPr/>
          <p:nvPr/>
        </p:nvGrpSpPr>
        <p:grpSpPr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25625" name="RemarkBack"/>
            <p:cNvSpPr/>
            <p:nvPr>
              <p:custDataLst>
                <p:tags r:id="rId14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6" name="RemarkBlock"/>
            <p:cNvSpPr/>
            <p:nvPr>
              <p:custDataLst>
                <p:tags r:id="rId15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7" name="RemarkTitleText"/>
            <p:cNvSpPr txBox="1"/>
            <p:nvPr>
              <p:custDataLst>
                <p:tags r:id="rId1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5616" name="RemarkBack"/>
          <p:cNvSpPr/>
          <p:nvPr>
            <p:custDataLst>
              <p:tags r:id="rId17"/>
            </p:custDataLst>
          </p:nvPr>
        </p:nvSpPr>
        <p:spPr>
          <a:xfrm>
            <a:off x="9537700" y="12700"/>
            <a:ext cx="3814763" cy="635000"/>
          </a:xfrm>
          <a:prstGeom prst="rect">
            <a:avLst/>
          </a:prstGeom>
          <a:solidFill>
            <a:srgbClr val="F6F7F8"/>
          </a:solidFill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17" name="RemarkBlock"/>
          <p:cNvSpPr/>
          <p:nvPr>
            <p:custDataLst>
              <p:tags r:id="rId18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18" name="RemarkTitleText"/>
          <p:cNvSpPr txBox="1"/>
          <p:nvPr>
            <p:custDataLst>
              <p:tags r:id="rId19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5619" name="组合 17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5621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2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623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5624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25620" name="图片 2"/>
          <p:cNvPicPr/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6"/>
    </p:custData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文本框 2"/>
          <p:cNvSpPr txBox="1"/>
          <p:nvPr>
            <p:custDataLst>
              <p:tags r:id="rId1"/>
            </p:custDataLst>
          </p:nvPr>
        </p:nvSpPr>
        <p:spPr>
          <a:xfrm>
            <a:off x="311150" y="936625"/>
            <a:ext cx="8521700" cy="3789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Three significant characteristics of distributed systems are: concurrency of components, lack of   </a:t>
            </a:r>
            <a:r>
              <a:rPr lang="en-US" altLang="zh-CN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, and </a:t>
            </a:r>
            <a:r>
              <a:rPr lang="zh-CN" altLang="en-US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of components. 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圆角矩形 3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628" name="矩形 9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9525">
            <a:noFill/>
          </a:ln>
        </p:spPr>
        <p:txBody>
          <a:bodyPr wrap="none" anchor="ctr" anchorCtr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正常使用填空题需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以上版本雨课堂</a:t>
            </a:r>
            <a:endParaRPr lang="zh-CN" altLang="en-US" sz="1200" dirty="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629" name="矩形 11"/>
          <p:cNvSpPr/>
          <p:nvPr>
            <p:custDataLst>
              <p:tags r:id="rId4"/>
            </p:custDataLst>
          </p:nvPr>
        </p:nvSpPr>
        <p:spPr>
          <a:xfrm>
            <a:off x="9525000" y="0"/>
            <a:ext cx="3840163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630" name="文本框 16"/>
          <p:cNvSpPr txBox="1"/>
          <p:nvPr>
            <p:custDataLst>
              <p:tags r:id="rId5"/>
            </p:custDataLst>
          </p:nvPr>
        </p:nvSpPr>
        <p:spPr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631" name="文本框 17"/>
          <p:cNvSpPr txBox="1"/>
          <p:nvPr>
            <p:custDataLst>
              <p:tags r:id="rId6"/>
            </p:custDataLst>
          </p:nvPr>
        </p:nvSpPr>
        <p:spPr>
          <a:xfrm>
            <a:off x="9779000" y="1270000"/>
            <a:ext cx="33321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中文答也可以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6632" name="组合 15"/>
          <p:cNvGrpSpPr/>
          <p:nvPr/>
        </p:nvGrpSpPr>
        <p:grpSpPr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26642" name="RemarkBack"/>
            <p:cNvSpPr/>
            <p:nvPr>
              <p:custDataLst>
                <p:tags r:id="rId7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6643" name="RemarkBlock"/>
            <p:cNvSpPr/>
            <p:nvPr>
              <p:custDataLst>
                <p:tags r:id="rId8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6644" name="RemarkTitleText"/>
            <p:cNvSpPr txBox="1"/>
            <p:nvPr>
              <p:custDataLst>
                <p:tags r:id="rId9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6633" name="RemarkBack"/>
          <p:cNvSpPr/>
          <p:nvPr>
            <p:custDataLst>
              <p:tags r:id="rId10"/>
            </p:custDataLst>
          </p:nvPr>
        </p:nvSpPr>
        <p:spPr>
          <a:xfrm>
            <a:off x="9537700" y="12700"/>
            <a:ext cx="3814763" cy="635000"/>
          </a:xfrm>
          <a:prstGeom prst="rect">
            <a:avLst/>
          </a:prstGeom>
          <a:solidFill>
            <a:srgbClr val="F6F7F8"/>
          </a:solidFill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634" name="RemarkBlock"/>
          <p:cNvSpPr/>
          <p:nvPr>
            <p:custDataLst>
              <p:tags r:id="rId11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635" name="RemarkTitleText"/>
          <p:cNvSpPr txBox="1"/>
          <p:nvPr>
            <p:custDataLst>
              <p:tags r:id="rId12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6636" name="组合 8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6638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6639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6640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6641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2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26637" name="图片 1"/>
          <p:cNvPicPr/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9"/>
    </p:custData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63500" y="242888"/>
            <a:ext cx="8996363" cy="6308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4000" dirty="0">
                <a:solidFill>
                  <a:srgbClr val="FF0000"/>
                </a:solidFill>
                <a:ea typeface="楷体_GB2312" pitchFamily="49" charset="-122"/>
              </a:rPr>
              <a:t>1.2   GOALS</a:t>
            </a:r>
            <a:endParaRPr lang="en-US" altLang="zh-CN" sz="4000" dirty="0">
              <a:solidFill>
                <a:srgbClr val="FF0000"/>
              </a:solidFill>
              <a:ea typeface="楷体_GB2312" pitchFamily="49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2800" dirty="0"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333399"/>
                </a:solidFill>
                <a:ea typeface="楷体_GB2312" pitchFamily="49" charset="-122"/>
              </a:rPr>
              <a:t>1.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Making resources accessible</a:t>
            </a: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(Connecting Users and Resources): to make it easy for users to access remote resources, and to share them with other users in a controlled way.</a:t>
            </a:r>
            <a:endParaRPr lang="en-US" altLang="zh-CN" sz="2800" dirty="0">
              <a:solidFill>
                <a:srgbClr val="333399"/>
              </a:solidFill>
              <a:ea typeface="楷体_GB2312" pitchFamily="49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    2.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Transparency</a:t>
            </a: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: to hide the fact that its processes and resources are physically distributed across multiple computers.</a:t>
            </a:r>
            <a:endParaRPr lang="en-US" altLang="zh-CN" sz="2800" dirty="0">
              <a:solidFill>
                <a:srgbClr val="333399"/>
              </a:solidFill>
              <a:ea typeface="楷体_GB2312" pitchFamily="49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    3.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Openness</a:t>
            </a: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: to offer services according to standard rule that describe the syntax and semantics of those services.(e.g. IDL----Interface Definition Language)</a:t>
            </a:r>
            <a:endParaRPr lang="en-US" altLang="zh-CN" sz="2800" dirty="0">
              <a:solidFill>
                <a:srgbClr val="333399"/>
              </a:solidFill>
              <a:ea typeface="楷体_GB2312" pitchFamily="49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    4.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Scalability</a:t>
            </a:r>
            <a:r>
              <a:rPr lang="en-US" altLang="zh-CN" sz="2800" dirty="0">
                <a:solidFill>
                  <a:srgbClr val="333399"/>
                </a:solidFill>
                <a:ea typeface="楷体_GB2312" pitchFamily="49" charset="-122"/>
              </a:rPr>
              <a:t>: in size, geographically, and administratively</a:t>
            </a:r>
            <a:endParaRPr lang="en-US" altLang="zh-CN" sz="2800" dirty="0">
              <a:solidFill>
                <a:srgbClr val="333399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71450" y="139700"/>
            <a:ext cx="8661400" cy="90805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Transparency in a Distributed System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graphicFrame>
        <p:nvGraphicFramePr>
          <p:cNvPr id="1079" name="Group 55"/>
          <p:cNvGraphicFramePr>
            <a:graphicFrameLocks noGrp="1"/>
          </p:cNvGraphicFramePr>
          <p:nvPr/>
        </p:nvGraphicFramePr>
        <p:xfrm>
          <a:off x="685800" y="1222375"/>
          <a:ext cx="7975600" cy="5184777"/>
        </p:xfrm>
        <a:graphic>
          <a:graphicData uri="http://schemas.openxmlformats.org/drawingml/2006/table">
            <a:tbl>
              <a:tblPr/>
              <a:tblGrid>
                <a:gridCol w="1876425"/>
                <a:gridCol w="6099175"/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Transparency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Description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Access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differences in data representation and how a resource is accessed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Location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where a resource is located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Migration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that a resource may move to another location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3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Relocation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that a resource may be moved to another location while in use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Replication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that a resource is replicated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3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Concurrency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that a resource may be shared by several competitive users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Failure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the failure and recovery of a resource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3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Persistence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whether a (software) resource is in memory or on disk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 txBox="1"/>
          <p:nvPr/>
        </p:nvSpPr>
        <p:spPr>
          <a:xfrm>
            <a:off x="282575" y="101600"/>
            <a:ext cx="8358188" cy="6143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透明性是分布式系统的基本特征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EMAIL,FTP;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访问、位置、并发透明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WWW,(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消息中间件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MQ Series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访问、位置、失效透明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事务处理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CICS Transaction Server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访问、原子性等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失效、并发透明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Skype,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PPStream,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访问、位置、失效透明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网上商店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访问、位置、并发透明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社交网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搜索,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访问、位置透明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云计算虚拟化（访问、位置、失效、并发透明等）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2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……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9700" name="矩形 4"/>
          <p:cNvSpPr/>
          <p:nvPr/>
        </p:nvSpPr>
        <p:spPr>
          <a:xfrm>
            <a:off x="1944688" y="6275388"/>
            <a:ext cx="483076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追求完美的透明性有时候并不是最好的！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Scalability Problems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23" name="Text Box 3"/>
          <p:cNvSpPr txBox="1"/>
          <p:nvPr/>
        </p:nvSpPr>
        <p:spPr>
          <a:xfrm>
            <a:off x="2082800" y="5727700"/>
            <a:ext cx="5727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Examples of scalability limitations.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7211" name="Group 43"/>
          <p:cNvGraphicFramePr>
            <a:graphicFrameLocks noGrp="1"/>
          </p:cNvGraphicFramePr>
          <p:nvPr/>
        </p:nvGraphicFramePr>
        <p:xfrm>
          <a:off x="711200" y="1270000"/>
          <a:ext cx="7931150" cy="3905250"/>
        </p:xfrm>
        <a:graphic>
          <a:graphicData uri="http://schemas.openxmlformats.org/drawingml/2006/table">
            <a:tbl>
              <a:tblPr/>
              <a:tblGrid>
                <a:gridCol w="2965450"/>
                <a:gridCol w="4965700"/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Concept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Example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Centralized services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 single server for all users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Centralized data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 single on-line telephone book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Centralized algorithms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Doing routing based on complete information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3"/>
          <p:cNvSpPr txBox="1"/>
          <p:nvPr/>
        </p:nvSpPr>
        <p:spPr>
          <a:xfrm>
            <a:off x="139700" y="758825"/>
            <a:ext cx="8845550" cy="4437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57200" lvl="0" indent="-45720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There are  basically only three techniques for scaling: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457200" lvl="0" indent="-457200" algn="l" eaLnBrk="1" hangingPunct="1">
              <a:lnSpc>
                <a:spcPct val="150000"/>
              </a:lnSpc>
              <a:spcBef>
                <a:spcPct val="50000"/>
              </a:spcBef>
              <a:buClrTx/>
              <a:buAutoNum type="arabicPeriod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Hiding communication latencies (asynchronous communication)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0" indent="-457200" algn="l" eaLnBrk="1" hangingPunct="1">
              <a:lnSpc>
                <a:spcPct val="150000"/>
              </a:lnSpc>
              <a:spcBef>
                <a:spcPct val="50000"/>
              </a:spcBef>
              <a:buClrTx/>
              <a:buAutoNum type="arabicPeriod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Distribution(e.g. DNS)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0" indent="-457200" algn="l" eaLnBrk="1" hangingPunct="1">
              <a:lnSpc>
                <a:spcPct val="150000"/>
              </a:lnSpc>
              <a:spcBef>
                <a:spcPct val="50000"/>
              </a:spcBef>
              <a:buClrTx/>
              <a:buAutoNum type="arabicPeriod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Replication(leads to consistency problems)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1182688" y="152400"/>
            <a:ext cx="6791325" cy="5603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Scaling Techniques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1" name="Text Box 3"/>
          <p:cNvSpPr txBox="1"/>
          <p:nvPr/>
        </p:nvSpPr>
        <p:spPr>
          <a:xfrm>
            <a:off x="2971800" y="3352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1.4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2" name="Text Box 4"/>
          <p:cNvSpPr txBox="1"/>
          <p:nvPr/>
        </p:nvSpPr>
        <p:spPr>
          <a:xfrm>
            <a:off x="1366838" y="5118100"/>
            <a:ext cx="6588125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57200" lvl="0" indent="-45720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The difference between letting: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457200" lvl="0" indent="-457200" algn="l" eaLnBrk="1" hangingPunct="1">
              <a:spcBef>
                <a:spcPct val="50000"/>
              </a:spcBef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a server or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457200" lvl="0" indent="-457200" algn="l" eaLnBrk="1" hangingPunct="1">
              <a:spcBef>
                <a:spcPct val="50000"/>
              </a:spcBef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a client check forms as they are being filled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2773" name="Picture 6"/>
          <p:cNvPicPr>
            <a:picLocks noChangeAspect="1"/>
          </p:cNvPicPr>
          <p:nvPr/>
        </p:nvPicPr>
        <p:blipFill>
          <a:blip r:embed="rId1"/>
          <a:srcRect l="19044" t="37749" r="16615" b="33511"/>
          <a:stretch>
            <a:fillRect/>
          </a:stretch>
        </p:blipFill>
        <p:spPr>
          <a:xfrm>
            <a:off x="627063" y="935038"/>
            <a:ext cx="7996237" cy="4264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Scaling Techniques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5" name="Text Box 3"/>
          <p:cNvSpPr txBox="1"/>
          <p:nvPr/>
        </p:nvSpPr>
        <p:spPr>
          <a:xfrm>
            <a:off x="3429000" y="30480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1.5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3796" name="Text Box 4"/>
          <p:cNvSpPr txBox="1"/>
          <p:nvPr/>
        </p:nvSpPr>
        <p:spPr>
          <a:xfrm>
            <a:off x="914400" y="57150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An example of dividing the DNS name space into zones.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3797" name="Picture 5"/>
          <p:cNvPicPr>
            <a:picLocks noChangeAspect="1"/>
          </p:cNvPicPr>
          <p:nvPr/>
        </p:nvPicPr>
        <p:blipFill>
          <a:blip r:embed="rId1"/>
          <a:srcRect l="18437" t="40857" r="16844" b="36676"/>
          <a:stretch>
            <a:fillRect/>
          </a:stretch>
        </p:blipFill>
        <p:spPr>
          <a:xfrm>
            <a:off x="419100" y="1433513"/>
            <a:ext cx="8124825" cy="3990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1.3 Hardware Concepts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19" name="Rectangle 6"/>
          <p:cNvSpPr/>
          <p:nvPr/>
        </p:nvSpPr>
        <p:spPr>
          <a:xfrm>
            <a:off x="258763" y="1020763"/>
            <a:ext cx="8588375" cy="50774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计算机系统的分类（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Flynn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分类）：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1、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SISD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（Single Instruction stream，Single Data stream）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单处理机计算机。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2、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SIMD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（Single Instruction stream，       </a:t>
            </a:r>
            <a:endParaRPr lang="en-US" altLang="zh-CN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Multiple Data stream），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一些超级计算机。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3、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MISD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（Multiple Instruction stream， Single Data stream）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，此类型计算机有多条指令流，一条数据流。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4、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MIMD（Multiple Instruction stream， Multiple Data stream），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分布式系统属于此类型。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3"/>
          <p:cNvSpPr/>
          <p:nvPr/>
        </p:nvSpPr>
        <p:spPr>
          <a:xfrm>
            <a:off x="249238" y="882650"/>
            <a:ext cx="8456612" cy="461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860425" lvl="0" indent="-860425" algn="l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计算机系统的分类（续）：</a:t>
            </a:r>
            <a:endParaRPr lang="zh-CN" altLang="en-US" sz="28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60425" lvl="0" indent="-860425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zh-CN" altLang="en-US" sz="28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60425" lvl="0" indent="-860425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紧耦合型(</a:t>
            </a:r>
            <a:r>
              <a:rPr lang="en-US" altLang="zh-CN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tightly coupled)</a:t>
            </a: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系统</a:t>
            </a:r>
            <a:r>
              <a:rPr lang="zh-CN" altLang="en-US" sz="2800" b="1" dirty="0">
                <a:solidFill>
                  <a:srgbClr val="002060"/>
                </a:solidFill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计算机之间发送信息的时延很短、数据传输速率高。</a:t>
            </a:r>
            <a:endParaRPr lang="zh-CN" altLang="en-US" sz="28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60425" lvl="0" indent="-860425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endParaRPr lang="zh-CN" altLang="en-US" sz="28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60425" lvl="0" indent="-860425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松耦合型(</a:t>
            </a:r>
            <a:r>
              <a:rPr lang="en-US" altLang="zh-CN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loosely coupled)</a:t>
            </a: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系统</a:t>
            </a:r>
            <a:r>
              <a:rPr lang="zh-CN" altLang="en-US" sz="2800" b="1" dirty="0">
                <a:solidFill>
                  <a:srgbClr val="002060"/>
                </a:solidFill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机器间信息传送延迟大，数据传输速率也低。</a:t>
            </a:r>
            <a:endParaRPr lang="zh-CN" altLang="en-US" sz="28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 Box 3"/>
          <p:cNvSpPr txBox="1"/>
          <p:nvPr/>
        </p:nvSpPr>
        <p:spPr>
          <a:xfrm>
            <a:off x="3505200" y="2514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1.6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6867" name="Text Box 4"/>
          <p:cNvSpPr txBox="1"/>
          <p:nvPr/>
        </p:nvSpPr>
        <p:spPr>
          <a:xfrm>
            <a:off x="666750" y="5791200"/>
            <a:ext cx="82994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Different basic organizations and memories in distributed computer systems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6868" name="Picture 5"/>
          <p:cNvPicPr>
            <a:picLocks noChangeAspect="1"/>
          </p:cNvPicPr>
          <p:nvPr/>
        </p:nvPicPr>
        <p:blipFill>
          <a:blip r:embed="rId1"/>
          <a:srcRect l="22989" t="37158" r="20941" b="31528"/>
          <a:stretch>
            <a:fillRect/>
          </a:stretch>
        </p:blipFill>
        <p:spPr>
          <a:xfrm>
            <a:off x="830263" y="179388"/>
            <a:ext cx="7646987" cy="5418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Multiprocessors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1290638" y="5499100"/>
            <a:ext cx="6440487" cy="7588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 bus-based multiprocessor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3352800" y="2514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1.7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37893" name="Picture 5"/>
          <p:cNvPicPr>
            <a:picLocks noChangeAspect="1"/>
          </p:cNvPicPr>
          <p:nvPr/>
        </p:nvPicPr>
        <p:blipFill>
          <a:blip r:embed="rId1"/>
          <a:srcRect l="28908" t="44075" r="26176" b="41313"/>
          <a:stretch>
            <a:fillRect/>
          </a:stretch>
        </p:blipFill>
        <p:spPr>
          <a:xfrm>
            <a:off x="808038" y="1633538"/>
            <a:ext cx="7440612" cy="3557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4" name="Rectangle 6"/>
          <p:cNvSpPr/>
          <p:nvPr/>
        </p:nvSpPr>
        <p:spPr>
          <a:xfrm>
            <a:off x="2886075" y="960438"/>
            <a:ext cx="30273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存储器相关</a:t>
            </a:r>
            <a:r>
              <a:rPr lang="en-US" altLang="zh-CN" sz="2400" dirty="0">
                <a:ea typeface="宋体" panose="02010600030101010101" pitchFamily="2" charset="-122"/>
              </a:rPr>
              <a:t>(Coherent)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Multiprocessors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5" name="Text Box 4"/>
          <p:cNvSpPr txBox="1"/>
          <p:nvPr/>
        </p:nvSpPr>
        <p:spPr>
          <a:xfrm>
            <a:off x="3276600" y="28956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1.8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38916" name="Picture 5"/>
          <p:cNvPicPr>
            <a:picLocks noChangeAspect="1"/>
          </p:cNvPicPr>
          <p:nvPr/>
        </p:nvPicPr>
        <p:blipFill>
          <a:blip r:embed="rId1"/>
          <a:srcRect l="21471" t="41258" r="18680" b="35040"/>
          <a:stretch>
            <a:fillRect/>
          </a:stretch>
        </p:blipFill>
        <p:spPr>
          <a:xfrm>
            <a:off x="760413" y="1141413"/>
            <a:ext cx="7573962" cy="4579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7" name="Rectangle 7"/>
          <p:cNvSpPr/>
          <p:nvPr/>
        </p:nvSpPr>
        <p:spPr>
          <a:xfrm>
            <a:off x="2001838" y="5745163"/>
            <a:ext cx="536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交叉开关                                    交换网络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Homogeneous Multicomputer Systems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9" name="Text Box 4"/>
          <p:cNvSpPr txBox="1"/>
          <p:nvPr/>
        </p:nvSpPr>
        <p:spPr>
          <a:xfrm>
            <a:off x="3505200" y="28956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1-9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39940" name="Picture 5"/>
          <p:cNvPicPr>
            <a:picLocks noChangeAspect="1"/>
          </p:cNvPicPr>
          <p:nvPr/>
        </p:nvPicPr>
        <p:blipFill>
          <a:blip r:embed="rId1"/>
          <a:srcRect l="24236" t="45657" r="24236" b="40292"/>
          <a:stretch>
            <a:fillRect/>
          </a:stretch>
        </p:blipFill>
        <p:spPr>
          <a:xfrm>
            <a:off x="495300" y="1258888"/>
            <a:ext cx="8115300" cy="3132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1" name="Rectangle 6"/>
          <p:cNvSpPr/>
          <p:nvPr/>
        </p:nvSpPr>
        <p:spPr>
          <a:xfrm>
            <a:off x="2349500" y="3949700"/>
            <a:ext cx="742950" cy="420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57200" lvl="0" indent="-457200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Grid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9942" name="Rectangle 7"/>
          <p:cNvSpPr/>
          <p:nvPr/>
        </p:nvSpPr>
        <p:spPr>
          <a:xfrm>
            <a:off x="7032625" y="3960813"/>
            <a:ext cx="1520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Hypercube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9943" name="Rectangle 8"/>
          <p:cNvSpPr/>
          <p:nvPr/>
        </p:nvSpPr>
        <p:spPr>
          <a:xfrm>
            <a:off x="0" y="4538663"/>
            <a:ext cx="91440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4400" dirty="0">
                <a:solidFill>
                  <a:srgbClr val="FF0000"/>
                </a:solidFill>
                <a:ea typeface="宋体" panose="02010600030101010101" pitchFamily="2" charset="-122"/>
              </a:rPr>
              <a:t>Heterogeneous Multicomputer Systems</a:t>
            </a:r>
            <a:endParaRPr lang="en-US" altLang="zh-CN" sz="4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9944" name="Rectangle 9"/>
          <p:cNvSpPr/>
          <p:nvPr/>
        </p:nvSpPr>
        <p:spPr>
          <a:xfrm>
            <a:off x="2543175" y="5613400"/>
            <a:ext cx="34861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57200" lvl="0" indent="-457200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a.</a:t>
            </a:r>
            <a:r>
              <a:rPr lang="zh-CN" altLang="en-US" sz="2400" dirty="0">
                <a:ea typeface="宋体" panose="02010600030101010101" pitchFamily="2" charset="-122"/>
              </a:rPr>
              <a:t>基于总线 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457200" lvl="0" indent="-457200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b.</a:t>
            </a:r>
            <a:r>
              <a:rPr lang="zh-CN" altLang="en-US" sz="2400" dirty="0">
                <a:ea typeface="宋体" panose="02010600030101010101" pitchFamily="2" charset="-122"/>
              </a:rPr>
              <a:t>基于交换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44"/>
          <p:cNvSpPr/>
          <p:nvPr/>
        </p:nvSpPr>
        <p:spPr>
          <a:xfrm>
            <a:off x="354013" y="122238"/>
            <a:ext cx="60864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并行及分布式计算机系统分类：</a:t>
            </a:r>
            <a:endParaRPr lang="zh-CN" altLang="en-US" sz="2800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0963" name="Group 47"/>
          <p:cNvGrpSpPr/>
          <p:nvPr/>
        </p:nvGrpSpPr>
        <p:grpSpPr>
          <a:xfrm>
            <a:off x="436563" y="598488"/>
            <a:ext cx="8504237" cy="5429250"/>
            <a:chOff x="275" y="377"/>
            <a:chExt cx="5357" cy="3420"/>
          </a:xfrm>
        </p:grpSpPr>
        <p:grpSp>
          <p:nvGrpSpPr>
            <p:cNvPr id="40965" name="Group 43"/>
            <p:cNvGrpSpPr/>
            <p:nvPr/>
          </p:nvGrpSpPr>
          <p:grpSpPr>
            <a:xfrm>
              <a:off x="275" y="377"/>
              <a:ext cx="5357" cy="3420"/>
              <a:chOff x="275" y="377"/>
              <a:chExt cx="5357" cy="3420"/>
            </a:xfrm>
          </p:grpSpPr>
          <p:graphicFrame>
            <p:nvGraphicFramePr>
              <p:cNvPr id="40968" name="Object 41"/>
              <p:cNvGraphicFramePr>
                <a:graphicFrameLocks noChangeAspect="1"/>
              </p:cNvGraphicFramePr>
              <p:nvPr/>
            </p:nvGraphicFramePr>
            <p:xfrm>
              <a:off x="469" y="377"/>
              <a:ext cx="4822" cy="26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6" name="" r:id="rId1" imgW="3971290" imgH="1991995" progId="Visio.Drawing.11">
                      <p:embed/>
                    </p:oleObj>
                  </mc:Choice>
                  <mc:Fallback>
                    <p:oleObj name="" r:id="rId1" imgW="3971290" imgH="1991995" progId="Visio.Drawing.11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69" y="377"/>
                            <a:ext cx="4822" cy="261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969" name="Rectangle 42"/>
              <p:cNvSpPr/>
              <p:nvPr/>
            </p:nvSpPr>
            <p:spPr>
              <a:xfrm>
                <a:off x="275" y="3163"/>
                <a:ext cx="5357" cy="6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</a:lstStyle>
              <a:p>
                <a:pPr marL="0" lvl="0" indent="266700" algn="just" eaLnBrk="1" hangingPunct="1">
                  <a:spcBef>
                    <a:spcPct val="0"/>
                  </a:spcBef>
                  <a:buClrTx/>
                  <a:buNone/>
                </a:pP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sequent        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超级计算机        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LAN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工作站        超立方体</a:t>
                </a: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266700" algn="just">
                  <a:spcBef>
                    <a:spcPct val="0"/>
                  </a:spcBef>
                  <a:buClrTx/>
                  <a:buNone/>
                </a:pP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Encor           RP3                               Transputer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266700" algn="l">
                  <a:spcBef>
                    <a:spcPct val="0"/>
                  </a:spcBef>
                  <a:buClrTx/>
                  <a:buNone/>
                </a:pP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966" name="Text Box 45"/>
            <p:cNvSpPr txBox="1"/>
            <p:nvPr/>
          </p:nvSpPr>
          <p:spPr>
            <a:xfrm>
              <a:off x="1912" y="2607"/>
              <a:ext cx="651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None/>
              </a:pPr>
              <a:r>
                <a:rPr lang="zh-CN" altLang="en-US" sz="2000" dirty="0">
                  <a:ea typeface="宋体" panose="02010600030101010101" pitchFamily="2" charset="-122"/>
                </a:rPr>
                <a:t>交换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0967" name="Text Box 46"/>
            <p:cNvSpPr txBox="1"/>
            <p:nvPr/>
          </p:nvSpPr>
          <p:spPr>
            <a:xfrm>
              <a:off x="4520" y="2620"/>
              <a:ext cx="651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None/>
              </a:pPr>
              <a:r>
                <a:rPr lang="zh-CN" altLang="en-US" sz="2000" dirty="0">
                  <a:ea typeface="宋体" panose="02010600030101010101" pitchFamily="2" charset="-122"/>
                </a:rPr>
                <a:t>交换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</p:grpSp>
      <p:sp>
        <p:nvSpPr>
          <p:cNvPr id="40964" name="Text Box 48"/>
          <p:cNvSpPr txBox="1"/>
          <p:nvPr/>
        </p:nvSpPr>
        <p:spPr>
          <a:xfrm>
            <a:off x="1033463" y="6099175"/>
            <a:ext cx="7064375" cy="396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基于总线</a:t>
            </a:r>
            <a:r>
              <a:rPr lang="en-US" altLang="zh-CN" sz="2000" dirty="0">
                <a:ea typeface="宋体" panose="02010600030101010101" pitchFamily="2" charset="-122"/>
              </a:rPr>
              <a:t>:   </a:t>
            </a:r>
            <a:r>
              <a:rPr lang="zh-CN" altLang="en-US" sz="2000" dirty="0">
                <a:ea typeface="宋体" panose="02010600030101010101" pitchFamily="2" charset="-122"/>
              </a:rPr>
              <a:t>广播方式</a:t>
            </a:r>
            <a:r>
              <a:rPr lang="en-US" altLang="zh-CN" sz="2000" dirty="0">
                <a:ea typeface="宋体" panose="02010600030101010101" pitchFamily="2" charset="-122"/>
              </a:rPr>
              <a:t>;                     </a:t>
            </a:r>
            <a:r>
              <a:rPr lang="zh-CN" altLang="en-US" sz="2000" dirty="0">
                <a:ea typeface="宋体" panose="02010600030101010101" pitchFamily="2" charset="-122"/>
              </a:rPr>
              <a:t>基于交换</a:t>
            </a:r>
            <a:r>
              <a:rPr lang="en-US" altLang="zh-CN" sz="2000" dirty="0">
                <a:ea typeface="宋体" panose="02010600030101010101" pitchFamily="2" charset="-122"/>
              </a:rPr>
              <a:t>:  </a:t>
            </a:r>
            <a:r>
              <a:rPr lang="zh-CN" altLang="en-US" sz="2000" dirty="0">
                <a:ea typeface="宋体" panose="02010600030101010101" pitchFamily="2" charset="-122"/>
              </a:rPr>
              <a:t>路由方式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1.4 Software Concepts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987" name="Rectangle 27"/>
          <p:cNvSpPr/>
          <p:nvPr/>
        </p:nvSpPr>
        <p:spPr>
          <a:xfrm>
            <a:off x="231775" y="1049338"/>
            <a:ext cx="8656638" cy="461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860425" lvl="0" indent="-860425" algn="l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软件系统：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0425" lvl="0" indent="-860425" algn="just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紧耦合型(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tightly coupled)</a:t>
            </a: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系统——单系统映象（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single-system image）</a:t>
            </a: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。比如分布式操作系统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0425" lvl="0" indent="-860425" algn="just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松耦合型(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loosely coupled)</a:t>
            </a: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系统——允许系统的机器和用户各自独立，必要时相互作用。比如网络操作系统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/>
          </p:cNvSpPr>
          <p:nvPr>
            <p:ph idx="1"/>
          </p:nvPr>
        </p:nvSpPr>
        <p:spPr>
          <a:xfrm>
            <a:off x="1397000" y="5003800"/>
            <a:ext cx="6108700" cy="1676400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An overview between 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DOS  (Distributed Operating Systems)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NOS (Network Operating Systems)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Middleware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56349" name="Group 29"/>
          <p:cNvGraphicFramePr>
            <a:graphicFrameLocks noGrp="1"/>
          </p:cNvGraphicFramePr>
          <p:nvPr/>
        </p:nvGraphicFramePr>
        <p:xfrm>
          <a:off x="406400" y="425450"/>
          <a:ext cx="8326438" cy="4484688"/>
        </p:xfrm>
        <a:graphic>
          <a:graphicData uri="http://schemas.openxmlformats.org/drawingml/2006/table">
            <a:tbl>
              <a:tblPr/>
              <a:tblGrid>
                <a:gridCol w="1485900"/>
                <a:gridCol w="4759325"/>
                <a:gridCol w="2081213"/>
              </a:tblGrid>
              <a:tr h="8081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System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Description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Main Goal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DOS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Tightly-coupled operating system for multi-processors and homogeneous multicomputers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Hide and manage hardware resources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28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Loosely-coupled operating system for heterogeneous multicomputers (LAN and WAN)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Offer local services to remote clients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28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Middleware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Additional layer atop of NOS implementing general-purpose services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Provide distribution transparency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Distributed Operating Systems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693738" y="1304925"/>
            <a:ext cx="7686675" cy="3128963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20000"/>
              </a:lnSpc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(1. </a:t>
            </a:r>
            <a:r>
              <a:rPr lang="en-US" altLang="zh-CN" dirty="0">
                <a:ea typeface="宋体" panose="02010600030101010101" pitchFamily="2" charset="-122"/>
              </a:rPr>
              <a:t>Uniprocessor Operating Systems)</a:t>
            </a:r>
            <a:endParaRPr lang="en-US" altLang="zh-CN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None/>
            </a:pPr>
            <a:r>
              <a:rPr lang="en-US" altLang="zh-CN" dirty="0">
                <a:ea typeface="宋体" panose="02010600030101010101" pitchFamily="2" charset="-122"/>
              </a:rPr>
              <a:t>    DOS</a:t>
            </a:r>
            <a:r>
              <a:rPr lang="zh-CN" altLang="en-US" dirty="0">
                <a:ea typeface="宋体" panose="02010600030101010101" pitchFamily="2" charset="-122"/>
              </a:rPr>
              <a:t>在功能上同</a:t>
            </a:r>
            <a:r>
              <a:rPr lang="en-US" altLang="zh-CN" dirty="0">
                <a:ea typeface="宋体" panose="02010600030101010101" pitchFamily="2" charset="-122"/>
              </a:rPr>
              <a:t>UOS</a:t>
            </a:r>
            <a:endParaRPr lang="en-US" altLang="zh-CN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None/>
            </a:pPr>
            <a:r>
              <a:rPr lang="en-US" altLang="zh-CN" dirty="0">
                <a:ea typeface="宋体" panose="02010600030101010101" pitchFamily="2" charset="-122"/>
              </a:rPr>
              <a:t>2. Multiprocessor Operating Systems ?</a:t>
            </a:r>
            <a:endParaRPr lang="en-US" altLang="zh-CN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None/>
            </a:pPr>
            <a:r>
              <a:rPr lang="en-US" altLang="zh-CN" dirty="0">
                <a:ea typeface="宋体" panose="02010600030101010101" pitchFamily="2" charset="-122"/>
              </a:rPr>
              <a:t>3. Multicomputer Operating Systems </a:t>
            </a:r>
            <a:endParaRPr lang="en-US" altLang="zh-CN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Uniprocessor Operating Systems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465138" y="1268413"/>
            <a:ext cx="8143875" cy="5019675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管理与控制整个计算机系统的资源，并为用户使用提供方便。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操作系统结构： 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模块结构；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层次结构；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微内核结构；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面向对象等。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Uniprocessor Operating Systems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1458913" y="5803900"/>
            <a:ext cx="6757987" cy="838200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Separating applications from operating system code through a microkernel.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46084" name="Text Box 4"/>
          <p:cNvSpPr txBox="1"/>
          <p:nvPr/>
        </p:nvSpPr>
        <p:spPr>
          <a:xfrm>
            <a:off x="3276600" y="2895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1.11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46085" name="Picture 5"/>
          <p:cNvPicPr>
            <a:picLocks noChangeAspect="1"/>
          </p:cNvPicPr>
          <p:nvPr/>
        </p:nvPicPr>
        <p:blipFill>
          <a:blip r:embed="rId1"/>
          <a:srcRect l="19882" t="43958" r="18814" b="38821"/>
          <a:stretch>
            <a:fillRect/>
          </a:stretch>
        </p:blipFill>
        <p:spPr>
          <a:xfrm>
            <a:off x="257175" y="1160463"/>
            <a:ext cx="8494713" cy="4484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143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Multiprocessor Operating Systems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0" y="727075"/>
            <a:ext cx="9144000" cy="4176713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to support high performance through multiple CPUs. to make the number of CPUs transparent to the application.</a:t>
            </a:r>
            <a:endParaRPr lang="en-US" altLang="zh-CN" sz="2400" b="1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Achieving such transparency is relatively easy because the communication between different parts of application uses the same primitives.</a:t>
            </a:r>
            <a:endParaRPr lang="en-US" altLang="zh-CN" sz="2400" b="1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Two important primitives are semaphores and monitors</a:t>
            </a:r>
            <a:endParaRPr lang="en-US" altLang="zh-CN" sz="2400" b="1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    (</a:t>
            </a:r>
            <a:r>
              <a:rPr lang="zh-CN" altLang="en-US" sz="2400" b="1" dirty="0">
                <a:solidFill>
                  <a:srgbClr val="002060"/>
                </a:solidFill>
                <a:ea typeface="宋体" panose="02010600030101010101" pitchFamily="2" charset="-122"/>
              </a:rPr>
              <a:t>避免数据在同一时刻接受多个访问</a:t>
            </a:r>
            <a:r>
              <a:rPr lang="en-US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rgbClr val="002060"/>
              </a:solidFill>
              <a:ea typeface="宋体" panose="02010600030101010101" pitchFamily="2" charset="-122"/>
            </a:endParaRPr>
          </a:p>
        </p:txBody>
      </p:sp>
      <p:pic>
        <p:nvPicPr>
          <p:cNvPr id="47108" name="图片 4" descr="多处理机图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88" y="4835525"/>
            <a:ext cx="7210425" cy="182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Multiprocessor Operating Systems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 monitor to protect an integer against concurrent access.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48132" name="Text Box 4"/>
          <p:cNvSpPr txBox="1"/>
          <p:nvPr/>
        </p:nvSpPr>
        <p:spPr>
          <a:xfrm>
            <a:off x="914400" y="1333500"/>
            <a:ext cx="7162800" cy="429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monitor Counter {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private: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int count = 0;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public: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        int value() { return count;}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        void incr () { count = count + 1;}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        void decr() { count = count – 1;}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Multiprocessor Operating Systems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4273550" y="1042988"/>
            <a:ext cx="3830638" cy="1395412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A monitor to protect an integer against concurrent access, but blocking a process.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49156" name="Text Box 5"/>
          <p:cNvSpPr txBox="1"/>
          <p:nvPr/>
        </p:nvSpPr>
        <p:spPr>
          <a:xfrm>
            <a:off x="592138" y="1003300"/>
            <a:ext cx="2820987" cy="4133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monitor Counter {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private: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int count = 0;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int blocked_procs = 0;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condition unblocked;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public: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int value () { return count;}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void incr () {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   if (blocked_procs == 0)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       count = count + 1;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   else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       signal (unblocked);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}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Text Box 6"/>
          <p:cNvSpPr txBox="1"/>
          <p:nvPr/>
        </p:nvSpPr>
        <p:spPr>
          <a:xfrm>
            <a:off x="4113213" y="2914650"/>
            <a:ext cx="3740150" cy="3176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void decr() {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if (count ==0) {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blocked_procs = blocked_procs + 1;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wait (unblocked);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blocked_procs = blocked_procs – 1;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}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else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    count = count – 1;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  }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endParaRPr lang="en-US" altLang="zh-CN" sz="1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Multicomputer Operating Systems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230188" y="5164138"/>
            <a:ext cx="8607425" cy="1287462"/>
          </a:xfrm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150000"/>
              </a:lnSpc>
              <a:buNone/>
            </a:pPr>
            <a:r>
              <a:rPr lang="en-US" altLang="zh-CN" sz="1800" dirty="0">
                <a:ea typeface="楷体_GB2312" pitchFamily="49" charset="-122"/>
              </a:rPr>
              <a:t>General structure of a multicomputer operating system(through message passing)</a:t>
            </a:r>
            <a:endParaRPr lang="en-US" altLang="zh-CN" sz="1800" dirty="0">
              <a:ea typeface="楷体_GB2312" pitchFamily="49" charset="-122"/>
            </a:endParaRPr>
          </a:p>
          <a:p>
            <a:pPr marL="0" indent="0" algn="l" eaLnBrk="1" hangingPunct="1">
              <a:lnSpc>
                <a:spcPct val="150000"/>
              </a:lnSpc>
              <a:buNone/>
            </a:pPr>
            <a:r>
              <a:rPr lang="zh-CN" altLang="en-US" sz="1800" b="1" dirty="0">
                <a:ea typeface="楷体_GB2312" pitchFamily="49" charset="-122"/>
              </a:rPr>
              <a:t>松耦合硬件上的紧耦合软件，让用户感觉整个计算机网络系统像一台计算机， 没有共享存储</a:t>
            </a:r>
            <a:r>
              <a:rPr lang="en-US" altLang="zh-CN" sz="1800" b="1" dirty="0">
                <a:ea typeface="楷体_GB2312" pitchFamily="49" charset="-122"/>
              </a:rPr>
              <a:t>,  </a:t>
            </a:r>
            <a:r>
              <a:rPr lang="zh-CN" altLang="en-US" sz="1800" b="1" dirty="0">
                <a:ea typeface="楷体_GB2312" pitchFamily="49" charset="-122"/>
              </a:rPr>
              <a:t>只能消息传递</a:t>
            </a:r>
            <a:r>
              <a:rPr lang="en-US" altLang="zh-CN" sz="1800" b="1" dirty="0">
                <a:ea typeface="楷体_GB2312" pitchFamily="49" charset="-122"/>
              </a:rPr>
              <a:t>.</a:t>
            </a:r>
            <a:endParaRPr lang="en-US" altLang="zh-CN" sz="1800" b="1" dirty="0">
              <a:ea typeface="楷体_GB2312" pitchFamily="49" charset="-122"/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3886200" y="27432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1.14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0181" name="Picture 5"/>
          <p:cNvPicPr>
            <a:picLocks noChangeAspect="1"/>
          </p:cNvPicPr>
          <p:nvPr/>
        </p:nvPicPr>
        <p:blipFill>
          <a:blip r:embed="rId1"/>
          <a:srcRect l="29930" t="44864" r="27579" b="37915"/>
          <a:stretch>
            <a:fillRect/>
          </a:stretch>
        </p:blipFill>
        <p:spPr>
          <a:xfrm>
            <a:off x="3436938" y="1165225"/>
            <a:ext cx="5662612" cy="39354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2" name="图片 5" descr="多计算机系统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" y="1758950"/>
            <a:ext cx="3390900" cy="2305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Multicomputer Operating Systems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0" y="5408613"/>
            <a:ext cx="8974138" cy="1268412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Alternatives for blocking and buffering in message passing.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(four possibly synchronization points. if the operating system blocks a sender until messages arrive at either S3 or S4, it must guarantee reliable communication. more complex)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51204" name="Text Box 4"/>
          <p:cNvSpPr txBox="1"/>
          <p:nvPr/>
        </p:nvSpPr>
        <p:spPr>
          <a:xfrm>
            <a:off x="3733800" y="27432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1.15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1205" name="Picture 5"/>
          <p:cNvPicPr>
            <a:picLocks noChangeAspect="1"/>
          </p:cNvPicPr>
          <p:nvPr/>
        </p:nvPicPr>
        <p:blipFill>
          <a:blip r:embed="rId1"/>
          <a:srcRect l="30357" t="44864" r="27579" b="38217"/>
          <a:stretch>
            <a:fillRect/>
          </a:stretch>
        </p:blipFill>
        <p:spPr>
          <a:xfrm>
            <a:off x="847725" y="1028700"/>
            <a:ext cx="7496175" cy="426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Multicomputer Operating Systems (3)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0" y="5435600"/>
            <a:ext cx="9144000" cy="838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Relation between blocking, buffering, and reliable communications.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22568" name="Group 40"/>
          <p:cNvGraphicFramePr>
            <a:graphicFrameLocks noGrp="1"/>
          </p:cNvGraphicFramePr>
          <p:nvPr/>
        </p:nvGraphicFramePr>
        <p:xfrm>
          <a:off x="457200" y="1708150"/>
          <a:ext cx="8248650" cy="3359151"/>
        </p:xfrm>
        <a:graphic>
          <a:graphicData uri="http://schemas.openxmlformats.org/drawingml/2006/table">
            <a:tbl>
              <a:tblPr/>
              <a:tblGrid>
                <a:gridCol w="4057650"/>
                <a:gridCol w="1655763"/>
                <a:gridCol w="2535237"/>
              </a:tblGrid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Synchronization point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Send buffer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Reliable comm. guaranteed?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8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Block sender until buffer not full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满时阻塞发送进程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Not necessary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Block sender until message sent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Not necessary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Block sender until message received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Necessary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Block sender until message delivered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Necessary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54" name="Rectangle 41"/>
          <p:cNvSpPr/>
          <p:nvPr/>
        </p:nvSpPr>
        <p:spPr>
          <a:xfrm>
            <a:off x="0" y="989013"/>
            <a:ext cx="9144000" cy="719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同步点与消息传递语义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0" y="7938"/>
            <a:ext cx="9144000" cy="83026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Distributed Shared Memory Systems (1)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0" y="2492375"/>
            <a:ext cx="3525838" cy="4140200"/>
          </a:xfrm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Pages of address space distributed among four machines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Situation after CPU 1 references page 10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Situation if page 10 is read only and replication is used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3252" name="Rectangle 6"/>
          <p:cNvSpPr/>
          <p:nvPr/>
        </p:nvSpPr>
        <p:spPr>
          <a:xfrm>
            <a:off x="80963" y="825500"/>
            <a:ext cx="8982075" cy="9509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When a processor references an address that is not present locally, a trap occurs, and the operating system fetches the page containing the address and restarts the faulting instruction.</a:t>
            </a:r>
            <a:endParaRPr lang="en-US" altLang="zh-CN" sz="2200" dirty="0">
              <a:ea typeface="宋体" panose="02010600030101010101" pitchFamily="2" charset="-122"/>
            </a:endParaRPr>
          </a:p>
        </p:txBody>
      </p:sp>
      <p:pic>
        <p:nvPicPr>
          <p:cNvPr id="53253" name="图片 5" descr="分布式存储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0" y="1924050"/>
            <a:ext cx="5497513" cy="4772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AutoShape 2"/>
          <p:cNvSpPr>
            <a:spLocks noChangeAspect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Distributed Shared Memory Systems (2)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279400" y="6223000"/>
            <a:ext cx="8602663" cy="512763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solidFill>
                  <a:srgbClr val="333399"/>
                </a:solidFill>
                <a:ea typeface="宋体" panose="02010600030101010101" pitchFamily="2" charset="-122"/>
              </a:rPr>
              <a:t>False sharing of a page between two independent processes.</a:t>
            </a:r>
            <a:endParaRPr lang="en-US" altLang="zh-CN" sz="2400" dirty="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54276" name="Text Box 4"/>
          <p:cNvSpPr txBox="1"/>
          <p:nvPr/>
        </p:nvSpPr>
        <p:spPr>
          <a:xfrm>
            <a:off x="3657600" y="27432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1.18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4277" name="Picture 5"/>
          <p:cNvPicPr>
            <a:picLocks noChangeAspect="1"/>
          </p:cNvPicPr>
          <p:nvPr/>
        </p:nvPicPr>
        <p:blipFill>
          <a:blip r:embed="rId1"/>
          <a:srcRect l="21379" t="45166" r="20523" b="40332"/>
          <a:stretch>
            <a:fillRect/>
          </a:stretch>
        </p:blipFill>
        <p:spPr>
          <a:xfrm>
            <a:off x="76200" y="2489200"/>
            <a:ext cx="8677275" cy="3598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8" name="Rectangle 6"/>
          <p:cNvSpPr/>
          <p:nvPr/>
        </p:nvSpPr>
        <p:spPr>
          <a:xfrm>
            <a:off x="400050" y="982663"/>
            <a:ext cx="4865688" cy="1235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buNone/>
            </a:pP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设计高效的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DSM</a:t>
            </a: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页面大小是个问题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?</a:t>
            </a:r>
            <a:endParaRPr lang="en-US" altLang="zh-CN" sz="20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800100" lvl="1" indent="-342900" eaLnBrk="1" hangingPunct="1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太小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可能中断多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传送次数多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.      </a:t>
            </a:r>
            <a:endParaRPr lang="en-US" altLang="zh-CN" sz="20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marL="800100" lvl="1" indent="-342900" eaLnBrk="1" hangingPunct="1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太大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也可能传送次数多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.</a:t>
            </a:r>
            <a:r>
              <a:rPr lang="zh-CN" altLang="en-US" sz="2000" b="1" dirty="0">
                <a:solidFill>
                  <a:srgbClr val="333399"/>
                </a:solidFill>
                <a:ea typeface="宋体" panose="02010600030101010101" pitchFamily="2" charset="-122"/>
              </a:rPr>
              <a:t> 例如</a:t>
            </a:r>
            <a:r>
              <a:rPr lang="en-US" altLang="zh-CN" sz="2000" b="1" dirty="0">
                <a:solidFill>
                  <a:srgbClr val="333399"/>
                </a:solidFill>
                <a:ea typeface="宋体" panose="02010600030101010101" pitchFamily="2" charset="-122"/>
              </a:rPr>
              <a:t>:</a:t>
            </a:r>
            <a:endParaRPr lang="en-US" altLang="zh-CN" sz="2000" b="1" dirty="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Network Operating System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555625" y="5840413"/>
            <a:ext cx="8007350" cy="8509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楷体_GB2312" pitchFamily="49" charset="-122"/>
              </a:rPr>
              <a:t>General structure of a network operating system.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ea typeface="楷体_GB2312" pitchFamily="49" charset="-122"/>
              </a:rPr>
              <a:t>松耦合软件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zh-CN" altLang="en-US" sz="2400" dirty="0">
                <a:ea typeface="楷体_GB2312" pitchFamily="49" charset="-122"/>
              </a:rPr>
              <a:t>底层硬件和</a:t>
            </a:r>
            <a:r>
              <a:rPr lang="en-US" altLang="zh-CN" sz="2400" dirty="0">
                <a:ea typeface="楷体_GB2312" pitchFamily="49" charset="-122"/>
              </a:rPr>
              <a:t>Kernel</a:t>
            </a:r>
            <a:r>
              <a:rPr lang="zh-CN" altLang="en-US" sz="2400" dirty="0">
                <a:ea typeface="楷体_GB2312" pitchFamily="49" charset="-122"/>
              </a:rPr>
              <a:t>可以不同</a:t>
            </a:r>
            <a:r>
              <a:rPr lang="en-US" altLang="zh-CN" sz="2400" dirty="0">
                <a:ea typeface="楷体_GB2312" pitchFamily="49" charset="-122"/>
              </a:rPr>
              <a:t>) </a:t>
            </a:r>
            <a:endParaRPr lang="en-US" altLang="zh-CN" sz="2400" dirty="0">
              <a:ea typeface="楷体_GB2312" pitchFamily="49" charset="-122"/>
            </a:endParaRPr>
          </a:p>
        </p:txBody>
      </p:sp>
      <p:sp>
        <p:nvSpPr>
          <p:cNvPr id="55300" name="Text Box 4"/>
          <p:cNvSpPr txBox="1"/>
          <p:nvPr/>
        </p:nvSpPr>
        <p:spPr>
          <a:xfrm>
            <a:off x="3581400" y="2743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1-19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5301" name="Picture 5"/>
          <p:cNvPicPr>
            <a:picLocks noChangeAspect="1"/>
          </p:cNvPicPr>
          <p:nvPr/>
        </p:nvPicPr>
        <p:blipFill>
          <a:blip r:embed="rId1"/>
          <a:srcRect l="29930" t="43655" r="27579" b="38972"/>
          <a:stretch>
            <a:fillRect/>
          </a:stretch>
        </p:blipFill>
        <p:spPr>
          <a:xfrm>
            <a:off x="582613" y="1116013"/>
            <a:ext cx="7991475" cy="4508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Network Operating System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3" name="Rectangle 6"/>
          <p:cNvSpPr/>
          <p:nvPr/>
        </p:nvSpPr>
        <p:spPr>
          <a:xfrm>
            <a:off x="354013" y="909638"/>
            <a:ext cx="8435975" cy="2862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每个用户有自己的工作站（有盘或无盘）和操作系统。所有命令通常在本地运行。</a:t>
            </a:r>
            <a:endParaRPr lang="zh-CN" altLang="en-US" sz="24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非透明方式使用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机器地址需要明确指出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，例如： </a:t>
            </a:r>
            <a:endParaRPr lang="zh-CN" altLang="en-US" sz="24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rlogin machine</a:t>
            </a:r>
            <a:endParaRPr lang="en-US" altLang="zh-CN" sz="24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rcp  machine1 : file1   machine2 : file2 </a:t>
            </a:r>
            <a:endParaRPr lang="en-US" altLang="zh-CN" sz="24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30200" y="5810250"/>
            <a:ext cx="8559800" cy="838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Two clients and a server in a network operating system.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一种提供全局文件系统的方法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文件服务器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6325" name="Picture 5"/>
          <p:cNvPicPr>
            <a:picLocks noChangeAspect="1"/>
          </p:cNvPicPr>
          <p:nvPr/>
        </p:nvPicPr>
        <p:blipFill>
          <a:blip r:embed="rId1"/>
          <a:srcRect l="27579" t="47281" r="24345" b="41541"/>
          <a:stretch>
            <a:fillRect/>
          </a:stretch>
        </p:blipFill>
        <p:spPr>
          <a:xfrm>
            <a:off x="354013" y="3771900"/>
            <a:ext cx="8567737" cy="2038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10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Network Operating System (3)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266700" y="642938"/>
            <a:ext cx="7721600" cy="449262"/>
          </a:xfrm>
        </p:spPr>
        <p:txBody>
          <a:bodyPr vert="horz" wrap="square" lIns="91440" tIns="45720" rIns="91440" bIns="45720" anchor="t" anchorCtr="0"/>
          <a:p>
            <a:pPr algn="l" eaLnBrk="1" hangingPunct="1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Different clients may mount the servers in different places.</a:t>
            </a:r>
            <a:r>
              <a:rPr lang="zh-CN" altLang="en-US" sz="2000" dirty="0">
                <a:ea typeface="宋体" panose="02010600030101010101" pitchFamily="2" charset="-122"/>
              </a:rPr>
              <a:t>缺乏透明性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pic>
        <p:nvPicPr>
          <p:cNvPr id="57348" name="Picture 5"/>
          <p:cNvPicPr>
            <a:picLocks noChangeAspect="1"/>
          </p:cNvPicPr>
          <p:nvPr/>
        </p:nvPicPr>
        <p:blipFill>
          <a:blip r:embed="rId1"/>
          <a:srcRect l="20952" t="38670" r="20309" b="33534"/>
          <a:stretch>
            <a:fillRect/>
          </a:stretch>
        </p:blipFill>
        <p:spPr>
          <a:xfrm>
            <a:off x="655638" y="1174750"/>
            <a:ext cx="7832725" cy="3333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66700" y="4578350"/>
            <a:ext cx="2854325" cy="4238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Why need Middleware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44488" y="4919663"/>
            <a:ext cx="8358188" cy="1938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77825" marR="0" lvl="0" indent="-37782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network operating system does not provide a view of a single coherent system.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77825" marR="0" lvl="0" indent="-37782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distributed operating system is not intended to handle a collection of independent computers.(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异构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445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Positioning Middleware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58371" name="Rectangle 3"/>
          <p:cNvSpPr/>
          <p:nvPr/>
        </p:nvSpPr>
        <p:spPr>
          <a:xfrm>
            <a:off x="0" y="793750"/>
            <a:ext cx="9144000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77825" lvl="0" indent="-377825" algn="l" eaLnBrk="1" hangingPunct="1">
              <a:spcBef>
                <a:spcPct val="0"/>
              </a:spcBef>
              <a:buClrTx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an additional layer of software (middleware)</a:t>
            </a:r>
            <a:r>
              <a:rPr lang="en-US" altLang="zh-CN" sz="2400" dirty="0">
                <a:solidFill>
                  <a:srgbClr val="002060"/>
                </a:solidFill>
                <a:ea typeface="宋体" panose="02010600030101010101" pitchFamily="2" charset="-122"/>
              </a:rPr>
              <a:t> that is used in network operating systems to more or less hide the heterogeneity of the collection of underlying platforms but also to improve distribution transparency.</a:t>
            </a:r>
            <a:endParaRPr lang="en-US" altLang="zh-CN" sz="2400" dirty="0">
              <a:solidFill>
                <a:srgbClr val="002060"/>
              </a:solidFill>
              <a:ea typeface="宋体" panose="02010600030101010101" pitchFamily="2" charset="-122"/>
            </a:endParaRPr>
          </a:p>
        </p:txBody>
      </p:sp>
      <p:sp>
        <p:nvSpPr>
          <p:cNvPr id="58372" name="Rectangle 3"/>
          <p:cNvSpPr txBox="1"/>
          <p:nvPr/>
        </p:nvSpPr>
        <p:spPr>
          <a:xfrm>
            <a:off x="925513" y="6435725"/>
            <a:ext cx="7381875" cy="422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General structure of a distributed system as middleware.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58373" name="Picture 5"/>
          <p:cNvPicPr>
            <a:picLocks noChangeAspect="1"/>
          </p:cNvPicPr>
          <p:nvPr/>
        </p:nvPicPr>
        <p:blipFill>
          <a:blip r:embed="rId1"/>
          <a:srcRect l="29076" t="42145" r="28006" b="36253"/>
          <a:stretch>
            <a:fillRect/>
          </a:stretch>
        </p:blipFill>
        <p:spPr>
          <a:xfrm>
            <a:off x="925513" y="2413000"/>
            <a:ext cx="7319962" cy="4022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Middleware Models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9395" name="Text Box 4"/>
          <p:cNvSpPr txBox="1"/>
          <p:nvPr/>
        </p:nvSpPr>
        <p:spPr>
          <a:xfrm>
            <a:off x="127000" y="1012825"/>
            <a:ext cx="8953500" cy="564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solidFill>
                  <a:srgbClr val="002060"/>
                </a:solidFill>
                <a:ea typeface="宋体" panose="02010600030101010101" pitchFamily="2" charset="-122"/>
              </a:rPr>
              <a:t>To make development and integration of distributed applications as simple as possible, most middleware is based on some model, or paradigm, for describing distribution and communication.</a:t>
            </a:r>
            <a:endParaRPr lang="en-US" altLang="zh-CN" sz="2800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solidFill>
                  <a:srgbClr val="002060"/>
                </a:solidFill>
                <a:ea typeface="宋体" panose="02010600030101010101" pitchFamily="2" charset="-122"/>
              </a:rPr>
              <a:t>Some models are as follows:</a:t>
            </a:r>
            <a:endParaRPr lang="en-US" altLang="zh-CN" sz="2800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based on distributed file system,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based on RPCs—Remote Procedure Calls, 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based on distributed objects,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based on distributed documents,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2060"/>
                </a:solidFill>
                <a:ea typeface="宋体" panose="02010600030101010101" pitchFamily="2" charset="-122"/>
              </a:rPr>
              <a:t>……</a:t>
            </a:r>
            <a:endParaRPr lang="en-US" altLang="zh-CN" dirty="0">
              <a:solidFill>
                <a:srgbClr val="00206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Middleware Services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19" name="Text Box 4"/>
          <p:cNvSpPr txBox="1"/>
          <p:nvPr/>
        </p:nvSpPr>
        <p:spPr>
          <a:xfrm>
            <a:off x="465138" y="1163638"/>
            <a:ext cx="8367712" cy="4402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There are a number of services common to many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middle systems: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ea typeface="宋体" panose="02010600030101010101" pitchFamily="2" charset="-122"/>
              </a:rPr>
              <a:t>Naming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ea typeface="宋体" panose="02010600030101010101" pitchFamily="2" charset="-122"/>
              </a:rPr>
              <a:t>Persistence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ea typeface="宋体" panose="02010600030101010101" pitchFamily="2" charset="-122"/>
              </a:rPr>
              <a:t>Distributed transaction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ea typeface="宋体" panose="02010600030101010101" pitchFamily="2" charset="-122"/>
              </a:rPr>
              <a:t>……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None/>
            </a:pPr>
            <a:r>
              <a:rPr lang="zh-CN" altLang="en-US" dirty="0">
                <a:ea typeface="宋体" panose="02010600030101010101" pitchFamily="2" charset="-122"/>
              </a:rPr>
              <a:t>实现访问透明性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Middleware and Openness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533400" y="5372100"/>
            <a:ext cx="8229600" cy="623888"/>
          </a:xfrm>
        </p:spPr>
        <p:txBody>
          <a:bodyPr vert="horz" wrap="square" lIns="91440" tIns="45720" rIns="91440" bIns="45720" anchor="t" anchorCtr="0"/>
          <a:p>
            <a:pPr algn="l" eaLnBrk="1" hangingPunct="1"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开放性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互操作性</a:t>
            </a:r>
            <a:r>
              <a:rPr lang="en-US" altLang="zh-CN" sz="2400" dirty="0">
                <a:ea typeface="宋体" panose="02010600030101010101" pitchFamily="2" charset="-122"/>
              </a:rPr>
              <a:t>: </a:t>
            </a:r>
            <a:r>
              <a:rPr lang="zh-CN" altLang="en-US" sz="2400" dirty="0">
                <a:ea typeface="宋体" panose="02010600030101010101" pitchFamily="2" charset="-122"/>
              </a:rPr>
              <a:t>采用相同的中间件协议和中间件接口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61444" name="Text Box 4"/>
          <p:cNvSpPr txBox="1"/>
          <p:nvPr/>
        </p:nvSpPr>
        <p:spPr>
          <a:xfrm>
            <a:off x="3505200" y="2895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1.23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61445" name="Picture 5"/>
          <p:cNvPicPr>
            <a:picLocks noChangeAspect="1"/>
          </p:cNvPicPr>
          <p:nvPr/>
        </p:nvPicPr>
        <p:blipFill>
          <a:blip r:embed="rId1"/>
          <a:srcRect l="34206" t="47130" r="31000" b="40936"/>
          <a:stretch>
            <a:fillRect/>
          </a:stretch>
        </p:blipFill>
        <p:spPr>
          <a:xfrm>
            <a:off x="962025" y="1466850"/>
            <a:ext cx="7221538" cy="3505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Comparison between Systems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830" name="Group 110"/>
          <p:cNvGraphicFramePr>
            <a:graphicFrameLocks noGrp="1"/>
          </p:cNvGraphicFramePr>
          <p:nvPr/>
        </p:nvGraphicFramePr>
        <p:xfrm>
          <a:off x="430213" y="1447800"/>
          <a:ext cx="8350250" cy="4608516"/>
        </p:xfrm>
        <a:graphic>
          <a:graphicData uri="http://schemas.openxmlformats.org/drawingml/2006/table">
            <a:tbl>
              <a:tblPr/>
              <a:tblGrid>
                <a:gridCol w="2493962"/>
                <a:gridCol w="1330325"/>
                <a:gridCol w="1495425"/>
                <a:gridCol w="1384300"/>
                <a:gridCol w="1646238"/>
              </a:tblGrid>
              <a:tr h="447621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Item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Distributed OS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Network OS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Middleware-based OS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2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Multiproc.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Multicomp.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5791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Degree of transparency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Very High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High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Low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High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Same OS on all nodes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Number of copies of OS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Basis for communication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Shared memory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Messages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Files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Model specific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Resource management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Global, central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Global, distributed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Per node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Per node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Scalability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Moderately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Varies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4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Openness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Closed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Closed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Open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Open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78" name="Rectangle 1046"/>
          <p:cNvSpPr>
            <a:spLocks noChangeArrowheads="1"/>
          </p:cNvSpPr>
          <p:nvPr/>
        </p:nvSpPr>
        <p:spPr bwMode="auto">
          <a:xfrm>
            <a:off x="950913" y="158750"/>
            <a:ext cx="7315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计算机技术的发展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pSp>
        <p:nvGrpSpPr>
          <p:cNvPr id="63491" name="Group 1047"/>
          <p:cNvGrpSpPr/>
          <p:nvPr/>
        </p:nvGrpSpPr>
        <p:grpSpPr>
          <a:xfrm>
            <a:off x="679450" y="857250"/>
            <a:ext cx="8204200" cy="5203825"/>
            <a:chOff x="720" y="960"/>
            <a:chExt cx="4398" cy="3168"/>
          </a:xfrm>
        </p:grpSpPr>
        <p:sp>
          <p:nvSpPr>
            <p:cNvPr id="63493" name="Rectangle 1048"/>
            <p:cNvSpPr/>
            <p:nvPr/>
          </p:nvSpPr>
          <p:spPr>
            <a:xfrm>
              <a:off x="3744" y="1206"/>
              <a:ext cx="1008" cy="432"/>
            </a:xfrm>
            <a:prstGeom prst="rect">
              <a:avLst/>
            </a:prstGeom>
            <a:solidFill>
              <a:srgbClr val="66FFCC"/>
            </a:solidFill>
            <a:ln w="12700" cap="flat" cmpd="sng">
              <a:solidFill>
                <a:srgbClr val="F3E89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494" name="Rectangle 1049"/>
            <p:cNvSpPr/>
            <p:nvPr/>
          </p:nvSpPr>
          <p:spPr>
            <a:xfrm>
              <a:off x="2736" y="1638"/>
              <a:ext cx="1008" cy="432"/>
            </a:xfrm>
            <a:prstGeom prst="rect">
              <a:avLst/>
            </a:prstGeom>
            <a:solidFill>
              <a:srgbClr val="66FFCC"/>
            </a:solidFill>
            <a:ln w="12700" cap="flat" cmpd="sng">
              <a:solidFill>
                <a:srgbClr val="F3E89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495" name="Rectangle 1050"/>
            <p:cNvSpPr/>
            <p:nvPr/>
          </p:nvSpPr>
          <p:spPr>
            <a:xfrm>
              <a:off x="1728" y="2070"/>
              <a:ext cx="1008" cy="432"/>
            </a:xfrm>
            <a:prstGeom prst="rect">
              <a:avLst/>
            </a:prstGeom>
            <a:solidFill>
              <a:srgbClr val="66FFCC"/>
            </a:solidFill>
            <a:ln w="12700" cap="flat" cmpd="sng">
              <a:solidFill>
                <a:srgbClr val="F3E89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496" name="Rectangle 1051"/>
            <p:cNvSpPr/>
            <p:nvPr/>
          </p:nvSpPr>
          <p:spPr>
            <a:xfrm>
              <a:off x="720" y="2502"/>
              <a:ext cx="1008" cy="432"/>
            </a:xfrm>
            <a:prstGeom prst="rect">
              <a:avLst/>
            </a:prstGeom>
            <a:solidFill>
              <a:srgbClr val="66FFCC"/>
            </a:solidFill>
            <a:ln w="12700" cap="flat" cmpd="sng">
              <a:solidFill>
                <a:srgbClr val="F3E89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63497" name="Picture 1052" descr="gol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0" y="2358"/>
              <a:ext cx="142" cy="1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498" name="Text Box 1053"/>
            <p:cNvSpPr txBox="1"/>
            <p:nvPr/>
          </p:nvSpPr>
          <p:spPr>
            <a:xfrm>
              <a:off x="742" y="2646"/>
              <a:ext cx="1002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None/>
              </a:pPr>
              <a:r>
                <a:rPr lang="zh-CN" altLang="en-US" sz="1600" dirty="0">
                  <a:ea typeface="宋体" panose="02010600030101010101" pitchFamily="2" charset="-122"/>
                </a:rPr>
                <a:t>  </a:t>
              </a: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大型机</a:t>
              </a:r>
              <a:r>
                <a:rPr lang="en-US" altLang="zh-CN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---</a:t>
              </a: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终端</a:t>
              </a:r>
              <a:endParaRPr lang="zh-CN" altLang="en-US" sz="1600" b="1" dirty="0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499" name="Text Box 1054"/>
            <p:cNvSpPr txBox="1"/>
            <p:nvPr/>
          </p:nvSpPr>
          <p:spPr>
            <a:xfrm>
              <a:off x="1846" y="2118"/>
              <a:ext cx="87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客户机</a:t>
              </a:r>
              <a:r>
                <a:rPr lang="en-US" altLang="zh-CN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-</a:t>
              </a: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服务器</a:t>
              </a:r>
              <a:endParaRPr lang="zh-CN" altLang="en-US" sz="1600" b="1" dirty="0">
                <a:solidFill>
                  <a:srgbClr val="00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微机</a:t>
              </a:r>
              <a:r>
                <a:rPr lang="en-US" altLang="zh-CN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-</a:t>
              </a: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局域网</a:t>
              </a:r>
              <a:endParaRPr lang="zh-CN" altLang="en-US" sz="1600" b="1" dirty="0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00" name="Text Box 1055"/>
            <p:cNvSpPr txBox="1"/>
            <p:nvPr/>
          </p:nvSpPr>
          <p:spPr>
            <a:xfrm>
              <a:off x="2987" y="1788"/>
              <a:ext cx="565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互联网</a:t>
              </a:r>
              <a:endParaRPr lang="zh-CN" altLang="en-US" sz="1600" b="1" dirty="0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01" name="Text Box 1056"/>
            <p:cNvSpPr txBox="1"/>
            <p:nvPr/>
          </p:nvSpPr>
          <p:spPr>
            <a:xfrm>
              <a:off x="3817" y="1344"/>
              <a:ext cx="935" cy="18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按需</a:t>
              </a:r>
              <a:r>
                <a:rPr lang="en-US" altLang="zh-CN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1600" b="1" dirty="0">
                  <a:solidFill>
                    <a:srgbClr val="000066"/>
                  </a:solidFill>
                  <a:ea typeface="宋体" panose="02010600030101010101" pitchFamily="2" charset="-122"/>
                </a:rPr>
                <a:t>普适计算</a:t>
              </a:r>
              <a:endParaRPr lang="zh-CN" altLang="en-US" sz="1600" b="1" dirty="0">
                <a:solidFill>
                  <a:srgbClr val="00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02" name="Text Box 1057"/>
            <p:cNvSpPr txBox="1"/>
            <p:nvPr/>
          </p:nvSpPr>
          <p:spPr>
            <a:xfrm>
              <a:off x="816" y="2310"/>
              <a:ext cx="538" cy="2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600" b="1" dirty="0">
                  <a:solidFill>
                    <a:srgbClr val="0606FF"/>
                  </a:solidFill>
                  <a:ea typeface="宋体" panose="02010600030101010101" pitchFamily="2" charset="-122"/>
                </a:rPr>
                <a:t>第一阶段</a:t>
              </a:r>
              <a:endParaRPr lang="zh-CN" altLang="en-US" sz="1600" b="1" dirty="0">
                <a:solidFill>
                  <a:srgbClr val="0606FF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63503" name="Picture 1058" descr="gol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28" y="1926"/>
              <a:ext cx="142" cy="1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04" name="Text Box 1059"/>
            <p:cNvSpPr txBox="1"/>
            <p:nvPr/>
          </p:nvSpPr>
          <p:spPr>
            <a:xfrm>
              <a:off x="1824" y="1878"/>
              <a:ext cx="538" cy="2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600" b="1" dirty="0">
                  <a:solidFill>
                    <a:srgbClr val="0606FF"/>
                  </a:solidFill>
                  <a:ea typeface="宋体" panose="02010600030101010101" pitchFamily="2" charset="-122"/>
                </a:rPr>
                <a:t>第二阶段</a:t>
              </a:r>
              <a:endParaRPr lang="zh-CN" altLang="en-US" sz="1600" b="1" dirty="0">
                <a:solidFill>
                  <a:srgbClr val="0606FF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63505" name="Picture 1060" descr="gol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36" y="1494"/>
              <a:ext cx="142" cy="1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06" name="Text Box 1061"/>
            <p:cNvSpPr txBox="1"/>
            <p:nvPr/>
          </p:nvSpPr>
          <p:spPr>
            <a:xfrm>
              <a:off x="2832" y="1446"/>
              <a:ext cx="538" cy="2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600" b="1" dirty="0">
                  <a:solidFill>
                    <a:srgbClr val="0606FF"/>
                  </a:solidFill>
                  <a:ea typeface="宋体" panose="02010600030101010101" pitchFamily="2" charset="-122"/>
                </a:rPr>
                <a:t>第三阶段</a:t>
              </a:r>
              <a:endParaRPr lang="zh-CN" altLang="en-US" sz="1600" b="1" dirty="0">
                <a:solidFill>
                  <a:srgbClr val="0606FF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63507" name="Picture 1062" descr="gol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44" y="1062"/>
              <a:ext cx="142" cy="1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08" name="Text Box 1063"/>
            <p:cNvSpPr txBox="1"/>
            <p:nvPr/>
          </p:nvSpPr>
          <p:spPr>
            <a:xfrm>
              <a:off x="3840" y="1014"/>
              <a:ext cx="538" cy="2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600" b="1" dirty="0">
                  <a:solidFill>
                    <a:srgbClr val="0606FF"/>
                  </a:solidFill>
                  <a:ea typeface="宋体" panose="02010600030101010101" pitchFamily="2" charset="-122"/>
                </a:rPr>
                <a:t>第四阶段</a:t>
              </a:r>
              <a:endParaRPr lang="zh-CN" altLang="en-US" sz="1600" b="1" dirty="0">
                <a:solidFill>
                  <a:srgbClr val="060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09" name="Rectangle 1064"/>
            <p:cNvSpPr/>
            <p:nvPr/>
          </p:nvSpPr>
          <p:spPr>
            <a:xfrm>
              <a:off x="1728" y="2496"/>
              <a:ext cx="1008" cy="1488"/>
            </a:xfrm>
            <a:prstGeom prst="rect">
              <a:avLst/>
            </a:prstGeom>
            <a:solidFill>
              <a:srgbClr val="FFFF66"/>
            </a:solidFill>
            <a:ln w="12700" cap="flat" cmpd="sng">
              <a:solidFill>
                <a:srgbClr val="69583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510" name="Text Box 1065"/>
            <p:cNvSpPr txBox="1"/>
            <p:nvPr/>
          </p:nvSpPr>
          <p:spPr>
            <a:xfrm>
              <a:off x="1824" y="2544"/>
              <a:ext cx="864" cy="13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800000"/>
                  </a:solidFill>
                  <a:latin typeface="仿宋_GB2312" pitchFamily="49" charset="-122"/>
                  <a:ea typeface="仿宋_GB2312" pitchFamily="49" charset="-122"/>
                </a:rPr>
                <a:t>初期普及阶段</a:t>
              </a:r>
              <a:endParaRPr lang="zh-CN" altLang="en-US" sz="1600" b="1" dirty="0">
                <a:solidFill>
                  <a:srgbClr val="800000"/>
                </a:solidFill>
                <a:latin typeface="仿宋_GB2312" pitchFamily="49" charset="-122"/>
                <a:ea typeface="仿宋_GB2312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None/>
              </a:pPr>
              <a:endParaRPr lang="zh-CN" altLang="en-US" sz="1600" b="1" dirty="0">
                <a:solidFill>
                  <a:srgbClr val="800000"/>
                </a:solidFill>
                <a:latin typeface="仿宋_GB2312" pitchFamily="49" charset="-122"/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FF"/>
                  </a:solidFill>
                  <a:latin typeface="仿宋_GB2312" pitchFamily="49" charset="-122"/>
                  <a:ea typeface="仿宋_GB2312" pitchFamily="49" charset="-122"/>
                </a:rPr>
                <a:t>    更多专家以及一般用户开始使用，用户要很好地使用需要深入了解计算机知识。 </a:t>
              </a:r>
              <a:endParaRPr lang="zh-CN" altLang="en-US" sz="16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63511" name="AutoShape 1066"/>
            <p:cNvSpPr/>
            <p:nvPr/>
          </p:nvSpPr>
          <p:spPr>
            <a:xfrm>
              <a:off x="4752" y="1008"/>
              <a:ext cx="144" cy="3120"/>
            </a:xfrm>
            <a:prstGeom prst="upArrow">
              <a:avLst>
                <a:gd name="adj1" fmla="val 50000"/>
                <a:gd name="adj2" fmla="val 541566"/>
              </a:avLst>
            </a:prstGeom>
            <a:solidFill>
              <a:schemeClr val="accent1"/>
            </a:solidFill>
            <a:ln w="12700" cap="flat" cmpd="sng">
              <a:solidFill>
                <a:srgbClr val="F3E89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512" name="Text Box 1067"/>
            <p:cNvSpPr txBox="1"/>
            <p:nvPr/>
          </p:nvSpPr>
          <p:spPr>
            <a:xfrm>
              <a:off x="4848" y="1008"/>
              <a:ext cx="240" cy="175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400" b="1" dirty="0">
                  <a:solidFill>
                    <a:srgbClr val="000066"/>
                  </a:solidFill>
                  <a:ea typeface="仿宋_GB2312" pitchFamily="49" charset="-122"/>
                </a:rPr>
                <a:t>对国民经济和</a:t>
              </a:r>
              <a:endParaRPr lang="zh-CN" altLang="en-US" sz="1400" b="1" dirty="0">
                <a:solidFill>
                  <a:srgbClr val="000066"/>
                </a:solidFill>
                <a:ea typeface="仿宋_GB2312" pitchFamily="49" charset="-122"/>
              </a:endParaRPr>
            </a:p>
            <a:p>
              <a:pPr marL="0" lvl="0" indent="0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400" b="1" dirty="0">
                  <a:solidFill>
                    <a:srgbClr val="000066"/>
                  </a:solidFill>
                  <a:ea typeface="仿宋_GB2312" pitchFamily="49" charset="-122"/>
                </a:rPr>
                <a:t>社会发展的影响</a:t>
              </a:r>
              <a:endParaRPr lang="zh-CN" altLang="en-US" sz="1400" b="1" dirty="0">
                <a:solidFill>
                  <a:srgbClr val="000066"/>
                </a:solidFill>
                <a:ea typeface="仿宋_GB2312" pitchFamily="49" charset="-122"/>
              </a:endParaRPr>
            </a:p>
          </p:txBody>
        </p:sp>
        <p:sp>
          <p:nvSpPr>
            <p:cNvPr id="63513" name="AutoShape 1068"/>
            <p:cNvSpPr/>
            <p:nvPr/>
          </p:nvSpPr>
          <p:spPr>
            <a:xfrm flipV="1">
              <a:off x="1488" y="960"/>
              <a:ext cx="912" cy="576"/>
            </a:xfrm>
            <a:prstGeom prst="wedgeEllipseCallout">
              <a:avLst>
                <a:gd name="adj1" fmla="val 192981"/>
                <a:gd name="adj2" fmla="val -44273"/>
              </a:avLst>
            </a:prstGeom>
            <a:solidFill>
              <a:srgbClr val="DAD7D2"/>
            </a:solidFill>
            <a:ln w="127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>
                  <a:srgbClr val="663300"/>
                </a:buClr>
                <a:buFont typeface="Wingdings" panose="05000000000000000000" pitchFamily="2" charset="2"/>
                <a:buChar char="§"/>
              </a:pPr>
              <a:endParaRPr lang="zh-CN" altLang="en-US" sz="1600" dirty="0">
                <a:solidFill>
                  <a:srgbClr val="0606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14" name="Text Box 1069"/>
            <p:cNvSpPr txBox="1"/>
            <p:nvPr/>
          </p:nvSpPr>
          <p:spPr>
            <a:xfrm>
              <a:off x="1680" y="1056"/>
              <a:ext cx="76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None/>
              </a:pPr>
              <a:r>
                <a:rPr lang="zh-CN" altLang="en-US" sz="1800" b="1" dirty="0">
                  <a:solidFill>
                    <a:srgbClr val="FF0000"/>
                  </a:solidFill>
                  <a:ea typeface="仿宋_GB2312" pitchFamily="49" charset="-122"/>
                </a:rPr>
                <a:t>目前阶段</a:t>
              </a:r>
              <a:endParaRPr lang="zh-CN" altLang="en-US" sz="1800" b="1" dirty="0">
                <a:solidFill>
                  <a:srgbClr val="FF0000"/>
                </a:solidFill>
                <a:ea typeface="仿宋_GB2312" pitchFamily="49" charset="-122"/>
              </a:endParaRPr>
            </a:p>
          </p:txBody>
        </p:sp>
        <p:sp>
          <p:nvSpPr>
            <p:cNvPr id="63515" name="Rectangle 1070"/>
            <p:cNvSpPr/>
            <p:nvPr/>
          </p:nvSpPr>
          <p:spPr>
            <a:xfrm>
              <a:off x="720" y="2928"/>
              <a:ext cx="1008" cy="1200"/>
            </a:xfrm>
            <a:prstGeom prst="rect">
              <a:avLst/>
            </a:prstGeom>
            <a:solidFill>
              <a:srgbClr val="FFFF66"/>
            </a:solidFill>
            <a:ln w="12700" cap="flat" cmpd="sng">
              <a:solidFill>
                <a:srgbClr val="69583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516" name="Text Box 1071"/>
            <p:cNvSpPr txBox="1"/>
            <p:nvPr/>
          </p:nvSpPr>
          <p:spPr>
            <a:xfrm>
              <a:off x="768" y="3024"/>
              <a:ext cx="901" cy="11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800000"/>
                  </a:solidFill>
                  <a:latin typeface="仿宋_GB2312" pitchFamily="49" charset="-122"/>
                  <a:ea typeface="仿宋_GB2312" pitchFamily="49" charset="-122"/>
                </a:rPr>
                <a:t>专家阶段</a:t>
              </a:r>
              <a:endParaRPr lang="zh-CN" altLang="en-US" sz="1600" b="1" dirty="0">
                <a:solidFill>
                  <a:srgbClr val="800000"/>
                </a:solidFill>
                <a:latin typeface="仿宋_GB2312" pitchFamily="49" charset="-122"/>
                <a:ea typeface="仿宋_GB2312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None/>
              </a:pPr>
              <a:endParaRPr lang="zh-CN" altLang="en-US" sz="1600" b="1" dirty="0">
                <a:solidFill>
                  <a:srgbClr val="800000"/>
                </a:solidFill>
                <a:latin typeface="仿宋_GB2312" pitchFamily="49" charset="-122"/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FF"/>
                  </a:solidFill>
                  <a:latin typeface="仿宋_GB2312" pitchFamily="49" charset="-122"/>
                  <a:ea typeface="仿宋_GB2312" pitchFamily="49" charset="-122"/>
                </a:rPr>
                <a:t>    计算机仅供少数专家和专业人员使用，社会公众很难用上。</a:t>
              </a:r>
              <a:r>
                <a:rPr lang="zh-CN" altLang="en-US" sz="1400" b="1" dirty="0">
                  <a:solidFill>
                    <a:srgbClr val="0000FF"/>
                  </a:solidFill>
                  <a:latin typeface="仿宋_GB2312" pitchFamily="49" charset="-122"/>
                  <a:ea typeface="仿宋_GB2312" pitchFamily="49" charset="-122"/>
                </a:rPr>
                <a:t> </a:t>
              </a:r>
              <a:endParaRPr lang="zh-CN" altLang="en-US" sz="1400" b="1" dirty="0">
                <a:solidFill>
                  <a:srgbClr val="0000FF"/>
                </a:solidFill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63517" name="Rectangle 1072"/>
            <p:cNvSpPr/>
            <p:nvPr/>
          </p:nvSpPr>
          <p:spPr>
            <a:xfrm>
              <a:off x="2736" y="2064"/>
              <a:ext cx="1008" cy="1776"/>
            </a:xfrm>
            <a:prstGeom prst="rect">
              <a:avLst/>
            </a:prstGeom>
            <a:solidFill>
              <a:srgbClr val="FFFF66"/>
            </a:solidFill>
            <a:ln w="12700" cap="flat" cmpd="sng">
              <a:solidFill>
                <a:srgbClr val="69583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518" name="Text Box 1073"/>
            <p:cNvSpPr txBox="1"/>
            <p:nvPr/>
          </p:nvSpPr>
          <p:spPr>
            <a:xfrm>
              <a:off x="2832" y="2112"/>
              <a:ext cx="864" cy="16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800000"/>
                  </a:solidFill>
                  <a:ea typeface="仿宋_GB2312" pitchFamily="49" charset="-122"/>
                </a:rPr>
                <a:t>公众认识阶段</a:t>
              </a:r>
              <a:endParaRPr lang="zh-CN" altLang="en-US" sz="1600" b="1" dirty="0">
                <a:solidFill>
                  <a:srgbClr val="800000"/>
                </a:solidFill>
                <a:ea typeface="仿宋_GB2312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None/>
              </a:pPr>
              <a:endParaRPr lang="zh-CN" altLang="en-US" sz="1600" b="1" dirty="0">
                <a:solidFill>
                  <a:srgbClr val="800000"/>
                </a:solidFill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FF"/>
                  </a:solidFill>
                  <a:ea typeface="仿宋_GB2312" pitchFamily="49" charset="-122"/>
                </a:rPr>
                <a:t>       因特网和</a:t>
              </a:r>
              <a:r>
                <a:rPr lang="en-US" altLang="zh-CN" sz="1600" b="1" dirty="0">
                  <a:solidFill>
                    <a:srgbClr val="0000FF"/>
                  </a:solidFill>
                  <a:ea typeface="仿宋_GB2312" pitchFamily="49" charset="-122"/>
                </a:rPr>
                <a:t>Web</a:t>
              </a:r>
              <a:r>
                <a:rPr lang="zh-CN" altLang="en-US" sz="1600" b="1" dirty="0">
                  <a:solidFill>
                    <a:srgbClr val="0000FF"/>
                  </a:solidFill>
                  <a:ea typeface="仿宋_GB2312" pitchFamily="49" charset="-122"/>
                </a:rPr>
                <a:t>时代，信息技术已在公众中流行起来，但用户仍然需要知道一些计算机和信息技术的知识。 </a:t>
              </a:r>
              <a:endParaRPr lang="zh-CN" altLang="en-US" sz="1600" b="1" dirty="0">
                <a:solidFill>
                  <a:srgbClr val="0000FF"/>
                </a:solidFill>
                <a:ea typeface="仿宋_GB2312" pitchFamily="49" charset="-122"/>
              </a:endParaRPr>
            </a:p>
          </p:txBody>
        </p:sp>
        <p:sp>
          <p:nvSpPr>
            <p:cNvPr id="63519" name="Rectangle 1074"/>
            <p:cNvSpPr/>
            <p:nvPr/>
          </p:nvSpPr>
          <p:spPr>
            <a:xfrm>
              <a:off x="3744" y="1632"/>
              <a:ext cx="1008" cy="2064"/>
            </a:xfrm>
            <a:prstGeom prst="rect">
              <a:avLst/>
            </a:prstGeom>
            <a:solidFill>
              <a:srgbClr val="FFFF66"/>
            </a:solidFill>
            <a:ln w="12700" cap="flat" cmpd="sng">
              <a:solidFill>
                <a:srgbClr val="69583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520" name="Text Box 1075"/>
            <p:cNvSpPr txBox="1"/>
            <p:nvPr/>
          </p:nvSpPr>
          <p:spPr>
            <a:xfrm>
              <a:off x="3840" y="1680"/>
              <a:ext cx="816" cy="13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800000"/>
                  </a:solidFill>
                  <a:ea typeface="仿宋_GB2312" pitchFamily="49" charset="-122"/>
                </a:rPr>
                <a:t>广泛普及阶段</a:t>
              </a:r>
              <a:endParaRPr lang="zh-CN" altLang="en-US" sz="1600" b="1" dirty="0">
                <a:solidFill>
                  <a:srgbClr val="800000"/>
                </a:solidFill>
                <a:ea typeface="仿宋_GB2312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None/>
              </a:pPr>
              <a:endParaRPr lang="zh-CN" altLang="en-US" sz="1600" b="1" dirty="0">
                <a:solidFill>
                  <a:srgbClr val="800000"/>
                </a:solidFill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0000FF"/>
                  </a:solidFill>
                  <a:ea typeface="仿宋_GB2312" pitchFamily="49" charset="-122"/>
                </a:rPr>
                <a:t>         用户已经看不见技术，也不需要知道技术，只要看得到技术带来的好处。</a:t>
              </a:r>
              <a:endParaRPr lang="zh-CN" altLang="en-US" sz="1600" b="1" dirty="0">
                <a:solidFill>
                  <a:srgbClr val="0000FF"/>
                </a:solidFill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endParaRPr lang="zh-CN" altLang="en-US" sz="1600" b="1" dirty="0">
                <a:solidFill>
                  <a:srgbClr val="0000FF"/>
                </a:solidFill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r>
                <a:rPr lang="zh-CN" altLang="en-US" sz="1600" b="1" dirty="0">
                  <a:solidFill>
                    <a:srgbClr val="FF3300"/>
                  </a:solidFill>
                  <a:ea typeface="仿宋_GB2312" pitchFamily="49" charset="-122"/>
                </a:rPr>
                <a:t>其他</a:t>
              </a:r>
              <a:r>
                <a:rPr lang="en-US" altLang="zh-CN" sz="1600" b="1" dirty="0">
                  <a:solidFill>
                    <a:srgbClr val="FF3300"/>
                  </a:solidFill>
                  <a:ea typeface="仿宋_GB2312" pitchFamily="49" charset="-122"/>
                </a:rPr>
                <a:t>: </a:t>
              </a:r>
              <a:r>
                <a:rPr lang="zh-CN" altLang="en-US" sz="1600" b="1" dirty="0">
                  <a:solidFill>
                    <a:srgbClr val="FF3300"/>
                  </a:solidFill>
                  <a:ea typeface="仿宋_GB2312" pitchFamily="49" charset="-122"/>
                </a:rPr>
                <a:t>云计算</a:t>
              </a:r>
              <a:r>
                <a:rPr lang="en-US" altLang="zh-CN" sz="1600" b="1" dirty="0">
                  <a:solidFill>
                    <a:srgbClr val="FF3300"/>
                  </a:solidFill>
                  <a:ea typeface="仿宋_GB2312" pitchFamily="49" charset="-122"/>
                </a:rPr>
                <a:t>,</a:t>
              </a:r>
              <a:r>
                <a:rPr lang="zh-CN" altLang="en-US" sz="1600" b="1" dirty="0">
                  <a:solidFill>
                    <a:srgbClr val="FF3300"/>
                  </a:solidFill>
                  <a:ea typeface="仿宋_GB2312" pitchFamily="49" charset="-122"/>
                </a:rPr>
                <a:t>物联网等</a:t>
              </a:r>
              <a:r>
                <a:rPr lang="en-US" altLang="zh-CN" sz="1600" b="1" dirty="0">
                  <a:solidFill>
                    <a:srgbClr val="FF3300"/>
                  </a:solidFill>
                  <a:ea typeface="仿宋_GB2312" pitchFamily="49" charset="-122"/>
                </a:rPr>
                <a:t>.</a:t>
              </a:r>
              <a:endParaRPr lang="en-US" altLang="zh-CN" sz="1600" b="1" dirty="0">
                <a:solidFill>
                  <a:srgbClr val="FF3300"/>
                </a:solidFill>
                <a:ea typeface="仿宋_GB2312" pitchFamily="49" charset="-122"/>
              </a:endParaRPr>
            </a:p>
            <a:p>
              <a:pPr marL="0" lvl="0" indent="0" algn="l">
                <a:spcBef>
                  <a:spcPct val="0"/>
                </a:spcBef>
                <a:buClrTx/>
                <a:buNone/>
              </a:pPr>
              <a:endParaRPr lang="en-US" altLang="zh-CN" sz="1600" b="1" dirty="0">
                <a:solidFill>
                  <a:srgbClr val="FF3300"/>
                </a:solidFill>
                <a:ea typeface="仿宋_GB2312" pitchFamily="49" charset="-122"/>
              </a:endParaRPr>
            </a:p>
          </p:txBody>
        </p:sp>
        <p:sp>
          <p:nvSpPr>
            <p:cNvPr id="63521" name="Oval 1076"/>
            <p:cNvSpPr/>
            <p:nvPr/>
          </p:nvSpPr>
          <p:spPr>
            <a:xfrm>
              <a:off x="3600" y="1488"/>
              <a:ext cx="288" cy="240"/>
            </a:xfrm>
            <a:prstGeom prst="ellipse">
              <a:avLst/>
            </a:prstGeom>
            <a:noFill/>
            <a:ln w="38100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522" name="Line 1077"/>
            <p:cNvSpPr/>
            <p:nvPr/>
          </p:nvSpPr>
          <p:spPr>
            <a:xfrm>
              <a:off x="720" y="4128"/>
              <a:ext cx="4320" cy="0"/>
            </a:xfrm>
            <a:prstGeom prst="line">
              <a:avLst/>
            </a:prstGeom>
            <a:ln w="28575" cap="flat" cmpd="sng">
              <a:solidFill>
                <a:srgbClr val="69583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23" name="Text Box 1078"/>
            <p:cNvSpPr txBox="1"/>
            <p:nvPr/>
          </p:nvSpPr>
          <p:spPr>
            <a:xfrm>
              <a:off x="4800" y="3916"/>
              <a:ext cx="318" cy="2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>
                <a:spcBef>
                  <a:spcPct val="0"/>
                </a:spcBef>
                <a:buClr>
                  <a:srgbClr val="663300"/>
                </a:buClr>
                <a:buNone/>
              </a:pPr>
              <a:r>
                <a:rPr lang="zh-CN" altLang="en-US" sz="1600" b="1" dirty="0">
                  <a:solidFill>
                    <a:srgbClr val="000066"/>
                  </a:solidFill>
                  <a:ea typeface="仿宋_GB2312" pitchFamily="49" charset="-122"/>
                </a:rPr>
                <a:t>时间</a:t>
              </a:r>
              <a:endParaRPr lang="zh-CN" altLang="en-US" sz="1600" b="1" dirty="0">
                <a:solidFill>
                  <a:srgbClr val="000066"/>
                </a:solidFill>
                <a:ea typeface="仿宋_GB2312" pitchFamily="49" charset="-122"/>
              </a:endParaRPr>
            </a:p>
          </p:txBody>
        </p:sp>
      </p:grpSp>
      <p:sp>
        <p:nvSpPr>
          <p:cNvPr id="45111" name="Text Box 1079"/>
          <p:cNvSpPr txBox="1">
            <a:spLocks noChangeArrowheads="1"/>
          </p:cNvSpPr>
          <p:nvPr/>
        </p:nvSpPr>
        <p:spPr bwMode="auto">
          <a:xfrm>
            <a:off x="2627313" y="6107113"/>
            <a:ext cx="6121400" cy="6413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（摘自李院士的报告</a:t>
            </a:r>
            <a:r>
              <a:rPr kumimoji="1" lang="en-US" altLang="zh-CN" sz="3600" b="1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en-US" sz="3600" b="1" kern="1200" cap="none" spc="0" normalizeH="0" baseline="0" noProof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3"/>
          <p:cNvSpPr>
            <a:spLocks noGrp="1"/>
          </p:cNvSpPr>
          <p:nvPr>
            <p:ph idx="4294967295"/>
          </p:nvPr>
        </p:nvSpPr>
        <p:spPr>
          <a:xfrm>
            <a:off x="285750" y="1571625"/>
            <a:ext cx="8567738" cy="4298950"/>
          </a:xfrm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2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Local area networks</a:t>
            </a:r>
            <a:endParaRPr lang="en-US" altLang="zh-CN" sz="32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sz="32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Internet</a:t>
            </a:r>
            <a:endParaRPr lang="en-US" altLang="zh-CN" sz="32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sz="32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Mobile networks</a:t>
            </a:r>
            <a:endParaRPr lang="en-US" altLang="zh-CN" sz="32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sz="32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Wireless networks</a:t>
            </a:r>
            <a:endParaRPr lang="en-US" altLang="zh-CN" sz="32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sz="32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Sensor networks</a:t>
            </a:r>
            <a:endParaRPr lang="en-US" altLang="zh-CN" sz="32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sz="32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Internet of Things</a:t>
            </a:r>
            <a:endParaRPr lang="en-US" altLang="zh-CN" sz="32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765175"/>
          </a:xfrm>
          <a:prstGeom prst="rect">
            <a:avLst/>
          </a:prstGeom>
        </p:spPr>
        <p:txBody>
          <a:bodyPr/>
          <a:lstStyle/>
          <a:p>
            <a:pPr marR="0" algn="ctr" defTabSz="914400" eaLnBrk="1" hangingPunct="1">
              <a:lnSpc>
                <a:spcPct val="90000"/>
              </a:lnSpc>
              <a:buClrTx/>
              <a:buSzTx/>
              <a:buFontTx/>
              <a:buNone/>
              <a:defRPr/>
            </a:pPr>
            <a:endParaRPr kumimoji="0" lang="en-US" altLang="zh-CN" sz="4000" b="1" kern="1200" cap="none" spc="0" normalizeH="0" baseline="0" noProof="0">
              <a:solidFill>
                <a:srgbClr val="FFFF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Rounded MT Bold" panose="020F070403050403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64516" name="Title 1"/>
          <p:cNvSpPr txBox="1"/>
          <p:nvPr/>
        </p:nvSpPr>
        <p:spPr>
          <a:xfrm>
            <a:off x="179388" y="692150"/>
            <a:ext cx="8748712" cy="865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3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70</a:t>
            </a:r>
            <a:r>
              <a:rPr lang="zh-CN" altLang="en-US" sz="3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年代后：</a:t>
            </a:r>
            <a:r>
              <a:rPr lang="en-US" altLang="zh-CN" sz="3600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Change of underlying networks</a:t>
            </a:r>
            <a:endParaRPr lang="en-US" altLang="zh-CN" sz="3600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017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017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50177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177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charRg st="2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0177">
                                            <p:txEl>
                                              <p:charRg st="2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0177">
                                            <p:txEl>
                                              <p:charRg st="29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0177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0177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charRg st="63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50177">
                                            <p:txEl>
                                              <p:charRg st="63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0177">
                                            <p:txEl>
                                              <p:charRg st="63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50177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0177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>
            <a:spLocks noGrp="1"/>
          </p:cNvSpPr>
          <p:nvPr>
            <p:ph idx="1"/>
          </p:nvPr>
        </p:nvSpPr>
        <p:spPr>
          <a:xfrm>
            <a:off x="285750" y="785813"/>
            <a:ext cx="8640763" cy="5143500"/>
          </a:xfrm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Cloud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Transaction processing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Distributed object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Internet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Service-oriented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Mobile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Pervasive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Social computing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Cyber-physical systems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  <a:p>
            <a:pPr lvl="1" eaLnBrk="1" hangingPunct="1"/>
            <a:r>
              <a:rPr lang="en-US" altLang="zh-CN" dirty="0">
                <a:solidFill>
                  <a:srgbClr val="333399"/>
                </a:solidFill>
                <a:latin typeface="Calibri" panose="020F0502020204030204" pitchFamily="34" charset="0"/>
                <a:ea typeface="PMingLiU" pitchFamily="18" charset="-120"/>
              </a:rPr>
              <a:t>……</a:t>
            </a:r>
            <a:endParaRPr lang="en-US" altLang="zh-CN" dirty="0">
              <a:solidFill>
                <a:srgbClr val="333399"/>
              </a:solidFill>
              <a:latin typeface="Calibri" panose="020F0502020204030204" pitchFamily="34" charset="0"/>
              <a:ea typeface="PMingLiU" pitchFamily="18" charset="-120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5572132" y="1857364"/>
            <a:ext cx="3304027" cy="258532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99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Processing oriented</a:t>
            </a:r>
            <a:endParaRPr kumimoji="0" lang="en-US" sz="2000" b="1" i="0" u="none" strike="noStrike" kern="1200" cap="none" spc="0" normalizeH="0" baseline="0" noProof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333399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333399"/>
              </a:solidFill>
              <a:effectLst>
                <a:outerShdw blurRad="50800" algn="tl" rotWithShape="0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333399"/>
                </a:soli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Data oriented</a:t>
            </a:r>
            <a:endParaRPr kumimoji="0" lang="en-US" sz="2000" b="1" i="0" u="none" strike="noStrike" kern="1200" cap="none" spc="0" normalizeH="0" baseline="0" noProof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333399"/>
              </a:solidFill>
              <a:effectLst>
                <a:outerShdw blurRad="50800" algn="tl" rotWithShape="0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333399"/>
              </a:solidFill>
              <a:effectLst>
                <a:outerShdw blurRad="50800" algn="tl" rotWithShape="0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300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333399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Service oriented</a:t>
            </a:r>
            <a:endParaRPr kumimoji="0" lang="en-US" sz="2000" b="1" i="0" u="none" strike="noStrike" kern="1200" cap="none" spc="300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333399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300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333399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 w="1905"/>
                <a:solidFill>
                  <a:srgbClr val="33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Human oriented</a:t>
            </a:r>
            <a:endParaRPr kumimoji="0" lang="en-US" sz="2000" b="1" i="0" u="none" strike="noStrike" kern="1200" cap="none" spc="0" normalizeH="0" baseline="0" noProof="0" dirty="0">
              <a:ln w="1905"/>
              <a:solidFill>
                <a:srgbClr val="333399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 dirty="0">
              <a:ln w="1905"/>
              <a:solidFill>
                <a:srgbClr val="333399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333399"/>
                </a:soli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Application specific</a:t>
            </a:r>
            <a:endParaRPr kumimoji="0" lang="en-US" sz="2000" b="1" i="0" u="none" strike="noStrike" kern="1200" cap="none" spc="0" normalizeH="0" baseline="0" noProof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333399"/>
              </a:solidFill>
              <a:effectLst>
                <a:outerShdw blurRad="50800" algn="tl" rotWithShape="0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6565" name="Title 1"/>
          <p:cNvSpPr txBox="1"/>
          <p:nvPr/>
        </p:nvSpPr>
        <p:spPr>
          <a:xfrm>
            <a:off x="0" y="0"/>
            <a:ext cx="8748713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Calibri" panose="020F0502020204030204" pitchFamily="34" charset="0"/>
                <a:ea typeface="PMingLiU" pitchFamily="18" charset="-120"/>
              </a:rPr>
              <a:t>Change of applications and computing models</a:t>
            </a:r>
            <a:endParaRPr lang="en-US" altLang="zh-CN" sz="3600" dirty="0">
              <a:solidFill>
                <a:srgbClr val="FF0000"/>
              </a:solidFill>
              <a:latin typeface="Calibri" panose="020F0502020204030204" pitchFamily="34" charset="0"/>
              <a:ea typeface="PMingLiU" pitchFamily="18" charset="-120"/>
            </a:endParaRPr>
          </a:p>
        </p:txBody>
      </p:sp>
      <p:sp>
        <p:nvSpPr>
          <p:cNvPr id="82950" name="矩形 7"/>
          <p:cNvSpPr/>
          <p:nvPr/>
        </p:nvSpPr>
        <p:spPr>
          <a:xfrm>
            <a:off x="2071688" y="6000750"/>
            <a:ext cx="5072062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网络的变化与应用的多样性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9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charRg st="39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charRg st="39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charRg st="6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charRg st="68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87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charRg st="87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charRg st="87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14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charRg st="114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charRg st="114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5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charRg st="15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charRg st="151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68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charRg st="168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charRg st="168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91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charRg st="191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charRg st="191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7778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计算模式的困惑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67587" name="Rectangle 24"/>
          <p:cNvSpPr/>
          <p:nvPr/>
        </p:nvSpPr>
        <p:spPr>
          <a:xfrm>
            <a:off x="357188" y="1285875"/>
            <a:ext cx="3429000" cy="757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计算模式大爆炸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70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年代后）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7588" name="Rectangle 25"/>
          <p:cNvSpPr/>
          <p:nvPr/>
        </p:nvSpPr>
        <p:spPr>
          <a:xfrm>
            <a:off x="3709988" y="1214438"/>
            <a:ext cx="5135562" cy="425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生命大爆炸（寒武纪，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亿年前）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67589" name="Picture 26" descr="camfig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7688" y="1857375"/>
            <a:ext cx="405765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0" name="Rectangle 27"/>
          <p:cNvSpPr/>
          <p:nvPr/>
        </p:nvSpPr>
        <p:spPr>
          <a:xfrm>
            <a:off x="357188" y="2357438"/>
            <a:ext cx="3429000" cy="3646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形形色色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X-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计算层出不穷：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Web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Grid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SOA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IoT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WoT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 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P2P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Ubi/Pervasive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SmW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GreenIT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Cloud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Blockchain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、 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CPS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 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EaaS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r>
              <a:rPr lang="en-US" altLang="zh-CN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——</a:t>
            </a:r>
            <a:r>
              <a:rPr lang="zh-CN" altLang="en-US" sz="22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分布式计算。</a:t>
            </a:r>
            <a:endParaRPr lang="zh-CN" altLang="en-US" sz="22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标题 1"/>
          <p:cNvSpPr>
            <a:spLocks noGrp="1"/>
          </p:cNvSpPr>
          <p:nvPr>
            <p:ph type="title" idx="4294967295"/>
          </p:nvPr>
        </p:nvSpPr>
        <p:spPr>
          <a:xfrm>
            <a:off x="468313" y="188913"/>
            <a:ext cx="8229600" cy="79216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计算环境演化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900113" y="2852738"/>
            <a:ext cx="7056437" cy="2166937"/>
            <a:chOff x="431" y="1888"/>
            <a:chExt cx="4445" cy="1365"/>
          </a:xfrm>
        </p:grpSpPr>
        <p:pic>
          <p:nvPicPr>
            <p:cNvPr id="69645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6" y="1888"/>
              <a:ext cx="1315" cy="13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9646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3" y="1888"/>
              <a:ext cx="1270" cy="13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9647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0" y="1888"/>
              <a:ext cx="1406" cy="13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48" name="Text Box 15"/>
            <p:cNvSpPr txBox="1"/>
            <p:nvPr/>
          </p:nvSpPr>
          <p:spPr>
            <a:xfrm>
              <a:off x="894" y="2251"/>
              <a:ext cx="389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ClrTx/>
                <a:buNone/>
              </a:pPr>
              <a:r>
                <a:rPr lang="en-US" altLang="zh-CN" sz="1800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M-to-1                          1-to-1                                     1-to-M</a:t>
              </a:r>
              <a:endParaRPr lang="en-US" altLang="zh-CN" sz="18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9649" name="Text Box 22"/>
            <p:cNvSpPr txBox="1"/>
            <p:nvPr/>
          </p:nvSpPr>
          <p:spPr>
            <a:xfrm>
              <a:off x="431" y="3022"/>
              <a:ext cx="40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ClrTx/>
                <a:buNone/>
              </a:pPr>
              <a:r>
                <a:rPr lang="zh-CN" altLang="en-US" sz="1800" b="1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专业人员                      有专业要求的人员         任何人员</a:t>
              </a:r>
              <a:endPara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37"/>
          <p:cNvGrpSpPr/>
          <p:nvPr/>
        </p:nvGrpSpPr>
        <p:grpSpPr>
          <a:xfrm>
            <a:off x="755650" y="5157788"/>
            <a:ext cx="8137525" cy="720725"/>
            <a:chOff x="476" y="3249"/>
            <a:chExt cx="5126" cy="454"/>
          </a:xfrm>
        </p:grpSpPr>
        <p:sp>
          <p:nvSpPr>
            <p:cNvPr id="69643" name="Text Box 7"/>
            <p:cNvSpPr txBox="1"/>
            <p:nvPr/>
          </p:nvSpPr>
          <p:spPr>
            <a:xfrm>
              <a:off x="567" y="3249"/>
              <a:ext cx="476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ClrTx/>
                <a:buNone/>
              </a:pPr>
              <a:r>
                <a:rPr lang="en-US" altLang="zh-CN" sz="1800" dirty="0">
                  <a:solidFill>
                    <a:srgbClr val="3366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Mainframe            PCs/Handhelds        LAN      </a:t>
              </a:r>
              <a:r>
                <a:rPr lang="en-US" altLang="zh-CN" sz="1800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Internet </a:t>
              </a:r>
              <a:r>
                <a:rPr lang="en-US" altLang="zh-CN" sz="1800" dirty="0">
                  <a:solidFill>
                    <a:srgbClr val="3366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     IoT…….</a:t>
              </a:r>
              <a:endParaRPr lang="en-US" altLang="zh-CN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9644" name="AutoShape 26"/>
            <p:cNvSpPr/>
            <p:nvPr/>
          </p:nvSpPr>
          <p:spPr>
            <a:xfrm>
              <a:off x="476" y="3566"/>
              <a:ext cx="5126" cy="137"/>
            </a:xfrm>
            <a:prstGeom prst="rightArrow">
              <a:avLst>
                <a:gd name="adj1" fmla="val 50000"/>
                <a:gd name="adj2" fmla="val 93522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38"/>
          <p:cNvGrpSpPr/>
          <p:nvPr/>
        </p:nvGrpSpPr>
        <p:grpSpPr>
          <a:xfrm>
            <a:off x="0" y="1773238"/>
            <a:ext cx="7981950" cy="869950"/>
            <a:chOff x="0" y="1117"/>
            <a:chExt cx="5028" cy="548"/>
          </a:xfrm>
        </p:grpSpPr>
        <p:sp>
          <p:nvSpPr>
            <p:cNvPr id="69641" name="Text Box 19"/>
            <p:cNvSpPr txBox="1"/>
            <p:nvPr/>
          </p:nvSpPr>
          <p:spPr>
            <a:xfrm>
              <a:off x="657" y="1434"/>
              <a:ext cx="41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ClrTx/>
                <a:buNone/>
              </a:pPr>
              <a:r>
                <a:rPr lang="en-US" altLang="zh-CN" sz="1800" dirty="0">
                  <a:solidFill>
                    <a:srgbClr val="3366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Calculations                  Information                       Services</a:t>
              </a:r>
              <a:endParaRPr lang="zh-CN" altLang="en-US" sz="1800" dirty="0">
                <a:solidFill>
                  <a:srgbClr val="3366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9642" name="Rectangle 31"/>
            <p:cNvSpPr/>
            <p:nvPr/>
          </p:nvSpPr>
          <p:spPr>
            <a:xfrm>
              <a:off x="0" y="1117"/>
              <a:ext cx="50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r>
                <a:rPr lang="zh-CN" altLang="en-US" sz="1800" b="1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                计算为中心                  信息为中心                      用户为中心</a:t>
              </a:r>
              <a:endPara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1187450" y="1125538"/>
            <a:ext cx="6264275" cy="396875"/>
            <a:chOff x="748" y="709"/>
            <a:chExt cx="3946" cy="250"/>
          </a:xfrm>
        </p:grpSpPr>
        <p:sp>
          <p:nvSpPr>
            <p:cNvPr id="69639" name="Rectangle 34"/>
            <p:cNvSpPr/>
            <p:nvPr/>
          </p:nvSpPr>
          <p:spPr>
            <a:xfrm>
              <a:off x="748" y="709"/>
              <a:ext cx="39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0"/>
                </a:spcBef>
                <a:buClrTx/>
                <a:buNone/>
              </a:pPr>
              <a:r>
                <a:rPr lang="zh-CN" altLang="en-US" sz="2000" b="1" dirty="0">
                  <a:solidFill>
                    <a:srgbClr val="3366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计算模型：</a:t>
              </a:r>
              <a:r>
                <a:rPr lang="zh-CN" altLang="en-US" sz="2000" b="1" dirty="0">
                  <a:solidFill>
                    <a:srgbClr val="FF33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封闭可控                                开放不确定</a:t>
              </a:r>
              <a:endPara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9640" name="Line 35"/>
            <p:cNvSpPr/>
            <p:nvPr/>
          </p:nvSpPr>
          <p:spPr>
            <a:xfrm flipV="1">
              <a:off x="2335" y="845"/>
              <a:ext cx="13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标题 1"/>
          <p:cNvSpPr>
            <a:spLocks noGrp="1"/>
          </p:cNvSpPr>
          <p:nvPr>
            <p:ph type="title" idx="4294967295"/>
          </p:nvPr>
        </p:nvSpPr>
        <p:spPr>
          <a:xfrm>
            <a:off x="395288" y="260350"/>
            <a:ext cx="8229600" cy="10080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系统软件的发展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71683" name="Text Box 3"/>
          <p:cNvSpPr txBox="1"/>
          <p:nvPr/>
        </p:nvSpPr>
        <p:spPr>
          <a:xfrm>
            <a:off x="2713038" y="5202238"/>
            <a:ext cx="5870575" cy="4254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图灵机模型</a:t>
            </a:r>
            <a:endParaRPr lang="zh-CN" altLang="en-US" sz="24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84" name="Text Box 4"/>
          <p:cNvSpPr txBox="1"/>
          <p:nvPr/>
        </p:nvSpPr>
        <p:spPr>
          <a:xfrm>
            <a:off x="2700338" y="1692275"/>
            <a:ext cx="5903912" cy="4254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应用系统    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85" name="Text Box 5"/>
          <p:cNvSpPr txBox="1"/>
          <p:nvPr/>
        </p:nvSpPr>
        <p:spPr>
          <a:xfrm>
            <a:off x="2700338" y="4741863"/>
            <a:ext cx="5903912" cy="4254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计算机硬件</a:t>
            </a:r>
            <a:r>
              <a:rPr lang="en-US" altLang="zh-CN" sz="2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网络</a:t>
            </a:r>
            <a:endParaRPr lang="zh-CN" altLang="en-US" sz="24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86" name="AutoShape 6"/>
          <p:cNvSpPr/>
          <p:nvPr/>
        </p:nvSpPr>
        <p:spPr>
          <a:xfrm>
            <a:off x="1114425" y="2133600"/>
            <a:ext cx="288925" cy="2590800"/>
          </a:xfrm>
          <a:prstGeom prst="upArrow">
            <a:avLst>
              <a:gd name="adj1" fmla="val 50000"/>
              <a:gd name="adj2" fmla="val 22413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87" name="Text Box 7"/>
          <p:cNvSpPr txBox="1"/>
          <p:nvPr/>
        </p:nvSpPr>
        <p:spPr>
          <a:xfrm>
            <a:off x="2700338" y="2133600"/>
            <a:ext cx="5903912" cy="2574925"/>
          </a:xfrm>
          <a:prstGeom prst="rect">
            <a:avLst/>
          </a:prstGeom>
          <a:solidFill>
            <a:srgbClr val="AEE8FC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         </a:t>
            </a: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     </a:t>
            </a:r>
            <a:endParaRPr lang="zh-CN" altLang="en-US" sz="24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endParaRPr lang="zh-CN" altLang="en-US" sz="24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88" name="Text Box 8"/>
          <p:cNvSpPr txBox="1"/>
          <p:nvPr/>
        </p:nvSpPr>
        <p:spPr>
          <a:xfrm>
            <a:off x="2771775" y="2852738"/>
            <a:ext cx="549275" cy="15113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系统软件</a:t>
            </a:r>
            <a:endParaRPr lang="zh-CN" altLang="en-US" sz="24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89" name="Text Box 9"/>
          <p:cNvSpPr txBox="1"/>
          <p:nvPr/>
        </p:nvSpPr>
        <p:spPr>
          <a:xfrm>
            <a:off x="3781425" y="2349500"/>
            <a:ext cx="4606925" cy="2338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操作系统：主机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OS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、桌面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OS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、网络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OS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、中间件系统、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WebOS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VMM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网构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algn="l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编程方面：机器语言、汇编语言、面向过程、面向对象、面向构件、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Eclipse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Agent…….</a:t>
            </a:r>
            <a:endParaRPr lang="en-US" altLang="zh-CN" sz="20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algn="l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其他</a:t>
            </a:r>
            <a:r>
              <a:rPr lang="en-US" altLang="zh-CN" sz="20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……</a:t>
            </a:r>
            <a:endParaRPr lang="en-US" altLang="zh-CN" sz="20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0" name="Rectangle 10"/>
          <p:cNvSpPr/>
          <p:nvPr/>
        </p:nvSpPr>
        <p:spPr>
          <a:xfrm>
            <a:off x="1331913" y="4141788"/>
            <a:ext cx="15113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计算为中心</a:t>
            </a: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1" name="Rectangle 11"/>
          <p:cNvSpPr/>
          <p:nvPr/>
        </p:nvSpPr>
        <p:spPr>
          <a:xfrm>
            <a:off x="1331913" y="3206750"/>
            <a:ext cx="15113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信息为中心</a:t>
            </a: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2" name="Rectangle 12"/>
          <p:cNvSpPr/>
          <p:nvPr/>
        </p:nvSpPr>
        <p:spPr>
          <a:xfrm>
            <a:off x="1331913" y="2276475"/>
            <a:ext cx="15113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用户为中心</a:t>
            </a:r>
            <a:endParaRPr lang="zh-CN" altLang="en-US" sz="1800" b="1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3" name="AutoShape 13"/>
          <p:cNvSpPr/>
          <p:nvPr/>
        </p:nvSpPr>
        <p:spPr>
          <a:xfrm>
            <a:off x="755650" y="2205038"/>
            <a:ext cx="215900" cy="2592387"/>
          </a:xfrm>
          <a:prstGeom prst="leftBrace">
            <a:avLst>
              <a:gd name="adj1" fmla="val 10000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4" name="AutoShape 14"/>
          <p:cNvSpPr/>
          <p:nvPr/>
        </p:nvSpPr>
        <p:spPr>
          <a:xfrm>
            <a:off x="3348038" y="2708275"/>
            <a:ext cx="215900" cy="1728788"/>
          </a:xfrm>
          <a:prstGeom prst="leftBrace">
            <a:avLst>
              <a:gd name="adj1" fmla="val 6669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1800" dirty="0">
              <a:solidFill>
                <a:srgbClr val="3366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5" name="Text Box 15"/>
          <p:cNvSpPr txBox="1"/>
          <p:nvPr/>
        </p:nvSpPr>
        <p:spPr>
          <a:xfrm>
            <a:off x="0" y="3284538"/>
            <a:ext cx="9001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GAP</a:t>
            </a:r>
            <a:endParaRPr lang="en-US" altLang="zh-CN" sz="2400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6" name="Text Box 16"/>
          <p:cNvSpPr txBox="1"/>
          <p:nvPr/>
        </p:nvSpPr>
        <p:spPr>
          <a:xfrm>
            <a:off x="1042988" y="4797425"/>
            <a:ext cx="504825" cy="425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1697" name="Text Box 17"/>
          <p:cNvSpPr txBox="1"/>
          <p:nvPr/>
        </p:nvSpPr>
        <p:spPr>
          <a:xfrm>
            <a:off x="1042988" y="1700213"/>
            <a:ext cx="504825" cy="425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虚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93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不变</a:t>
            </a:r>
            <a:r>
              <a:rPr lang="en-US" altLang="zh-CN" b="1" dirty="0">
                <a:ea typeface="宋体" panose="02010600030101010101" pitchFamily="2" charset="-122"/>
              </a:rPr>
              <a:t>/</a:t>
            </a:r>
            <a:r>
              <a:rPr lang="zh-CN" altLang="en-US" b="1" dirty="0">
                <a:ea typeface="宋体" panose="02010600030101010101" pitchFamily="2" charset="-122"/>
              </a:rPr>
              <a:t>变化的地方 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73731" name="Text Box 3"/>
          <p:cNvSpPr txBox="1"/>
          <p:nvPr/>
        </p:nvSpPr>
        <p:spPr>
          <a:xfrm>
            <a:off x="539750" y="1484313"/>
            <a:ext cx="8208963" cy="430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无论计算环境如何变化，系统软件的</a:t>
            </a:r>
            <a:r>
              <a:rPr lang="en-US" altLang="zh-CN" sz="24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个基础作用不变：</a:t>
            </a:r>
            <a:endParaRPr lang="zh-CN" altLang="en-US" sz="2400" dirty="0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运行时支撑；</a:t>
            </a:r>
            <a:endParaRPr lang="zh-CN" altLang="en-US" sz="24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设计时支撑；</a:t>
            </a:r>
            <a:endParaRPr lang="zh-CN" altLang="en-US" sz="24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endParaRPr lang="zh-CN" altLang="en-US" sz="24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l">
              <a:lnSpc>
                <a:spcPct val="9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用户体验已经作为系统软件成功与否的关键因素：</a:t>
            </a:r>
            <a:endParaRPr lang="zh-CN" altLang="en-US" sz="2400" dirty="0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3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运行支撑环境：高效能、高可靠、高可用、可信、低成本、低能耗、界面</a:t>
            </a:r>
            <a:r>
              <a:rPr lang="en-US" altLang="zh-CN" sz="24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……</a:t>
            </a:r>
            <a:r>
              <a:rPr lang="zh-CN" altLang="en-US" sz="24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en-US" altLang="zh-CN" sz="24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3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设计支撑：抽象层次越来越高；</a:t>
            </a:r>
            <a:endParaRPr lang="zh-CN" altLang="en-US" sz="24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/>
          <p:nvPr/>
        </p:nvSpPr>
        <p:spPr>
          <a:xfrm>
            <a:off x="0" y="0"/>
            <a:ext cx="8072438" cy="128588"/>
          </a:xfrm>
          <a:prstGeom prst="rect">
            <a:avLst/>
          </a:prstGeom>
          <a:solidFill>
            <a:srgbClr val="F7F7F7"/>
          </a:solidFill>
          <a:ln w="9525">
            <a:noFill/>
          </a:ln>
        </p:spPr>
        <p:txBody>
          <a:bodyPr wrap="none" lIns="0" tIns="0" rIns="25392" bIns="0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fontAlgn="ctr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900" dirty="0">
                <a:solidFill>
                  <a:srgbClr val="1582BD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endParaRPr lang="en-US" altLang="zh-CN" sz="900" dirty="0">
              <a:solidFill>
                <a:srgbClr val="1582BD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5779" name="标题 1"/>
          <p:cNvSpPr/>
          <p:nvPr/>
        </p:nvSpPr>
        <p:spPr>
          <a:xfrm>
            <a:off x="468313" y="260350"/>
            <a:ext cx="82296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4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Gartner</a:t>
            </a:r>
            <a:r>
              <a:rPr lang="zh-CN" altLang="en-US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新兴技术周期报告</a:t>
            </a:r>
            <a:r>
              <a:rPr lang="en-US" altLang="zh-CN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2018</a:t>
            </a:r>
            <a:endParaRPr lang="zh-CN" altLang="en-US" sz="4400" b="1" dirty="0">
              <a:solidFill>
                <a:srgbClr val="FF3300"/>
              </a:solidFill>
              <a:latin typeface="Maiandra GD" panose="020E0502030308020204" pitchFamily="34" charset="0"/>
              <a:ea typeface="黑体" panose="02010609060101010101" pitchFamily="49" charset="-122"/>
            </a:endParaRPr>
          </a:p>
        </p:txBody>
      </p:sp>
      <p:pic>
        <p:nvPicPr>
          <p:cNvPr id="7578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035050"/>
            <a:ext cx="8304213" cy="547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/>
          <p:nvPr/>
        </p:nvSpPr>
        <p:spPr>
          <a:xfrm>
            <a:off x="0" y="0"/>
            <a:ext cx="8072438" cy="128588"/>
          </a:xfrm>
          <a:prstGeom prst="rect">
            <a:avLst/>
          </a:prstGeom>
          <a:solidFill>
            <a:srgbClr val="F7F7F7"/>
          </a:solidFill>
          <a:ln w="9525">
            <a:noFill/>
          </a:ln>
        </p:spPr>
        <p:txBody>
          <a:bodyPr wrap="none" lIns="0" tIns="0" rIns="25392" bIns="0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fontAlgn="ctr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900" dirty="0">
                <a:solidFill>
                  <a:srgbClr val="1582BD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endParaRPr lang="en-US" altLang="zh-CN" sz="900" dirty="0">
              <a:solidFill>
                <a:srgbClr val="1582BD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7827" name="标题 1"/>
          <p:cNvSpPr/>
          <p:nvPr/>
        </p:nvSpPr>
        <p:spPr>
          <a:xfrm>
            <a:off x="468313" y="260350"/>
            <a:ext cx="82296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4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Gartner</a:t>
            </a:r>
            <a:r>
              <a:rPr lang="zh-CN" altLang="en-US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新兴技术周期报告</a:t>
            </a:r>
            <a:r>
              <a:rPr lang="en-US" altLang="zh-CN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2019</a:t>
            </a:r>
            <a:endParaRPr lang="zh-CN" altLang="en-US" sz="4400" b="1" dirty="0">
              <a:solidFill>
                <a:srgbClr val="FF3300"/>
              </a:solidFill>
              <a:latin typeface="Maiandra GD" panose="020E0502030308020204" pitchFamily="34" charset="0"/>
              <a:ea typeface="黑体" panose="02010609060101010101" pitchFamily="49" charset="-122"/>
            </a:endParaRPr>
          </a:p>
        </p:txBody>
      </p:sp>
      <p:pic>
        <p:nvPicPr>
          <p:cNvPr id="77828" name="Picture 2" descr="http://file.elecfans.com/web1/M00/A5/78/o4YBAF1wybOAXwMeAAGQ01EHNDM37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" y="903288"/>
            <a:ext cx="8662988" cy="5954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/>
          <p:nvPr/>
        </p:nvSpPr>
        <p:spPr>
          <a:xfrm>
            <a:off x="0" y="0"/>
            <a:ext cx="8072438" cy="128588"/>
          </a:xfrm>
          <a:prstGeom prst="rect">
            <a:avLst/>
          </a:prstGeom>
          <a:solidFill>
            <a:srgbClr val="F7F7F7"/>
          </a:solidFill>
          <a:ln w="9525">
            <a:noFill/>
          </a:ln>
        </p:spPr>
        <p:txBody>
          <a:bodyPr wrap="none" lIns="0" tIns="0" rIns="25392" bIns="0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fontAlgn="ctr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900" dirty="0">
                <a:solidFill>
                  <a:srgbClr val="1582BD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endParaRPr lang="en-US" altLang="zh-CN" sz="900" dirty="0">
              <a:solidFill>
                <a:srgbClr val="1582BD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9875" name="标题 1"/>
          <p:cNvSpPr/>
          <p:nvPr/>
        </p:nvSpPr>
        <p:spPr>
          <a:xfrm>
            <a:off x="468313" y="260350"/>
            <a:ext cx="82296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4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Gartner</a:t>
            </a:r>
            <a:r>
              <a:rPr lang="zh-CN" altLang="en-US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新兴技术周期报告</a:t>
            </a:r>
            <a:r>
              <a:rPr lang="en-US" altLang="zh-CN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2020</a:t>
            </a:r>
            <a:endParaRPr lang="zh-CN" altLang="en-US" sz="4400" b="1" dirty="0">
              <a:solidFill>
                <a:srgbClr val="FF3300"/>
              </a:solidFill>
              <a:latin typeface="Maiandra GD" panose="020E0502030308020204" pitchFamily="34" charset="0"/>
              <a:ea typeface="黑体" panose="02010609060101010101" pitchFamily="49" charset="-122"/>
            </a:endParaRPr>
          </a:p>
        </p:txBody>
      </p:sp>
      <p:pic>
        <p:nvPicPr>
          <p:cNvPr id="79876" name="Picture 6" descr="https://www.mr-wu.cn/wp-content/uploads/2020/09/Hype-Cycle-for-Emerging-Technologies-20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35050"/>
            <a:ext cx="9026525" cy="5822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/>
          <p:nvPr/>
        </p:nvSpPr>
        <p:spPr>
          <a:xfrm>
            <a:off x="0" y="0"/>
            <a:ext cx="8072438" cy="128588"/>
          </a:xfrm>
          <a:prstGeom prst="rect">
            <a:avLst/>
          </a:prstGeom>
          <a:solidFill>
            <a:srgbClr val="F7F7F7"/>
          </a:solidFill>
          <a:ln w="9525">
            <a:noFill/>
          </a:ln>
        </p:spPr>
        <p:txBody>
          <a:bodyPr wrap="none" lIns="0" tIns="0" rIns="25392" bIns="0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fontAlgn="ctr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900" dirty="0">
                <a:solidFill>
                  <a:srgbClr val="1582BD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endParaRPr lang="en-US" altLang="zh-CN" sz="900" dirty="0">
              <a:solidFill>
                <a:srgbClr val="1582BD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23" name="标题 1"/>
          <p:cNvSpPr/>
          <p:nvPr/>
        </p:nvSpPr>
        <p:spPr>
          <a:xfrm>
            <a:off x="468313" y="260350"/>
            <a:ext cx="82296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4400" b="1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Gartner</a:t>
            </a:r>
            <a:r>
              <a:rPr lang="zh-CN" altLang="en-US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新兴技术周期报告</a:t>
            </a:r>
            <a:r>
              <a:rPr lang="en-US" altLang="zh-CN" sz="4400" b="1" dirty="0">
                <a:solidFill>
                  <a:srgbClr val="FF3300"/>
                </a:solidFill>
                <a:latin typeface="Maiandra GD" panose="020E0502030308020204" pitchFamily="34" charset="0"/>
                <a:ea typeface="黑体" panose="02010609060101010101" pitchFamily="49" charset="-122"/>
              </a:rPr>
              <a:t>2021</a:t>
            </a:r>
            <a:endParaRPr lang="zh-CN" altLang="en-US" sz="4400" b="1" dirty="0">
              <a:solidFill>
                <a:srgbClr val="FF3300"/>
              </a:solidFill>
              <a:latin typeface="Maiandra GD" panose="020E0502030308020204" pitchFamily="34" charset="0"/>
              <a:ea typeface="黑体" panose="02010609060101010101" pitchFamily="49" charset="-122"/>
            </a:endParaRPr>
          </a:p>
        </p:txBody>
      </p:sp>
      <p:pic>
        <p:nvPicPr>
          <p:cNvPr id="8192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4937" y="1398588"/>
            <a:ext cx="9144000" cy="5199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3970" name="Picture 5" descr="图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059863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Submit"/>
  <p:tag name="RAINPROBLEMTYPE" val="MultipleChoiceMA"/>
</p:tagLst>
</file>

<file path=ppt/tags/tag7.xml><?xml version="1.0" encoding="utf-8"?>
<p:tagLst xmlns:p="http://schemas.openxmlformats.org/presentationml/2006/main">
  <p:tag name="RAINPROBLEM" val="ProblemRemarkBoard"/>
</p:tagLst>
</file>

<file path=ppt/tags/tag8.xml><?xml version="1.0" encoding="utf-8"?>
<p:tagLst xmlns:p="http://schemas.openxmlformats.org/presentationml/2006/main">
  <p:tag name="PROBLEMREMARKTITLE" val="ProblemRemarkBoardTip"/>
</p:tagLst>
</file>

<file path=ppt/tags/tag9.xml><?xml version="1.0" encoding="utf-8"?>
<p:tagLst xmlns:p="http://schemas.openxmlformats.org/presentationml/2006/main">
  <p:tag name="RAINPROBLEM" val="ProblemRemark"/>
</p:tagLst>
</file>

<file path=ppt/tags/tag10.xml><?xml version="1.0" encoding="utf-8"?>
<p:tagLst xmlns:p="http://schemas.openxmlformats.org/presentationml/2006/main">
  <p:tag name="PROBLEMREMARKTITLE" val="ProblemRemarkBoardTitle"/>
</p:tagLst>
</file>

<file path=ppt/tags/tag11.xml><?xml version="1.0" encoding="utf-8"?>
<p:tagLst xmlns:p="http://schemas.openxmlformats.org/presentationml/2006/main">
  <p:tag name="PROBLEMREMARKTITLE" val="ProblemRemarkBoardTitle"/>
</p:tagLst>
</file>

<file path=ppt/tags/tag12.xml><?xml version="1.0" encoding="utf-8"?>
<p:tagLst xmlns:p="http://schemas.openxmlformats.org/presentationml/2006/main">
  <p:tag name="PROBLEMREMARKTITLE" val="ProblemRemarkBoardTitle"/>
</p:tagLst>
</file>

<file path=ppt/tags/tag13.xml><?xml version="1.0" encoding="utf-8"?>
<p:tagLst xmlns:p="http://schemas.openxmlformats.org/presentationml/2006/main">
  <p:tag name="PROBLEMREMARKTITLE" val="ProblemRemarkBoardTitle"/>
</p:tagLst>
</file>

<file path=ppt/tags/tag14.xml><?xml version="1.0" encoding="utf-8"?>
<p:tagLst xmlns:p="http://schemas.openxmlformats.org/presentationml/2006/main">
  <p:tag name="PROBLEMREMARKTITLE" val="ProblemRemarkBoardTitle"/>
</p:tagLst>
</file>

<file path=ppt/tags/tag15.xml><?xml version="1.0" encoding="utf-8"?>
<p:tagLst xmlns:p="http://schemas.openxmlformats.org/presentationml/2006/main">
  <p:tag name="PROBLEMREMARKTITLE" val="ProblemRemarkBoardTitle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" val="ProblemSetting"/>
  <p:tag name="RAINPROBLEMTYPE" val="MultipleChoiceMA"/>
</p:tagLst>
</file>

<file path=ppt/tags/tag21.xml><?xml version="1.0" encoding="utf-8"?>
<p:tagLst xmlns:p="http://schemas.openxmlformats.org/presentationml/2006/main">
  <p:tag name="RAINPROBLEM" val="MultipleChoiceMA"/>
  <p:tag name="PROBLEMSCORE" val="1.0"/>
  <p:tag name="PROBLEMSCORE_HALF" val="0.5"/>
  <p:tag name="PROBLEMHASREMARK" val="True"/>
  <p:tag name="PROBLEMREMARK" val="A.网络在逻辑上没有为用户提供统一视图，所以不是；&#13;B.云计算环境是一种C/S的分布式系统；&#13;C.区块链是一种P2P的分布式系统；&#13;D.多核处理系统不是基于消息传递方式完成通信和协同的,所以错；"/>
</p:tagLst>
</file>

<file path=ppt/tags/tag22.xml><?xml version="1.0" encoding="utf-8"?>
<p:tagLst xmlns:p="http://schemas.openxmlformats.org/presentationml/2006/main">
  <p:tag name="RAINPROBLEM" val="ProblemBody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Item"/>
</p:tagLst>
</file>

<file path=ppt/tags/tag2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.xml><?xml version="1.0" encoding="utf-8"?>
<p:tagLst xmlns:p="http://schemas.openxmlformats.org/presentationml/2006/main">
  <p:tag name="RAINPROBLEM" val="ProblemSubmit"/>
  <p:tag name="RAINPROBLEMTYPE" val="MultipleChoiceMA"/>
</p:tagLst>
</file>

<file path=ppt/tags/tag32.xml><?xml version="1.0" encoding="utf-8"?>
<p:tagLst xmlns:p="http://schemas.openxmlformats.org/presentationml/2006/main">
  <p:tag name="RAINPROBLEM" val="ProblemRemarkBoard"/>
</p:tagLst>
</file>

<file path=ppt/tags/tag33.xml><?xml version="1.0" encoding="utf-8"?>
<p:tagLst xmlns:p="http://schemas.openxmlformats.org/presentationml/2006/main">
  <p:tag name="PROBLEMREMARKTITLE" val="ProblemRemarkBoardTip"/>
</p:tagLst>
</file>

<file path=ppt/tags/tag34.xml><?xml version="1.0" encoding="utf-8"?>
<p:tagLst xmlns:p="http://schemas.openxmlformats.org/presentationml/2006/main">
  <p:tag name="RAINPROBLEM" val="ProblemRemark"/>
</p:tagLst>
</file>

<file path=ppt/tags/tag35.xml><?xml version="1.0" encoding="utf-8"?>
<p:tagLst xmlns:p="http://schemas.openxmlformats.org/presentationml/2006/main">
  <p:tag name="PROBLEMREMARKTITLE" val="ProblemRemarkBoardTitle"/>
</p:tagLst>
</file>

<file path=ppt/tags/tag36.xml><?xml version="1.0" encoding="utf-8"?>
<p:tagLst xmlns:p="http://schemas.openxmlformats.org/presentationml/2006/main">
  <p:tag name="PROBLEMREMARKTITLE" val="ProblemRemarkBoardTitle"/>
</p:tagLst>
</file>

<file path=ppt/tags/tag37.xml><?xml version="1.0" encoding="utf-8"?>
<p:tagLst xmlns:p="http://schemas.openxmlformats.org/presentationml/2006/main">
  <p:tag name="PROBLEMREMARKTITLE" val="ProblemRemarkBoardTitle"/>
</p:tagLst>
</file>

<file path=ppt/tags/tag38.xml><?xml version="1.0" encoding="utf-8"?>
<p:tagLst xmlns:p="http://schemas.openxmlformats.org/presentationml/2006/main">
  <p:tag name="PROBLEMREMARKTITLE" val="ProblemRemarkBoardTitle"/>
</p:tagLst>
</file>

<file path=ppt/tags/tag39.xml><?xml version="1.0" encoding="utf-8"?>
<p:tagLst xmlns:p="http://schemas.openxmlformats.org/presentationml/2006/main">
  <p:tag name="PROBLEMREMARKTITLE" val="ProblemRemarkBoardTitle"/>
</p:tagLst>
</file>

<file path=ppt/tags/tag40.xml><?xml version="1.0" encoding="utf-8"?>
<p:tagLst xmlns:p="http://schemas.openxmlformats.org/presentationml/2006/main">
  <p:tag name="PROBLEMREMARKTITLE" val="ProblemRemarkBoardTitle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" val="ProblemSetting"/>
  <p:tag name="RAINPROBLEMTYPE" val="MultipleChoiceMA"/>
</p:tagLst>
</file>

<file path=ppt/tags/tag46.xml><?xml version="1.0" encoding="utf-8"?>
<p:tagLst xmlns:p="http://schemas.openxmlformats.org/presentationml/2006/main">
  <p:tag name="RAINPROBLEM" val="MultipleChoiceMA"/>
  <p:tag name="PROBLEMSCORE" val="1.0"/>
  <p:tag name="PROBLEMSCORE_HALF" val="0.5"/>
  <p:tag name="PROBLEMHASREMARK" val="True"/>
  <p:tag name="PROBLEMREMARK" val="A.网络在逻辑上没有为用户提供统一视图，所以不是；&#13;B.云计算环境是一种C/S的分布式系统；&#13;C.区块链是一种P2P的分布式系统；&#13;D.多核处理系统不是基于消息传递方式完成通信和协同的,所以错；"/>
</p:tagLst>
</file>

<file path=ppt/tags/tag47.xml><?xml version="1.0" encoding="utf-8"?>
<p:tagLst xmlns:p="http://schemas.openxmlformats.org/presentationml/2006/main">
  <p:tag name="RAINPROBLEM" val="ProblemBody"/>
</p:tagLst>
</file>

<file path=ppt/tags/tag48.xml><?xml version="1.0" encoding="utf-8"?>
<p:tagLst xmlns:p="http://schemas.openxmlformats.org/presentationml/2006/main">
  <p:tag name="RAINPROBLEM" val="ProblemSubmit"/>
  <p:tag name="RAINPROBLEMTYPE" val="FillBlank"/>
</p:tagLst>
</file>

<file path=ppt/tags/tag49.xml><?xml version="1.0" encoding="utf-8"?>
<p:tagLst xmlns:p="http://schemas.openxmlformats.org/presentationml/2006/main">
  <p:tag name="PRODUCTVERSIONTIP3" val="PRODUCTVERSIONTIP3"/>
</p:tagLst>
</file>

<file path=ppt/tags/tag50.xml><?xml version="1.0" encoding="utf-8"?>
<p:tagLst xmlns:p="http://schemas.openxmlformats.org/presentationml/2006/main">
  <p:tag name="RAINPROBLEM" val="ProblemRemarkBoard"/>
</p:tagLst>
</file>

<file path=ppt/tags/tag51.xml><?xml version="1.0" encoding="utf-8"?>
<p:tagLst xmlns:p="http://schemas.openxmlformats.org/presentationml/2006/main">
  <p:tag name="PROBLEMREMARKTITLE" val="ProblemRemarkBoardTip"/>
</p:tagLst>
</file>

<file path=ppt/tags/tag52.xml><?xml version="1.0" encoding="utf-8"?>
<p:tagLst xmlns:p="http://schemas.openxmlformats.org/presentationml/2006/main">
  <p:tag name="RAINPROBLEM" val="ProblemRemark"/>
</p:tagLst>
</file>

<file path=ppt/tags/tag53.xml><?xml version="1.0" encoding="utf-8"?>
<p:tagLst xmlns:p="http://schemas.openxmlformats.org/presentationml/2006/main">
  <p:tag name="PROBLEMREMARKTITLE" val="ProblemRemarkBoardTitle"/>
</p:tagLst>
</file>

<file path=ppt/tags/tag54.xml><?xml version="1.0" encoding="utf-8"?>
<p:tagLst xmlns:p="http://schemas.openxmlformats.org/presentationml/2006/main">
  <p:tag name="PROBLEMREMARKTITLE" val="ProblemRemarkBoardTitle"/>
</p:tagLst>
</file>

<file path=ppt/tags/tag55.xml><?xml version="1.0" encoding="utf-8"?>
<p:tagLst xmlns:p="http://schemas.openxmlformats.org/presentationml/2006/main">
  <p:tag name="PROBLEMREMARKTITLE" val="ProblemRemarkBoardTitle"/>
</p:tagLst>
</file>

<file path=ppt/tags/tag56.xml><?xml version="1.0" encoding="utf-8"?>
<p:tagLst xmlns:p="http://schemas.openxmlformats.org/presentationml/2006/main">
  <p:tag name="PROBLEMREMARKTITLE" val="ProblemRemarkBoardTitle"/>
</p:tagLst>
</file>

<file path=ppt/tags/tag57.xml><?xml version="1.0" encoding="utf-8"?>
<p:tagLst xmlns:p="http://schemas.openxmlformats.org/presentationml/2006/main">
  <p:tag name="PROBLEMREMARKTITLE" val="ProblemRemarkBoardTitle"/>
</p:tagLst>
</file>

<file path=ppt/tags/tag58.xml><?xml version="1.0" encoding="utf-8"?>
<p:tagLst xmlns:p="http://schemas.openxmlformats.org/presentationml/2006/main">
  <p:tag name="PROBLEMREMARKTITLE" val="ProblemRemarkBoardTitle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" val="ProblemSetting"/>
  <p:tag name="RAINPROBLEMTYPE" val="FillBlank"/>
</p:tagLst>
</file>

<file path=ppt/tags/tag64.xml><?xml version="1.0" encoding="utf-8"?>
<p:tagLst xmlns:p="http://schemas.openxmlformats.org/presentationml/2006/main">
  <p:tag name="RAINPROBLEM" val="FillBlank"/>
  <p:tag name="PROBLEMBLANKKEYWORD" val="填空"/>
  <p:tag name="PROBLEMHASREMARK" val="True"/>
  <p:tag name="PROBLEMREMARK" val="中文答也可以"/>
  <p:tag name="PROBLEMSCORE" val="2.0"/>
  <p:tag name="PROBLEMBLANK" val="[{&quot;Num&quot;:1,&quot;Score&quot;:1.0,&quot;Answers&quot;:[&quot;a global clock&quot;],&quot;CaseSensitive&quot;:false,&quot;FuzzyMatch&quot;:true},{&quot;Num&quot;:2,&quot;Score&quot;:1.0,&quot;Answers&quot;:[&quot;independent failure&quot;],&quot;CaseSensitive&quot;:false,&quot;FuzzyMatch&quot;:true}]"/>
</p:tagLst>
</file>

<file path=ppt/tags/tag65.xml><?xml version="1.0" encoding="utf-8"?>
<p:tagLst xmlns:p="http://schemas.openxmlformats.org/presentationml/2006/main">
  <p:tag name="commondata" val="eyJoZGlkIjoiM2NkNzAyYTY3NmVkMTFhM2MwNTRmNTdhYmVlMzM2ZjgifQ=="/>
</p:tagLst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rgbClr val="3366FF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rgbClr val="3366FF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D:\My Documents\Tannenbaum DS\Tannenbaum.pot</Template>
  <TotalTime>0</TotalTime>
  <Words>15245</Words>
  <Application>WPS 演示</Application>
  <PresentationFormat>全屏显示(4:3)</PresentationFormat>
  <Paragraphs>897</Paragraphs>
  <Slides>68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90" baseType="lpstr">
      <vt:lpstr>Arial</vt:lpstr>
      <vt:lpstr>宋体</vt:lpstr>
      <vt:lpstr>Wingdings</vt:lpstr>
      <vt:lpstr>黑体</vt:lpstr>
      <vt:lpstr>Times New Roman</vt:lpstr>
      <vt:lpstr>Arial Rounded MT Bold</vt:lpstr>
      <vt:lpstr>PMingLiU</vt:lpstr>
      <vt:lpstr>MingLiU-ExtB</vt:lpstr>
      <vt:lpstr>Monotype Corsiva</vt:lpstr>
      <vt:lpstr>楷体_GB2312</vt:lpstr>
      <vt:lpstr>新宋体</vt:lpstr>
      <vt:lpstr>微软雅黑</vt:lpstr>
      <vt:lpstr>Arial Unicode MS</vt:lpstr>
      <vt:lpstr>Arial Unicode MS</vt:lpstr>
      <vt:lpstr>Maiandra GD</vt:lpstr>
      <vt:lpstr>Calibri</vt:lpstr>
      <vt:lpstr>Tahoma</vt:lpstr>
      <vt:lpstr>仿宋_GB2312</vt:lpstr>
      <vt:lpstr>MS PGothic</vt:lpstr>
      <vt:lpstr>仿宋</vt:lpstr>
      <vt:lpstr>Tannenbaum</vt:lpstr>
      <vt:lpstr>Visio.Drawing.11</vt:lpstr>
      <vt:lpstr>分布式系统</vt:lpstr>
      <vt:lpstr>课程范围</vt:lpstr>
      <vt:lpstr>章节目录</vt:lpstr>
      <vt:lpstr>Introduction</vt:lpstr>
      <vt:lpstr>1.1 Distributed System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例3.  云计算——资源聚合，按需服务；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Transparency in a Distributed System</vt:lpstr>
      <vt:lpstr>PowerPoint 演示文稿</vt:lpstr>
      <vt:lpstr>Scalability Problems</vt:lpstr>
      <vt:lpstr>PowerPoint 演示文稿</vt:lpstr>
      <vt:lpstr>Scaling Techniques (1)</vt:lpstr>
      <vt:lpstr>Scaling Techniques (2)</vt:lpstr>
      <vt:lpstr>1.3 Hardware Concepts</vt:lpstr>
      <vt:lpstr>PowerPoint 演示文稿</vt:lpstr>
      <vt:lpstr>PowerPoint 演示文稿</vt:lpstr>
      <vt:lpstr>Multiprocessors (1)</vt:lpstr>
      <vt:lpstr>Multiprocessors (2)</vt:lpstr>
      <vt:lpstr>Homogeneous Multicomputer Systems</vt:lpstr>
      <vt:lpstr>PowerPoint 演示文稿</vt:lpstr>
      <vt:lpstr>1.4 Software Concepts</vt:lpstr>
      <vt:lpstr>PowerPoint 演示文稿</vt:lpstr>
      <vt:lpstr>Distributed Operating Systems</vt:lpstr>
      <vt:lpstr>Uniprocessor Operating Systems</vt:lpstr>
      <vt:lpstr>Uniprocessor Operating Systems</vt:lpstr>
      <vt:lpstr>Multiprocessor Operating Systems (1)</vt:lpstr>
      <vt:lpstr>Multiprocessor Operating Systems (1)</vt:lpstr>
      <vt:lpstr>Multiprocessor Operating Systems (2)</vt:lpstr>
      <vt:lpstr>Multicomputer Operating Systems (1)</vt:lpstr>
      <vt:lpstr>Multicomputer Operating Systems (2)</vt:lpstr>
      <vt:lpstr>Multicomputer Operating Systems (3)</vt:lpstr>
      <vt:lpstr>Distributed Shared Memory Systems (1)</vt:lpstr>
      <vt:lpstr>Distributed Shared Memory Systems (2)</vt:lpstr>
      <vt:lpstr>Network Operating System (1)</vt:lpstr>
      <vt:lpstr>Network Operating System (2)</vt:lpstr>
      <vt:lpstr>Network Operating System (3)</vt:lpstr>
      <vt:lpstr>Positioning Middleware</vt:lpstr>
      <vt:lpstr>Middleware Models</vt:lpstr>
      <vt:lpstr>Middleware Services</vt:lpstr>
      <vt:lpstr>Middleware and Openness</vt:lpstr>
      <vt:lpstr>Comparison between Systems</vt:lpstr>
      <vt:lpstr>PowerPoint 演示文稿</vt:lpstr>
      <vt:lpstr>PowerPoint 演示文稿</vt:lpstr>
      <vt:lpstr>PowerPoint 演示文稿</vt:lpstr>
      <vt:lpstr>计算模式的困惑</vt:lpstr>
      <vt:lpstr>计算环境演化</vt:lpstr>
      <vt:lpstr>系统软件的发展</vt:lpstr>
      <vt:lpstr>不变/变化的地方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East Texas Data Service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Steve  Armstrong</dc:creator>
  <cp:lastModifiedBy>WPS_1681028394</cp:lastModifiedBy>
  <cp:revision>432</cp:revision>
  <dcterms:created xsi:type="dcterms:W3CDTF">2001-05-07T20:12:00Z</dcterms:created>
  <dcterms:modified xsi:type="dcterms:W3CDTF">2025-04-13T12:15:08Z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38C05EE3FE1C4464AB361F871DA080A8_12</vt:lpwstr>
  </property>
</Properties>
</file>