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77"/>
  </p:notesMasterIdLst>
  <p:sldIdLst>
    <p:sldId id="256" r:id="rId3"/>
    <p:sldId id="284" r:id="rId4"/>
    <p:sldId id="385" r:id="rId5"/>
    <p:sldId id="396" r:id="rId6"/>
    <p:sldId id="286" r:id="rId7"/>
    <p:sldId id="258" r:id="rId8"/>
    <p:sldId id="289" r:id="rId9"/>
    <p:sldId id="259" r:id="rId10"/>
    <p:sldId id="340" r:id="rId11"/>
    <p:sldId id="287" r:id="rId12"/>
    <p:sldId id="260" r:id="rId13"/>
    <p:sldId id="339" r:id="rId14"/>
    <p:sldId id="261" r:id="rId15"/>
    <p:sldId id="404" r:id="rId16"/>
    <p:sldId id="386" r:id="rId17"/>
    <p:sldId id="294" r:id="rId18"/>
    <p:sldId id="293" r:id="rId19"/>
    <p:sldId id="262" r:id="rId20"/>
    <p:sldId id="420" r:id="rId21"/>
    <p:sldId id="263" r:id="rId22"/>
    <p:sldId id="297" r:id="rId23"/>
    <p:sldId id="298" r:id="rId24"/>
    <p:sldId id="296" r:id="rId25"/>
    <p:sldId id="422" r:id="rId26"/>
    <p:sldId id="342" r:id="rId27"/>
    <p:sldId id="264" r:id="rId28"/>
    <p:sldId id="300" r:id="rId29"/>
    <p:sldId id="301" r:id="rId30"/>
    <p:sldId id="265" r:id="rId31"/>
    <p:sldId id="302" r:id="rId32"/>
    <p:sldId id="267" r:id="rId33"/>
    <p:sldId id="268" r:id="rId34"/>
    <p:sldId id="269" r:id="rId35"/>
    <p:sldId id="389" r:id="rId36"/>
    <p:sldId id="320" r:id="rId37"/>
    <p:sldId id="270" r:id="rId38"/>
    <p:sldId id="271" r:id="rId39"/>
    <p:sldId id="272" r:id="rId40"/>
    <p:sldId id="273" r:id="rId41"/>
    <p:sldId id="303" r:id="rId42"/>
    <p:sldId id="321" r:id="rId43"/>
    <p:sldId id="304" r:id="rId44"/>
    <p:sldId id="275" r:id="rId45"/>
    <p:sldId id="334" r:id="rId46"/>
    <p:sldId id="335" r:id="rId47"/>
    <p:sldId id="280" r:id="rId48"/>
    <p:sldId id="307" r:id="rId49"/>
    <p:sldId id="324" r:id="rId50"/>
    <p:sldId id="325" r:id="rId51"/>
    <p:sldId id="394" r:id="rId52"/>
    <p:sldId id="310" r:id="rId53"/>
    <p:sldId id="305" r:id="rId54"/>
    <p:sldId id="313" r:id="rId55"/>
    <p:sldId id="314" r:id="rId56"/>
    <p:sldId id="312" r:id="rId57"/>
    <p:sldId id="338" r:id="rId58"/>
    <p:sldId id="317" r:id="rId59"/>
    <p:sldId id="318" r:id="rId60"/>
    <p:sldId id="387" r:id="rId61"/>
    <p:sldId id="388" r:id="rId62"/>
    <p:sldId id="399" r:id="rId63"/>
    <p:sldId id="421" r:id="rId64"/>
    <p:sldId id="398" r:id="rId65"/>
    <p:sldId id="415" r:id="rId66"/>
    <p:sldId id="400" r:id="rId67"/>
    <p:sldId id="416" r:id="rId68"/>
    <p:sldId id="417" r:id="rId69"/>
    <p:sldId id="418" r:id="rId70"/>
    <p:sldId id="410" r:id="rId71"/>
    <p:sldId id="411" r:id="rId72"/>
    <p:sldId id="413" r:id="rId73"/>
    <p:sldId id="409" r:id="rId74"/>
    <p:sldId id="423" r:id="rId75"/>
    <p:sldId id="424" r:id="rId76"/>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00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p:restoredTop sz="94081" autoAdjust="0"/>
  </p:normalViewPr>
  <p:slideViewPr>
    <p:cSldViewPr snapToGrid="0" showGuides="1">
      <p:cViewPr varScale="1">
        <p:scale>
          <a:sx n="80" d="100"/>
          <a:sy n="80" d="100"/>
        </p:scale>
        <p:origin x="1550" y="67"/>
      </p:cViewPr>
      <p:guideLst>
        <p:guide orient="horz" pos="2160"/>
        <p:guide pos="2849"/>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625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4294967295"/>
          </p:nvPr>
        </p:nvSpPr>
        <p:spPr bwMode="auto">
          <a:xfrm>
            <a:off x="685800" y="4343400"/>
            <a:ext cx="5486400" cy="4114800"/>
          </a:xfrm>
          <a:prstGeom prst="rect">
            <a:avLst/>
          </a:prstGeom>
          <a:noFill/>
          <a:ln>
            <a:noFill/>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626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626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B40A5C5-96F7-47E7-A0AF-5FFEB05DA053}" type="slidenum">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a:ln/>
        </p:spPr>
      </p:sp>
      <p:sp>
        <p:nvSpPr>
          <p:cNvPr id="4099"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部分失效；</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容错目标：容忍部分失效，不影响性能，进行修复；</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进程恢复，可靠通信</a:t>
            </a:r>
          </a:p>
        </p:txBody>
      </p:sp>
      <p:sp>
        <p:nvSpPr>
          <p:cNvPr id="41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a:t>
            </a:fld>
            <a:endParaRPr lang="zh-CN"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p:spPr>
      </p:sp>
      <p:sp>
        <p:nvSpPr>
          <p:cNvPr id="7171"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容错能力好</a:t>
            </a:r>
            <a:r>
              <a:rPr lang="en-US" altLang="zh-CN" dirty="0">
                <a:ea typeface="宋体" panose="02010600030101010101" pitchFamily="2" charset="-122"/>
              </a:rPr>
              <a:t>-</a:t>
            </a:r>
            <a:r>
              <a:rPr lang="zh-CN" altLang="en-US" dirty="0">
                <a:ea typeface="宋体" panose="02010600030101010101" pitchFamily="2" charset="-122"/>
              </a:rPr>
              <a:t>可靠</a:t>
            </a:r>
          </a:p>
        </p:txBody>
      </p:sp>
      <p:sp>
        <p:nvSpPr>
          <p:cNvPr id="71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a:t>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p:spPr>
      </p:sp>
      <p:sp>
        <p:nvSpPr>
          <p:cNvPr id="9219" name="备注占位符 2"/>
          <p:cNvSpPr>
            <a:spLocks noGrp="1"/>
          </p:cNvSpPr>
          <p:nvPr>
            <p:ph type="body" idx="1"/>
          </p:nvPr>
        </p:nvSpPr>
        <p:spPr>
          <a:ln/>
        </p:spPr>
        <p:txBody>
          <a:bodyPr wrap="square" lIns="91440" tIns="45720" rIns="91440" bIns="45720" anchor="t" anchorCtr="0"/>
          <a:lstStyle/>
          <a:p>
            <a:pPr lvl="0"/>
            <a:r>
              <a:rPr lang="en-US" altLang="zh-CN" dirty="0">
                <a:ea typeface="宋体" panose="02010600030101010101" pitchFamily="2" charset="-122"/>
              </a:rPr>
              <a:t>1.</a:t>
            </a:r>
            <a:r>
              <a:rPr lang="zh-CN" altLang="en-US" dirty="0">
                <a:ea typeface="宋体" panose="02010600030101010101" pitchFamily="2" charset="-122"/>
              </a:rPr>
              <a:t>瞬时</a:t>
            </a:r>
            <a:endParaRPr lang="en-US" altLang="zh-CN" dirty="0">
              <a:ea typeface="宋体" panose="02010600030101010101" pitchFamily="2" charset="-122"/>
            </a:endParaRPr>
          </a:p>
          <a:p>
            <a:pPr lvl="0"/>
            <a:r>
              <a:rPr lang="en-US" altLang="zh-CN" dirty="0">
                <a:ea typeface="宋体" panose="02010600030101010101" pitchFamily="2" charset="-122"/>
              </a:rPr>
              <a:t>2.</a:t>
            </a:r>
            <a:r>
              <a:rPr lang="zh-CN" altLang="en-US" dirty="0">
                <a:ea typeface="宋体" panose="02010600030101010101" pitchFamily="2" charset="-122"/>
              </a:rPr>
              <a:t>可持续的时间段</a:t>
            </a:r>
          </a:p>
        </p:txBody>
      </p:sp>
      <p:sp>
        <p:nvSpPr>
          <p:cNvPr id="92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4</a:t>
            </a:fld>
            <a:endParaRPr lang="zh-CN" altLang="en-US" sz="12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ln/>
        </p:spPr>
      </p:sp>
      <p:sp>
        <p:nvSpPr>
          <p:cNvPr id="11267"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故障分类：</a:t>
            </a:r>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5</a:t>
            </a:fld>
            <a:endParaRPr lang="zh-CN" altLang="en-US" sz="12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服务器，网络，</a:t>
            </a:r>
            <a:r>
              <a:rPr lang="en-US" altLang="zh-CN" dirty="0">
                <a:ea typeface="宋体" panose="02010600030101010101" pitchFamily="2" charset="-122"/>
              </a:rPr>
              <a:t>client</a:t>
            </a:r>
            <a:r>
              <a:rPr lang="zh-CN" altLang="en-US" dirty="0">
                <a:ea typeface="宋体" panose="02010600030101010101" pitchFamily="2" charset="-122"/>
              </a:rPr>
              <a:t>：网络通信和服务器失效</a:t>
            </a:r>
            <a:endParaRPr lang="en-US" altLang="zh-CN" dirty="0">
              <a:ea typeface="宋体" panose="02010600030101010101" pitchFamily="2" charset="-122"/>
            </a:endParaRPr>
          </a:p>
          <a:p>
            <a:pPr lvl="0"/>
            <a:r>
              <a:rPr lang="en-US" altLang="zh-CN" dirty="0">
                <a:ea typeface="宋体" panose="02010600030101010101" pitchFamily="2" charset="-122"/>
              </a:rPr>
              <a:t>4.2</a:t>
            </a:r>
            <a:r>
              <a:rPr lang="zh-CN" altLang="en-US" dirty="0">
                <a:ea typeface="宋体" panose="02010600030101010101" pitchFamily="2" charset="-122"/>
              </a:rPr>
              <a:t>收到无法识别的消息</a:t>
            </a:r>
          </a:p>
        </p:txBody>
      </p:sp>
      <p:sp>
        <p:nvSpPr>
          <p:cNvPr id="133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6</a:t>
            </a:fld>
            <a:endParaRPr lang="zh-CN" altLang="en-US" sz="12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ln/>
        </p:spPr>
      </p:sp>
      <p:sp>
        <p:nvSpPr>
          <p:cNvPr id="1536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失效分类：</a:t>
            </a:r>
          </a:p>
        </p:txBody>
      </p:sp>
      <p:sp>
        <p:nvSpPr>
          <p:cNvPr id="153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7</a:t>
            </a:fld>
            <a:endParaRPr lang="zh-CN" altLang="en-US" sz="1200"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9</a:t>
            </a:fld>
            <a:endParaRPr lang="zh-CN" altLang="en-US" sz="1200" dirty="0">
              <a:ea typeface="宋体" panose="02010600030101010101" pitchFamily="2" charset="-122"/>
            </a:endParaRPr>
          </a:p>
        </p:txBody>
      </p:sp>
      <p:sp>
        <p:nvSpPr>
          <p:cNvPr id="18435" name="Rectangle 2"/>
          <p:cNvSpPr>
            <a:spLocks noGrp="1" noRot="1" noChangeAspect="1" noTextEdit="1"/>
          </p:cNvSpPr>
          <p:nvPr>
            <p:ph type="sldImg"/>
          </p:nvPr>
        </p:nvSpPr>
        <p:spPr>
          <a:ln/>
        </p:spPr>
      </p:sp>
      <p:sp>
        <p:nvSpPr>
          <p:cNvPr id="18436" name="Rectangle 3"/>
          <p:cNvSpPr>
            <a:spLocks noGrp="1"/>
          </p:cNvSpPr>
          <p:nvPr>
            <p:ph type="body"/>
          </p:nvPr>
        </p:nvSpPr>
        <p:spPr>
          <a:ln/>
        </p:spPr>
        <p:txBody>
          <a:bodyPr wrap="square" lIns="91440" tIns="45720" rIns="91440" bIns="45720" anchor="t" anchorCtr="0"/>
          <a:lstStyle/>
          <a:p>
            <a:pPr lvl="0" eaLnBrk="1" hangingPunct="1"/>
            <a:r>
              <a:rPr lang="zh-CN" altLang="en-US" dirty="0">
                <a:ea typeface="宋体" panose="02010600030101010101" pitchFamily="2" charset="-122"/>
              </a:rPr>
              <a:t>信号，设备，投票器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ln/>
        </p:spPr>
        <p:txBody>
          <a:bodyPr wrap="square" lIns="91440" tIns="45720" rIns="91440" bIns="45720" anchor="t" anchorCtr="0"/>
          <a:lstStyle/>
          <a:p>
            <a:pPr lvl="0"/>
            <a:r>
              <a:rPr lang="en-US" altLang="zh-CN" dirty="0">
                <a:ea typeface="宋体" panose="02010600030101010101" pitchFamily="2" charset="-122"/>
              </a:rPr>
              <a:t>*</a:t>
            </a:r>
            <a:endParaRPr lang="zh-CN" altLang="en-US" dirty="0">
              <a:ea typeface="宋体" panose="02010600030101010101" pitchFamily="2" charset="-122"/>
            </a:endParaRPr>
          </a:p>
          <a:p>
            <a:pPr lvl="0"/>
            <a:r>
              <a:rPr lang="zh-CN" altLang="en-US" dirty="0">
                <a:ea typeface="宋体" panose="02010600030101010101" pitchFamily="2" charset="-122"/>
              </a:rPr>
              <a:t>进程失效：进程恢复</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容忍部分进程失效</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以组为单位进行消息接收，如何做出决策？</a:t>
            </a:r>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10</a:t>
            </a:fld>
            <a:endParaRPr lang="zh-CN" altLang="en-US" sz="1200"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a:ln/>
        </p:spPr>
      </p:sp>
      <p:sp>
        <p:nvSpPr>
          <p:cNvPr id="22531"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收到消息给出决定：</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决定开销：大，小</a:t>
            </a:r>
            <a:endParaRPr lang="en-US" altLang="zh-CN" dirty="0">
              <a:ea typeface="宋体" panose="02010600030101010101" pitchFamily="2" charset="-122"/>
            </a:endParaRPr>
          </a:p>
          <a:p>
            <a:pPr lvl="0"/>
            <a:r>
              <a:rPr lang="zh-CN" altLang="en-US" dirty="0">
                <a:ea typeface="宋体" panose="02010600030101010101" pitchFamily="2" charset="-122"/>
              </a:rPr>
              <a:t>容错性：小，大</a:t>
            </a:r>
          </a:p>
        </p:txBody>
      </p:sp>
      <p:sp>
        <p:nvSpPr>
          <p:cNvPr id="225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11</a:t>
            </a:fld>
            <a:endParaRPr lang="zh-CN" altLang="en-US" sz="1200"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ln/>
        </p:spPr>
      </p:sp>
      <p:sp>
        <p:nvSpPr>
          <p:cNvPr id="24579"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如何选择进程备份的数量：</a:t>
            </a:r>
          </a:p>
        </p:txBody>
      </p:sp>
      <p:sp>
        <p:nvSpPr>
          <p:cNvPr id="245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12</a:t>
            </a:fld>
            <a:endParaRPr lang="zh-CN" altLang="en-US" sz="1200"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ln/>
        </p:spPr>
        <p:txBody>
          <a:bodyPr wrap="square" lIns="91440" tIns="45720" rIns="91440" bIns="45720" anchor="t" anchorCtr="0"/>
          <a:lstStyle/>
          <a:p>
            <a:pPr lvl="0"/>
            <a:r>
              <a:rPr lang="en-US" altLang="zh-CN"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崩溃</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故障？？？</a:t>
            </a:r>
            <a:endParaRPr lang="zh-CN" altLang="en-US" dirty="0">
              <a:ea typeface="宋体" panose="02010600030101010101" pitchFamily="2" charset="-122"/>
            </a:endParaRPr>
          </a:p>
        </p:txBody>
      </p:sp>
      <p:sp>
        <p:nvSpPr>
          <p:cNvPr id="266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13</a:t>
            </a:fld>
            <a:endParaRPr lang="zh-CN" altLang="en-US" sz="1200"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目标：约定进攻时间</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信道不可靠问题：可靠</a:t>
            </a:r>
            <a:r>
              <a:rPr lang="en-US" altLang="zh-CN" dirty="0">
                <a:ea typeface="宋体" panose="02010600030101010101" pitchFamily="2" charset="-122"/>
              </a:rPr>
              <a:t>TCP</a:t>
            </a:r>
          </a:p>
          <a:p>
            <a:pPr lvl="0"/>
            <a:endParaRPr lang="en-US" altLang="zh-CN" dirty="0">
              <a:ea typeface="宋体" panose="02010600030101010101" pitchFamily="2" charset="-122"/>
            </a:endParaRPr>
          </a:p>
          <a:p>
            <a:pPr lvl="0"/>
            <a:r>
              <a:rPr lang="zh-CN" altLang="en-US" dirty="0">
                <a:ea typeface="宋体" panose="02010600030101010101" pitchFamily="2" charset="-122"/>
              </a:rPr>
              <a:t>说明网络通信对达成一致性的重要度</a:t>
            </a:r>
          </a:p>
        </p:txBody>
      </p:sp>
      <p:sp>
        <p:nvSpPr>
          <p:cNvPr id="307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16</a:t>
            </a:fld>
            <a:endParaRPr lang="zh-CN" altLang="en-US" sz="1200"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网络可靠</a:t>
            </a:r>
            <a:endParaRPr lang="en-US" altLang="zh-CN" dirty="0">
              <a:ea typeface="宋体" panose="02010600030101010101" pitchFamily="2" charset="-122"/>
            </a:endParaRPr>
          </a:p>
          <a:p>
            <a:pPr lvl="0"/>
            <a:r>
              <a:rPr lang="zh-CN" altLang="en-US" dirty="0">
                <a:ea typeface="宋体" panose="02010600030101010101" pitchFamily="2" charset="-122"/>
              </a:rPr>
              <a:t>拜占庭故障</a:t>
            </a:r>
            <a:endParaRPr lang="en-US" altLang="zh-CN" dirty="0">
              <a:ea typeface="宋体" panose="02010600030101010101" pitchFamily="2" charset="-122"/>
            </a:endParaRPr>
          </a:p>
          <a:p>
            <a:pPr lvl="0"/>
            <a:r>
              <a:rPr lang="zh-CN" altLang="en-US" dirty="0">
                <a:ea typeface="宋体" panose="02010600030101010101" pitchFamily="2" charset="-122"/>
              </a:rPr>
              <a:t>达成一致：军队人数总和</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列</a:t>
            </a:r>
            <a:r>
              <a:rPr lang="en-US" altLang="zh-CN" dirty="0">
                <a:ea typeface="宋体" panose="02010600030101010101" pitchFamily="2" charset="-122"/>
              </a:rPr>
              <a:t>i</a:t>
            </a:r>
            <a:r>
              <a:rPr lang="zh-CN" altLang="en-US" dirty="0">
                <a:ea typeface="宋体" panose="02010600030101010101" pitchFamily="2" charset="-122"/>
              </a:rPr>
              <a:t>代表第</a:t>
            </a:r>
            <a:r>
              <a:rPr lang="en-US" altLang="zh-CN" dirty="0">
                <a:ea typeface="宋体" panose="02010600030101010101" pitchFamily="2" charset="-122"/>
              </a:rPr>
              <a:t>i</a:t>
            </a:r>
            <a:r>
              <a:rPr lang="zh-CN" altLang="en-US" dirty="0">
                <a:ea typeface="宋体" panose="02010600030101010101" pitchFamily="2" charset="-122"/>
              </a:rPr>
              <a:t>个将军的</a:t>
            </a:r>
            <a:r>
              <a:rPr lang="en-US" altLang="zh-CN" dirty="0">
                <a:ea typeface="宋体" panose="02010600030101010101" pitchFamily="2" charset="-122"/>
              </a:rPr>
              <a:t>response</a:t>
            </a:r>
            <a:endParaRPr lang="zh-CN" altLang="en-US" dirty="0">
              <a:ea typeface="宋体" panose="02010600030101010101" pitchFamily="2" charset="-122"/>
            </a:endParaRPr>
          </a:p>
        </p:txBody>
      </p:sp>
      <p:sp>
        <p:nvSpPr>
          <p:cNvPr id="327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17</a:t>
            </a:fld>
            <a:endParaRPr lang="zh-CN" altLang="en-US" sz="1200"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ln/>
        </p:spPr>
        <p:txBody>
          <a:bodyPr wrap="square" lIns="91440" tIns="45720" rIns="91440" bIns="45720" anchor="t" anchorCtr="0"/>
          <a:lstStyle/>
          <a:p>
            <a:pPr lvl="0"/>
            <a:endParaRPr lang="zh-CN" altLang="en-US" dirty="0">
              <a:ea typeface="宋体" panose="02010600030101010101" pitchFamily="2" charset="-122"/>
            </a:endParaRPr>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18</a:t>
            </a:fld>
            <a:endParaRPr lang="zh-CN" altLang="en-US" sz="1200"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一致性目标？？？</a:t>
            </a:r>
          </a:p>
        </p:txBody>
      </p:sp>
      <p:sp>
        <p:nvSpPr>
          <p:cNvPr id="368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19</a:t>
            </a:fld>
            <a:endParaRPr lang="zh-CN" altLang="en-US" sz="1200"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进程失效；</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通信失效；（崩溃与遗漏失效</a:t>
            </a:r>
            <a:endParaRPr lang="en-US" altLang="zh-CN" dirty="0">
              <a:ea typeface="宋体" panose="02010600030101010101" pitchFamily="2" charset="-122"/>
            </a:endParaRPr>
          </a:p>
          <a:p>
            <a:pPr lvl="0"/>
            <a:r>
              <a:rPr lang="zh-CN" altLang="en-US" dirty="0">
                <a:ea typeface="宋体" panose="02010600030101010101" pitchFamily="2" charset="-122"/>
              </a:rPr>
              <a:t>）</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网络层</a:t>
            </a:r>
          </a:p>
        </p:txBody>
      </p:sp>
      <p:sp>
        <p:nvSpPr>
          <p:cNvPr id="389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20</a:t>
            </a:fld>
            <a:endParaRPr lang="zh-CN" altLang="en-US" sz="1200"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中间件层：隐藏下层通信细节</a:t>
            </a:r>
          </a:p>
        </p:txBody>
      </p:sp>
      <p:sp>
        <p:nvSpPr>
          <p:cNvPr id="409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21</a:t>
            </a:fld>
            <a:endParaRPr lang="zh-CN" altLang="en-US" sz="1200"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p:spPr>
      </p:sp>
      <p:sp>
        <p:nvSpPr>
          <p:cNvPr id="43011" name="备注占位符 2"/>
          <p:cNvSpPr>
            <a:spLocks noGrp="1"/>
          </p:cNvSpPr>
          <p:nvPr>
            <p:ph type="body" idx="1"/>
          </p:nvPr>
        </p:nvSpPr>
        <p:spPr>
          <a:ln/>
        </p:spPr>
        <p:txBody>
          <a:bodyPr wrap="square" lIns="91440" tIns="45720" rIns="91440" bIns="45720" anchor="t" anchorCtr="0"/>
          <a:lstStyle/>
          <a:p>
            <a:pPr lvl="0"/>
            <a:endParaRPr lang="zh-CN" altLang="en-US" dirty="0">
              <a:ea typeface="宋体" panose="02010600030101010101" pitchFamily="2" charset="-122"/>
            </a:endParaRPr>
          </a:p>
        </p:txBody>
      </p:sp>
      <p:sp>
        <p:nvSpPr>
          <p:cNvPr id="430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22</a:t>
            </a:fld>
            <a:endParaRPr lang="zh-CN" altLang="en-US" sz="1200"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t" anchorCtr="0"/>
          <a:lstStyle/>
          <a:p>
            <a:pPr lvl="0"/>
            <a:r>
              <a:rPr lang="en-US" altLang="zh-CN" dirty="0">
                <a:ea typeface="宋体" panose="02010600030101010101" pitchFamily="2" charset="-122"/>
              </a:rPr>
              <a:t>*</a:t>
            </a:r>
          </a:p>
          <a:p>
            <a:pPr lvl="0"/>
            <a:r>
              <a:rPr lang="en-US" altLang="zh-CN" dirty="0">
                <a:ea typeface="宋体" panose="02010600030101010101" pitchFamily="2" charset="-122"/>
              </a:rPr>
              <a:t>3.</a:t>
            </a:r>
            <a:r>
              <a:rPr lang="zh-CN" altLang="en-US" dirty="0">
                <a:ea typeface="宋体" panose="02010600030101010101" pitchFamily="2" charset="-122"/>
              </a:rPr>
              <a:t>易于实现</a:t>
            </a:r>
          </a:p>
          <a:p>
            <a:pPr lvl="0"/>
            <a:endParaRPr lang="zh-CN" altLang="en-US" dirty="0">
              <a:ea typeface="宋体" panose="02010600030101010101" pitchFamily="2" charset="-122"/>
            </a:endParaRPr>
          </a:p>
        </p:txBody>
      </p:sp>
      <p:sp>
        <p:nvSpPr>
          <p:cNvPr id="501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24</a:t>
            </a:fld>
            <a:endParaRPr lang="zh-CN" altLang="en-US" sz="1200"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25</a:t>
            </a:fld>
            <a:endParaRPr lang="zh-CN" altLang="en-US" sz="1200" dirty="0">
              <a:ea typeface="宋体" panose="02010600030101010101" pitchFamily="2" charset="-122"/>
            </a:endParaRPr>
          </a:p>
        </p:txBody>
      </p:sp>
      <p:sp>
        <p:nvSpPr>
          <p:cNvPr id="46083" name="Rectangle 2"/>
          <p:cNvSpPr>
            <a:spLocks noGrp="1" noRot="1" noChangeAspect="1" noTextEdit="1"/>
          </p:cNvSpPr>
          <p:nvPr>
            <p:ph type="sldImg"/>
          </p:nvPr>
        </p:nvSpPr>
        <p:spPr>
          <a:ln/>
        </p:spPr>
      </p:sp>
      <p:sp>
        <p:nvSpPr>
          <p:cNvPr id="46084" name="Rectangle 3"/>
          <p:cNvSpPr>
            <a:spLocks noGrp="1"/>
          </p:cNvSpPr>
          <p:nvPr>
            <p:ph type="body"/>
          </p:nvPr>
        </p:nvSpPr>
        <p:spPr>
          <a:ln/>
        </p:spPr>
        <p:txBody>
          <a:bodyPr wrap="square" lIns="91440" tIns="45720" rIns="91440" bIns="45720" anchor="t" anchorCtr="0"/>
          <a:lstStyle/>
          <a:p>
            <a:pPr lvl="0" eaLnBrk="1" hangingPunct="1"/>
            <a:r>
              <a:rPr lang="en-US" altLang="zh-CN" dirty="0">
                <a:ea typeface="宋体" panose="02010600030101010101" pitchFamily="2" charset="-122"/>
              </a:rPr>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idx="1"/>
          </p:nvPr>
        </p:nvSpPr>
        <p:spPr>
          <a:ln/>
        </p:spPr>
        <p:txBody>
          <a:bodyPr wrap="square" lIns="91440" tIns="45720" rIns="91440" bIns="45720" anchor="t" anchorCtr="0"/>
          <a:lstStyle/>
          <a:p>
            <a:pPr lvl="0"/>
            <a:r>
              <a:rPr lang="en-US" altLang="zh-CN" dirty="0">
                <a:ea typeface="宋体" panose="02010600030101010101" pitchFamily="2" charset="-122"/>
              </a:rPr>
              <a:t>*</a:t>
            </a:r>
          </a:p>
          <a:p>
            <a:pPr lvl="0"/>
            <a:r>
              <a:rPr lang="en-US" altLang="zh-CN" dirty="0">
                <a:ea typeface="宋体" panose="02010600030101010101" pitchFamily="2" charset="-122"/>
              </a:rPr>
              <a:t>Server</a:t>
            </a:r>
            <a:r>
              <a:rPr lang="zh-CN" altLang="en-US" dirty="0">
                <a:ea typeface="宋体" panose="02010600030101010101" pitchFamily="2" charset="-122"/>
              </a:rPr>
              <a:t>崩溃后恢复，通知</a:t>
            </a:r>
            <a:r>
              <a:rPr lang="en-US" altLang="zh-CN" dirty="0">
                <a:ea typeface="宋体" panose="02010600030101010101" pitchFamily="2" charset="-122"/>
              </a:rPr>
              <a:t>client</a:t>
            </a:r>
            <a:r>
              <a:rPr lang="zh-CN" altLang="en-US" dirty="0">
                <a:ea typeface="宋体" panose="02010600030101010101" pitchFamily="2" charset="-122"/>
              </a:rPr>
              <a:t>，</a:t>
            </a:r>
            <a:r>
              <a:rPr lang="en-US" altLang="zh-CN" dirty="0">
                <a:ea typeface="宋体" panose="02010600030101010101" pitchFamily="2" charset="-122"/>
              </a:rPr>
              <a:t>client</a:t>
            </a:r>
            <a:r>
              <a:rPr lang="zh-CN" altLang="en-US" dirty="0">
                <a:ea typeface="宋体" panose="02010600030101010101" pitchFamily="2" charset="-122"/>
              </a:rPr>
              <a:t>所采取的策略：</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难点：</a:t>
            </a:r>
            <a:r>
              <a:rPr lang="en-US" altLang="zh-CN" dirty="0">
                <a:ea typeface="宋体" panose="02010600030101010101" pitchFamily="2" charset="-122"/>
              </a:rPr>
              <a:t>client</a:t>
            </a:r>
            <a:r>
              <a:rPr lang="zh-CN" altLang="en-US" dirty="0">
                <a:ea typeface="宋体" panose="02010600030101010101" pitchFamily="2" charset="-122"/>
              </a:rPr>
              <a:t>不知道</a:t>
            </a:r>
            <a:r>
              <a:rPr lang="en-US" altLang="zh-CN" dirty="0">
                <a:ea typeface="宋体" panose="02010600030101010101" pitchFamily="2" charset="-122"/>
              </a:rPr>
              <a:t>sever</a:t>
            </a:r>
            <a:r>
              <a:rPr lang="zh-CN" altLang="en-US" dirty="0">
                <a:ea typeface="宋体" panose="02010600030101010101" pitchFamily="2" charset="-122"/>
              </a:rPr>
              <a:t>处于哪种情况；</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转账；</a:t>
            </a:r>
          </a:p>
        </p:txBody>
      </p:sp>
      <p:sp>
        <p:nvSpPr>
          <p:cNvPr id="481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26</a:t>
            </a:fld>
            <a:endParaRPr lang="zh-CN" altLang="en-US" sz="1200"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ln/>
        </p:spPr>
        <p:txBody>
          <a:bodyPr wrap="square" lIns="91440" tIns="45720" rIns="91440" bIns="45720" anchor="t" anchorCtr="0"/>
          <a:lstStyle/>
          <a:p>
            <a:pPr lvl="0"/>
            <a:r>
              <a:rPr lang="en-US" altLang="zh-CN" dirty="0">
                <a:ea typeface="宋体" panose="02010600030101010101" pitchFamily="2" charset="-122"/>
              </a:rPr>
              <a:t>4.</a:t>
            </a:r>
            <a:r>
              <a:rPr lang="zh-CN" altLang="en-US" dirty="0">
                <a:ea typeface="宋体" panose="02010600030101010101" pitchFamily="2" charset="-122"/>
              </a:rPr>
              <a:t>定时器：重传；（序列号：避免二次执行）</a:t>
            </a:r>
          </a:p>
        </p:txBody>
      </p:sp>
      <p:sp>
        <p:nvSpPr>
          <p:cNvPr id="522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27</a:t>
            </a:fld>
            <a:endParaRPr lang="zh-CN" altLang="en-US" sz="1200"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支持基于进程备份的进程恢复；</a:t>
            </a:r>
            <a:endParaRPr lang="en-US" altLang="zh-CN" dirty="0">
              <a:ea typeface="宋体" panose="02010600030101010101" pitchFamily="2" charset="-122"/>
            </a:endParaRPr>
          </a:p>
          <a:p>
            <a:pPr lvl="0"/>
            <a:r>
              <a:rPr lang="zh-CN" altLang="en-US" dirty="0">
                <a:ea typeface="宋体" panose="02010600030101010101" pitchFamily="2" charset="-122"/>
              </a:rPr>
              <a:t>消息传递不可靠的反例；</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目的：</a:t>
            </a:r>
          </a:p>
          <a:p>
            <a:pPr lvl="0"/>
            <a:endParaRPr lang="zh-CN" altLang="en-US" dirty="0">
              <a:ea typeface="宋体" panose="02010600030101010101" pitchFamily="2" charset="-122"/>
            </a:endParaRPr>
          </a:p>
          <a:p>
            <a:pPr lvl="0"/>
            <a:endParaRPr lang="zh-CN" altLang="en-US" dirty="0">
              <a:ea typeface="宋体" panose="02010600030101010101" pitchFamily="2" charset="-122"/>
            </a:endParaRPr>
          </a:p>
          <a:p>
            <a:pPr lvl="0"/>
            <a:endParaRPr lang="zh-CN" altLang="en-US" dirty="0">
              <a:ea typeface="宋体" panose="02010600030101010101" pitchFamily="2" charset="-122"/>
            </a:endParaRPr>
          </a:p>
        </p:txBody>
      </p:sp>
      <p:sp>
        <p:nvSpPr>
          <p:cNvPr id="542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28</a:t>
            </a:fld>
            <a:endParaRPr lang="zh-CN" altLang="en-US" sz="1200"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假设</a:t>
            </a:r>
            <a:endParaRPr lang="en-US" altLang="zh-CN" dirty="0">
              <a:ea typeface="宋体" panose="02010600030101010101" pitchFamily="2" charset="-122"/>
            </a:endParaRPr>
          </a:p>
          <a:p>
            <a:pPr lvl="0"/>
            <a:r>
              <a:rPr lang="en-US" altLang="zh-CN" dirty="0">
                <a:ea typeface="宋体" panose="02010600030101010101" pitchFamily="2" charset="-122"/>
              </a:rPr>
              <a:t>1.</a:t>
            </a:r>
            <a:r>
              <a:rPr lang="zh-CN" altLang="en-US" dirty="0">
                <a:ea typeface="宋体" panose="02010600030101010101" pitchFamily="2" charset="-122"/>
              </a:rPr>
              <a:t>下层不可靠多播网络</a:t>
            </a:r>
            <a:endParaRPr lang="en-US" altLang="zh-CN" dirty="0">
              <a:ea typeface="宋体" panose="02010600030101010101" pitchFamily="2" charset="-122"/>
            </a:endParaRPr>
          </a:p>
          <a:p>
            <a:pPr lvl="0"/>
            <a:r>
              <a:rPr lang="en-US" altLang="zh-CN" dirty="0">
                <a:ea typeface="宋体" panose="02010600030101010101" pitchFamily="2" charset="-122"/>
              </a:rPr>
              <a:t>2.</a:t>
            </a:r>
            <a:r>
              <a:rPr lang="zh-CN" altLang="en-US" dirty="0">
                <a:ea typeface="宋体" panose="02010600030101010101" pitchFamily="2" charset="-122"/>
              </a:rPr>
              <a:t>发送者知道所有接收者</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编号：便于接收者检测消息丢失；</a:t>
            </a:r>
          </a:p>
        </p:txBody>
      </p:sp>
      <p:sp>
        <p:nvSpPr>
          <p:cNvPr id="563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29</a:t>
            </a:fld>
            <a:endParaRPr lang="zh-CN" altLang="en-US" sz="1200"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ln/>
        </p:spPr>
        <p:txBody>
          <a:bodyPr wrap="square" lIns="91440" tIns="45720" rIns="91440" bIns="45720" anchor="t" anchorCtr="0"/>
          <a:lstStyle/>
          <a:p>
            <a:pPr lvl="0"/>
            <a:r>
              <a:rPr lang="en-US" altLang="zh-CN" dirty="0">
                <a:ea typeface="宋体" panose="02010600030101010101" pitchFamily="2" charset="-122"/>
              </a:rPr>
              <a:t>Buffer</a:t>
            </a:r>
            <a:r>
              <a:rPr lang="zh-CN" altLang="en-US" dirty="0">
                <a:ea typeface="宋体" panose="02010600030101010101" pitchFamily="2" charset="-122"/>
              </a:rPr>
              <a:t>中始终维护该消息；</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防止</a:t>
            </a:r>
            <a:r>
              <a:rPr lang="en-US" altLang="zh-CN" dirty="0">
                <a:ea typeface="宋体" panose="02010600030101010101" pitchFamily="2" charset="-122"/>
              </a:rPr>
              <a:t>sender</a:t>
            </a:r>
            <a:r>
              <a:rPr lang="zh-CN" altLang="en-US" dirty="0">
                <a:ea typeface="宋体" panose="02010600030101010101" pitchFamily="2" charset="-122"/>
              </a:rPr>
              <a:t>收到过多</a:t>
            </a:r>
            <a:r>
              <a:rPr lang="en-US" altLang="zh-CN" dirty="0">
                <a:ea typeface="宋体" panose="02010600030101010101" pitchFamily="2" charset="-122"/>
              </a:rPr>
              <a:t>reply</a:t>
            </a:r>
            <a:r>
              <a:rPr lang="zh-CN" altLang="en-US" dirty="0">
                <a:ea typeface="宋体" panose="02010600030101010101" pitchFamily="2" charset="-122"/>
              </a:rPr>
              <a:t>成为瓶颈</a:t>
            </a:r>
          </a:p>
        </p:txBody>
      </p:sp>
      <p:sp>
        <p:nvSpPr>
          <p:cNvPr id="583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30</a:t>
            </a:fld>
            <a:endParaRPr lang="zh-CN" altLang="en-US" sz="1200"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ln/>
        </p:spPr>
        <p:txBody>
          <a:bodyPr wrap="square" lIns="91440" tIns="45720" rIns="91440" bIns="45720" anchor="t" anchorCtr="0"/>
          <a:lstStyle/>
          <a:p>
            <a:pPr lvl="0"/>
            <a:r>
              <a:rPr lang="en-US" altLang="zh-CN" dirty="0">
                <a:ea typeface="宋体" panose="02010600030101010101" pitchFamily="2" charset="-122"/>
              </a:rPr>
              <a:t>Very large group</a:t>
            </a:r>
          </a:p>
          <a:p>
            <a:pPr lvl="0"/>
            <a:endParaRPr lang="en-US" altLang="zh-CN" dirty="0">
              <a:ea typeface="宋体" panose="02010600030101010101" pitchFamily="2" charset="-122"/>
            </a:endParaRPr>
          </a:p>
          <a:p>
            <a:pPr lvl="0"/>
            <a:r>
              <a:rPr lang="zh-CN" altLang="en-US" dirty="0">
                <a:ea typeface="宋体" panose="02010600030101010101" pitchFamily="2" charset="-122"/>
              </a:rPr>
              <a:t>如果上层有该消息，则不需要返回至</a:t>
            </a:r>
            <a:r>
              <a:rPr lang="en-US" altLang="zh-CN" dirty="0">
                <a:ea typeface="宋体" panose="02010600030101010101" pitchFamily="2" charset="-122"/>
              </a:rPr>
              <a:t>sender</a:t>
            </a:r>
          </a:p>
          <a:p>
            <a:pPr lvl="0"/>
            <a:endParaRPr lang="en-US" altLang="zh-CN" dirty="0">
              <a:ea typeface="宋体" panose="02010600030101010101" pitchFamily="2" charset="-122"/>
            </a:endParaRPr>
          </a:p>
          <a:p>
            <a:pPr lvl="0"/>
            <a:r>
              <a:rPr lang="zh-CN" altLang="en-US" dirty="0">
                <a:ea typeface="宋体" panose="02010600030101010101" pitchFamily="2" charset="-122"/>
              </a:rPr>
              <a:t>多群组：协调者：</a:t>
            </a:r>
            <a:r>
              <a:rPr lang="en-US" altLang="zh-CN" dirty="0">
                <a:ea typeface="宋体" panose="02010600030101010101" pitchFamily="2" charset="-122"/>
              </a:rPr>
              <a:t>1.</a:t>
            </a:r>
            <a:r>
              <a:rPr lang="zh-CN" altLang="en-US" dirty="0">
                <a:ea typeface="宋体" panose="02010600030101010101" pitchFamily="2" charset="-122"/>
              </a:rPr>
              <a:t>群组内发送，</a:t>
            </a:r>
            <a:r>
              <a:rPr lang="en-US" altLang="zh-CN" dirty="0">
                <a:ea typeface="宋体" panose="02010600030101010101" pitchFamily="2" charset="-122"/>
              </a:rPr>
              <a:t>2.</a:t>
            </a:r>
            <a:r>
              <a:rPr lang="zh-CN" altLang="en-US" dirty="0">
                <a:ea typeface="宋体" panose="02010600030101010101" pitchFamily="2" charset="-122"/>
              </a:rPr>
              <a:t>群组间协调者发送</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协调者</a:t>
            </a:r>
            <a:r>
              <a:rPr lang="en-US" altLang="zh-CN" dirty="0">
                <a:ea typeface="宋体" panose="02010600030101010101" pitchFamily="2" charset="-122"/>
              </a:rPr>
              <a:t>-</a:t>
            </a:r>
            <a:r>
              <a:rPr lang="zh-CN" altLang="en-US" dirty="0">
                <a:ea typeface="宋体" panose="02010600030101010101" pitchFamily="2" charset="-122"/>
              </a:rPr>
              <a:t>协调者（缓存，重传）</a:t>
            </a:r>
            <a:endParaRPr lang="en-US" altLang="zh-CN" dirty="0">
              <a:ea typeface="宋体" panose="02010600030101010101" pitchFamily="2" charset="-122"/>
            </a:endParaRPr>
          </a:p>
          <a:p>
            <a:pPr lvl="0"/>
            <a:r>
              <a:rPr lang="zh-CN" altLang="en-US" dirty="0">
                <a:ea typeface="宋体" panose="02010600030101010101" pitchFamily="2" charset="-122"/>
              </a:rPr>
              <a:t>协调者</a:t>
            </a:r>
            <a:r>
              <a:rPr lang="en-US" altLang="zh-CN" dirty="0">
                <a:ea typeface="宋体" panose="02010600030101010101" pitchFamily="2" charset="-122"/>
              </a:rPr>
              <a:t>-</a:t>
            </a:r>
            <a:r>
              <a:rPr lang="zh-CN" altLang="en-US" dirty="0">
                <a:ea typeface="宋体" panose="02010600030101010101" pitchFamily="2" charset="-122"/>
              </a:rPr>
              <a:t>接收者（缓存，重传）</a:t>
            </a:r>
          </a:p>
        </p:txBody>
      </p:sp>
      <p:sp>
        <p:nvSpPr>
          <p:cNvPr id="604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31</a:t>
            </a:fld>
            <a:endParaRPr lang="zh-CN" altLang="en-US" sz="1200"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多副本一致性</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事务原子性：考虑进程故障；故障后再加入，如何恢复</a:t>
            </a:r>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32</a:t>
            </a:fld>
            <a:endParaRPr lang="zh-CN" altLang="en-US" sz="1200"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ln/>
        </p:spPr>
        <p:txBody>
          <a:bodyPr wrap="square" lIns="91440" tIns="45720" rIns="91440" bIns="45720" anchor="t" anchorCtr="0"/>
          <a:lstStyle/>
          <a:p>
            <a:pPr lvl="0"/>
            <a:r>
              <a:rPr lang="en-US" altLang="zh-CN" dirty="0">
                <a:ea typeface="宋体" panose="02010600030101010101" pitchFamily="2" charset="-122"/>
              </a:rPr>
              <a:t>G</a:t>
            </a:r>
            <a:r>
              <a:rPr lang="zh-CN" altLang="en-US" dirty="0">
                <a:ea typeface="宋体" panose="02010600030101010101" pitchFamily="2" charset="-122"/>
              </a:rPr>
              <a:t>：所有进程维护一个全局视图：每个消息和一个视图绑定：</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进程故障</a:t>
            </a:r>
            <a:r>
              <a:rPr lang="en-US" altLang="zh-CN" dirty="0">
                <a:ea typeface="宋体" panose="02010600030101010101" pitchFamily="2" charset="-122"/>
              </a:rPr>
              <a:t>-</a:t>
            </a:r>
            <a:r>
              <a:rPr lang="zh-CN" altLang="en-US" dirty="0">
                <a:ea typeface="宋体" panose="02010600030101010101" pitchFamily="2" charset="-122"/>
              </a:rPr>
              <a:t>恢复：视图节点离开</a:t>
            </a:r>
            <a:r>
              <a:rPr lang="en-US" altLang="zh-CN" dirty="0">
                <a:ea typeface="宋体" panose="02010600030101010101" pitchFamily="2" charset="-122"/>
              </a:rPr>
              <a:t>-</a:t>
            </a:r>
            <a:r>
              <a:rPr lang="zh-CN" altLang="en-US" dirty="0">
                <a:ea typeface="宋体" panose="02010600030101010101" pitchFamily="2" charset="-122"/>
              </a:rPr>
              <a:t>加入：好处：恢复最新状态；</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接收者进程故障；</a:t>
            </a:r>
            <a:endParaRPr lang="en-US" altLang="zh-CN" dirty="0">
              <a:ea typeface="宋体" panose="02010600030101010101" pitchFamily="2" charset="-122"/>
            </a:endParaRPr>
          </a:p>
          <a:p>
            <a:pPr lvl="0"/>
            <a:r>
              <a:rPr lang="zh-CN" altLang="en-US" dirty="0">
                <a:ea typeface="宋体" panose="02010600030101010101" pitchFamily="2" charset="-122"/>
              </a:rPr>
              <a:t>发送者进程故障；</a:t>
            </a:r>
            <a:endParaRPr lang="en-US" altLang="zh-CN" dirty="0">
              <a:ea typeface="宋体" panose="02010600030101010101" pitchFamily="2" charset="-122"/>
            </a:endParaRPr>
          </a:p>
          <a:p>
            <a:pPr lvl="0"/>
            <a:endParaRPr lang="en-US" altLang="zh-CN" dirty="0">
              <a:ea typeface="宋体" panose="02010600030101010101" pitchFamily="2" charset="-122"/>
            </a:endParaRPr>
          </a:p>
        </p:txBody>
      </p:sp>
      <p:sp>
        <p:nvSpPr>
          <p:cNvPr id="645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33</a:t>
            </a:fld>
            <a:endParaRPr lang="zh-CN" altLang="en-US" sz="1200"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虚同步和原子组播的区别；</a:t>
            </a:r>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34</a:t>
            </a:fld>
            <a:endParaRPr lang="zh-CN" altLang="en-US" sz="1200"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a:ln/>
        </p:spPr>
      </p:sp>
      <p:sp>
        <p:nvSpPr>
          <p:cNvPr id="7168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进程内，进程间</a:t>
            </a:r>
          </a:p>
        </p:txBody>
      </p:sp>
      <p:sp>
        <p:nvSpPr>
          <p:cNvPr id="716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38</a:t>
            </a:fld>
            <a:endParaRPr lang="zh-CN" altLang="en-US" sz="1200"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ln/>
        </p:spPr>
        <p:txBody>
          <a:bodyPr wrap="square" lIns="91440" tIns="45720" rIns="91440" bIns="45720" anchor="t" anchorCtr="0"/>
          <a:lstStyle/>
          <a:p>
            <a:pPr lvl="0"/>
            <a:endParaRPr lang="zh-CN" altLang="en-US" dirty="0">
              <a:ea typeface="宋体" panose="02010600030101010101" pitchFamily="2" charset="-122"/>
            </a:endParaRPr>
          </a:p>
        </p:txBody>
      </p:sp>
      <p:sp>
        <p:nvSpPr>
          <p:cNvPr id="737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39</a:t>
            </a:fld>
            <a:endParaRPr lang="zh-CN" altLang="en-US" sz="1200"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ln/>
        </p:spPr>
        <p:txBody>
          <a:bodyPr wrap="square" lIns="91440" tIns="45720" rIns="91440" bIns="45720" anchor="t" anchorCtr="0"/>
          <a:lstStyle/>
          <a:p>
            <a:pPr lvl="0"/>
            <a:endParaRPr lang="zh-CN" altLang="en-US" dirty="0">
              <a:ea typeface="宋体" panose="02010600030101010101" pitchFamily="2" charset="-122"/>
            </a:endParaRPr>
          </a:p>
        </p:txBody>
      </p:sp>
      <p:sp>
        <p:nvSpPr>
          <p:cNvPr id="768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41</a:t>
            </a:fld>
            <a:endParaRPr lang="zh-CN" altLang="en-US" sz="1200"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ln/>
        </p:spPr>
        <p:txBody>
          <a:bodyPr wrap="square" lIns="91440" tIns="45720" rIns="91440" bIns="45720" anchor="t" anchorCtr="0"/>
          <a:lstStyle/>
          <a:p>
            <a:pPr lvl="0"/>
            <a:endParaRPr lang="zh-CN" altLang="en-US" dirty="0">
              <a:ea typeface="宋体" panose="02010600030101010101" pitchFamily="2" charset="-122"/>
            </a:endParaRPr>
          </a:p>
        </p:txBody>
      </p:sp>
      <p:sp>
        <p:nvSpPr>
          <p:cNvPr id="788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42</a:t>
            </a:fld>
            <a:endParaRPr lang="zh-CN" altLang="en-US" sz="1200"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分布式事务两阶段提交：</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故障应对方法：设定超时时间，超时认为故障，根据所处状态做出决定：</a:t>
            </a:r>
            <a:r>
              <a:rPr lang="en-US" altLang="zh-CN" dirty="0">
                <a:ea typeface="宋体" panose="02010600030101010101" pitchFamily="2" charset="-122"/>
              </a:rPr>
              <a:t>1.</a:t>
            </a:r>
            <a:r>
              <a:rPr lang="zh-CN" altLang="en-US" dirty="0">
                <a:ea typeface="宋体" panose="02010600030101010101" pitchFamily="2" charset="-122"/>
              </a:rPr>
              <a:t>放弃事务还是</a:t>
            </a:r>
            <a:r>
              <a:rPr lang="en-US" altLang="zh-CN" dirty="0">
                <a:ea typeface="宋体" panose="02010600030101010101" pitchFamily="2" charset="-122"/>
              </a:rPr>
              <a:t>2.</a:t>
            </a:r>
            <a:r>
              <a:rPr lang="zh-CN" altLang="en-US" dirty="0">
                <a:ea typeface="宋体" panose="02010600030101010101" pitchFamily="2" charset="-122"/>
              </a:rPr>
              <a:t>提交事务；</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所有接收进程的决定要达成一致；</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当</a:t>
            </a:r>
            <a:r>
              <a:rPr lang="en-US" altLang="zh-CN" dirty="0">
                <a:ea typeface="宋体" panose="02010600030101010101" pitchFamily="2" charset="-122"/>
              </a:rPr>
              <a:t>P</a:t>
            </a:r>
            <a:r>
              <a:rPr lang="zh-CN" altLang="en-US" dirty="0">
                <a:ea typeface="宋体" panose="02010600030101010101" pitchFamily="2" charset="-122"/>
              </a:rPr>
              <a:t>超时后处于不同状态：不同应对方法做出决定；</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ready</a:t>
            </a:r>
            <a:r>
              <a:rPr lang="zh-CN" altLang="en-US" dirty="0">
                <a:ea typeface="宋体" panose="02010600030101010101" pitchFamily="2" charset="-122"/>
              </a:rPr>
              <a:t>：需要询问其他进程的状态；</a:t>
            </a:r>
            <a:endParaRPr lang="en-US" altLang="zh-CN" dirty="0">
              <a:ea typeface="宋体" panose="02010600030101010101" pitchFamily="2" charset="-122"/>
            </a:endParaRPr>
          </a:p>
          <a:p>
            <a:pPr lvl="0"/>
            <a:r>
              <a:rPr lang="en-US" altLang="zh-CN" dirty="0">
                <a:ea typeface="宋体" panose="02010600030101010101" pitchFamily="2" charset="-122"/>
              </a:rPr>
              <a:t>Blocking</a:t>
            </a:r>
            <a:r>
              <a:rPr lang="zh-CN" altLang="en-US" dirty="0">
                <a:ea typeface="宋体" panose="02010600030101010101" pitchFamily="2" charset="-122"/>
              </a:rPr>
              <a:t>：原因：不知道协调者崩溃时的状态：</a:t>
            </a:r>
            <a:r>
              <a:rPr lang="en-US" altLang="zh-CN" dirty="0">
                <a:ea typeface="宋体" panose="02010600030101010101" pitchFamily="2" charset="-122"/>
              </a:rPr>
              <a:t>1.</a:t>
            </a:r>
            <a:r>
              <a:rPr lang="zh-CN" altLang="en-US" dirty="0">
                <a:ea typeface="宋体" panose="02010600030101010101" pitchFamily="2" charset="-122"/>
              </a:rPr>
              <a:t>（没有收到所有参与者的回复）放弃，</a:t>
            </a:r>
            <a:r>
              <a:rPr lang="en-US" altLang="zh-CN" dirty="0">
                <a:ea typeface="宋体" panose="02010600030101010101" pitchFamily="2" charset="-122"/>
              </a:rPr>
              <a:t>2.</a:t>
            </a:r>
            <a:r>
              <a:rPr lang="zh-CN" altLang="en-US" dirty="0">
                <a:ea typeface="宋体" panose="02010600030101010101" pitchFamily="2" charset="-122"/>
              </a:rPr>
              <a:t> （收到所有参与者的回复）提交</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p:txBody>
      </p:sp>
      <p:sp>
        <p:nvSpPr>
          <p:cNvPr id="809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43</a:t>
            </a:fld>
            <a:endParaRPr lang="zh-CN" altLang="en-US" sz="1200"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接收者进程：</a:t>
            </a:r>
            <a:r>
              <a:rPr lang="en-US" altLang="zh-CN" dirty="0">
                <a:ea typeface="宋体" panose="02010600030101010101" pitchFamily="2" charset="-122"/>
              </a:rPr>
              <a:t>ready</a:t>
            </a:r>
            <a:r>
              <a:rPr lang="zh-CN" altLang="en-US" dirty="0">
                <a:ea typeface="宋体" panose="02010600030101010101" pitchFamily="2" charset="-122"/>
              </a:rPr>
              <a:t>：协调者最多处于</a:t>
            </a:r>
            <a:r>
              <a:rPr lang="en-US" altLang="zh-CN" dirty="0">
                <a:ea typeface="宋体" panose="02010600030101010101" pitchFamily="2" charset="-122"/>
              </a:rPr>
              <a:t>precommit</a:t>
            </a:r>
            <a:r>
              <a:rPr lang="zh-CN" altLang="en-US" dirty="0">
                <a:ea typeface="宋体" panose="02010600030101010101" pitchFamily="2" charset="-122"/>
              </a:rPr>
              <a:t>态</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接收者进程：</a:t>
            </a:r>
            <a:r>
              <a:rPr lang="en-US" altLang="zh-CN" dirty="0">
                <a:ea typeface="宋体" panose="02010600030101010101" pitchFamily="2" charset="-122"/>
              </a:rPr>
              <a:t>precommit</a:t>
            </a:r>
            <a:r>
              <a:rPr lang="zh-CN" altLang="en-US" dirty="0">
                <a:ea typeface="宋体" panose="02010600030101010101" pitchFamily="2" charset="-122"/>
              </a:rPr>
              <a:t>：协调者至少处于</a:t>
            </a:r>
            <a:r>
              <a:rPr lang="en-US" altLang="zh-CN" dirty="0">
                <a:ea typeface="宋体" panose="02010600030101010101" pitchFamily="2" charset="-122"/>
              </a:rPr>
              <a:t>ready</a:t>
            </a:r>
            <a:r>
              <a:rPr lang="zh-CN" altLang="en-US" dirty="0">
                <a:ea typeface="宋体" panose="02010600030101010101" pitchFamily="2" charset="-122"/>
              </a:rPr>
              <a:t>态</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zh-CN" altLang="en-US" dirty="0">
              <a:ea typeface="宋体" panose="02010600030101010101" pitchFamily="2" charset="-122"/>
            </a:endParaRPr>
          </a:p>
        </p:txBody>
      </p:sp>
      <p:sp>
        <p:nvSpPr>
          <p:cNvPr id="839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45</a:t>
            </a:fld>
            <a:endParaRPr lang="zh-CN" altLang="en-US" sz="1200"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上层系统崩溃：备份</a:t>
            </a:r>
            <a:r>
              <a:rPr lang="en-US" altLang="zh-CN" dirty="0">
                <a:ea typeface="宋体" panose="02010600030101010101" pitchFamily="2" charset="-122"/>
              </a:rPr>
              <a:t>1</a:t>
            </a:r>
            <a:r>
              <a:rPr lang="zh-CN" altLang="en-US" dirty="0">
                <a:ea typeface="宋体" panose="02010600030101010101" pitchFamily="2" charset="-122"/>
              </a:rPr>
              <a:t>更新后，备份</a:t>
            </a:r>
            <a:r>
              <a:rPr lang="en-US" altLang="zh-CN" dirty="0">
                <a:ea typeface="宋体" panose="02010600030101010101" pitchFamily="2" charset="-122"/>
              </a:rPr>
              <a:t>2</a:t>
            </a:r>
            <a:r>
              <a:rPr lang="zh-CN" altLang="en-US" dirty="0">
                <a:ea typeface="宋体" panose="02010600030101010101" pitchFamily="2" charset="-122"/>
              </a:rPr>
              <a:t>更新前；</a:t>
            </a:r>
          </a:p>
        </p:txBody>
      </p:sp>
      <p:sp>
        <p:nvSpPr>
          <p:cNvPr id="880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48</a:t>
            </a:fld>
            <a:endParaRPr lang="zh-CN" altLang="en-US" sz="1200"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单进程内检查点；</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更替过程中可能发生崩溃，如何恢复</a:t>
            </a:r>
          </a:p>
        </p:txBody>
      </p:sp>
      <p:sp>
        <p:nvSpPr>
          <p:cNvPr id="901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49</a:t>
            </a:fld>
            <a:endParaRPr lang="zh-CN" altLang="en-US" sz="1200"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用用判断崩溃发生在何处，并采取相应措施；</a:t>
            </a:r>
          </a:p>
        </p:txBody>
      </p:sp>
      <p:sp>
        <p:nvSpPr>
          <p:cNvPr id="931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51</a:t>
            </a:fld>
            <a:endParaRPr lang="zh-CN" altLang="en-US" sz="1200"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多进程间检查点设置：</a:t>
            </a:r>
            <a:endParaRPr lang="en-US" altLang="zh-CN" dirty="0">
              <a:ea typeface="宋体" panose="02010600030101010101" pitchFamily="2" charset="-122"/>
            </a:endParaRPr>
          </a:p>
          <a:p>
            <a:pPr lvl="0"/>
            <a:r>
              <a:rPr lang="zh-CN" altLang="en-US" dirty="0">
                <a:ea typeface="宋体" panose="02010600030101010101" pitchFamily="2" charset="-122"/>
              </a:rPr>
              <a:t>进程间同步：</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检查点的设置需要维护系统全局状态一致</a:t>
            </a:r>
          </a:p>
        </p:txBody>
      </p:sp>
      <p:sp>
        <p:nvSpPr>
          <p:cNvPr id="952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52</a:t>
            </a:fld>
            <a:endParaRPr lang="zh-CN" altLang="en-US" sz="1200"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系统中存在多个进程，无法识别谁是消息的发送者</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
        <p:nvSpPr>
          <p:cNvPr id="972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53</a:t>
            </a:fld>
            <a:endParaRPr lang="zh-CN" altLang="en-US" sz="1200"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ln/>
        </p:spPr>
        <p:txBody>
          <a:bodyPr wrap="square" lIns="91440" tIns="45720" rIns="91440" bIns="45720" anchor="t" anchorCtr="0"/>
          <a:lstStyle/>
          <a:p>
            <a:pPr lvl="0"/>
            <a:r>
              <a:rPr lang="zh-CN" altLang="en-US" dirty="0">
                <a:latin typeface="宋体" panose="02010600030101010101" pitchFamily="2" charset="-122"/>
                <a:ea typeface="宋体" panose="02010600030101010101" pitchFamily="2" charset="-122"/>
              </a:rPr>
              <a:t>局部状态：记录了该进程发送的所有消息和接收的所有消息；</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两个消息集合：</a:t>
            </a:r>
          </a:p>
        </p:txBody>
      </p:sp>
      <p:sp>
        <p:nvSpPr>
          <p:cNvPr id="993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54</a:t>
            </a:fld>
            <a:endParaRPr lang="zh-CN" altLang="en-US" sz="1200"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一致性全局状态</a:t>
            </a:r>
            <a:r>
              <a:rPr lang="en-US" altLang="zh-CN" dirty="0">
                <a:ea typeface="宋体" panose="02010600030101010101" pitchFamily="2" charset="-122"/>
              </a:rPr>
              <a:t>-</a:t>
            </a:r>
            <a:r>
              <a:rPr lang="zh-CN" altLang="en-US" dirty="0">
                <a:ea typeface="宋体" panose="02010600030101010101" pitchFamily="2" charset="-122"/>
              </a:rPr>
              <a:t>分布式快照</a:t>
            </a:r>
            <a:r>
              <a:rPr lang="en-US" altLang="zh-CN" dirty="0">
                <a:ea typeface="宋体" panose="02010600030101010101" pitchFamily="2" charset="-122"/>
              </a:rPr>
              <a:t>-</a:t>
            </a:r>
            <a:r>
              <a:rPr lang="zh-CN" altLang="en-US" dirty="0">
                <a:ea typeface="宋体" panose="02010600030101010101" pitchFamily="2" charset="-122"/>
              </a:rPr>
              <a:t>恢复线</a:t>
            </a:r>
          </a:p>
        </p:txBody>
      </p:sp>
      <p:sp>
        <p:nvSpPr>
          <p:cNvPr id="1013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55</a:t>
            </a:fld>
            <a:endParaRPr lang="zh-CN" altLang="en-US" sz="1200"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ln/>
        </p:spPr>
        <p:txBody>
          <a:bodyPr wrap="square" lIns="91440" tIns="45720" rIns="91440" bIns="45720" anchor="t" anchorCtr="0"/>
          <a:lstStyle/>
          <a:p>
            <a:pPr lvl="0"/>
            <a:r>
              <a:rPr lang="zh-CN" altLang="en-US" dirty="0">
                <a:ea typeface="宋体" panose="02010600030101010101" pitchFamily="2" charset="-122"/>
              </a:rPr>
              <a:t>消息日志</a:t>
            </a:r>
          </a:p>
        </p:txBody>
      </p:sp>
      <p:sp>
        <p:nvSpPr>
          <p:cNvPr id="1075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t>60</a:t>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lstStyle/>
          <a:p>
            <a:pPr lvl="0"/>
            <a:r>
              <a:rPr lang="en-US" altLang="zh-CN" dirty="0"/>
              <a:t>Click to edit Master title style</a:t>
            </a:r>
          </a:p>
        </p:txBody>
      </p:sp>
      <p:sp>
        <p:nvSpPr>
          <p:cNvPr id="1027" name="Rectangle 3"/>
          <p:cNvSpPr>
            <a:spLocks noGrp="1"/>
          </p:cNvSpPr>
          <p:nvPr>
            <p:ph type="body"/>
          </p:nvPr>
        </p:nvSpPr>
        <p:spPr>
          <a:xfrm>
            <a:off x="0" y="5715000"/>
            <a:ext cx="9144000" cy="8382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lstStyle/>
          <a:p>
            <a:pPr lvl="0"/>
            <a:r>
              <a:rPr lang="en-US" altLang="zh-CN" dirty="0"/>
              <a:t>Click to edit Master title style</a:t>
            </a:r>
          </a:p>
        </p:txBody>
      </p:sp>
      <p:sp>
        <p:nvSpPr>
          <p:cNvPr id="1027" name="Rectangle 3"/>
          <p:cNvSpPr>
            <a:spLocks noGrp="1"/>
          </p:cNvSpPr>
          <p:nvPr>
            <p:ph type="body"/>
          </p:nvPr>
        </p:nvSpPr>
        <p:spPr>
          <a:xfrm>
            <a:off x="0" y="5715000"/>
            <a:ext cx="9144000" cy="8382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6586872-8272-4FBD-B28D-78E71BDE6C3F}"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685800" y="2286000"/>
            <a:ext cx="7772400" cy="1143000"/>
          </a:xfrm>
          <a:ln/>
        </p:spPr>
        <p:txBody>
          <a:bodyPr vert="horz" wrap="square" lIns="91440" tIns="45720" rIns="91440" bIns="45720" anchor="ctr" anchorCtr="0"/>
          <a:lstStyle/>
          <a:p>
            <a:pPr eaLnBrk="1" hangingPunct="1">
              <a:buClrTx/>
              <a:buSzTx/>
              <a:buFontTx/>
            </a:pPr>
            <a:r>
              <a:rPr lang="en-US" altLang="zh-CN" dirty="0">
                <a:ea typeface="宋体" panose="02010600030101010101" pitchFamily="2" charset="-122"/>
              </a:rPr>
              <a:t>Fault Tolerance</a:t>
            </a:r>
          </a:p>
        </p:txBody>
      </p:sp>
      <p:sp>
        <p:nvSpPr>
          <p:cNvPr id="3075" name="Rectangle 3"/>
          <p:cNvSpPr>
            <a:spLocks noGrp="1"/>
          </p:cNvSpPr>
          <p:nvPr>
            <p:ph type="subTitle" idx="1"/>
          </p:nvPr>
        </p:nvSpPr>
        <p:spPr>
          <a:xfrm>
            <a:off x="2773363" y="3776663"/>
            <a:ext cx="3646487" cy="617537"/>
          </a:xfrm>
          <a:ln/>
        </p:spPr>
        <p:txBody>
          <a:bodyPr vert="horz" wrap="square" lIns="91440" tIns="45720" rIns="91440" bIns="45720" anchor="t" anchorCtr="0"/>
          <a:lstStyle/>
          <a:p>
            <a:pPr eaLnBrk="1" hangingPunct="1">
              <a:buSzTx/>
              <a:buFontTx/>
            </a:pPr>
            <a:r>
              <a:rPr lang="en-US" altLang="zh-CN" dirty="0">
                <a:latin typeface="+mn-lt"/>
                <a:ea typeface="宋体" panose="02010600030101010101" pitchFamily="2" charset="-122"/>
                <a:cs typeface="+mn-cs"/>
              </a:rPr>
              <a:t>Chapter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ctrTitle"/>
          </p:nvPr>
        </p:nvSpPr>
        <p:spPr>
          <a:xfrm>
            <a:off x="1828800" y="19050"/>
            <a:ext cx="4819650" cy="582613"/>
          </a:xfrm>
          <a:ln/>
        </p:spPr>
        <p:txBody>
          <a:bodyPr vert="horz" wrap="square" lIns="91440" tIns="45720" rIns="91440" bIns="45720" anchor="ctr" anchorCtr="0"/>
          <a:lstStyle/>
          <a:p>
            <a:pPr eaLnBrk="1" hangingPunct="1">
              <a:buClrTx/>
              <a:buSzTx/>
              <a:buFontTx/>
            </a:pPr>
            <a:r>
              <a:rPr lang="en-US" altLang="zh-CN" dirty="0">
                <a:ea typeface="宋体" panose="02010600030101010101" pitchFamily="2" charset="-122"/>
              </a:rPr>
              <a:t>Basic Concepts</a:t>
            </a:r>
          </a:p>
        </p:txBody>
      </p:sp>
      <p:sp>
        <p:nvSpPr>
          <p:cNvPr id="5123" name="Rectangle 3"/>
          <p:cNvSpPr>
            <a:spLocks noGrp="1"/>
          </p:cNvSpPr>
          <p:nvPr>
            <p:ph type="subTitle" idx="1"/>
          </p:nvPr>
        </p:nvSpPr>
        <p:spPr>
          <a:xfrm>
            <a:off x="160338" y="752475"/>
            <a:ext cx="8823325" cy="5030788"/>
          </a:xfrm>
          <a:ln/>
        </p:spPr>
        <p:txBody>
          <a:bodyPr vert="horz" wrap="square" lIns="91440" tIns="45720" rIns="91440" bIns="45720" anchor="t" anchorCtr="0"/>
          <a:lstStyle/>
          <a:p>
            <a:pPr algn="l">
              <a:lnSpc>
                <a:spcPct val="150000"/>
              </a:lnSpc>
              <a:spcBef>
                <a:spcPct val="40000"/>
              </a:spcBef>
              <a:buSzTx/>
              <a:buFont typeface="Wingdings" panose="05000000000000000000" pitchFamily="2" charset="2"/>
              <a:buChar char="u"/>
            </a:pPr>
            <a:r>
              <a:rPr lang="zh-CN" altLang="en-US" sz="2000" dirty="0">
                <a:latin typeface="+mn-lt"/>
                <a:ea typeface="宋体" panose="02010600030101010101" pitchFamily="2" charset="-122"/>
                <a:cs typeface="+mn-cs"/>
              </a:rPr>
              <a:t>缺陷(</a:t>
            </a:r>
            <a:r>
              <a:rPr lang="en-US" altLang="zh-CN" sz="2000" dirty="0">
                <a:latin typeface="+mn-lt"/>
                <a:ea typeface="宋体" panose="02010600030101010101" pitchFamily="2" charset="-122"/>
                <a:cs typeface="+mn-cs"/>
              </a:rPr>
              <a:t>Defect)</a:t>
            </a:r>
            <a:r>
              <a:rPr lang="zh-CN" altLang="en-US" sz="2000" dirty="0">
                <a:latin typeface="+mn-lt"/>
                <a:ea typeface="宋体" panose="02010600030101010101" pitchFamily="2" charset="-122"/>
                <a:cs typeface="+mn-cs"/>
              </a:rPr>
              <a:t>：欠缺或不完备</a:t>
            </a:r>
            <a:r>
              <a:rPr lang="en-US" altLang="zh-CN" sz="2000" dirty="0">
                <a:latin typeface="+mn-lt"/>
                <a:ea typeface="宋体" panose="02010600030101010101" pitchFamily="2" charset="-122"/>
                <a:cs typeface="+mn-cs"/>
              </a:rPr>
              <a:t>;</a:t>
            </a:r>
          </a:p>
          <a:p>
            <a:pPr algn="l">
              <a:lnSpc>
                <a:spcPct val="150000"/>
              </a:lnSpc>
              <a:spcBef>
                <a:spcPct val="40000"/>
              </a:spcBef>
              <a:buSzTx/>
              <a:buFont typeface="Wingdings" panose="05000000000000000000" pitchFamily="2" charset="2"/>
              <a:buChar char="u"/>
            </a:pPr>
            <a:r>
              <a:rPr lang="zh-CN" altLang="en-US" sz="2000" dirty="0">
                <a:latin typeface="+mn-lt"/>
                <a:ea typeface="宋体" panose="02010600030101010101" pitchFamily="2" charset="-122"/>
                <a:cs typeface="+mn-cs"/>
              </a:rPr>
              <a:t>软件缺陷</a:t>
            </a:r>
            <a:r>
              <a:rPr lang="en-US" altLang="zh-CN" sz="2000" dirty="0">
                <a:latin typeface="+mn-lt"/>
                <a:ea typeface="宋体" panose="02010600030101010101" pitchFamily="2" charset="-122"/>
                <a:cs typeface="+mn-cs"/>
              </a:rPr>
              <a:t>(</a:t>
            </a:r>
            <a:r>
              <a:rPr lang="zh-CN" altLang="en-US" sz="2000" dirty="0">
                <a:latin typeface="+mn-lt"/>
                <a:ea typeface="宋体" panose="02010600030101010101" pitchFamily="2" charset="-122"/>
                <a:cs typeface="+mn-cs"/>
              </a:rPr>
              <a:t>也叫</a:t>
            </a:r>
            <a:r>
              <a:rPr lang="en-US" altLang="zh-CN" sz="2000" dirty="0">
                <a:latin typeface="+mn-lt"/>
                <a:ea typeface="宋体" panose="02010600030101010101" pitchFamily="2" charset="-122"/>
                <a:cs typeface="+mn-cs"/>
              </a:rPr>
              <a:t>Bug):</a:t>
            </a:r>
            <a:r>
              <a:rPr lang="zh-CN" altLang="en-US" sz="2000" dirty="0">
                <a:latin typeface="+mn-lt"/>
                <a:ea typeface="宋体" panose="02010600030101010101" pitchFamily="2" charset="-122"/>
                <a:cs typeface="+mn-cs"/>
              </a:rPr>
              <a:t> 软件或程序中存在某种破坏正常运行能力的问题、错误，或者隐藏的功能缺陷</a:t>
            </a:r>
            <a:r>
              <a:rPr lang="en-US" altLang="zh-CN" sz="2000" dirty="0">
                <a:latin typeface="+mn-lt"/>
                <a:ea typeface="宋体" panose="02010600030101010101" pitchFamily="2" charset="-122"/>
                <a:cs typeface="+mn-cs"/>
              </a:rPr>
              <a:t>;</a:t>
            </a:r>
          </a:p>
          <a:p>
            <a:pPr algn="l">
              <a:lnSpc>
                <a:spcPct val="150000"/>
              </a:lnSpc>
              <a:spcBef>
                <a:spcPct val="40000"/>
              </a:spcBef>
              <a:buSzTx/>
              <a:buFont typeface="Wingdings" panose="05000000000000000000" pitchFamily="2" charset="2"/>
              <a:buChar char="u"/>
            </a:pPr>
            <a:r>
              <a:rPr lang="zh-CN" altLang="en-US" sz="2000" dirty="0">
                <a:latin typeface="+mn-lt"/>
                <a:ea typeface="宋体" panose="02010600030101010101" pitchFamily="2" charset="-122"/>
                <a:cs typeface="+mn-cs"/>
              </a:rPr>
              <a:t>故障(</a:t>
            </a:r>
            <a:r>
              <a:rPr lang="en-US" altLang="zh-CN" sz="2000" dirty="0">
                <a:latin typeface="+mn-lt"/>
                <a:ea typeface="宋体" panose="02010600030101010101" pitchFamily="2" charset="-122"/>
                <a:cs typeface="+mn-cs"/>
              </a:rPr>
              <a:t>Fault)</a:t>
            </a:r>
            <a:r>
              <a:rPr lang="zh-CN" altLang="en-US" sz="2000" dirty="0">
                <a:latin typeface="+mn-lt"/>
                <a:ea typeface="宋体" panose="02010600030101010101" pitchFamily="2" charset="-122"/>
                <a:cs typeface="+mn-cs"/>
              </a:rPr>
              <a:t>：指系统运行过程中出现的一种不希望或不可接受的内部状态；比如：执行一个多余循环过程，称缺陷被激活，若不及时处理可产生失效。</a:t>
            </a:r>
            <a:endParaRPr lang="en-US" altLang="zh-CN" sz="2000" dirty="0">
              <a:latin typeface="+mn-lt"/>
              <a:ea typeface="宋体" panose="02010600030101010101" pitchFamily="2" charset="-122"/>
              <a:cs typeface="+mn-cs"/>
            </a:endParaRPr>
          </a:p>
          <a:p>
            <a:pPr algn="l">
              <a:lnSpc>
                <a:spcPct val="150000"/>
              </a:lnSpc>
              <a:spcBef>
                <a:spcPct val="40000"/>
              </a:spcBef>
              <a:buSzTx/>
              <a:buFont typeface="Wingdings" panose="05000000000000000000" pitchFamily="2" charset="2"/>
              <a:buChar char="u"/>
            </a:pPr>
            <a:r>
              <a:rPr lang="zh-CN" altLang="en-US" sz="2000" dirty="0">
                <a:latin typeface="+mn-lt"/>
                <a:ea typeface="宋体" panose="02010600030101010101" pitchFamily="2" charset="-122"/>
                <a:cs typeface="+mn-cs"/>
              </a:rPr>
              <a:t>失效(</a:t>
            </a:r>
            <a:r>
              <a:rPr lang="en-US" altLang="zh-CN" sz="2000" dirty="0">
                <a:latin typeface="+mn-lt"/>
                <a:ea typeface="宋体" panose="02010600030101010101" pitchFamily="2" charset="-122"/>
                <a:cs typeface="+mn-cs"/>
              </a:rPr>
              <a:t>Failure /fail)</a:t>
            </a:r>
            <a:r>
              <a:rPr lang="zh-CN" altLang="en-US" sz="2000" dirty="0">
                <a:latin typeface="+mn-lt"/>
                <a:ea typeface="宋体" panose="02010600030101010101" pitchFamily="2" charset="-122"/>
                <a:cs typeface="+mn-cs"/>
              </a:rPr>
              <a:t>：单元</a:t>
            </a:r>
            <a:r>
              <a:rPr lang="en-US" altLang="zh-CN" sz="2000" dirty="0">
                <a:latin typeface="+mn-lt"/>
                <a:ea typeface="宋体" panose="02010600030101010101" pitchFamily="2" charset="-122"/>
                <a:cs typeface="+mn-cs"/>
              </a:rPr>
              <a:t>/</a:t>
            </a:r>
            <a:r>
              <a:rPr lang="zh-CN" altLang="en-US" sz="2000" dirty="0">
                <a:latin typeface="+mn-lt"/>
                <a:ea typeface="宋体" panose="02010600030101010101" pitchFamily="2" charset="-122"/>
                <a:cs typeface="+mn-cs"/>
              </a:rPr>
              <a:t>系统产生的结果与期望交付的服务或者结果存在偏差（外部行为结果），失效有时也被称为一种故障。</a:t>
            </a:r>
            <a:endParaRPr lang="en-US" altLang="zh-CN" sz="2000" dirty="0">
              <a:latin typeface="+mn-lt"/>
              <a:ea typeface="宋体" panose="02010600030101010101" pitchFamily="2" charset="-122"/>
              <a:cs typeface="+mn-cs"/>
            </a:endParaRPr>
          </a:p>
          <a:p>
            <a:pPr algn="l">
              <a:lnSpc>
                <a:spcPct val="150000"/>
              </a:lnSpc>
              <a:spcBef>
                <a:spcPct val="40000"/>
              </a:spcBef>
              <a:buSzTx/>
              <a:buFontTx/>
            </a:pPr>
            <a:r>
              <a:rPr lang="en-US" altLang="zh-CN" sz="2000" dirty="0">
                <a:latin typeface="+mn-lt"/>
                <a:ea typeface="宋体" panose="02010600030101010101" pitchFamily="2" charset="-122"/>
                <a:cs typeface="+mn-cs"/>
              </a:rPr>
              <a:t>            </a:t>
            </a:r>
            <a:r>
              <a:rPr lang="zh-CN" altLang="en-US" sz="2000" dirty="0">
                <a:latin typeface="+mn-lt"/>
                <a:ea typeface="宋体" panose="02010600030101010101" pitchFamily="2" charset="-122"/>
                <a:cs typeface="+mn-cs"/>
              </a:rPr>
              <a:t>关系：    缺陷        故障        失效</a:t>
            </a:r>
          </a:p>
        </p:txBody>
      </p:sp>
      <p:cxnSp>
        <p:nvCxnSpPr>
          <p:cNvPr id="5124" name="直接箭头连接符 4"/>
          <p:cNvCxnSpPr/>
          <p:nvPr/>
        </p:nvCxnSpPr>
        <p:spPr>
          <a:xfrm>
            <a:off x="2500313" y="4754563"/>
            <a:ext cx="584200" cy="1587"/>
          </a:xfrm>
          <a:prstGeom prst="straightConnector1">
            <a:avLst/>
          </a:prstGeom>
          <a:ln w="9525" cap="flat" cmpd="sng">
            <a:solidFill>
              <a:schemeClr val="tx1"/>
            </a:solidFill>
            <a:prstDash val="solid"/>
            <a:headEnd type="none" w="med" len="med"/>
            <a:tailEnd type="arrow" w="med" len="med"/>
          </a:ln>
        </p:spPr>
      </p:cxnSp>
      <p:cxnSp>
        <p:nvCxnSpPr>
          <p:cNvPr id="5125" name="直接箭头连接符 5"/>
          <p:cNvCxnSpPr/>
          <p:nvPr/>
        </p:nvCxnSpPr>
        <p:spPr>
          <a:xfrm>
            <a:off x="3552825" y="4752975"/>
            <a:ext cx="585788" cy="1588"/>
          </a:xfrm>
          <a:prstGeom prst="straightConnector1">
            <a:avLst/>
          </a:prstGeom>
          <a:ln w="9525" cap="flat" cmpd="sng">
            <a:solidFill>
              <a:schemeClr val="tx1"/>
            </a:solidFill>
            <a:prstDash val="solid"/>
            <a:headEnd type="none" w="med" len="med"/>
            <a:tailEnd type="arrow" w="med" len="med"/>
          </a:ln>
        </p:spPr>
      </p:cxnSp>
      <p:sp>
        <p:nvSpPr>
          <p:cNvPr id="5126" name="矩形 5"/>
          <p:cNvSpPr/>
          <p:nvPr/>
        </p:nvSpPr>
        <p:spPr>
          <a:xfrm>
            <a:off x="96838" y="5140325"/>
            <a:ext cx="8886825" cy="12858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1800" dirty="0">
                <a:ea typeface="宋体" panose="02010600030101010101" pitchFamily="2" charset="-122"/>
              </a:rPr>
              <a:t>软件生命周期中修复软件缺陷的成本较高</a:t>
            </a:r>
            <a:r>
              <a:rPr lang="en-US" altLang="zh-CN" sz="1800" dirty="0">
                <a:ea typeface="宋体" panose="02010600030101010101" pitchFamily="2" charset="-122"/>
              </a:rPr>
              <a:t>:  </a:t>
            </a:r>
            <a:r>
              <a:rPr lang="zh-CN" altLang="en-US" sz="1800" dirty="0">
                <a:solidFill>
                  <a:srgbClr val="FF0000"/>
                </a:solidFill>
                <a:ea typeface="宋体" panose="02010600030101010101" pitchFamily="2" charset="-122"/>
              </a:rPr>
              <a:t>需求阶段修正一个错误代价是</a:t>
            </a:r>
            <a:r>
              <a:rPr lang="en-US" altLang="zh-CN" sz="1800" dirty="0">
                <a:solidFill>
                  <a:srgbClr val="FF0000"/>
                </a:solidFill>
                <a:ea typeface="宋体" panose="02010600030101010101" pitchFamily="2" charset="-122"/>
              </a:rPr>
              <a:t>1</a:t>
            </a:r>
            <a:r>
              <a:rPr lang="zh-CN" altLang="en-US" sz="1800" dirty="0">
                <a:solidFill>
                  <a:srgbClr val="FF0000"/>
                </a:solidFill>
                <a:ea typeface="宋体" panose="02010600030101010101" pitchFamily="2" charset="-122"/>
              </a:rPr>
              <a:t>，设计阶段是</a:t>
            </a:r>
            <a:r>
              <a:rPr lang="en-US" altLang="zh-CN" sz="1800" dirty="0">
                <a:solidFill>
                  <a:srgbClr val="FF0000"/>
                </a:solidFill>
                <a:ea typeface="宋体" panose="02010600030101010101" pitchFamily="2" charset="-122"/>
              </a:rPr>
              <a:t>3</a:t>
            </a:r>
            <a:r>
              <a:rPr lang="zh-CN" altLang="en-US" sz="1800" dirty="0">
                <a:solidFill>
                  <a:srgbClr val="FF0000"/>
                </a:solidFill>
                <a:ea typeface="宋体" panose="02010600030101010101" pitchFamily="2" charset="-122"/>
              </a:rPr>
              <a:t>～</a:t>
            </a:r>
            <a:r>
              <a:rPr lang="en-US" altLang="zh-CN" sz="1800" dirty="0">
                <a:solidFill>
                  <a:srgbClr val="FF0000"/>
                </a:solidFill>
                <a:ea typeface="宋体" panose="02010600030101010101" pitchFamily="2" charset="-122"/>
              </a:rPr>
              <a:t>6</a:t>
            </a:r>
            <a:r>
              <a:rPr lang="zh-CN" altLang="en-US" sz="1800" dirty="0">
                <a:solidFill>
                  <a:srgbClr val="FF0000"/>
                </a:solidFill>
                <a:ea typeface="宋体" panose="02010600030101010101" pitchFamily="2" charset="-122"/>
              </a:rPr>
              <a:t>倍，编程阶段是</a:t>
            </a:r>
            <a:r>
              <a:rPr lang="en-US" altLang="zh-CN" sz="1800" dirty="0">
                <a:solidFill>
                  <a:srgbClr val="FF0000"/>
                </a:solidFill>
                <a:ea typeface="宋体" panose="02010600030101010101" pitchFamily="2" charset="-122"/>
              </a:rPr>
              <a:t>10</a:t>
            </a:r>
            <a:r>
              <a:rPr lang="zh-CN" altLang="en-US" sz="1800" dirty="0">
                <a:solidFill>
                  <a:srgbClr val="FF0000"/>
                </a:solidFill>
                <a:ea typeface="宋体" panose="02010600030101010101" pitchFamily="2" charset="-122"/>
              </a:rPr>
              <a:t>倍，内部测试阶段</a:t>
            </a:r>
            <a:r>
              <a:rPr lang="en-US" altLang="zh-CN" sz="1800" dirty="0">
                <a:solidFill>
                  <a:srgbClr val="FF0000"/>
                </a:solidFill>
                <a:ea typeface="宋体" panose="02010600030101010101" pitchFamily="2" charset="-122"/>
              </a:rPr>
              <a:t>20</a:t>
            </a:r>
            <a:r>
              <a:rPr lang="zh-CN" altLang="en-US" sz="1800" dirty="0">
                <a:solidFill>
                  <a:srgbClr val="FF0000"/>
                </a:solidFill>
                <a:ea typeface="宋体" panose="02010600030101010101" pitchFamily="2" charset="-122"/>
              </a:rPr>
              <a:t>～</a:t>
            </a:r>
            <a:r>
              <a:rPr lang="en-US" altLang="zh-CN" sz="1800" dirty="0">
                <a:solidFill>
                  <a:srgbClr val="FF0000"/>
                </a:solidFill>
                <a:ea typeface="宋体" panose="02010600030101010101" pitchFamily="2" charset="-122"/>
              </a:rPr>
              <a:t>40</a:t>
            </a:r>
            <a:r>
              <a:rPr lang="zh-CN" altLang="en-US" sz="1800" dirty="0">
                <a:solidFill>
                  <a:srgbClr val="FF0000"/>
                </a:solidFill>
                <a:ea typeface="宋体" panose="02010600030101010101" pitchFamily="2" charset="-122"/>
              </a:rPr>
              <a:t>倍，外部测试阶段是</a:t>
            </a:r>
            <a:r>
              <a:rPr lang="en-US" altLang="zh-CN" sz="1800" dirty="0">
                <a:solidFill>
                  <a:srgbClr val="FF0000"/>
                </a:solidFill>
                <a:ea typeface="宋体" panose="02010600030101010101" pitchFamily="2" charset="-122"/>
              </a:rPr>
              <a:t>30</a:t>
            </a:r>
            <a:r>
              <a:rPr lang="zh-CN" altLang="en-US" sz="1800" dirty="0">
                <a:solidFill>
                  <a:srgbClr val="FF0000"/>
                </a:solidFill>
                <a:ea typeface="宋体" panose="02010600030101010101" pitchFamily="2" charset="-122"/>
              </a:rPr>
              <a:t>～</a:t>
            </a:r>
            <a:r>
              <a:rPr lang="en-US" altLang="zh-CN" sz="1800" dirty="0">
                <a:solidFill>
                  <a:srgbClr val="FF0000"/>
                </a:solidFill>
                <a:ea typeface="宋体" panose="02010600030101010101" pitchFamily="2" charset="-122"/>
              </a:rPr>
              <a:t>70</a:t>
            </a:r>
            <a:r>
              <a:rPr lang="zh-CN" altLang="en-US" sz="1800" dirty="0">
                <a:solidFill>
                  <a:srgbClr val="FF0000"/>
                </a:solidFill>
                <a:ea typeface="宋体" panose="02010600030101010101" pitchFamily="2" charset="-122"/>
              </a:rPr>
              <a:t>倍，产品发布以后是</a:t>
            </a:r>
            <a:r>
              <a:rPr lang="en-US" altLang="zh-CN" sz="1800" dirty="0">
                <a:solidFill>
                  <a:srgbClr val="FF0000"/>
                </a:solidFill>
                <a:ea typeface="宋体" panose="02010600030101010101" pitchFamily="2" charset="-122"/>
              </a:rPr>
              <a:t>40</a:t>
            </a:r>
            <a:r>
              <a:rPr lang="zh-CN" altLang="en-US" sz="1800" dirty="0">
                <a:solidFill>
                  <a:srgbClr val="FF0000"/>
                </a:solidFill>
                <a:ea typeface="宋体" panose="02010600030101010101" pitchFamily="2" charset="-122"/>
              </a:rPr>
              <a:t>～</a:t>
            </a:r>
            <a:r>
              <a:rPr lang="en-US" altLang="zh-CN" sz="1800" dirty="0">
                <a:solidFill>
                  <a:srgbClr val="FF0000"/>
                </a:solidFill>
                <a:ea typeface="宋体" panose="02010600030101010101" pitchFamily="2" charset="-122"/>
              </a:rPr>
              <a:t>1000</a:t>
            </a:r>
            <a:r>
              <a:rPr lang="zh-CN" altLang="en-US" sz="1800" dirty="0">
                <a:solidFill>
                  <a:srgbClr val="FF0000"/>
                </a:solidFill>
                <a:ea typeface="宋体" panose="02010600030101010101" pitchFamily="2" charset="-122"/>
              </a:rPr>
              <a:t>倍，代价呈指数增长。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ctrTitle"/>
          </p:nvPr>
        </p:nvSpPr>
        <p:spPr>
          <a:xfrm>
            <a:off x="714375" y="73025"/>
            <a:ext cx="7772400" cy="525463"/>
          </a:xfrm>
          <a:ln/>
        </p:spPr>
        <p:txBody>
          <a:bodyPr vert="horz" wrap="square" lIns="91440" tIns="45720" rIns="91440" bIns="45720" anchor="ctr" anchorCtr="0"/>
          <a:lstStyle/>
          <a:p>
            <a:pPr eaLnBrk="1" hangingPunct="1">
              <a:buClrTx/>
              <a:buSzTx/>
              <a:buFontTx/>
            </a:pPr>
            <a:r>
              <a:rPr lang="en-US" altLang="zh-CN" dirty="0">
                <a:ea typeface="宋体" panose="02010600030101010101" pitchFamily="2" charset="-122"/>
              </a:rPr>
              <a:t>Basic Concepts</a:t>
            </a:r>
          </a:p>
        </p:txBody>
      </p:sp>
      <p:sp>
        <p:nvSpPr>
          <p:cNvPr id="6147" name="Rectangle 3"/>
          <p:cNvSpPr>
            <a:spLocks noGrp="1"/>
          </p:cNvSpPr>
          <p:nvPr>
            <p:ph type="subTitle" idx="1"/>
          </p:nvPr>
        </p:nvSpPr>
        <p:spPr>
          <a:xfrm>
            <a:off x="396875" y="1044575"/>
            <a:ext cx="8537575" cy="1670050"/>
          </a:xfrm>
          <a:ln/>
        </p:spPr>
        <p:txBody>
          <a:bodyPr vert="horz" wrap="square" lIns="91440" tIns="45720" rIns="91440" bIns="45720" anchor="t" anchorCtr="0"/>
          <a:lstStyle/>
          <a:p>
            <a:pPr algn="l" eaLnBrk="1" hangingPunct="1">
              <a:lnSpc>
                <a:spcPct val="130000"/>
              </a:lnSpc>
              <a:buSzTx/>
              <a:buFont typeface="Wingdings" panose="05000000000000000000" pitchFamily="2" charset="2"/>
              <a:buChar char="u"/>
            </a:pPr>
            <a:r>
              <a:rPr lang="en-US" altLang="zh-CN" sz="2400" dirty="0">
                <a:latin typeface="+mn-lt"/>
                <a:ea typeface="宋体" panose="02010600030101010101" pitchFamily="2" charset="-122"/>
                <a:cs typeface="+mn-cs"/>
              </a:rPr>
              <a:t>An important goal in distributed systems design:  automatically recovering from partial failure without seriously affecting the overall performance.</a:t>
            </a:r>
          </a:p>
        </p:txBody>
      </p:sp>
      <p:sp>
        <p:nvSpPr>
          <p:cNvPr id="4" name="Rectangle 3"/>
          <p:cNvSpPr txBox="1">
            <a:spLocks noChangeArrowheads="1"/>
          </p:cNvSpPr>
          <p:nvPr/>
        </p:nvSpPr>
        <p:spPr bwMode="auto">
          <a:xfrm>
            <a:off x="276225" y="2738438"/>
            <a:ext cx="8778875" cy="2168525"/>
          </a:xfrm>
          <a:prstGeom prst="rect">
            <a:avLst/>
          </a:prstGeom>
          <a:noFill/>
          <a:ln>
            <a:noFill/>
          </a:ln>
        </p:spPr>
        <p:txBody>
          <a:bodyPr/>
          <a:lstStyle>
            <a:lvl1pPr marL="0" indent="0" algn="ctr" rtl="0" eaLnBrk="0" fontAlgn="base" hangingPunct="0">
              <a:spcBef>
                <a:spcPct val="20000"/>
              </a:spcBef>
              <a:spcAft>
                <a:spcPct val="0"/>
              </a:spcAft>
              <a:buClr>
                <a:schemeClr val="accent2"/>
              </a:buClr>
              <a:buNone/>
              <a:defRPr sz="3200">
                <a:solidFill>
                  <a:schemeClr val="tx1"/>
                </a:solidFill>
                <a:latin typeface="+mn-lt"/>
                <a:ea typeface="+mn-ea"/>
                <a:cs typeface="+mn-cs"/>
              </a:defRPr>
            </a:lvl1pPr>
            <a:lvl2pPr marL="457200" indent="0" algn="ctr" rtl="0" eaLnBrk="0" fontAlgn="base" hangingPunct="0">
              <a:spcBef>
                <a:spcPct val="20000"/>
              </a:spcBef>
              <a:spcAft>
                <a:spcPct val="0"/>
              </a:spcAft>
              <a:buClr>
                <a:schemeClr val="accent2"/>
              </a:buClr>
              <a:buNone/>
              <a:defRPr sz="2800">
                <a:solidFill>
                  <a:schemeClr val="tx1"/>
                </a:solidFill>
                <a:latin typeface="+mn-lt"/>
              </a:defRPr>
            </a:lvl2pPr>
            <a:lvl3pPr marL="914400" indent="0" algn="ctr" rtl="0" eaLnBrk="0" fontAlgn="base" hangingPunct="0">
              <a:spcBef>
                <a:spcPct val="20000"/>
              </a:spcBef>
              <a:spcAft>
                <a:spcPct val="0"/>
              </a:spcAft>
              <a:buClr>
                <a:schemeClr val="accent2"/>
              </a:buClr>
              <a:buNone/>
              <a:defRPr sz="2400">
                <a:solidFill>
                  <a:schemeClr val="tx1"/>
                </a:solidFill>
                <a:latin typeface="+mn-lt"/>
              </a:defRPr>
            </a:lvl3pPr>
            <a:lvl4pPr marL="1371600" indent="0" algn="ctr" rtl="0" eaLnBrk="0" fontAlgn="base" hangingPunct="0">
              <a:spcBef>
                <a:spcPct val="20000"/>
              </a:spcBef>
              <a:spcAft>
                <a:spcPct val="0"/>
              </a:spcAft>
              <a:buClr>
                <a:schemeClr val="accent2"/>
              </a:buClr>
              <a:buNone/>
              <a:defRPr sz="2000">
                <a:solidFill>
                  <a:schemeClr val="tx1"/>
                </a:solidFill>
                <a:latin typeface="+mn-lt"/>
              </a:defRPr>
            </a:lvl4pPr>
            <a:lvl5pPr marL="1828800" indent="0" algn="ctr" rtl="0" eaLnBrk="0" fontAlgn="base" hangingPunct="0">
              <a:spcBef>
                <a:spcPct val="20000"/>
              </a:spcBef>
              <a:spcAft>
                <a:spcPct val="0"/>
              </a:spcAft>
              <a:buClr>
                <a:schemeClr val="accent2"/>
              </a:buClr>
              <a:buNone/>
              <a:defRPr sz="2000">
                <a:solidFill>
                  <a:schemeClr val="tx1"/>
                </a:solidFill>
                <a:latin typeface="+mn-lt"/>
              </a:defRPr>
            </a:lvl5pPr>
            <a:lvl6pPr marL="2286000" indent="0" algn="ctr" rtl="0" fontAlgn="base">
              <a:spcBef>
                <a:spcPct val="20000"/>
              </a:spcBef>
              <a:spcAft>
                <a:spcPct val="0"/>
              </a:spcAft>
              <a:buClr>
                <a:schemeClr val="accent2"/>
              </a:buClr>
              <a:buNone/>
              <a:defRPr sz="2000">
                <a:solidFill>
                  <a:schemeClr val="tx1"/>
                </a:solidFill>
                <a:latin typeface="+mn-lt"/>
              </a:defRPr>
            </a:lvl6pPr>
            <a:lvl7pPr marL="2743200" indent="0" algn="ctr" rtl="0" fontAlgn="base">
              <a:spcBef>
                <a:spcPct val="20000"/>
              </a:spcBef>
              <a:spcAft>
                <a:spcPct val="0"/>
              </a:spcAft>
              <a:buClr>
                <a:schemeClr val="accent2"/>
              </a:buClr>
              <a:buNone/>
              <a:defRPr sz="2000">
                <a:solidFill>
                  <a:schemeClr val="tx1"/>
                </a:solidFill>
                <a:latin typeface="+mn-lt"/>
              </a:defRPr>
            </a:lvl7pPr>
            <a:lvl8pPr marL="3200400" indent="0" algn="ctr" rtl="0" fontAlgn="base">
              <a:spcBef>
                <a:spcPct val="20000"/>
              </a:spcBef>
              <a:spcAft>
                <a:spcPct val="0"/>
              </a:spcAft>
              <a:buClr>
                <a:schemeClr val="accent2"/>
              </a:buClr>
              <a:buNone/>
              <a:defRPr sz="2000">
                <a:solidFill>
                  <a:schemeClr val="tx1"/>
                </a:solidFill>
                <a:latin typeface="+mn-lt"/>
              </a:defRPr>
            </a:lvl8pPr>
            <a:lvl9pPr marL="3657600" indent="0" algn="ctr" rtl="0" fontAlgn="base">
              <a:spcBef>
                <a:spcPct val="20000"/>
              </a:spcBef>
              <a:spcAft>
                <a:spcPct val="0"/>
              </a:spcAft>
              <a:buClr>
                <a:schemeClr val="accent2"/>
              </a:buClr>
              <a:buNone/>
              <a:defRPr sz="2000">
                <a:solidFill>
                  <a:schemeClr val="tx1"/>
                </a:solidFill>
                <a:latin typeface="+mn-lt"/>
              </a:defRPr>
            </a:lvl9pPr>
          </a:lstStyle>
          <a:p>
            <a:pPr marL="381000" marR="0" lvl="0" indent="-3810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Being fault tolerant is strongly related to what are called dependable systems</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Dependability——</a:t>
            </a:r>
            <a:r>
              <a:rPr kumimoji="0" lang="zh-TW" altLang="en-GB"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反映了使用者</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对于系统</a:t>
            </a:r>
            <a:r>
              <a:rPr kumimoji="0" lang="zh-TW" altLang="en-GB"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的信任程度</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a:t>
            </a:r>
            <a:r>
              <a:rPr kumimoji="0" lang="zh-TW" altLang="en-GB"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信心程度，它的操作能</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达</a:t>
            </a:r>
            <a:r>
              <a:rPr kumimoji="0" lang="zh-TW" altLang="en-GB"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到使用者的期待，正常使用</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情况</a:t>
            </a:r>
            <a:r>
              <a:rPr kumimoji="0" lang="zh-TW" altLang="en-GB"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下不</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会造</a:t>
            </a:r>
            <a:r>
              <a:rPr kumimoji="0" lang="zh-TW" altLang="en-GB"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成</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宕机</a:t>
            </a:r>
            <a:r>
              <a:rPr kumimoji="0" lang="zh-TW" altLang="en-GB"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GB" altLang="zh-TW"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0" y="0"/>
            <a:ext cx="9144000" cy="647700"/>
          </a:xfrm>
          <a:ln/>
        </p:spPr>
        <p:txBody>
          <a:bodyPr vert="horz" wrap="square" lIns="91440" tIns="45720" rIns="91440" bIns="45720" anchor="ctr" anchorCtr="0"/>
          <a:lstStyle/>
          <a:p>
            <a:pPr eaLnBrk="1" hangingPunct="1"/>
            <a:r>
              <a:rPr lang="en-US" altLang="zh-CN" dirty="0">
                <a:ea typeface="宋体" panose="02010600030101010101" pitchFamily="2" charset="-122"/>
              </a:rPr>
              <a:t>Basic Concepts</a:t>
            </a:r>
          </a:p>
        </p:txBody>
      </p:sp>
      <p:sp>
        <p:nvSpPr>
          <p:cNvPr id="8195" name="Rectangle 3"/>
          <p:cNvSpPr>
            <a:spLocks noGrp="1"/>
          </p:cNvSpPr>
          <p:nvPr>
            <p:ph idx="1"/>
          </p:nvPr>
        </p:nvSpPr>
        <p:spPr>
          <a:xfrm>
            <a:off x="0" y="647700"/>
            <a:ext cx="8977313" cy="4918075"/>
          </a:xfrm>
          <a:ln/>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400" dirty="0">
                <a:ea typeface="宋体" panose="02010600030101010101" pitchFamily="2" charset="-122"/>
              </a:rPr>
              <a:t>Dependability implies the following:</a:t>
            </a:r>
          </a:p>
          <a:p>
            <a:pPr lvl="1" eaLnBrk="1" hangingPunct="1">
              <a:lnSpc>
                <a:spcPct val="150000"/>
              </a:lnSpc>
              <a:buFont typeface="Wingdings" panose="05000000000000000000" pitchFamily="2" charset="2"/>
              <a:buChar char="Ø"/>
            </a:pPr>
            <a:r>
              <a:rPr lang="en-US" altLang="zh-CN" sz="2000" dirty="0">
                <a:solidFill>
                  <a:srgbClr val="FF0000"/>
                </a:solidFill>
                <a:ea typeface="宋体" panose="02010600030101010101" pitchFamily="2" charset="-122"/>
              </a:rPr>
              <a:t>Availability </a:t>
            </a:r>
            <a:r>
              <a:rPr lang="en-US" altLang="zh-CN" sz="2000" dirty="0">
                <a:ea typeface="宋体" panose="02010600030101010101" pitchFamily="2" charset="-122"/>
              </a:rPr>
              <a:t>——the property that a system is ready to be used immediately(</a:t>
            </a:r>
            <a:r>
              <a:rPr lang="zh-CN" altLang="en-US" sz="2000" dirty="0">
                <a:ea typeface="DFKai-SB" pitchFamily="65" charset="-128"/>
              </a:rPr>
              <a:t>系统</a:t>
            </a:r>
            <a:r>
              <a:rPr lang="zh-TW" altLang="en-GB" sz="2000" dirty="0">
                <a:ea typeface="DFKai-SB" pitchFamily="65" charset="-128"/>
              </a:rPr>
              <a:t>在需要</a:t>
            </a:r>
            <a:r>
              <a:rPr lang="zh-CN" altLang="en-US" sz="2000" dirty="0">
                <a:ea typeface="DFKai-SB" pitchFamily="65" charset="-128"/>
              </a:rPr>
              <a:t>时</a:t>
            </a:r>
            <a:r>
              <a:rPr lang="zh-TW" altLang="en-GB" sz="2000" dirty="0">
                <a:ea typeface="DFKai-SB" pitchFamily="65" charset="-128"/>
              </a:rPr>
              <a:t>可以提供</a:t>
            </a:r>
            <a:r>
              <a:rPr lang="zh-CN" altLang="en-US" sz="2000" dirty="0">
                <a:ea typeface="DFKai-SB" pitchFamily="65" charset="-128"/>
              </a:rPr>
              <a:t>服务</a:t>
            </a:r>
            <a:r>
              <a:rPr lang="zh-TW" altLang="en-GB" sz="2000" dirty="0">
                <a:ea typeface="DFKai-SB" pitchFamily="65" charset="-128"/>
              </a:rPr>
              <a:t>的</a:t>
            </a:r>
            <a:r>
              <a:rPr lang="zh-CN" altLang="en-US" sz="2000" dirty="0">
                <a:ea typeface="DFKai-SB" pitchFamily="65" charset="-128"/>
              </a:rPr>
              <a:t>概率</a:t>
            </a:r>
            <a:r>
              <a:rPr lang="en-US" altLang="zh-CN" sz="2000" dirty="0">
                <a:ea typeface="宋体" panose="02010600030101010101" pitchFamily="2" charset="-122"/>
              </a:rPr>
              <a:t>).</a:t>
            </a:r>
          </a:p>
          <a:p>
            <a:pPr lvl="1" eaLnBrk="1" hangingPunct="1">
              <a:lnSpc>
                <a:spcPct val="150000"/>
              </a:lnSpc>
              <a:buFont typeface="Wingdings" panose="05000000000000000000" pitchFamily="2" charset="2"/>
              <a:buChar char="Ø"/>
            </a:pPr>
            <a:r>
              <a:rPr lang="en-US" altLang="zh-CN" sz="2000" dirty="0">
                <a:solidFill>
                  <a:srgbClr val="FF0000"/>
                </a:solidFill>
                <a:ea typeface="宋体" panose="02010600030101010101" pitchFamily="2" charset="-122"/>
              </a:rPr>
              <a:t>Reliability </a:t>
            </a:r>
            <a:r>
              <a:rPr lang="en-US" altLang="zh-CN" sz="2000" dirty="0">
                <a:ea typeface="宋体" panose="02010600030101010101" pitchFamily="2" charset="-122"/>
              </a:rPr>
              <a:t>——the property that a system can run continuously without failure (</a:t>
            </a:r>
            <a:r>
              <a:rPr lang="zh-CN" altLang="en-US" sz="2000" dirty="0">
                <a:ea typeface="DFKai-SB" pitchFamily="65" charset="-128"/>
              </a:rPr>
              <a:t>系统能够提供持续无失效运行</a:t>
            </a:r>
            <a:r>
              <a:rPr lang="zh-TW" altLang="en-GB" sz="2000" dirty="0">
                <a:ea typeface="DFKai-SB" pitchFamily="65" charset="-128"/>
              </a:rPr>
              <a:t>的</a:t>
            </a:r>
            <a:r>
              <a:rPr lang="zh-CN" altLang="en-US" sz="2000" dirty="0">
                <a:ea typeface="DFKai-SB" pitchFamily="65" charset="-128"/>
              </a:rPr>
              <a:t>概率</a:t>
            </a:r>
            <a:r>
              <a:rPr lang="en-US" altLang="zh-CN" sz="2000" dirty="0">
                <a:ea typeface="宋体" panose="02010600030101010101" pitchFamily="2" charset="-122"/>
              </a:rPr>
              <a:t>).</a:t>
            </a:r>
          </a:p>
          <a:p>
            <a:pPr lvl="1" eaLnBrk="1" hangingPunct="1">
              <a:lnSpc>
                <a:spcPct val="150000"/>
              </a:lnSpc>
              <a:buFont typeface="Wingdings" panose="05000000000000000000" pitchFamily="2" charset="2"/>
              <a:buChar char="Ø"/>
            </a:pPr>
            <a:r>
              <a:rPr lang="en-US" altLang="zh-CN" sz="2000" dirty="0">
                <a:solidFill>
                  <a:srgbClr val="FF0000"/>
                </a:solidFill>
                <a:ea typeface="宋体" panose="02010600030101010101" pitchFamily="2" charset="-122"/>
              </a:rPr>
              <a:t>Safety</a:t>
            </a:r>
            <a:r>
              <a:rPr lang="en-US" altLang="zh-CN" sz="2000" dirty="0">
                <a:ea typeface="宋体" panose="02010600030101010101" pitchFamily="2" charset="-122"/>
              </a:rPr>
              <a:t> ——the situation that when a system temporarily fails to operate correctly, nothing catastrophic(</a:t>
            </a:r>
            <a:r>
              <a:rPr lang="zh-CN" altLang="en-US" sz="2000" dirty="0">
                <a:ea typeface="宋体" panose="02010600030101010101" pitchFamily="2" charset="-122"/>
              </a:rPr>
              <a:t>灾难)</a:t>
            </a:r>
            <a:r>
              <a:rPr lang="en-US" altLang="zh-CN" sz="2000" dirty="0">
                <a:ea typeface="宋体" panose="02010600030101010101" pitchFamily="2" charset="-122"/>
              </a:rPr>
              <a:t>happens </a:t>
            </a:r>
            <a:r>
              <a:rPr lang="en-US" altLang="zh-CN" sz="2000" dirty="0">
                <a:ea typeface="DFKai-SB" pitchFamily="65" charset="-128"/>
              </a:rPr>
              <a:t>(</a:t>
            </a:r>
            <a:r>
              <a:rPr lang="zh-TW" altLang="en-GB" sz="2000" dirty="0">
                <a:ea typeface="DFKai-SB" pitchFamily="65" charset="-128"/>
              </a:rPr>
              <a:t>反映</a:t>
            </a:r>
            <a:r>
              <a:rPr lang="zh-CN" altLang="en-US" sz="2000" dirty="0">
                <a:ea typeface="DFKai-SB" pitchFamily="65" charset="-128"/>
              </a:rPr>
              <a:t>系统</a:t>
            </a:r>
            <a:r>
              <a:rPr lang="zh-TW" altLang="en-GB" sz="2000" dirty="0">
                <a:ea typeface="DFKai-SB" pitchFamily="65" charset="-128"/>
              </a:rPr>
              <a:t>在不</a:t>
            </a:r>
            <a:r>
              <a:rPr lang="zh-CN" altLang="en-US" sz="2000" dirty="0">
                <a:ea typeface="DFKai-SB" pitchFamily="65" charset="-128"/>
              </a:rPr>
              <a:t>威胁</a:t>
            </a:r>
            <a:r>
              <a:rPr lang="zh-TW" altLang="en-GB" sz="2000" dirty="0">
                <a:ea typeface="DFKai-SB" pitchFamily="65" charset="-128"/>
              </a:rPr>
              <a:t>到人和</a:t>
            </a:r>
            <a:r>
              <a:rPr lang="zh-CN" altLang="en-US" sz="2000" dirty="0">
                <a:ea typeface="DFKai-SB" pitchFamily="65" charset="-128"/>
              </a:rPr>
              <a:t>环境</a:t>
            </a:r>
            <a:r>
              <a:rPr lang="zh-TW" altLang="en-GB" sz="2000" dirty="0">
                <a:ea typeface="DFKai-SB" pitchFamily="65" charset="-128"/>
              </a:rPr>
              <a:t>的情況下正常</a:t>
            </a:r>
            <a:r>
              <a:rPr lang="zh-CN" altLang="en-US" sz="2000" dirty="0">
                <a:ea typeface="DFKai-SB" pitchFamily="65" charset="-128"/>
              </a:rPr>
              <a:t>运</a:t>
            </a:r>
            <a:r>
              <a:rPr lang="zh-TW" altLang="en-GB" sz="2000" dirty="0">
                <a:ea typeface="DFKai-SB" pitchFamily="65" charset="-128"/>
              </a:rPr>
              <a:t>作的能力。</a:t>
            </a:r>
            <a:r>
              <a:rPr lang="en-GB" altLang="zh-TW" sz="2000" dirty="0">
                <a:ea typeface="DFKai-SB" pitchFamily="65" charset="-128"/>
              </a:rPr>
              <a:t>Security</a:t>
            </a:r>
            <a:r>
              <a:rPr lang="zh-CN" altLang="en-US" sz="2000" dirty="0">
                <a:ea typeface="DFKai-SB" pitchFamily="65" charset="-128"/>
              </a:rPr>
              <a:t>系统</a:t>
            </a:r>
            <a:r>
              <a:rPr lang="zh-TW" altLang="en-GB" sz="2000" dirty="0">
                <a:ea typeface="DFKai-SB" pitchFamily="65" charset="-128"/>
              </a:rPr>
              <a:t>保</a:t>
            </a:r>
            <a:r>
              <a:rPr lang="zh-CN" altLang="en-US" sz="2000" dirty="0">
                <a:ea typeface="DFKai-SB" pitchFamily="65" charset="-128"/>
              </a:rPr>
              <a:t>护</a:t>
            </a:r>
            <a:r>
              <a:rPr lang="zh-TW" altLang="en-GB" sz="2000" dirty="0">
                <a:ea typeface="DFKai-SB" pitchFamily="65" charset="-128"/>
              </a:rPr>
              <a:t>自己</a:t>
            </a:r>
            <a:r>
              <a:rPr lang="zh-CN" altLang="en-US" sz="2000" dirty="0">
                <a:ea typeface="DFKai-SB" pitchFamily="65" charset="-128"/>
              </a:rPr>
              <a:t>免</a:t>
            </a:r>
            <a:r>
              <a:rPr lang="zh-TW" altLang="en-GB" sz="2000" dirty="0">
                <a:ea typeface="DFKai-SB" pitchFamily="65" charset="-128"/>
              </a:rPr>
              <a:t>受外</a:t>
            </a:r>
            <a:r>
              <a:rPr lang="zh-CN" altLang="en-US" sz="2000" dirty="0">
                <a:ea typeface="DFKai-SB" pitchFamily="65" charset="-128"/>
              </a:rPr>
              <a:t>来</a:t>
            </a:r>
            <a:r>
              <a:rPr lang="zh-TW" altLang="en-GB" sz="2000" dirty="0">
                <a:ea typeface="DFKai-SB" pitchFamily="65" charset="-128"/>
              </a:rPr>
              <a:t>攻</a:t>
            </a:r>
            <a:r>
              <a:rPr lang="zh-CN" altLang="en-US" sz="2000" dirty="0">
                <a:ea typeface="DFKai-SB" pitchFamily="65" charset="-128"/>
              </a:rPr>
              <a:t>击</a:t>
            </a:r>
            <a:r>
              <a:rPr lang="zh-TW" altLang="en-GB" sz="2000" dirty="0">
                <a:ea typeface="DFKai-SB" pitchFamily="65" charset="-128"/>
              </a:rPr>
              <a:t>的能力</a:t>
            </a:r>
            <a:r>
              <a:rPr lang="zh-CN" altLang="en-US" sz="2000" dirty="0">
                <a:ea typeface="DFKai-SB" pitchFamily="65" charset="-128"/>
              </a:rPr>
              <a:t>）。</a:t>
            </a:r>
            <a:endParaRPr lang="en-US" altLang="zh-CN" sz="2000" dirty="0">
              <a:ea typeface="DFKai-SB" pitchFamily="65" charset="-128"/>
            </a:endParaRPr>
          </a:p>
          <a:p>
            <a:pPr lvl="1" eaLnBrk="1" hangingPunct="1">
              <a:lnSpc>
                <a:spcPct val="150000"/>
              </a:lnSpc>
              <a:buFont typeface="Wingdings" panose="05000000000000000000" pitchFamily="2" charset="2"/>
              <a:buChar char="Ø"/>
            </a:pPr>
            <a:r>
              <a:rPr lang="en-US" altLang="zh-CN" sz="2000" dirty="0">
                <a:solidFill>
                  <a:srgbClr val="FF0000"/>
                </a:solidFill>
                <a:ea typeface="宋体" panose="02010600030101010101" pitchFamily="2" charset="-122"/>
              </a:rPr>
              <a:t>Maintainability </a:t>
            </a:r>
            <a:r>
              <a:rPr lang="en-US" altLang="zh-CN" sz="2000" dirty="0">
                <a:ea typeface="宋体" panose="02010600030101010101" pitchFamily="2" charset="-122"/>
              </a:rPr>
              <a:t>—— how easy a failed system can be repaired.</a:t>
            </a:r>
          </a:p>
          <a:p>
            <a:pPr algn="l" eaLnBrk="1" hangingPunct="1">
              <a:buNone/>
            </a:pPr>
            <a:endParaRPr lang="en-GB" altLang="zh-TW" sz="2400" dirty="0">
              <a:ea typeface="DFKai-SB" pitchFamily="65" charset="-128"/>
            </a:endParaRPr>
          </a:p>
        </p:txBody>
      </p:sp>
      <p:sp>
        <p:nvSpPr>
          <p:cNvPr id="4" name="Rectangle 3"/>
          <p:cNvSpPr txBox="1">
            <a:spLocks noChangeArrowheads="1"/>
          </p:cNvSpPr>
          <p:nvPr/>
        </p:nvSpPr>
        <p:spPr bwMode="auto">
          <a:xfrm>
            <a:off x="0" y="5565775"/>
            <a:ext cx="9061450" cy="7143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200000"/>
              </a:lnSpc>
              <a:spcBef>
                <a:spcPct val="20000"/>
              </a:spcBef>
              <a:spcAft>
                <a:spcPct val="0"/>
              </a:spcAft>
              <a:buClr>
                <a:schemeClr val="accent2"/>
              </a:buClr>
              <a:buSzTx/>
              <a:buFont typeface="Wingdings" panose="05000000000000000000" pitchFamily="2" charset="2"/>
              <a:buChar char="u"/>
              <a:defRPr/>
            </a:pPr>
            <a:r>
              <a:rPr kumimoji="0" lang="zh-TW" altLang="en-GB" sz="2000" b="0" i="0" u="none" strike="noStrike" kern="0" cap="none" spc="0" normalizeH="0" baseline="0" noProof="0" dirty="0">
                <a:ln>
                  <a:noFill/>
                </a:ln>
                <a:solidFill>
                  <a:schemeClr val="tx1"/>
                </a:solidFill>
                <a:effectLst/>
                <a:uLnTx/>
                <a:uFillTx/>
                <a:latin typeface="+mn-lt"/>
                <a:ea typeface="DFKai-SB" pitchFamily="65" charset="-128"/>
                <a:cs typeface="+mn-cs"/>
              </a:rPr>
              <a:t>可靠性和可用性被</a:t>
            </a:r>
            <a:r>
              <a:rPr kumimoji="0" lang="zh-CN" altLang="en-US" sz="2000" b="0" i="0" u="none" strike="noStrike" kern="0" cap="none" spc="0" normalizeH="0" baseline="0" noProof="0" dirty="0">
                <a:ln>
                  <a:noFill/>
                </a:ln>
                <a:solidFill>
                  <a:schemeClr val="tx1"/>
                </a:solidFill>
                <a:effectLst/>
                <a:uLnTx/>
                <a:uFillTx/>
                <a:latin typeface="+mn-lt"/>
                <a:ea typeface="DFKai-SB" pitchFamily="65" charset="-128"/>
                <a:cs typeface="+mn-cs"/>
              </a:rPr>
              <a:t>认为</a:t>
            </a:r>
            <a:r>
              <a:rPr kumimoji="0" lang="zh-TW" altLang="en-GB" sz="2000" b="0" i="0" u="none" strike="noStrike" kern="0" cap="none" spc="0" normalizeH="0" baseline="0" noProof="0" dirty="0">
                <a:ln>
                  <a:noFill/>
                </a:ln>
                <a:solidFill>
                  <a:schemeClr val="tx1"/>
                </a:solidFill>
                <a:effectLst/>
                <a:uLnTx/>
                <a:uFillTx/>
                <a:latin typeface="+mn-lt"/>
                <a:ea typeface="DFKai-SB" pitchFamily="65" charset="-128"/>
                <a:cs typeface="+mn-cs"/>
              </a:rPr>
              <a:t>是</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Safety</a:t>
            </a:r>
            <a:r>
              <a:rPr kumimoji="0" lang="zh-TW" altLang="en-GB" sz="2000" b="0" i="0" u="none" strike="noStrike" kern="0" cap="none" spc="0" normalizeH="0" baseline="0" noProof="0" dirty="0">
                <a:ln>
                  <a:noFill/>
                </a:ln>
                <a:solidFill>
                  <a:schemeClr val="tx1"/>
                </a:solidFill>
                <a:effectLst/>
                <a:uLnTx/>
                <a:uFillTx/>
                <a:latin typeface="+mn-lt"/>
                <a:ea typeface="DFKai-SB" pitchFamily="65" charset="-128"/>
                <a:cs typeface="+mn-cs"/>
              </a:rPr>
              <a:t>和</a:t>
            </a:r>
            <a:r>
              <a:rPr kumimoji="0" lang="en-GB" altLang="zh-TW" sz="2000" b="0" i="0" u="none" strike="noStrike" kern="0" cap="none" spc="0" normalizeH="0" baseline="0" noProof="0" dirty="0">
                <a:ln>
                  <a:noFill/>
                </a:ln>
                <a:solidFill>
                  <a:schemeClr val="tx1"/>
                </a:solidFill>
                <a:effectLst/>
                <a:uLnTx/>
                <a:uFillTx/>
                <a:latin typeface="+mn-lt"/>
                <a:ea typeface="DFKai-SB" pitchFamily="65" charset="-128"/>
                <a:cs typeface="+mn-cs"/>
              </a:rPr>
              <a:t>Security</a:t>
            </a:r>
            <a:r>
              <a:rPr kumimoji="0" lang="zh-TW" altLang="en-GB" sz="2000" b="0" i="0" u="none" strike="noStrike" kern="0" cap="none" spc="0" normalizeH="0" baseline="0" noProof="0" dirty="0">
                <a:ln>
                  <a:noFill/>
                </a:ln>
                <a:solidFill>
                  <a:schemeClr val="tx1"/>
                </a:solidFill>
                <a:effectLst/>
                <a:uLnTx/>
                <a:uFillTx/>
                <a:latin typeface="+mn-lt"/>
                <a:ea typeface="DFKai-SB" pitchFamily="65" charset="-128"/>
                <a:cs typeface="+mn-cs"/>
              </a:rPr>
              <a:t>的必要</a:t>
            </a:r>
            <a:r>
              <a:rPr kumimoji="0" lang="zh-CN" altLang="en-US" sz="2000" b="0" i="0" u="none" strike="noStrike" kern="0" cap="none" spc="0" normalizeH="0" baseline="0" noProof="0" dirty="0">
                <a:ln>
                  <a:noFill/>
                </a:ln>
                <a:solidFill>
                  <a:schemeClr val="tx1"/>
                </a:solidFill>
                <a:effectLst/>
                <a:uLnTx/>
                <a:uFillTx/>
                <a:latin typeface="+mn-lt"/>
                <a:ea typeface="DFKai-SB" pitchFamily="65" charset="-128"/>
                <a:cs typeface="+mn-cs"/>
              </a:rPr>
              <a:t>条件</a:t>
            </a:r>
            <a:r>
              <a:rPr kumimoji="0" lang="zh-TW" altLang="en-GB" sz="2000" b="0" i="0" u="none" strike="noStrike" kern="0" cap="none" spc="0" normalizeH="0" baseline="0" noProof="0" dirty="0">
                <a:ln>
                  <a:noFill/>
                </a:ln>
                <a:solidFill>
                  <a:schemeClr val="tx1"/>
                </a:solidFill>
                <a:effectLst/>
                <a:uLnTx/>
                <a:uFillTx/>
                <a:latin typeface="+mn-lt"/>
                <a:ea typeface="DFKai-SB" pitchFamily="65" charset="-128"/>
                <a:cs typeface="+mn-cs"/>
              </a:rPr>
              <a:t>，但不是充分</a:t>
            </a:r>
            <a:r>
              <a:rPr kumimoji="0" lang="zh-CN" altLang="en-US" sz="2000" b="0" i="0" u="none" strike="noStrike" kern="0" cap="none" spc="0" normalizeH="0" baseline="0" noProof="0" dirty="0">
                <a:ln>
                  <a:noFill/>
                </a:ln>
                <a:solidFill>
                  <a:schemeClr val="tx1"/>
                </a:solidFill>
                <a:effectLst/>
                <a:uLnTx/>
                <a:uFillTx/>
                <a:latin typeface="+mn-lt"/>
                <a:ea typeface="DFKai-SB" pitchFamily="65" charset="-128"/>
                <a:cs typeface="+mn-cs"/>
              </a:rPr>
              <a:t>条件</a:t>
            </a:r>
            <a:r>
              <a:rPr kumimoji="0" lang="zh-TW" altLang="en-GB" sz="2000" b="0" i="0" u="none" strike="noStrike" kern="0" cap="none" spc="0" normalizeH="0" baseline="0" noProof="0" dirty="0">
                <a:ln>
                  <a:noFill/>
                </a:ln>
                <a:solidFill>
                  <a:schemeClr val="tx1"/>
                </a:solidFill>
                <a:effectLst/>
                <a:uLnTx/>
                <a:uFillTx/>
                <a:latin typeface="DFKai-SB" pitchFamily="65" charset="-128"/>
                <a:ea typeface="DFKai-SB" pitchFamily="65" charset="-128"/>
                <a:cs typeface="+mn-cs"/>
              </a:rPr>
              <a:t>。</a:t>
            </a:r>
            <a:endParaRPr kumimoji="0" lang="en-GB" altLang="zh-TW" sz="2000" b="0" i="0" u="none" strike="noStrike" kern="0" cap="none" spc="0" normalizeH="0" baseline="0" noProof="0" dirty="0">
              <a:ln>
                <a:noFill/>
              </a:ln>
              <a:solidFill>
                <a:schemeClr val="tx1"/>
              </a:solidFill>
              <a:effectLst/>
              <a:uLnTx/>
              <a:uFillTx/>
              <a:latin typeface="DFKai-SB" pitchFamily="65" charset="-128"/>
              <a:ea typeface="DFKai-SB" pitchFamily="65" charset="-128"/>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0" y="0"/>
            <a:ext cx="9144000" cy="819150"/>
          </a:xfrm>
          <a:ln/>
        </p:spPr>
        <p:txBody>
          <a:bodyPr vert="horz" wrap="square" lIns="91440" tIns="45720" rIns="91440" bIns="45720" anchor="ctr" anchorCtr="0"/>
          <a:lstStyle/>
          <a:p>
            <a:pPr eaLnBrk="1" hangingPunct="1"/>
            <a:r>
              <a:rPr lang="en-US" altLang="zh-CN" dirty="0">
                <a:ea typeface="宋体" panose="02010600030101010101" pitchFamily="2" charset="-122"/>
              </a:rPr>
              <a:t>Basic Concepts</a:t>
            </a:r>
          </a:p>
        </p:txBody>
      </p:sp>
      <p:sp>
        <p:nvSpPr>
          <p:cNvPr id="10243" name="Rectangle 3"/>
          <p:cNvSpPr>
            <a:spLocks noGrp="1"/>
          </p:cNvSpPr>
          <p:nvPr>
            <p:ph idx="1"/>
          </p:nvPr>
        </p:nvSpPr>
        <p:spPr>
          <a:xfrm>
            <a:off x="149225" y="765175"/>
            <a:ext cx="8796338" cy="5591175"/>
          </a:xfrm>
          <a:ln/>
        </p:spPr>
        <p:txBody>
          <a:bodyPr vert="horz" wrap="square" lIns="91440" tIns="45720" rIns="91440" bIns="45720" anchor="t" anchorCtr="0"/>
          <a:lstStyle/>
          <a:p>
            <a:pPr algn="l" eaLnBrk="1" hangingPunct="1">
              <a:lnSpc>
                <a:spcPct val="200000"/>
              </a:lnSpc>
              <a:buNone/>
            </a:pPr>
            <a:r>
              <a:rPr lang="en-US" altLang="zh-CN" sz="2200" dirty="0">
                <a:ea typeface="宋体" panose="02010600030101010101" pitchFamily="2" charset="-122"/>
              </a:rPr>
              <a:t>Faults:</a:t>
            </a:r>
          </a:p>
          <a:p>
            <a:pPr algn="l" eaLnBrk="1" hangingPunct="1">
              <a:lnSpc>
                <a:spcPct val="200000"/>
              </a:lnSpc>
              <a:buNone/>
            </a:pPr>
            <a:r>
              <a:rPr lang="en-US" altLang="zh-CN" sz="2200" dirty="0">
                <a:ea typeface="宋体" panose="02010600030101010101" pitchFamily="2" charset="-122"/>
              </a:rPr>
              <a:t>    </a:t>
            </a:r>
            <a:r>
              <a:rPr lang="en-US" altLang="zh-CN" sz="2200" b="1" dirty="0">
                <a:ea typeface="宋体" panose="02010600030101010101" pitchFamily="2" charset="-122"/>
              </a:rPr>
              <a:t>1. Transient faults:</a:t>
            </a:r>
            <a:r>
              <a:rPr lang="zh-CN" altLang="en-US" sz="2200" dirty="0">
                <a:ea typeface="宋体" panose="02010600030101010101" pitchFamily="2" charset="-122"/>
              </a:rPr>
              <a:t>故障发生一次后就消失，例如：一只鸟飞经微波传输器所发射的光束 </a:t>
            </a:r>
            <a:r>
              <a:rPr lang="en-US" altLang="zh-CN" sz="2200" dirty="0">
                <a:ea typeface="宋体" panose="02010600030101010101" pitchFamily="2" charset="-122"/>
              </a:rPr>
              <a:t>;</a:t>
            </a:r>
          </a:p>
          <a:p>
            <a:pPr algn="l" eaLnBrk="1" hangingPunct="1">
              <a:lnSpc>
                <a:spcPct val="200000"/>
              </a:lnSpc>
              <a:buNone/>
            </a:pPr>
            <a:r>
              <a:rPr lang="en-US" altLang="zh-CN" sz="2200" dirty="0">
                <a:ea typeface="宋体" panose="02010600030101010101" pitchFamily="2" charset="-122"/>
              </a:rPr>
              <a:t>    </a:t>
            </a:r>
            <a:r>
              <a:rPr lang="en-US" altLang="zh-CN" sz="2200" b="1" dirty="0">
                <a:ea typeface="宋体" panose="02010600030101010101" pitchFamily="2" charset="-122"/>
              </a:rPr>
              <a:t>2. Intermittent faults:</a:t>
            </a:r>
            <a:r>
              <a:rPr lang="zh-CN" altLang="en-US" sz="2200" dirty="0">
                <a:ea typeface="宋体" panose="02010600030101010101" pitchFamily="2" charset="-122"/>
              </a:rPr>
              <a:t>故障出现后自动消失，然后再出现，如此反复。例如：连接器的连接松动常常会导致此类错误 ;</a:t>
            </a:r>
          </a:p>
          <a:p>
            <a:pPr algn="l" eaLnBrk="1" hangingPunct="1">
              <a:lnSpc>
                <a:spcPct val="200000"/>
              </a:lnSpc>
              <a:buNone/>
            </a:pPr>
            <a:r>
              <a:rPr lang="en-US" altLang="zh-CN" sz="2200" b="1" dirty="0">
                <a:ea typeface="宋体" panose="02010600030101010101" pitchFamily="2" charset="-122"/>
              </a:rPr>
              <a:t>    3. Permanent faults:</a:t>
            </a:r>
            <a:r>
              <a:rPr lang="zh-CN" altLang="en-US" sz="2200" b="1" dirty="0">
                <a:ea typeface="宋体" panose="02010600030101010101" pitchFamily="2" charset="-122"/>
              </a:rPr>
              <a:t> </a:t>
            </a:r>
            <a:r>
              <a:rPr lang="zh-CN" altLang="en-US" sz="2200" dirty="0">
                <a:ea typeface="宋体" panose="02010600030101010101" pitchFamily="2" charset="-122"/>
              </a:rPr>
              <a:t>修理好之前一直存在。例如：烧毁的芯片，软件错误，磁盘头损害常导致永久性错误</a:t>
            </a:r>
            <a:r>
              <a:rPr lang="en-US" altLang="zh-CN" sz="2200" dirty="0">
                <a:ea typeface="宋体" panose="02010600030101010101" pitchFamily="2"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Failure Models</a:t>
            </a:r>
          </a:p>
        </p:txBody>
      </p:sp>
      <p:sp>
        <p:nvSpPr>
          <p:cNvPr id="12291" name="Rectangle 3"/>
          <p:cNvSpPr>
            <a:spLocks noGrp="1"/>
          </p:cNvSpPr>
          <p:nvPr>
            <p:ph idx="1"/>
          </p:nvPr>
        </p:nvSpPr>
        <p:spPr>
          <a:xfrm>
            <a:off x="1246188" y="6116638"/>
            <a:ext cx="6345237" cy="436562"/>
          </a:xfrm>
          <a:ln/>
        </p:spPr>
        <p:txBody>
          <a:bodyPr vert="horz" wrap="square" lIns="91440" tIns="45720" rIns="91440" bIns="45720" anchor="t" anchorCtr="0"/>
          <a:lstStyle/>
          <a:p>
            <a:pPr eaLnBrk="1" hangingPunct="1">
              <a:lnSpc>
                <a:spcPct val="80000"/>
              </a:lnSpc>
              <a:buNone/>
            </a:pPr>
            <a:r>
              <a:rPr lang="en-US" altLang="zh-CN" sz="2800" dirty="0">
                <a:ea typeface="宋体" panose="02010600030101010101" pitchFamily="2" charset="-122"/>
              </a:rPr>
              <a:t>Different types of failures.</a:t>
            </a:r>
          </a:p>
        </p:txBody>
      </p:sp>
      <p:graphicFrame>
        <p:nvGraphicFramePr>
          <p:cNvPr id="5155" name="Group 35"/>
          <p:cNvGraphicFramePr>
            <a:graphicFrameLocks noGrp="1"/>
          </p:cNvGraphicFramePr>
          <p:nvPr/>
        </p:nvGraphicFramePr>
        <p:xfrm>
          <a:off x="344488" y="1135063"/>
          <a:ext cx="8651875" cy="4686300"/>
        </p:xfrm>
        <a:graphic>
          <a:graphicData uri="http://schemas.openxmlformats.org/drawingml/2006/table">
            <a:tbl>
              <a:tblPr/>
              <a:tblGrid>
                <a:gridCol w="2440657">
                  <a:extLst>
                    <a:ext uri="{9D8B030D-6E8A-4147-A177-3AD203B41FA5}">
                      <a16:colId xmlns:a16="http://schemas.microsoft.com/office/drawing/2014/main" val="20000"/>
                    </a:ext>
                  </a:extLst>
                </a:gridCol>
                <a:gridCol w="6211218">
                  <a:extLst>
                    <a:ext uri="{9D8B030D-6E8A-4147-A177-3AD203B41FA5}">
                      <a16:colId xmlns:a16="http://schemas.microsoft.com/office/drawing/2014/main" val="20001"/>
                    </a:ext>
                  </a:extLst>
                </a:gridCol>
              </a:tblGrid>
              <a:tr h="60329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Type of failure</a:t>
                      </a:r>
                    </a:p>
                  </a:txBody>
                  <a:tcPr marL="91439" marR="91439"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Description</a:t>
                      </a:r>
                    </a:p>
                  </a:txBody>
                  <a:tcPr marL="91439" marR="91439"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815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Crash failure</a:t>
                      </a:r>
                    </a:p>
                  </a:txBody>
                  <a:tcPr marL="91439" marR="91439"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server halts, but is working correctly until it halts</a:t>
                      </a:r>
                    </a:p>
                  </a:txBody>
                  <a:tcPr marL="91439" marR="91439"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52617">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Omission failure</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Receive omission</a:t>
                      </a:r>
                      <a:br>
                        <a:rPr kumimoji="0" lang="en-US" altLang="zh-CN" sz="1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     Send omission</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server fails to respond to incoming requests</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（输入没响应）</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server fails to receive incoming messages</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server fails to send messages</a:t>
                      </a:r>
                    </a:p>
                  </a:txBody>
                  <a:tcPr marL="91439" marR="91439"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329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Timing failure</a:t>
                      </a:r>
                    </a:p>
                  </a:txBody>
                  <a:tcPr marL="91439" marR="91439"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server's response lies outside the specified time interval</a:t>
                      </a:r>
                    </a:p>
                  </a:txBody>
                  <a:tcPr marL="91439" marR="91439"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8880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Response failure</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1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Value failure</a:t>
                      </a:r>
                      <a:br>
                        <a:rPr kumimoji="0" lang="en-US" altLang="zh-CN" sz="1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     State transition failure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The server‘s response is incorrect</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（响应错误）</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The value of the response is wrong</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The server deviates(</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偏离)</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from the correct flow of control</a:t>
                      </a:r>
                    </a:p>
                  </a:txBody>
                  <a:tcPr marL="91439" marR="91439"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01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Arbitrary failure</a:t>
                      </a:r>
                    </a:p>
                  </a:txBody>
                  <a:tcPr marL="91439" marR="91439"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server may produce arbitrary responses at arbitrary times</a:t>
                      </a:r>
                    </a:p>
                  </a:txBody>
                  <a:tcPr marL="91439" marR="91439"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Basic Concepts</a:t>
            </a:r>
          </a:p>
        </p:txBody>
      </p:sp>
      <p:sp>
        <p:nvSpPr>
          <p:cNvPr id="11267" name="Rectangle 3"/>
          <p:cNvSpPr>
            <a:spLocks noGrp="1" noChangeArrowheads="1"/>
          </p:cNvSpPr>
          <p:nvPr>
            <p:ph idx="1"/>
          </p:nvPr>
        </p:nvSpPr>
        <p:spPr>
          <a:xfrm>
            <a:off x="360363" y="1143000"/>
            <a:ext cx="8326438" cy="4960938"/>
          </a:xfrm>
        </p:spPr>
        <p:txBody>
          <a:bodyPr vert="horz" wrap="square" lIns="91440" tIns="45720" rIns="91440" bIns="45720" numCol="1" anchor="t" anchorCtr="0" compatLnSpc="1"/>
          <a:lstStyle/>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处理机的失效分类：</a:t>
            </a:r>
          </a:p>
          <a:p>
            <a:pPr marL="457200" marR="0" lvl="0" indent="-457200" algn="l" defTabSz="914400" rtl="0" eaLnBrk="1" fontAlgn="base" latinLnBrk="0" hangingPunct="1">
              <a:lnSpc>
                <a:spcPct val="150000"/>
              </a:lnSpc>
              <a:spcBef>
                <a:spcPct val="20000"/>
              </a:spcBef>
              <a:spcAft>
                <a:spcPct val="0"/>
              </a:spcAft>
              <a:buClr>
                <a:schemeClr val="accent2"/>
              </a:buClr>
              <a:buSzTx/>
              <a:buFontTx/>
              <a:buAutoNum type="arabicPeriod"/>
              <a:defRPr/>
            </a:pP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Fail_silent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——失效的处理机停止运行，对后续输入不作反应也不产生进一步的输出。</a:t>
            </a:r>
          </a:p>
          <a:p>
            <a:pPr marL="457200" marR="0" lvl="0" indent="-457200" algn="l" defTabSz="914400" rtl="0" eaLnBrk="1" fontAlgn="base" latinLnBrk="0" hangingPunct="1">
              <a:lnSpc>
                <a:spcPct val="150000"/>
              </a:lnSpc>
              <a:spcBef>
                <a:spcPct val="20000"/>
              </a:spcBef>
              <a:spcAft>
                <a:spcPct val="0"/>
              </a:spcAft>
              <a:buClr>
                <a:schemeClr val="accent2"/>
              </a:buClr>
              <a:buSzTx/>
              <a:buFontTx/>
              <a:buAutoNum type="arabicPeriod"/>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Byzantine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——出错的处理机继续运行，产生错误的结果，并可能和其它出错的处理机一起“恶意”的工作，给人一种它们都工作正常的假象。</a:t>
            </a: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200" b="1" i="0" u="none" strike="noStrike" kern="0" cap="none" spc="0" normalizeH="0" baseline="0" noProof="0" dirty="0">
                <a:ln>
                  <a:noFill/>
                </a:ln>
                <a:solidFill>
                  <a:srgbClr val="FF0066"/>
                </a:solidFill>
                <a:effectLst/>
                <a:uLnTx/>
                <a:uFillTx/>
                <a:latin typeface="+mn-lt"/>
                <a:ea typeface="宋体" panose="02010600030101010101" pitchFamily="2" charset="-122"/>
                <a:cs typeface="+mn-cs"/>
              </a:rPr>
              <a:t>Byzantine</a:t>
            </a:r>
            <a:r>
              <a:rPr kumimoji="0" lang="zh-CN" altLang="en-US" sz="2200" b="1" i="0" u="none" strike="noStrike" kern="0" cap="none" spc="0" normalizeH="0" baseline="0" noProof="0" dirty="0">
                <a:ln>
                  <a:noFill/>
                </a:ln>
                <a:solidFill>
                  <a:srgbClr val="FF0066"/>
                </a:solidFill>
                <a:effectLst/>
                <a:uLnTx/>
                <a:uFillTx/>
                <a:latin typeface="+mn-lt"/>
                <a:ea typeface="宋体" panose="02010600030101010101" pitchFamily="2" charset="-122"/>
                <a:cs typeface="+mn-cs"/>
              </a:rPr>
              <a:t>（拜占庭）是东罗马帝国的首都，拜占庭将军问题是一个典故：将军们位置隔离且存在叛徒的情况下，必须完全达成一致才能获得胜利；处理</a:t>
            </a:r>
            <a:r>
              <a:rPr kumimoji="0" lang="en-US" altLang="zh-CN" sz="2200" b="1" i="0" u="none" strike="noStrike" kern="0" cap="none" spc="0" normalizeH="0" baseline="0" noProof="0" dirty="0">
                <a:ln>
                  <a:noFill/>
                </a:ln>
                <a:solidFill>
                  <a:srgbClr val="FF0066"/>
                </a:solidFill>
                <a:effectLst/>
                <a:uLnTx/>
                <a:uFillTx/>
                <a:latin typeface="+mn-lt"/>
                <a:ea typeface="宋体" panose="02010600030101010101" pitchFamily="2" charset="-122"/>
                <a:cs typeface="+mn-cs"/>
              </a:rPr>
              <a:t>Byzantine</a:t>
            </a:r>
            <a:r>
              <a:rPr kumimoji="0" lang="zh-CN" altLang="en-US" sz="2200" b="1" i="0" u="none" strike="noStrike" kern="0" cap="none" spc="0" normalizeH="0" baseline="0" noProof="0" dirty="0">
                <a:ln>
                  <a:noFill/>
                </a:ln>
                <a:solidFill>
                  <a:srgbClr val="FF0066"/>
                </a:solidFill>
                <a:effectLst/>
                <a:uLnTx/>
                <a:uFillTx/>
                <a:latin typeface="+mn-lt"/>
                <a:ea typeface="宋体" panose="02010600030101010101" pitchFamily="2" charset="-122"/>
                <a:cs typeface="+mn-cs"/>
              </a:rPr>
              <a:t>失效比处理</a:t>
            </a:r>
            <a:r>
              <a:rPr kumimoji="0" lang="en-US" altLang="zh-CN" sz="2200" b="1" i="0" u="none" strike="noStrike" kern="0" cap="none" spc="0" normalizeH="0" baseline="0" noProof="0" dirty="0" err="1">
                <a:ln>
                  <a:noFill/>
                </a:ln>
                <a:solidFill>
                  <a:srgbClr val="FF0066"/>
                </a:solidFill>
                <a:effectLst/>
                <a:uLnTx/>
                <a:uFillTx/>
                <a:latin typeface="+mn-lt"/>
                <a:ea typeface="宋体" panose="02010600030101010101" pitchFamily="2" charset="-122"/>
                <a:cs typeface="+mn-cs"/>
              </a:rPr>
              <a:t>Fail_silent</a:t>
            </a:r>
            <a:r>
              <a:rPr kumimoji="0" lang="en-US" altLang="zh-CN" sz="2200" b="1" i="0" u="none" strike="noStrike" kern="0" cap="none" spc="0" normalizeH="0" baseline="0" noProof="0" dirty="0">
                <a:ln>
                  <a:noFill/>
                </a:ln>
                <a:solidFill>
                  <a:srgbClr val="FF0066"/>
                </a:solidFill>
                <a:effectLst/>
                <a:uLnTx/>
                <a:uFillTx/>
                <a:latin typeface="+mn-lt"/>
                <a:ea typeface="宋体" panose="02010600030101010101" pitchFamily="2" charset="-122"/>
                <a:cs typeface="+mn-cs"/>
              </a:rPr>
              <a:t> </a:t>
            </a:r>
            <a:r>
              <a:rPr kumimoji="0" lang="zh-CN" altLang="en-US" sz="2200" b="1" i="0" u="none" strike="noStrike" kern="0" cap="none" spc="0" normalizeH="0" baseline="0" noProof="0" dirty="0">
                <a:ln>
                  <a:noFill/>
                </a:ln>
                <a:solidFill>
                  <a:srgbClr val="FF0066"/>
                </a:solidFill>
                <a:effectLst/>
                <a:uLnTx/>
                <a:uFillTx/>
                <a:latin typeface="+mn-lt"/>
                <a:ea typeface="宋体" panose="02010600030101010101" pitchFamily="2" charset="-122"/>
                <a:cs typeface="+mn-cs"/>
              </a:rPr>
              <a:t>失效困难。 </a:t>
            </a:r>
            <a:endParaRPr kumimoji="0" lang="en-US" altLang="zh-CN" sz="2200" b="1" i="0" u="none" strike="noStrike" kern="0" cap="none" spc="0" normalizeH="0" baseline="0" noProof="0" dirty="0">
              <a:ln>
                <a:noFill/>
              </a:ln>
              <a:solidFill>
                <a:srgbClr val="FF0066"/>
              </a:solidFill>
              <a:effectLst/>
              <a:uLnTx/>
              <a:uFillTx/>
              <a:latin typeface="+mn-lt"/>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254000" y="119063"/>
            <a:ext cx="8647113" cy="585787"/>
          </a:xfrm>
          <a:ln/>
        </p:spPr>
        <p:txBody>
          <a:bodyPr vert="horz" wrap="square" lIns="91440" tIns="45720" rIns="91440" bIns="45720" anchor="ctr" anchorCtr="0"/>
          <a:lstStyle/>
          <a:p>
            <a:pPr eaLnBrk="1" hangingPunct="1"/>
            <a:r>
              <a:rPr lang="en-US" altLang="zh-CN" dirty="0">
                <a:ea typeface="宋体" panose="02010600030101010101" pitchFamily="2" charset="-122"/>
              </a:rPr>
              <a:t>Redundancy</a:t>
            </a:r>
          </a:p>
        </p:txBody>
      </p:sp>
      <p:sp>
        <p:nvSpPr>
          <p:cNvPr id="13315" name="Rectangle 3"/>
          <p:cNvSpPr>
            <a:spLocks noGrp="1" noChangeArrowheads="1"/>
          </p:cNvSpPr>
          <p:nvPr>
            <p:ph idx="1"/>
          </p:nvPr>
        </p:nvSpPr>
        <p:spPr>
          <a:xfrm>
            <a:off x="373063" y="1066800"/>
            <a:ext cx="8408988" cy="50403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Redundancy----The key technique for handling failures</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p>
          <a:p>
            <a:pPr marL="0" marR="0" lvl="0" indent="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200" b="0"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信息冗余：</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增加额外数据位以使出错的数据完全恢复。各种校验码</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例如，海明码可用于附加在传输数据上，以使数据能从传输线的噪音中恢复。</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200" b="0"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时间冗余：</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动作执行后，必要时可再次执行。例如：原子事务处理，若一个事务处理失败，它可无负作用地再被执行（对于暂时性和间断性错误有用）。</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200" b="0"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物理冗余：</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使用额外部件使整个系统能容许一些部件的损失或失效。例如，使用冗余处理机，当一些崩溃时，系统仍能正常运行。</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Failure Masking by Redundancy</a:t>
            </a:r>
          </a:p>
        </p:txBody>
      </p:sp>
      <p:sp>
        <p:nvSpPr>
          <p:cNvPr id="17411" name="Rectangle 3"/>
          <p:cNvSpPr>
            <a:spLocks noGrp="1"/>
          </p:cNvSpPr>
          <p:nvPr>
            <p:ph idx="1"/>
          </p:nvPr>
        </p:nvSpPr>
        <p:spPr>
          <a:xfrm>
            <a:off x="1003300" y="5969000"/>
            <a:ext cx="7339013" cy="606425"/>
          </a:xfrm>
          <a:ln/>
        </p:spPr>
        <p:txBody>
          <a:bodyPr vert="horz" wrap="square" lIns="91440" tIns="45720" rIns="91440" bIns="45720" anchor="t" anchorCtr="0"/>
          <a:lstStyle/>
          <a:p>
            <a:pPr eaLnBrk="1" hangingPunct="1">
              <a:buNone/>
            </a:pPr>
            <a:r>
              <a:rPr lang="en-US" altLang="zh-CN" dirty="0">
                <a:ea typeface="宋体" panose="02010600030101010101" pitchFamily="2" charset="-122"/>
              </a:rPr>
              <a:t>Figure. Triple modular redundancy.</a:t>
            </a:r>
          </a:p>
        </p:txBody>
      </p:sp>
      <p:pic>
        <p:nvPicPr>
          <p:cNvPr id="17412" name="Picture 4" descr="08-02"/>
          <p:cNvPicPr>
            <a:picLocks noChangeAspect="1"/>
          </p:cNvPicPr>
          <p:nvPr/>
        </p:nvPicPr>
        <p:blipFill>
          <a:blip r:embed="rId3"/>
          <a:stretch>
            <a:fillRect/>
          </a:stretch>
        </p:blipFill>
        <p:spPr>
          <a:xfrm>
            <a:off x="623888" y="1238250"/>
            <a:ext cx="7896225" cy="435292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p:cNvSpPr>
          <p:nvPr>
            <p:ph type="title"/>
          </p:nvPr>
        </p:nvSpPr>
        <p:spPr>
          <a:xfrm>
            <a:off x="254000" y="119063"/>
            <a:ext cx="8647113" cy="792162"/>
          </a:xfrm>
          <a:ln/>
        </p:spPr>
        <p:txBody>
          <a:bodyPr vert="horz" wrap="square" lIns="91440" tIns="45720" rIns="91440" bIns="45720" anchor="ctr" anchorCtr="0"/>
          <a:lstStyle/>
          <a:p>
            <a:pPr eaLnBrk="1" hangingPunct="1"/>
            <a:r>
              <a:rPr lang="en-US" altLang="zh-CN" dirty="0">
                <a:ea typeface="宋体" panose="02010600030101010101" pitchFamily="2" charset="-122"/>
              </a:rPr>
              <a:t>PROCESS RESILIENCE</a:t>
            </a:r>
          </a:p>
        </p:txBody>
      </p:sp>
      <p:sp>
        <p:nvSpPr>
          <p:cNvPr id="19459" name="Rectangle 1027"/>
          <p:cNvSpPr>
            <a:spLocks noGrp="1"/>
          </p:cNvSpPr>
          <p:nvPr>
            <p:ph idx="1"/>
          </p:nvPr>
        </p:nvSpPr>
        <p:spPr>
          <a:xfrm>
            <a:off x="688975" y="1512888"/>
            <a:ext cx="7862888" cy="3998912"/>
          </a:xfrm>
          <a:ln/>
        </p:spPr>
        <p:txBody>
          <a:bodyPr vert="horz" wrap="square" lIns="91440" tIns="45720" rIns="91440" bIns="45720" anchor="t" anchorCtr="0"/>
          <a:lstStyle/>
          <a:p>
            <a:pPr marL="0" indent="0" algn="l" eaLnBrk="1" hangingPunct="1">
              <a:lnSpc>
                <a:spcPct val="150000"/>
              </a:lnSpc>
              <a:buNone/>
            </a:pPr>
            <a:r>
              <a:rPr lang="en-US" altLang="zh-CN" dirty="0">
                <a:ea typeface="宋体" panose="02010600030101010101" pitchFamily="2" charset="-122"/>
              </a:rPr>
              <a:t>Protection against process failures:</a:t>
            </a:r>
          </a:p>
          <a:p>
            <a:pPr marL="0" indent="0" algn="l" eaLnBrk="1" hangingPunct="1">
              <a:lnSpc>
                <a:spcPct val="150000"/>
              </a:lnSpc>
              <a:buFont typeface="Wingdings" panose="05000000000000000000" pitchFamily="2" charset="2"/>
              <a:buChar char="u"/>
            </a:pPr>
            <a:r>
              <a:rPr lang="en-US" altLang="zh-CN" dirty="0">
                <a:ea typeface="宋体" panose="02010600030101010101" pitchFamily="2" charset="-122"/>
              </a:rPr>
              <a:t>replicating processes into groups;</a:t>
            </a:r>
          </a:p>
          <a:p>
            <a:pPr marL="0" indent="0" algn="l" eaLnBrk="1" hangingPunct="1">
              <a:lnSpc>
                <a:spcPct val="150000"/>
              </a:lnSpc>
              <a:buFont typeface="Wingdings" panose="05000000000000000000" pitchFamily="2" charset="2"/>
              <a:buChar char="u"/>
            </a:pPr>
            <a:r>
              <a:rPr lang="en-US" altLang="zh-CN" dirty="0">
                <a:ea typeface="宋体" panose="02010600030101010101" pitchFamily="2" charset="-122"/>
              </a:rPr>
              <a:t>how to reach agreement with a process group when one or more of its members cannot be trusted to give correct answers.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Flat Groups versus Hierarchical Groups</a:t>
            </a:r>
          </a:p>
        </p:txBody>
      </p:sp>
      <p:sp>
        <p:nvSpPr>
          <p:cNvPr id="21507" name="Rectangle 3"/>
          <p:cNvSpPr>
            <a:spLocks noGrp="1"/>
          </p:cNvSpPr>
          <p:nvPr>
            <p:ph idx="1"/>
          </p:nvPr>
        </p:nvSpPr>
        <p:spPr>
          <a:xfrm>
            <a:off x="742950" y="5715000"/>
            <a:ext cx="7197725" cy="838200"/>
          </a:xfrm>
          <a:ln/>
        </p:spPr>
        <p:txBody>
          <a:bodyPr vert="horz" wrap="square" lIns="91440" tIns="45720" rIns="91440" bIns="45720" anchor="t" anchorCtr="0"/>
          <a:lstStyle/>
          <a:p>
            <a:pPr marL="609600" indent="-609600" algn="l" eaLnBrk="1" hangingPunct="1">
              <a:lnSpc>
                <a:spcPct val="90000"/>
              </a:lnSpc>
              <a:buFontTx/>
              <a:buAutoNum type="alphaLcParenR"/>
            </a:pPr>
            <a:r>
              <a:rPr lang="en-US" altLang="zh-CN" sz="2400" dirty="0">
                <a:ea typeface="宋体" panose="02010600030101010101" pitchFamily="2" charset="-122"/>
              </a:rPr>
              <a:t>Communication in a flat group.</a:t>
            </a:r>
          </a:p>
          <a:p>
            <a:pPr marL="609600" indent="-609600" algn="l" eaLnBrk="1" hangingPunct="1">
              <a:lnSpc>
                <a:spcPct val="90000"/>
              </a:lnSpc>
              <a:buFontTx/>
              <a:buAutoNum type="alphaLcParenR"/>
            </a:pPr>
            <a:r>
              <a:rPr lang="en-US" altLang="zh-CN" sz="2400" dirty="0">
                <a:ea typeface="宋体" panose="02010600030101010101" pitchFamily="2" charset="-122"/>
              </a:rPr>
              <a:t>Communication in a simple hierarchical group.</a:t>
            </a:r>
          </a:p>
        </p:txBody>
      </p:sp>
      <p:pic>
        <p:nvPicPr>
          <p:cNvPr id="21508" name="Picture 5"/>
          <p:cNvPicPr>
            <a:picLocks noChangeAspect="1"/>
          </p:cNvPicPr>
          <p:nvPr/>
        </p:nvPicPr>
        <p:blipFill>
          <a:blip r:embed="rId3"/>
          <a:srcRect l="21352" t="42900" r="20070" b="37160"/>
          <a:stretch>
            <a:fillRect/>
          </a:stretch>
        </p:blipFill>
        <p:spPr>
          <a:xfrm>
            <a:off x="381000" y="1235075"/>
            <a:ext cx="8382000" cy="41021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254000" y="119063"/>
            <a:ext cx="8647113" cy="688975"/>
          </a:xfrm>
          <a:ln/>
        </p:spPr>
        <p:txBody>
          <a:bodyPr vert="horz" wrap="square" lIns="91440" tIns="45720" rIns="91440" bIns="45720" anchor="ctr" anchorCtr="0"/>
          <a:lstStyle/>
          <a:p>
            <a:pPr eaLnBrk="1" hangingPunct="1"/>
            <a:r>
              <a:rPr lang="en-US" altLang="zh-CN" dirty="0">
                <a:ea typeface="宋体" panose="02010600030101010101" pitchFamily="2" charset="-122"/>
              </a:rPr>
              <a:t>Redundancy</a:t>
            </a:r>
          </a:p>
        </p:txBody>
      </p:sp>
      <p:sp>
        <p:nvSpPr>
          <p:cNvPr id="23555" name="Rectangle 3"/>
          <p:cNvSpPr>
            <a:spLocks noGrp="1"/>
          </p:cNvSpPr>
          <p:nvPr>
            <p:ph idx="1"/>
          </p:nvPr>
        </p:nvSpPr>
        <p:spPr>
          <a:xfrm>
            <a:off x="158750" y="808038"/>
            <a:ext cx="8859838" cy="5497512"/>
          </a:xfrm>
          <a:ln/>
        </p:spPr>
        <p:txBody>
          <a:bodyPr vert="horz" wrap="square" lIns="91440" tIns="45720" rIns="91440" bIns="45720" anchor="t" anchorCtr="0"/>
          <a:lstStyle/>
          <a:p>
            <a:pPr marL="0" indent="0" algn="just" eaLnBrk="1" hangingPunct="1">
              <a:lnSpc>
                <a:spcPct val="150000"/>
              </a:lnSpc>
              <a:buFont typeface="Wingdings" panose="05000000000000000000" pitchFamily="2" charset="2"/>
              <a:buChar char="u"/>
            </a:pPr>
            <a:r>
              <a:rPr lang="zh-CN" altLang="en-US" sz="2200" dirty="0">
                <a:ea typeface="宋体" panose="02010600030101010101" pitchFamily="2" charset="-122"/>
              </a:rPr>
              <a:t>称系统是</a:t>
            </a:r>
            <a:r>
              <a:rPr lang="en-US" altLang="zh-CN" sz="2200" dirty="0">
                <a:ea typeface="宋体" panose="02010600030101010101" pitchFamily="2" charset="-122"/>
              </a:rPr>
              <a:t>k</a:t>
            </a:r>
            <a:r>
              <a:rPr lang="zh-CN" altLang="en-US" sz="2200" dirty="0">
                <a:ea typeface="宋体" panose="02010600030101010101" pitchFamily="2" charset="-122"/>
              </a:rPr>
              <a:t>容错：如果系统</a:t>
            </a:r>
            <a:r>
              <a:rPr lang="en-US" altLang="zh-CN" sz="2200" dirty="0">
                <a:ea typeface="宋体" panose="02010600030101010101" pitchFamily="2" charset="-122"/>
              </a:rPr>
              <a:t>k</a:t>
            </a:r>
            <a:r>
              <a:rPr lang="zh-CN" altLang="en-US" sz="2200" dirty="0">
                <a:ea typeface="宋体" panose="02010600030101010101" pitchFamily="2" charset="-122"/>
              </a:rPr>
              <a:t>个部件故障时，仍能正常工作；容余程度取决于想要达到的容错量；</a:t>
            </a:r>
          </a:p>
          <a:p>
            <a:pPr marL="0" indent="0" algn="just" eaLnBrk="1" hangingPunct="1">
              <a:lnSpc>
                <a:spcPct val="150000"/>
              </a:lnSpc>
              <a:buFont typeface="Wingdings" panose="05000000000000000000" pitchFamily="2" charset="2"/>
              <a:buChar char="u"/>
            </a:pPr>
            <a:r>
              <a:rPr lang="en-US" altLang="zh-CN" sz="2200" dirty="0">
                <a:ea typeface="宋体" panose="02010600030101010101" pitchFamily="2" charset="-122"/>
              </a:rPr>
              <a:t>fail_silent</a:t>
            </a:r>
            <a:r>
              <a:rPr lang="zh-CN" altLang="en-US" sz="2200" dirty="0">
                <a:ea typeface="宋体" panose="02010600030101010101" pitchFamily="2" charset="-122"/>
              </a:rPr>
              <a:t>型：</a:t>
            </a:r>
            <a:r>
              <a:rPr lang="en-US" altLang="zh-CN" sz="2200" dirty="0">
                <a:ea typeface="宋体" panose="02010600030101010101" pitchFamily="2" charset="-122"/>
              </a:rPr>
              <a:t>k+1</a:t>
            </a:r>
            <a:r>
              <a:rPr lang="zh-CN" altLang="en-US" sz="2200" dirty="0">
                <a:ea typeface="宋体" panose="02010600030101010101" pitchFamily="2" charset="-122"/>
              </a:rPr>
              <a:t>个冗余部件可满足</a:t>
            </a:r>
            <a:r>
              <a:rPr lang="en-US" altLang="zh-CN" sz="2200" dirty="0">
                <a:ea typeface="宋体" panose="02010600030101010101" pitchFamily="2" charset="-122"/>
              </a:rPr>
              <a:t>k</a:t>
            </a:r>
            <a:r>
              <a:rPr lang="zh-CN" altLang="en-US" sz="2200" dirty="0">
                <a:ea typeface="宋体" panose="02010600030101010101" pitchFamily="2" charset="-122"/>
              </a:rPr>
              <a:t>容错的要求；</a:t>
            </a:r>
          </a:p>
          <a:p>
            <a:pPr marL="0" indent="0" algn="just" eaLnBrk="1" hangingPunct="1">
              <a:lnSpc>
                <a:spcPct val="150000"/>
              </a:lnSpc>
              <a:buFont typeface="Wingdings" panose="05000000000000000000" pitchFamily="2" charset="2"/>
              <a:buChar char="u"/>
            </a:pPr>
            <a:r>
              <a:rPr lang="en-US" altLang="zh-CN" sz="2200" dirty="0">
                <a:ea typeface="宋体" panose="02010600030101010101" pitchFamily="2" charset="-122"/>
              </a:rPr>
              <a:t>Byzantine</a:t>
            </a:r>
            <a:r>
              <a:rPr lang="zh-CN" altLang="en-US" sz="2200" dirty="0">
                <a:ea typeface="宋体" panose="02010600030101010101" pitchFamily="2" charset="-122"/>
              </a:rPr>
              <a:t>型：至少需2</a:t>
            </a:r>
            <a:r>
              <a:rPr lang="en-US" altLang="zh-CN" sz="2200" dirty="0">
                <a:ea typeface="宋体" panose="02010600030101010101" pitchFamily="2" charset="-122"/>
              </a:rPr>
              <a:t>k+1</a:t>
            </a:r>
            <a:r>
              <a:rPr lang="zh-CN" altLang="en-US" sz="2200" dirty="0">
                <a:ea typeface="宋体" panose="02010600030101010101" pitchFamily="2" charset="-122"/>
              </a:rPr>
              <a:t>个处理机才能达到</a:t>
            </a:r>
            <a:r>
              <a:rPr lang="en-US" altLang="zh-CN" sz="2200" dirty="0">
                <a:ea typeface="宋体" panose="02010600030101010101" pitchFamily="2" charset="-122"/>
              </a:rPr>
              <a:t>k</a:t>
            </a:r>
            <a:r>
              <a:rPr lang="zh-CN" altLang="en-US" sz="2200" dirty="0">
                <a:ea typeface="宋体" panose="02010600030101010101" pitchFamily="2" charset="-122"/>
              </a:rPr>
              <a:t>容错；</a:t>
            </a:r>
            <a:endParaRPr lang="en-US" altLang="zh-CN" sz="2200" dirty="0">
              <a:ea typeface="宋体" panose="02010600030101010101" pitchFamily="2" charset="-122"/>
            </a:endParaRPr>
          </a:p>
          <a:p>
            <a:pPr marL="0" indent="0" algn="just" eaLnBrk="1" hangingPunct="1">
              <a:lnSpc>
                <a:spcPct val="150000"/>
              </a:lnSpc>
              <a:buFont typeface="Wingdings" panose="05000000000000000000" pitchFamily="2" charset="2"/>
              <a:buChar char="u"/>
            </a:pPr>
            <a:r>
              <a:rPr lang="zh-CN" altLang="en-US" sz="2200" dirty="0">
                <a:ea typeface="宋体" panose="02010600030101010101" pitchFamily="2" charset="-122"/>
              </a:rPr>
              <a:t>最坏情况下，</a:t>
            </a:r>
            <a:r>
              <a:rPr lang="en-US" altLang="zh-CN" sz="2200" dirty="0">
                <a:ea typeface="宋体" panose="02010600030101010101" pitchFamily="2" charset="-122"/>
              </a:rPr>
              <a:t>k</a:t>
            </a:r>
            <a:r>
              <a:rPr lang="zh-CN" altLang="en-US" sz="2200" dirty="0">
                <a:ea typeface="宋体" panose="02010600030101010101" pitchFamily="2" charset="-122"/>
              </a:rPr>
              <a:t>个失效处理机偶然（或甚至有意）产生同样的应答。则剩下的</a:t>
            </a:r>
            <a:r>
              <a:rPr lang="en-US" altLang="zh-CN" sz="2200" dirty="0">
                <a:ea typeface="宋体" panose="02010600030101010101" pitchFamily="2" charset="-122"/>
              </a:rPr>
              <a:t>k+1</a:t>
            </a:r>
            <a:r>
              <a:rPr lang="zh-CN" altLang="en-US" sz="2200" dirty="0">
                <a:ea typeface="宋体" panose="02010600030101010101" pitchFamily="2" charset="-122"/>
              </a:rPr>
              <a:t>个未出错的也将产生相同的应答，因此客户或表决器只要相信大多数的应答作为结果。</a:t>
            </a:r>
            <a:endParaRPr lang="en-US" altLang="zh-CN" sz="2200" dirty="0">
              <a:ea typeface="宋体" panose="02010600030101010101" pitchFamily="2" charset="-122"/>
            </a:endParaRPr>
          </a:p>
          <a:p>
            <a:pPr marL="0" indent="0" algn="just" eaLnBrk="1" hangingPunct="1">
              <a:lnSpc>
                <a:spcPct val="150000"/>
              </a:lnSpc>
              <a:buFont typeface="Wingdings" panose="05000000000000000000" pitchFamily="2" charset="2"/>
              <a:buChar char="u"/>
            </a:pPr>
            <a:r>
              <a:rPr lang="zh-CN" altLang="en-US" sz="2200" dirty="0">
                <a:ea typeface="宋体" panose="02010600030101010101" pitchFamily="2" charset="-122"/>
              </a:rPr>
              <a:t>理论上认为一个系统</a:t>
            </a:r>
            <a:r>
              <a:rPr lang="en-US" altLang="zh-CN" sz="2200" dirty="0">
                <a:ea typeface="宋体" panose="02010600030101010101" pitchFamily="2" charset="-122"/>
              </a:rPr>
              <a:t>k</a:t>
            </a:r>
            <a:r>
              <a:rPr lang="zh-CN" altLang="en-US" sz="2200" dirty="0">
                <a:ea typeface="宋体" panose="02010600030101010101" pitchFamily="2" charset="-122"/>
              </a:rPr>
              <a:t>容错，可通过多数相同答案票数占优而消除</a:t>
            </a:r>
            <a:r>
              <a:rPr lang="en-US" altLang="zh-CN" sz="2200" dirty="0">
                <a:ea typeface="宋体" panose="02010600030101010101" pitchFamily="2" charset="-122"/>
              </a:rPr>
              <a:t>k</a:t>
            </a:r>
            <a:r>
              <a:rPr lang="zh-CN" altLang="en-US" sz="2200" dirty="0">
                <a:ea typeface="宋体" panose="02010600030101010101" pitchFamily="2" charset="-122"/>
              </a:rPr>
              <a:t>个错误的影响。但实际应用环境中很难想象</a:t>
            </a:r>
            <a:r>
              <a:rPr lang="en-US" altLang="zh-CN" sz="2200" dirty="0">
                <a:ea typeface="宋体" panose="02010600030101010101" pitchFamily="2" charset="-122"/>
              </a:rPr>
              <a:t>k</a:t>
            </a:r>
            <a:r>
              <a:rPr lang="zh-CN" altLang="en-US" sz="2200" dirty="0">
                <a:ea typeface="宋体" panose="02010600030101010101" pitchFamily="2" charset="-122"/>
              </a:rPr>
              <a:t>个处理机会出错，而另外其他不会出错，容错系统需要进行一些概率分析。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104775" y="111125"/>
            <a:ext cx="8934450" cy="776288"/>
          </a:xfrm>
          <a:ln/>
        </p:spPr>
        <p:txBody>
          <a:bodyPr vert="horz" wrap="square" lIns="91440" tIns="45720" rIns="91440" bIns="45720" anchor="ctr" anchorCtr="0"/>
          <a:lstStyle/>
          <a:p>
            <a:pPr eaLnBrk="1" hangingPunct="1"/>
            <a:r>
              <a:rPr lang="en-US" altLang="zh-CN" dirty="0">
                <a:ea typeface="宋体" panose="02010600030101010101" pitchFamily="2" charset="-122"/>
              </a:rPr>
              <a:t>Agreement in Faulty Systems (1)</a:t>
            </a:r>
          </a:p>
        </p:txBody>
      </p:sp>
      <p:sp>
        <p:nvSpPr>
          <p:cNvPr id="25603" name="Rectangle 3"/>
          <p:cNvSpPr>
            <a:spLocks noGrp="1"/>
          </p:cNvSpPr>
          <p:nvPr>
            <p:ph idx="1"/>
          </p:nvPr>
        </p:nvSpPr>
        <p:spPr>
          <a:xfrm>
            <a:off x="0" y="1138238"/>
            <a:ext cx="8747125" cy="5003800"/>
          </a:xfrm>
          <a:ln/>
        </p:spPr>
        <p:txBody>
          <a:bodyPr vert="horz" wrap="square" lIns="91440" tIns="45720" rIns="91440" bIns="45720" anchor="t" anchorCtr="0"/>
          <a:lstStyle/>
          <a:p>
            <a:pPr marL="287655" indent="-92075" algn="just" eaLnBrk="1" hangingPunct="1">
              <a:lnSpc>
                <a:spcPct val="150000"/>
              </a:lnSpc>
              <a:buNone/>
            </a:pPr>
            <a:r>
              <a:rPr lang="zh-CN" altLang="en-US" sz="2400" b="1" dirty="0">
                <a:latin typeface="宋体" panose="02010600030101010101" pitchFamily="2" charset="-122"/>
                <a:ea typeface="宋体" panose="02010600030101010101" pitchFamily="2" charset="-122"/>
              </a:rPr>
              <a:t>    分布式一致性协议：使所有无故障处理机对待某些问题的意见达到一致，并在有限的步骤内进行处理。可考虑不同情况：</a:t>
            </a:r>
          </a:p>
          <a:p>
            <a:pPr marL="287655" indent="-92075" algn="just" eaLnBrk="1" hangingPunct="1">
              <a:lnSpc>
                <a:spcPct val="150000"/>
              </a:lnSpc>
              <a:buNone/>
            </a:pPr>
            <a:r>
              <a:rPr lang="zh-CN" altLang="en-US" sz="2400" b="1" dirty="0">
                <a:latin typeface="宋体" panose="02010600030101010101" pitchFamily="2" charset="-122"/>
                <a:ea typeface="宋体" panose="02010600030101010101" pitchFamily="2" charset="-122"/>
              </a:rPr>
              <a:t>   1．消息传递总是可靠吗？</a:t>
            </a:r>
          </a:p>
          <a:p>
            <a:pPr marL="287655" indent="-92075" algn="just" eaLnBrk="1" hangingPunct="1">
              <a:lnSpc>
                <a:spcPct val="150000"/>
              </a:lnSpc>
              <a:buNone/>
            </a:pPr>
            <a:r>
              <a:rPr lang="zh-CN" altLang="en-US" sz="2400" b="1" dirty="0">
                <a:latin typeface="宋体" panose="02010600030101010101" pitchFamily="2" charset="-122"/>
                <a:ea typeface="宋体" panose="02010600030101010101" pitchFamily="2" charset="-122"/>
              </a:rPr>
              <a:t>   2</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进程会崩溃吗？若会，是</a:t>
            </a:r>
            <a:r>
              <a:rPr lang="en-US" altLang="zh-CN" sz="2400" b="1" dirty="0">
                <a:latin typeface="宋体" panose="02010600030101010101" pitchFamily="2" charset="-122"/>
                <a:ea typeface="宋体" panose="02010600030101010101" pitchFamily="2" charset="-122"/>
              </a:rPr>
              <a:t>fail_silent</a:t>
            </a:r>
            <a:r>
              <a:rPr lang="zh-CN" altLang="en-US" sz="2400" b="1" dirty="0">
                <a:latin typeface="宋体" panose="02010600030101010101" pitchFamily="2" charset="-122"/>
                <a:ea typeface="宋体" panose="02010600030101010101" pitchFamily="2" charset="-122"/>
              </a:rPr>
              <a:t>错误还是</a:t>
            </a:r>
            <a:r>
              <a:rPr lang="en-US" altLang="zh-CN" sz="2400" b="1" dirty="0">
                <a:latin typeface="宋体" panose="02010600030101010101" pitchFamily="2" charset="-122"/>
                <a:ea typeface="宋体" panose="02010600030101010101" pitchFamily="2" charset="-122"/>
              </a:rPr>
              <a:t>byzantine</a:t>
            </a:r>
            <a:r>
              <a:rPr lang="zh-CN" altLang="en-US" sz="2400" b="1" dirty="0">
                <a:latin typeface="宋体" panose="02010600030101010101" pitchFamily="2" charset="-122"/>
                <a:ea typeface="宋体" panose="02010600030101010101" pitchFamily="2" charset="-122"/>
              </a:rPr>
              <a:t>错误？</a:t>
            </a:r>
          </a:p>
          <a:p>
            <a:pPr marL="287655" indent="-92075" algn="just" eaLnBrk="1" hangingPunct="1">
              <a:lnSpc>
                <a:spcPct val="150000"/>
              </a:lnSpc>
              <a:buNone/>
            </a:pPr>
            <a:r>
              <a:rPr lang="zh-CN" altLang="en-US" sz="2400" b="1" dirty="0">
                <a:latin typeface="宋体" panose="02010600030101010101" pitchFamily="2" charset="-122"/>
                <a:ea typeface="宋体" panose="02010600030101010101" pitchFamily="2" charset="-122"/>
              </a:rPr>
              <a:t>   3. 系统是同步还是异步? </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0" y="180975"/>
            <a:ext cx="5041900" cy="2784475"/>
          </a:xfrm>
          <a:ln/>
        </p:spPr>
        <p:txBody>
          <a:bodyPr vert="horz" wrap="square" lIns="91440" tIns="45720" rIns="91440" bIns="45720" anchor="ctr" anchorCtr="0"/>
          <a:lstStyle/>
          <a:p>
            <a:pPr algn="l" latinLnBrk="1">
              <a:lnSpc>
                <a:spcPct val="150000"/>
              </a:lnSpc>
            </a:pPr>
            <a:r>
              <a:rPr lang="zh-CN" altLang="en-US" sz="2000" dirty="0">
                <a:solidFill>
                  <a:schemeClr val="tx1"/>
                </a:solidFill>
                <a:latin typeface="宋体" panose="02010600030101010101" pitchFamily="2" charset="-122"/>
                <a:ea typeface="宋体" panose="02010600030101010101" pitchFamily="2" charset="-122"/>
              </a:rPr>
              <a:t>公元</a:t>
            </a:r>
            <a:r>
              <a:rPr lang="en-US" altLang="zh-CN" sz="2000" dirty="0">
                <a:solidFill>
                  <a:schemeClr val="tx1"/>
                </a:solidFill>
                <a:latin typeface="宋体" panose="02010600030101010101" pitchFamily="2" charset="-122"/>
                <a:ea typeface="宋体" panose="02010600030101010101" pitchFamily="2" charset="-122"/>
              </a:rPr>
              <a:t>395</a:t>
            </a:r>
            <a:r>
              <a:rPr lang="zh-CN" altLang="en-US" sz="2000" dirty="0">
                <a:solidFill>
                  <a:schemeClr val="tx1"/>
                </a:solidFill>
                <a:latin typeface="宋体" panose="02010600030101010101" pitchFamily="2" charset="-122"/>
                <a:ea typeface="宋体" panose="02010600030101010101" pitchFamily="2" charset="-122"/>
              </a:rPr>
              <a:t>年罗马帝国分东、西部分，东罗马帝国即</a:t>
            </a:r>
            <a:r>
              <a:rPr lang="zh-CN" altLang="en-US" sz="2000" dirty="0">
                <a:latin typeface="宋体" panose="02010600030101010101" pitchFamily="2" charset="-122"/>
                <a:ea typeface="宋体" panose="02010600030101010101" pitchFamily="2" charset="-122"/>
              </a:rPr>
              <a:t>拜占庭帝国</a:t>
            </a:r>
            <a:r>
              <a:rPr lang="zh-CN" altLang="en-US" sz="2000" dirty="0">
                <a:solidFill>
                  <a:schemeClr val="tx1"/>
                </a:solidFill>
                <a:latin typeface="宋体" panose="02010600030101010101" pitchFamily="2" charset="-122"/>
                <a:ea typeface="宋体" panose="02010600030101010101" pitchFamily="2" charset="-122"/>
              </a:rPr>
              <a:t>。核心区位于欧洲东南部巴尔干半岛，是欧洲最悠久的君主制国家，首都</a:t>
            </a:r>
            <a:r>
              <a:rPr lang="zh-CN" altLang="en-US" sz="2000" u="sng" dirty="0">
                <a:solidFill>
                  <a:schemeClr val="tx1"/>
                </a:solidFill>
                <a:latin typeface="宋体" panose="02010600030101010101" pitchFamily="2" charset="-122"/>
                <a:ea typeface="宋体" panose="02010600030101010101" pitchFamily="2" charset="-122"/>
              </a:rPr>
              <a:t>是土耳其的君士坦丁堡</a:t>
            </a:r>
            <a:r>
              <a:rPr lang="en-US" altLang="zh-CN" sz="2000" dirty="0">
                <a:solidFill>
                  <a:schemeClr val="tx1"/>
                </a:solidFill>
                <a:latin typeface="宋体" panose="02010600030101010101" pitchFamily="2" charset="-122"/>
                <a:ea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rPr>
              <a:t>新罗马</a:t>
            </a:r>
            <a:r>
              <a:rPr lang="en-US" altLang="zh-CN" sz="2000" dirty="0">
                <a:solidFill>
                  <a:schemeClr val="tx1"/>
                </a:solidFill>
                <a:latin typeface="宋体" panose="02010600030101010101" pitchFamily="2" charset="-122"/>
                <a:ea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rPr>
              <a:t>伊斯坦布尔）</a:t>
            </a:r>
            <a:endParaRPr lang="en-US" altLang="zh-CN" sz="2000" dirty="0">
              <a:solidFill>
                <a:schemeClr val="tx1"/>
              </a:solidFill>
              <a:latin typeface="宋体" panose="02010600030101010101" pitchFamily="2" charset="-122"/>
              <a:ea typeface="宋体" panose="02010600030101010101" pitchFamily="2" charset="-122"/>
            </a:endParaRPr>
          </a:p>
        </p:txBody>
      </p:sp>
      <p:pic>
        <p:nvPicPr>
          <p:cNvPr id="27651" name="图片 8" descr="9-11世纪拜占廷帝国.jpg"/>
          <p:cNvPicPr>
            <a:picLocks noChangeAspect="1"/>
          </p:cNvPicPr>
          <p:nvPr/>
        </p:nvPicPr>
        <p:blipFill>
          <a:blip r:embed="rId2"/>
          <a:stretch>
            <a:fillRect/>
          </a:stretch>
        </p:blipFill>
        <p:spPr>
          <a:xfrm>
            <a:off x="0" y="3227388"/>
            <a:ext cx="5045075" cy="3630612"/>
          </a:xfrm>
          <a:prstGeom prst="rect">
            <a:avLst/>
          </a:prstGeom>
          <a:noFill/>
          <a:ln w="9525">
            <a:noFill/>
          </a:ln>
        </p:spPr>
      </p:pic>
      <p:pic>
        <p:nvPicPr>
          <p:cNvPr id="27652" name="图片 9" descr="土耳其.jpg"/>
          <p:cNvPicPr>
            <a:picLocks noChangeAspect="1"/>
          </p:cNvPicPr>
          <p:nvPr/>
        </p:nvPicPr>
        <p:blipFill>
          <a:blip r:embed="rId3"/>
          <a:stretch>
            <a:fillRect/>
          </a:stretch>
        </p:blipFill>
        <p:spPr>
          <a:xfrm>
            <a:off x="5041900" y="0"/>
            <a:ext cx="4102100" cy="685800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0" y="0"/>
            <a:ext cx="9144000" cy="755650"/>
          </a:xfrm>
          <a:ln/>
        </p:spPr>
        <p:txBody>
          <a:bodyPr vert="horz" wrap="square" lIns="91440" tIns="45720" rIns="91440" bIns="45720" anchor="ctr" anchorCtr="0"/>
          <a:lstStyle/>
          <a:p>
            <a:pPr algn="l" latinLnBrk="1"/>
            <a:r>
              <a:rPr lang="en-US" altLang="zh-CN" b="1" dirty="0">
                <a:ea typeface="宋体" panose="02010600030101010101" pitchFamily="2" charset="-122"/>
              </a:rPr>
              <a:t>The Byzantine Generals Problem</a:t>
            </a:r>
            <a:endParaRPr lang="en-US" altLang="zh-CN" dirty="0">
              <a:ea typeface="宋体" panose="02010600030101010101" pitchFamily="2" charset="-122"/>
            </a:endParaRPr>
          </a:p>
        </p:txBody>
      </p:sp>
      <p:sp>
        <p:nvSpPr>
          <p:cNvPr id="28675" name="内容占位符 2"/>
          <p:cNvSpPr>
            <a:spLocks noGrp="1"/>
          </p:cNvSpPr>
          <p:nvPr>
            <p:ph idx="4294967295"/>
          </p:nvPr>
        </p:nvSpPr>
        <p:spPr>
          <a:xfrm>
            <a:off x="0" y="803275"/>
            <a:ext cx="9144000" cy="612775"/>
          </a:xfrm>
          <a:ln/>
        </p:spPr>
        <p:txBody>
          <a:bodyPr vert="horz" wrap="square" lIns="91440" tIns="45720" rIns="91440" bIns="45720" anchor="t" anchorCtr="0"/>
          <a:lstStyle/>
          <a:p>
            <a:pPr lvl="1" eaLnBrk="1" hangingPunct="1">
              <a:buSzPct val="60000"/>
              <a:buFont typeface="Wingdings" panose="05000000000000000000" pitchFamily="2" charset="2"/>
              <a:buChar char="p"/>
            </a:pPr>
            <a:r>
              <a:rPr lang="en-US" altLang="zh-CN" dirty="0">
                <a:ea typeface="宋体" panose="02010600030101010101" pitchFamily="2" charset="-122"/>
              </a:rPr>
              <a:t>Leslie Lamport, 1982, The Byzantine Generals Problem.</a:t>
            </a:r>
          </a:p>
        </p:txBody>
      </p:sp>
      <p:pic>
        <p:nvPicPr>
          <p:cNvPr id="28676" name="Picture 4"/>
          <p:cNvPicPr>
            <a:picLocks noChangeAspect="1"/>
          </p:cNvPicPr>
          <p:nvPr/>
        </p:nvPicPr>
        <p:blipFill>
          <a:blip r:embed="rId2"/>
          <a:stretch>
            <a:fillRect/>
          </a:stretch>
        </p:blipFill>
        <p:spPr>
          <a:xfrm>
            <a:off x="1816100" y="1514475"/>
            <a:ext cx="5002213" cy="3178175"/>
          </a:xfrm>
          <a:prstGeom prst="rect">
            <a:avLst/>
          </a:prstGeom>
          <a:noFill/>
          <a:ln w="9525">
            <a:noFill/>
          </a:ln>
        </p:spPr>
      </p:pic>
      <p:pic>
        <p:nvPicPr>
          <p:cNvPr id="28677" name="Picture 4"/>
          <p:cNvPicPr>
            <a:picLocks noChangeAspect="1"/>
          </p:cNvPicPr>
          <p:nvPr/>
        </p:nvPicPr>
        <p:blipFill>
          <a:blip r:embed="rId3"/>
          <a:stretch>
            <a:fillRect/>
          </a:stretch>
        </p:blipFill>
        <p:spPr>
          <a:xfrm>
            <a:off x="414338" y="4867275"/>
            <a:ext cx="8437562" cy="1233488"/>
          </a:xfrm>
          <a:prstGeom prst="rect">
            <a:avLst/>
          </a:prstGeom>
          <a:noFill/>
          <a:ln w="9525">
            <a:noFill/>
          </a:ln>
        </p:spPr>
      </p:pic>
      <p:cxnSp>
        <p:nvCxnSpPr>
          <p:cNvPr id="5" name="直接连接符 4"/>
          <p:cNvCxnSpPr/>
          <p:nvPr/>
        </p:nvCxnSpPr>
        <p:spPr>
          <a:xfrm flipV="1">
            <a:off x="1978025" y="5592763"/>
            <a:ext cx="1722438" cy="11113"/>
          </a:xfrm>
          <a:prstGeom prst="line">
            <a:avLst/>
          </a:prstGeom>
        </p:spPr>
        <p:style>
          <a:lnRef idx="2">
            <a:schemeClr val="accent2"/>
          </a:lnRef>
          <a:fillRef idx="0">
            <a:schemeClr val="accent2"/>
          </a:fillRef>
          <a:effectRef idx="1">
            <a:schemeClr val="accent2"/>
          </a:effectRef>
          <a:fontRef idx="minor">
            <a:schemeClr val="tx1"/>
          </a:fontRef>
        </p:style>
      </p:cxnSp>
      <p:cxnSp>
        <p:nvCxnSpPr>
          <p:cNvPr id="8" name="直接连接符 7"/>
          <p:cNvCxnSpPr/>
          <p:nvPr/>
        </p:nvCxnSpPr>
        <p:spPr>
          <a:xfrm flipV="1">
            <a:off x="4371975" y="5538788"/>
            <a:ext cx="3006725" cy="23813"/>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28680" name="矩形 8"/>
          <p:cNvSpPr/>
          <p:nvPr/>
        </p:nvSpPr>
        <p:spPr>
          <a:xfrm>
            <a:off x="536575" y="6245225"/>
            <a:ext cx="8315325"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solidFill>
                  <a:srgbClr val="FF0000"/>
                </a:solidFill>
                <a:ea typeface="宋体" panose="02010600030101010101" pitchFamily="2" charset="-122"/>
              </a:rPr>
              <a:t>问题：忠诚将军之间如何能达到一致决议？</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0" y="0"/>
            <a:ext cx="9144000" cy="531813"/>
          </a:xfrm>
          <a:ln/>
        </p:spPr>
        <p:txBody>
          <a:bodyPr vert="horz" wrap="square" lIns="91440" tIns="45720" rIns="91440" bIns="45720" anchor="ctr" anchorCtr="0"/>
          <a:lstStyle/>
          <a:p>
            <a:pPr eaLnBrk="1" hangingPunct="1"/>
            <a:r>
              <a:rPr lang="en-US" altLang="zh-CN" dirty="0">
                <a:ea typeface="宋体" panose="02010600030101010101" pitchFamily="2" charset="-122"/>
              </a:rPr>
              <a:t>Agreement in Faulty Systems</a:t>
            </a:r>
          </a:p>
        </p:txBody>
      </p:sp>
      <p:sp>
        <p:nvSpPr>
          <p:cNvPr id="29699" name="Rectangle 3"/>
          <p:cNvSpPr>
            <a:spLocks noGrp="1"/>
          </p:cNvSpPr>
          <p:nvPr>
            <p:ph idx="1"/>
          </p:nvPr>
        </p:nvSpPr>
        <p:spPr>
          <a:xfrm>
            <a:off x="244475" y="785813"/>
            <a:ext cx="8653463" cy="2328862"/>
          </a:xfrm>
          <a:ln/>
        </p:spPr>
        <p:txBody>
          <a:bodyPr vert="horz" wrap="square" lIns="91440" tIns="45720" rIns="91440" bIns="45720" anchor="t" anchorCtr="0"/>
          <a:lstStyle/>
          <a:p>
            <a:pPr marL="0" indent="0" algn="just" eaLnBrk="1" hangingPunct="1">
              <a:lnSpc>
                <a:spcPct val="150000"/>
              </a:lnSpc>
              <a:buNone/>
            </a:pPr>
            <a:r>
              <a:rPr lang="zh-CN" altLang="en-US" sz="2400" dirty="0">
                <a:ea typeface="宋体" panose="02010600030101010101" pitchFamily="2" charset="-122"/>
              </a:rPr>
              <a:t>例</a:t>
            </a:r>
            <a:r>
              <a:rPr lang="en-US" altLang="zh-CN" sz="2400" dirty="0">
                <a:ea typeface="宋体" panose="02010600030101010101" pitchFamily="2" charset="-122"/>
              </a:rPr>
              <a:t>1</a:t>
            </a:r>
            <a:r>
              <a:rPr lang="zh-CN" altLang="en-US" sz="2400" dirty="0">
                <a:ea typeface="宋体" panose="02010600030101010101" pitchFamily="2" charset="-122"/>
              </a:rPr>
              <a:t>：红、蓝两军各有5千人和</a:t>
            </a:r>
            <a:r>
              <a:rPr lang="en-US" altLang="zh-CN" sz="2400" dirty="0">
                <a:ea typeface="宋体" panose="02010600030101010101" pitchFamily="2" charset="-122"/>
              </a:rPr>
              <a:t>6</a:t>
            </a:r>
            <a:r>
              <a:rPr lang="zh-CN" altLang="en-US" sz="2400" dirty="0">
                <a:ea typeface="宋体" panose="02010600030101010101" pitchFamily="2" charset="-122"/>
              </a:rPr>
              <a:t>千人</a:t>
            </a:r>
            <a:r>
              <a:rPr lang="en-US" altLang="zh-CN" sz="2400" dirty="0">
                <a:ea typeface="宋体" panose="02010600030101010101" pitchFamily="2" charset="-122"/>
              </a:rPr>
              <a:t>(</a:t>
            </a:r>
            <a:r>
              <a:rPr lang="zh-CN" altLang="en-US" sz="2400" dirty="0">
                <a:ea typeface="宋体" panose="02010600030101010101" pitchFamily="2" charset="-122"/>
              </a:rPr>
              <a:t>分两地</a:t>
            </a:r>
            <a:r>
              <a:rPr lang="en-US" altLang="zh-CN" sz="2400" dirty="0">
                <a:ea typeface="宋体" panose="02010600030101010101" pitchFamily="2" charset="-122"/>
              </a:rPr>
              <a:t>)</a:t>
            </a:r>
            <a:r>
              <a:rPr lang="zh-CN" altLang="en-US" sz="2400" dirty="0">
                <a:ea typeface="宋体" panose="02010600030101010101" pitchFamily="2" charset="-122"/>
              </a:rPr>
              <a:t>。若蓝军两队协同攻击红方军则获胜；若仅一队出击，将被歼灭。（假如它们只有一条不可靠通道来通信</a:t>
            </a:r>
            <a:r>
              <a:rPr lang="en-US" altLang="zh-CN" sz="2400" dirty="0">
                <a:ea typeface="宋体" panose="02010600030101010101" pitchFamily="2" charset="-122"/>
              </a:rPr>
              <a:t>(</a:t>
            </a:r>
            <a:r>
              <a:rPr lang="zh-CN" altLang="en-US" sz="2400" dirty="0">
                <a:ea typeface="宋体" panose="02010600030101010101" pitchFamily="2" charset="-122"/>
              </a:rPr>
              <a:t>信差</a:t>
            </a:r>
            <a:r>
              <a:rPr lang="en-US" altLang="zh-CN" sz="2400" dirty="0">
                <a:ea typeface="宋体" panose="02010600030101010101" pitchFamily="2" charset="-122"/>
              </a:rPr>
              <a:t>)</a:t>
            </a:r>
            <a:r>
              <a:rPr lang="zh-CN" altLang="en-US" sz="2400" dirty="0">
                <a:ea typeface="宋体" panose="02010600030101010101" pitchFamily="2" charset="-122"/>
              </a:rPr>
              <a:t>，信差可能被俘虏。在不可靠通信的情况下，进程间达成协同一致是不可能的）。</a:t>
            </a:r>
          </a:p>
        </p:txBody>
      </p:sp>
      <p:grpSp>
        <p:nvGrpSpPr>
          <p:cNvPr id="29700" name="Group 4"/>
          <p:cNvGrpSpPr/>
          <p:nvPr/>
        </p:nvGrpSpPr>
        <p:grpSpPr>
          <a:xfrm>
            <a:off x="2495550" y="3292475"/>
            <a:ext cx="4321175" cy="3249613"/>
            <a:chOff x="2066" y="996"/>
            <a:chExt cx="1809" cy="2194"/>
          </a:xfrm>
        </p:grpSpPr>
        <p:sp>
          <p:nvSpPr>
            <p:cNvPr id="29701" name="AutoShape 5"/>
            <p:cNvSpPr/>
            <p:nvPr/>
          </p:nvSpPr>
          <p:spPr>
            <a:xfrm>
              <a:off x="2066" y="1753"/>
              <a:ext cx="1809" cy="633"/>
            </a:xfrm>
            <a:prstGeom prst="flowChartPunchedTape">
              <a:avLst/>
            </a:prstGeom>
            <a:solidFill>
              <a:srgbClr val="FF0066"/>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800" dirty="0">
                <a:ea typeface="宋体" panose="02010600030101010101" pitchFamily="2" charset="-122"/>
              </a:endParaRPr>
            </a:p>
          </p:txBody>
        </p:sp>
        <p:sp>
          <p:nvSpPr>
            <p:cNvPr id="29702" name="Oval 6"/>
            <p:cNvSpPr/>
            <p:nvPr/>
          </p:nvSpPr>
          <p:spPr>
            <a:xfrm>
              <a:off x="2584" y="996"/>
              <a:ext cx="872" cy="419"/>
            </a:xfrm>
            <a:prstGeom prst="ellipse">
              <a:avLst/>
            </a:prstGeom>
            <a:solidFill>
              <a:srgbClr val="00CCFF"/>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800" dirty="0">
                <a:ea typeface="宋体" panose="02010600030101010101" pitchFamily="2" charset="-122"/>
              </a:endParaRPr>
            </a:p>
          </p:txBody>
        </p:sp>
        <p:sp>
          <p:nvSpPr>
            <p:cNvPr id="29703" name="Oval 7"/>
            <p:cNvSpPr/>
            <p:nvPr/>
          </p:nvSpPr>
          <p:spPr>
            <a:xfrm>
              <a:off x="2606" y="2771"/>
              <a:ext cx="847" cy="419"/>
            </a:xfrm>
            <a:prstGeom prst="ellipse">
              <a:avLst/>
            </a:prstGeom>
            <a:solidFill>
              <a:srgbClr val="00CCFF"/>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800" dirty="0">
                <a:ea typeface="宋体" panose="02010600030101010101" pitchFamily="2" charset="-122"/>
              </a:endParaRPr>
            </a:p>
          </p:txBody>
        </p:sp>
        <p:sp>
          <p:nvSpPr>
            <p:cNvPr id="29704" name="AutoShape 8"/>
            <p:cNvSpPr/>
            <p:nvPr/>
          </p:nvSpPr>
          <p:spPr>
            <a:xfrm>
              <a:off x="2731" y="1423"/>
              <a:ext cx="593" cy="1325"/>
            </a:xfrm>
            <a:prstGeom prst="upDownArrow">
              <a:avLst>
                <a:gd name="adj1" fmla="val 50000"/>
                <a:gd name="adj2" fmla="val 44656"/>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800" dirty="0">
                <a:ea typeface="宋体" panose="02010600030101010101" pitchFamily="2" charset="-122"/>
              </a:endParaRPr>
            </a:p>
          </p:txBody>
        </p:sp>
        <p:sp>
          <p:nvSpPr>
            <p:cNvPr id="29705" name="Text Box 9"/>
            <p:cNvSpPr txBox="1"/>
            <p:nvPr/>
          </p:nvSpPr>
          <p:spPr>
            <a:xfrm>
              <a:off x="2763" y="1093"/>
              <a:ext cx="513" cy="23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dirty="0">
                  <a:ea typeface="宋体" panose="02010600030101010101" pitchFamily="2" charset="-122"/>
                </a:rPr>
                <a:t>3000人</a:t>
              </a:r>
            </a:p>
          </p:txBody>
        </p:sp>
        <p:sp>
          <p:nvSpPr>
            <p:cNvPr id="29706" name="Text Box 10"/>
            <p:cNvSpPr txBox="1"/>
            <p:nvPr/>
          </p:nvSpPr>
          <p:spPr>
            <a:xfrm>
              <a:off x="2143" y="2020"/>
              <a:ext cx="513" cy="23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dirty="0">
                  <a:ea typeface="宋体" panose="02010600030101010101" pitchFamily="2" charset="-122"/>
                </a:rPr>
                <a:t>5000人</a:t>
              </a:r>
            </a:p>
          </p:txBody>
        </p:sp>
        <p:sp>
          <p:nvSpPr>
            <p:cNvPr id="29707" name="Text Box 11"/>
            <p:cNvSpPr txBox="1"/>
            <p:nvPr/>
          </p:nvSpPr>
          <p:spPr>
            <a:xfrm>
              <a:off x="2766" y="2881"/>
              <a:ext cx="513" cy="23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dirty="0">
                  <a:ea typeface="宋体" panose="02010600030101010101" pitchFamily="2" charset="-122"/>
                </a:rPr>
                <a:t>3000人</a:t>
              </a:r>
            </a:p>
          </p:txBody>
        </p:sp>
        <p:sp>
          <p:nvSpPr>
            <p:cNvPr id="29708" name="Text Box 12"/>
            <p:cNvSpPr txBox="1"/>
            <p:nvPr/>
          </p:nvSpPr>
          <p:spPr>
            <a:xfrm>
              <a:off x="2905" y="1700"/>
              <a:ext cx="234" cy="756"/>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dirty="0">
                  <a:ea typeface="宋体" panose="02010600030101010101" pitchFamily="2" charset="-122"/>
                </a:rPr>
                <a:t>传</a:t>
              </a:r>
            </a:p>
            <a:p>
              <a:pPr marL="0" lvl="0" indent="0" eaLnBrk="1" hangingPunct="1">
                <a:spcBef>
                  <a:spcPct val="0"/>
                </a:spcBef>
                <a:buClrTx/>
                <a:buNone/>
              </a:pPr>
              <a:r>
                <a:rPr lang="zh-CN" altLang="en-US" sz="1800" dirty="0">
                  <a:ea typeface="宋体" panose="02010600030101010101" pitchFamily="2" charset="-122"/>
                </a:rPr>
                <a:t>递</a:t>
              </a:r>
            </a:p>
            <a:p>
              <a:pPr marL="0" lvl="0" indent="0" eaLnBrk="1" hangingPunct="1">
                <a:spcBef>
                  <a:spcPct val="0"/>
                </a:spcBef>
                <a:buClrTx/>
                <a:buNone/>
              </a:pPr>
              <a:r>
                <a:rPr lang="zh-CN" altLang="en-US" sz="1800" dirty="0">
                  <a:ea typeface="宋体" panose="02010600030101010101" pitchFamily="2" charset="-122"/>
                </a:rPr>
                <a:t>情报</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409575" y="5427663"/>
            <a:ext cx="8112125" cy="1430338"/>
          </a:xfrm>
        </p:spPr>
        <p:txBody>
          <a:bodyPr vert="horz" wrap="square" lIns="91440" tIns="45720" rIns="91440" bIns="45720" numCol="1" anchor="t" anchorCtr="0" compatLnSpc="1"/>
          <a:lstStyle/>
          <a:p>
            <a:pPr marL="609600" marR="0" lvl="0" indent="-60960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Byzantine generals problem for 3 loyal generals and 1 traitor.</a:t>
            </a: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a)The generals announce their troop strengths (in units of 1 </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kilosoldiers</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b)The vectors that each general assembles based on (a)</a:t>
            </a: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c)The vectors that each general receives in step 3.</a:t>
            </a:r>
          </a:p>
        </p:txBody>
      </p:sp>
      <p:pic>
        <p:nvPicPr>
          <p:cNvPr id="31747" name="Picture 4"/>
          <p:cNvPicPr>
            <a:picLocks noChangeAspect="1"/>
          </p:cNvPicPr>
          <p:nvPr/>
        </p:nvPicPr>
        <p:blipFill>
          <a:blip r:embed="rId3"/>
          <a:srcRect l="20070" t="44713" r="16649" b="38972"/>
          <a:stretch>
            <a:fillRect/>
          </a:stretch>
        </p:blipFill>
        <p:spPr>
          <a:xfrm>
            <a:off x="71438" y="2601913"/>
            <a:ext cx="8724900" cy="2825750"/>
          </a:xfrm>
          <a:prstGeom prst="rect">
            <a:avLst/>
          </a:prstGeom>
          <a:noFill/>
          <a:ln w="9525">
            <a:noFill/>
          </a:ln>
        </p:spPr>
      </p:pic>
      <p:sp>
        <p:nvSpPr>
          <p:cNvPr id="31748" name="Rectangle 3"/>
          <p:cNvSpPr txBox="1"/>
          <p:nvPr/>
        </p:nvSpPr>
        <p:spPr>
          <a:xfrm>
            <a:off x="71438" y="65088"/>
            <a:ext cx="9001125" cy="2671762"/>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buNone/>
            </a:pPr>
            <a:r>
              <a:rPr lang="en-US" altLang="zh-CN" sz="2400" b="1" dirty="0">
                <a:solidFill>
                  <a:srgbClr val="FF0000"/>
                </a:solidFill>
                <a:latin typeface="宋体" panose="02010600030101010101" pitchFamily="2" charset="-122"/>
                <a:ea typeface="宋体" panose="02010600030101010101" pitchFamily="2" charset="-122"/>
              </a:rPr>
              <a:t>Lamport.(1982)</a:t>
            </a:r>
            <a:r>
              <a:rPr lang="zh-CN" altLang="en-US" sz="2400" b="1" dirty="0">
                <a:solidFill>
                  <a:srgbClr val="FF0000"/>
                </a:solidFill>
                <a:latin typeface="宋体" panose="02010600030101010101" pitchFamily="2" charset="-122"/>
                <a:ea typeface="宋体" panose="02010600030101010101" pitchFamily="2" charset="-122"/>
              </a:rPr>
              <a:t> 递归算法：</a:t>
            </a:r>
          </a:p>
          <a:p>
            <a:pPr marL="0" lvl="0" indent="0" algn="just" eaLnBrk="1" hangingPunct="1">
              <a:buNone/>
            </a:pP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1.</a:t>
            </a:r>
            <a:r>
              <a:rPr lang="zh-CN" altLang="en-US" sz="1800" b="1" dirty="0">
                <a:latin typeface="宋体" panose="02010600030101010101" pitchFamily="2" charset="-122"/>
                <a:ea typeface="宋体" panose="02010600030101010101" pitchFamily="2" charset="-122"/>
              </a:rPr>
              <a:t>每个将军发送消息给协同作战的将军，声明其人数(图</a:t>
            </a:r>
            <a:r>
              <a:rPr lang="en-US" altLang="zh-CN" sz="1800" b="1" dirty="0">
                <a:latin typeface="宋体" panose="02010600030101010101" pitchFamily="2" charset="-122"/>
                <a:ea typeface="宋体" panose="02010600030101010101" pitchFamily="2" charset="-122"/>
              </a:rPr>
              <a:t>a);</a:t>
            </a:r>
            <a:endParaRPr lang="zh-CN" altLang="en-US" sz="1800" b="1" dirty="0">
              <a:latin typeface="宋体" panose="02010600030101010101" pitchFamily="2" charset="-122"/>
              <a:ea typeface="宋体" panose="02010600030101010101" pitchFamily="2" charset="-122"/>
            </a:endParaRPr>
          </a:p>
          <a:p>
            <a:pPr marL="0" lvl="0" indent="0" algn="just" eaLnBrk="1" hangingPunct="1">
              <a:buNone/>
            </a:pP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2.</a:t>
            </a:r>
            <a:r>
              <a:rPr lang="zh-CN" altLang="en-US" sz="1800" b="1" dirty="0">
                <a:latin typeface="宋体" panose="02010600030101010101" pitchFamily="2" charset="-122"/>
                <a:ea typeface="宋体" panose="02010600030101010101" pitchFamily="2" charset="-122"/>
              </a:rPr>
              <a:t>把</a:t>
            </a:r>
            <a:r>
              <a:rPr lang="en-US" altLang="zh-CN" sz="1800" b="1" dirty="0">
                <a:latin typeface="宋体" panose="02010600030101010101" pitchFamily="2" charset="-122"/>
                <a:ea typeface="宋体" panose="02010600030101010101" pitchFamily="2" charset="-122"/>
              </a:rPr>
              <a:t>1</a:t>
            </a:r>
            <a:r>
              <a:rPr lang="zh-CN" altLang="en-US" sz="1800" b="1" dirty="0">
                <a:latin typeface="宋体" panose="02010600030101010101" pitchFamily="2" charset="-122"/>
                <a:ea typeface="宋体" panose="02010600030101010101" pitchFamily="2" charset="-122"/>
              </a:rPr>
              <a:t>声明的结果收集组成向量形式（图</a:t>
            </a:r>
            <a:r>
              <a:rPr lang="en-US" altLang="zh-CN" sz="1800" b="1" dirty="0">
                <a:latin typeface="宋体" panose="02010600030101010101" pitchFamily="2" charset="-122"/>
                <a:ea typeface="宋体" panose="02010600030101010101" pitchFamily="2" charset="-122"/>
              </a:rPr>
              <a:t>b</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a:t>
            </a:r>
          </a:p>
          <a:p>
            <a:pPr marL="0" lvl="0" indent="0" algn="just" eaLnBrk="1" hangingPunct="1">
              <a:buNone/>
            </a:pP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3.</a:t>
            </a:r>
            <a:r>
              <a:rPr lang="zh-CN" altLang="en-US" sz="1800" b="1" dirty="0">
                <a:latin typeface="宋体" panose="02010600030101010101" pitchFamily="2" charset="-122"/>
                <a:ea typeface="宋体" panose="02010600030101010101" pitchFamily="2" charset="-122"/>
              </a:rPr>
              <a:t>每个将军把各自向量再广播给所有将军。假设将军3慌报，使用了12个新值，从</a:t>
            </a:r>
            <a:r>
              <a:rPr lang="en-US" altLang="zh-CN" sz="1800" b="1" dirty="0">
                <a:latin typeface="宋体" panose="02010600030101010101" pitchFamily="2" charset="-122"/>
                <a:ea typeface="宋体" panose="02010600030101010101" pitchFamily="2" charset="-122"/>
              </a:rPr>
              <a:t>a</a:t>
            </a:r>
            <a:r>
              <a:rPr lang="zh-CN" altLang="en-US" sz="1800" b="1" dirty="0">
                <a:latin typeface="宋体" panose="02010600030101010101" pitchFamily="2" charset="-122"/>
                <a:ea typeface="宋体" panose="02010600030101010101" pitchFamily="2" charset="-122"/>
              </a:rPr>
              <a:t>到</a:t>
            </a:r>
            <a:r>
              <a:rPr lang="en-US" altLang="zh-CN" sz="1800" b="1" dirty="0">
                <a:latin typeface="宋体" panose="02010600030101010101" pitchFamily="2" charset="-122"/>
                <a:ea typeface="宋体" panose="02010600030101010101" pitchFamily="2" charset="-122"/>
              </a:rPr>
              <a:t>l(</a:t>
            </a:r>
            <a:r>
              <a:rPr lang="zh-CN" altLang="en-US" sz="1800" b="1" dirty="0">
                <a:latin typeface="宋体" panose="02010600030101010101" pitchFamily="2" charset="-122"/>
                <a:ea typeface="宋体" panose="02010600030101010101" pitchFamily="2" charset="-122"/>
              </a:rPr>
              <a:t>如图</a:t>
            </a:r>
            <a:r>
              <a:rPr lang="en-US" altLang="zh-CN" sz="1800" b="1" dirty="0">
                <a:latin typeface="宋体" panose="02010600030101010101" pitchFamily="2" charset="-122"/>
                <a:ea typeface="宋体" panose="02010600030101010101" pitchFamily="2" charset="-122"/>
              </a:rPr>
              <a:t>c)。</a:t>
            </a:r>
          </a:p>
          <a:p>
            <a:pPr marL="0" lvl="0" indent="0" algn="just" eaLnBrk="1" hangingPunct="1">
              <a:buNone/>
            </a:pP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4.</a:t>
            </a:r>
            <a:r>
              <a:rPr lang="zh-CN" altLang="en-US" sz="1800" b="1" dirty="0">
                <a:latin typeface="宋体" panose="02010600030101010101" pitchFamily="2" charset="-122"/>
                <a:ea typeface="宋体" panose="02010600030101010101" pitchFamily="2" charset="-122"/>
              </a:rPr>
              <a:t>每个将军检查所有新接收向量的第</a:t>
            </a:r>
            <a:r>
              <a:rPr lang="en-US" altLang="zh-CN" sz="1800" b="1" dirty="0">
                <a:latin typeface="宋体" panose="02010600030101010101" pitchFamily="2" charset="-122"/>
                <a:ea typeface="宋体" panose="02010600030101010101" pitchFamily="2" charset="-122"/>
              </a:rPr>
              <a:t>i</a:t>
            </a:r>
            <a:r>
              <a:rPr lang="zh-CN" altLang="en-US" sz="1800" b="1" dirty="0">
                <a:latin typeface="宋体" panose="02010600030101010101" pitchFamily="2" charset="-122"/>
                <a:ea typeface="宋体" panose="02010600030101010101" pitchFamily="2" charset="-122"/>
              </a:rPr>
              <a:t>个元素。若某列的值占多数, 则将该值放入结果向量中。若没有值占多数，结果向量中的相应元素标记为不知道(</a:t>
            </a:r>
            <a:r>
              <a:rPr lang="en-US" altLang="zh-CN" sz="1800" b="1" dirty="0">
                <a:latin typeface="宋体" panose="02010600030101010101" pitchFamily="2" charset="-122"/>
                <a:ea typeface="宋体" panose="02010600030101010101" pitchFamily="2" charset="-122"/>
              </a:rPr>
              <a:t>UNKNOWN)。</a:t>
            </a:r>
          </a:p>
          <a:p>
            <a:pPr marL="0" lvl="0" indent="0" algn="just" eaLnBrk="1" hangingPunct="1">
              <a:buNone/>
            </a:pPr>
            <a:r>
              <a:rPr lang="zh-CN" altLang="en-US" sz="1800" b="1" dirty="0">
                <a:latin typeface="宋体" panose="02010600030101010101" pitchFamily="2" charset="-122"/>
                <a:ea typeface="宋体" panose="02010600030101010101" pitchFamily="2" charset="-122"/>
              </a:rPr>
              <a:t>    由此得 (1,2,</a:t>
            </a:r>
            <a:r>
              <a:rPr lang="en-US" altLang="zh-CN" sz="1800" b="1" dirty="0">
                <a:latin typeface="宋体" panose="02010600030101010101" pitchFamily="2" charset="-122"/>
                <a:ea typeface="宋体" panose="02010600030101010101" pitchFamily="2" charset="-122"/>
              </a:rPr>
              <a:t>UNKNOWN,4)</a:t>
            </a:r>
            <a:r>
              <a:rPr lang="zh-CN" altLang="en-US" sz="1800" b="1" dirty="0">
                <a:latin typeface="宋体" panose="02010600030101010101" pitchFamily="2" charset="-122"/>
                <a:ea typeface="宋体" panose="02010600030101010101" pitchFamily="2" charset="-122"/>
              </a:rPr>
              <a:t>是正确结果。</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Agreement in Faulty Systems (1)</a:t>
            </a:r>
          </a:p>
        </p:txBody>
      </p:sp>
      <p:sp>
        <p:nvSpPr>
          <p:cNvPr id="33795" name="Rectangle 3"/>
          <p:cNvSpPr>
            <a:spLocks noGrp="1"/>
          </p:cNvSpPr>
          <p:nvPr>
            <p:ph idx="1"/>
          </p:nvPr>
        </p:nvSpPr>
        <p:spPr>
          <a:xfrm>
            <a:off x="531813" y="3929063"/>
            <a:ext cx="8367712" cy="838200"/>
          </a:xfrm>
          <a:ln/>
        </p:spPr>
        <p:txBody>
          <a:bodyPr vert="horz" wrap="square" lIns="91440" tIns="45720" rIns="91440" bIns="45720" anchor="t" anchorCtr="0"/>
          <a:lstStyle/>
          <a:p>
            <a:pPr marL="0" indent="0" algn="l" eaLnBrk="1" hangingPunct="1">
              <a:buNone/>
            </a:pPr>
            <a:r>
              <a:rPr lang="en-US" altLang="zh-CN" sz="2400" dirty="0">
                <a:ea typeface="宋体" panose="02010600030101010101" pitchFamily="2" charset="-122"/>
              </a:rPr>
              <a:t>The same as in previous slide, except now with 2 loyal generals and one traitor.</a:t>
            </a:r>
          </a:p>
        </p:txBody>
      </p:sp>
      <p:pic>
        <p:nvPicPr>
          <p:cNvPr id="33796" name="Picture 5"/>
          <p:cNvPicPr>
            <a:picLocks noChangeAspect="1"/>
          </p:cNvPicPr>
          <p:nvPr/>
        </p:nvPicPr>
        <p:blipFill>
          <a:blip r:embed="rId3"/>
          <a:srcRect l="21780" t="46223" r="20497" b="40785"/>
          <a:stretch>
            <a:fillRect/>
          </a:stretch>
        </p:blipFill>
        <p:spPr>
          <a:xfrm>
            <a:off x="261938" y="1201738"/>
            <a:ext cx="8610600" cy="2743200"/>
          </a:xfrm>
          <a:prstGeom prst="rect">
            <a:avLst/>
          </a:prstGeom>
          <a:noFill/>
          <a:ln w="9525">
            <a:noFill/>
          </a:ln>
        </p:spPr>
      </p:pic>
      <p:sp>
        <p:nvSpPr>
          <p:cNvPr id="5" name="TextBox 4"/>
          <p:cNvSpPr txBox="1"/>
          <p:nvPr/>
        </p:nvSpPr>
        <p:spPr>
          <a:xfrm>
            <a:off x="812800" y="4908550"/>
            <a:ext cx="7523163" cy="9429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2000" b="1" dirty="0">
                <a:latin typeface="宋体" panose="02010600030101010101" pitchFamily="2" charset="-122"/>
                <a:ea typeface="宋体" panose="02010600030101010101" pitchFamily="2" charset="-122"/>
              </a:rPr>
              <a:t>结论：如果要想容忍</a:t>
            </a:r>
            <a:r>
              <a:rPr lang="en-US" altLang="zh-CN" sz="2000" b="1" i="1" dirty="0">
                <a:latin typeface="宋体" panose="02010600030101010101" pitchFamily="2" charset="-122"/>
                <a:ea typeface="宋体" panose="02010600030101010101" pitchFamily="2" charset="-122"/>
              </a:rPr>
              <a:t>M</a:t>
            </a:r>
            <a:r>
              <a:rPr lang="zh-CN" altLang="en-US" sz="2000" b="1" dirty="0">
                <a:latin typeface="宋体" panose="02010600030101010101" pitchFamily="2" charset="-122"/>
                <a:ea typeface="宋体" panose="02010600030101010101" pitchFamily="2" charset="-122"/>
              </a:rPr>
              <a:t>个叛军，必须保证总的将军个数大于</a:t>
            </a:r>
            <a:r>
              <a:rPr lang="en-US" altLang="zh-CN" sz="2000" b="1" i="1" dirty="0">
                <a:latin typeface="宋体" panose="02010600030101010101" pitchFamily="2" charset="-122"/>
                <a:ea typeface="宋体" panose="02010600030101010101" pitchFamily="2" charset="-122"/>
              </a:rPr>
              <a:t>3M</a:t>
            </a:r>
            <a:r>
              <a:rPr lang="zh-CN" altLang="en-US" sz="2000" b="1" i="1" dirty="0">
                <a:latin typeface="宋体" panose="02010600030101010101" pitchFamily="2" charset="-122"/>
                <a:ea typeface="宋体" panose="02010600030101010101" pitchFamily="2" charset="-122"/>
              </a:rPr>
              <a:t>。</a:t>
            </a:r>
            <a:r>
              <a:rPr lang="en-US" altLang="zh-CN" sz="2000" b="1" i="1" dirty="0">
                <a:latin typeface="宋体" panose="02010600030101010101" pitchFamily="2" charset="-122"/>
                <a:ea typeface="宋体" panose="02010600030101010101" pitchFamily="2" charset="-122"/>
              </a:rPr>
              <a:t>                   </a:t>
            </a:r>
          </a:p>
          <a:p>
            <a:pPr marL="0" lvl="0" indent="0" algn="l" eaLnBrk="1" hangingPunct="1">
              <a:lnSpc>
                <a:spcPct val="150000"/>
              </a:lnSpc>
              <a:spcBef>
                <a:spcPct val="0"/>
              </a:spcBef>
              <a:buClrTx/>
              <a:buNone/>
            </a:pPr>
            <a:r>
              <a:rPr lang="en-US" altLang="zh-CN" sz="2000" b="1" i="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3M+1</a:t>
            </a:r>
            <a:r>
              <a:rPr lang="zh-CN" altLang="en-US" sz="2000" b="1" dirty="0">
                <a:latin typeface="宋体" panose="02010600030101010101" pitchFamily="2" charset="-122"/>
                <a:ea typeface="宋体" panose="02010600030101010101" pitchFamily="2" charset="-122"/>
              </a:rPr>
              <a:t>系统中</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叛军数量</a:t>
            </a:r>
            <a:r>
              <a:rPr lang="en-US" altLang="zh-CN" sz="2000" b="1" dirty="0">
                <a:latin typeface="宋体" panose="02010600030101010101" pitchFamily="2" charset="-122"/>
                <a:ea typeface="宋体" panose="02010600030101010101" pitchFamily="2" charset="-122"/>
              </a:rPr>
              <a:t>&lt;=M</a:t>
            </a:r>
            <a:r>
              <a:rPr lang="zh-CN" altLang="en-US" sz="2000" b="1" dirty="0">
                <a:latin typeface="宋体" panose="02010600030101010101" pitchFamily="2" charset="-122"/>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0" y="0"/>
            <a:ext cx="9144000" cy="582613"/>
          </a:xfrm>
          <a:ln/>
        </p:spPr>
        <p:txBody>
          <a:bodyPr vert="horz" wrap="square" lIns="91440" tIns="45720" rIns="91440" bIns="45720" anchor="ctr" anchorCtr="0"/>
          <a:lstStyle/>
          <a:p>
            <a:pPr eaLnBrk="1" hangingPunct="1"/>
            <a:r>
              <a:rPr lang="en-US" altLang="zh-CN" dirty="0">
                <a:ea typeface="宋体" panose="02010600030101010101" pitchFamily="2" charset="-122"/>
              </a:rPr>
              <a:t>Agreement in Faulty Systems (2)</a:t>
            </a:r>
          </a:p>
        </p:txBody>
      </p:sp>
      <p:sp>
        <p:nvSpPr>
          <p:cNvPr id="35843" name="Rectangle 3"/>
          <p:cNvSpPr>
            <a:spLocks noGrp="1"/>
          </p:cNvSpPr>
          <p:nvPr>
            <p:ph idx="1"/>
          </p:nvPr>
        </p:nvSpPr>
        <p:spPr>
          <a:xfrm>
            <a:off x="0" y="658813"/>
            <a:ext cx="9048750" cy="3260725"/>
          </a:xfrm>
          <a:ln/>
        </p:spPr>
        <p:txBody>
          <a:bodyPr vert="horz" wrap="square" lIns="91440" tIns="45720" rIns="91440" bIns="45720" anchor="t" anchorCtr="0"/>
          <a:lstStyle/>
          <a:p>
            <a:pPr marL="0" indent="0" algn="l">
              <a:spcBef>
                <a:spcPct val="0"/>
              </a:spcBef>
              <a:buClrTx/>
              <a:buNone/>
            </a:pPr>
            <a:r>
              <a:rPr lang="zh-CN" altLang="zh-CN" sz="1800" b="1" dirty="0">
                <a:solidFill>
                  <a:srgbClr val="4F4F4F"/>
                </a:solidFill>
                <a:ea typeface="PingFang SC"/>
              </a:rPr>
              <a:t>PBFT</a:t>
            </a:r>
            <a:r>
              <a:rPr lang="en-US" altLang="zh-CN" sz="1800" b="1" dirty="0">
                <a:solidFill>
                  <a:srgbClr val="4F4F4F"/>
                </a:solidFill>
                <a:ea typeface="PingFang SC"/>
              </a:rPr>
              <a:t>——</a:t>
            </a:r>
            <a:r>
              <a:rPr lang="zh-CN" altLang="zh-CN" sz="1800" b="1" dirty="0">
                <a:solidFill>
                  <a:srgbClr val="4F4F4F"/>
                </a:solidFill>
                <a:ea typeface="PingFang SC"/>
              </a:rPr>
              <a:t>Fabric使用的经典算法（拜占庭容错）</a:t>
            </a:r>
            <a:r>
              <a:rPr lang="zh-CN" altLang="en-US" sz="1800" b="1" dirty="0">
                <a:solidFill>
                  <a:srgbClr val="4F4F4F"/>
                </a:solidFill>
                <a:ea typeface="PingFang SC"/>
              </a:rPr>
              <a:t>：</a:t>
            </a:r>
            <a:r>
              <a:rPr lang="en-US" altLang="zh-CN" sz="1800" dirty="0">
                <a:ea typeface="宋体" panose="02010600030101010101" pitchFamily="2" charset="-122"/>
              </a:rPr>
              <a:t>C</a:t>
            </a:r>
            <a:r>
              <a:rPr lang="zh-CN" altLang="en-US" sz="1800" dirty="0">
                <a:ea typeface="宋体" panose="02010600030101010101" pitchFamily="2" charset="-122"/>
              </a:rPr>
              <a:t>为发送请求端，</a:t>
            </a:r>
            <a:r>
              <a:rPr lang="en-US" altLang="zh-CN" sz="1800" dirty="0">
                <a:ea typeface="宋体" panose="02010600030101010101" pitchFamily="2" charset="-122"/>
              </a:rPr>
              <a:t>0123</a:t>
            </a:r>
            <a:r>
              <a:rPr lang="zh-CN" altLang="en-US" sz="1800" dirty="0">
                <a:ea typeface="宋体" panose="02010600030101010101" pitchFamily="2" charset="-122"/>
              </a:rPr>
              <a:t>为服务端，</a:t>
            </a:r>
            <a:r>
              <a:rPr lang="en-US" altLang="zh-CN" sz="1800" dirty="0">
                <a:ea typeface="宋体" panose="02010600030101010101" pitchFamily="2" charset="-122"/>
              </a:rPr>
              <a:t>3</a:t>
            </a:r>
            <a:r>
              <a:rPr lang="zh-CN" altLang="en-US" sz="1800" dirty="0">
                <a:ea typeface="宋体" panose="02010600030101010101" pitchFamily="2" charset="-122"/>
              </a:rPr>
              <a:t>为宕机的服务端，步骤如下：</a:t>
            </a:r>
          </a:p>
          <a:p>
            <a:pPr marL="0" indent="0" algn="l">
              <a:buNone/>
            </a:pPr>
            <a:r>
              <a:rPr lang="en-US" altLang="zh-CN" sz="1800" dirty="0">
                <a:ea typeface="宋体" panose="02010600030101010101" pitchFamily="2" charset="-122"/>
              </a:rPr>
              <a:t>1. Request</a:t>
            </a:r>
            <a:r>
              <a:rPr lang="zh-CN" altLang="en-US" sz="1800" dirty="0">
                <a:ea typeface="宋体" panose="02010600030101010101" pitchFamily="2" charset="-122"/>
              </a:rPr>
              <a:t>：请求端</a:t>
            </a:r>
            <a:r>
              <a:rPr lang="en-US" altLang="zh-CN" sz="1800" dirty="0">
                <a:ea typeface="宋体" panose="02010600030101010101" pitchFamily="2" charset="-122"/>
              </a:rPr>
              <a:t>C</a:t>
            </a:r>
            <a:r>
              <a:rPr lang="zh-CN" altLang="en-US" sz="1800" dirty="0">
                <a:ea typeface="宋体" panose="02010600030101010101" pitchFamily="2" charset="-122"/>
              </a:rPr>
              <a:t>发送请求到任意一节点，这里是</a:t>
            </a:r>
            <a:r>
              <a:rPr lang="en-US" altLang="zh-CN" sz="1800" dirty="0">
                <a:ea typeface="宋体" panose="02010600030101010101" pitchFamily="2" charset="-122"/>
              </a:rPr>
              <a:t>0</a:t>
            </a:r>
          </a:p>
          <a:p>
            <a:pPr marL="0" indent="0" algn="l">
              <a:buNone/>
            </a:pPr>
            <a:r>
              <a:rPr lang="en-US" altLang="zh-CN" sz="1800" dirty="0">
                <a:ea typeface="宋体" panose="02010600030101010101" pitchFamily="2" charset="-122"/>
              </a:rPr>
              <a:t>2. Pre-Prepare</a:t>
            </a:r>
            <a:r>
              <a:rPr lang="zh-CN" altLang="en-US" sz="1800" dirty="0">
                <a:ea typeface="宋体" panose="02010600030101010101" pitchFamily="2" charset="-122"/>
              </a:rPr>
              <a:t>：服务端</a:t>
            </a:r>
            <a:r>
              <a:rPr lang="en-US" altLang="zh-CN" sz="1800" dirty="0">
                <a:ea typeface="宋体" panose="02010600030101010101" pitchFamily="2" charset="-122"/>
              </a:rPr>
              <a:t>0</a:t>
            </a:r>
            <a:r>
              <a:rPr lang="zh-CN" altLang="en-US" sz="1800" dirty="0">
                <a:ea typeface="宋体" panose="02010600030101010101" pitchFamily="2" charset="-122"/>
              </a:rPr>
              <a:t>收到</a:t>
            </a:r>
            <a:r>
              <a:rPr lang="en-US" altLang="zh-CN" sz="1800" dirty="0">
                <a:ea typeface="宋体" panose="02010600030101010101" pitchFamily="2" charset="-122"/>
              </a:rPr>
              <a:t>C</a:t>
            </a:r>
            <a:r>
              <a:rPr lang="zh-CN" altLang="en-US" sz="1800" dirty="0">
                <a:ea typeface="宋体" panose="02010600030101010101" pitchFamily="2" charset="-122"/>
              </a:rPr>
              <a:t>的请求后进行广播，扩散至</a:t>
            </a:r>
            <a:r>
              <a:rPr lang="en-US" altLang="zh-CN" sz="1800" dirty="0">
                <a:ea typeface="宋体" panose="02010600030101010101" pitchFamily="2" charset="-122"/>
              </a:rPr>
              <a:t>123</a:t>
            </a:r>
          </a:p>
          <a:p>
            <a:pPr marL="0" indent="0" algn="l">
              <a:buNone/>
            </a:pPr>
            <a:r>
              <a:rPr lang="en-US" altLang="zh-CN" sz="1800" dirty="0">
                <a:ea typeface="宋体" panose="02010600030101010101" pitchFamily="2" charset="-122"/>
              </a:rPr>
              <a:t>3. Prepare</a:t>
            </a:r>
            <a:r>
              <a:rPr lang="zh-CN" altLang="en-US" sz="1800" dirty="0">
                <a:ea typeface="宋体" panose="02010600030101010101" pitchFamily="2" charset="-122"/>
              </a:rPr>
              <a:t>：</a:t>
            </a:r>
            <a:r>
              <a:rPr lang="en-US" altLang="zh-CN" sz="1800" dirty="0">
                <a:ea typeface="宋体" panose="02010600030101010101" pitchFamily="2" charset="-122"/>
              </a:rPr>
              <a:t>123</a:t>
            </a:r>
            <a:r>
              <a:rPr lang="zh-CN" altLang="en-US" sz="1800" dirty="0">
                <a:ea typeface="宋体" panose="02010600030101010101" pitchFamily="2" charset="-122"/>
              </a:rPr>
              <a:t>收到后记录并再次广播，</a:t>
            </a:r>
            <a:r>
              <a:rPr lang="en-US" altLang="zh-CN" sz="1800" dirty="0">
                <a:ea typeface="宋体" panose="02010600030101010101" pitchFamily="2" charset="-122"/>
              </a:rPr>
              <a:t>1-&gt;023</a:t>
            </a:r>
            <a:r>
              <a:rPr lang="zh-CN" altLang="en-US" sz="1800" dirty="0">
                <a:ea typeface="宋体" panose="02010600030101010101" pitchFamily="2" charset="-122"/>
              </a:rPr>
              <a:t>，</a:t>
            </a:r>
            <a:r>
              <a:rPr lang="en-US" altLang="zh-CN" sz="1800" dirty="0">
                <a:ea typeface="宋体" panose="02010600030101010101" pitchFamily="2" charset="-122"/>
              </a:rPr>
              <a:t>2-&gt;013</a:t>
            </a:r>
            <a:r>
              <a:rPr lang="zh-CN" altLang="en-US" sz="1800" dirty="0">
                <a:ea typeface="宋体" panose="02010600030101010101" pitchFamily="2" charset="-122"/>
              </a:rPr>
              <a:t>，</a:t>
            </a:r>
            <a:r>
              <a:rPr lang="en-US" altLang="zh-CN" sz="1800" dirty="0">
                <a:ea typeface="宋体" panose="02010600030101010101" pitchFamily="2" charset="-122"/>
              </a:rPr>
              <a:t>3</a:t>
            </a:r>
            <a:r>
              <a:rPr lang="zh-CN" altLang="en-US" sz="1800" dirty="0">
                <a:ea typeface="宋体" panose="02010600030101010101" pitchFamily="2" charset="-122"/>
              </a:rPr>
              <a:t>因为宕机无法广播</a:t>
            </a:r>
          </a:p>
          <a:p>
            <a:pPr marL="0" indent="0" algn="l">
              <a:buNone/>
            </a:pPr>
            <a:r>
              <a:rPr lang="en-US" altLang="zh-CN" sz="1800" dirty="0">
                <a:ea typeface="宋体" panose="02010600030101010101" pitchFamily="2" charset="-122"/>
              </a:rPr>
              <a:t>4. Commit</a:t>
            </a:r>
            <a:r>
              <a:rPr lang="zh-CN" altLang="en-US" sz="1800" dirty="0">
                <a:ea typeface="宋体" panose="02010600030101010101" pitchFamily="2" charset="-122"/>
              </a:rPr>
              <a:t>：</a:t>
            </a:r>
            <a:r>
              <a:rPr lang="en-US" altLang="zh-CN" sz="1800" dirty="0">
                <a:ea typeface="宋体" panose="02010600030101010101" pitchFamily="2" charset="-122"/>
              </a:rPr>
              <a:t>0123</a:t>
            </a:r>
            <a:r>
              <a:rPr lang="zh-CN" altLang="en-US" sz="1800" dirty="0">
                <a:ea typeface="宋体" panose="02010600030101010101" pitchFamily="2" charset="-122"/>
              </a:rPr>
              <a:t>节点在</a:t>
            </a:r>
            <a:r>
              <a:rPr lang="en-US" altLang="zh-CN" sz="1800" dirty="0">
                <a:ea typeface="宋体" panose="02010600030101010101" pitchFamily="2" charset="-122"/>
              </a:rPr>
              <a:t>Prepare</a:t>
            </a:r>
            <a:r>
              <a:rPr lang="zh-CN" altLang="en-US" sz="1800" dirty="0">
                <a:ea typeface="宋体" panose="02010600030101010101" pitchFamily="2" charset="-122"/>
              </a:rPr>
              <a:t>阶段，若收到超过一定数量的相同请求，则进入</a:t>
            </a:r>
            <a:r>
              <a:rPr lang="en-US" altLang="zh-CN" sz="1800" dirty="0">
                <a:ea typeface="宋体" panose="02010600030101010101" pitchFamily="2" charset="-122"/>
              </a:rPr>
              <a:t>Commit</a:t>
            </a:r>
            <a:r>
              <a:rPr lang="zh-CN" altLang="en-US" sz="1800" dirty="0">
                <a:ea typeface="宋体" panose="02010600030101010101" pitchFamily="2" charset="-122"/>
              </a:rPr>
              <a:t>阶段，广播</a:t>
            </a:r>
            <a:r>
              <a:rPr lang="en-US" altLang="zh-CN" sz="1800" dirty="0">
                <a:ea typeface="宋体" panose="02010600030101010101" pitchFamily="2" charset="-122"/>
              </a:rPr>
              <a:t>Commit</a:t>
            </a:r>
            <a:r>
              <a:rPr lang="zh-CN" altLang="en-US" sz="1800" dirty="0">
                <a:ea typeface="宋体" panose="02010600030101010101" pitchFamily="2" charset="-122"/>
              </a:rPr>
              <a:t>请求；</a:t>
            </a:r>
          </a:p>
          <a:p>
            <a:pPr marL="0" indent="0" algn="l">
              <a:buNone/>
            </a:pPr>
            <a:r>
              <a:rPr lang="en-US" altLang="zh-CN" sz="1800" dirty="0">
                <a:ea typeface="宋体" panose="02010600030101010101" pitchFamily="2" charset="-122"/>
              </a:rPr>
              <a:t>5.Reply</a:t>
            </a:r>
            <a:r>
              <a:rPr lang="zh-CN" altLang="en-US" sz="1800" dirty="0">
                <a:ea typeface="宋体" panose="02010600030101010101" pitchFamily="2" charset="-122"/>
              </a:rPr>
              <a:t>：</a:t>
            </a:r>
            <a:r>
              <a:rPr lang="en-US" altLang="zh-CN" sz="1800" dirty="0">
                <a:ea typeface="宋体" panose="02010600030101010101" pitchFamily="2" charset="-122"/>
              </a:rPr>
              <a:t>0123</a:t>
            </a:r>
            <a:r>
              <a:rPr lang="zh-CN" altLang="en-US" sz="1800" dirty="0">
                <a:ea typeface="宋体" panose="02010600030101010101" pitchFamily="2" charset="-122"/>
              </a:rPr>
              <a:t>节点在</a:t>
            </a:r>
            <a:r>
              <a:rPr lang="en-US" altLang="zh-CN" sz="1800" dirty="0">
                <a:ea typeface="宋体" panose="02010600030101010101" pitchFamily="2" charset="-122"/>
              </a:rPr>
              <a:t>Commit</a:t>
            </a:r>
            <a:r>
              <a:rPr lang="zh-CN" altLang="en-US" sz="1800" dirty="0">
                <a:ea typeface="宋体" panose="02010600030101010101" pitchFamily="2" charset="-122"/>
              </a:rPr>
              <a:t>阶段，若收到超过一定数量的相同请求，则对</a:t>
            </a:r>
            <a:r>
              <a:rPr lang="en-US" altLang="zh-CN" sz="1800" dirty="0">
                <a:ea typeface="宋体" panose="02010600030101010101" pitchFamily="2" charset="-122"/>
              </a:rPr>
              <a:t>C</a:t>
            </a:r>
            <a:r>
              <a:rPr lang="zh-CN" altLang="en-US" sz="1800" dirty="0">
                <a:ea typeface="宋体" panose="02010600030101010101" pitchFamily="2" charset="-122"/>
              </a:rPr>
              <a:t>进行反馈。注：在 </a:t>
            </a:r>
            <a:r>
              <a:rPr lang="en-US" altLang="zh-CN" sz="1800" dirty="0">
                <a:ea typeface="宋体" panose="02010600030101010101" pitchFamily="2" charset="-122"/>
              </a:rPr>
              <a:t>N ≥ 3F + 1</a:t>
            </a:r>
            <a:r>
              <a:rPr lang="zh-CN" altLang="en-US" sz="1800" dirty="0">
                <a:ea typeface="宋体" panose="02010600030101010101" pitchFamily="2" charset="-122"/>
              </a:rPr>
              <a:t>的情況下可到达一致性，</a:t>
            </a:r>
            <a:r>
              <a:rPr lang="en-US" altLang="zh-CN" sz="1800" dirty="0">
                <a:ea typeface="宋体" panose="02010600030101010101" pitchFamily="2" charset="-122"/>
              </a:rPr>
              <a:t>N</a:t>
            </a:r>
            <a:r>
              <a:rPr lang="zh-CN" altLang="en-US" sz="1800" dirty="0">
                <a:ea typeface="宋体" panose="02010600030101010101" pitchFamily="2" charset="-122"/>
              </a:rPr>
              <a:t>为总结点数，</a:t>
            </a:r>
            <a:r>
              <a:rPr lang="en-US" altLang="zh-CN" sz="1800" dirty="0">
                <a:ea typeface="宋体" panose="02010600030101010101" pitchFamily="2" charset="-122"/>
              </a:rPr>
              <a:t>F</a:t>
            </a:r>
            <a:r>
              <a:rPr lang="zh-CN" altLang="en-US" sz="1800" dirty="0">
                <a:ea typeface="宋体" panose="02010600030101010101" pitchFamily="2" charset="-122"/>
              </a:rPr>
              <a:t>为有问题节点数。</a:t>
            </a:r>
            <a:r>
              <a:rPr lang="zh-CN" altLang="zh-CN" sz="1800" dirty="0">
                <a:ea typeface="宋体" panose="02010600030101010101" pitchFamily="2" charset="-122"/>
              </a:rPr>
              <a:t>当节点发现leader作恶时，通过算法选举其他的replica为leader。</a:t>
            </a:r>
            <a:endParaRPr lang="zh-CN" altLang="en-US" sz="1800" dirty="0">
              <a:ea typeface="宋体" panose="02010600030101010101" pitchFamily="2" charset="-122"/>
            </a:endParaRPr>
          </a:p>
        </p:txBody>
      </p:sp>
      <p:pic>
        <p:nvPicPr>
          <p:cNvPr id="35844" name="图片 1"/>
          <p:cNvPicPr>
            <a:picLocks noChangeAspect="1"/>
          </p:cNvPicPr>
          <p:nvPr/>
        </p:nvPicPr>
        <p:blipFill>
          <a:blip r:embed="rId3"/>
          <a:stretch>
            <a:fillRect/>
          </a:stretch>
        </p:blipFill>
        <p:spPr>
          <a:xfrm>
            <a:off x="814388" y="3995738"/>
            <a:ext cx="7188200" cy="2795587"/>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Reliable Client-Server Communication</a:t>
            </a:r>
          </a:p>
        </p:txBody>
      </p:sp>
      <p:sp>
        <p:nvSpPr>
          <p:cNvPr id="37891" name="Rectangle 3"/>
          <p:cNvSpPr>
            <a:spLocks noGrp="1"/>
          </p:cNvSpPr>
          <p:nvPr>
            <p:ph idx="1"/>
          </p:nvPr>
        </p:nvSpPr>
        <p:spPr>
          <a:xfrm>
            <a:off x="422275" y="1217613"/>
            <a:ext cx="8328025" cy="4619625"/>
          </a:xfrm>
          <a:ln/>
        </p:spPr>
        <p:txBody>
          <a:bodyPr vert="horz" wrap="square" lIns="91440" tIns="45720" rIns="91440" bIns="45720" anchor="t" anchorCtr="0"/>
          <a:lstStyle/>
          <a:p>
            <a:pPr marL="0" indent="0" algn="l" eaLnBrk="1" hangingPunct="1">
              <a:lnSpc>
                <a:spcPct val="130000"/>
              </a:lnSpc>
              <a:buNone/>
            </a:pPr>
            <a:r>
              <a:rPr lang="en-US" altLang="zh-CN" sz="2800" dirty="0">
                <a:ea typeface="宋体" panose="02010600030101010101" pitchFamily="2" charset="-122"/>
              </a:rPr>
              <a:t>A communication channel may exhibit crash, omission,  timing,  and arbitrary failures.</a:t>
            </a:r>
          </a:p>
          <a:p>
            <a:pPr marL="0" indent="0" algn="l" eaLnBrk="1" hangingPunct="1">
              <a:lnSpc>
                <a:spcPct val="130000"/>
              </a:lnSpc>
              <a:buNone/>
            </a:pPr>
            <a:endParaRPr lang="en-US" altLang="zh-CN" sz="2800" dirty="0">
              <a:ea typeface="宋体" panose="02010600030101010101" pitchFamily="2" charset="-122"/>
            </a:endParaRPr>
          </a:p>
          <a:p>
            <a:pPr marL="0" indent="0" algn="l" eaLnBrk="1" hangingPunct="1">
              <a:lnSpc>
                <a:spcPct val="130000"/>
              </a:lnSpc>
              <a:buNone/>
            </a:pPr>
            <a:r>
              <a:rPr lang="en-US" altLang="zh-CN" sz="2800" dirty="0">
                <a:ea typeface="宋体" panose="02010600030101010101" pitchFamily="2" charset="-122"/>
              </a:rPr>
              <a:t>7.3.1 Point-to-Point Communication</a:t>
            </a:r>
          </a:p>
          <a:p>
            <a:pPr marL="0" indent="0" algn="l" eaLnBrk="1" hangingPunct="1">
              <a:lnSpc>
                <a:spcPct val="130000"/>
              </a:lnSpc>
              <a:buNone/>
            </a:pPr>
            <a:r>
              <a:rPr lang="en-US" altLang="zh-CN" sz="2800" dirty="0">
                <a:ea typeface="宋体" panose="02010600030101010101" pitchFamily="2" charset="-122"/>
              </a:rPr>
              <a:t>       Masking some failures by making use of a reliable transport protocol, such as TCP,  </a:t>
            </a:r>
            <a:r>
              <a:rPr lang="en-US" altLang="zh-CN" sz="2800" dirty="0">
                <a:solidFill>
                  <a:srgbClr val="FF0066"/>
                </a:solidFill>
                <a:ea typeface="宋体" panose="02010600030101010101" pitchFamily="2" charset="-122"/>
              </a:rPr>
              <a:t>which using acknowledgments and retransmissions.</a:t>
            </a:r>
          </a:p>
          <a:p>
            <a:pPr marL="0" indent="0" algn="l" eaLnBrk="1" hangingPunct="1">
              <a:lnSpc>
                <a:spcPct val="130000"/>
              </a:lnSpc>
              <a:buNone/>
            </a:pPr>
            <a:r>
              <a:rPr lang="en-US" altLang="zh-CN" sz="2800" dirty="0">
                <a:ea typeface="宋体" panose="02010600030101010101" pitchFamily="2" charset="-122"/>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88900" y="93663"/>
            <a:ext cx="8961438" cy="960437"/>
          </a:xfrm>
          <a:ln/>
        </p:spPr>
        <p:txBody>
          <a:bodyPr vert="horz" wrap="square" lIns="91440" tIns="45720" rIns="91440" bIns="45720" anchor="ctr" anchorCtr="0"/>
          <a:lstStyle/>
          <a:p>
            <a:pPr eaLnBrk="1" hangingPunct="1"/>
            <a:r>
              <a:rPr lang="en-US" altLang="zh-CN" dirty="0">
                <a:ea typeface="宋体" panose="02010600030101010101" pitchFamily="2" charset="-122"/>
              </a:rPr>
              <a:t>Reliable Client-Server Communication</a:t>
            </a:r>
          </a:p>
        </p:txBody>
      </p:sp>
      <p:sp>
        <p:nvSpPr>
          <p:cNvPr id="39939" name="Rectangle 3"/>
          <p:cNvSpPr>
            <a:spLocks noGrp="1"/>
          </p:cNvSpPr>
          <p:nvPr>
            <p:ph idx="1"/>
          </p:nvPr>
        </p:nvSpPr>
        <p:spPr>
          <a:xfrm>
            <a:off x="52388" y="1201738"/>
            <a:ext cx="8996362" cy="4879975"/>
          </a:xfrm>
          <a:ln/>
        </p:spPr>
        <p:txBody>
          <a:bodyPr vert="horz" wrap="square" lIns="91440" tIns="45720" rIns="91440" bIns="45720" anchor="t" anchorCtr="0"/>
          <a:lstStyle/>
          <a:p>
            <a:pPr marL="0" indent="0" algn="l" eaLnBrk="1" hangingPunct="1">
              <a:lnSpc>
                <a:spcPct val="150000"/>
              </a:lnSpc>
              <a:buNone/>
            </a:pPr>
            <a:r>
              <a:rPr lang="en-US" altLang="zh-CN" sz="2400" b="1" dirty="0">
                <a:ea typeface="宋体" panose="02010600030101010101" pitchFamily="2" charset="-122"/>
              </a:rPr>
              <a:t>7.3.2 RPC(or RMI) Semantics in the Presence of Failures.    Five different classes of failures in RPC:</a:t>
            </a:r>
          </a:p>
          <a:p>
            <a:pPr marL="1257300" lvl="2" indent="-457200" eaLnBrk="1" hangingPunct="1">
              <a:lnSpc>
                <a:spcPct val="150000"/>
              </a:lnSpc>
              <a:buFontTx/>
              <a:buAutoNum type="circleNumDbPlain"/>
            </a:pPr>
            <a:r>
              <a:rPr lang="en-US" altLang="zh-CN" b="1" dirty="0">
                <a:ea typeface="宋体" panose="02010600030101010101" pitchFamily="2" charset="-122"/>
              </a:rPr>
              <a:t>The client is unable to locate the server.</a:t>
            </a:r>
          </a:p>
          <a:p>
            <a:pPr marL="1257300" lvl="2" indent="-457200" eaLnBrk="1" hangingPunct="1">
              <a:lnSpc>
                <a:spcPct val="150000"/>
              </a:lnSpc>
              <a:buFontTx/>
              <a:buAutoNum type="circleNumDbPlain"/>
            </a:pPr>
            <a:r>
              <a:rPr lang="en-US" altLang="zh-CN" b="1" dirty="0">
                <a:ea typeface="宋体" panose="02010600030101010101" pitchFamily="2" charset="-122"/>
              </a:rPr>
              <a:t>The request message from the client to the server is lost.</a:t>
            </a:r>
          </a:p>
          <a:p>
            <a:pPr marL="1257300" lvl="2" indent="-457200" eaLnBrk="1" hangingPunct="1">
              <a:lnSpc>
                <a:spcPct val="150000"/>
              </a:lnSpc>
              <a:buFontTx/>
              <a:buAutoNum type="circleNumDbPlain"/>
            </a:pPr>
            <a:r>
              <a:rPr lang="en-US" altLang="zh-CN" b="1" dirty="0">
                <a:solidFill>
                  <a:srgbClr val="FF0000"/>
                </a:solidFill>
                <a:ea typeface="宋体" panose="02010600030101010101" pitchFamily="2" charset="-122"/>
              </a:rPr>
              <a:t>The server crashes after receiving a request.</a:t>
            </a:r>
          </a:p>
          <a:p>
            <a:pPr marL="1257300" lvl="2" indent="-457200" eaLnBrk="1" hangingPunct="1">
              <a:lnSpc>
                <a:spcPct val="150000"/>
              </a:lnSpc>
              <a:buFontTx/>
              <a:buAutoNum type="circleNumDbPlain"/>
            </a:pPr>
            <a:r>
              <a:rPr lang="en-US" altLang="zh-CN" b="1" dirty="0">
                <a:ea typeface="宋体" panose="02010600030101010101" pitchFamily="2" charset="-122"/>
              </a:rPr>
              <a:t>The reply message from the server to the client is lost.</a:t>
            </a:r>
          </a:p>
          <a:p>
            <a:pPr marL="1257300" lvl="2" indent="-457200" eaLnBrk="1" hangingPunct="1">
              <a:lnSpc>
                <a:spcPct val="150000"/>
              </a:lnSpc>
              <a:buFontTx/>
              <a:buAutoNum type="circleNumDbPlain"/>
            </a:pPr>
            <a:r>
              <a:rPr lang="en-US" altLang="zh-CN" b="1" dirty="0">
                <a:ea typeface="宋体" panose="02010600030101010101" pitchFamily="2" charset="-122"/>
              </a:rPr>
              <a:t>The client crashes after sending a request.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88900" y="93663"/>
            <a:ext cx="8961438" cy="960437"/>
          </a:xfrm>
          <a:ln/>
        </p:spPr>
        <p:txBody>
          <a:bodyPr vert="horz" wrap="square" lIns="91440" tIns="45720" rIns="91440" bIns="45720" anchor="ctr" anchorCtr="0"/>
          <a:lstStyle/>
          <a:p>
            <a:pPr eaLnBrk="1" hangingPunct="1"/>
            <a:r>
              <a:rPr lang="en-US" altLang="zh-CN" dirty="0">
                <a:ea typeface="宋体" panose="02010600030101010101" pitchFamily="2" charset="-122"/>
              </a:rPr>
              <a:t>Reliable Client-Server Communication</a:t>
            </a:r>
          </a:p>
        </p:txBody>
      </p:sp>
      <p:sp>
        <p:nvSpPr>
          <p:cNvPr id="41987" name="Rectangle 3"/>
          <p:cNvSpPr>
            <a:spLocks noGrp="1"/>
          </p:cNvSpPr>
          <p:nvPr>
            <p:ph idx="1"/>
          </p:nvPr>
        </p:nvSpPr>
        <p:spPr>
          <a:xfrm>
            <a:off x="201613" y="1304925"/>
            <a:ext cx="8750300" cy="4975225"/>
          </a:xfrm>
          <a:ln/>
        </p:spPr>
        <p:txBody>
          <a:bodyPr vert="horz" wrap="square" lIns="91440" tIns="45720" rIns="91440" bIns="45720" anchor="t" anchorCtr="0"/>
          <a:lstStyle/>
          <a:p>
            <a:pPr marL="624205" indent="-624205" algn="l" eaLnBrk="1" hangingPunct="1">
              <a:lnSpc>
                <a:spcPct val="130000"/>
              </a:lnSpc>
              <a:buNone/>
            </a:pPr>
            <a:r>
              <a:rPr lang="en-US" altLang="zh-CN" sz="2800" dirty="0">
                <a:ea typeface="宋体" panose="02010600030101010101" pitchFamily="2" charset="-122"/>
              </a:rPr>
              <a:t>   1. The client is unable to locate the server</a:t>
            </a:r>
          </a:p>
          <a:p>
            <a:pPr marL="624205" indent="-624205" algn="l" eaLnBrk="1" hangingPunct="1">
              <a:lnSpc>
                <a:spcPct val="130000"/>
              </a:lnSpc>
              <a:buNone/>
            </a:pPr>
            <a:r>
              <a:rPr lang="en-US" altLang="zh-CN" sz="2800" dirty="0">
                <a:ea typeface="宋体" panose="02010600030101010101" pitchFamily="2" charset="-122"/>
              </a:rPr>
              <a:t>        --------by raising an exception.</a:t>
            </a:r>
          </a:p>
          <a:p>
            <a:pPr marL="624205" indent="-624205" algn="l" eaLnBrk="1" hangingPunct="1">
              <a:lnSpc>
                <a:spcPct val="130000"/>
              </a:lnSpc>
              <a:buNone/>
            </a:pPr>
            <a:endParaRPr lang="en-US" altLang="zh-CN" sz="2800" dirty="0">
              <a:ea typeface="宋体" panose="02010600030101010101" pitchFamily="2" charset="-122"/>
            </a:endParaRPr>
          </a:p>
          <a:p>
            <a:pPr marL="624205" indent="-624205" algn="l" eaLnBrk="1" hangingPunct="1">
              <a:lnSpc>
                <a:spcPct val="130000"/>
              </a:lnSpc>
              <a:buNone/>
            </a:pPr>
            <a:r>
              <a:rPr lang="en-US" altLang="zh-CN" sz="2800" dirty="0">
                <a:ea typeface="宋体" panose="02010600030101010101" pitchFamily="2" charset="-122"/>
              </a:rPr>
              <a:t>   2. The request message from the client to the server is lost</a:t>
            </a:r>
          </a:p>
          <a:p>
            <a:pPr marL="624205" indent="-624205" algn="l" eaLnBrk="1" hangingPunct="1">
              <a:lnSpc>
                <a:spcPct val="130000"/>
              </a:lnSpc>
              <a:buNone/>
            </a:pPr>
            <a:r>
              <a:rPr lang="en-US" altLang="zh-CN" sz="2800" dirty="0">
                <a:ea typeface="宋体" panose="02010600030101010101" pitchFamily="2" charset="-122"/>
              </a:rPr>
              <a:t>       --------If the timer expires before a reply or acknowledgement come back, the message is sent again.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3. Server Crashes</a:t>
            </a:r>
          </a:p>
        </p:txBody>
      </p:sp>
      <p:sp>
        <p:nvSpPr>
          <p:cNvPr id="44035" name="Rectangle 3"/>
          <p:cNvSpPr>
            <a:spLocks noGrp="1"/>
          </p:cNvSpPr>
          <p:nvPr>
            <p:ph idx="1"/>
          </p:nvPr>
        </p:nvSpPr>
        <p:spPr>
          <a:xfrm>
            <a:off x="1704975" y="4737100"/>
            <a:ext cx="5884863" cy="1592263"/>
          </a:xfrm>
          <a:ln/>
        </p:spPr>
        <p:txBody>
          <a:bodyPr vert="horz" wrap="square" lIns="91440" tIns="45720" rIns="91440" bIns="45720" anchor="t" anchorCtr="0"/>
          <a:lstStyle/>
          <a:p>
            <a:pPr marL="609600" indent="-609600" algn="l" eaLnBrk="1" hangingPunct="1">
              <a:lnSpc>
                <a:spcPct val="90000"/>
              </a:lnSpc>
              <a:buNone/>
            </a:pPr>
            <a:r>
              <a:rPr lang="en-US" altLang="zh-CN" sz="2400" dirty="0">
                <a:ea typeface="宋体" panose="02010600030101010101" pitchFamily="2" charset="-122"/>
              </a:rPr>
              <a:t>A server in client-server communication</a:t>
            </a:r>
          </a:p>
          <a:p>
            <a:pPr marL="609600" indent="-609600" algn="l" eaLnBrk="1" hangingPunct="1">
              <a:lnSpc>
                <a:spcPct val="90000"/>
              </a:lnSpc>
              <a:buFontTx/>
              <a:buAutoNum type="alphaLcParenR"/>
            </a:pPr>
            <a:r>
              <a:rPr lang="en-US" altLang="zh-CN" sz="2400" dirty="0">
                <a:ea typeface="宋体" panose="02010600030101010101" pitchFamily="2" charset="-122"/>
              </a:rPr>
              <a:t>Normal case</a:t>
            </a:r>
          </a:p>
          <a:p>
            <a:pPr marL="609600" indent="-609600" algn="l" eaLnBrk="1" hangingPunct="1">
              <a:lnSpc>
                <a:spcPct val="90000"/>
              </a:lnSpc>
              <a:buFontTx/>
              <a:buAutoNum type="alphaLcParenR"/>
            </a:pPr>
            <a:r>
              <a:rPr lang="en-US" altLang="zh-CN" sz="2400" dirty="0">
                <a:ea typeface="宋体" panose="02010600030101010101" pitchFamily="2" charset="-122"/>
              </a:rPr>
              <a:t>Crash after execution </a:t>
            </a:r>
          </a:p>
          <a:p>
            <a:pPr marL="609600" indent="-609600" algn="l" eaLnBrk="1" hangingPunct="1">
              <a:lnSpc>
                <a:spcPct val="90000"/>
              </a:lnSpc>
              <a:buFontTx/>
              <a:buAutoNum type="alphaLcParenR"/>
            </a:pPr>
            <a:r>
              <a:rPr lang="en-US" altLang="zh-CN" sz="2400" dirty="0">
                <a:ea typeface="宋体" panose="02010600030101010101" pitchFamily="2" charset="-122"/>
              </a:rPr>
              <a:t>Crash before execution</a:t>
            </a:r>
          </a:p>
        </p:txBody>
      </p:sp>
      <p:pic>
        <p:nvPicPr>
          <p:cNvPr id="44036" name="Picture 4"/>
          <p:cNvPicPr>
            <a:picLocks noChangeAspect="1"/>
          </p:cNvPicPr>
          <p:nvPr/>
        </p:nvPicPr>
        <p:blipFill>
          <a:blip r:embed="rId2"/>
          <a:srcRect l="24345" t="47432" r="21780" b="41389"/>
          <a:stretch>
            <a:fillRect/>
          </a:stretch>
        </p:blipFill>
        <p:spPr>
          <a:xfrm>
            <a:off x="179388" y="1747838"/>
            <a:ext cx="8686800" cy="2909887"/>
          </a:xfrm>
          <a:prstGeom prst="rect">
            <a:avLst/>
          </a:prstGeom>
          <a:noFill/>
          <a:ln w="9525">
            <a:noFill/>
          </a:ln>
        </p:spPr>
      </p:pic>
      <p:sp>
        <p:nvSpPr>
          <p:cNvPr id="44037" name="矩形 4"/>
          <p:cNvSpPr/>
          <p:nvPr/>
        </p:nvSpPr>
        <p:spPr>
          <a:xfrm>
            <a:off x="233363" y="1195388"/>
            <a:ext cx="6178550" cy="46196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The server crashes after receiving a request</a:t>
            </a:r>
            <a:endParaRPr lang="zh-CN" altLang="en-US" sz="2400"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Server Crashes(5)</a:t>
            </a:r>
          </a:p>
        </p:txBody>
      </p:sp>
      <p:sp>
        <p:nvSpPr>
          <p:cNvPr id="49155" name="Rectangle 3"/>
          <p:cNvSpPr>
            <a:spLocks noGrp="1"/>
          </p:cNvSpPr>
          <p:nvPr>
            <p:ph idx="1"/>
          </p:nvPr>
        </p:nvSpPr>
        <p:spPr>
          <a:xfrm>
            <a:off x="223838" y="1230313"/>
            <a:ext cx="8793162" cy="5210175"/>
          </a:xfrm>
        </p:spPr>
        <p:txBody>
          <a:bodyPr vert="horz" wrap="square" lIns="91440" tIns="45720" rIns="91440" bIns="45720" anchor="t" anchorCtr="0"/>
          <a:lstStyle/>
          <a:p>
            <a:pPr marL="377825" indent="-377825" algn="l" eaLnBrk="1" hangingPunct="1">
              <a:buNone/>
            </a:pPr>
            <a:r>
              <a:rPr lang="en-US" altLang="zh-CN" sz="2800" dirty="0">
                <a:ea typeface="宋体" panose="02010600030101010101" pitchFamily="2" charset="-122"/>
              </a:rPr>
              <a:t>Three schools of thought(timer has expired):</a:t>
            </a:r>
          </a:p>
          <a:p>
            <a:pPr marL="377825" indent="-377825" algn="l" eaLnBrk="1" hangingPunct="1">
              <a:buNone/>
            </a:pPr>
            <a:r>
              <a:rPr lang="en-US" altLang="zh-CN" sz="2800" dirty="0">
                <a:ea typeface="宋体" panose="02010600030101010101" pitchFamily="2" charset="-122"/>
              </a:rPr>
              <a:t>    1. </a:t>
            </a:r>
            <a:r>
              <a:rPr lang="en-US" altLang="zh-CN" sz="2800" dirty="0">
                <a:solidFill>
                  <a:srgbClr val="FF0066"/>
                </a:solidFill>
                <a:ea typeface="宋体" panose="02010600030101010101" pitchFamily="2" charset="-122"/>
              </a:rPr>
              <a:t>At least once semantics</a:t>
            </a:r>
            <a:r>
              <a:rPr lang="en-US" altLang="zh-CN" sz="2800" dirty="0">
                <a:ea typeface="宋体" panose="02010600030101010101" pitchFamily="2" charset="-122"/>
              </a:rPr>
              <a:t>:</a:t>
            </a:r>
          </a:p>
          <a:p>
            <a:pPr marL="377825" indent="-377825" algn="l" eaLnBrk="1" hangingPunct="1">
              <a:buNone/>
            </a:pPr>
            <a:r>
              <a:rPr lang="en-US" altLang="zh-CN" sz="2800" dirty="0">
                <a:ea typeface="宋体" panose="02010600030101010101" pitchFamily="2" charset="-122"/>
              </a:rPr>
              <a:t>        To keep trying until a reply has been received, then give it to the client(possibly more).</a:t>
            </a:r>
          </a:p>
          <a:p>
            <a:pPr marL="377825" indent="-377825" algn="l" eaLnBrk="1" hangingPunct="1">
              <a:buNone/>
            </a:pPr>
            <a:r>
              <a:rPr lang="en-US" altLang="zh-CN" sz="2800" dirty="0">
                <a:ea typeface="宋体" panose="02010600030101010101" pitchFamily="2" charset="-122"/>
              </a:rPr>
              <a:t>    2. </a:t>
            </a:r>
            <a:r>
              <a:rPr lang="en-US" altLang="zh-CN" sz="2800" dirty="0">
                <a:solidFill>
                  <a:srgbClr val="FF0066"/>
                </a:solidFill>
                <a:ea typeface="宋体" panose="02010600030101010101" pitchFamily="2" charset="-122"/>
              </a:rPr>
              <a:t>At most once semantics</a:t>
            </a:r>
            <a:r>
              <a:rPr lang="en-US" altLang="zh-CN" sz="2800" dirty="0">
                <a:ea typeface="宋体" panose="02010600030101010101" pitchFamily="2" charset="-122"/>
              </a:rPr>
              <a:t>:</a:t>
            </a:r>
          </a:p>
          <a:p>
            <a:pPr marL="377825" indent="-377825" algn="l" eaLnBrk="1" hangingPunct="1">
              <a:buNone/>
            </a:pPr>
            <a:r>
              <a:rPr lang="en-US" altLang="zh-CN" sz="2800" dirty="0">
                <a:ea typeface="宋体" panose="02010600030101010101" pitchFamily="2" charset="-122"/>
              </a:rPr>
              <a:t>        To give up immediately and reports back failure (possibly none at all).</a:t>
            </a:r>
          </a:p>
          <a:p>
            <a:pPr marL="377825" indent="-377825" algn="l" eaLnBrk="1" hangingPunct="1">
              <a:buNone/>
            </a:pPr>
            <a:r>
              <a:rPr lang="en-US" altLang="zh-CN" sz="2800" dirty="0">
                <a:ea typeface="宋体" panose="02010600030101010101" pitchFamily="2" charset="-122"/>
              </a:rPr>
              <a:t>    3. </a:t>
            </a:r>
            <a:r>
              <a:rPr lang="en-US" altLang="zh-CN" sz="2800" dirty="0">
                <a:solidFill>
                  <a:srgbClr val="FF0066"/>
                </a:solidFill>
                <a:ea typeface="宋体" panose="02010600030101010101" pitchFamily="2" charset="-122"/>
              </a:rPr>
              <a:t>Exactly once semantics</a:t>
            </a:r>
            <a:r>
              <a:rPr lang="en-US" altLang="zh-CN" sz="2800" dirty="0">
                <a:ea typeface="宋体" panose="02010600030101010101" pitchFamily="2" charset="-122"/>
              </a:rPr>
              <a:t>: None</a:t>
            </a:r>
          </a:p>
          <a:p>
            <a:pPr marL="377825" indent="-377825" algn="l" eaLnBrk="1" hangingPunct="1">
              <a:buNone/>
            </a:pPr>
            <a:r>
              <a:rPr lang="en-US" altLang="zh-CN" sz="2800" dirty="0">
                <a:ea typeface="宋体" panose="02010600030101010101" pitchFamily="2" charset="-122"/>
              </a:rPr>
              <a:t> </a:t>
            </a:r>
          </a:p>
          <a:p>
            <a:pPr marL="377825" indent="-377825" algn="l" eaLnBrk="1" hangingPunct="1">
              <a:buNone/>
            </a:pPr>
            <a:r>
              <a:rPr lang="en-US" altLang="zh-CN" sz="2800" dirty="0">
                <a:ea typeface="宋体" panose="02010600030101010101" pitchFamily="2" charset="-122"/>
              </a:rPr>
              <a:t>    for example, Bank business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2219325" y="0"/>
            <a:ext cx="4697413" cy="515938"/>
          </a:xfrm>
          <a:ln/>
        </p:spPr>
        <p:txBody>
          <a:bodyPr vert="horz" wrap="square" lIns="91440" tIns="45720" rIns="91440" bIns="45720" anchor="ctr" anchorCtr="0"/>
          <a:lstStyle/>
          <a:p>
            <a:pPr eaLnBrk="1" hangingPunct="1"/>
            <a:r>
              <a:rPr lang="en-US" altLang="zh-CN" dirty="0">
                <a:ea typeface="宋体" panose="02010600030101010101" pitchFamily="2" charset="-122"/>
              </a:rPr>
              <a:t>Server Crashes (3)</a:t>
            </a:r>
          </a:p>
        </p:txBody>
      </p:sp>
      <p:sp>
        <p:nvSpPr>
          <p:cNvPr id="45059" name="Rectangle 3"/>
          <p:cNvSpPr>
            <a:spLocks noGrp="1"/>
          </p:cNvSpPr>
          <p:nvPr>
            <p:ph idx="1"/>
          </p:nvPr>
        </p:nvSpPr>
        <p:spPr>
          <a:xfrm>
            <a:off x="204788" y="2293938"/>
            <a:ext cx="8732837" cy="4456112"/>
          </a:xfrm>
          <a:ln/>
        </p:spPr>
        <p:txBody>
          <a:bodyPr vert="horz" wrap="square" lIns="91440" tIns="45720" rIns="91440" bIns="45720" anchor="t" anchorCtr="0"/>
          <a:lstStyle/>
          <a:p>
            <a:pPr algn="l" eaLnBrk="1" hangingPunct="1">
              <a:buNone/>
            </a:pPr>
            <a:r>
              <a:rPr lang="en-US" altLang="zh-CN" sz="2400" dirty="0">
                <a:ea typeface="宋体" panose="02010600030101010101" pitchFamily="2" charset="-122"/>
              </a:rPr>
              <a:t>Six different orderings:</a:t>
            </a:r>
          </a:p>
          <a:p>
            <a:pPr algn="l" eaLnBrk="1" hangingPunct="1">
              <a:buFontTx/>
              <a:buAutoNum type="arabicPeriod"/>
            </a:pPr>
            <a:r>
              <a:rPr lang="en-US" altLang="zh-CN" sz="2400" dirty="0">
                <a:solidFill>
                  <a:srgbClr val="FF0000"/>
                </a:solidFill>
                <a:ea typeface="宋体" panose="02010600030101010101" pitchFamily="2" charset="-122"/>
              </a:rPr>
              <a:t>M →P →C: </a:t>
            </a:r>
            <a:r>
              <a:rPr lang="en-US" altLang="zh-CN" sz="2400" dirty="0">
                <a:ea typeface="宋体" panose="02010600030101010101" pitchFamily="2" charset="-122"/>
              </a:rPr>
              <a:t>A crash occurs after sending the completion message and printing the text.</a:t>
            </a:r>
          </a:p>
          <a:p>
            <a:pPr algn="l" eaLnBrk="1" hangingPunct="1">
              <a:buFontTx/>
              <a:buAutoNum type="arabicPeriod"/>
            </a:pPr>
            <a:r>
              <a:rPr lang="en-US" altLang="zh-CN" sz="2400" dirty="0">
                <a:ea typeface="宋体" panose="02010600030101010101" pitchFamily="2" charset="-122"/>
              </a:rPr>
              <a:t>M →C (→P): A crash happens after sending the completion message, but before the text could be printed.</a:t>
            </a:r>
          </a:p>
          <a:p>
            <a:pPr algn="l" eaLnBrk="1" hangingPunct="1">
              <a:buFontTx/>
              <a:buAutoNum type="arabicPeriod"/>
            </a:pPr>
            <a:r>
              <a:rPr lang="en-US" altLang="zh-CN" sz="2400" dirty="0">
                <a:solidFill>
                  <a:srgbClr val="FF0000"/>
                </a:solidFill>
                <a:ea typeface="宋体" panose="02010600030101010101" pitchFamily="2" charset="-122"/>
              </a:rPr>
              <a:t>P →M →C: </a:t>
            </a:r>
            <a:r>
              <a:rPr lang="en-US" altLang="zh-CN" sz="2400" dirty="0">
                <a:ea typeface="宋体" panose="02010600030101010101" pitchFamily="2" charset="-122"/>
              </a:rPr>
              <a:t>A crash occurs after sending the completion message and printing the text.</a:t>
            </a:r>
          </a:p>
          <a:p>
            <a:pPr algn="l" eaLnBrk="1" hangingPunct="1">
              <a:buFontTx/>
              <a:buAutoNum type="arabicPeriod"/>
            </a:pPr>
            <a:r>
              <a:rPr lang="en-US" altLang="zh-CN" sz="2400" dirty="0">
                <a:solidFill>
                  <a:srgbClr val="FF0000"/>
                </a:solidFill>
                <a:ea typeface="宋体" panose="02010600030101010101" pitchFamily="2" charset="-122"/>
              </a:rPr>
              <a:t>P→C(→M): </a:t>
            </a:r>
            <a:r>
              <a:rPr lang="en-US" altLang="zh-CN" sz="2400" dirty="0">
                <a:ea typeface="宋体" panose="02010600030101010101" pitchFamily="2" charset="-122"/>
              </a:rPr>
              <a:t>The text printed, after which a crash occurs before the completion message could be sent.</a:t>
            </a:r>
          </a:p>
          <a:p>
            <a:pPr algn="l" eaLnBrk="1" hangingPunct="1">
              <a:buFontTx/>
              <a:buAutoNum type="arabicPeriod"/>
            </a:pPr>
            <a:r>
              <a:rPr lang="en-US" altLang="zh-CN" sz="2400" dirty="0">
                <a:ea typeface="宋体" panose="02010600030101010101" pitchFamily="2" charset="-122"/>
              </a:rPr>
              <a:t>C (→P →M): A crash happens before the server could do anything.</a:t>
            </a:r>
          </a:p>
          <a:p>
            <a:pPr algn="l" eaLnBrk="1" hangingPunct="1">
              <a:buFontTx/>
              <a:buAutoNum type="arabicPeriod"/>
            </a:pPr>
            <a:r>
              <a:rPr lang="en-US" altLang="zh-CN" sz="2400" dirty="0">
                <a:ea typeface="宋体" panose="02010600030101010101" pitchFamily="2" charset="-122"/>
              </a:rPr>
              <a:t>C (→M →P): A crash happens before the server could do anything.</a:t>
            </a:r>
          </a:p>
        </p:txBody>
      </p:sp>
      <p:sp>
        <p:nvSpPr>
          <p:cNvPr id="4" name="Rectangle 3"/>
          <p:cNvSpPr txBox="1">
            <a:spLocks noChangeArrowheads="1"/>
          </p:cNvSpPr>
          <p:nvPr/>
        </p:nvSpPr>
        <p:spPr bwMode="auto">
          <a:xfrm>
            <a:off x="204788" y="515938"/>
            <a:ext cx="5556250" cy="17780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Three events that can happen at the server: </a:t>
            </a: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p"/>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Send the completion message (M), </a:t>
            </a: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p"/>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Print the text (P), </a:t>
            </a:r>
          </a:p>
          <a:p>
            <a:pPr marL="742950" marR="0" lvl="1" indent="-2857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p"/>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Crash (C).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Server Crashes (4)</a:t>
            </a:r>
          </a:p>
        </p:txBody>
      </p:sp>
      <p:sp>
        <p:nvSpPr>
          <p:cNvPr id="47107" name="Rectangle 3"/>
          <p:cNvSpPr>
            <a:spLocks noGrp="1"/>
          </p:cNvSpPr>
          <p:nvPr>
            <p:ph idx="1"/>
          </p:nvPr>
        </p:nvSpPr>
        <p:spPr>
          <a:xfrm>
            <a:off x="441325" y="5226050"/>
            <a:ext cx="8397875" cy="1081088"/>
          </a:xfrm>
          <a:ln/>
        </p:spPr>
        <p:txBody>
          <a:bodyPr vert="horz" wrap="square" lIns="91440" tIns="45720" rIns="91440" bIns="45720" anchor="t" anchorCtr="0"/>
          <a:lstStyle/>
          <a:p>
            <a:pPr eaLnBrk="1" hangingPunct="1">
              <a:buNone/>
            </a:pPr>
            <a:r>
              <a:rPr lang="en-US" altLang="zh-CN" sz="2800" dirty="0">
                <a:ea typeface="宋体" panose="02010600030101010101" pitchFamily="2" charset="-122"/>
              </a:rPr>
              <a:t>Different combinations of client and server strategies in the presence of server crashes</a:t>
            </a:r>
          </a:p>
        </p:txBody>
      </p:sp>
      <p:graphicFrame>
        <p:nvGraphicFramePr>
          <p:cNvPr id="10566" name="Group 326"/>
          <p:cNvGraphicFramePr>
            <a:graphicFrameLocks noGrp="1"/>
          </p:cNvGraphicFramePr>
          <p:nvPr/>
        </p:nvGraphicFramePr>
        <p:xfrm>
          <a:off x="420688" y="1233488"/>
          <a:ext cx="8439150" cy="3614738"/>
        </p:xfrm>
        <a:graphic>
          <a:graphicData uri="http://schemas.openxmlformats.org/drawingml/2006/table">
            <a:tbl>
              <a:tblPr/>
              <a:tblGrid>
                <a:gridCol w="2447925">
                  <a:extLst>
                    <a:ext uri="{9D8B030D-6E8A-4147-A177-3AD203B41FA5}">
                      <a16:colId xmlns:a16="http://schemas.microsoft.com/office/drawing/2014/main" val="20000"/>
                    </a:ext>
                  </a:extLst>
                </a:gridCol>
                <a:gridCol w="287337">
                  <a:extLst>
                    <a:ext uri="{9D8B030D-6E8A-4147-A177-3AD203B41FA5}">
                      <a16:colId xmlns:a16="http://schemas.microsoft.com/office/drawing/2014/main" val="20001"/>
                    </a:ext>
                  </a:extLst>
                </a:gridCol>
                <a:gridCol w="793750">
                  <a:extLst>
                    <a:ext uri="{9D8B030D-6E8A-4147-A177-3AD203B41FA5}">
                      <a16:colId xmlns:a16="http://schemas.microsoft.com/office/drawing/2014/main" val="20002"/>
                    </a:ext>
                  </a:extLst>
                </a:gridCol>
                <a:gridCol w="196850">
                  <a:extLst>
                    <a:ext uri="{9D8B030D-6E8A-4147-A177-3AD203B41FA5}">
                      <a16:colId xmlns:a16="http://schemas.microsoft.com/office/drawing/2014/main" val="20003"/>
                    </a:ext>
                  </a:extLst>
                </a:gridCol>
                <a:gridCol w="660400">
                  <a:extLst>
                    <a:ext uri="{9D8B030D-6E8A-4147-A177-3AD203B41FA5}">
                      <a16:colId xmlns:a16="http://schemas.microsoft.com/office/drawing/2014/main" val="20004"/>
                    </a:ext>
                  </a:extLst>
                </a:gridCol>
                <a:gridCol w="196850">
                  <a:extLst>
                    <a:ext uri="{9D8B030D-6E8A-4147-A177-3AD203B41FA5}">
                      <a16:colId xmlns:a16="http://schemas.microsoft.com/office/drawing/2014/main" val="20005"/>
                    </a:ext>
                  </a:extLst>
                </a:gridCol>
                <a:gridCol w="1014413">
                  <a:extLst>
                    <a:ext uri="{9D8B030D-6E8A-4147-A177-3AD203B41FA5}">
                      <a16:colId xmlns:a16="http://schemas.microsoft.com/office/drawing/2014/main" val="20006"/>
                    </a:ext>
                  </a:extLst>
                </a:gridCol>
                <a:gridCol w="396875">
                  <a:extLst>
                    <a:ext uri="{9D8B030D-6E8A-4147-A177-3AD203B41FA5}">
                      <a16:colId xmlns:a16="http://schemas.microsoft.com/office/drawing/2014/main" val="20007"/>
                    </a:ext>
                  </a:extLst>
                </a:gridCol>
                <a:gridCol w="731837">
                  <a:extLst>
                    <a:ext uri="{9D8B030D-6E8A-4147-A177-3AD203B41FA5}">
                      <a16:colId xmlns:a16="http://schemas.microsoft.com/office/drawing/2014/main" val="20008"/>
                    </a:ext>
                  </a:extLst>
                </a:gridCol>
                <a:gridCol w="195263">
                  <a:extLst>
                    <a:ext uri="{9D8B030D-6E8A-4147-A177-3AD203B41FA5}">
                      <a16:colId xmlns:a16="http://schemas.microsoft.com/office/drawing/2014/main" val="20009"/>
                    </a:ext>
                  </a:extLst>
                </a:gridCol>
                <a:gridCol w="639762">
                  <a:extLst>
                    <a:ext uri="{9D8B030D-6E8A-4147-A177-3AD203B41FA5}">
                      <a16:colId xmlns:a16="http://schemas.microsoft.com/office/drawing/2014/main" val="20010"/>
                    </a:ext>
                  </a:extLst>
                </a:gridCol>
                <a:gridCol w="877888">
                  <a:extLst>
                    <a:ext uri="{9D8B030D-6E8A-4147-A177-3AD203B41FA5}">
                      <a16:colId xmlns:a16="http://schemas.microsoft.com/office/drawing/2014/main" val="2001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Client</a:t>
                      </a: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b"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b" horzOverflow="overflow">
                    <a:lnL>
                      <a:noFill/>
                    </a:lnL>
                    <a:lnR>
                      <a:noFill/>
                    </a:lnR>
                    <a:lnT cap="flat">
                      <a:noFill/>
                    </a:lnT>
                    <a:lnB>
                      <a:noFill/>
                    </a:lnB>
                    <a:lnTlToBr>
                      <a:noFill/>
                    </a:lnTlToBr>
                    <a:lnBlToTr>
                      <a:noFill/>
                    </a:lnBlToTr>
                    <a:noFill/>
                  </a:tcPr>
                </a:tc>
                <a:tc hMerge="1">
                  <a:txBody>
                    <a:bodyPr/>
                    <a:lstStyle/>
                    <a:p>
                      <a:endParaRPr lang="zh-CN"/>
                    </a:p>
                  </a:txBody>
                  <a:tcPr/>
                </a:tc>
                <a:tc gridSpan="5">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Server</a:t>
                      </a:r>
                    </a:p>
                  </a:txBody>
                  <a:tcPr anchor="b" horzOverflow="overflow">
                    <a:lnL>
                      <a:noFill/>
                    </a:lnL>
                    <a:lnR>
                      <a:noFill/>
                    </a:lnR>
                    <a:lnT cap="fla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1912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gridSpan="5">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Strategy M -&gt; P</a:t>
                      </a:r>
                    </a:p>
                  </a:txBody>
                  <a:tcPr anchor="ctr" horzOverflow="overflow">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Strategy P -&gt; M</a:t>
                      </a:r>
                    </a:p>
                  </a:txBody>
                  <a:tcPr anchor="ctr" horzOverflow="overflow">
                    <a:lnL>
                      <a:noFill/>
                    </a:lnL>
                    <a:lnR cap="flat">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51752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Reissue strategy</a:t>
                      </a:r>
                    </a:p>
                  </a:txBody>
                  <a:tcPr anchor="ct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MPC</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MC(P)</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C(MP)</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PMC</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PC(M)</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C(PM)</a:t>
                      </a:r>
                    </a:p>
                  </a:txBody>
                  <a:tcPr anchor="ctr"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Always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DUP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DUP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DUP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Never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ZERO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ZERO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ZERO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75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Only when ACKed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DUP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ZERO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DUP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ZERO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11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Only when not ACKed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ZERO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DUP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OK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4"/>
          <p:cNvSpPr>
            <a:spLocks noGrp="1"/>
          </p:cNvSpPr>
          <p:nvPr>
            <p:ph type="title"/>
          </p:nvPr>
        </p:nvSpPr>
        <p:spPr>
          <a:xfrm>
            <a:off x="88900" y="93663"/>
            <a:ext cx="8961438" cy="960437"/>
          </a:xfrm>
          <a:ln/>
        </p:spPr>
        <p:txBody>
          <a:bodyPr vert="horz" wrap="square" lIns="91440" tIns="45720" rIns="91440" bIns="45720" anchor="ctr" anchorCtr="0"/>
          <a:lstStyle/>
          <a:p>
            <a:pPr eaLnBrk="1" hangingPunct="1"/>
            <a:r>
              <a:rPr lang="en-US" altLang="zh-CN" dirty="0">
                <a:ea typeface="宋体" panose="02010600030101010101" pitchFamily="2" charset="-122"/>
              </a:rPr>
              <a:t>Reliable Client-Server Communication</a:t>
            </a:r>
          </a:p>
        </p:txBody>
      </p:sp>
      <p:sp>
        <p:nvSpPr>
          <p:cNvPr id="51203" name="Rectangle 105"/>
          <p:cNvSpPr>
            <a:spLocks noGrp="1"/>
          </p:cNvSpPr>
          <p:nvPr>
            <p:ph idx="1"/>
          </p:nvPr>
        </p:nvSpPr>
        <p:spPr>
          <a:xfrm>
            <a:off x="520700" y="1201738"/>
            <a:ext cx="7966075" cy="3976687"/>
          </a:xfrm>
          <a:ln/>
        </p:spPr>
        <p:txBody>
          <a:bodyPr vert="horz" wrap="square" lIns="91440" tIns="45720" rIns="91440" bIns="45720" anchor="t" anchorCtr="0"/>
          <a:lstStyle/>
          <a:p>
            <a:pPr marL="0" indent="0" algn="l" eaLnBrk="1" hangingPunct="1">
              <a:lnSpc>
                <a:spcPct val="150000"/>
              </a:lnSpc>
              <a:buNone/>
            </a:pPr>
            <a:r>
              <a:rPr lang="en-US" altLang="zh-CN" sz="2800" dirty="0">
                <a:ea typeface="宋体" panose="02010600030101010101" pitchFamily="2" charset="-122"/>
              </a:rPr>
              <a:t>   4. The reply message from the server to the client is lost(</a:t>
            </a:r>
            <a:r>
              <a:rPr lang="zh-CN" altLang="en-US" sz="2800" dirty="0">
                <a:ea typeface="宋体" panose="02010600030101010101" pitchFamily="2" charset="-122"/>
              </a:rPr>
              <a:t>通过请求编号，防止重复执行).</a:t>
            </a:r>
            <a:endParaRPr lang="en-US" altLang="zh-CN" sz="2800" dirty="0">
              <a:ea typeface="宋体" panose="02010600030101010101" pitchFamily="2" charset="-122"/>
            </a:endParaRPr>
          </a:p>
          <a:p>
            <a:pPr marL="0" indent="0" algn="l" eaLnBrk="1" hangingPunct="1">
              <a:lnSpc>
                <a:spcPct val="150000"/>
              </a:lnSpc>
              <a:buNone/>
            </a:pPr>
            <a:endParaRPr lang="zh-CN" altLang="en-US" sz="2800"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5. The client crashes after sending a request.</a:t>
            </a:r>
          </a:p>
          <a:p>
            <a:pPr marL="0" indent="0" algn="l" eaLnBrk="1" hangingPunct="1">
              <a:lnSpc>
                <a:spcPct val="150000"/>
              </a:lnSpc>
              <a:buNone/>
            </a:pPr>
            <a:r>
              <a:rPr lang="en-US" altLang="zh-CN" sz="2800" dirty="0">
                <a:ea typeface="宋体" panose="02010600030101010101" pitchFamily="2" charset="-122"/>
              </a:rPr>
              <a:t>   ----------</a:t>
            </a:r>
            <a:r>
              <a:rPr lang="zh-CN" altLang="en-US" sz="2800" dirty="0">
                <a:ea typeface="宋体" panose="02010600030101010101" pitchFamily="2" charset="-122"/>
              </a:rPr>
              <a:t>日志文件….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88900" y="93663"/>
            <a:ext cx="8961438" cy="960437"/>
          </a:xfrm>
          <a:ln/>
        </p:spPr>
        <p:txBody>
          <a:bodyPr vert="horz" wrap="square" lIns="91440" tIns="45720" rIns="91440" bIns="45720" anchor="ctr" anchorCtr="0"/>
          <a:lstStyle/>
          <a:p>
            <a:pPr eaLnBrk="1" hangingPunct="1"/>
            <a:r>
              <a:rPr lang="en-US" altLang="zh-CN" dirty="0">
                <a:ea typeface="宋体" panose="02010600030101010101" pitchFamily="2" charset="-122"/>
              </a:rPr>
              <a:t>Reliable Group Communication</a:t>
            </a:r>
          </a:p>
        </p:txBody>
      </p:sp>
      <p:sp>
        <p:nvSpPr>
          <p:cNvPr id="53251" name="Rectangle 3"/>
          <p:cNvSpPr>
            <a:spLocks noGrp="1"/>
          </p:cNvSpPr>
          <p:nvPr>
            <p:ph idx="1"/>
          </p:nvPr>
        </p:nvSpPr>
        <p:spPr>
          <a:xfrm>
            <a:off x="885825" y="1477963"/>
            <a:ext cx="7280275" cy="1987550"/>
          </a:xfrm>
          <a:ln/>
        </p:spPr>
        <p:txBody>
          <a:bodyPr vert="horz" wrap="square" lIns="91440" tIns="45720" rIns="91440" bIns="45720" anchor="t" anchorCtr="0"/>
          <a:lstStyle/>
          <a:p>
            <a:pPr marL="0" indent="0" algn="l" eaLnBrk="1" hangingPunct="1">
              <a:lnSpc>
                <a:spcPct val="150000"/>
              </a:lnSpc>
              <a:buNone/>
            </a:pPr>
            <a:r>
              <a:rPr lang="en-US" altLang="zh-CN" dirty="0">
                <a:ea typeface="宋体" panose="02010600030101010101" pitchFamily="2" charset="-122"/>
              </a:rPr>
              <a:t>To guarantee that message are delivered to all members in a process group.</a:t>
            </a:r>
            <a:r>
              <a:rPr lang="zh-CN" altLang="en-US" dirty="0">
                <a:ea typeface="宋体" panose="02010600030101010101" pitchFamily="2" charset="-122"/>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0" y="0"/>
            <a:ext cx="9144000" cy="704850"/>
          </a:xfrm>
          <a:ln/>
        </p:spPr>
        <p:txBody>
          <a:bodyPr vert="horz" wrap="square" lIns="91440" tIns="45720" rIns="91440" bIns="45720" anchor="ctr" anchorCtr="0"/>
          <a:lstStyle/>
          <a:p>
            <a:pPr eaLnBrk="1" hangingPunct="1"/>
            <a:r>
              <a:rPr lang="en-US" altLang="zh-CN" dirty="0">
                <a:ea typeface="宋体" panose="02010600030101010101" pitchFamily="2" charset="-122"/>
              </a:rPr>
              <a:t>Basic Reliable-Multicasting Schemes</a:t>
            </a:r>
          </a:p>
        </p:txBody>
      </p:sp>
      <p:sp>
        <p:nvSpPr>
          <p:cNvPr id="55299" name="Rectangle 3"/>
          <p:cNvSpPr>
            <a:spLocks noGrp="1"/>
          </p:cNvSpPr>
          <p:nvPr>
            <p:ph idx="1"/>
          </p:nvPr>
        </p:nvSpPr>
        <p:spPr>
          <a:xfrm>
            <a:off x="735013" y="5573713"/>
            <a:ext cx="7673975" cy="1158875"/>
          </a:xfrm>
          <a:ln/>
        </p:spPr>
        <p:txBody>
          <a:bodyPr vert="horz" wrap="square" lIns="91440" tIns="45720" rIns="91440" bIns="45720" anchor="t" anchorCtr="0"/>
          <a:lstStyle/>
          <a:p>
            <a:pPr marL="0" indent="0" algn="l" eaLnBrk="1" hangingPunct="1">
              <a:lnSpc>
                <a:spcPct val="90000"/>
              </a:lnSpc>
              <a:buNone/>
            </a:pPr>
            <a:r>
              <a:rPr lang="en-US" altLang="zh-CN" sz="2200" dirty="0">
                <a:ea typeface="宋体" panose="02010600030101010101" pitchFamily="2" charset="-122"/>
              </a:rPr>
              <a:t>A simple solution to reliable multicasting when all receivers are known and are assumed not to fail</a:t>
            </a:r>
          </a:p>
          <a:p>
            <a:pPr marL="0" indent="0" algn="l" eaLnBrk="1" hangingPunct="1">
              <a:lnSpc>
                <a:spcPct val="90000"/>
              </a:lnSpc>
              <a:buNone/>
            </a:pPr>
            <a:r>
              <a:rPr lang="en-US" altLang="zh-CN" sz="2200" dirty="0">
                <a:ea typeface="宋体" panose="02010600030101010101" pitchFamily="2" charset="-122"/>
              </a:rPr>
              <a:t>a)Message transmission;   b)Reporting feedback</a:t>
            </a:r>
          </a:p>
        </p:txBody>
      </p:sp>
      <p:pic>
        <p:nvPicPr>
          <p:cNvPr id="55300" name="Picture 5"/>
          <p:cNvPicPr>
            <a:picLocks noChangeAspect="1"/>
          </p:cNvPicPr>
          <p:nvPr/>
        </p:nvPicPr>
        <p:blipFill>
          <a:blip r:embed="rId3"/>
          <a:srcRect l="20309" t="39426" r="18385" b="34138"/>
          <a:stretch>
            <a:fillRect/>
          </a:stretch>
        </p:blipFill>
        <p:spPr>
          <a:xfrm>
            <a:off x="344488" y="1409700"/>
            <a:ext cx="8005762" cy="4084638"/>
          </a:xfrm>
          <a:prstGeom prst="rect">
            <a:avLst/>
          </a:prstGeom>
          <a:noFill/>
          <a:ln w="9525">
            <a:noFill/>
          </a:ln>
        </p:spPr>
      </p:pic>
      <p:sp>
        <p:nvSpPr>
          <p:cNvPr id="55301" name="Rectangle 6"/>
          <p:cNvSpPr/>
          <p:nvPr/>
        </p:nvSpPr>
        <p:spPr>
          <a:xfrm>
            <a:off x="241300" y="784225"/>
            <a:ext cx="5773738" cy="4254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90000"/>
              </a:lnSpc>
              <a:buNone/>
            </a:pPr>
            <a:r>
              <a:rPr lang="en-US" altLang="zh-CN" sz="2400" dirty="0">
                <a:ea typeface="宋体" panose="02010600030101010101" pitchFamily="2" charset="-122"/>
              </a:rPr>
              <a:t>assign a sequence number to each message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xfrm>
            <a:off x="0" y="1519238"/>
            <a:ext cx="6765925" cy="793750"/>
          </a:xfrm>
          <a:ln/>
        </p:spPr>
        <p:txBody>
          <a:bodyPr vert="horz" wrap="square" lIns="91440" tIns="45720" rIns="91440" bIns="45720" anchor="ctr" anchorCtr="0"/>
          <a:lstStyle/>
          <a:p>
            <a:pPr eaLnBrk="1" hangingPunct="1"/>
            <a:r>
              <a:rPr lang="en-US" altLang="zh-CN" sz="3600" dirty="0">
                <a:ea typeface="宋体" panose="02010600030101010101" pitchFamily="2" charset="-122"/>
              </a:rPr>
              <a:t>Nonhierarchical Feedback Control</a:t>
            </a:r>
          </a:p>
        </p:txBody>
      </p:sp>
      <p:sp>
        <p:nvSpPr>
          <p:cNvPr id="57347" name="Rectangle 3"/>
          <p:cNvSpPr>
            <a:spLocks noGrp="1"/>
          </p:cNvSpPr>
          <p:nvPr>
            <p:ph idx="1"/>
          </p:nvPr>
        </p:nvSpPr>
        <p:spPr>
          <a:xfrm>
            <a:off x="200025" y="5645150"/>
            <a:ext cx="8558213" cy="1111250"/>
          </a:xfrm>
          <a:ln/>
        </p:spPr>
        <p:txBody>
          <a:bodyPr vert="horz" wrap="square" lIns="91440" tIns="45720" rIns="91440" bIns="45720" anchor="t" anchorCtr="0"/>
          <a:lstStyle/>
          <a:p>
            <a:pPr marL="0" indent="0" algn="l" eaLnBrk="1" hangingPunct="1">
              <a:buNone/>
            </a:pPr>
            <a:r>
              <a:rPr lang="en-US" altLang="zh-CN" sz="2000" dirty="0">
                <a:ea typeface="宋体" panose="02010600030101010101" pitchFamily="2" charset="-122"/>
              </a:rPr>
              <a:t>Several receivers have scheduled a request for retransmission, but the first retransmission request leads to the suppression of others.（</a:t>
            </a:r>
            <a:r>
              <a:rPr lang="zh-CN" altLang="en-US" sz="2000" dirty="0">
                <a:ea typeface="宋体" panose="02010600030101010101" pitchFamily="2" charset="-122"/>
              </a:rPr>
              <a:t>支持可扩展性，仅当发现收到的信息丢失时才回应，随机延时回应，抑制其他进程同时回应）。</a:t>
            </a:r>
          </a:p>
        </p:txBody>
      </p:sp>
      <p:pic>
        <p:nvPicPr>
          <p:cNvPr id="57348" name="Picture 4"/>
          <p:cNvPicPr>
            <a:picLocks noChangeAspect="1"/>
          </p:cNvPicPr>
          <p:nvPr/>
        </p:nvPicPr>
        <p:blipFill>
          <a:blip r:embed="rId3"/>
          <a:srcRect l="24345" t="45619" r="21593" b="39577"/>
          <a:stretch>
            <a:fillRect/>
          </a:stretch>
        </p:blipFill>
        <p:spPr>
          <a:xfrm>
            <a:off x="200025" y="2471738"/>
            <a:ext cx="8415338" cy="2973387"/>
          </a:xfrm>
          <a:prstGeom prst="rect">
            <a:avLst/>
          </a:prstGeom>
          <a:noFill/>
          <a:ln w="9525">
            <a:noFill/>
          </a:ln>
        </p:spPr>
      </p:pic>
      <p:sp>
        <p:nvSpPr>
          <p:cNvPr id="5" name="Rectangle 2"/>
          <p:cNvSpPr txBox="1">
            <a:spLocks noChangeArrowheads="1"/>
          </p:cNvSpPr>
          <p:nvPr/>
        </p:nvSpPr>
        <p:spPr bwMode="auto">
          <a:xfrm>
            <a:off x="0" y="0"/>
            <a:ext cx="9144000" cy="690563"/>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Scalability in Reliable Multicasting</a:t>
            </a:r>
          </a:p>
        </p:txBody>
      </p:sp>
      <p:sp>
        <p:nvSpPr>
          <p:cNvPr id="6" name="Rectangle 3"/>
          <p:cNvSpPr txBox="1">
            <a:spLocks noChangeArrowheads="1"/>
          </p:cNvSpPr>
          <p:nvPr/>
        </p:nvSpPr>
        <p:spPr bwMode="auto">
          <a:xfrm>
            <a:off x="442913" y="785813"/>
            <a:ext cx="7305675" cy="5746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How to support large number of receivers?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Hierarchical Feedback Control</a:t>
            </a:r>
          </a:p>
        </p:txBody>
      </p:sp>
      <p:sp>
        <p:nvSpPr>
          <p:cNvPr id="59395" name="Rectangle 3"/>
          <p:cNvSpPr>
            <a:spLocks noGrp="1"/>
          </p:cNvSpPr>
          <p:nvPr>
            <p:ph idx="1"/>
          </p:nvPr>
        </p:nvSpPr>
        <p:spPr>
          <a:xfrm>
            <a:off x="381000" y="5367338"/>
            <a:ext cx="8534400" cy="1295400"/>
          </a:xfrm>
          <a:ln/>
        </p:spPr>
        <p:txBody>
          <a:bodyPr vert="horz" wrap="square" lIns="91440" tIns="45720" rIns="91440" bIns="45720" anchor="t" anchorCtr="0"/>
          <a:lstStyle/>
          <a:p>
            <a:pPr marL="609600" indent="-609600" algn="l" eaLnBrk="1" hangingPunct="1">
              <a:lnSpc>
                <a:spcPct val="90000"/>
              </a:lnSpc>
              <a:buNone/>
            </a:pPr>
            <a:r>
              <a:rPr lang="en-US" altLang="zh-CN" sz="2400" dirty="0">
                <a:ea typeface="宋体" panose="02010600030101010101" pitchFamily="2" charset="-122"/>
              </a:rPr>
              <a:t>The essence of hierarchical reliable multicasting.</a:t>
            </a:r>
          </a:p>
          <a:p>
            <a:pPr marL="609600" indent="-609600" algn="l" eaLnBrk="1" hangingPunct="1">
              <a:lnSpc>
                <a:spcPct val="90000"/>
              </a:lnSpc>
              <a:buFontTx/>
              <a:buAutoNum type="alphaLcParenR"/>
            </a:pPr>
            <a:r>
              <a:rPr lang="en-US" altLang="zh-CN" sz="2400" dirty="0">
                <a:ea typeface="宋体" panose="02010600030101010101" pitchFamily="2" charset="-122"/>
              </a:rPr>
              <a:t>Each local coordinator forwards the message to its children.</a:t>
            </a:r>
          </a:p>
          <a:p>
            <a:pPr marL="609600" indent="-609600" algn="l" eaLnBrk="1" hangingPunct="1">
              <a:lnSpc>
                <a:spcPct val="90000"/>
              </a:lnSpc>
              <a:buFontTx/>
              <a:buAutoNum type="alphaLcParenR"/>
            </a:pPr>
            <a:r>
              <a:rPr lang="en-US" altLang="zh-CN" sz="2400" dirty="0">
                <a:ea typeface="宋体" panose="02010600030101010101" pitchFamily="2" charset="-122"/>
              </a:rPr>
              <a:t>A local coordinator handles retransmission requests.</a:t>
            </a:r>
          </a:p>
        </p:txBody>
      </p:sp>
      <p:pic>
        <p:nvPicPr>
          <p:cNvPr id="59396" name="Picture 5"/>
          <p:cNvPicPr>
            <a:picLocks noChangeAspect="1"/>
          </p:cNvPicPr>
          <p:nvPr/>
        </p:nvPicPr>
        <p:blipFill>
          <a:blip r:embed="rId3"/>
          <a:srcRect l="24345" t="43051" r="23276" b="36102"/>
          <a:stretch>
            <a:fillRect/>
          </a:stretch>
        </p:blipFill>
        <p:spPr>
          <a:xfrm>
            <a:off x="903288" y="1152525"/>
            <a:ext cx="7391400" cy="403225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Atomic Multicast</a:t>
            </a:r>
          </a:p>
        </p:txBody>
      </p:sp>
      <p:sp>
        <p:nvSpPr>
          <p:cNvPr id="61443" name="Rectangle 3"/>
          <p:cNvSpPr>
            <a:spLocks noGrp="1"/>
          </p:cNvSpPr>
          <p:nvPr>
            <p:ph idx="1"/>
          </p:nvPr>
        </p:nvSpPr>
        <p:spPr>
          <a:xfrm>
            <a:off x="863600" y="1666875"/>
            <a:ext cx="7658100" cy="3424238"/>
          </a:xfrm>
          <a:ln/>
        </p:spPr>
        <p:txBody>
          <a:bodyPr vert="horz" wrap="square" lIns="91440" tIns="45720" rIns="91440" bIns="45720" anchor="t" anchorCtr="0"/>
          <a:lstStyle/>
          <a:p>
            <a:pPr marL="0" indent="0" algn="l" eaLnBrk="1" hangingPunct="1">
              <a:lnSpc>
                <a:spcPct val="150000"/>
              </a:lnSpc>
              <a:buNone/>
            </a:pPr>
            <a:r>
              <a:rPr lang="en-US" altLang="zh-CN" dirty="0">
                <a:ea typeface="宋体" panose="02010600030101010101" pitchFamily="2" charset="-122"/>
              </a:rPr>
              <a:t>To guarantee that a message is delivered to either all processes or to none at all. </a:t>
            </a:r>
          </a:p>
        </p:txBody>
      </p:sp>
      <p:pic>
        <p:nvPicPr>
          <p:cNvPr id="2" name="图片 1"/>
          <p:cNvPicPr>
            <a:picLocks noChangeAspect="1"/>
          </p:cNvPicPr>
          <p:nvPr/>
        </p:nvPicPr>
        <p:blipFill>
          <a:blip r:embed="rId3"/>
          <a:stretch>
            <a:fillRect/>
          </a:stretch>
        </p:blipFill>
        <p:spPr>
          <a:xfrm>
            <a:off x="1047115" y="3555365"/>
            <a:ext cx="6247130" cy="206121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0" y="0"/>
            <a:ext cx="9144000" cy="855663"/>
          </a:xfrm>
          <a:ln/>
        </p:spPr>
        <p:txBody>
          <a:bodyPr vert="horz" wrap="square" lIns="91440" tIns="45720" rIns="91440" bIns="45720" anchor="ctr" anchorCtr="0"/>
          <a:lstStyle/>
          <a:p>
            <a:pPr eaLnBrk="1" hangingPunct="1"/>
            <a:r>
              <a:rPr lang="en-US" altLang="zh-CN" dirty="0">
                <a:ea typeface="宋体" panose="02010600030101010101" pitchFamily="2" charset="-122"/>
              </a:rPr>
              <a:t>Virtual Synchrony (3)</a:t>
            </a:r>
          </a:p>
        </p:txBody>
      </p:sp>
      <p:sp>
        <p:nvSpPr>
          <p:cNvPr id="63491" name="Rectangle 3"/>
          <p:cNvSpPr>
            <a:spLocks noGrp="1"/>
          </p:cNvSpPr>
          <p:nvPr>
            <p:ph idx="1"/>
          </p:nvPr>
        </p:nvSpPr>
        <p:spPr>
          <a:xfrm>
            <a:off x="0" y="868363"/>
            <a:ext cx="9144000" cy="361950"/>
          </a:xfrm>
          <a:ln/>
        </p:spPr>
        <p:txBody>
          <a:bodyPr vert="horz" wrap="square" lIns="91440" tIns="45720" rIns="91440" bIns="45720" anchor="t" anchorCtr="0"/>
          <a:lstStyle/>
          <a:p>
            <a:pPr eaLnBrk="1" hangingPunct="1">
              <a:lnSpc>
                <a:spcPct val="90000"/>
              </a:lnSpc>
              <a:buNone/>
            </a:pPr>
            <a:r>
              <a:rPr lang="en-US" altLang="zh-CN" sz="2000" dirty="0">
                <a:ea typeface="宋体" panose="02010600030101010101" pitchFamily="2" charset="-122"/>
              </a:rPr>
              <a:t>The principle of virtual synchronous multicast.</a:t>
            </a:r>
            <a:r>
              <a:rPr lang="zh-CN" altLang="en-US" sz="2000" dirty="0">
                <a:ea typeface="宋体" panose="02010600030101010101" pitchFamily="2" charset="-122"/>
              </a:rPr>
              <a:t>（</a:t>
            </a:r>
            <a:r>
              <a:rPr lang="en-US" altLang="zh-CN" sz="2000" dirty="0">
                <a:ea typeface="宋体" panose="02010600030101010101" pitchFamily="2" charset="-122"/>
              </a:rPr>
              <a:t>G</a:t>
            </a:r>
            <a:r>
              <a:rPr lang="zh-CN" altLang="en-US" sz="2000" dirty="0">
                <a:ea typeface="宋体" panose="02010600030101010101" pitchFamily="2" charset="-122"/>
              </a:rPr>
              <a:t>称为组视图</a:t>
            </a:r>
            <a:r>
              <a:rPr lang="en-US" altLang="zh-CN" sz="2000" dirty="0">
                <a:ea typeface="宋体" panose="02010600030101010101" pitchFamily="2" charset="-122"/>
              </a:rPr>
              <a:t>, p3</a:t>
            </a:r>
            <a:r>
              <a:rPr lang="zh-CN" altLang="en-US" sz="2000" dirty="0">
                <a:ea typeface="宋体" panose="02010600030101010101" pitchFamily="2" charset="-122"/>
              </a:rPr>
              <a:t>组播未完成时崩溃）</a:t>
            </a:r>
          </a:p>
        </p:txBody>
      </p:sp>
      <p:pic>
        <p:nvPicPr>
          <p:cNvPr id="63492" name="Picture 5"/>
          <p:cNvPicPr>
            <a:picLocks noChangeAspect="1"/>
          </p:cNvPicPr>
          <p:nvPr/>
        </p:nvPicPr>
        <p:blipFill>
          <a:blip r:embed="rId3"/>
          <a:srcRect l="21593" t="43958" r="20096" b="38368"/>
          <a:stretch>
            <a:fillRect/>
          </a:stretch>
        </p:blipFill>
        <p:spPr>
          <a:xfrm>
            <a:off x="476250" y="1243013"/>
            <a:ext cx="7786688" cy="2655887"/>
          </a:xfrm>
          <a:prstGeom prst="rect">
            <a:avLst/>
          </a:prstGeom>
          <a:noFill/>
          <a:ln w="9525">
            <a:noFill/>
          </a:ln>
        </p:spPr>
      </p:pic>
      <p:sp>
        <p:nvSpPr>
          <p:cNvPr id="5" name="Rectangle 3"/>
          <p:cNvSpPr txBox="1">
            <a:spLocks noChangeArrowheads="1"/>
          </p:cNvSpPr>
          <p:nvPr/>
        </p:nvSpPr>
        <p:spPr bwMode="auto">
          <a:xfrm>
            <a:off x="71438" y="4089400"/>
            <a:ext cx="9001125" cy="25939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称为组视图，当组视图发生变化时通过发送</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vc</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(View Change)</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告诉其它成员；</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原子组播</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中的所有进程都先收到报文</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，然后收到报文</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vc</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，或者是所有的进程都没有收到报文</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      </a:t>
            </a: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虚同步组播</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不保证接收者收到的报文顺序，只保证在发送</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的进程失效时，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中其它进程要么都收到</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要么都忽略</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0" y="0"/>
            <a:ext cx="9144000" cy="828675"/>
          </a:xfrm>
          <a:ln/>
        </p:spPr>
        <p:txBody>
          <a:bodyPr vert="horz" wrap="square" lIns="91440" tIns="45720" rIns="91440" bIns="45720" anchor="ctr" anchorCtr="0"/>
          <a:lstStyle/>
          <a:p>
            <a:pPr eaLnBrk="1" hangingPunct="1"/>
            <a:r>
              <a:rPr lang="en-US" altLang="zh-CN" dirty="0">
                <a:ea typeface="宋体" panose="02010600030101010101" pitchFamily="2" charset="-122"/>
              </a:rPr>
              <a:t>Virtual Synchrony (2)</a:t>
            </a:r>
          </a:p>
        </p:txBody>
      </p:sp>
      <p:sp>
        <p:nvSpPr>
          <p:cNvPr id="65539" name="Rectangle 3"/>
          <p:cNvSpPr>
            <a:spLocks noGrp="1"/>
          </p:cNvSpPr>
          <p:nvPr>
            <p:ph idx="1"/>
          </p:nvPr>
        </p:nvSpPr>
        <p:spPr>
          <a:xfrm>
            <a:off x="176213" y="828675"/>
            <a:ext cx="8791575" cy="1865313"/>
          </a:xfrm>
          <a:ln/>
        </p:spPr>
        <p:txBody>
          <a:bodyPr vert="horz" wrap="square" lIns="91440" tIns="45720" rIns="91440" bIns="45720" anchor="t" anchorCtr="0"/>
          <a:lstStyle/>
          <a:p>
            <a:pPr algn="l" eaLnBrk="1" hangingPunct="1">
              <a:lnSpc>
                <a:spcPct val="150000"/>
              </a:lnSpc>
              <a:buNone/>
            </a:pPr>
            <a:r>
              <a:rPr lang="en-US" altLang="zh-CN" sz="2000" dirty="0">
                <a:ea typeface="宋体" panose="02010600030101010101" pitchFamily="2" charset="-122"/>
              </a:rPr>
              <a:t>     </a:t>
            </a:r>
            <a:r>
              <a:rPr lang="zh-CN" altLang="zh-CN" sz="2000" dirty="0">
                <a:ea typeface="宋体" panose="02010600030101010101" pitchFamily="2" charset="-122"/>
              </a:rPr>
              <a:t>虚同步</a:t>
            </a:r>
            <a:r>
              <a:rPr lang="en-US" altLang="zh-CN" sz="2000" dirty="0">
                <a:ea typeface="宋体" panose="02010600030101010101" pitchFamily="2" charset="-122"/>
              </a:rPr>
              <a:t>(virtual synchrony)</a:t>
            </a:r>
            <a:r>
              <a:rPr lang="zh-CN" altLang="zh-CN" sz="2000" dirty="0">
                <a:ea typeface="宋体" panose="02010600030101010101" pitchFamily="2" charset="-122"/>
              </a:rPr>
              <a:t> </a:t>
            </a:r>
            <a:r>
              <a:rPr lang="zh-CN" altLang="en-US" sz="2000" dirty="0">
                <a:ea typeface="宋体" panose="02010600030101010101" pitchFamily="2" charset="-122"/>
              </a:rPr>
              <a:t>是</a:t>
            </a:r>
            <a:r>
              <a:rPr lang="zh-CN" altLang="zh-CN" sz="2000" dirty="0">
                <a:ea typeface="宋体" panose="02010600030101010101" pitchFamily="2" charset="-122"/>
              </a:rPr>
              <a:t>康奈尔大学</a:t>
            </a:r>
            <a:r>
              <a:rPr lang="en-US" altLang="zh-CN" sz="2000" dirty="0">
                <a:ea typeface="宋体" panose="02010600030101010101" pitchFamily="2" charset="-122"/>
              </a:rPr>
              <a:t>Kenneth Birman</a:t>
            </a:r>
            <a:r>
              <a:rPr lang="zh-CN" altLang="zh-CN" sz="2000" dirty="0">
                <a:ea typeface="宋体" panose="02010600030101010101" pitchFamily="2" charset="-122"/>
              </a:rPr>
              <a:t>等提出</a:t>
            </a:r>
            <a:r>
              <a:rPr lang="zh-CN" altLang="en-US" sz="2000" dirty="0">
                <a:ea typeface="宋体" panose="02010600030101010101" pitchFamily="2" charset="-122"/>
              </a:rPr>
              <a:t>的</a:t>
            </a:r>
            <a:r>
              <a:rPr lang="zh-CN" altLang="zh-CN" sz="2000" dirty="0">
                <a:ea typeface="宋体" panose="02010600030101010101" pitchFamily="2" charset="-122"/>
              </a:rPr>
              <a:t>一种分布式数据复制模型</a:t>
            </a:r>
            <a:r>
              <a:rPr lang="en-US" altLang="zh-CN" sz="2000" dirty="0">
                <a:ea typeface="宋体" panose="02010600030101010101" pitchFamily="2" charset="-122"/>
              </a:rPr>
              <a:t>(</a:t>
            </a:r>
            <a:r>
              <a:rPr lang="zh-CN" altLang="en-US" sz="2000" dirty="0">
                <a:ea typeface="宋体" panose="02010600030101010101" pitchFamily="2" charset="-122"/>
              </a:rPr>
              <a:t>最终一致性</a:t>
            </a:r>
            <a:r>
              <a:rPr lang="en-US" altLang="zh-CN" sz="2000" dirty="0">
                <a:ea typeface="宋体" panose="02010600030101010101" pitchFamily="2" charset="-122"/>
              </a:rPr>
              <a:t>)</a:t>
            </a:r>
            <a:r>
              <a:rPr lang="zh-CN" altLang="en-US" sz="2000" dirty="0">
                <a:ea typeface="宋体" panose="02010600030101010101" pitchFamily="2" charset="-122"/>
              </a:rPr>
              <a:t> 。真实同步系统执行是严格按照顺序的，执行完一步再执行下一步。虚同步系统中，可能会为了提高性能而使顺序发生变化，</a:t>
            </a:r>
            <a:r>
              <a:rPr lang="zh-CN" altLang="en-US" sz="2000" dirty="0">
                <a:solidFill>
                  <a:srgbClr val="FF0000"/>
                </a:solidFill>
                <a:ea typeface="宋体" panose="02010600030101010101" pitchFamily="2" charset="-122"/>
              </a:rPr>
              <a:t>但保证应用程序“看上去”同步即可</a:t>
            </a:r>
            <a:r>
              <a:rPr lang="zh-CN" altLang="en-US" sz="2000" dirty="0">
                <a:ea typeface="宋体" panose="02010600030101010101" pitchFamily="2" charset="-122"/>
              </a:rPr>
              <a:t>。</a:t>
            </a:r>
            <a:endParaRPr lang="en-US" altLang="zh-CN" sz="2000" dirty="0">
              <a:ea typeface="宋体" panose="02010600030101010101" pitchFamily="2" charset="-122"/>
            </a:endParaRPr>
          </a:p>
        </p:txBody>
      </p:sp>
      <p:pic>
        <p:nvPicPr>
          <p:cNvPr id="65540" name="图片 3" descr="虚同步图.JPG"/>
          <p:cNvPicPr>
            <a:picLocks noChangeAspect="1"/>
          </p:cNvPicPr>
          <p:nvPr/>
        </p:nvPicPr>
        <p:blipFill>
          <a:blip r:embed="rId3"/>
          <a:stretch>
            <a:fillRect/>
          </a:stretch>
        </p:blipFill>
        <p:spPr>
          <a:xfrm>
            <a:off x="247333" y="2769870"/>
            <a:ext cx="8896350" cy="2633663"/>
          </a:xfrm>
          <a:prstGeom prst="rect">
            <a:avLst/>
          </a:prstGeom>
          <a:noFill/>
          <a:ln w="9525">
            <a:noFill/>
          </a:ln>
        </p:spPr>
      </p:pic>
      <p:pic>
        <p:nvPicPr>
          <p:cNvPr id="2" name="图片 1"/>
          <p:cNvPicPr>
            <a:picLocks noChangeAspect="1"/>
          </p:cNvPicPr>
          <p:nvPr/>
        </p:nvPicPr>
        <p:blipFill>
          <a:blip r:embed="rId4"/>
          <a:stretch>
            <a:fillRect/>
          </a:stretch>
        </p:blipFill>
        <p:spPr>
          <a:xfrm>
            <a:off x="552450" y="5403850"/>
            <a:ext cx="6339205" cy="965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Virtual Synchrony (4)</a:t>
            </a:r>
          </a:p>
        </p:txBody>
      </p:sp>
      <p:sp>
        <p:nvSpPr>
          <p:cNvPr id="67587" name="Rectangle 3"/>
          <p:cNvSpPr>
            <a:spLocks noGrp="1"/>
          </p:cNvSpPr>
          <p:nvPr>
            <p:ph idx="1"/>
          </p:nvPr>
        </p:nvSpPr>
        <p:spPr>
          <a:xfrm>
            <a:off x="534988" y="1255713"/>
            <a:ext cx="8258175" cy="3868737"/>
          </a:xfrm>
          <a:ln/>
        </p:spPr>
        <p:txBody>
          <a:bodyPr vert="horz" wrap="square" lIns="91440" tIns="45720" rIns="91440" bIns="45720" anchor="t" anchorCtr="0"/>
          <a:lstStyle/>
          <a:p>
            <a:pPr algn="l" eaLnBrk="1" hangingPunct="1">
              <a:lnSpc>
                <a:spcPct val="150000"/>
              </a:lnSpc>
              <a:buNone/>
            </a:pPr>
            <a:r>
              <a:rPr lang="zh-CN" altLang="en-US" sz="2800" dirty="0">
                <a:ea typeface="宋体" panose="02010600030101010101" pitchFamily="2" charset="-122"/>
              </a:rPr>
              <a:t>组播文本的顺序</a:t>
            </a:r>
            <a:r>
              <a:rPr lang="en-US" altLang="zh-CN" sz="2800" dirty="0">
                <a:ea typeface="宋体" panose="02010600030101010101" pitchFamily="2" charset="-122"/>
              </a:rPr>
              <a:t>: </a:t>
            </a:r>
          </a:p>
          <a:p>
            <a:pPr algn="l" eaLnBrk="1" hangingPunct="1">
              <a:lnSpc>
                <a:spcPct val="150000"/>
              </a:lnSpc>
              <a:buNone/>
            </a:pPr>
            <a:r>
              <a:rPr lang="en-US" altLang="zh-CN" sz="2800" dirty="0">
                <a:ea typeface="宋体" panose="02010600030101010101" pitchFamily="2" charset="-122"/>
              </a:rPr>
              <a:t>    1. Unordered multicasts</a:t>
            </a:r>
          </a:p>
          <a:p>
            <a:pPr algn="l" eaLnBrk="1" hangingPunct="1">
              <a:lnSpc>
                <a:spcPct val="150000"/>
              </a:lnSpc>
              <a:buNone/>
            </a:pPr>
            <a:r>
              <a:rPr lang="en-US" altLang="zh-CN" sz="2800" dirty="0">
                <a:ea typeface="宋体" panose="02010600030101010101" pitchFamily="2" charset="-122"/>
              </a:rPr>
              <a:t>    2. FIFO-ordered multicasts</a:t>
            </a:r>
          </a:p>
          <a:p>
            <a:pPr algn="l" eaLnBrk="1" hangingPunct="1">
              <a:lnSpc>
                <a:spcPct val="150000"/>
              </a:lnSpc>
              <a:buNone/>
            </a:pPr>
            <a:r>
              <a:rPr lang="en-US" altLang="zh-CN" sz="2800" dirty="0">
                <a:ea typeface="宋体" panose="02010600030101010101" pitchFamily="2" charset="-122"/>
              </a:rPr>
              <a:t>    3. Causally-ordered multicasts</a:t>
            </a:r>
          </a:p>
          <a:p>
            <a:pPr algn="l" eaLnBrk="1" hangingPunct="1">
              <a:lnSpc>
                <a:spcPct val="150000"/>
              </a:lnSpc>
              <a:buNone/>
            </a:pPr>
            <a:r>
              <a:rPr lang="en-US" altLang="zh-CN" sz="2800" dirty="0">
                <a:ea typeface="宋体" panose="02010600030101010101" pitchFamily="2" charset="-122"/>
              </a:rPr>
              <a:t>    4. Totally-ordered multicasts</a:t>
            </a:r>
          </a:p>
        </p:txBody>
      </p:sp>
      <p:pic>
        <p:nvPicPr>
          <p:cNvPr id="2" name="图片 1"/>
          <p:cNvPicPr>
            <a:picLocks noChangeAspect="1"/>
          </p:cNvPicPr>
          <p:nvPr/>
        </p:nvPicPr>
        <p:blipFill>
          <a:blip r:embed="rId2"/>
          <a:stretch>
            <a:fillRect/>
          </a:stretch>
        </p:blipFill>
        <p:spPr>
          <a:xfrm>
            <a:off x="873125" y="4918075"/>
            <a:ext cx="5194935" cy="7924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Message Ordering (1)</a:t>
            </a:r>
          </a:p>
        </p:txBody>
      </p:sp>
      <p:sp>
        <p:nvSpPr>
          <p:cNvPr id="68611" name="Rectangle 3"/>
          <p:cNvSpPr>
            <a:spLocks noGrp="1"/>
          </p:cNvSpPr>
          <p:nvPr>
            <p:ph idx="1"/>
          </p:nvPr>
        </p:nvSpPr>
        <p:spPr>
          <a:xfrm>
            <a:off x="473075" y="4754563"/>
            <a:ext cx="8299450" cy="1389062"/>
          </a:xfrm>
          <a:ln/>
        </p:spPr>
        <p:txBody>
          <a:bodyPr vert="horz" wrap="square" lIns="91440" tIns="45720" rIns="91440" bIns="45720" anchor="t" anchorCtr="0"/>
          <a:lstStyle/>
          <a:p>
            <a:pPr marL="0" indent="0" algn="l" eaLnBrk="1" hangingPunct="1">
              <a:buNone/>
            </a:pPr>
            <a:r>
              <a:rPr lang="en-US" altLang="zh-CN" sz="2800" dirty="0">
                <a:ea typeface="宋体" panose="02010600030101010101" pitchFamily="2" charset="-122"/>
              </a:rPr>
              <a:t>Three communicating processes in the same group.  The ordering of events per process is shown along the vertical axis.（</a:t>
            </a:r>
            <a:r>
              <a:rPr lang="en-US" altLang="zh-CN" sz="2800" dirty="0">
                <a:solidFill>
                  <a:srgbClr val="FF0000"/>
                </a:solidFill>
                <a:ea typeface="宋体" panose="02010600030101010101" pitchFamily="2" charset="-122"/>
              </a:rPr>
              <a:t>unordered multicast</a:t>
            </a:r>
            <a:r>
              <a:rPr lang="en-US" altLang="zh-CN" sz="2800" dirty="0">
                <a:ea typeface="宋体" panose="02010600030101010101" pitchFamily="2" charset="-122"/>
              </a:rPr>
              <a:t>）</a:t>
            </a:r>
          </a:p>
        </p:txBody>
      </p:sp>
      <p:graphicFrame>
        <p:nvGraphicFramePr>
          <p:cNvPr id="16432" name="Group 48"/>
          <p:cNvGraphicFramePr>
            <a:graphicFrameLocks noGrp="1"/>
          </p:cNvGraphicFramePr>
          <p:nvPr/>
        </p:nvGraphicFramePr>
        <p:xfrm>
          <a:off x="574675" y="1920875"/>
          <a:ext cx="8077200" cy="2392363"/>
        </p:xfrm>
        <a:graphic>
          <a:graphicData uri="http://schemas.openxmlformats.org/drawingml/2006/table">
            <a:tbl>
              <a:tblPr/>
              <a:tblGrid>
                <a:gridCol w="2692400">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gridCol w="2692400">
                  <a:extLst>
                    <a:ext uri="{9D8B030D-6E8A-4147-A177-3AD203B41FA5}">
                      <a16:colId xmlns:a16="http://schemas.microsoft.com/office/drawing/2014/main" val="20002"/>
                    </a:ext>
                  </a:extLst>
                </a:gridCol>
              </a:tblGrid>
              <a:tr h="79851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Process P1</a:t>
                      </a:r>
                    </a:p>
                  </a:txBody>
                  <a:tcPr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Process P2</a:t>
                      </a: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Process P3</a:t>
                      </a:r>
                    </a:p>
                  </a:txBody>
                  <a:tcPr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53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sends m1</a:t>
                      </a:r>
                    </a:p>
                  </a:txBody>
                  <a:tcPr anchor="ctr"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m1</a:t>
                      </a:r>
                    </a:p>
                  </a:txBody>
                  <a:tcPr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m2</a:t>
                      </a:r>
                    </a:p>
                  </a:txBody>
                  <a:tcPr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9851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sends m2</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receives m2</a:t>
                      </a: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receives m1</a:t>
                      </a: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Message Ordering (2)</a:t>
            </a:r>
          </a:p>
        </p:txBody>
      </p:sp>
      <p:sp>
        <p:nvSpPr>
          <p:cNvPr id="69635" name="Rectangle 3"/>
          <p:cNvSpPr>
            <a:spLocks noGrp="1"/>
          </p:cNvSpPr>
          <p:nvPr>
            <p:ph idx="1"/>
          </p:nvPr>
        </p:nvSpPr>
        <p:spPr>
          <a:xfrm>
            <a:off x="346075" y="5189538"/>
            <a:ext cx="8305800" cy="1458912"/>
          </a:xfrm>
          <a:ln/>
        </p:spPr>
        <p:txBody>
          <a:bodyPr vert="horz" wrap="square" lIns="91440" tIns="45720" rIns="91440" bIns="45720" anchor="t" anchorCtr="0"/>
          <a:lstStyle/>
          <a:p>
            <a:pPr eaLnBrk="1" hangingPunct="1">
              <a:lnSpc>
                <a:spcPct val="120000"/>
              </a:lnSpc>
              <a:buNone/>
            </a:pPr>
            <a:r>
              <a:rPr lang="en-US" altLang="zh-CN" sz="2400" dirty="0">
                <a:ea typeface="宋体" panose="02010600030101010101" pitchFamily="2" charset="-122"/>
              </a:rPr>
              <a:t>Four processes in the same group with two different senders, and a possible delivery order of messages under </a:t>
            </a:r>
            <a:r>
              <a:rPr lang="en-US" altLang="zh-CN" sz="2400" dirty="0">
                <a:solidFill>
                  <a:srgbClr val="FF0000"/>
                </a:solidFill>
                <a:ea typeface="宋体" panose="02010600030101010101" pitchFamily="2" charset="-122"/>
              </a:rPr>
              <a:t>FIFO-ordered multicasting</a:t>
            </a:r>
          </a:p>
        </p:txBody>
      </p:sp>
      <p:graphicFrame>
        <p:nvGraphicFramePr>
          <p:cNvPr id="17503" name="Group 95"/>
          <p:cNvGraphicFramePr>
            <a:graphicFrameLocks noGrp="1"/>
          </p:cNvGraphicFramePr>
          <p:nvPr/>
        </p:nvGraphicFramePr>
        <p:xfrm>
          <a:off x="255588" y="2022475"/>
          <a:ext cx="8637588" cy="2708275"/>
        </p:xfrm>
        <a:graphic>
          <a:graphicData uri="http://schemas.openxmlformats.org/drawingml/2006/table">
            <a:tbl>
              <a:tblPr/>
              <a:tblGrid>
                <a:gridCol w="2220912">
                  <a:extLst>
                    <a:ext uri="{9D8B030D-6E8A-4147-A177-3AD203B41FA5}">
                      <a16:colId xmlns:a16="http://schemas.microsoft.com/office/drawing/2014/main" val="20000"/>
                    </a:ext>
                  </a:extLst>
                </a:gridCol>
                <a:gridCol w="2220913">
                  <a:extLst>
                    <a:ext uri="{9D8B030D-6E8A-4147-A177-3AD203B41FA5}">
                      <a16:colId xmlns:a16="http://schemas.microsoft.com/office/drawing/2014/main" val="20001"/>
                    </a:ext>
                  </a:extLst>
                </a:gridCol>
                <a:gridCol w="2220912">
                  <a:extLst>
                    <a:ext uri="{9D8B030D-6E8A-4147-A177-3AD203B41FA5}">
                      <a16:colId xmlns:a16="http://schemas.microsoft.com/office/drawing/2014/main" val="20002"/>
                    </a:ext>
                  </a:extLst>
                </a:gridCol>
                <a:gridCol w="1974850">
                  <a:extLst>
                    <a:ext uri="{9D8B030D-6E8A-4147-A177-3AD203B41FA5}">
                      <a16:colId xmlns:a16="http://schemas.microsoft.com/office/drawing/2014/main" val="20003"/>
                    </a:ext>
                  </a:extLst>
                </a:gridCol>
              </a:tblGrid>
              <a:tr h="5413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Process P1</a:t>
                      </a:r>
                    </a:p>
                  </a:txBody>
                  <a:tcPr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Process P2</a:t>
                      </a: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Process P3</a:t>
                      </a: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Process P4</a:t>
                      </a:r>
                    </a:p>
                  </a:txBody>
                  <a:tcPr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sends m1</a:t>
                      </a:r>
                    </a:p>
                  </a:txBody>
                  <a:tcPr anchor="ctr"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m1</a:t>
                      </a:r>
                    </a:p>
                  </a:txBody>
                  <a:tcPr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m3</a:t>
                      </a:r>
                    </a:p>
                  </a:txBody>
                  <a:tcPr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sends m3</a:t>
                      </a:r>
                    </a:p>
                  </a:txBody>
                  <a:tcPr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429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sends m2</a:t>
                      </a:r>
                    </a:p>
                  </a:txBody>
                  <a:tcPr anchor="ct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m3</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m1</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sends m4</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413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m2</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m2</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413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m4</a:t>
                      </a: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receives m4</a:t>
                      </a: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Message Ordering (3)</a:t>
            </a:r>
          </a:p>
        </p:txBody>
      </p:sp>
      <p:sp>
        <p:nvSpPr>
          <p:cNvPr id="70659" name="Rectangle 3"/>
          <p:cNvSpPr>
            <a:spLocks noGrp="1"/>
          </p:cNvSpPr>
          <p:nvPr>
            <p:ph idx="1"/>
          </p:nvPr>
        </p:nvSpPr>
        <p:spPr>
          <a:xfrm>
            <a:off x="357188" y="5595938"/>
            <a:ext cx="8429625" cy="982662"/>
          </a:xfrm>
          <a:ln/>
        </p:spPr>
        <p:txBody>
          <a:bodyPr vert="horz" wrap="square" lIns="91440" tIns="45720" rIns="91440" bIns="45720" anchor="t" anchorCtr="0"/>
          <a:lstStyle/>
          <a:p>
            <a:pPr eaLnBrk="1" hangingPunct="1">
              <a:lnSpc>
                <a:spcPct val="110000"/>
              </a:lnSpc>
              <a:buNone/>
            </a:pPr>
            <a:r>
              <a:rPr lang="en-US" altLang="zh-CN" sz="2800" dirty="0">
                <a:ea typeface="宋体" panose="02010600030101010101" pitchFamily="2" charset="-122"/>
              </a:rPr>
              <a:t>Six different versions of virtually synchronous reliable multicasting.</a:t>
            </a:r>
          </a:p>
        </p:txBody>
      </p:sp>
      <p:graphicFrame>
        <p:nvGraphicFramePr>
          <p:cNvPr id="18477" name="Group 45"/>
          <p:cNvGraphicFramePr>
            <a:graphicFrameLocks noGrp="1"/>
          </p:cNvGraphicFramePr>
          <p:nvPr/>
        </p:nvGraphicFramePr>
        <p:xfrm>
          <a:off x="357188" y="1143000"/>
          <a:ext cx="8429625" cy="4189413"/>
        </p:xfrm>
        <a:graphic>
          <a:graphicData uri="http://schemas.openxmlformats.org/drawingml/2006/table">
            <a:tbl>
              <a:tblPr/>
              <a:tblGrid>
                <a:gridCol w="2716213">
                  <a:extLst>
                    <a:ext uri="{9D8B030D-6E8A-4147-A177-3AD203B41FA5}">
                      <a16:colId xmlns:a16="http://schemas.microsoft.com/office/drawing/2014/main" val="20000"/>
                    </a:ext>
                  </a:extLst>
                </a:gridCol>
                <a:gridCol w="2903537">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tblGrid>
              <a:tr h="58470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Multicast</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Basic Message Ordering</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Total-ordered Delivery?</a:t>
                      </a: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983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Reliable multicast</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None</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No</a:t>
                      </a: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1732">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FIFO multicast</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FIFO-ordered delivery</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No</a:t>
                      </a: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983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Causal multicast</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Causal-ordered delivery</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No</a:t>
                      </a: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1732">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Atomic multicast</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None</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Yes</a:t>
                      </a: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983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FIFO atomic multicast</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FIFO-ordered delivery</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Yes</a:t>
                      </a: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1732">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Causal atomic multicast</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Causal-ordered delivery</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Yes</a:t>
                      </a: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xfrm>
            <a:off x="0" y="0"/>
            <a:ext cx="9144000" cy="1055688"/>
          </a:xfrm>
          <a:ln/>
        </p:spPr>
        <p:txBody>
          <a:bodyPr vert="horz" wrap="square" lIns="91440" tIns="45720" rIns="91440" bIns="45720" anchor="ctr" anchorCtr="0"/>
          <a:lstStyle/>
          <a:p>
            <a:pPr eaLnBrk="1" hangingPunct="1"/>
            <a:r>
              <a:rPr lang="en-US" altLang="zh-CN" sz="4000" dirty="0">
                <a:ea typeface="宋体" panose="02010600030101010101" pitchFamily="2" charset="-122"/>
              </a:rPr>
              <a:t>Implementing Virtual Synchrony Multicasts (1)</a:t>
            </a:r>
          </a:p>
        </p:txBody>
      </p:sp>
      <p:sp>
        <p:nvSpPr>
          <p:cNvPr id="72707" name="Rectangle 3"/>
          <p:cNvSpPr>
            <a:spLocks noGrp="1"/>
          </p:cNvSpPr>
          <p:nvPr>
            <p:ph idx="1"/>
          </p:nvPr>
        </p:nvSpPr>
        <p:spPr>
          <a:xfrm>
            <a:off x="534988" y="1409700"/>
            <a:ext cx="8070850" cy="2003425"/>
          </a:xfrm>
          <a:ln/>
        </p:spPr>
        <p:txBody>
          <a:bodyPr vert="horz" wrap="square" lIns="91440" tIns="45720" rIns="91440" bIns="45720" anchor="t" anchorCtr="0"/>
          <a:lstStyle/>
          <a:p>
            <a:pPr marL="0" indent="0" algn="l" eaLnBrk="1" hangingPunct="1">
              <a:lnSpc>
                <a:spcPct val="150000"/>
              </a:lnSpc>
              <a:buFont typeface="Wingdings" panose="05000000000000000000" pitchFamily="2" charset="2"/>
              <a:buChar char="u"/>
            </a:pPr>
            <a:r>
              <a:rPr lang="en-US" altLang="zh-CN" sz="2800" dirty="0">
                <a:ea typeface="宋体" panose="02010600030101010101" pitchFamily="2" charset="-122"/>
              </a:rPr>
              <a:t>How to guarantee that all messages sent to view </a:t>
            </a:r>
            <a:r>
              <a:rPr lang="en-US" altLang="zh-CN" sz="2800" i="1" dirty="0">
                <a:ea typeface="宋体" panose="02010600030101010101" pitchFamily="2" charset="-122"/>
              </a:rPr>
              <a:t>G</a:t>
            </a:r>
            <a:r>
              <a:rPr lang="en-US" altLang="zh-CN" sz="2800" dirty="0">
                <a:ea typeface="宋体" panose="02010600030101010101" pitchFamily="2" charset="-122"/>
              </a:rPr>
              <a:t> are delivered to all nonfaulty processes in </a:t>
            </a:r>
            <a:r>
              <a:rPr lang="en-US" altLang="zh-CN" sz="2800" i="1" dirty="0">
                <a:ea typeface="宋体" panose="02010600030101010101" pitchFamily="2" charset="-122"/>
              </a:rPr>
              <a:t>G</a:t>
            </a:r>
            <a:r>
              <a:rPr lang="en-US" altLang="zh-CN" sz="2800" dirty="0">
                <a:ea typeface="宋体" panose="02010600030101010101" pitchFamily="2" charset="-122"/>
              </a:rPr>
              <a:t> before the next group membership change takes place?</a:t>
            </a:r>
          </a:p>
        </p:txBody>
      </p:sp>
      <p:sp>
        <p:nvSpPr>
          <p:cNvPr id="4" name="矩形 3"/>
          <p:cNvSpPr/>
          <p:nvPr/>
        </p:nvSpPr>
        <p:spPr>
          <a:xfrm>
            <a:off x="615950" y="3675063"/>
            <a:ext cx="7932738" cy="26781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Font typeface="Wingdings" panose="05000000000000000000" pitchFamily="2" charset="2"/>
              <a:buChar char="u"/>
            </a:pPr>
            <a:r>
              <a:rPr lang="en-US" altLang="zh-CN" sz="2800" dirty="0">
                <a:ea typeface="宋体" panose="02010600030101010101" pitchFamily="2" charset="-122"/>
              </a:rPr>
              <a:t>The solution------to let every process in </a:t>
            </a:r>
            <a:r>
              <a:rPr lang="en-US" altLang="zh-CN" sz="2800" i="1" dirty="0">
                <a:ea typeface="宋体" panose="02010600030101010101" pitchFamily="2" charset="-122"/>
              </a:rPr>
              <a:t>G</a:t>
            </a:r>
            <a:r>
              <a:rPr lang="en-US" altLang="zh-CN" sz="2800" dirty="0">
                <a:ea typeface="宋体" panose="02010600030101010101" pitchFamily="2" charset="-122"/>
              </a:rPr>
              <a:t> keep </a:t>
            </a:r>
            <a:r>
              <a:rPr lang="en-US" altLang="zh-CN" sz="2800" i="1" dirty="0">
                <a:ea typeface="宋体" panose="02010600030101010101" pitchFamily="2" charset="-122"/>
              </a:rPr>
              <a:t>m</a:t>
            </a:r>
            <a:r>
              <a:rPr lang="en-US" altLang="zh-CN" sz="2800" dirty="0">
                <a:ea typeface="宋体" panose="02010600030101010101" pitchFamily="2" charset="-122"/>
              </a:rPr>
              <a:t> until it knows for sure that all members in </a:t>
            </a:r>
            <a:r>
              <a:rPr lang="en-US" altLang="zh-CN" sz="2800" i="1" dirty="0">
                <a:ea typeface="宋体" panose="02010600030101010101" pitchFamily="2" charset="-122"/>
              </a:rPr>
              <a:t>G</a:t>
            </a:r>
            <a:r>
              <a:rPr lang="en-US" altLang="zh-CN" sz="2800" dirty="0">
                <a:ea typeface="宋体" panose="02010600030101010101" pitchFamily="2" charset="-122"/>
              </a:rPr>
              <a:t> have received it. If </a:t>
            </a:r>
            <a:r>
              <a:rPr lang="en-US" altLang="zh-CN" sz="2800" i="1" dirty="0">
                <a:ea typeface="宋体" panose="02010600030101010101" pitchFamily="2" charset="-122"/>
              </a:rPr>
              <a:t>m</a:t>
            </a:r>
            <a:r>
              <a:rPr lang="en-US" altLang="zh-CN" sz="2800" dirty="0">
                <a:ea typeface="宋体" panose="02010600030101010101" pitchFamily="2" charset="-122"/>
              </a:rPr>
              <a:t> has been received by all members in </a:t>
            </a:r>
            <a:r>
              <a:rPr lang="en-US" altLang="zh-CN" sz="2800" i="1" dirty="0">
                <a:ea typeface="宋体" panose="02010600030101010101" pitchFamily="2" charset="-122"/>
              </a:rPr>
              <a:t>G</a:t>
            </a:r>
            <a:r>
              <a:rPr lang="en-US" altLang="zh-CN" sz="2800" dirty="0">
                <a:ea typeface="宋体" panose="02010600030101010101" pitchFamily="2" charset="-122"/>
              </a:rPr>
              <a:t>, </a:t>
            </a:r>
            <a:r>
              <a:rPr lang="en-US" altLang="zh-CN" sz="2800" i="1" dirty="0">
                <a:ea typeface="宋体" panose="02010600030101010101" pitchFamily="2" charset="-122"/>
              </a:rPr>
              <a:t>m</a:t>
            </a:r>
            <a:r>
              <a:rPr lang="en-US" altLang="zh-CN" sz="2800" dirty="0">
                <a:ea typeface="宋体" panose="02010600030101010101" pitchFamily="2" charset="-122"/>
              </a:rPr>
              <a:t> is said to be stable.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p:cNvPicPr>
            <a:picLocks noChangeAspect="1"/>
          </p:cNvPicPr>
          <p:nvPr/>
        </p:nvPicPr>
        <p:blipFill>
          <a:blip r:embed="rId2"/>
          <a:srcRect l="28435" t="43806" r="24345" b="37915"/>
          <a:stretch>
            <a:fillRect/>
          </a:stretch>
        </p:blipFill>
        <p:spPr>
          <a:xfrm>
            <a:off x="1127125" y="963613"/>
            <a:ext cx="7921625" cy="3765550"/>
          </a:xfrm>
          <a:prstGeom prst="rect">
            <a:avLst/>
          </a:prstGeom>
          <a:noFill/>
          <a:ln w="9525">
            <a:noFill/>
          </a:ln>
        </p:spPr>
      </p:pic>
      <p:sp>
        <p:nvSpPr>
          <p:cNvPr id="74755" name="Rectangle 2"/>
          <p:cNvSpPr>
            <a:spLocks noGrp="1"/>
          </p:cNvSpPr>
          <p:nvPr>
            <p:ph type="title"/>
          </p:nvPr>
        </p:nvSpPr>
        <p:spPr>
          <a:xfrm>
            <a:off x="0" y="0"/>
            <a:ext cx="9144000" cy="614363"/>
          </a:xfrm>
          <a:ln/>
        </p:spPr>
        <p:txBody>
          <a:bodyPr vert="horz" wrap="square" lIns="91440" tIns="45720" rIns="91440" bIns="45720" anchor="ctr" anchorCtr="0"/>
          <a:lstStyle/>
          <a:p>
            <a:pPr eaLnBrk="1" hangingPunct="1"/>
            <a:r>
              <a:rPr lang="en-US" altLang="zh-CN" dirty="0">
                <a:ea typeface="宋体" panose="02010600030101010101" pitchFamily="2" charset="-122"/>
              </a:rPr>
              <a:t>Virtual Synchrony (1)</a:t>
            </a:r>
          </a:p>
        </p:txBody>
      </p:sp>
      <p:sp>
        <p:nvSpPr>
          <p:cNvPr id="74756" name="Rectangle 3"/>
          <p:cNvSpPr>
            <a:spLocks noGrp="1"/>
          </p:cNvSpPr>
          <p:nvPr>
            <p:ph idx="1"/>
          </p:nvPr>
        </p:nvSpPr>
        <p:spPr>
          <a:xfrm>
            <a:off x="0" y="614363"/>
            <a:ext cx="7232650" cy="698500"/>
          </a:xfrm>
          <a:ln/>
        </p:spPr>
        <p:txBody>
          <a:bodyPr vert="horz" wrap="square" lIns="91440" tIns="45720" rIns="91440" bIns="45720" anchor="t" anchorCtr="0"/>
          <a:lstStyle/>
          <a:p>
            <a:pPr algn="l" eaLnBrk="1" hangingPunct="1">
              <a:buFont typeface="Wingdings" panose="05000000000000000000" pitchFamily="2" charset="2"/>
              <a:buChar char="p"/>
            </a:pPr>
            <a:r>
              <a:rPr lang="en-US" altLang="zh-CN" sz="2000" dirty="0">
                <a:ea typeface="宋体" panose="02010600030101010101" pitchFamily="2" charset="-122"/>
              </a:rPr>
              <a:t>The logical organization of a distributed system to distinguish between message </a:t>
            </a:r>
            <a:r>
              <a:rPr lang="en-US" altLang="zh-CN" sz="2000" dirty="0">
                <a:solidFill>
                  <a:srgbClr val="FF0000"/>
                </a:solidFill>
                <a:ea typeface="宋体" panose="02010600030101010101" pitchFamily="2" charset="-122"/>
              </a:rPr>
              <a:t>receipt</a:t>
            </a:r>
            <a:r>
              <a:rPr lang="en-US" altLang="zh-CN" sz="2000" dirty="0">
                <a:ea typeface="宋体" panose="02010600030101010101" pitchFamily="2" charset="-122"/>
              </a:rPr>
              <a:t> and message </a:t>
            </a:r>
            <a:r>
              <a:rPr lang="en-US" altLang="zh-CN" sz="2000" dirty="0">
                <a:solidFill>
                  <a:srgbClr val="FF0000"/>
                </a:solidFill>
                <a:ea typeface="宋体" panose="02010600030101010101" pitchFamily="2" charset="-122"/>
              </a:rPr>
              <a:t>delivery</a:t>
            </a:r>
          </a:p>
        </p:txBody>
      </p:sp>
      <p:sp>
        <p:nvSpPr>
          <p:cNvPr id="74757" name="Rectangle 3"/>
          <p:cNvSpPr txBox="1"/>
          <p:nvPr/>
        </p:nvSpPr>
        <p:spPr>
          <a:xfrm>
            <a:off x="120650" y="4506913"/>
            <a:ext cx="6562725" cy="210185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lnSpc>
                <a:spcPct val="150000"/>
              </a:lnSpc>
              <a:buNone/>
            </a:pPr>
            <a:r>
              <a:rPr lang="zh-CN" altLang="en-US" sz="2000" b="1" dirty="0">
                <a:latin typeface="宋体" panose="02010600030101010101" pitchFamily="2" charset="-122"/>
                <a:ea typeface="宋体" panose="02010600030101010101" pitchFamily="2" charset="-122"/>
              </a:rPr>
              <a:t>分布式系统同步形式</a:t>
            </a:r>
            <a:r>
              <a:rPr lang="en-US" altLang="zh-CN" sz="2000" b="1" dirty="0">
                <a:latin typeface="宋体" panose="02010600030101010101" pitchFamily="2" charset="-122"/>
                <a:ea typeface="宋体" panose="02010600030101010101" pitchFamily="2" charset="-122"/>
              </a:rPr>
              <a:t>:</a:t>
            </a:r>
          </a:p>
          <a:p>
            <a:pPr marL="342900" lvl="0" indent="-342900" algn="l" eaLnBrk="1" hangingPunct="1">
              <a:lnSpc>
                <a:spcPct val="150000"/>
              </a:lnSpc>
              <a:buNone/>
            </a:pPr>
            <a:r>
              <a:rPr lang="en-US" altLang="zh-CN" sz="2000" b="1" dirty="0">
                <a:latin typeface="宋体" panose="02010600030101010101" pitchFamily="2" charset="-122"/>
                <a:ea typeface="宋体" panose="02010600030101010101" pitchFamily="2" charset="-122"/>
              </a:rPr>
              <a:t>    1. </a:t>
            </a:r>
            <a:r>
              <a:rPr lang="zh-CN" altLang="en-US" sz="2000" b="1" dirty="0">
                <a:latin typeface="宋体" panose="02010600030101010101" pitchFamily="2" charset="-122"/>
                <a:ea typeface="宋体" panose="02010600030101010101" pitchFamily="2" charset="-122"/>
              </a:rPr>
              <a:t>同步系统</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时间上一致；</a:t>
            </a:r>
          </a:p>
          <a:p>
            <a:pPr marL="342900" lvl="0" indent="-342900" algn="l" eaLnBrk="1" hangingPunct="1">
              <a:lnSpc>
                <a:spcPct val="150000"/>
              </a:lnSpc>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2. </a:t>
            </a:r>
            <a:r>
              <a:rPr lang="zh-CN" altLang="en-US" sz="2000" b="1" dirty="0">
                <a:latin typeface="宋体" panose="02010600030101010101" pitchFamily="2" charset="-122"/>
                <a:ea typeface="宋体" panose="02010600030101010101" pitchFamily="2" charset="-122"/>
              </a:rPr>
              <a:t>松弛同步</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时间上延迟</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顺序一致；</a:t>
            </a:r>
          </a:p>
          <a:p>
            <a:pPr marL="342900" lvl="0" indent="-342900" algn="l" eaLnBrk="1" hangingPunct="1">
              <a:lnSpc>
                <a:spcPct val="150000"/>
              </a:lnSpc>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3. </a:t>
            </a:r>
            <a:r>
              <a:rPr lang="zh-CN" altLang="en-US" sz="2000" b="1" dirty="0">
                <a:latin typeface="宋体" panose="02010600030101010101" pitchFamily="2" charset="-122"/>
                <a:ea typeface="宋体" panose="02010600030101010101" pitchFamily="2" charset="-122"/>
              </a:rPr>
              <a:t>虚同步</a:t>
            </a:r>
            <a:r>
              <a:rPr lang="en-US" altLang="zh-CN" sz="2000" b="1" dirty="0">
                <a:latin typeface="宋体" panose="02010600030101010101" pitchFamily="2" charset="-122"/>
                <a:ea typeface="宋体" panose="02010600030101010101" pitchFamily="2" charset="-122"/>
              </a:rPr>
              <a:t>(Virtual Synchrony)----</a:t>
            </a:r>
            <a:r>
              <a:rPr lang="zh-CN" altLang="en-US" sz="2000" b="1" dirty="0">
                <a:latin typeface="宋体" panose="02010600030101010101" pitchFamily="2" charset="-122"/>
                <a:ea typeface="宋体" panose="02010600030101010101" pitchFamily="2" charset="-122"/>
              </a:rPr>
              <a:t>顺序不保证。</a:t>
            </a:r>
            <a:endParaRPr lang="en-US" altLang="zh-CN" sz="2000" b="1" dirty="0">
              <a:latin typeface="宋体" panose="02010600030101010101" pitchFamily="2" charset="-122"/>
              <a:ea typeface="宋体" panose="02010600030101010101" pitchFamily="2" charset="-122"/>
            </a:endParaRPr>
          </a:p>
          <a:p>
            <a:pPr marL="342900" lvl="0" indent="-342900" algn="l" eaLnBrk="1" hangingPunct="1">
              <a:lnSpc>
                <a:spcPct val="150000"/>
              </a:lnSpc>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Implementing Virtual Synchrony (2)</a:t>
            </a:r>
          </a:p>
        </p:txBody>
      </p:sp>
      <p:sp>
        <p:nvSpPr>
          <p:cNvPr id="75779" name="Rectangle 3"/>
          <p:cNvSpPr>
            <a:spLocks noGrp="1"/>
          </p:cNvSpPr>
          <p:nvPr>
            <p:ph idx="1"/>
          </p:nvPr>
        </p:nvSpPr>
        <p:spPr>
          <a:xfrm>
            <a:off x="515938" y="1143000"/>
            <a:ext cx="8112125" cy="3638550"/>
          </a:xfrm>
          <a:ln/>
        </p:spPr>
        <p:txBody>
          <a:bodyPr vert="horz" wrap="square" lIns="91440" tIns="45720" rIns="91440" bIns="45720" anchor="t" anchorCtr="0"/>
          <a:lstStyle/>
          <a:p>
            <a:pPr marL="0" indent="0" algn="l" eaLnBrk="1" hangingPunct="1">
              <a:lnSpc>
                <a:spcPct val="150000"/>
              </a:lnSpc>
              <a:buNone/>
            </a:pPr>
            <a:r>
              <a:rPr lang="zh-CN" altLang="en-US" sz="2800" dirty="0">
                <a:ea typeface="宋体" panose="02010600030101010101" pitchFamily="2" charset="-122"/>
              </a:rPr>
              <a:t>分析</a:t>
            </a:r>
            <a:r>
              <a:rPr lang="en-US" altLang="zh-CN" sz="2800" dirty="0">
                <a:ea typeface="宋体" panose="02010600030101010101" pitchFamily="2" charset="-122"/>
              </a:rPr>
              <a:t>(</a:t>
            </a:r>
            <a:r>
              <a:rPr lang="zh-CN" altLang="en-US" sz="2800" dirty="0">
                <a:ea typeface="宋体" panose="02010600030101010101" pitchFamily="2" charset="-122"/>
              </a:rPr>
              <a:t>假设</a:t>
            </a:r>
            <a:r>
              <a:rPr lang="en-US" altLang="zh-CN" sz="2800" dirty="0">
                <a:ea typeface="宋体" panose="02010600030101010101" pitchFamily="2" charset="-122"/>
              </a:rPr>
              <a:t>P2P</a:t>
            </a:r>
            <a:r>
              <a:rPr lang="zh-CN" altLang="en-US" sz="2800" dirty="0">
                <a:ea typeface="宋体" panose="02010600030101010101" pitchFamily="2" charset="-122"/>
              </a:rPr>
              <a:t>通信是可靠的</a:t>
            </a:r>
            <a:r>
              <a:rPr lang="en-US" altLang="zh-CN" sz="2800" dirty="0">
                <a:ea typeface="宋体" panose="02010600030101010101" pitchFamily="2" charset="-122"/>
              </a:rPr>
              <a:t>)</a:t>
            </a:r>
            <a:r>
              <a:rPr lang="zh-CN" altLang="en-US" sz="2800" dirty="0">
                <a:ea typeface="宋体" panose="02010600030101010101" pitchFamily="2" charset="-122"/>
              </a:rPr>
              <a:t>：</a:t>
            </a:r>
            <a:endParaRPr lang="en-US" altLang="zh-CN" sz="2800"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(1) G</a:t>
            </a:r>
            <a:r>
              <a:rPr lang="zh-CN" altLang="en-US" sz="2800" dirty="0">
                <a:ea typeface="宋体" panose="02010600030101010101" pitchFamily="2" charset="-122"/>
              </a:rPr>
              <a:t>在组播中没有改变；</a:t>
            </a:r>
            <a:endParaRPr lang="en-US" altLang="zh-CN" sz="2800"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(2) G</a:t>
            </a:r>
            <a:r>
              <a:rPr lang="zh-CN" altLang="en-US" sz="2800" dirty="0">
                <a:ea typeface="宋体" panose="02010600030101010101" pitchFamily="2" charset="-122"/>
              </a:rPr>
              <a:t>在组播中改变，但发送者正常；</a:t>
            </a:r>
            <a:endParaRPr lang="en-US" altLang="zh-CN" sz="2800" dirty="0">
              <a:ea typeface="宋体" panose="02010600030101010101" pitchFamily="2" charset="-122"/>
            </a:endParaRPr>
          </a:p>
          <a:p>
            <a:pPr marL="0" indent="0" algn="l" eaLnBrk="1" hangingPunct="1">
              <a:lnSpc>
                <a:spcPct val="150000"/>
              </a:lnSpc>
              <a:buNone/>
            </a:pPr>
            <a:r>
              <a:rPr lang="en-US" altLang="zh-CN" sz="2800" b="1" dirty="0">
                <a:solidFill>
                  <a:srgbClr val="FF0000"/>
                </a:solidFill>
                <a:ea typeface="宋体" panose="02010600030101010101" pitchFamily="2" charset="-122"/>
              </a:rPr>
              <a:t>    (3) G</a:t>
            </a:r>
            <a:r>
              <a:rPr lang="zh-CN" altLang="en-US" sz="2800" b="1" dirty="0">
                <a:solidFill>
                  <a:srgbClr val="FF0000"/>
                </a:solidFill>
                <a:ea typeface="宋体" panose="02010600030101010101" pitchFamily="2" charset="-122"/>
              </a:rPr>
              <a:t>在组播中改变</a:t>
            </a:r>
            <a:r>
              <a:rPr lang="en-US" altLang="zh-CN" sz="2800" b="1" dirty="0">
                <a:solidFill>
                  <a:srgbClr val="FF0000"/>
                </a:solidFill>
                <a:ea typeface="宋体" panose="02010600030101010101" pitchFamily="2" charset="-122"/>
              </a:rPr>
              <a:t>, </a:t>
            </a:r>
            <a:r>
              <a:rPr lang="zh-CN" altLang="en-US" sz="2800" b="1" dirty="0">
                <a:solidFill>
                  <a:srgbClr val="FF0000"/>
                </a:solidFill>
                <a:ea typeface="宋体" panose="02010600030101010101" pitchFamily="2" charset="-122"/>
              </a:rPr>
              <a:t>且发送者失效，选一个完成其工作。</a:t>
            </a:r>
            <a:endParaRPr lang="en-US" altLang="zh-CN" sz="2800" b="1" dirty="0">
              <a:solidFill>
                <a:srgbClr val="FF0000"/>
              </a:solidFill>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0" y="0"/>
            <a:ext cx="9144000" cy="933450"/>
          </a:xfrm>
          <a:ln/>
        </p:spPr>
        <p:txBody>
          <a:bodyPr vert="horz" wrap="square" lIns="91440" tIns="45720" rIns="91440" bIns="45720" anchor="ctr" anchorCtr="0"/>
          <a:lstStyle/>
          <a:p>
            <a:pPr eaLnBrk="1" hangingPunct="1"/>
            <a:r>
              <a:rPr lang="en-US" altLang="zh-CN" dirty="0">
                <a:ea typeface="宋体" panose="02010600030101010101" pitchFamily="2" charset="-122"/>
              </a:rPr>
              <a:t>Implementing Virtual Synchrony (2)</a:t>
            </a:r>
          </a:p>
        </p:txBody>
      </p:sp>
      <p:sp>
        <p:nvSpPr>
          <p:cNvPr id="77827" name="Rectangle 3"/>
          <p:cNvSpPr>
            <a:spLocks noGrp="1"/>
          </p:cNvSpPr>
          <p:nvPr>
            <p:ph idx="1"/>
          </p:nvPr>
        </p:nvSpPr>
        <p:spPr>
          <a:xfrm>
            <a:off x="203200" y="5308600"/>
            <a:ext cx="8763000" cy="1447800"/>
          </a:xfrm>
          <a:ln/>
        </p:spPr>
        <p:txBody>
          <a:bodyPr vert="horz" wrap="square" lIns="91440" tIns="45720" rIns="91440" bIns="45720" anchor="t" anchorCtr="0"/>
          <a:lstStyle/>
          <a:p>
            <a:pPr marL="609600" indent="-609600" algn="l" eaLnBrk="1" hangingPunct="1">
              <a:lnSpc>
                <a:spcPct val="80000"/>
              </a:lnSpc>
              <a:buFontTx/>
              <a:buAutoNum type="alphaLcParenR"/>
            </a:pPr>
            <a:r>
              <a:rPr lang="en-US" altLang="zh-CN" sz="2000" dirty="0">
                <a:ea typeface="宋体" panose="02010600030101010101" pitchFamily="2" charset="-122"/>
              </a:rPr>
              <a:t>Process 4 notices that process 7 has crashed, sends a message vc</a:t>
            </a:r>
          </a:p>
          <a:p>
            <a:pPr marL="609600" indent="-609600" algn="l" eaLnBrk="1" hangingPunct="1">
              <a:lnSpc>
                <a:spcPct val="80000"/>
              </a:lnSpc>
              <a:buFontTx/>
              <a:buAutoNum type="alphaLcParenR"/>
            </a:pPr>
            <a:r>
              <a:rPr lang="en-US" altLang="zh-CN" sz="2000" dirty="0">
                <a:ea typeface="宋体" panose="02010600030101010101" pitchFamily="2" charset="-122"/>
              </a:rPr>
              <a:t>Process 6 sends out all its unstable messages</a:t>
            </a:r>
            <a:r>
              <a:rPr lang="en-US" altLang="zh-CN" sz="1400" dirty="0">
                <a:ea typeface="宋体" panose="02010600030101010101" pitchFamily="2" charset="-122"/>
              </a:rPr>
              <a:t>(</a:t>
            </a:r>
            <a:r>
              <a:rPr lang="zh-CN" altLang="en-US" sz="1400" dirty="0">
                <a:ea typeface="宋体" panose="02010600030101010101" pitchFamily="2" charset="-122"/>
              </a:rPr>
              <a:t>未被</a:t>
            </a:r>
            <a:r>
              <a:rPr lang="en-US" altLang="zh-CN" sz="1400" dirty="0">
                <a:ea typeface="宋体" panose="02010600030101010101" pitchFamily="2" charset="-122"/>
              </a:rPr>
              <a:t>G</a:t>
            </a:r>
            <a:r>
              <a:rPr lang="zh-CN" altLang="en-US" sz="1400" dirty="0">
                <a:ea typeface="宋体" panose="02010600030101010101" pitchFamily="2" charset="-122"/>
              </a:rPr>
              <a:t>中所有进程接受的</a:t>
            </a:r>
            <a:r>
              <a:rPr lang="en-US" altLang="zh-CN" sz="1400" dirty="0">
                <a:ea typeface="宋体" panose="02010600030101010101" pitchFamily="2" charset="-122"/>
              </a:rPr>
              <a:t>),</a:t>
            </a:r>
            <a:r>
              <a:rPr lang="en-US" altLang="zh-CN" sz="2000" dirty="0">
                <a:ea typeface="宋体" panose="02010600030101010101" pitchFamily="2" charset="-122"/>
              </a:rPr>
              <a:t> followed by a flush message</a:t>
            </a:r>
          </a:p>
          <a:p>
            <a:pPr marL="609600" indent="-609600" algn="l" eaLnBrk="1" hangingPunct="1">
              <a:lnSpc>
                <a:spcPct val="80000"/>
              </a:lnSpc>
              <a:buFontTx/>
              <a:buAutoNum type="alphaLcParenR"/>
            </a:pPr>
            <a:r>
              <a:rPr lang="en-US" altLang="zh-CN" sz="2000" dirty="0">
                <a:ea typeface="宋体" panose="02010600030101010101" pitchFamily="2" charset="-122"/>
              </a:rPr>
              <a:t>Process 6 installs the new view when it has received a flush message from everyone else</a:t>
            </a:r>
          </a:p>
        </p:txBody>
      </p:sp>
      <p:pic>
        <p:nvPicPr>
          <p:cNvPr id="77828" name="Picture 4"/>
          <p:cNvPicPr>
            <a:picLocks noChangeAspect="1"/>
          </p:cNvPicPr>
          <p:nvPr/>
        </p:nvPicPr>
        <p:blipFill>
          <a:blip r:embed="rId3"/>
          <a:srcRect l="21593" t="43806" r="19028" b="37764"/>
          <a:stretch>
            <a:fillRect/>
          </a:stretch>
        </p:blipFill>
        <p:spPr>
          <a:xfrm>
            <a:off x="390525" y="1638300"/>
            <a:ext cx="8410575" cy="3694113"/>
          </a:xfrm>
          <a:prstGeom prst="rect">
            <a:avLst/>
          </a:prstGeom>
          <a:noFill/>
          <a:ln w="9525">
            <a:noFill/>
          </a:ln>
        </p:spPr>
      </p:pic>
      <p:sp>
        <p:nvSpPr>
          <p:cNvPr id="77829" name="Rectangle 5"/>
          <p:cNvSpPr/>
          <p:nvPr/>
        </p:nvSpPr>
        <p:spPr>
          <a:xfrm>
            <a:off x="712788" y="892175"/>
            <a:ext cx="7583487" cy="7016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to select an arbitrary process as a coordinator in </a:t>
            </a:r>
            <a:r>
              <a:rPr lang="en-US" altLang="zh-CN" sz="2000" i="1" dirty="0">
                <a:ea typeface="宋体" panose="02010600030101010101" pitchFamily="2" charset="-122"/>
              </a:rPr>
              <a:t>G </a:t>
            </a:r>
          </a:p>
          <a:p>
            <a:pPr marL="0" lvl="0" indent="0" eaLnBrk="1" hangingPunct="1">
              <a:spcBef>
                <a:spcPct val="0"/>
              </a:spcBef>
              <a:buClrTx/>
              <a:buNone/>
            </a:pPr>
            <a:r>
              <a:rPr lang="en-US" altLang="zh-CN" sz="2000" dirty="0">
                <a:ea typeface="宋体" panose="02010600030101010101" pitchFamily="2" charset="-122"/>
              </a:rPr>
              <a:t>and request it to send </a:t>
            </a:r>
            <a:r>
              <a:rPr lang="en-US" altLang="zh-CN" sz="2000" i="1" dirty="0">
                <a:ea typeface="宋体" panose="02010600030101010101" pitchFamily="2" charset="-122"/>
              </a:rPr>
              <a:t>m</a:t>
            </a:r>
            <a:r>
              <a:rPr lang="en-US" altLang="zh-CN" sz="2000" dirty="0">
                <a:ea typeface="宋体" panose="02010600030101010101" pitchFamily="2" charset="-122"/>
              </a:rPr>
              <a:t> to all other processes</a:t>
            </a:r>
            <a:r>
              <a:rPr lang="en-US" altLang="zh-CN" sz="1800" dirty="0">
                <a:ea typeface="宋体" panose="02010600030101010101" pitchFamily="2" charset="-122"/>
              </a:rPr>
              <a:t>(</a:t>
            </a:r>
            <a:r>
              <a:rPr lang="zh-CN" altLang="en-US" sz="1800" dirty="0">
                <a:ea typeface="宋体" panose="02010600030101010101" pitchFamily="2" charset="-122"/>
              </a:rPr>
              <a:t>实现虚拟同步</a:t>
            </a:r>
            <a:r>
              <a:rPr lang="en-US" altLang="zh-CN" sz="1800" dirty="0">
                <a:ea typeface="宋体" panose="02010600030101010101" pitchFamily="2" charset="-122"/>
              </a:rPr>
              <a:t>).</a:t>
            </a:r>
            <a:endParaRPr lang="zh-CN" altLang="en-US" sz="1800"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p:cNvSpPr>
          <p:nvPr>
            <p:ph idx="1"/>
          </p:nvPr>
        </p:nvSpPr>
        <p:spPr>
          <a:xfrm>
            <a:off x="5195888" y="1314450"/>
            <a:ext cx="3692525" cy="1855788"/>
          </a:xfrm>
          <a:ln/>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000" dirty="0">
                <a:ea typeface="宋体" panose="02010600030101010101" pitchFamily="2" charset="-122"/>
              </a:rPr>
              <a:t>Actions taken by a participant </a:t>
            </a:r>
            <a:r>
              <a:rPr lang="en-US" altLang="zh-CN" sz="2000" i="1" dirty="0">
                <a:ea typeface="宋体" panose="02010600030101010101" pitchFamily="2" charset="-122"/>
              </a:rPr>
              <a:t>P</a:t>
            </a:r>
            <a:r>
              <a:rPr lang="en-US" altLang="zh-CN" sz="2000" dirty="0">
                <a:ea typeface="宋体" panose="02010600030101010101" pitchFamily="2" charset="-122"/>
              </a:rPr>
              <a:t> when residing in state </a:t>
            </a:r>
            <a:r>
              <a:rPr lang="en-US" altLang="zh-CN" sz="2000" i="1" dirty="0">
                <a:ea typeface="宋体" panose="02010600030101010101" pitchFamily="2" charset="-122"/>
              </a:rPr>
              <a:t>READY</a:t>
            </a:r>
            <a:r>
              <a:rPr lang="en-US" altLang="zh-CN" sz="2000" dirty="0">
                <a:ea typeface="宋体" panose="02010600030101010101" pitchFamily="2" charset="-122"/>
              </a:rPr>
              <a:t> and having contacted another participant </a:t>
            </a:r>
            <a:r>
              <a:rPr lang="en-US" altLang="zh-CN" sz="2000" i="1" dirty="0">
                <a:ea typeface="宋体" panose="02010600030101010101" pitchFamily="2" charset="-122"/>
              </a:rPr>
              <a:t>Q</a:t>
            </a:r>
            <a:r>
              <a:rPr lang="en-US" altLang="zh-CN" sz="2000" dirty="0">
                <a:ea typeface="宋体" panose="02010600030101010101" pitchFamily="2" charset="-122"/>
              </a:rPr>
              <a:t>.</a:t>
            </a:r>
          </a:p>
        </p:txBody>
      </p:sp>
      <p:graphicFrame>
        <p:nvGraphicFramePr>
          <p:cNvPr id="21531" name="Group 27"/>
          <p:cNvGraphicFramePr>
            <a:graphicFrameLocks noGrp="1"/>
          </p:cNvGraphicFramePr>
          <p:nvPr/>
        </p:nvGraphicFramePr>
        <p:xfrm>
          <a:off x="571500" y="1362075"/>
          <a:ext cx="4208463" cy="1760538"/>
        </p:xfrm>
        <a:graphic>
          <a:graphicData uri="http://schemas.openxmlformats.org/drawingml/2006/table">
            <a:tbl>
              <a:tblPr/>
              <a:tblGrid>
                <a:gridCol w="1231316">
                  <a:extLst>
                    <a:ext uri="{9D8B030D-6E8A-4147-A177-3AD203B41FA5}">
                      <a16:colId xmlns:a16="http://schemas.microsoft.com/office/drawing/2014/main" val="20000"/>
                    </a:ext>
                  </a:extLst>
                </a:gridCol>
                <a:gridCol w="2977147">
                  <a:extLst>
                    <a:ext uri="{9D8B030D-6E8A-4147-A177-3AD203B41FA5}">
                      <a16:colId xmlns:a16="http://schemas.microsoft.com/office/drawing/2014/main" val="20001"/>
                    </a:ext>
                  </a:extLst>
                </a:gridCol>
              </a:tblGrid>
              <a:tr h="3434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State of Q</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Action by P</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478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COMMIT</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Make transition to COMMIT</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75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ABORT</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Make transition to ABORT</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78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INIT</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Make transition to ABORT</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375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READY</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Contact another participant</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2"/>
          <p:cNvSpPr txBox="1">
            <a:spLocks noChangeArrowheads="1"/>
          </p:cNvSpPr>
          <p:nvPr/>
        </p:nvSpPr>
        <p:spPr bwMode="auto">
          <a:xfrm>
            <a:off x="328613" y="25400"/>
            <a:ext cx="8559800" cy="573088"/>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事务模型中的故障问题</a:t>
            </a:r>
            <a:endParaRPr kumimoji="0" lang="en-US" altLang="zh-CN" sz="40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7" name="Rectangle 3"/>
          <p:cNvSpPr txBox="1">
            <a:spLocks noChangeArrowheads="1"/>
          </p:cNvSpPr>
          <p:nvPr/>
        </p:nvSpPr>
        <p:spPr bwMode="auto">
          <a:xfrm>
            <a:off x="0" y="720725"/>
            <a:ext cx="9144000" cy="40163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两阶段提交协议可以实现分布式环境下的事务特性，但是可能导致事务阻塞。</a:t>
            </a:r>
          </a:p>
        </p:txBody>
      </p:sp>
      <p:sp>
        <p:nvSpPr>
          <p:cNvPr id="48153" name="矩形 3"/>
          <p:cNvSpPr>
            <a:spLocks noChangeArrowheads="1"/>
          </p:cNvSpPr>
          <p:nvPr/>
        </p:nvSpPr>
        <p:spPr bwMode="auto">
          <a:xfrm>
            <a:off x="371475" y="3646488"/>
            <a:ext cx="2171700" cy="2262188"/>
          </a:xfrm>
          <a:prstGeom prst="rect">
            <a:avLst/>
          </a:prstGeom>
          <a:noFill/>
          <a:ln>
            <a:noFill/>
          </a:ln>
        </p:spPr>
        <p:txBody>
          <a:bodyPr>
            <a:spAutoFit/>
          </a:bodyPr>
          <a:lstStyle>
            <a:lvl1pPr algn="ctr">
              <a:spcBef>
                <a:spcPct val="20000"/>
              </a:spcBef>
              <a:buClr>
                <a:schemeClr val="accent2"/>
              </a:buClr>
              <a:buChar char="•"/>
              <a:defRPr sz="32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阻塞：如果协调者收到参与者回复就绪后挂掉，这些参与者将一直阻塞；</a:t>
            </a:r>
            <a:r>
              <a:rPr kumimoji="0" lang="zh-CN" altLang="en-US" sz="16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三阶段提交协议就是为解决这一问题提出的。</a:t>
            </a:r>
            <a:endParaRPr kumimoji="0" lang="en-US" altLang="zh-CN" sz="16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79898" name="组合 7"/>
          <p:cNvGrpSpPr/>
          <p:nvPr/>
        </p:nvGrpSpPr>
        <p:grpSpPr>
          <a:xfrm>
            <a:off x="2543175" y="3362325"/>
            <a:ext cx="6110288" cy="3387725"/>
            <a:chOff x="479425" y="1157288"/>
            <a:chExt cx="7451725" cy="3946525"/>
          </a:xfrm>
        </p:grpSpPr>
        <p:grpSp>
          <p:nvGrpSpPr>
            <p:cNvPr id="79899" name="组合 5"/>
            <p:cNvGrpSpPr/>
            <p:nvPr/>
          </p:nvGrpSpPr>
          <p:grpSpPr>
            <a:xfrm>
              <a:off x="479425" y="1157288"/>
              <a:ext cx="7451725" cy="3946525"/>
              <a:chOff x="479425" y="1157288"/>
              <a:chExt cx="7451725" cy="3946525"/>
            </a:xfrm>
          </p:grpSpPr>
          <p:pic>
            <p:nvPicPr>
              <p:cNvPr id="79901" name="Picture 3"/>
              <p:cNvPicPr>
                <a:picLocks noChangeAspect="1"/>
              </p:cNvPicPr>
              <p:nvPr/>
            </p:nvPicPr>
            <p:blipFill>
              <a:blip r:embed="rId3"/>
              <a:stretch>
                <a:fillRect/>
              </a:stretch>
            </p:blipFill>
            <p:spPr>
              <a:xfrm>
                <a:off x="479425" y="1157288"/>
                <a:ext cx="7451725" cy="3946525"/>
              </a:xfrm>
              <a:prstGeom prst="rect">
                <a:avLst/>
              </a:prstGeom>
              <a:noFill/>
              <a:ln w="9525">
                <a:noFill/>
              </a:ln>
            </p:spPr>
          </p:pic>
          <p:sp>
            <p:nvSpPr>
              <p:cNvPr id="79902" name="矩形 4"/>
              <p:cNvSpPr/>
              <p:nvPr/>
            </p:nvSpPr>
            <p:spPr>
              <a:xfrm>
                <a:off x="4800030" y="2767862"/>
                <a:ext cx="902811" cy="307777"/>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400" dirty="0">
                    <a:ea typeface="宋体" panose="02010600030101010101" pitchFamily="2" charset="-122"/>
                  </a:rPr>
                  <a:t>锁定资源</a:t>
                </a:r>
              </a:p>
            </p:txBody>
          </p:sp>
        </p:grpSp>
        <p:sp>
          <p:nvSpPr>
            <p:cNvPr id="79900" name="矩形 6"/>
            <p:cNvSpPr/>
            <p:nvPr/>
          </p:nvSpPr>
          <p:spPr>
            <a:xfrm>
              <a:off x="5092280" y="3985269"/>
              <a:ext cx="902811" cy="307777"/>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400" dirty="0">
                  <a:ea typeface="宋体" panose="02010600030101010101" pitchFamily="2" charset="-122"/>
                </a:rPr>
                <a:t>释放资源</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Three-Phase Commit</a:t>
            </a:r>
          </a:p>
        </p:txBody>
      </p:sp>
      <p:sp>
        <p:nvSpPr>
          <p:cNvPr id="81923" name="Rectangle 3"/>
          <p:cNvSpPr>
            <a:spLocks noGrp="1"/>
          </p:cNvSpPr>
          <p:nvPr>
            <p:ph idx="1"/>
          </p:nvPr>
        </p:nvSpPr>
        <p:spPr>
          <a:xfrm>
            <a:off x="560388" y="1198563"/>
            <a:ext cx="2689225" cy="1108075"/>
          </a:xfrm>
          <a:ln/>
        </p:spPr>
        <p:txBody>
          <a:bodyPr vert="horz" wrap="square" lIns="91440" tIns="45720" rIns="91440" bIns="45720" anchor="t" anchorCtr="0"/>
          <a:lstStyle/>
          <a:p>
            <a:pPr marL="0" indent="0" algn="l" eaLnBrk="1" hangingPunct="1">
              <a:lnSpc>
                <a:spcPct val="150000"/>
              </a:lnSpc>
              <a:buNone/>
            </a:pPr>
            <a:r>
              <a:rPr lang="zh-CN" altLang="en-US" sz="2000" b="1" dirty="0">
                <a:ea typeface="宋体" panose="02010600030101010101" pitchFamily="2" charset="-122"/>
              </a:rPr>
              <a:t>为解决阻塞问题，提出了三阶段提交协议</a:t>
            </a:r>
            <a:endParaRPr lang="en-US" altLang="zh-CN" sz="2000" b="1" dirty="0">
              <a:ea typeface="宋体" panose="02010600030101010101" pitchFamily="2" charset="-122"/>
            </a:endParaRPr>
          </a:p>
        </p:txBody>
      </p:sp>
      <p:pic>
        <p:nvPicPr>
          <p:cNvPr id="81924" name="Picture 5" descr="三阶段提交协议示意图"/>
          <p:cNvPicPr>
            <a:picLocks noChangeAspect="1"/>
          </p:cNvPicPr>
          <p:nvPr/>
        </p:nvPicPr>
        <p:blipFill>
          <a:blip r:embed="rId2"/>
          <a:stretch>
            <a:fillRect/>
          </a:stretch>
        </p:blipFill>
        <p:spPr>
          <a:xfrm>
            <a:off x="3416300" y="936625"/>
            <a:ext cx="5013325" cy="2533650"/>
          </a:xfrm>
          <a:prstGeom prst="rect">
            <a:avLst/>
          </a:prstGeom>
          <a:noFill/>
          <a:ln w="9525">
            <a:noFill/>
          </a:ln>
        </p:spPr>
      </p:pic>
      <p:sp>
        <p:nvSpPr>
          <p:cNvPr id="5" name="Rectangle 3"/>
          <p:cNvSpPr txBox="1">
            <a:spLocks noChangeArrowheads="1"/>
          </p:cNvSpPr>
          <p:nvPr/>
        </p:nvSpPr>
        <p:spPr bwMode="auto">
          <a:xfrm>
            <a:off x="28575" y="3625850"/>
            <a:ext cx="9056688" cy="32067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由</a:t>
            </a:r>
            <a:r>
              <a:rPr kumimoji="0" lang="zh-CN" altLang="zh-CN"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协调者</a:t>
            </a:r>
            <a:r>
              <a:rPr kumimoji="0" lang="zh-CN"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向</a:t>
            </a:r>
            <a:r>
              <a:rPr kumimoji="0" lang="zh-CN" altLang="zh-CN"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参与者</a:t>
            </a:r>
            <a:r>
              <a:rPr kumimoji="0" lang="zh-CN"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发出</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“准备”消息，</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参与者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接收到以后根据自己的情况返回“确认”或“拒绝”消息。</a:t>
            </a: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 </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协调者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如果接收到全部</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参与者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的“确认”消息，则进入下一阶段，如果有一个</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参与者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返回“拒绝”消息，则事务不能提交。</a:t>
            </a: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3.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由</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协调者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发起“准备提交”消息，</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参与者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接收到这个消息后，记录在运行记录中，并返回确认消息，在</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协调者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收到“确认”消息后向</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参考者</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发出“提交”消息。</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三阶段提交协议实现比较复杂，通信次数也比较多，实际应用不多。</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Three-Phase Commit</a:t>
            </a:r>
          </a:p>
        </p:txBody>
      </p:sp>
      <p:sp>
        <p:nvSpPr>
          <p:cNvPr id="82947" name="Rectangle 3"/>
          <p:cNvSpPr>
            <a:spLocks noGrp="1"/>
          </p:cNvSpPr>
          <p:nvPr>
            <p:ph idx="1"/>
          </p:nvPr>
        </p:nvSpPr>
        <p:spPr>
          <a:xfrm>
            <a:off x="1066800" y="5410200"/>
            <a:ext cx="8077200" cy="838200"/>
          </a:xfrm>
          <a:ln/>
        </p:spPr>
        <p:txBody>
          <a:bodyPr vert="horz" wrap="square" lIns="91440" tIns="45720" rIns="91440" bIns="45720" anchor="t" anchorCtr="0"/>
          <a:lstStyle/>
          <a:p>
            <a:pPr marL="609600" indent="-609600" algn="l" eaLnBrk="1" hangingPunct="1">
              <a:lnSpc>
                <a:spcPct val="90000"/>
              </a:lnSpc>
              <a:buFontTx/>
              <a:buAutoNum type="alphaLcParenR"/>
            </a:pPr>
            <a:r>
              <a:rPr lang="en-US" altLang="zh-CN" sz="2400" dirty="0">
                <a:ea typeface="宋体" panose="02010600030101010101" pitchFamily="2" charset="-122"/>
              </a:rPr>
              <a:t>Finite state machine for the coordinator in 3PC</a:t>
            </a:r>
          </a:p>
          <a:p>
            <a:pPr marL="609600" indent="-609600" algn="l" eaLnBrk="1" hangingPunct="1">
              <a:lnSpc>
                <a:spcPct val="90000"/>
              </a:lnSpc>
              <a:buFontTx/>
              <a:buAutoNum type="alphaLcParenR"/>
            </a:pPr>
            <a:r>
              <a:rPr lang="en-US" altLang="zh-CN" sz="2400" dirty="0">
                <a:ea typeface="宋体" panose="02010600030101010101" pitchFamily="2" charset="-122"/>
              </a:rPr>
              <a:t>Finite state machine for a participant</a:t>
            </a:r>
          </a:p>
        </p:txBody>
      </p:sp>
      <p:pic>
        <p:nvPicPr>
          <p:cNvPr id="82948" name="Picture 4"/>
          <p:cNvPicPr>
            <a:picLocks noChangeAspect="1"/>
          </p:cNvPicPr>
          <p:nvPr/>
        </p:nvPicPr>
        <p:blipFill>
          <a:blip r:embed="rId3"/>
          <a:srcRect l="19241" t="43806" r="16676" b="38217"/>
          <a:stretch>
            <a:fillRect/>
          </a:stretch>
        </p:blipFill>
        <p:spPr>
          <a:xfrm>
            <a:off x="123825" y="1390650"/>
            <a:ext cx="8867775" cy="352107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0" y="0"/>
            <a:ext cx="9144000" cy="990600"/>
          </a:xfrm>
          <a:ln/>
        </p:spPr>
        <p:txBody>
          <a:bodyPr vert="horz" wrap="square" lIns="91440" tIns="45720" rIns="91440" bIns="45720" anchor="ctr" anchorCtr="0"/>
          <a:lstStyle/>
          <a:p>
            <a:pPr eaLnBrk="1" hangingPunct="1"/>
            <a:r>
              <a:rPr lang="en-US" altLang="zh-CN" sz="4000" dirty="0">
                <a:ea typeface="宋体" panose="02010600030101010101" pitchFamily="2" charset="-122"/>
              </a:rPr>
              <a:t>Recovery</a:t>
            </a:r>
          </a:p>
        </p:txBody>
      </p:sp>
      <p:sp>
        <p:nvSpPr>
          <p:cNvPr id="84995" name="Rectangle 3"/>
          <p:cNvSpPr>
            <a:spLocks noGrp="1"/>
          </p:cNvSpPr>
          <p:nvPr>
            <p:ph idx="1"/>
          </p:nvPr>
        </p:nvSpPr>
        <p:spPr>
          <a:xfrm>
            <a:off x="306388" y="933450"/>
            <a:ext cx="8648700" cy="5308600"/>
          </a:xfrm>
          <a:ln/>
        </p:spPr>
        <p:txBody>
          <a:bodyPr vert="horz" wrap="square" lIns="91440" tIns="45720" rIns="91440" bIns="45720" anchor="t" anchorCtr="0"/>
          <a:lstStyle/>
          <a:p>
            <a:pPr marL="0" indent="0" algn="l" eaLnBrk="1" hangingPunct="1">
              <a:lnSpc>
                <a:spcPct val="140000"/>
              </a:lnSpc>
              <a:buNone/>
            </a:pPr>
            <a:r>
              <a:rPr lang="en-US" altLang="zh-CN" dirty="0">
                <a:ea typeface="宋体" panose="02010600030101010101" pitchFamily="2" charset="-122"/>
              </a:rPr>
              <a:t>Two forms of error recovery:</a:t>
            </a:r>
          </a:p>
          <a:p>
            <a:pPr marL="0" indent="0" algn="l" eaLnBrk="1" hangingPunct="1">
              <a:lnSpc>
                <a:spcPct val="140000"/>
              </a:lnSpc>
              <a:buNone/>
            </a:pPr>
            <a:r>
              <a:rPr lang="en-US" altLang="zh-CN" dirty="0">
                <a:ea typeface="宋体" panose="02010600030101010101" pitchFamily="2" charset="-122"/>
              </a:rPr>
              <a:t>        </a:t>
            </a:r>
            <a:r>
              <a:rPr lang="en-US" altLang="zh-CN" dirty="0">
                <a:solidFill>
                  <a:srgbClr val="FF0000"/>
                </a:solidFill>
                <a:ea typeface="宋体" panose="02010600030101010101" pitchFamily="2" charset="-122"/>
              </a:rPr>
              <a:t>Backward recovery and forward recovery</a:t>
            </a:r>
          </a:p>
          <a:p>
            <a:pPr marL="0" indent="0" algn="l" eaLnBrk="1" hangingPunct="1">
              <a:lnSpc>
                <a:spcPct val="140000"/>
              </a:lnSpc>
              <a:buFontTx/>
              <a:buAutoNum type="arabicPeriod"/>
            </a:pPr>
            <a:r>
              <a:rPr lang="en-US" altLang="zh-CN" dirty="0">
                <a:ea typeface="宋体" panose="02010600030101010101" pitchFamily="2" charset="-122"/>
              </a:rPr>
              <a:t> Backward recovery------------</a:t>
            </a:r>
          </a:p>
          <a:p>
            <a:pPr marL="0" indent="0" algn="l" eaLnBrk="1" hangingPunct="1">
              <a:lnSpc>
                <a:spcPct val="140000"/>
              </a:lnSpc>
              <a:buNone/>
            </a:pPr>
            <a:r>
              <a:rPr lang="en-US" altLang="zh-CN" dirty="0">
                <a:ea typeface="宋体" panose="02010600030101010101" pitchFamily="2" charset="-122"/>
              </a:rPr>
              <a:t>        To bring the system from its present erroneous state back into a previously correct state. It will be necessary to record the system’s state from time to time.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a:xfrm>
            <a:off x="0" y="0"/>
            <a:ext cx="9144000" cy="515938"/>
          </a:xfrm>
          <a:ln/>
        </p:spPr>
        <p:txBody>
          <a:bodyPr vert="horz" wrap="square" lIns="91440" tIns="45720" rIns="91440" bIns="45720" anchor="ctr" anchorCtr="0"/>
          <a:lstStyle/>
          <a:p>
            <a:pPr eaLnBrk="1" hangingPunct="1"/>
            <a:r>
              <a:rPr lang="en-US" altLang="zh-CN" sz="4000" dirty="0">
                <a:ea typeface="宋体" panose="02010600030101010101" pitchFamily="2" charset="-122"/>
              </a:rPr>
              <a:t>Recovery</a:t>
            </a:r>
          </a:p>
        </p:txBody>
      </p:sp>
      <p:sp>
        <p:nvSpPr>
          <p:cNvPr id="86019" name="Rectangle 3"/>
          <p:cNvSpPr>
            <a:spLocks noGrp="1"/>
          </p:cNvSpPr>
          <p:nvPr>
            <p:ph idx="1"/>
          </p:nvPr>
        </p:nvSpPr>
        <p:spPr>
          <a:xfrm>
            <a:off x="152400" y="658813"/>
            <a:ext cx="8839200" cy="1595437"/>
          </a:xfrm>
          <a:ln/>
        </p:spPr>
        <p:txBody>
          <a:bodyPr vert="horz" wrap="square" lIns="91440" tIns="45720" rIns="91440" bIns="45720" anchor="t" anchorCtr="0"/>
          <a:lstStyle/>
          <a:p>
            <a:pPr marL="0" indent="0" algn="l" eaLnBrk="1" hangingPunct="1">
              <a:lnSpc>
                <a:spcPct val="140000"/>
              </a:lnSpc>
              <a:buNone/>
            </a:pPr>
            <a:r>
              <a:rPr lang="en-US" altLang="zh-CN" sz="2400" dirty="0">
                <a:ea typeface="宋体" panose="02010600030101010101" pitchFamily="2" charset="-122"/>
              </a:rPr>
              <a:t>2. forward recovery-------When  the  system has just entered an erroneous state, an attempt is made to bring the system in a correct new state from which it can continue to execute.</a:t>
            </a:r>
          </a:p>
        </p:txBody>
      </p:sp>
      <p:sp>
        <p:nvSpPr>
          <p:cNvPr id="86020" name="Rectangle 9"/>
          <p:cNvSpPr/>
          <p:nvPr/>
        </p:nvSpPr>
        <p:spPr>
          <a:xfrm>
            <a:off x="954088" y="6415088"/>
            <a:ext cx="7037387" cy="442912"/>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400" dirty="0">
                <a:ea typeface="宋体" panose="02010600030101010101" pitchFamily="2" charset="-122"/>
              </a:rPr>
              <a:t>Triple modular redundancy (</a:t>
            </a:r>
            <a:r>
              <a:rPr lang="en-US" altLang="zh-CN" sz="2400" dirty="0">
                <a:ea typeface="楷体_GB2312" pitchFamily="49" charset="-122"/>
              </a:rPr>
              <a:t>forward recovery)</a:t>
            </a:r>
          </a:p>
        </p:txBody>
      </p:sp>
      <p:pic>
        <p:nvPicPr>
          <p:cNvPr id="86021" name="Picture 10"/>
          <p:cNvPicPr>
            <a:picLocks noChangeAspect="1"/>
          </p:cNvPicPr>
          <p:nvPr/>
        </p:nvPicPr>
        <p:blipFill>
          <a:blip r:embed="rId2"/>
          <a:srcRect l="24345" t="41843" r="21780" b="36858"/>
          <a:stretch>
            <a:fillRect/>
          </a:stretch>
        </p:blipFill>
        <p:spPr>
          <a:xfrm>
            <a:off x="309563" y="2816225"/>
            <a:ext cx="8328025" cy="3598863"/>
          </a:xfrm>
          <a:prstGeom prst="rect">
            <a:avLst/>
          </a:prstGeom>
          <a:noFill/>
          <a:ln w="9525">
            <a:noFill/>
          </a:ln>
        </p:spPr>
      </p:pic>
      <p:sp>
        <p:nvSpPr>
          <p:cNvPr id="86022" name="Rectangle 8"/>
          <p:cNvSpPr/>
          <p:nvPr/>
        </p:nvSpPr>
        <p:spPr>
          <a:xfrm>
            <a:off x="180975" y="2373313"/>
            <a:ext cx="5529263" cy="4572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dirty="0">
                <a:solidFill>
                  <a:srgbClr val="FF0000"/>
                </a:solidFill>
                <a:ea typeface="宋体" panose="02010600030101010101" pitchFamily="2" charset="-122"/>
              </a:rPr>
              <a:t>Failure Masking by Redundancy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6"/>
          <p:cNvSpPr>
            <a:spLocks noGrp="1"/>
          </p:cNvSpPr>
          <p:nvPr>
            <p:ph type="title"/>
          </p:nvPr>
        </p:nvSpPr>
        <p:spPr>
          <a:xfrm>
            <a:off x="0" y="0"/>
            <a:ext cx="9144000" cy="990600"/>
          </a:xfrm>
          <a:ln/>
        </p:spPr>
        <p:txBody>
          <a:bodyPr vert="horz" wrap="square" lIns="91440" tIns="45720" rIns="91440" bIns="45720" anchor="ctr" anchorCtr="0"/>
          <a:lstStyle/>
          <a:p>
            <a:pPr eaLnBrk="1" hangingPunct="1"/>
            <a:r>
              <a:rPr lang="en-US" altLang="zh-CN" dirty="0">
                <a:ea typeface="宋体" panose="02010600030101010101" pitchFamily="2" charset="-122"/>
              </a:rPr>
              <a:t>Recovery Stable Storage</a:t>
            </a:r>
          </a:p>
        </p:txBody>
      </p:sp>
      <p:sp>
        <p:nvSpPr>
          <p:cNvPr id="87043" name="Rectangle 7"/>
          <p:cNvSpPr>
            <a:spLocks noGrp="1"/>
          </p:cNvSpPr>
          <p:nvPr>
            <p:ph idx="1"/>
          </p:nvPr>
        </p:nvSpPr>
        <p:spPr>
          <a:xfrm>
            <a:off x="981075" y="5915025"/>
            <a:ext cx="6991350" cy="760413"/>
          </a:xfrm>
          <a:ln/>
        </p:spPr>
        <p:txBody>
          <a:bodyPr vert="horz" wrap="square" lIns="91440" tIns="45720" rIns="91440" bIns="45720" anchor="t" anchorCtr="0"/>
          <a:lstStyle/>
          <a:p>
            <a:pPr marL="0" indent="0" algn="l" eaLnBrk="1" hangingPunct="1">
              <a:lnSpc>
                <a:spcPct val="80000"/>
              </a:lnSpc>
              <a:buNone/>
            </a:pPr>
            <a:r>
              <a:rPr lang="en-US" altLang="zh-CN" sz="2000" dirty="0">
                <a:ea typeface="宋体" panose="02010600030101010101" pitchFamily="2" charset="-122"/>
              </a:rPr>
              <a:t>Stable Storage, Crash after drive 1 is updated Bad spot</a:t>
            </a:r>
          </a:p>
          <a:p>
            <a:pPr marL="0" indent="0" algn="l" eaLnBrk="1" hangingPunct="1">
              <a:lnSpc>
                <a:spcPct val="80000"/>
              </a:lnSpc>
              <a:buNone/>
            </a:pPr>
            <a:r>
              <a:rPr lang="en-US" altLang="zh-CN" sz="2000" dirty="0">
                <a:ea typeface="宋体" panose="02010600030101010101" pitchFamily="2" charset="-122"/>
              </a:rPr>
              <a:t>(</a:t>
            </a:r>
            <a:r>
              <a:rPr lang="en-US" altLang="zh-CN" sz="2000" dirty="0">
                <a:ea typeface="楷体_GB2312" pitchFamily="49" charset="-122"/>
              </a:rPr>
              <a:t>Backward recovery:</a:t>
            </a:r>
            <a:r>
              <a:rPr lang="zh-CN" altLang="en-US" sz="2000" dirty="0">
                <a:ea typeface="宋体" panose="02010600030101010101" pitchFamily="2" charset="-122"/>
              </a:rPr>
              <a:t>通过稳定存储器来存储恢复所需要的信息</a:t>
            </a:r>
            <a:r>
              <a:rPr lang="en-US" altLang="zh-CN" sz="2000" dirty="0">
                <a:ea typeface="宋体" panose="02010600030101010101" pitchFamily="2" charset="-122"/>
              </a:rPr>
              <a:t>)</a:t>
            </a:r>
          </a:p>
        </p:txBody>
      </p:sp>
      <p:pic>
        <p:nvPicPr>
          <p:cNvPr id="87044" name="Picture 8"/>
          <p:cNvPicPr>
            <a:picLocks noChangeAspect="1"/>
          </p:cNvPicPr>
          <p:nvPr/>
        </p:nvPicPr>
        <p:blipFill>
          <a:blip r:embed="rId3"/>
          <a:srcRect l="24345" t="41994" r="21379" b="36404"/>
          <a:stretch>
            <a:fillRect/>
          </a:stretch>
        </p:blipFill>
        <p:spPr>
          <a:xfrm>
            <a:off x="630238" y="1236663"/>
            <a:ext cx="7870825" cy="4278312"/>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p>
        </p:txBody>
      </p:sp>
      <p:sp>
        <p:nvSpPr>
          <p:cNvPr id="89091" name="Rectangle 3"/>
          <p:cNvSpPr>
            <a:spLocks noGrp="1"/>
          </p:cNvSpPr>
          <p:nvPr>
            <p:ph idx="1"/>
          </p:nvPr>
        </p:nvSpPr>
        <p:spPr>
          <a:xfrm>
            <a:off x="171450" y="987425"/>
            <a:ext cx="8759825" cy="5245100"/>
          </a:xfrm>
          <a:ln/>
        </p:spPr>
        <p:txBody>
          <a:bodyPr vert="horz" wrap="square" lIns="91440" tIns="45720" rIns="91440" bIns="45720" anchor="t" anchorCtr="0"/>
          <a:lstStyle/>
          <a:p>
            <a:pPr algn="l" eaLnBrk="1" hangingPunct="1">
              <a:lnSpc>
                <a:spcPct val="150000"/>
              </a:lnSpc>
              <a:buNone/>
            </a:pPr>
            <a:r>
              <a:rPr lang="en-US" altLang="zh-CN" sz="2200" dirty="0">
                <a:ea typeface="宋体" panose="02010600030101010101" pitchFamily="2" charset="-122"/>
              </a:rPr>
              <a:t>Backward recovery:</a:t>
            </a:r>
          </a:p>
          <a:p>
            <a:pPr algn="l" eaLnBrk="1" hangingPunct="1">
              <a:lnSpc>
                <a:spcPct val="150000"/>
              </a:lnSpc>
              <a:buNone/>
            </a:pPr>
            <a:r>
              <a:rPr lang="en-US" altLang="zh-CN" sz="2200" dirty="0">
                <a:ea typeface="宋体" panose="02010600030101010101" pitchFamily="2" charset="-122"/>
              </a:rPr>
              <a:t>Checkpointing </a:t>
            </a:r>
            <a:r>
              <a:rPr lang="zh-CN" altLang="en-US" sz="2200" dirty="0">
                <a:ea typeface="宋体" panose="02010600030101010101" pitchFamily="2" charset="-122"/>
              </a:rPr>
              <a:t>设置（包括存储）和更新。</a:t>
            </a:r>
            <a:endParaRPr lang="en-US" altLang="zh-CN" sz="2200" dirty="0">
              <a:ea typeface="宋体" panose="02010600030101010101" pitchFamily="2" charset="-122"/>
            </a:endParaRPr>
          </a:p>
          <a:p>
            <a:pPr algn="l" eaLnBrk="1" hangingPunct="1">
              <a:lnSpc>
                <a:spcPct val="150000"/>
              </a:lnSpc>
              <a:buNone/>
            </a:pPr>
            <a:r>
              <a:rPr lang="zh-CN" altLang="en-US" sz="2200" dirty="0">
                <a:ea typeface="宋体" panose="02010600030101010101" pitchFamily="2" charset="-122"/>
              </a:rPr>
              <a:t>      </a:t>
            </a:r>
            <a:r>
              <a:rPr lang="en-US" altLang="zh-CN" sz="2200" dirty="0">
                <a:ea typeface="宋体" panose="02010600030101010101" pitchFamily="2" charset="-122"/>
              </a:rPr>
              <a:t>1 </a:t>
            </a:r>
            <a:r>
              <a:rPr lang="zh-CN" altLang="en-US" sz="2200" dirty="0">
                <a:ea typeface="宋体" panose="02010600030101010101" pitchFamily="2" charset="-122"/>
              </a:rPr>
              <a:t> </a:t>
            </a:r>
            <a:r>
              <a:rPr lang="zh-CN" altLang="en-US" sz="2200" u="sng" dirty="0">
                <a:ea typeface="宋体" panose="02010600030101010101" pitchFamily="2" charset="-122"/>
              </a:rPr>
              <a:t>存储</a:t>
            </a:r>
            <a:r>
              <a:rPr lang="en-US" altLang="zh-CN" sz="2200" dirty="0">
                <a:ea typeface="宋体" panose="02010600030101010101" pitchFamily="2" charset="-122"/>
              </a:rPr>
              <a:t>: </a:t>
            </a:r>
          </a:p>
          <a:p>
            <a:pPr algn="l" eaLnBrk="1" hangingPunct="1">
              <a:lnSpc>
                <a:spcPct val="150000"/>
              </a:lnSpc>
              <a:buNone/>
            </a:pPr>
            <a:r>
              <a:rPr lang="zh-CN" altLang="en-US" sz="2200" dirty="0">
                <a:ea typeface="宋体" panose="02010600030101010101" pitchFamily="2" charset="-122"/>
              </a:rPr>
              <a:t>         </a:t>
            </a:r>
            <a:r>
              <a:rPr lang="en-US" altLang="zh-CN" sz="2200" dirty="0">
                <a:ea typeface="宋体" panose="02010600030101010101" pitchFamily="2" charset="-122"/>
              </a:rPr>
              <a:t>(1) </a:t>
            </a:r>
            <a:r>
              <a:rPr lang="zh-CN" altLang="en-US" sz="2200" dirty="0">
                <a:ea typeface="宋体" panose="02010600030101010101" pitchFamily="2" charset="-122"/>
              </a:rPr>
              <a:t>每一个</a:t>
            </a:r>
            <a:r>
              <a:rPr lang="en-US" altLang="zh-CN" sz="2200" dirty="0">
                <a:ea typeface="宋体" panose="02010600030101010101" pitchFamily="2" charset="-122"/>
              </a:rPr>
              <a:t>Checkpointing</a:t>
            </a:r>
            <a:r>
              <a:rPr lang="zh-CN" altLang="en-US" sz="2200" dirty="0">
                <a:ea typeface="宋体" panose="02010600030101010101" pitchFamily="2" charset="-122"/>
              </a:rPr>
              <a:t>组播到每一个备份模块</a:t>
            </a:r>
            <a:r>
              <a:rPr lang="en-US" altLang="zh-CN" sz="2200" dirty="0">
                <a:ea typeface="宋体" panose="02010600030101010101" pitchFamily="2" charset="-122"/>
              </a:rPr>
              <a:t>.</a:t>
            </a:r>
          </a:p>
          <a:p>
            <a:pPr algn="l" eaLnBrk="1" hangingPunct="1">
              <a:lnSpc>
                <a:spcPct val="150000"/>
              </a:lnSpc>
              <a:buNone/>
            </a:pPr>
            <a:r>
              <a:rPr lang="zh-CN" altLang="en-US" sz="2200" dirty="0">
                <a:ea typeface="宋体" panose="02010600030101010101" pitchFamily="2" charset="-122"/>
              </a:rPr>
              <a:t>         </a:t>
            </a:r>
            <a:r>
              <a:rPr lang="en-US" altLang="zh-CN" sz="2200" dirty="0">
                <a:ea typeface="宋体" panose="02010600030101010101" pitchFamily="2" charset="-122"/>
              </a:rPr>
              <a:t>(2) </a:t>
            </a:r>
            <a:r>
              <a:rPr lang="zh-CN" altLang="en-US" sz="2200" dirty="0">
                <a:ea typeface="宋体" panose="02010600030101010101" pitchFamily="2" charset="-122"/>
              </a:rPr>
              <a:t>每一个</a:t>
            </a:r>
            <a:r>
              <a:rPr lang="en-US" altLang="zh-CN" sz="2200" dirty="0">
                <a:ea typeface="宋体" panose="02010600030101010101" pitchFamily="2" charset="-122"/>
              </a:rPr>
              <a:t>Checkpointing</a:t>
            </a:r>
            <a:r>
              <a:rPr lang="zh-CN" altLang="en-US" sz="2200" dirty="0">
                <a:ea typeface="宋体" panose="02010600030101010101" pitchFamily="2" charset="-122"/>
              </a:rPr>
              <a:t>存储在它的本地</a:t>
            </a:r>
            <a:r>
              <a:rPr lang="en-US" altLang="zh-CN" sz="2200" dirty="0">
                <a:ea typeface="宋体" panose="02010600030101010101" pitchFamily="2" charset="-122"/>
              </a:rPr>
              <a:t>Stable Storage</a:t>
            </a:r>
          </a:p>
          <a:p>
            <a:pPr algn="l" eaLnBrk="1" hangingPunct="1">
              <a:lnSpc>
                <a:spcPct val="150000"/>
              </a:lnSpc>
              <a:buNone/>
            </a:pPr>
            <a:r>
              <a:rPr lang="zh-CN" altLang="en-US" sz="2200" dirty="0">
                <a:ea typeface="宋体" panose="02010600030101010101" pitchFamily="2" charset="-122"/>
              </a:rPr>
              <a:t>      </a:t>
            </a:r>
            <a:r>
              <a:rPr lang="en-US" altLang="zh-CN" sz="2200" dirty="0">
                <a:ea typeface="宋体" panose="02010600030101010101" pitchFamily="2" charset="-122"/>
              </a:rPr>
              <a:t>2  </a:t>
            </a:r>
            <a:r>
              <a:rPr lang="zh-CN" altLang="en-US" sz="2200" u="sng" dirty="0">
                <a:ea typeface="宋体" panose="02010600030101010101" pitchFamily="2" charset="-122"/>
              </a:rPr>
              <a:t>更新</a:t>
            </a:r>
            <a:r>
              <a:rPr lang="en-US" altLang="zh-CN" sz="2200" dirty="0">
                <a:ea typeface="宋体" panose="02010600030101010101" pitchFamily="2" charset="-122"/>
              </a:rPr>
              <a:t>: </a:t>
            </a:r>
          </a:p>
          <a:p>
            <a:pPr algn="l" eaLnBrk="1" hangingPunct="1">
              <a:lnSpc>
                <a:spcPct val="150000"/>
              </a:lnSpc>
              <a:buNone/>
            </a:pPr>
            <a:r>
              <a:rPr lang="zh-CN" altLang="en-US" sz="2200" dirty="0">
                <a:ea typeface="宋体" panose="02010600030101010101" pitchFamily="2" charset="-122"/>
              </a:rPr>
              <a:t>           当进程正确地从一个旧</a:t>
            </a:r>
            <a:r>
              <a:rPr lang="en-US" altLang="zh-CN" sz="2200" dirty="0">
                <a:ea typeface="宋体" panose="02010600030101010101" pitchFamily="2" charset="-122"/>
              </a:rPr>
              <a:t>Checkpointing</a:t>
            </a:r>
            <a:r>
              <a:rPr lang="zh-CN" altLang="en-US" sz="2200" dirty="0">
                <a:ea typeface="宋体" panose="02010600030101010101" pitchFamily="2" charset="-122"/>
              </a:rPr>
              <a:t>运行到一个新的</a:t>
            </a:r>
            <a:r>
              <a:rPr lang="en-US" altLang="zh-CN" sz="2200" dirty="0">
                <a:ea typeface="宋体" panose="02010600030101010101" pitchFamily="2" charset="-122"/>
              </a:rPr>
              <a:t>Checkpointing</a:t>
            </a:r>
            <a:r>
              <a:rPr lang="zh-CN" altLang="en-US" sz="2200" dirty="0">
                <a:ea typeface="宋体" panose="02010600030101010101" pitchFamily="2" charset="-122"/>
              </a:rPr>
              <a:t>时，旧的</a:t>
            </a:r>
            <a:r>
              <a:rPr lang="en-US" altLang="zh-CN" sz="2200" dirty="0">
                <a:ea typeface="宋体" panose="02010600030101010101" pitchFamily="2" charset="-122"/>
              </a:rPr>
              <a:t>Checkpointing</a:t>
            </a:r>
            <a:r>
              <a:rPr lang="zh-CN" altLang="en-US" sz="2200" dirty="0">
                <a:ea typeface="宋体" panose="02010600030101010101" pitchFamily="2" charset="-122"/>
              </a:rPr>
              <a:t>要被新的</a:t>
            </a:r>
            <a:r>
              <a:rPr lang="en-US" altLang="zh-CN" sz="2200" dirty="0">
                <a:ea typeface="宋体" panose="02010600030101010101" pitchFamily="2" charset="-122"/>
              </a:rPr>
              <a:t>Checkpointing</a:t>
            </a:r>
            <a:r>
              <a:rPr lang="zh-CN" altLang="en-US" sz="2200" dirty="0">
                <a:ea typeface="宋体" panose="02010600030101010101" pitchFamily="2" charset="-122"/>
              </a:rPr>
              <a:t>替换</a:t>
            </a:r>
            <a:r>
              <a:rPr lang="en-US" altLang="zh-CN" sz="2200" dirty="0">
                <a:ea typeface="宋体" panose="02010600030101010101" pitchFamily="2" charset="-122"/>
              </a:rPr>
              <a:t>.         </a:t>
            </a:r>
          </a:p>
          <a:p>
            <a:pPr algn="l" eaLnBrk="1" hangingPunct="1">
              <a:lnSpc>
                <a:spcPct val="150000"/>
              </a:lnSpc>
              <a:buNone/>
            </a:pPr>
            <a:r>
              <a:rPr lang="zh-CN" altLang="en-US" sz="2200" b="1" dirty="0">
                <a:solidFill>
                  <a:srgbClr val="FF0000"/>
                </a:solidFill>
                <a:ea typeface="宋体" panose="02010600030101010101" pitchFamily="2" charset="-122"/>
              </a:rPr>
              <a:t>           如何保证更新（替换）过程的正确性</a:t>
            </a:r>
            <a:r>
              <a:rPr lang="en-US" altLang="zh-CN" sz="2200" b="1" dirty="0">
                <a:solidFill>
                  <a:srgbClr val="FF0000"/>
                </a:solidFill>
                <a:ea typeface="宋体" panose="02010600030101010101" pitchFamily="2" charset="-122"/>
              </a:rPr>
              <a:t>?</a:t>
            </a:r>
            <a:r>
              <a:rPr lang="zh-CN" altLang="en-US" sz="2200" dirty="0">
                <a:ea typeface="宋体" panose="02010600030101010101" pitchFamily="2" charset="-122"/>
              </a:rPr>
              <a:t>        </a:t>
            </a:r>
            <a:r>
              <a:rPr lang="en-US" altLang="zh-CN" sz="2200" dirty="0">
                <a:ea typeface="宋体" panose="02010600030101010101" pitchFamily="2" charset="-122"/>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0" y="0"/>
            <a:ext cx="9144000" cy="565150"/>
          </a:xfrm>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p>
        </p:txBody>
      </p:sp>
      <p:sp>
        <p:nvSpPr>
          <p:cNvPr id="91139" name="Rectangle 3"/>
          <p:cNvSpPr>
            <a:spLocks noGrp="1"/>
          </p:cNvSpPr>
          <p:nvPr>
            <p:ph idx="1"/>
          </p:nvPr>
        </p:nvSpPr>
        <p:spPr>
          <a:xfrm>
            <a:off x="250825" y="1222375"/>
            <a:ext cx="8469313" cy="3806825"/>
          </a:xfrm>
          <a:ln/>
        </p:spPr>
        <p:txBody>
          <a:bodyPr vert="horz" wrap="square" lIns="91440" tIns="45720" rIns="91440" bIns="45720" anchor="t" anchorCtr="0"/>
          <a:lstStyle/>
          <a:p>
            <a:pPr marL="0" indent="0" algn="l" eaLnBrk="1" hangingPunct="1">
              <a:lnSpc>
                <a:spcPct val="150000"/>
              </a:lnSpc>
              <a:buNone/>
            </a:pPr>
            <a:r>
              <a:rPr lang="zh-CN" altLang="en-US" sz="2400" b="1" dirty="0">
                <a:latin typeface="宋体" panose="02010600030101010101" pitchFamily="2" charset="-122"/>
                <a:ea typeface="宋体" panose="02010600030101010101" pitchFamily="2" charset="-122"/>
              </a:rPr>
              <a:t>一种更新方法</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用</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个库实现原子更新</a:t>
            </a:r>
            <a:r>
              <a:rPr lang="en-US" altLang="zh-CN" sz="2400" b="1" dirty="0">
                <a:latin typeface="宋体" panose="02010600030101010101" pitchFamily="2" charset="-122"/>
                <a:ea typeface="宋体" panose="02010600030101010101" pitchFamily="2" charset="-122"/>
              </a:rPr>
              <a:t>):</a:t>
            </a:r>
          </a:p>
          <a:p>
            <a:pPr lvl="1" eaLnBrk="1" hangingPunct="1">
              <a:lnSpc>
                <a:spcPct val="150000"/>
              </a:lnSpc>
              <a:buFont typeface="Wingdings" panose="05000000000000000000" pitchFamily="2" charset="2"/>
              <a:buChar char="u"/>
            </a:pPr>
            <a:r>
              <a:rPr lang="zh-CN" altLang="en-US" sz="2400" b="1" dirty="0">
                <a:latin typeface="宋体" panose="02010600030101010101" pitchFamily="2" charset="-122"/>
                <a:ea typeface="宋体" panose="02010600030101010101" pitchFamily="2" charset="-122"/>
              </a:rPr>
              <a:t>设</a:t>
            </a:r>
            <a:r>
              <a:rPr lang="en-US" altLang="zh-CN" sz="2400" b="1" dirty="0">
                <a:latin typeface="宋体" panose="02010600030101010101" pitchFamily="2" charset="-122"/>
                <a:ea typeface="宋体" panose="02010600030101010101" pitchFamily="2" charset="-122"/>
              </a:rPr>
              <a:t>A, B</a:t>
            </a:r>
            <a:r>
              <a:rPr lang="zh-CN" altLang="en-US" sz="2400" b="1" dirty="0">
                <a:latin typeface="宋体" panose="02010600030101010101" pitchFamily="2" charset="-122"/>
                <a:ea typeface="宋体" panose="02010600030101010101" pitchFamily="2" charset="-122"/>
              </a:rPr>
              <a:t>两个库存放</a:t>
            </a:r>
            <a:r>
              <a:rPr lang="en-US" altLang="zh-CN" sz="2400" b="1" dirty="0">
                <a:latin typeface="宋体" panose="02010600030101010101" pitchFamily="2" charset="-122"/>
                <a:ea typeface="宋体" panose="02010600030101010101" pitchFamily="2" charset="-122"/>
              </a:rPr>
              <a:t>Checkpointing</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库更新完后，再更新</a:t>
            </a:r>
            <a:r>
              <a:rPr lang="en-US" altLang="zh-CN" sz="2400" b="1" dirty="0">
                <a:latin typeface="宋体" panose="02010600030101010101" pitchFamily="2" charset="-122"/>
                <a:ea typeface="宋体" panose="02010600030101010101" pitchFamily="2" charset="-122"/>
              </a:rPr>
              <a:t>B</a:t>
            </a:r>
            <a:r>
              <a:rPr lang="zh-CN" altLang="en-US" sz="2400" b="1" dirty="0">
                <a:latin typeface="宋体" panose="02010600030101010101" pitchFamily="2" charset="-122"/>
                <a:ea typeface="宋体" panose="02010600030101010101" pitchFamily="2" charset="-122"/>
              </a:rPr>
              <a:t>库。在每一个库更新前后都要写入一个时间戳。</a:t>
            </a:r>
            <a:endParaRPr lang="en-US" altLang="zh-CN" sz="24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en-US" altLang="zh-CN" sz="2400" b="1" dirty="0">
                <a:latin typeface="宋体" panose="02010600030101010101" pitchFamily="2" charset="-122"/>
                <a:ea typeface="宋体" panose="02010600030101010101" pitchFamily="2" charset="-122"/>
              </a:rPr>
              <a:t>T</a:t>
            </a:r>
            <a:r>
              <a:rPr lang="en-US" altLang="zh-CN" sz="2400" b="1" baseline="-25000" dirty="0">
                <a:latin typeface="宋体" panose="02010600030101010101" pitchFamily="2" charset="-122"/>
                <a:ea typeface="宋体" panose="02010600030101010101" pitchFamily="2" charset="-122"/>
              </a:rPr>
              <a:t>A1</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T</a:t>
            </a:r>
            <a:r>
              <a:rPr lang="en-US" altLang="zh-CN" sz="2400" b="1" baseline="-25000" dirty="0">
                <a:latin typeface="宋体" panose="02010600030101010101" pitchFamily="2" charset="-122"/>
                <a:ea typeface="宋体" panose="02010600030101010101" pitchFamily="2" charset="-122"/>
              </a:rPr>
              <a:t>A2</a:t>
            </a:r>
            <a:r>
              <a:rPr lang="zh-CN" altLang="en-US" sz="2400" b="1" dirty="0">
                <a:latin typeface="宋体" panose="02010600030101010101" pitchFamily="2" charset="-122"/>
                <a:ea typeface="宋体" panose="02010600030101010101" pitchFamily="2" charset="-122"/>
              </a:rPr>
              <a:t>分别表示</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库更新前后的时间戳；</a:t>
            </a:r>
          </a:p>
          <a:p>
            <a:pPr lvl="1" eaLnBrk="1" hangingPunct="1">
              <a:lnSpc>
                <a:spcPct val="150000"/>
              </a:lnSpc>
              <a:buFont typeface="Wingdings" panose="05000000000000000000" pitchFamily="2" charset="2"/>
              <a:buChar char="u"/>
            </a:pPr>
            <a:r>
              <a:rPr lang="en-US" altLang="zh-CN" sz="2400" b="1" dirty="0">
                <a:latin typeface="宋体" panose="02010600030101010101" pitchFamily="2" charset="-122"/>
                <a:ea typeface="宋体" panose="02010600030101010101" pitchFamily="2" charset="-122"/>
              </a:rPr>
              <a:t>T</a:t>
            </a:r>
            <a:r>
              <a:rPr lang="en-US" altLang="zh-CN" sz="2400" b="1" baseline="-25000" dirty="0">
                <a:latin typeface="宋体" panose="02010600030101010101" pitchFamily="2" charset="-122"/>
                <a:ea typeface="宋体" panose="02010600030101010101" pitchFamily="2" charset="-122"/>
              </a:rPr>
              <a:t>B1</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T</a:t>
            </a:r>
            <a:r>
              <a:rPr lang="en-US" altLang="zh-CN" sz="2400" b="1" baseline="-25000" dirty="0">
                <a:latin typeface="宋体" panose="02010600030101010101" pitchFamily="2" charset="-122"/>
                <a:ea typeface="宋体" panose="02010600030101010101" pitchFamily="2" charset="-122"/>
              </a:rPr>
              <a:t>B2</a:t>
            </a:r>
            <a:r>
              <a:rPr lang="zh-CN" altLang="en-US" sz="2400" b="1" dirty="0">
                <a:latin typeface="宋体" panose="02010600030101010101" pitchFamily="2" charset="-122"/>
                <a:ea typeface="宋体" panose="02010600030101010101" pitchFamily="2" charset="-122"/>
              </a:rPr>
              <a:t>分别表示</a:t>
            </a:r>
            <a:r>
              <a:rPr lang="en-US" altLang="zh-CN" sz="2400" b="1" dirty="0">
                <a:latin typeface="宋体" panose="02010600030101010101" pitchFamily="2" charset="-122"/>
                <a:ea typeface="宋体" panose="02010600030101010101" pitchFamily="2" charset="-122"/>
              </a:rPr>
              <a:t>B</a:t>
            </a:r>
            <a:r>
              <a:rPr lang="zh-CN" altLang="en-US" sz="2400" b="1" dirty="0">
                <a:latin typeface="宋体" panose="02010600030101010101" pitchFamily="2" charset="-122"/>
                <a:ea typeface="宋体" panose="02010600030101010101" pitchFamily="2" charset="-122"/>
              </a:rPr>
              <a:t>库更新前后的时间戳；</a:t>
            </a:r>
            <a:endParaRPr lang="en-US" altLang="zh-CN" sz="24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en-US" altLang="zh-CN" sz="2400" b="1" dirty="0">
                <a:latin typeface="宋体" panose="02010600030101010101" pitchFamily="2" charset="-122"/>
                <a:ea typeface="宋体" panose="02010600030101010101" pitchFamily="2" charset="-122"/>
              </a:rPr>
              <a:t>T</a:t>
            </a:r>
            <a:r>
              <a:rPr lang="en-US" altLang="zh-CN" sz="2400" b="1" baseline="-25000" dirty="0">
                <a:latin typeface="宋体" panose="02010600030101010101" pitchFamily="2" charset="-122"/>
                <a:ea typeface="宋体" panose="02010600030101010101" pitchFamily="2" charset="-122"/>
              </a:rPr>
              <a:t>A1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T</a:t>
            </a:r>
            <a:r>
              <a:rPr lang="en-US" altLang="zh-CN" sz="2400" b="1" baseline="-25000" dirty="0">
                <a:latin typeface="宋体" panose="02010600030101010101" pitchFamily="2" charset="-122"/>
                <a:ea typeface="宋体" panose="02010600030101010101" pitchFamily="2" charset="-122"/>
              </a:rPr>
              <a:t>A2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T</a:t>
            </a:r>
            <a:r>
              <a:rPr lang="en-US" altLang="zh-CN" sz="2400" b="1" baseline="-25000" dirty="0">
                <a:latin typeface="宋体" panose="02010600030101010101" pitchFamily="2" charset="-122"/>
                <a:ea typeface="宋体" panose="02010600030101010101" pitchFamily="2" charset="-122"/>
              </a:rPr>
              <a:t>B1</a:t>
            </a:r>
            <a:r>
              <a:rPr lang="zh-CN" altLang="en-US"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T</a:t>
            </a:r>
            <a:r>
              <a:rPr lang="en-US" altLang="zh-CN" sz="2400" b="1" baseline="-25000" dirty="0">
                <a:latin typeface="宋体" panose="02010600030101010101" pitchFamily="2" charset="-122"/>
                <a:ea typeface="宋体" panose="02010600030101010101" pitchFamily="2" charset="-122"/>
              </a:rPr>
              <a:t>B2</a:t>
            </a:r>
            <a:r>
              <a:rPr lang="zh-CN" altLang="en-US" sz="2400" b="1" dirty="0">
                <a:latin typeface="宋体" panose="02010600030101010101" pitchFamily="2" charset="-122"/>
                <a:ea typeface="宋体" panose="02010600030101010101" pitchFamily="2" charset="-122"/>
              </a:rPr>
              <a:t>初始值相同（假设为</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a:xfrm>
            <a:off x="1954213" y="0"/>
            <a:ext cx="5011737" cy="571500"/>
          </a:xfrm>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p>
        </p:txBody>
      </p:sp>
      <p:sp>
        <p:nvSpPr>
          <p:cNvPr id="92163" name="Rectangle 3"/>
          <p:cNvSpPr>
            <a:spLocks noGrp="1"/>
          </p:cNvSpPr>
          <p:nvPr>
            <p:ph idx="1"/>
          </p:nvPr>
        </p:nvSpPr>
        <p:spPr>
          <a:xfrm>
            <a:off x="100013" y="4168775"/>
            <a:ext cx="8943975" cy="2689225"/>
          </a:xfrm>
          <a:ln/>
        </p:spPr>
        <p:txBody>
          <a:bodyPr vert="horz" wrap="square" lIns="91440" tIns="45720" rIns="91440" bIns="45720" anchor="t" anchorCtr="0"/>
          <a:lstStyle/>
          <a:p>
            <a:pPr algn="l" eaLnBrk="1" hangingPunct="1">
              <a:lnSpc>
                <a:spcPct val="150000"/>
              </a:lnSpc>
              <a:buNone/>
            </a:pPr>
            <a:r>
              <a:rPr lang="zh-CN" altLang="en-US" sz="2000" b="1" dirty="0">
                <a:solidFill>
                  <a:srgbClr val="FF0000"/>
                </a:solidFill>
                <a:latin typeface="宋体" panose="02010600030101010101" pitchFamily="2" charset="-122"/>
                <a:ea typeface="宋体" panose="02010600030101010101" pitchFamily="2" charset="-122"/>
              </a:rPr>
              <a:t>可能的情况：</a:t>
            </a:r>
          </a:p>
          <a:p>
            <a:pPr algn="l" eaLnBrk="1" hangingPunct="1">
              <a:lnSpc>
                <a:spcPct val="150000"/>
              </a:lnSpc>
              <a:buFont typeface="Wingdings" panose="05000000000000000000" pitchFamily="2" charset="2"/>
              <a:buChar char="u"/>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if  T</a:t>
            </a:r>
            <a:r>
              <a:rPr lang="en-US" altLang="zh-CN" sz="2000" b="1" baseline="-25000" dirty="0">
                <a:latin typeface="宋体" panose="02010600030101010101" pitchFamily="2" charset="-122"/>
                <a:ea typeface="宋体" panose="02010600030101010101" pitchFamily="2" charset="-122"/>
              </a:rPr>
              <a:t>A1</a:t>
            </a:r>
            <a:r>
              <a:rPr lang="en-US" altLang="zh-CN" sz="2000" b="1" dirty="0">
                <a:latin typeface="宋体" panose="02010600030101010101" pitchFamily="2" charset="-122"/>
                <a:ea typeface="宋体" panose="02010600030101010101" pitchFamily="2" charset="-122"/>
              </a:rPr>
              <a:t> = T</a:t>
            </a:r>
            <a:r>
              <a:rPr lang="en-US" altLang="zh-CN" sz="2000" b="1" baseline="-25000" dirty="0">
                <a:latin typeface="宋体" panose="02010600030101010101" pitchFamily="2" charset="-122"/>
                <a:ea typeface="宋体" panose="02010600030101010101" pitchFamily="2" charset="-122"/>
              </a:rPr>
              <a:t>A2</a:t>
            </a:r>
            <a:r>
              <a:rPr lang="en-US" altLang="zh-CN" sz="2000" b="1" dirty="0">
                <a:latin typeface="宋体" panose="02010600030101010101" pitchFamily="2" charset="-122"/>
                <a:ea typeface="宋体" panose="02010600030101010101" pitchFamily="2" charset="-122"/>
              </a:rPr>
              <a:t> = T</a:t>
            </a:r>
            <a:r>
              <a:rPr lang="en-US" altLang="zh-CN" sz="2000" b="1" baseline="-25000" dirty="0">
                <a:latin typeface="宋体" panose="02010600030101010101" pitchFamily="2" charset="-122"/>
                <a:ea typeface="宋体" panose="02010600030101010101" pitchFamily="2" charset="-122"/>
              </a:rPr>
              <a:t>B1 </a:t>
            </a:r>
            <a:r>
              <a:rPr lang="en-US" altLang="zh-CN" sz="2000" b="1" dirty="0">
                <a:latin typeface="宋体" panose="02010600030101010101" pitchFamily="2" charset="-122"/>
                <a:ea typeface="宋体" panose="02010600030101010101" pitchFamily="2" charset="-122"/>
              </a:rPr>
              <a:t>= T</a:t>
            </a:r>
            <a:r>
              <a:rPr lang="en-US" altLang="zh-CN" sz="2000" b="1" baseline="-25000" dirty="0">
                <a:latin typeface="宋体" panose="02010600030101010101" pitchFamily="2" charset="-122"/>
                <a:ea typeface="宋体" panose="02010600030101010101" pitchFamily="2" charset="-122"/>
              </a:rPr>
              <a:t>B2 </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else </a:t>
            </a:r>
            <a:r>
              <a:rPr lang="zh-CN" altLang="en-US" sz="2000" b="1" dirty="0">
                <a:latin typeface="宋体" panose="02010600030101010101" pitchFamily="2" charset="-122"/>
                <a:ea typeface="宋体" panose="02010600030101010101" pitchFamily="2" charset="-122"/>
              </a:rPr>
              <a:t>正常</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p>
          <a:p>
            <a:pPr algn="l" eaLnBrk="1" hangingPunct="1">
              <a:lnSpc>
                <a:spcPct val="150000"/>
              </a:lnSpc>
              <a:buFont typeface="Wingdings" panose="05000000000000000000" pitchFamily="2" charset="2"/>
              <a:buChar char="u"/>
            </a:pPr>
            <a:r>
              <a:rPr lang="en-US" altLang="zh-CN" sz="2000" b="1" dirty="0">
                <a:latin typeface="宋体" panose="02010600030101010101" pitchFamily="2" charset="-122"/>
                <a:ea typeface="宋体" panose="02010600030101010101" pitchFamily="2" charset="-122"/>
              </a:rPr>
              <a:t> if  T</a:t>
            </a:r>
            <a:r>
              <a:rPr lang="en-US" altLang="zh-CN" sz="2000" b="1" baseline="-25000" dirty="0">
                <a:latin typeface="宋体" panose="02010600030101010101" pitchFamily="2" charset="-122"/>
                <a:ea typeface="宋体" panose="02010600030101010101" pitchFamily="2" charset="-122"/>
              </a:rPr>
              <a:t>A1 </a:t>
            </a:r>
            <a:r>
              <a:rPr lang="en-US" altLang="zh-CN" sz="2000" b="1" dirty="0">
                <a:latin typeface="宋体" panose="02010600030101010101" pitchFamily="2" charset="-122"/>
                <a:ea typeface="宋体" panose="02010600030101010101" pitchFamily="2" charset="-122"/>
              </a:rPr>
              <a:t>&gt; T</a:t>
            </a:r>
            <a:r>
              <a:rPr lang="en-US" altLang="zh-CN" sz="2000" b="1" baseline="-25000" dirty="0">
                <a:latin typeface="宋体" panose="02010600030101010101" pitchFamily="2" charset="-122"/>
                <a:ea typeface="宋体" panose="02010600030101010101" pitchFamily="2" charset="-122"/>
              </a:rPr>
              <a:t>A2 </a:t>
            </a:r>
            <a:r>
              <a:rPr lang="en-US" altLang="zh-CN" sz="2000" b="1" dirty="0">
                <a:latin typeface="宋体" panose="02010600030101010101" pitchFamily="2" charset="-122"/>
                <a:ea typeface="宋体" panose="02010600030101010101" pitchFamily="2" charset="-122"/>
              </a:rPr>
              <a:t>= T</a:t>
            </a:r>
            <a:r>
              <a:rPr lang="en-US" altLang="zh-CN" sz="2000" b="1" baseline="-25000" dirty="0">
                <a:latin typeface="宋体" panose="02010600030101010101" pitchFamily="2" charset="-122"/>
                <a:ea typeface="宋体" panose="02010600030101010101" pitchFamily="2" charset="-122"/>
              </a:rPr>
              <a:t>B1 </a:t>
            </a:r>
            <a:r>
              <a:rPr lang="en-US" altLang="zh-CN" sz="2000" b="1" dirty="0">
                <a:latin typeface="宋体" panose="02010600030101010101" pitchFamily="2" charset="-122"/>
                <a:ea typeface="宋体" panose="02010600030101010101" pitchFamily="2" charset="-122"/>
              </a:rPr>
              <a:t>= T</a:t>
            </a:r>
            <a:r>
              <a:rPr lang="en-US" altLang="zh-CN" sz="2000" b="1" baseline="-25000" dirty="0">
                <a:latin typeface="宋体" panose="02010600030101010101" pitchFamily="2" charset="-122"/>
                <a:ea typeface="宋体" panose="02010600030101010101" pitchFamily="2" charset="-122"/>
              </a:rPr>
              <a:t>B2   </a:t>
            </a:r>
            <a:r>
              <a:rPr lang="en-US" altLang="zh-CN" sz="2000" b="1" dirty="0">
                <a:latin typeface="宋体" panose="02010600030101010101" pitchFamily="2" charset="-122"/>
                <a:ea typeface="宋体" panose="02010600030101010101" pitchFamily="2" charset="-122"/>
              </a:rPr>
              <a:t>else copy B to A;/*A</a:t>
            </a:r>
            <a:r>
              <a:rPr lang="zh-CN" altLang="en-US" sz="2000" b="1" dirty="0">
                <a:latin typeface="宋体" panose="02010600030101010101" pitchFamily="2" charset="-122"/>
                <a:ea typeface="宋体" panose="02010600030101010101" pitchFamily="2" charset="-122"/>
              </a:rPr>
              <a:t>更新中失效</a:t>
            </a:r>
          </a:p>
          <a:p>
            <a:pPr algn="l" eaLnBrk="1" hangingPunct="1">
              <a:lnSpc>
                <a:spcPct val="150000"/>
              </a:lnSpc>
              <a:buFont typeface="Wingdings" panose="05000000000000000000" pitchFamily="2" charset="2"/>
              <a:buChar char="u"/>
            </a:pPr>
            <a:r>
              <a:rPr lang="en-US" altLang="zh-CN" sz="2000" b="1" dirty="0">
                <a:latin typeface="宋体" panose="02010600030101010101" pitchFamily="2" charset="-122"/>
                <a:ea typeface="宋体" panose="02010600030101010101" pitchFamily="2" charset="-122"/>
              </a:rPr>
              <a:t> if  T</a:t>
            </a:r>
            <a:r>
              <a:rPr lang="en-US" altLang="zh-CN" sz="2000" b="1" baseline="-25000" dirty="0">
                <a:latin typeface="宋体" panose="02010600030101010101" pitchFamily="2" charset="-122"/>
                <a:ea typeface="宋体" panose="02010600030101010101" pitchFamily="2" charset="-122"/>
              </a:rPr>
              <a:t>A1 </a:t>
            </a:r>
            <a:r>
              <a:rPr lang="en-US" altLang="zh-CN" sz="2000" b="1" dirty="0">
                <a:latin typeface="宋体" panose="02010600030101010101" pitchFamily="2" charset="-122"/>
                <a:ea typeface="宋体" panose="02010600030101010101" pitchFamily="2" charset="-122"/>
              </a:rPr>
              <a:t>= T</a:t>
            </a:r>
            <a:r>
              <a:rPr lang="en-US" altLang="zh-CN" sz="2000" b="1" baseline="-25000" dirty="0">
                <a:latin typeface="宋体" panose="02010600030101010101" pitchFamily="2" charset="-122"/>
                <a:ea typeface="宋体" panose="02010600030101010101" pitchFamily="2" charset="-122"/>
              </a:rPr>
              <a:t>A2 </a:t>
            </a:r>
            <a:r>
              <a:rPr lang="en-US" altLang="zh-CN" sz="2000" b="1" dirty="0">
                <a:latin typeface="宋体" panose="02010600030101010101" pitchFamily="2" charset="-122"/>
                <a:ea typeface="宋体" panose="02010600030101010101" pitchFamily="2" charset="-122"/>
              </a:rPr>
              <a:t>&gt; T</a:t>
            </a:r>
            <a:r>
              <a:rPr lang="en-US" altLang="zh-CN" sz="2000" b="1" baseline="-25000" dirty="0">
                <a:latin typeface="宋体" panose="02010600030101010101" pitchFamily="2" charset="-122"/>
                <a:ea typeface="宋体" panose="02010600030101010101" pitchFamily="2" charset="-122"/>
              </a:rPr>
              <a:t>B1 </a:t>
            </a:r>
            <a:r>
              <a:rPr lang="en-US" altLang="zh-CN" sz="2000" b="1" dirty="0">
                <a:latin typeface="宋体" panose="02010600030101010101" pitchFamily="2" charset="-122"/>
                <a:ea typeface="宋体" panose="02010600030101010101" pitchFamily="2" charset="-122"/>
              </a:rPr>
              <a:t>= T</a:t>
            </a:r>
            <a:r>
              <a:rPr lang="en-US" altLang="zh-CN" sz="2000" b="1" baseline="-25000" dirty="0">
                <a:latin typeface="宋体" panose="02010600030101010101" pitchFamily="2" charset="-122"/>
                <a:ea typeface="宋体" panose="02010600030101010101" pitchFamily="2" charset="-122"/>
              </a:rPr>
              <a:t>B2  </a:t>
            </a:r>
            <a:r>
              <a:rPr lang="en-US" altLang="zh-CN" sz="2000" b="1" dirty="0">
                <a:latin typeface="宋体" panose="02010600030101010101" pitchFamily="2" charset="-122"/>
                <a:ea typeface="宋体" panose="02010600030101010101" pitchFamily="2" charset="-122"/>
              </a:rPr>
              <a:t>else copy A to B;/*A</a:t>
            </a:r>
            <a:r>
              <a:rPr lang="zh-CN" altLang="en-US" sz="2000" b="1" dirty="0">
                <a:latin typeface="宋体" panose="02010600030101010101" pitchFamily="2" charset="-122"/>
                <a:ea typeface="宋体" panose="02010600030101010101" pitchFamily="2" charset="-122"/>
              </a:rPr>
              <a:t>更新结束，</a:t>
            </a:r>
            <a:r>
              <a:rPr lang="en-US" altLang="zh-CN" sz="2000" b="1"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更新前失效                                      </a:t>
            </a:r>
          </a:p>
          <a:p>
            <a:pPr algn="l" eaLnBrk="1" hangingPunct="1">
              <a:lnSpc>
                <a:spcPct val="150000"/>
              </a:lnSpc>
              <a:buFont typeface="Wingdings" panose="05000000000000000000" pitchFamily="2" charset="2"/>
              <a:buChar char="u"/>
            </a:pPr>
            <a:r>
              <a:rPr lang="en-US" altLang="zh-CN" sz="2000" b="1" dirty="0">
                <a:latin typeface="宋体" panose="02010600030101010101" pitchFamily="2" charset="-122"/>
                <a:ea typeface="宋体" panose="02010600030101010101" pitchFamily="2" charset="-122"/>
              </a:rPr>
              <a:t> if   T</a:t>
            </a:r>
            <a:r>
              <a:rPr lang="en-US" altLang="zh-CN" sz="2000" b="1" baseline="-25000" dirty="0">
                <a:latin typeface="宋体" panose="02010600030101010101" pitchFamily="2" charset="-122"/>
                <a:ea typeface="宋体" panose="02010600030101010101" pitchFamily="2" charset="-122"/>
              </a:rPr>
              <a:t>A1 </a:t>
            </a:r>
            <a:r>
              <a:rPr lang="en-US" altLang="zh-CN" sz="2000" b="1" dirty="0">
                <a:latin typeface="宋体" panose="02010600030101010101" pitchFamily="2" charset="-122"/>
                <a:ea typeface="宋体" panose="02010600030101010101" pitchFamily="2" charset="-122"/>
              </a:rPr>
              <a:t>= T</a:t>
            </a:r>
            <a:r>
              <a:rPr lang="en-US" altLang="zh-CN" sz="2000" b="1" baseline="-25000" dirty="0">
                <a:latin typeface="宋体" panose="02010600030101010101" pitchFamily="2" charset="-122"/>
                <a:ea typeface="宋体" panose="02010600030101010101" pitchFamily="2" charset="-122"/>
              </a:rPr>
              <a:t>A2 </a:t>
            </a:r>
            <a:r>
              <a:rPr lang="en-US" altLang="zh-CN" sz="2000" b="1" dirty="0">
                <a:latin typeface="宋体" panose="02010600030101010101" pitchFamily="2" charset="-122"/>
                <a:ea typeface="宋体" panose="02010600030101010101" pitchFamily="2" charset="-122"/>
              </a:rPr>
              <a:t>= T</a:t>
            </a:r>
            <a:r>
              <a:rPr lang="en-US" altLang="zh-CN" sz="2000" b="1" baseline="-25000" dirty="0">
                <a:latin typeface="宋体" panose="02010600030101010101" pitchFamily="2" charset="-122"/>
                <a:ea typeface="宋体" panose="02010600030101010101" pitchFamily="2" charset="-122"/>
              </a:rPr>
              <a:t>B1 </a:t>
            </a:r>
            <a:r>
              <a:rPr lang="en-US" altLang="zh-CN" sz="2000" b="1" dirty="0">
                <a:latin typeface="宋体" panose="02010600030101010101" pitchFamily="2" charset="-122"/>
                <a:ea typeface="宋体" panose="02010600030101010101" pitchFamily="2" charset="-122"/>
              </a:rPr>
              <a:t>&gt; T</a:t>
            </a:r>
            <a:r>
              <a:rPr lang="en-US" altLang="zh-CN" sz="2000" b="1" baseline="-25000" dirty="0">
                <a:latin typeface="宋体" panose="02010600030101010101" pitchFamily="2" charset="-122"/>
                <a:ea typeface="宋体" panose="02010600030101010101" pitchFamily="2" charset="-122"/>
              </a:rPr>
              <a:t>B2  </a:t>
            </a:r>
            <a:r>
              <a:rPr lang="en-US" altLang="zh-CN" sz="2000" b="1" dirty="0">
                <a:latin typeface="宋体" panose="02010600030101010101" pitchFamily="2" charset="-122"/>
                <a:ea typeface="宋体" panose="02010600030101010101" pitchFamily="2" charset="-122"/>
              </a:rPr>
              <a:t>else copy A to B;/*B</a:t>
            </a:r>
            <a:r>
              <a:rPr lang="zh-CN" altLang="en-US" sz="2000" b="1" dirty="0">
                <a:latin typeface="宋体" panose="02010600030101010101" pitchFamily="2" charset="-122"/>
                <a:ea typeface="宋体" panose="02010600030101010101" pitchFamily="2" charset="-122"/>
              </a:rPr>
              <a:t>更新中失效，</a:t>
            </a:r>
          </a:p>
        </p:txBody>
      </p:sp>
      <p:sp>
        <p:nvSpPr>
          <p:cNvPr id="4" name="Rectangle 3"/>
          <p:cNvSpPr txBox="1">
            <a:spLocks noChangeArrowheads="1"/>
          </p:cNvSpPr>
          <p:nvPr/>
        </p:nvSpPr>
        <p:spPr bwMode="auto">
          <a:xfrm>
            <a:off x="182563" y="569913"/>
            <a:ext cx="2709863" cy="359568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2000" b="1" i="0" u="sng"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更新过程</a:t>
            </a:r>
            <a:r>
              <a:rPr kumimoji="0"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p>
          <a:p>
            <a:pPr marL="857250" marR="0" lvl="1" indent="-4572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A1</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A1</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857250" marR="0" lvl="1" indent="-4572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库更新；</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857250" marR="0" lvl="1" indent="-4572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A2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A2</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p>
          <a:p>
            <a:pPr marL="857250" marR="0" lvl="1" indent="-4572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B1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B1</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857250" marR="0" lvl="1" indent="-4572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B</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库更新；</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857250" marR="0" lvl="1" indent="-4572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B1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B2</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r>
              <a:rPr lang="zh-CN" altLang="en-US" sz="4000" dirty="0">
                <a:ea typeface="宋体" panose="02010600030101010101" pitchFamily="2" charset="-122"/>
              </a:rPr>
              <a:t>设置</a:t>
            </a:r>
          </a:p>
        </p:txBody>
      </p:sp>
      <p:sp>
        <p:nvSpPr>
          <p:cNvPr id="94211" name="Rectangle 3"/>
          <p:cNvSpPr>
            <a:spLocks noGrp="1"/>
          </p:cNvSpPr>
          <p:nvPr>
            <p:ph idx="1"/>
          </p:nvPr>
        </p:nvSpPr>
        <p:spPr>
          <a:xfrm>
            <a:off x="273050" y="4492625"/>
            <a:ext cx="2590800" cy="838200"/>
          </a:xfrm>
          <a:ln/>
        </p:spPr>
        <p:txBody>
          <a:bodyPr vert="horz" wrap="square" lIns="91440" tIns="45720" rIns="91440" bIns="45720" anchor="t" anchorCtr="0"/>
          <a:lstStyle/>
          <a:p>
            <a:pPr algn="l" eaLnBrk="1" hangingPunct="1">
              <a:buNone/>
            </a:pPr>
            <a:r>
              <a:rPr lang="en-US" altLang="zh-CN" sz="1800" dirty="0">
                <a:ea typeface="宋体" panose="02010600030101010101" pitchFamily="2" charset="-122"/>
              </a:rPr>
              <a:t>(a) </a:t>
            </a:r>
            <a:r>
              <a:rPr lang="zh-CN" altLang="en-US" sz="1800" dirty="0">
                <a:ea typeface="宋体" panose="02010600030101010101" pitchFamily="2" charset="-122"/>
              </a:rPr>
              <a:t>检查点设置不合理</a:t>
            </a:r>
          </a:p>
          <a:p>
            <a:pPr algn="l" eaLnBrk="1" hangingPunct="1">
              <a:buNone/>
            </a:pPr>
            <a:r>
              <a:rPr lang="zh-CN" altLang="en-US" sz="1800" dirty="0">
                <a:ea typeface="宋体" panose="02010600030101010101" pitchFamily="2" charset="-122"/>
              </a:rPr>
              <a:t>导致报文丢失</a:t>
            </a:r>
          </a:p>
        </p:txBody>
      </p:sp>
      <p:grpSp>
        <p:nvGrpSpPr>
          <p:cNvPr id="94212" name="Group 31"/>
          <p:cNvGrpSpPr/>
          <p:nvPr/>
        </p:nvGrpSpPr>
        <p:grpSpPr>
          <a:xfrm>
            <a:off x="82550" y="1593850"/>
            <a:ext cx="2662238" cy="2633663"/>
            <a:chOff x="257" y="980"/>
            <a:chExt cx="1677" cy="1659"/>
          </a:xfrm>
        </p:grpSpPr>
        <p:sp>
          <p:nvSpPr>
            <p:cNvPr id="94242" name="Line 5"/>
            <p:cNvSpPr/>
            <p:nvPr/>
          </p:nvSpPr>
          <p:spPr>
            <a:xfrm>
              <a:off x="739" y="1362"/>
              <a:ext cx="1192" cy="0"/>
            </a:xfrm>
            <a:prstGeom prst="line">
              <a:avLst/>
            </a:prstGeom>
            <a:ln w="9525" cap="flat" cmpd="sng">
              <a:solidFill>
                <a:schemeClr val="tx1"/>
              </a:solidFill>
              <a:prstDash val="solid"/>
              <a:headEnd type="none" w="med" len="med"/>
              <a:tailEnd type="triangle" w="med" len="med"/>
            </a:ln>
          </p:spPr>
        </p:sp>
        <p:sp>
          <p:nvSpPr>
            <p:cNvPr id="94243" name="Line 6"/>
            <p:cNvSpPr/>
            <p:nvPr/>
          </p:nvSpPr>
          <p:spPr>
            <a:xfrm>
              <a:off x="727" y="2183"/>
              <a:ext cx="1207" cy="1"/>
            </a:xfrm>
            <a:prstGeom prst="line">
              <a:avLst/>
            </a:prstGeom>
            <a:ln w="9525" cap="flat" cmpd="sng">
              <a:solidFill>
                <a:schemeClr val="tx1"/>
              </a:solidFill>
              <a:prstDash val="solid"/>
              <a:headEnd type="none" w="med" len="med"/>
              <a:tailEnd type="triangle" w="med" len="med"/>
            </a:ln>
          </p:spPr>
        </p:sp>
        <p:sp>
          <p:nvSpPr>
            <p:cNvPr id="94244" name="Text Box 7"/>
            <p:cNvSpPr txBox="1"/>
            <p:nvPr/>
          </p:nvSpPr>
          <p:spPr>
            <a:xfrm>
              <a:off x="257" y="1191"/>
              <a:ext cx="467"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j</a:t>
              </a:r>
            </a:p>
          </p:txBody>
        </p:sp>
        <p:sp>
          <p:nvSpPr>
            <p:cNvPr id="94245" name="Text Box 8"/>
            <p:cNvSpPr txBox="1"/>
            <p:nvPr/>
          </p:nvSpPr>
          <p:spPr>
            <a:xfrm>
              <a:off x="330" y="2082"/>
              <a:ext cx="467"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i</a:t>
              </a:r>
            </a:p>
          </p:txBody>
        </p:sp>
        <p:sp>
          <p:nvSpPr>
            <p:cNvPr id="94246" name="Line 9"/>
            <p:cNvSpPr/>
            <p:nvPr/>
          </p:nvSpPr>
          <p:spPr>
            <a:xfrm flipH="1">
              <a:off x="1315" y="1229"/>
              <a:ext cx="8" cy="327"/>
            </a:xfrm>
            <a:prstGeom prst="line">
              <a:avLst/>
            </a:prstGeom>
            <a:ln w="63500" cap="flat" cmpd="sng">
              <a:solidFill>
                <a:schemeClr val="tx1"/>
              </a:solidFill>
              <a:prstDash val="solid"/>
              <a:headEnd type="none" w="med" len="med"/>
              <a:tailEnd type="none" w="med" len="med"/>
            </a:ln>
          </p:spPr>
        </p:sp>
        <p:sp>
          <p:nvSpPr>
            <p:cNvPr id="94247" name="Line 10"/>
            <p:cNvSpPr/>
            <p:nvPr/>
          </p:nvSpPr>
          <p:spPr>
            <a:xfrm flipH="1">
              <a:off x="1086" y="2034"/>
              <a:ext cx="8" cy="327"/>
            </a:xfrm>
            <a:prstGeom prst="line">
              <a:avLst/>
            </a:prstGeom>
            <a:ln w="63500" cap="flat" cmpd="sng">
              <a:solidFill>
                <a:schemeClr val="tx1"/>
              </a:solidFill>
              <a:prstDash val="solid"/>
              <a:headEnd type="none" w="med" len="med"/>
              <a:tailEnd type="none" w="med" len="med"/>
            </a:ln>
          </p:spPr>
        </p:sp>
        <p:sp>
          <p:nvSpPr>
            <p:cNvPr id="94248" name="Line 17"/>
            <p:cNvSpPr/>
            <p:nvPr/>
          </p:nvSpPr>
          <p:spPr>
            <a:xfrm>
              <a:off x="918" y="1354"/>
              <a:ext cx="693" cy="841"/>
            </a:xfrm>
            <a:prstGeom prst="line">
              <a:avLst/>
            </a:prstGeom>
            <a:ln w="9525" cap="flat" cmpd="sng">
              <a:solidFill>
                <a:schemeClr val="tx1"/>
              </a:solidFill>
              <a:prstDash val="solid"/>
              <a:headEnd type="none" w="med" len="med"/>
              <a:tailEnd type="triangle" w="med" len="med"/>
            </a:ln>
          </p:spPr>
        </p:sp>
        <p:sp>
          <p:nvSpPr>
            <p:cNvPr id="94249" name="Text Box 23"/>
            <p:cNvSpPr txBox="1"/>
            <p:nvPr/>
          </p:nvSpPr>
          <p:spPr>
            <a:xfrm>
              <a:off x="808" y="980"/>
              <a:ext cx="842" cy="2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94250" name="Text Box 24"/>
            <p:cNvSpPr txBox="1"/>
            <p:nvPr/>
          </p:nvSpPr>
          <p:spPr>
            <a:xfrm>
              <a:off x="805" y="2408"/>
              <a:ext cx="842" cy="2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94251" name="Text Box 28"/>
            <p:cNvSpPr txBox="1"/>
            <p:nvPr/>
          </p:nvSpPr>
          <p:spPr>
            <a:xfrm>
              <a:off x="1429" y="1615"/>
              <a:ext cx="280"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m</a:t>
              </a:r>
            </a:p>
          </p:txBody>
        </p:sp>
      </p:grpSp>
      <p:grpSp>
        <p:nvGrpSpPr>
          <p:cNvPr id="94213" name="Group 32"/>
          <p:cNvGrpSpPr/>
          <p:nvPr/>
        </p:nvGrpSpPr>
        <p:grpSpPr>
          <a:xfrm>
            <a:off x="3095625" y="1574800"/>
            <a:ext cx="2662238" cy="2633663"/>
            <a:chOff x="257" y="980"/>
            <a:chExt cx="1677" cy="1659"/>
          </a:xfrm>
        </p:grpSpPr>
        <p:sp>
          <p:nvSpPr>
            <p:cNvPr id="94232" name="Line 33"/>
            <p:cNvSpPr/>
            <p:nvPr/>
          </p:nvSpPr>
          <p:spPr>
            <a:xfrm>
              <a:off x="739" y="1362"/>
              <a:ext cx="1192" cy="0"/>
            </a:xfrm>
            <a:prstGeom prst="line">
              <a:avLst/>
            </a:prstGeom>
            <a:ln w="9525" cap="flat" cmpd="sng">
              <a:solidFill>
                <a:schemeClr val="tx1"/>
              </a:solidFill>
              <a:prstDash val="solid"/>
              <a:headEnd type="none" w="med" len="med"/>
              <a:tailEnd type="triangle" w="med" len="med"/>
            </a:ln>
          </p:spPr>
        </p:sp>
        <p:sp>
          <p:nvSpPr>
            <p:cNvPr id="94233" name="Line 34"/>
            <p:cNvSpPr/>
            <p:nvPr/>
          </p:nvSpPr>
          <p:spPr>
            <a:xfrm>
              <a:off x="727" y="2183"/>
              <a:ext cx="1207" cy="1"/>
            </a:xfrm>
            <a:prstGeom prst="line">
              <a:avLst/>
            </a:prstGeom>
            <a:ln w="9525" cap="flat" cmpd="sng">
              <a:solidFill>
                <a:schemeClr val="tx1"/>
              </a:solidFill>
              <a:prstDash val="solid"/>
              <a:headEnd type="none" w="med" len="med"/>
              <a:tailEnd type="triangle" w="med" len="med"/>
            </a:ln>
          </p:spPr>
        </p:sp>
        <p:sp>
          <p:nvSpPr>
            <p:cNvPr id="94234" name="Text Box 35"/>
            <p:cNvSpPr txBox="1"/>
            <p:nvPr/>
          </p:nvSpPr>
          <p:spPr>
            <a:xfrm>
              <a:off x="257" y="1191"/>
              <a:ext cx="467"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j</a:t>
              </a:r>
            </a:p>
          </p:txBody>
        </p:sp>
        <p:sp>
          <p:nvSpPr>
            <p:cNvPr id="94235" name="Text Box 36"/>
            <p:cNvSpPr txBox="1"/>
            <p:nvPr/>
          </p:nvSpPr>
          <p:spPr>
            <a:xfrm>
              <a:off x="330" y="2082"/>
              <a:ext cx="467"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i</a:t>
              </a:r>
            </a:p>
          </p:txBody>
        </p:sp>
        <p:sp>
          <p:nvSpPr>
            <p:cNvPr id="94236" name="Line 37"/>
            <p:cNvSpPr/>
            <p:nvPr/>
          </p:nvSpPr>
          <p:spPr>
            <a:xfrm flipH="1">
              <a:off x="1315" y="1229"/>
              <a:ext cx="8" cy="327"/>
            </a:xfrm>
            <a:prstGeom prst="line">
              <a:avLst/>
            </a:prstGeom>
            <a:ln w="63500" cap="flat" cmpd="sng">
              <a:solidFill>
                <a:schemeClr val="tx1"/>
              </a:solidFill>
              <a:prstDash val="solid"/>
              <a:headEnd type="none" w="med" len="med"/>
              <a:tailEnd type="none" w="med" len="med"/>
            </a:ln>
          </p:spPr>
        </p:sp>
        <p:sp>
          <p:nvSpPr>
            <p:cNvPr id="94237" name="Line 38"/>
            <p:cNvSpPr/>
            <p:nvPr/>
          </p:nvSpPr>
          <p:spPr>
            <a:xfrm flipH="1">
              <a:off x="1086" y="2034"/>
              <a:ext cx="8" cy="327"/>
            </a:xfrm>
            <a:prstGeom prst="line">
              <a:avLst/>
            </a:prstGeom>
            <a:ln w="63500" cap="flat" cmpd="sng">
              <a:solidFill>
                <a:schemeClr val="tx1"/>
              </a:solidFill>
              <a:prstDash val="solid"/>
              <a:headEnd type="none" w="med" len="med"/>
              <a:tailEnd type="none" w="med" len="med"/>
            </a:ln>
          </p:spPr>
        </p:sp>
        <p:sp>
          <p:nvSpPr>
            <p:cNvPr id="94238" name="Line 39"/>
            <p:cNvSpPr/>
            <p:nvPr/>
          </p:nvSpPr>
          <p:spPr>
            <a:xfrm>
              <a:off x="918" y="1354"/>
              <a:ext cx="693" cy="841"/>
            </a:xfrm>
            <a:prstGeom prst="line">
              <a:avLst/>
            </a:prstGeom>
            <a:ln w="9525" cap="flat" cmpd="sng">
              <a:solidFill>
                <a:schemeClr val="tx1"/>
              </a:solidFill>
              <a:prstDash val="solid"/>
              <a:headEnd type="none" w="med" len="med"/>
              <a:tailEnd type="triangle" w="med" len="med"/>
            </a:ln>
          </p:spPr>
        </p:sp>
        <p:sp>
          <p:nvSpPr>
            <p:cNvPr id="94239" name="Text Box 40"/>
            <p:cNvSpPr txBox="1"/>
            <p:nvPr/>
          </p:nvSpPr>
          <p:spPr>
            <a:xfrm>
              <a:off x="808" y="980"/>
              <a:ext cx="842" cy="2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94240" name="Text Box 41"/>
            <p:cNvSpPr txBox="1"/>
            <p:nvPr/>
          </p:nvSpPr>
          <p:spPr>
            <a:xfrm>
              <a:off x="805" y="2408"/>
              <a:ext cx="842" cy="2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94241" name="Text Box 42"/>
            <p:cNvSpPr txBox="1"/>
            <p:nvPr/>
          </p:nvSpPr>
          <p:spPr>
            <a:xfrm>
              <a:off x="1429" y="1615"/>
              <a:ext cx="280"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m</a:t>
              </a:r>
            </a:p>
          </p:txBody>
        </p:sp>
      </p:grpSp>
      <p:sp>
        <p:nvSpPr>
          <p:cNvPr id="94214" name="Rectangle 54"/>
          <p:cNvSpPr/>
          <p:nvPr/>
        </p:nvSpPr>
        <p:spPr>
          <a:xfrm>
            <a:off x="3381375" y="4498975"/>
            <a:ext cx="2628900" cy="8382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buNone/>
            </a:pPr>
            <a:r>
              <a:rPr lang="en-US" altLang="zh-CN" sz="1800" dirty="0">
                <a:ea typeface="宋体" panose="02010600030101010101" pitchFamily="2" charset="-122"/>
              </a:rPr>
              <a:t>(b) </a:t>
            </a:r>
            <a:r>
              <a:rPr lang="zh-CN" altLang="en-US" sz="1800" dirty="0">
                <a:ea typeface="宋体" panose="02010600030101010101" pitchFamily="2" charset="-122"/>
              </a:rPr>
              <a:t>下一个检查点之前的崩溃导致报文丢失</a:t>
            </a:r>
          </a:p>
        </p:txBody>
      </p:sp>
      <p:sp>
        <p:nvSpPr>
          <p:cNvPr id="94215" name="Rectangle 55"/>
          <p:cNvSpPr/>
          <p:nvPr/>
        </p:nvSpPr>
        <p:spPr>
          <a:xfrm>
            <a:off x="6445250" y="4535488"/>
            <a:ext cx="2384425" cy="515937"/>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buNone/>
            </a:pPr>
            <a:r>
              <a:rPr lang="en-US" altLang="zh-CN" sz="1800" dirty="0">
                <a:ea typeface="宋体" panose="02010600030101010101" pitchFamily="2" charset="-122"/>
              </a:rPr>
              <a:t>(c) </a:t>
            </a:r>
            <a:r>
              <a:rPr lang="zh-CN" altLang="en-US" sz="1800" dirty="0">
                <a:ea typeface="宋体" panose="02010600030101010101" pitchFamily="2" charset="-122"/>
              </a:rPr>
              <a:t>失效导致孤儿报文</a:t>
            </a:r>
          </a:p>
        </p:txBody>
      </p:sp>
      <p:sp>
        <p:nvSpPr>
          <p:cNvPr id="94216" name="Line 56"/>
          <p:cNvSpPr/>
          <p:nvPr/>
        </p:nvSpPr>
        <p:spPr>
          <a:xfrm>
            <a:off x="5251450" y="3348038"/>
            <a:ext cx="271463" cy="346075"/>
          </a:xfrm>
          <a:prstGeom prst="line">
            <a:avLst/>
          </a:prstGeom>
          <a:ln w="9525" cap="flat" cmpd="sng">
            <a:solidFill>
              <a:schemeClr val="tx1"/>
            </a:solidFill>
            <a:prstDash val="solid"/>
            <a:headEnd type="none" w="med" len="med"/>
            <a:tailEnd type="none" w="med" len="med"/>
          </a:ln>
        </p:spPr>
      </p:sp>
      <p:sp>
        <p:nvSpPr>
          <p:cNvPr id="94217" name="Line 57"/>
          <p:cNvSpPr/>
          <p:nvPr/>
        </p:nvSpPr>
        <p:spPr>
          <a:xfrm flipH="1">
            <a:off x="5264150" y="3348038"/>
            <a:ext cx="247650" cy="384175"/>
          </a:xfrm>
          <a:prstGeom prst="line">
            <a:avLst/>
          </a:prstGeom>
          <a:ln w="9525" cap="flat" cmpd="sng">
            <a:solidFill>
              <a:schemeClr val="tx1"/>
            </a:solidFill>
            <a:prstDash val="solid"/>
            <a:headEnd type="none" w="med" len="med"/>
            <a:tailEnd type="none" w="med" len="med"/>
          </a:ln>
        </p:spPr>
      </p:sp>
      <p:grpSp>
        <p:nvGrpSpPr>
          <p:cNvPr id="94218" name="Group 61"/>
          <p:cNvGrpSpPr/>
          <p:nvPr/>
        </p:nvGrpSpPr>
        <p:grpSpPr>
          <a:xfrm>
            <a:off x="6040438" y="1639888"/>
            <a:ext cx="2662237" cy="2633662"/>
            <a:chOff x="3805" y="1033"/>
            <a:chExt cx="1677" cy="1659"/>
          </a:xfrm>
        </p:grpSpPr>
        <p:sp>
          <p:nvSpPr>
            <p:cNvPr id="94219" name="Text Box 52"/>
            <p:cNvSpPr txBox="1"/>
            <p:nvPr/>
          </p:nvSpPr>
          <p:spPr>
            <a:xfrm>
              <a:off x="4353" y="2461"/>
              <a:ext cx="842" cy="2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grpSp>
          <p:nvGrpSpPr>
            <p:cNvPr id="94220" name="Group 60"/>
            <p:cNvGrpSpPr/>
            <p:nvPr/>
          </p:nvGrpSpPr>
          <p:grpSpPr>
            <a:xfrm>
              <a:off x="3805" y="1033"/>
              <a:ext cx="1677" cy="1390"/>
              <a:chOff x="3805" y="1033"/>
              <a:chExt cx="1677" cy="1390"/>
            </a:xfrm>
          </p:grpSpPr>
          <p:sp>
            <p:nvSpPr>
              <p:cNvPr id="94221" name="Line 44"/>
              <p:cNvSpPr/>
              <p:nvPr/>
            </p:nvSpPr>
            <p:spPr>
              <a:xfrm>
                <a:off x="4287" y="1415"/>
                <a:ext cx="1192" cy="0"/>
              </a:xfrm>
              <a:prstGeom prst="line">
                <a:avLst/>
              </a:prstGeom>
              <a:ln w="9525" cap="flat" cmpd="sng">
                <a:solidFill>
                  <a:schemeClr val="tx1"/>
                </a:solidFill>
                <a:prstDash val="solid"/>
                <a:headEnd type="none" w="med" len="med"/>
                <a:tailEnd type="triangle" w="med" len="med"/>
              </a:ln>
            </p:spPr>
          </p:sp>
          <p:sp>
            <p:nvSpPr>
              <p:cNvPr id="94222" name="Line 45"/>
              <p:cNvSpPr/>
              <p:nvPr/>
            </p:nvSpPr>
            <p:spPr>
              <a:xfrm>
                <a:off x="4275" y="2236"/>
                <a:ext cx="1207" cy="1"/>
              </a:xfrm>
              <a:prstGeom prst="line">
                <a:avLst/>
              </a:prstGeom>
              <a:ln w="9525" cap="flat" cmpd="sng">
                <a:solidFill>
                  <a:schemeClr val="tx1"/>
                </a:solidFill>
                <a:prstDash val="solid"/>
                <a:headEnd type="none" w="med" len="med"/>
                <a:tailEnd type="triangle" w="med" len="med"/>
              </a:ln>
            </p:spPr>
          </p:sp>
          <p:sp>
            <p:nvSpPr>
              <p:cNvPr id="94223" name="Text Box 46"/>
              <p:cNvSpPr txBox="1"/>
              <p:nvPr/>
            </p:nvSpPr>
            <p:spPr>
              <a:xfrm>
                <a:off x="3805" y="1244"/>
                <a:ext cx="467"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j</a:t>
                </a:r>
              </a:p>
            </p:txBody>
          </p:sp>
          <p:sp>
            <p:nvSpPr>
              <p:cNvPr id="94224" name="Text Box 47"/>
              <p:cNvSpPr txBox="1"/>
              <p:nvPr/>
            </p:nvSpPr>
            <p:spPr>
              <a:xfrm>
                <a:off x="3878" y="2135"/>
                <a:ext cx="467"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i</a:t>
                </a:r>
              </a:p>
            </p:txBody>
          </p:sp>
          <p:sp>
            <p:nvSpPr>
              <p:cNvPr id="94225" name="Line 48"/>
              <p:cNvSpPr/>
              <p:nvPr/>
            </p:nvSpPr>
            <p:spPr>
              <a:xfrm flipH="1">
                <a:off x="4365" y="1274"/>
                <a:ext cx="8" cy="327"/>
              </a:xfrm>
              <a:prstGeom prst="line">
                <a:avLst/>
              </a:prstGeom>
              <a:ln w="63500" cap="flat" cmpd="sng">
                <a:solidFill>
                  <a:schemeClr val="tx1"/>
                </a:solidFill>
                <a:prstDash val="solid"/>
                <a:headEnd type="none" w="med" len="med"/>
                <a:tailEnd type="none" w="med" len="med"/>
              </a:ln>
            </p:spPr>
          </p:sp>
          <p:sp>
            <p:nvSpPr>
              <p:cNvPr id="94226" name="Line 49"/>
              <p:cNvSpPr/>
              <p:nvPr/>
            </p:nvSpPr>
            <p:spPr>
              <a:xfrm flipH="1">
                <a:off x="5171" y="2048"/>
                <a:ext cx="8" cy="327"/>
              </a:xfrm>
              <a:prstGeom prst="line">
                <a:avLst/>
              </a:prstGeom>
              <a:ln w="63500" cap="flat" cmpd="sng">
                <a:solidFill>
                  <a:schemeClr val="tx1"/>
                </a:solidFill>
                <a:prstDash val="solid"/>
                <a:headEnd type="none" w="med" len="med"/>
                <a:tailEnd type="none" w="med" len="med"/>
              </a:ln>
            </p:spPr>
          </p:sp>
          <p:sp>
            <p:nvSpPr>
              <p:cNvPr id="94227" name="Line 50"/>
              <p:cNvSpPr/>
              <p:nvPr/>
            </p:nvSpPr>
            <p:spPr>
              <a:xfrm>
                <a:off x="4506" y="1407"/>
                <a:ext cx="475" cy="833"/>
              </a:xfrm>
              <a:prstGeom prst="line">
                <a:avLst/>
              </a:prstGeom>
              <a:ln w="9525" cap="flat" cmpd="sng">
                <a:solidFill>
                  <a:schemeClr val="tx1"/>
                </a:solidFill>
                <a:prstDash val="solid"/>
                <a:headEnd type="none" w="med" len="med"/>
                <a:tailEnd type="triangle" w="med" len="med"/>
              </a:ln>
            </p:spPr>
          </p:sp>
          <p:sp>
            <p:nvSpPr>
              <p:cNvPr id="94228" name="Text Box 51"/>
              <p:cNvSpPr txBox="1"/>
              <p:nvPr/>
            </p:nvSpPr>
            <p:spPr>
              <a:xfrm>
                <a:off x="4356" y="1033"/>
                <a:ext cx="842" cy="2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94229" name="Text Box 53"/>
              <p:cNvSpPr txBox="1"/>
              <p:nvPr/>
            </p:nvSpPr>
            <p:spPr>
              <a:xfrm>
                <a:off x="4844" y="1660"/>
                <a:ext cx="280"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m</a:t>
                </a:r>
              </a:p>
            </p:txBody>
          </p:sp>
          <p:sp>
            <p:nvSpPr>
              <p:cNvPr id="94230" name="Line 58"/>
              <p:cNvSpPr/>
              <p:nvPr/>
            </p:nvSpPr>
            <p:spPr>
              <a:xfrm>
                <a:off x="5052" y="1323"/>
                <a:ext cx="179" cy="187"/>
              </a:xfrm>
              <a:prstGeom prst="line">
                <a:avLst/>
              </a:prstGeom>
              <a:ln w="9525" cap="flat" cmpd="sng">
                <a:solidFill>
                  <a:schemeClr val="tx1"/>
                </a:solidFill>
                <a:prstDash val="solid"/>
                <a:headEnd type="none" w="med" len="med"/>
                <a:tailEnd type="none" w="med" len="med"/>
              </a:ln>
            </p:spPr>
          </p:sp>
          <p:sp>
            <p:nvSpPr>
              <p:cNvPr id="94231" name="Line 59"/>
              <p:cNvSpPr/>
              <p:nvPr/>
            </p:nvSpPr>
            <p:spPr>
              <a:xfrm flipH="1">
                <a:off x="5067" y="1315"/>
                <a:ext cx="140" cy="226"/>
              </a:xfrm>
              <a:prstGeom prst="line">
                <a:avLst/>
              </a:prstGeom>
              <a:ln w="9525" cap="flat" cmpd="sng">
                <a:solidFill>
                  <a:schemeClr val="tx1"/>
                </a:solidFill>
                <a:prstDash val="solid"/>
                <a:headEnd type="none" w="med" len="med"/>
                <a:tailEnd type="none" w="med" len="med"/>
              </a:ln>
            </p:spPr>
          </p:sp>
        </p:gr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r>
              <a:rPr lang="zh-CN" altLang="en-US" sz="4000" dirty="0">
                <a:ea typeface="宋体" panose="02010600030101010101" pitchFamily="2" charset="-122"/>
              </a:rPr>
              <a:t>设置问题</a:t>
            </a:r>
            <a:endParaRPr lang="en-US" altLang="zh-CN" sz="4000" dirty="0">
              <a:ea typeface="宋体" panose="02010600030101010101" pitchFamily="2" charset="-122"/>
            </a:endParaRPr>
          </a:p>
        </p:txBody>
      </p:sp>
      <p:sp>
        <p:nvSpPr>
          <p:cNvPr id="96259" name="Rectangle 3"/>
          <p:cNvSpPr>
            <a:spLocks noGrp="1"/>
          </p:cNvSpPr>
          <p:nvPr>
            <p:ph idx="1"/>
          </p:nvPr>
        </p:nvSpPr>
        <p:spPr>
          <a:xfrm>
            <a:off x="296863" y="4751388"/>
            <a:ext cx="8505825" cy="1308100"/>
          </a:xfrm>
          <a:ln/>
        </p:spPr>
        <p:txBody>
          <a:bodyPr vert="horz" wrap="square" lIns="91440" tIns="45720" rIns="91440" bIns="45720" anchor="t" anchorCtr="0"/>
          <a:lstStyle/>
          <a:p>
            <a:pPr marL="0" indent="0" algn="l" eaLnBrk="1" hangingPunct="1">
              <a:lnSpc>
                <a:spcPct val="150000"/>
              </a:lnSpc>
              <a:buNone/>
            </a:pPr>
            <a:r>
              <a:rPr lang="en-US" altLang="zh-CN" sz="2000" dirty="0">
                <a:latin typeface="宋体" panose="02010600030101010101" pitchFamily="2" charset="-122"/>
                <a:ea typeface="宋体" panose="02010600030101010101" pitchFamily="2" charset="-122"/>
              </a:rPr>
              <a:t>The domino effect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Pi</a:t>
            </a:r>
            <a:r>
              <a:rPr lang="zh-CN" altLang="en-US" sz="2000" dirty="0">
                <a:latin typeface="宋体" panose="02010600030101010101" pitchFamily="2" charset="-122"/>
                <a:ea typeface="宋体" panose="02010600030101010101" pitchFamily="2" charset="-122"/>
              </a:rPr>
              <a:t>发</a:t>
            </a:r>
            <a:r>
              <a:rPr lang="en-US" altLang="zh-CN" sz="2000" dirty="0">
                <a:latin typeface="宋体" panose="02010600030101010101" pitchFamily="2" charset="-122"/>
                <a:ea typeface="宋体" panose="02010600030101010101" pitchFamily="2" charset="-122"/>
              </a:rPr>
              <a:t>m</a:t>
            </a:r>
            <a:r>
              <a:rPr lang="zh-CN" altLang="en-US" sz="2000" dirty="0">
                <a:latin typeface="宋体" panose="02010600030101010101" pitchFamily="2" charset="-122"/>
                <a:ea typeface="宋体" panose="02010600030101010101" pitchFamily="2" charset="-122"/>
              </a:rPr>
              <a:t>给</a:t>
            </a:r>
            <a:r>
              <a:rPr lang="en-US" altLang="zh-CN" sz="2000" dirty="0">
                <a:latin typeface="宋体" panose="02010600030101010101" pitchFamily="2" charset="-122"/>
                <a:ea typeface="宋体" panose="02010600030101010101" pitchFamily="2" charset="-122"/>
              </a:rPr>
              <a:t>Pj</a:t>
            </a:r>
            <a:r>
              <a:rPr lang="zh-CN" altLang="en-US" sz="2000" dirty="0">
                <a:latin typeface="宋体" panose="02010600030101010101" pitchFamily="2" charset="-122"/>
                <a:ea typeface="宋体" panose="02010600030101010101" pitchFamily="2" charset="-122"/>
              </a:rPr>
              <a:t>后失效（</a:t>
            </a:r>
            <a:r>
              <a:rPr lang="en-US" altLang="zh-CN" sz="2000" dirty="0">
                <a:latin typeface="宋体" panose="02010600030101010101" pitchFamily="2" charset="-122"/>
                <a:ea typeface="宋体" panose="02010600030101010101" pitchFamily="2" charset="-122"/>
              </a:rPr>
              <a:t>m</a:t>
            </a:r>
            <a:r>
              <a:rPr lang="zh-CN" altLang="en-US" sz="2000" dirty="0">
                <a:latin typeface="宋体" panose="02010600030101010101" pitchFamily="2" charset="-122"/>
                <a:ea typeface="宋体" panose="02010600030101010101" pitchFamily="2" charset="-122"/>
              </a:rPr>
              <a:t>成为孤儿报文），则</a:t>
            </a:r>
            <a:r>
              <a:rPr lang="en-US" altLang="zh-CN" sz="2000" dirty="0">
                <a:latin typeface="宋体" panose="02010600030101010101" pitchFamily="2" charset="-122"/>
                <a:ea typeface="宋体" panose="02010600030101010101" pitchFamily="2" charset="-122"/>
              </a:rPr>
              <a:t>Pi</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Pj</a:t>
            </a:r>
            <a:r>
              <a:rPr lang="zh-CN" altLang="en-US" sz="2000" dirty="0">
                <a:latin typeface="宋体" panose="02010600030101010101" pitchFamily="2" charset="-122"/>
                <a:ea typeface="宋体" panose="02010600030101010101" pitchFamily="2" charset="-122"/>
              </a:rPr>
              <a:t>回卷，则</a:t>
            </a:r>
            <a:r>
              <a:rPr lang="en-US" altLang="zh-CN" sz="2000" dirty="0">
                <a:latin typeface="宋体" panose="02010600030101010101" pitchFamily="2" charset="-122"/>
                <a:ea typeface="宋体" panose="02010600030101010101" pitchFamily="2" charset="-122"/>
              </a:rPr>
              <a:t>n</a:t>
            </a:r>
            <a:r>
              <a:rPr lang="zh-CN" altLang="en-US" sz="2000" dirty="0">
                <a:latin typeface="宋体" panose="02010600030101010101" pitchFamily="2" charset="-122"/>
                <a:ea typeface="宋体" panose="02010600030101010101" pitchFamily="2" charset="-122"/>
              </a:rPr>
              <a:t>又成为孤儿报文，依次类推，</a:t>
            </a:r>
            <a:r>
              <a:rPr lang="en-US" altLang="zh-CN" sz="2000" dirty="0">
                <a:latin typeface="宋体" panose="02010600030101010101" pitchFamily="2" charset="-122"/>
                <a:ea typeface="宋体" panose="02010600030101010101" pitchFamily="2" charset="-122"/>
              </a:rPr>
              <a:t>…….. Pi</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Pj</a:t>
            </a:r>
            <a:r>
              <a:rPr lang="zh-CN" altLang="en-US" sz="2000" dirty="0">
                <a:latin typeface="宋体" panose="02010600030101010101" pitchFamily="2" charset="-122"/>
                <a:ea typeface="宋体" panose="02010600030101010101" pitchFamily="2" charset="-122"/>
              </a:rPr>
              <a:t>最终回到初始检查点。</a:t>
            </a:r>
          </a:p>
        </p:txBody>
      </p:sp>
      <p:sp>
        <p:nvSpPr>
          <p:cNvPr id="96260" name="Line 4"/>
          <p:cNvSpPr/>
          <p:nvPr/>
        </p:nvSpPr>
        <p:spPr>
          <a:xfrm>
            <a:off x="1309688" y="2149475"/>
            <a:ext cx="6573837" cy="12700"/>
          </a:xfrm>
          <a:prstGeom prst="line">
            <a:avLst/>
          </a:prstGeom>
          <a:ln w="9525" cap="flat" cmpd="sng">
            <a:solidFill>
              <a:schemeClr val="tx1"/>
            </a:solidFill>
            <a:prstDash val="solid"/>
            <a:headEnd type="none" w="med" len="med"/>
            <a:tailEnd type="triangle" w="med" len="med"/>
          </a:ln>
        </p:spPr>
      </p:sp>
      <p:sp>
        <p:nvSpPr>
          <p:cNvPr id="96261" name="Line 5"/>
          <p:cNvSpPr/>
          <p:nvPr/>
        </p:nvSpPr>
        <p:spPr>
          <a:xfrm>
            <a:off x="1266825" y="3465513"/>
            <a:ext cx="6573838" cy="12700"/>
          </a:xfrm>
          <a:prstGeom prst="line">
            <a:avLst/>
          </a:prstGeom>
          <a:ln w="9525" cap="flat" cmpd="sng">
            <a:solidFill>
              <a:schemeClr val="tx1"/>
            </a:solidFill>
            <a:prstDash val="solid"/>
            <a:headEnd type="none" w="med" len="med"/>
            <a:tailEnd type="triangle" w="med" len="med"/>
          </a:ln>
        </p:spPr>
      </p:sp>
      <p:sp>
        <p:nvSpPr>
          <p:cNvPr id="96262" name="Text Box 6"/>
          <p:cNvSpPr txBox="1"/>
          <p:nvPr/>
        </p:nvSpPr>
        <p:spPr>
          <a:xfrm>
            <a:off x="407988" y="1890713"/>
            <a:ext cx="741362"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j</a:t>
            </a:r>
          </a:p>
        </p:txBody>
      </p:sp>
      <p:sp>
        <p:nvSpPr>
          <p:cNvPr id="96263" name="Text Box 7"/>
          <p:cNvSpPr txBox="1"/>
          <p:nvPr/>
        </p:nvSpPr>
        <p:spPr>
          <a:xfrm>
            <a:off x="436563" y="3305175"/>
            <a:ext cx="741362"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i</a:t>
            </a:r>
          </a:p>
        </p:txBody>
      </p:sp>
      <p:sp>
        <p:nvSpPr>
          <p:cNvPr id="96264" name="Line 8"/>
          <p:cNvSpPr/>
          <p:nvPr/>
        </p:nvSpPr>
        <p:spPr>
          <a:xfrm flipH="1">
            <a:off x="1717675" y="1914525"/>
            <a:ext cx="12700" cy="519113"/>
          </a:xfrm>
          <a:prstGeom prst="line">
            <a:avLst/>
          </a:prstGeom>
          <a:ln w="63500" cap="flat" cmpd="sng">
            <a:solidFill>
              <a:schemeClr val="tx1"/>
            </a:solidFill>
            <a:prstDash val="solid"/>
            <a:headEnd type="none" w="med" len="med"/>
            <a:tailEnd type="none" w="med" len="med"/>
          </a:ln>
        </p:spPr>
      </p:sp>
      <p:sp>
        <p:nvSpPr>
          <p:cNvPr id="96265" name="Line 9"/>
          <p:cNvSpPr/>
          <p:nvPr/>
        </p:nvSpPr>
        <p:spPr>
          <a:xfrm flipH="1">
            <a:off x="1724025" y="3228975"/>
            <a:ext cx="12700" cy="519113"/>
          </a:xfrm>
          <a:prstGeom prst="line">
            <a:avLst/>
          </a:prstGeom>
          <a:ln w="63500" cap="flat" cmpd="sng">
            <a:solidFill>
              <a:schemeClr val="tx1"/>
            </a:solidFill>
            <a:prstDash val="solid"/>
            <a:headEnd type="none" w="med" len="med"/>
            <a:tailEnd type="none" w="med" len="med"/>
          </a:ln>
        </p:spPr>
      </p:sp>
      <p:sp>
        <p:nvSpPr>
          <p:cNvPr id="96266" name="Line 10"/>
          <p:cNvSpPr/>
          <p:nvPr/>
        </p:nvSpPr>
        <p:spPr>
          <a:xfrm flipH="1">
            <a:off x="2836863" y="3241675"/>
            <a:ext cx="12700" cy="519113"/>
          </a:xfrm>
          <a:prstGeom prst="line">
            <a:avLst/>
          </a:prstGeom>
          <a:ln w="63500" cap="flat" cmpd="sng">
            <a:solidFill>
              <a:schemeClr val="tx1"/>
            </a:solidFill>
            <a:prstDash val="solid"/>
            <a:headEnd type="none" w="med" len="med"/>
            <a:tailEnd type="none" w="med" len="med"/>
          </a:ln>
        </p:spPr>
      </p:sp>
      <p:sp>
        <p:nvSpPr>
          <p:cNvPr id="96267" name="Line 11"/>
          <p:cNvSpPr/>
          <p:nvPr/>
        </p:nvSpPr>
        <p:spPr>
          <a:xfrm flipH="1">
            <a:off x="4330700" y="3230563"/>
            <a:ext cx="12700" cy="519112"/>
          </a:xfrm>
          <a:prstGeom prst="line">
            <a:avLst/>
          </a:prstGeom>
          <a:ln w="63500" cap="flat" cmpd="sng">
            <a:solidFill>
              <a:schemeClr val="tx1"/>
            </a:solidFill>
            <a:prstDash val="solid"/>
            <a:headEnd type="none" w="med" len="med"/>
            <a:tailEnd type="none" w="med" len="med"/>
          </a:ln>
        </p:spPr>
      </p:sp>
      <p:sp>
        <p:nvSpPr>
          <p:cNvPr id="96268" name="Line 12"/>
          <p:cNvSpPr/>
          <p:nvPr/>
        </p:nvSpPr>
        <p:spPr>
          <a:xfrm flipH="1">
            <a:off x="5888038" y="3279775"/>
            <a:ext cx="12700" cy="519113"/>
          </a:xfrm>
          <a:prstGeom prst="line">
            <a:avLst/>
          </a:prstGeom>
          <a:ln w="63500" cap="flat" cmpd="sng">
            <a:solidFill>
              <a:schemeClr val="tx1"/>
            </a:solidFill>
            <a:prstDash val="solid"/>
            <a:headEnd type="none" w="med" len="med"/>
            <a:tailEnd type="none" w="med" len="med"/>
          </a:ln>
        </p:spPr>
      </p:sp>
      <p:sp>
        <p:nvSpPr>
          <p:cNvPr id="96269" name="Line 13"/>
          <p:cNvSpPr/>
          <p:nvPr/>
        </p:nvSpPr>
        <p:spPr>
          <a:xfrm flipH="1">
            <a:off x="3514725" y="1946275"/>
            <a:ext cx="12700" cy="519113"/>
          </a:xfrm>
          <a:prstGeom prst="line">
            <a:avLst/>
          </a:prstGeom>
          <a:ln w="63500" cap="flat" cmpd="sng">
            <a:solidFill>
              <a:schemeClr val="tx1"/>
            </a:solidFill>
            <a:prstDash val="solid"/>
            <a:headEnd type="none" w="med" len="med"/>
            <a:tailEnd type="none" w="med" len="med"/>
          </a:ln>
        </p:spPr>
      </p:sp>
      <p:sp>
        <p:nvSpPr>
          <p:cNvPr id="96270" name="Line 14"/>
          <p:cNvSpPr/>
          <p:nvPr/>
        </p:nvSpPr>
        <p:spPr>
          <a:xfrm flipH="1">
            <a:off x="5133975" y="1982788"/>
            <a:ext cx="12700" cy="519112"/>
          </a:xfrm>
          <a:prstGeom prst="line">
            <a:avLst/>
          </a:prstGeom>
          <a:ln w="63500" cap="flat" cmpd="sng">
            <a:solidFill>
              <a:schemeClr val="tx1"/>
            </a:solidFill>
            <a:prstDash val="solid"/>
            <a:headEnd type="none" w="med" len="med"/>
            <a:tailEnd type="none" w="med" len="med"/>
          </a:ln>
        </p:spPr>
      </p:sp>
      <p:sp>
        <p:nvSpPr>
          <p:cNvPr id="96271" name="Line 15"/>
          <p:cNvSpPr/>
          <p:nvPr/>
        </p:nvSpPr>
        <p:spPr>
          <a:xfrm flipH="1">
            <a:off x="6727825" y="1919288"/>
            <a:ext cx="12700" cy="519112"/>
          </a:xfrm>
          <a:prstGeom prst="line">
            <a:avLst/>
          </a:prstGeom>
          <a:ln w="63500" cap="flat" cmpd="sng">
            <a:solidFill>
              <a:schemeClr val="tx1"/>
            </a:solidFill>
            <a:prstDash val="solid"/>
            <a:headEnd type="none" w="med" len="med"/>
            <a:tailEnd type="none" w="med" len="med"/>
          </a:ln>
        </p:spPr>
      </p:sp>
      <p:sp>
        <p:nvSpPr>
          <p:cNvPr id="96272" name="Line 16"/>
          <p:cNvSpPr/>
          <p:nvPr/>
        </p:nvSpPr>
        <p:spPr>
          <a:xfrm>
            <a:off x="1890713" y="2149475"/>
            <a:ext cx="542925" cy="1309688"/>
          </a:xfrm>
          <a:prstGeom prst="line">
            <a:avLst/>
          </a:prstGeom>
          <a:ln w="9525" cap="flat" cmpd="sng">
            <a:solidFill>
              <a:schemeClr val="tx1"/>
            </a:solidFill>
            <a:prstDash val="solid"/>
            <a:headEnd type="none" w="med" len="med"/>
            <a:tailEnd type="triangle" w="med" len="med"/>
          </a:ln>
        </p:spPr>
      </p:sp>
      <p:sp>
        <p:nvSpPr>
          <p:cNvPr id="96273" name="Line 17"/>
          <p:cNvSpPr/>
          <p:nvPr/>
        </p:nvSpPr>
        <p:spPr>
          <a:xfrm flipV="1">
            <a:off x="2952750" y="2138363"/>
            <a:ext cx="433388" cy="1333500"/>
          </a:xfrm>
          <a:prstGeom prst="line">
            <a:avLst/>
          </a:prstGeom>
          <a:ln w="9525" cap="flat" cmpd="sng">
            <a:solidFill>
              <a:schemeClr val="tx1"/>
            </a:solidFill>
            <a:prstDash val="solid"/>
            <a:headEnd type="none" w="med" len="med"/>
            <a:tailEnd type="triangle" w="med" len="med"/>
          </a:ln>
        </p:spPr>
      </p:sp>
      <p:sp>
        <p:nvSpPr>
          <p:cNvPr id="96274" name="Line 18"/>
          <p:cNvSpPr/>
          <p:nvPr/>
        </p:nvSpPr>
        <p:spPr>
          <a:xfrm>
            <a:off x="3644900" y="2162175"/>
            <a:ext cx="482600" cy="1296988"/>
          </a:xfrm>
          <a:prstGeom prst="line">
            <a:avLst/>
          </a:prstGeom>
          <a:ln w="9525" cap="flat" cmpd="sng">
            <a:solidFill>
              <a:schemeClr val="tx1"/>
            </a:solidFill>
            <a:prstDash val="solid"/>
            <a:headEnd type="none" w="med" len="med"/>
            <a:tailEnd type="triangle" w="med" len="med"/>
          </a:ln>
        </p:spPr>
      </p:sp>
      <p:sp>
        <p:nvSpPr>
          <p:cNvPr id="96275" name="Line 19"/>
          <p:cNvSpPr/>
          <p:nvPr/>
        </p:nvSpPr>
        <p:spPr>
          <a:xfrm flipV="1">
            <a:off x="4510088" y="2149475"/>
            <a:ext cx="433387" cy="1309688"/>
          </a:xfrm>
          <a:prstGeom prst="line">
            <a:avLst/>
          </a:prstGeom>
          <a:ln w="9525" cap="flat" cmpd="sng">
            <a:solidFill>
              <a:schemeClr val="tx1"/>
            </a:solidFill>
            <a:prstDash val="solid"/>
            <a:headEnd type="none" w="med" len="med"/>
            <a:tailEnd type="triangle" w="med" len="med"/>
          </a:ln>
        </p:spPr>
      </p:sp>
      <p:sp>
        <p:nvSpPr>
          <p:cNvPr id="96276" name="Line 20"/>
          <p:cNvSpPr/>
          <p:nvPr/>
        </p:nvSpPr>
        <p:spPr>
          <a:xfrm>
            <a:off x="5264150" y="2149475"/>
            <a:ext cx="457200" cy="1322388"/>
          </a:xfrm>
          <a:prstGeom prst="line">
            <a:avLst/>
          </a:prstGeom>
          <a:ln w="9525" cap="flat" cmpd="sng">
            <a:solidFill>
              <a:schemeClr val="tx1"/>
            </a:solidFill>
            <a:prstDash val="solid"/>
            <a:headEnd type="none" w="med" len="med"/>
            <a:tailEnd type="triangle" w="med" len="med"/>
          </a:ln>
        </p:spPr>
      </p:sp>
      <p:sp>
        <p:nvSpPr>
          <p:cNvPr id="96277" name="Line 21"/>
          <p:cNvSpPr/>
          <p:nvPr/>
        </p:nvSpPr>
        <p:spPr>
          <a:xfrm flipV="1">
            <a:off x="6018213" y="2149475"/>
            <a:ext cx="542925" cy="1322388"/>
          </a:xfrm>
          <a:prstGeom prst="line">
            <a:avLst/>
          </a:prstGeom>
          <a:ln w="9525" cap="flat" cmpd="sng">
            <a:solidFill>
              <a:schemeClr val="tx1"/>
            </a:solidFill>
            <a:prstDash val="solid"/>
            <a:headEnd type="none" w="med" len="med"/>
            <a:tailEnd type="triangle" w="med" len="med"/>
          </a:ln>
        </p:spPr>
      </p:sp>
      <p:sp>
        <p:nvSpPr>
          <p:cNvPr id="96278" name="Text Box 22"/>
          <p:cNvSpPr txBox="1"/>
          <p:nvPr/>
        </p:nvSpPr>
        <p:spPr>
          <a:xfrm>
            <a:off x="6065838" y="1444625"/>
            <a:ext cx="1336675"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96279" name="Text Box 23"/>
          <p:cNvSpPr txBox="1"/>
          <p:nvPr/>
        </p:nvSpPr>
        <p:spPr>
          <a:xfrm>
            <a:off x="5243513" y="3860800"/>
            <a:ext cx="1336675"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96280" name="Text Box 24"/>
          <p:cNvSpPr txBox="1"/>
          <p:nvPr/>
        </p:nvSpPr>
        <p:spPr>
          <a:xfrm>
            <a:off x="1098550" y="3792538"/>
            <a:ext cx="1336675" cy="3667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初始检查点</a:t>
            </a:r>
          </a:p>
        </p:txBody>
      </p:sp>
      <p:sp>
        <p:nvSpPr>
          <p:cNvPr id="96281" name="Text Box 25"/>
          <p:cNvSpPr txBox="1"/>
          <p:nvPr/>
        </p:nvSpPr>
        <p:spPr>
          <a:xfrm>
            <a:off x="1103313" y="1524000"/>
            <a:ext cx="1336675"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初始检查点</a:t>
            </a:r>
          </a:p>
        </p:txBody>
      </p:sp>
      <p:sp>
        <p:nvSpPr>
          <p:cNvPr id="96282" name="Text Box 26"/>
          <p:cNvSpPr txBox="1"/>
          <p:nvPr/>
        </p:nvSpPr>
        <p:spPr>
          <a:xfrm>
            <a:off x="5449888" y="2422525"/>
            <a:ext cx="395287"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n</a:t>
            </a:r>
          </a:p>
        </p:txBody>
      </p:sp>
      <p:sp>
        <p:nvSpPr>
          <p:cNvPr id="96283" name="Text Box 27"/>
          <p:cNvSpPr txBox="1"/>
          <p:nvPr/>
        </p:nvSpPr>
        <p:spPr>
          <a:xfrm>
            <a:off x="6445250" y="2663825"/>
            <a:ext cx="4445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m</a:t>
            </a:r>
          </a:p>
        </p:txBody>
      </p:sp>
      <p:grpSp>
        <p:nvGrpSpPr>
          <p:cNvPr id="96284" name="Group 30"/>
          <p:cNvGrpSpPr/>
          <p:nvPr/>
        </p:nvGrpSpPr>
        <p:grpSpPr>
          <a:xfrm>
            <a:off x="6783388" y="3298825"/>
            <a:ext cx="284162" cy="346075"/>
            <a:chOff x="4460" y="2086"/>
            <a:chExt cx="179" cy="218"/>
          </a:xfrm>
        </p:grpSpPr>
        <p:sp>
          <p:nvSpPr>
            <p:cNvPr id="96285" name="Line 28"/>
            <p:cNvSpPr/>
            <p:nvPr/>
          </p:nvSpPr>
          <p:spPr>
            <a:xfrm>
              <a:off x="4460" y="2109"/>
              <a:ext cx="164" cy="187"/>
            </a:xfrm>
            <a:prstGeom prst="line">
              <a:avLst/>
            </a:prstGeom>
            <a:ln w="9525" cap="flat" cmpd="sng">
              <a:solidFill>
                <a:schemeClr val="tx1"/>
              </a:solidFill>
              <a:prstDash val="solid"/>
              <a:headEnd type="none" w="med" len="med"/>
              <a:tailEnd type="none" w="med" len="med"/>
            </a:ln>
          </p:spPr>
        </p:sp>
        <p:sp>
          <p:nvSpPr>
            <p:cNvPr id="96286" name="Line 29"/>
            <p:cNvSpPr/>
            <p:nvPr/>
          </p:nvSpPr>
          <p:spPr>
            <a:xfrm flipH="1">
              <a:off x="4460" y="2086"/>
              <a:ext cx="179" cy="218"/>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p:cNvSpPr>
          <p:nvPr>
            <p:ph type="title"/>
          </p:nvPr>
        </p:nvSpPr>
        <p:spPr>
          <a:xfrm>
            <a:off x="0" y="0"/>
            <a:ext cx="9144000" cy="830263"/>
          </a:xfrm>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r>
              <a:rPr lang="zh-CN" altLang="en-US" sz="3200" b="1" dirty="0">
                <a:ea typeface="宋体" panose="02010600030101010101" pitchFamily="2" charset="-122"/>
              </a:rPr>
              <a:t>设置问题</a:t>
            </a:r>
            <a:endParaRPr lang="en-US" altLang="zh-CN" sz="3200" b="1" dirty="0">
              <a:ea typeface="宋体" panose="02010600030101010101" pitchFamily="2" charset="-122"/>
            </a:endParaRPr>
          </a:p>
        </p:txBody>
      </p:sp>
      <p:sp>
        <p:nvSpPr>
          <p:cNvPr id="98307" name="Rectangle 3"/>
          <p:cNvSpPr>
            <a:spLocks noGrp="1"/>
          </p:cNvSpPr>
          <p:nvPr>
            <p:ph idx="1"/>
          </p:nvPr>
        </p:nvSpPr>
        <p:spPr>
          <a:xfrm>
            <a:off x="317500" y="925513"/>
            <a:ext cx="8509000" cy="5308600"/>
          </a:xfrm>
          <a:ln/>
        </p:spPr>
        <p:txBody>
          <a:bodyPr vert="horz" wrap="square" lIns="91440" tIns="45720" rIns="91440" bIns="45720" anchor="t" anchorCtr="0"/>
          <a:lstStyle/>
          <a:p>
            <a:pPr marL="0" indent="0" algn="l" eaLnBrk="1" hangingPunct="1">
              <a:buNone/>
            </a:pPr>
            <a:r>
              <a:rPr lang="zh-CN" altLang="en-US" sz="2200" dirty="0">
                <a:latin typeface="宋体" panose="02010600030101010101" pitchFamily="2" charset="-122"/>
                <a:ea typeface="宋体" panose="02010600030101010101" pitchFamily="2" charset="-122"/>
              </a:rPr>
              <a:t>如何设置检查点并获取全局检查点的状态？</a:t>
            </a:r>
            <a:endParaRPr lang="en-US" altLang="zh-CN" sz="2200" dirty="0">
              <a:latin typeface="宋体" panose="02010600030101010101" pitchFamily="2" charset="-122"/>
              <a:ea typeface="宋体" panose="02010600030101010101" pitchFamily="2" charset="-122"/>
            </a:endParaRPr>
          </a:p>
          <a:p>
            <a:pPr marL="0" indent="0" algn="l" eaLnBrk="1" hangingPunct="1">
              <a:buNone/>
            </a:pPr>
            <a:endParaRPr lang="zh-CN" altLang="en-US" sz="2200" dirty="0">
              <a:latin typeface="宋体" panose="02010600030101010101" pitchFamily="2" charset="-122"/>
              <a:ea typeface="宋体" panose="02010600030101010101" pitchFamily="2" charset="-122"/>
            </a:endParaRPr>
          </a:p>
          <a:p>
            <a:pPr marL="0" indent="0" algn="l" eaLnBrk="1" hangingPunct="1">
              <a:buNone/>
            </a:pPr>
            <a:r>
              <a:rPr lang="zh-CN" altLang="en-US" sz="2200" dirty="0">
                <a:latin typeface="宋体" panose="02010600030101010101" pitchFamily="2" charset="-122"/>
                <a:ea typeface="宋体" panose="02010600030101010101" pitchFamily="2" charset="-122"/>
              </a:rPr>
              <a:t>全局检查点状态的形式定义：</a:t>
            </a:r>
          </a:p>
          <a:p>
            <a:pPr marL="0" indent="0" algn="l" eaLnBrk="1" hangingPunct="1">
              <a:buNone/>
            </a:pPr>
            <a:r>
              <a:rPr lang="zh-CN" altLang="en-US" sz="2200" b="1" dirty="0">
                <a:solidFill>
                  <a:srgbClr val="FF0000"/>
                </a:solidFill>
                <a:latin typeface="宋体" panose="02010600030101010101" pitchFamily="2" charset="-122"/>
                <a:ea typeface="宋体" panose="02010600030101010101" pitchFamily="2" charset="-122"/>
              </a:rPr>
              <a:t>令：</a:t>
            </a:r>
            <a:r>
              <a:rPr lang="en-US" altLang="zh-CN" sz="2200" dirty="0">
                <a:latin typeface="宋体" panose="02010600030101010101" pitchFamily="2" charset="-122"/>
                <a:ea typeface="宋体" panose="02010600030101010101" pitchFamily="2" charset="-122"/>
              </a:rPr>
              <a:t>LSi</a:t>
            </a:r>
            <a:r>
              <a:rPr lang="zh-CN" altLang="en-US" sz="2200" dirty="0">
                <a:latin typeface="宋体" panose="02010600030101010101" pitchFamily="2" charset="-122"/>
                <a:ea typeface="宋体" panose="02010600030101010101" pitchFamily="2" charset="-122"/>
              </a:rPr>
              <a:t>为进程</a:t>
            </a:r>
            <a:r>
              <a:rPr lang="en-US" altLang="zh-CN" sz="2200" dirty="0">
                <a:latin typeface="宋体" panose="02010600030101010101" pitchFamily="2" charset="-122"/>
                <a:ea typeface="宋体" panose="02010600030101010101" pitchFamily="2" charset="-122"/>
              </a:rPr>
              <a:t>Pi</a:t>
            </a:r>
            <a:r>
              <a:rPr lang="zh-CN" altLang="en-US" sz="2200" dirty="0">
                <a:latin typeface="宋体" panose="02010600030101010101" pitchFamily="2" charset="-122"/>
                <a:ea typeface="宋体" panose="02010600030101010101" pitchFamily="2" charset="-122"/>
              </a:rPr>
              <a:t>的局部状态，则全局状态为</a:t>
            </a:r>
            <a:r>
              <a:rPr lang="en-US" altLang="zh-CN" sz="2200" dirty="0">
                <a:latin typeface="宋体" panose="02010600030101010101" pitchFamily="2" charset="-122"/>
                <a:ea typeface="宋体" panose="02010600030101010101" pitchFamily="2" charset="-122"/>
              </a:rPr>
              <a:t>:</a:t>
            </a:r>
          </a:p>
          <a:p>
            <a:pPr marL="0" indent="0" algn="l" eaLnBrk="1" hangingPunct="1">
              <a:buNone/>
            </a:pPr>
            <a:r>
              <a:rPr lang="en-US" altLang="zh-CN" sz="2200" dirty="0">
                <a:latin typeface="宋体" panose="02010600030101010101" pitchFamily="2" charset="-122"/>
                <a:ea typeface="宋体" panose="02010600030101010101" pitchFamily="2" charset="-122"/>
              </a:rPr>
              <a:t>         GS=</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LS1</a:t>
            </a:r>
            <a:r>
              <a:rPr lang="zh-CN" altLang="en-US" sz="22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LS2</a:t>
            </a:r>
            <a:r>
              <a:rPr lang="zh-CN" altLang="en-US" sz="22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LS3</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LSn</a:t>
            </a:r>
            <a:r>
              <a:rPr lang="zh-CN" altLang="en-US" sz="2200" dirty="0">
                <a:latin typeface="宋体" panose="02010600030101010101" pitchFamily="2" charset="-122"/>
                <a:ea typeface="宋体" panose="02010600030101010101" pitchFamily="2" charset="-122"/>
              </a:rPr>
              <a:t> ）</a:t>
            </a:r>
          </a:p>
          <a:p>
            <a:pPr marL="0" indent="0" algn="l" eaLnBrk="1" hangingPunct="1">
              <a:buNone/>
            </a:pPr>
            <a:r>
              <a:rPr lang="zh-CN" altLang="en-US" sz="2200" b="1" dirty="0">
                <a:solidFill>
                  <a:srgbClr val="FF0000"/>
                </a:solidFill>
                <a:latin typeface="宋体" panose="02010600030101010101" pitchFamily="2" charset="-122"/>
                <a:ea typeface="宋体" panose="02010600030101010101" pitchFamily="2" charset="-122"/>
              </a:rPr>
              <a:t>设</a:t>
            </a:r>
            <a:r>
              <a:rPr lang="en-US" altLang="zh-CN" sz="2200" b="1" dirty="0">
                <a:solidFill>
                  <a:srgbClr val="FF0000"/>
                </a:solidFill>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(1)transit(LSi,LSj)=m|s(m)∈LSi∧r(m)  LSj(</a:t>
            </a:r>
            <a:r>
              <a:rPr lang="zh-CN" altLang="en-US" sz="2200" dirty="0">
                <a:latin typeface="宋体" panose="02010600030101010101" pitchFamily="2" charset="-122"/>
                <a:ea typeface="宋体" panose="02010600030101010101" pitchFamily="2" charset="-122"/>
              </a:rPr>
              <a:t>有发无收</a:t>
            </a:r>
            <a:r>
              <a:rPr lang="en-US" altLang="zh-CN" sz="2200" dirty="0">
                <a:latin typeface="宋体" panose="02010600030101010101" pitchFamily="2" charset="-122"/>
                <a:ea typeface="宋体" panose="02010600030101010101" pitchFamily="2" charset="-122"/>
              </a:rPr>
              <a:t>)</a:t>
            </a:r>
          </a:p>
          <a:p>
            <a:pPr marL="0" indent="0" algn="l" eaLnBrk="1" hangingPunct="1">
              <a:buNone/>
            </a:pPr>
            <a:r>
              <a:rPr lang="zh-CN" altLang="en-US" sz="22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(2)inconsistent(LSi,LSj)=m|s(m)  LSi∧r(m)∈LSj(</a:t>
            </a:r>
            <a:r>
              <a:rPr lang="zh-CN" altLang="en-US" sz="2200" dirty="0">
                <a:latin typeface="宋体" panose="02010600030101010101" pitchFamily="2" charset="-122"/>
                <a:ea typeface="宋体" panose="02010600030101010101" pitchFamily="2" charset="-122"/>
              </a:rPr>
              <a:t>有收无发</a:t>
            </a:r>
            <a:r>
              <a:rPr lang="en-US" altLang="zh-CN" sz="2200" dirty="0">
                <a:latin typeface="宋体" panose="02010600030101010101" pitchFamily="2" charset="-122"/>
                <a:ea typeface="宋体" panose="02010600030101010101" pitchFamily="2" charset="-122"/>
              </a:rPr>
              <a:t>)</a:t>
            </a:r>
          </a:p>
          <a:p>
            <a:pPr marL="0" indent="0" algn="l" eaLnBrk="1" hangingPunct="1">
              <a:buNone/>
            </a:pPr>
            <a:r>
              <a:rPr lang="zh-CN" altLang="en-US" sz="2200" b="1" dirty="0">
                <a:solidFill>
                  <a:srgbClr val="FF0000"/>
                </a:solidFill>
                <a:latin typeface="宋体" panose="02010600030101010101" pitchFamily="2" charset="-122"/>
                <a:ea typeface="宋体" panose="02010600030101010101" pitchFamily="2" charset="-122"/>
              </a:rPr>
              <a:t>称全局状态</a:t>
            </a:r>
            <a:r>
              <a:rPr lang="en-US" altLang="zh-CN" sz="2200" b="1" dirty="0">
                <a:solidFill>
                  <a:srgbClr val="FF0000"/>
                </a:solidFill>
                <a:latin typeface="宋体" panose="02010600030101010101" pitchFamily="2" charset="-122"/>
                <a:ea typeface="宋体" panose="02010600030101010101" pitchFamily="2" charset="-122"/>
              </a:rPr>
              <a:t>GS:</a:t>
            </a:r>
          </a:p>
          <a:p>
            <a:pPr marL="821055" lvl="1" eaLnBrk="1" hangingPunct="1">
              <a:buFont typeface="Wingdings" panose="05000000000000000000" pitchFamily="2" charset="2"/>
              <a:buChar char="u"/>
            </a:pPr>
            <a:r>
              <a:rPr lang="zh-CN" altLang="en-US" sz="2200" dirty="0">
                <a:latin typeface="宋体" panose="02010600030101010101" pitchFamily="2" charset="-122"/>
                <a:ea typeface="宋体" panose="02010600030101010101" pitchFamily="2" charset="-122"/>
              </a:rPr>
              <a:t>强一致性状态</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当且仅当对所有的</a:t>
            </a:r>
            <a:r>
              <a:rPr lang="en-US" altLang="zh-CN" sz="2200" dirty="0">
                <a:latin typeface="宋体" panose="02010600030101010101" pitchFamily="2" charset="-122"/>
                <a:ea typeface="宋体" panose="02010600030101010101" pitchFamily="2" charset="-122"/>
              </a:rPr>
              <a:t>i</a:t>
            </a:r>
            <a:r>
              <a:rPr lang="zh-CN" altLang="en-US"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j, </a:t>
            </a:r>
            <a:r>
              <a:rPr lang="zh-CN" altLang="en-US" sz="2200" dirty="0">
                <a:latin typeface="宋体" panose="02010600030101010101" pitchFamily="2" charset="-122"/>
                <a:ea typeface="宋体" panose="02010600030101010101" pitchFamily="2" charset="-122"/>
              </a:rPr>
              <a:t>集合</a:t>
            </a:r>
          </a:p>
          <a:p>
            <a:pPr marL="0" indent="0" algn="l" eaLnBrk="1" hangingPunct="1">
              <a:buNone/>
            </a:pPr>
            <a:r>
              <a:rPr lang="zh-CN" altLang="en-US" sz="22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inconsistent(LSi,LSj)=</a:t>
            </a:r>
            <a:r>
              <a:rPr lang="ru-RU" altLang="zh-CN" sz="2200" dirty="0">
                <a:ea typeface="宋体" panose="02010600030101010101" pitchFamily="2" charset="-122"/>
              </a:rPr>
              <a:t>Ф</a:t>
            </a:r>
            <a:r>
              <a:rPr lang="en-US" altLang="zh-CN" sz="2200" dirty="0">
                <a:latin typeface="宋体" panose="02010600030101010101" pitchFamily="2" charset="-122"/>
                <a:ea typeface="宋体" panose="02010600030101010101" pitchFamily="2" charset="-122"/>
              </a:rPr>
              <a:t>∧transit(LSi,LSj)=</a:t>
            </a:r>
            <a:r>
              <a:rPr lang="ru-RU" altLang="zh-CN" sz="2200" dirty="0">
                <a:ea typeface="宋体" panose="02010600030101010101" pitchFamily="2" charset="-122"/>
              </a:rPr>
              <a:t>Ф</a:t>
            </a:r>
            <a:endParaRPr lang="ru-RU" altLang="en-US" sz="2200" dirty="0">
              <a:ea typeface="宋体" panose="02010600030101010101" pitchFamily="2" charset="-122"/>
            </a:endParaRPr>
          </a:p>
          <a:p>
            <a:pPr marL="821055" lvl="1" eaLnBrk="1" hangingPunct="1">
              <a:buFont typeface="Wingdings" panose="05000000000000000000" pitchFamily="2" charset="2"/>
              <a:buChar char="u"/>
            </a:pPr>
            <a:r>
              <a:rPr lang="zh-CN" altLang="en-US" sz="2200" dirty="0">
                <a:latin typeface="宋体" panose="02010600030101010101" pitchFamily="2" charset="-122"/>
                <a:ea typeface="宋体" panose="02010600030101010101" pitchFamily="2" charset="-122"/>
              </a:rPr>
              <a:t>一致性状态</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当且仅当，对所有的</a:t>
            </a:r>
            <a:r>
              <a:rPr lang="en-US" altLang="zh-CN" sz="2200" dirty="0">
                <a:latin typeface="宋体" panose="02010600030101010101" pitchFamily="2" charset="-122"/>
                <a:ea typeface="宋体" panose="02010600030101010101" pitchFamily="2" charset="-122"/>
              </a:rPr>
              <a:t>i</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j</a:t>
            </a:r>
            <a:r>
              <a:rPr lang="zh-CN" altLang="en-US" sz="2200" dirty="0">
                <a:latin typeface="宋体" panose="02010600030101010101" pitchFamily="2" charset="-122"/>
                <a:ea typeface="宋体" panose="02010600030101010101" pitchFamily="2" charset="-122"/>
              </a:rPr>
              <a:t>，</a:t>
            </a:r>
          </a:p>
          <a:p>
            <a:pPr marL="0" indent="0" algn="l" eaLnBrk="1" hangingPunct="1">
              <a:buNone/>
            </a:pPr>
            <a:r>
              <a:rPr lang="zh-CN" altLang="en-US" sz="22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inconsistent(LSi,LSj)=</a:t>
            </a:r>
            <a:r>
              <a:rPr lang="ru-RU" altLang="zh-CN" sz="2200" dirty="0">
                <a:ea typeface="宋体" panose="02010600030101010101" pitchFamily="2" charset="-122"/>
              </a:rPr>
              <a:t>Ф</a:t>
            </a:r>
            <a:endParaRPr lang="zh-CN" altLang="en-US" sz="2200" dirty="0">
              <a:latin typeface="宋体" panose="02010600030101010101" pitchFamily="2" charset="-122"/>
              <a:ea typeface="宋体" panose="02010600030101010101" pitchFamily="2" charset="-122"/>
            </a:endParaRPr>
          </a:p>
          <a:p>
            <a:pPr marL="821055" lvl="1" eaLnBrk="1" hangingPunct="1">
              <a:buFont typeface="Wingdings" panose="05000000000000000000" pitchFamily="2" charset="2"/>
              <a:buChar char="u"/>
            </a:pPr>
            <a:r>
              <a:rPr lang="zh-CN" altLang="en-US" sz="2200" dirty="0">
                <a:latin typeface="宋体" panose="02010600030101010101" pitchFamily="2" charset="-122"/>
                <a:ea typeface="宋体" panose="02010600030101010101" pitchFamily="2" charset="-122"/>
              </a:rPr>
              <a:t>否则是不一致性状态。</a:t>
            </a:r>
            <a:endParaRPr lang="en-US" altLang="zh-CN" sz="2200" dirty="0">
              <a:latin typeface="宋体" panose="02010600030101010101" pitchFamily="2" charset="-122"/>
              <a:ea typeface="宋体" panose="02010600030101010101" pitchFamily="2" charset="-122"/>
            </a:endParaRPr>
          </a:p>
        </p:txBody>
      </p:sp>
      <p:grpSp>
        <p:nvGrpSpPr>
          <p:cNvPr id="98308" name="Group 41"/>
          <p:cNvGrpSpPr/>
          <p:nvPr/>
        </p:nvGrpSpPr>
        <p:grpSpPr>
          <a:xfrm>
            <a:off x="5983288" y="3055938"/>
            <a:ext cx="301625" cy="261937"/>
            <a:chOff x="1422" y="3720"/>
            <a:chExt cx="190" cy="165"/>
          </a:xfrm>
        </p:grpSpPr>
        <p:grpSp>
          <p:nvGrpSpPr>
            <p:cNvPr id="98314" name="Group 37"/>
            <p:cNvGrpSpPr/>
            <p:nvPr/>
          </p:nvGrpSpPr>
          <p:grpSpPr>
            <a:xfrm>
              <a:off x="1436" y="3744"/>
              <a:ext cx="140" cy="133"/>
              <a:chOff x="847" y="3460"/>
              <a:chExt cx="321" cy="396"/>
            </a:xfrm>
          </p:grpSpPr>
          <p:sp>
            <p:nvSpPr>
              <p:cNvPr id="98316" name="Freeform 38"/>
              <p:cNvSpPr/>
              <p:nvPr/>
            </p:nvSpPr>
            <p:spPr>
              <a:xfrm>
                <a:off x="847" y="3460"/>
                <a:ext cx="313" cy="396"/>
              </a:xfrm>
              <a:custGeom>
                <a:avLst/>
                <a:gdLst/>
                <a:ahLst/>
                <a:cxnLst>
                  <a:cxn ang="0">
                    <a:pos x="313" y="12"/>
                  </a:cxn>
                  <a:cxn ang="0">
                    <a:pos x="75" y="29"/>
                  </a:cxn>
                  <a:cxn ang="0">
                    <a:pos x="1" y="185"/>
                  </a:cxn>
                  <a:cxn ang="0">
                    <a:pos x="83" y="366"/>
                  </a:cxn>
                  <a:cxn ang="0">
                    <a:pos x="305" y="366"/>
                  </a:cxn>
                </a:cxnLst>
                <a:rect l="0" t="0" r="0" b="0"/>
                <a:pathLst>
                  <a:path w="313" h="396">
                    <a:moveTo>
                      <a:pt x="313" y="12"/>
                    </a:moveTo>
                    <a:cubicBezTo>
                      <a:pt x="220" y="6"/>
                      <a:pt x="127" y="0"/>
                      <a:pt x="75" y="29"/>
                    </a:cubicBezTo>
                    <a:cubicBezTo>
                      <a:pt x="23" y="58"/>
                      <a:pt x="0" y="129"/>
                      <a:pt x="1" y="185"/>
                    </a:cubicBezTo>
                    <a:cubicBezTo>
                      <a:pt x="2" y="241"/>
                      <a:pt x="32" y="336"/>
                      <a:pt x="83" y="366"/>
                    </a:cubicBezTo>
                    <a:cubicBezTo>
                      <a:pt x="134" y="396"/>
                      <a:pt x="271" y="363"/>
                      <a:pt x="305" y="366"/>
                    </a:cubicBezTo>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98317" name="Line 39"/>
              <p:cNvSpPr/>
              <p:nvPr/>
            </p:nvSpPr>
            <p:spPr>
              <a:xfrm>
                <a:off x="848" y="3653"/>
                <a:ext cx="320" cy="0"/>
              </a:xfrm>
              <a:prstGeom prst="line">
                <a:avLst/>
              </a:prstGeom>
              <a:ln w="9525" cap="flat" cmpd="sng">
                <a:solidFill>
                  <a:schemeClr val="tx1"/>
                </a:solidFill>
                <a:prstDash val="solid"/>
                <a:headEnd type="none" w="med" len="med"/>
                <a:tailEnd type="none" w="med" len="med"/>
              </a:ln>
            </p:spPr>
          </p:sp>
        </p:grpSp>
        <p:sp>
          <p:nvSpPr>
            <p:cNvPr id="98315" name="Line 40"/>
            <p:cNvSpPr/>
            <p:nvPr/>
          </p:nvSpPr>
          <p:spPr>
            <a:xfrm flipH="1">
              <a:off x="1422" y="3720"/>
              <a:ext cx="190" cy="165"/>
            </a:xfrm>
            <a:prstGeom prst="line">
              <a:avLst/>
            </a:prstGeom>
            <a:ln w="9525" cap="flat" cmpd="sng">
              <a:solidFill>
                <a:schemeClr val="tx1"/>
              </a:solidFill>
              <a:prstDash val="solid"/>
              <a:headEnd type="none" w="med" len="med"/>
              <a:tailEnd type="none" w="med" len="med"/>
            </a:ln>
          </p:spPr>
        </p:sp>
      </p:grpSp>
      <p:grpSp>
        <p:nvGrpSpPr>
          <p:cNvPr id="98309" name="Group 45"/>
          <p:cNvGrpSpPr/>
          <p:nvPr/>
        </p:nvGrpSpPr>
        <p:grpSpPr>
          <a:xfrm>
            <a:off x="5140325" y="3449638"/>
            <a:ext cx="301625" cy="261937"/>
            <a:chOff x="1422" y="3720"/>
            <a:chExt cx="190" cy="165"/>
          </a:xfrm>
        </p:grpSpPr>
        <p:grpSp>
          <p:nvGrpSpPr>
            <p:cNvPr id="98310" name="Group 46"/>
            <p:cNvGrpSpPr/>
            <p:nvPr/>
          </p:nvGrpSpPr>
          <p:grpSpPr>
            <a:xfrm>
              <a:off x="1436" y="3744"/>
              <a:ext cx="140" cy="133"/>
              <a:chOff x="847" y="3460"/>
              <a:chExt cx="321" cy="396"/>
            </a:xfrm>
          </p:grpSpPr>
          <p:sp>
            <p:nvSpPr>
              <p:cNvPr id="98312" name="Freeform 47"/>
              <p:cNvSpPr/>
              <p:nvPr/>
            </p:nvSpPr>
            <p:spPr>
              <a:xfrm>
                <a:off x="847" y="3460"/>
                <a:ext cx="313" cy="396"/>
              </a:xfrm>
              <a:custGeom>
                <a:avLst/>
                <a:gdLst/>
                <a:ahLst/>
                <a:cxnLst>
                  <a:cxn ang="0">
                    <a:pos x="313" y="12"/>
                  </a:cxn>
                  <a:cxn ang="0">
                    <a:pos x="75" y="29"/>
                  </a:cxn>
                  <a:cxn ang="0">
                    <a:pos x="1" y="185"/>
                  </a:cxn>
                  <a:cxn ang="0">
                    <a:pos x="83" y="366"/>
                  </a:cxn>
                  <a:cxn ang="0">
                    <a:pos x="305" y="366"/>
                  </a:cxn>
                </a:cxnLst>
                <a:rect l="0" t="0" r="0" b="0"/>
                <a:pathLst>
                  <a:path w="313" h="396">
                    <a:moveTo>
                      <a:pt x="313" y="12"/>
                    </a:moveTo>
                    <a:cubicBezTo>
                      <a:pt x="220" y="6"/>
                      <a:pt x="127" y="0"/>
                      <a:pt x="75" y="29"/>
                    </a:cubicBezTo>
                    <a:cubicBezTo>
                      <a:pt x="23" y="58"/>
                      <a:pt x="0" y="129"/>
                      <a:pt x="1" y="185"/>
                    </a:cubicBezTo>
                    <a:cubicBezTo>
                      <a:pt x="2" y="241"/>
                      <a:pt x="32" y="336"/>
                      <a:pt x="83" y="366"/>
                    </a:cubicBezTo>
                    <a:cubicBezTo>
                      <a:pt x="134" y="396"/>
                      <a:pt x="271" y="363"/>
                      <a:pt x="305" y="366"/>
                    </a:cubicBezTo>
                  </a:path>
                </a:pathLst>
              </a:custGeom>
              <a:no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98313" name="Line 48"/>
              <p:cNvSpPr/>
              <p:nvPr/>
            </p:nvSpPr>
            <p:spPr>
              <a:xfrm>
                <a:off x="848" y="3653"/>
                <a:ext cx="320" cy="0"/>
              </a:xfrm>
              <a:prstGeom prst="line">
                <a:avLst/>
              </a:prstGeom>
              <a:ln w="9525" cap="flat" cmpd="sng">
                <a:solidFill>
                  <a:schemeClr val="tx1"/>
                </a:solidFill>
                <a:prstDash val="solid"/>
                <a:headEnd type="none" w="med" len="med"/>
                <a:tailEnd type="none" w="med" len="med"/>
              </a:ln>
            </p:spPr>
          </p:sp>
        </p:grpSp>
        <p:sp>
          <p:nvSpPr>
            <p:cNvPr id="98311" name="Line 49"/>
            <p:cNvSpPr/>
            <p:nvPr/>
          </p:nvSpPr>
          <p:spPr>
            <a:xfrm flipH="1">
              <a:off x="1422" y="3720"/>
              <a:ext cx="190" cy="165"/>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r>
              <a:rPr lang="zh-CN" altLang="en-US" sz="4000" dirty="0">
                <a:ea typeface="宋体" panose="02010600030101010101" pitchFamily="2" charset="-122"/>
              </a:rPr>
              <a:t>设置问题</a:t>
            </a:r>
            <a:endParaRPr lang="en-US" altLang="zh-CN" sz="4000" dirty="0">
              <a:ea typeface="宋体" panose="02010600030101010101" pitchFamily="2" charset="-122"/>
            </a:endParaRPr>
          </a:p>
        </p:txBody>
      </p:sp>
      <p:sp>
        <p:nvSpPr>
          <p:cNvPr id="100355" name="Rectangle 3"/>
          <p:cNvSpPr>
            <a:spLocks noGrp="1"/>
          </p:cNvSpPr>
          <p:nvPr>
            <p:ph idx="1"/>
          </p:nvPr>
        </p:nvSpPr>
        <p:spPr>
          <a:xfrm>
            <a:off x="2984500" y="6359525"/>
            <a:ext cx="3405188" cy="403225"/>
          </a:xfrm>
          <a:ln/>
        </p:spPr>
        <p:txBody>
          <a:bodyPr vert="horz" wrap="square" lIns="91440" tIns="45720" rIns="91440" bIns="45720" anchor="t" anchorCtr="0"/>
          <a:lstStyle/>
          <a:p>
            <a:pPr eaLnBrk="1" hangingPunct="1">
              <a:buNone/>
            </a:pPr>
            <a:r>
              <a:rPr lang="en-US" altLang="zh-CN" sz="2800" dirty="0">
                <a:ea typeface="宋体" panose="02010600030101010101" pitchFamily="2" charset="-122"/>
              </a:rPr>
              <a:t>A recovery line.</a:t>
            </a:r>
          </a:p>
        </p:txBody>
      </p:sp>
      <p:pic>
        <p:nvPicPr>
          <p:cNvPr id="100356" name="Picture 4"/>
          <p:cNvPicPr>
            <a:picLocks noChangeAspect="1"/>
          </p:cNvPicPr>
          <p:nvPr/>
        </p:nvPicPr>
        <p:blipFill>
          <a:blip r:embed="rId3"/>
          <a:srcRect l="24345" t="46072" r="21379" b="39577"/>
          <a:stretch>
            <a:fillRect/>
          </a:stretch>
        </p:blipFill>
        <p:spPr>
          <a:xfrm>
            <a:off x="441325" y="3309938"/>
            <a:ext cx="8491538" cy="3178175"/>
          </a:xfrm>
          <a:prstGeom prst="rect">
            <a:avLst/>
          </a:prstGeom>
          <a:noFill/>
          <a:ln w="9525">
            <a:noFill/>
          </a:ln>
        </p:spPr>
      </p:pic>
      <p:sp>
        <p:nvSpPr>
          <p:cNvPr id="100357" name="Rectangle 3"/>
          <p:cNvSpPr txBox="1"/>
          <p:nvPr/>
        </p:nvSpPr>
        <p:spPr>
          <a:xfrm>
            <a:off x="300038" y="858838"/>
            <a:ext cx="8632825" cy="2322512"/>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buNone/>
            </a:pPr>
            <a:r>
              <a:rPr lang="zh-CN" altLang="en-US" sz="2200" b="1" dirty="0">
                <a:latin typeface="宋体" panose="02010600030101010101" pitchFamily="2" charset="-122"/>
                <a:ea typeface="宋体" panose="02010600030101010101" pitchFamily="2" charset="-122"/>
              </a:rPr>
              <a:t>如何获取一个全局检查点的状态</a:t>
            </a:r>
            <a:r>
              <a:rPr lang="en-US" altLang="zh-CN" sz="2200" b="1" dirty="0">
                <a:latin typeface="宋体" panose="02010600030101010101" pitchFamily="2" charset="-122"/>
                <a:ea typeface="宋体" panose="02010600030101010101" pitchFamily="2" charset="-122"/>
              </a:rPr>
              <a:t>?</a:t>
            </a:r>
          </a:p>
          <a:p>
            <a:pPr marL="0" lvl="0" indent="0" algn="l" eaLnBrk="1" hangingPunct="1">
              <a:lnSpc>
                <a:spcPct val="150000"/>
              </a:lnSpc>
              <a:buNone/>
            </a:pPr>
            <a:r>
              <a:rPr lang="en-US" altLang="zh-CN" sz="2200" b="1" dirty="0">
                <a:latin typeface="宋体" panose="02010600030101010101" pitchFamily="2" charset="-122"/>
                <a:ea typeface="宋体" panose="02010600030101010101" pitchFamily="2" charset="-122"/>
              </a:rPr>
              <a:t>    Chandy</a:t>
            </a:r>
            <a:r>
              <a:rPr lang="zh-CN" altLang="en-US" sz="2200" b="1" dirty="0">
                <a:latin typeface="宋体" panose="02010600030101010101" pitchFamily="2" charset="-122"/>
                <a:ea typeface="宋体" panose="02010600030101010101" pitchFamily="2" charset="-122"/>
              </a:rPr>
              <a:t>与</a:t>
            </a:r>
            <a:r>
              <a:rPr lang="en-US" altLang="zh-CN" sz="2200" b="1" dirty="0">
                <a:latin typeface="宋体" panose="02010600030101010101" pitchFamily="2" charset="-122"/>
                <a:ea typeface="宋体" panose="02010600030101010101" pitchFamily="2" charset="-122"/>
              </a:rPr>
              <a:t>Lamport[85</a:t>
            </a:r>
            <a:r>
              <a:rPr lang="zh-CN" altLang="en-US" sz="2200" b="1" dirty="0">
                <a:latin typeface="宋体" panose="02010600030101010101" pitchFamily="2" charset="-122"/>
                <a:ea typeface="宋体" panose="02010600030101010101" pitchFamily="2" charset="-122"/>
              </a:rPr>
              <a:t>年</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提出了一个算法（</a:t>
            </a:r>
            <a:r>
              <a:rPr lang="en-US" altLang="zh-CN" sz="2200" b="1" dirty="0">
                <a:latin typeface="宋体" panose="02010600030101010101" pitchFamily="2" charset="-122"/>
                <a:ea typeface="宋体" panose="02010600030101010101" pitchFamily="2" charset="-122"/>
              </a:rPr>
              <a:t>distributed snapshot</a:t>
            </a:r>
            <a:r>
              <a:rPr lang="zh-CN" altLang="en-US" sz="2200" b="1" dirty="0">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,ACM Trans. Comp. Syst.</a:t>
            </a:r>
            <a:r>
              <a:rPr lang="zh-CN" altLang="en-US" sz="2200" b="1" dirty="0">
                <a:latin typeface="宋体" panose="02010600030101010101" pitchFamily="2" charset="-122"/>
                <a:ea typeface="宋体" panose="02010600030101010101" pitchFamily="2" charset="-122"/>
              </a:rPr>
              <a:t>当一个进程或系统失效时，可以通过某种方法获得的全局一致的状态进行恢复。</a:t>
            </a:r>
            <a:endParaRPr lang="en-US" altLang="zh-CN" sz="2200" b="1" dirty="0">
              <a:latin typeface="宋体" panose="02010600030101010101" pitchFamily="2" charset="-122"/>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楷体_GB2312" pitchFamily="49" charset="-122"/>
              </a:rPr>
              <a:t>Checkpointing</a:t>
            </a:r>
            <a:r>
              <a:rPr lang="zh-CN" altLang="en-US" dirty="0">
                <a:ea typeface="楷体_GB2312" pitchFamily="49" charset="-122"/>
              </a:rPr>
              <a:t>设置</a:t>
            </a:r>
            <a:endParaRPr lang="en-US" altLang="zh-CN" dirty="0">
              <a:ea typeface="楷体_GB2312" pitchFamily="49" charset="-122"/>
            </a:endParaRPr>
          </a:p>
        </p:txBody>
      </p:sp>
      <p:sp>
        <p:nvSpPr>
          <p:cNvPr id="102403" name="Rectangle 3"/>
          <p:cNvSpPr>
            <a:spLocks noGrp="1"/>
          </p:cNvSpPr>
          <p:nvPr>
            <p:ph idx="1"/>
          </p:nvPr>
        </p:nvSpPr>
        <p:spPr>
          <a:xfrm>
            <a:off x="76200" y="3033713"/>
            <a:ext cx="8885238" cy="3076575"/>
          </a:xfrm>
          <a:ln/>
        </p:spPr>
        <p:txBody>
          <a:bodyPr vert="horz" wrap="square" lIns="91440" tIns="45720" rIns="91440" bIns="45720" anchor="t" anchorCtr="0"/>
          <a:lstStyle/>
          <a:p>
            <a:pPr marL="0" indent="0" algn="l" eaLnBrk="1" hangingPunct="1">
              <a:lnSpc>
                <a:spcPct val="150000"/>
              </a:lnSpc>
              <a:buNone/>
            </a:pPr>
            <a:r>
              <a:rPr lang="zh-CN" altLang="en-US" sz="2200" dirty="0">
                <a:ea typeface="楷体_GB2312" pitchFamily="49" charset="-122"/>
              </a:rPr>
              <a:t> </a:t>
            </a:r>
            <a:r>
              <a:rPr lang="en-US" altLang="zh-CN" sz="2200" dirty="0">
                <a:ea typeface="楷体_GB2312" pitchFamily="49" charset="-122"/>
              </a:rPr>
              <a:t>(1) Independent Checkpointing;</a:t>
            </a:r>
          </a:p>
          <a:p>
            <a:pPr marL="0" indent="0" algn="l" eaLnBrk="1" hangingPunct="1">
              <a:lnSpc>
                <a:spcPct val="150000"/>
              </a:lnSpc>
              <a:buNone/>
            </a:pP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各进程周期性地、独立地保存自己的运行状态，它们之间不协商（状态不一致），但是在恢复时相互协商，使系统恢复到一致性状态。可能产生多米诺效应。  </a:t>
            </a:r>
          </a:p>
          <a:p>
            <a:pPr marL="0" indent="0" algn="l" eaLnBrk="1" hangingPunct="1">
              <a:lnSpc>
                <a:spcPct val="150000"/>
              </a:lnSpc>
              <a:buNone/>
            </a:pPr>
            <a:r>
              <a:rPr lang="zh-CN" altLang="en-US" sz="2200" b="1" dirty="0">
                <a:latin typeface="宋体" panose="02010600030101010101" pitchFamily="2" charset="-122"/>
                <a:ea typeface="宋体" panose="02010600030101010101" pitchFamily="2" charset="-122"/>
              </a:rPr>
              <a:t>    例如：比较发送和接受报文数目，根据局部检查点的一致性集合进行恢复，相关的检查点算法有很多，可参阅相关论文。</a:t>
            </a:r>
          </a:p>
        </p:txBody>
      </p:sp>
      <p:sp>
        <p:nvSpPr>
          <p:cNvPr id="102404" name="Rectangle 3"/>
          <p:cNvSpPr txBox="1"/>
          <p:nvPr/>
        </p:nvSpPr>
        <p:spPr>
          <a:xfrm>
            <a:off x="76200" y="942975"/>
            <a:ext cx="4395788" cy="16256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20000"/>
              </a:lnSpc>
              <a:buNone/>
            </a:pPr>
            <a:r>
              <a:rPr lang="zh-CN" altLang="en-US" sz="2400" dirty="0">
                <a:ea typeface="楷体_GB2312" pitchFamily="49" charset="-122"/>
              </a:rPr>
              <a:t>两种设置方式：</a:t>
            </a:r>
            <a:endParaRPr lang="en-US" altLang="zh-CN" sz="2400" dirty="0">
              <a:ea typeface="楷体_GB2312" pitchFamily="49" charset="-122"/>
            </a:endParaRPr>
          </a:p>
          <a:p>
            <a:pPr marL="0" lvl="0" indent="0" algn="l" eaLnBrk="1" hangingPunct="1">
              <a:lnSpc>
                <a:spcPct val="120000"/>
              </a:lnSpc>
              <a:buFont typeface="Wingdings" panose="05000000000000000000" pitchFamily="2" charset="2"/>
              <a:buChar char="Ø"/>
            </a:pPr>
            <a:r>
              <a:rPr lang="en-US" altLang="zh-CN" sz="2400" dirty="0">
                <a:ea typeface="楷体_GB2312" pitchFamily="49" charset="-122"/>
              </a:rPr>
              <a:t>Independent Checkpointing;</a:t>
            </a:r>
          </a:p>
          <a:p>
            <a:pPr marL="0" lvl="0" indent="0" algn="l" eaLnBrk="1" hangingPunct="1">
              <a:lnSpc>
                <a:spcPct val="120000"/>
              </a:lnSpc>
              <a:buFont typeface="Wingdings" panose="05000000000000000000" pitchFamily="2" charset="2"/>
              <a:buChar char="Ø"/>
            </a:pPr>
            <a:r>
              <a:rPr lang="en-US" altLang="zh-CN" sz="2400" dirty="0">
                <a:ea typeface="楷体_GB2312" pitchFamily="49" charset="-122"/>
              </a:rPr>
              <a:t>Coordinated Checkpointing;</a:t>
            </a:r>
            <a:endParaRPr lang="zh-CN" altLang="en-US" sz="2400" dirty="0">
              <a:ea typeface="楷体_GB2312" pitchFamily="49" charset="-122"/>
            </a:endParaRPr>
          </a:p>
          <a:p>
            <a:pPr marL="0" lvl="0" indent="0" algn="l" eaLnBrk="1" hangingPunct="1">
              <a:lnSpc>
                <a:spcPct val="120000"/>
              </a:lnSpc>
              <a:buNone/>
            </a:pPr>
            <a:r>
              <a:rPr lang="zh-CN" altLang="en-US" sz="2400" dirty="0">
                <a:ea typeface="楷体_GB2312" pitchFamily="49" charset="-122"/>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p:cNvSpPr>
          <p:nvPr>
            <p:ph type="title"/>
          </p:nvPr>
        </p:nvSpPr>
        <p:spPr>
          <a:ln/>
        </p:spPr>
        <p:txBody>
          <a:bodyPr vert="horz" wrap="square" lIns="91440" tIns="45720" rIns="91440" bIns="45720" anchor="ctr" anchorCtr="0"/>
          <a:lstStyle/>
          <a:p>
            <a:pPr eaLnBrk="1" hangingPunct="1"/>
            <a:r>
              <a:rPr lang="en-US" altLang="zh-CN" dirty="0">
                <a:ea typeface="宋体" panose="02010600030101010101" pitchFamily="2" charset="-122"/>
              </a:rPr>
              <a:t>Checkpointing</a:t>
            </a:r>
          </a:p>
        </p:txBody>
      </p:sp>
      <p:sp>
        <p:nvSpPr>
          <p:cNvPr id="103427" name="Rectangle 3"/>
          <p:cNvSpPr>
            <a:spLocks noGrp="1"/>
          </p:cNvSpPr>
          <p:nvPr>
            <p:ph idx="1"/>
          </p:nvPr>
        </p:nvSpPr>
        <p:spPr>
          <a:xfrm>
            <a:off x="82550" y="1198563"/>
            <a:ext cx="8921750" cy="4986337"/>
          </a:xfrm>
          <a:ln/>
        </p:spPr>
        <p:txBody>
          <a:bodyPr vert="horz" wrap="square" lIns="91440" tIns="45720" rIns="91440" bIns="45720" anchor="t" anchorCtr="0"/>
          <a:lstStyle/>
          <a:p>
            <a:pPr algn="l" eaLnBrk="1" hangingPunct="1">
              <a:lnSpc>
                <a:spcPct val="200000"/>
              </a:lnSpc>
              <a:buNone/>
            </a:pPr>
            <a:r>
              <a:rPr lang="en-US" altLang="zh-CN" sz="2400" b="1" dirty="0">
                <a:ea typeface="楷体_GB2312" pitchFamily="49" charset="-122"/>
              </a:rPr>
              <a:t>  (2) Coordinated Checkpointing.</a:t>
            </a:r>
          </a:p>
          <a:p>
            <a:pPr algn="l" eaLnBrk="1" hangingPunct="1">
              <a:lnSpc>
                <a:spcPct val="200000"/>
              </a:lnSpc>
              <a:buNone/>
            </a:pPr>
            <a:r>
              <a:rPr lang="zh-CN" altLang="en-US" sz="2400"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各进程经过协商建立</a:t>
            </a:r>
            <a:r>
              <a:rPr lang="en-US" altLang="zh-CN" sz="2400" b="1" dirty="0">
                <a:latin typeface="宋体" panose="02010600030101010101" pitchFamily="2" charset="-122"/>
                <a:ea typeface="宋体" panose="02010600030101010101" pitchFamily="2" charset="-122"/>
              </a:rPr>
              <a:t>Checkpointing</a:t>
            </a:r>
            <a:r>
              <a:rPr lang="zh-CN" altLang="en-US" sz="2400" b="1" dirty="0">
                <a:latin typeface="宋体" panose="02010600030101010101" pitchFamily="2" charset="-122"/>
                <a:ea typeface="宋体" panose="02010600030101010101" pitchFamily="2" charset="-122"/>
              </a:rPr>
              <a:t>，满足一致性状态，恢复时只须从检查点重新开始执行，且每个进程只须保存最近时刻的检查点信息。</a:t>
            </a:r>
          </a:p>
          <a:p>
            <a:pPr algn="l" eaLnBrk="1" hangingPunct="1">
              <a:lnSpc>
                <a:spcPct val="200000"/>
              </a:lnSpc>
              <a:buNone/>
            </a:pPr>
            <a:r>
              <a:rPr lang="zh-CN" altLang="en-US" sz="2400" b="1" dirty="0">
                <a:latin typeface="宋体" panose="02010600030101010101" pitchFamily="2" charset="-122"/>
                <a:ea typeface="宋体" panose="02010600030101010101" pitchFamily="2" charset="-122"/>
              </a:rPr>
              <a:t>      建立</a:t>
            </a:r>
            <a:r>
              <a:rPr lang="en-US" altLang="zh-CN" sz="2400" b="1" dirty="0">
                <a:latin typeface="宋体" panose="02010600030101010101" pitchFamily="2" charset="-122"/>
                <a:ea typeface="宋体" panose="02010600030101010101" pitchFamily="2" charset="-122"/>
              </a:rPr>
              <a:t>Coordinated Checkpointing </a:t>
            </a:r>
            <a:r>
              <a:rPr lang="zh-CN" altLang="en-US" sz="2400" b="1" dirty="0">
                <a:latin typeface="宋体" panose="02010600030101010101" pitchFamily="2" charset="-122"/>
                <a:ea typeface="宋体" panose="02010600030101010101" pitchFamily="2" charset="-122"/>
              </a:rPr>
              <a:t>的方法也很多，这里给出一种常用算法</a:t>
            </a:r>
            <a:r>
              <a:rPr lang="en-US" altLang="zh-CN" sz="2400" b="1" dirty="0">
                <a:latin typeface="宋体" panose="02010600030101010101" pitchFamily="2" charset="-122"/>
                <a:ea typeface="宋体" panose="02010600030101010101" pitchFamily="2" charset="-122"/>
              </a:rPr>
              <a:t>——Sync-and-Stop</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SNS</a:t>
            </a:r>
            <a:r>
              <a:rPr lang="zh-CN" altLang="en-US" sz="2400" b="1" dirty="0">
                <a:latin typeface="宋体" panose="02010600030101010101" pitchFamily="2" charset="-122"/>
                <a:ea typeface="宋体" panose="02010600030101010101" pitchFamily="2" charset="-122"/>
              </a:rPr>
              <a:t>）算法。</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p:cNvSpPr>
          <p:nvPr>
            <p:ph type="title"/>
          </p:nvPr>
        </p:nvSpPr>
        <p:spPr>
          <a:xfrm>
            <a:off x="0" y="0"/>
            <a:ext cx="9144000" cy="777875"/>
          </a:xfrm>
          <a:ln/>
        </p:spPr>
        <p:txBody>
          <a:bodyPr vert="horz" wrap="square" lIns="91440" tIns="45720" rIns="91440" bIns="45720" anchor="ctr" anchorCtr="0"/>
          <a:lstStyle/>
          <a:p>
            <a:pPr eaLnBrk="1" hangingPunct="1"/>
            <a:r>
              <a:rPr lang="en-US" altLang="zh-CN" sz="4000" dirty="0">
                <a:ea typeface="宋体" panose="02010600030101010101" pitchFamily="2" charset="-122"/>
              </a:rPr>
              <a:t>Sync-and-Stop</a:t>
            </a:r>
            <a:r>
              <a:rPr lang="zh-CN" altLang="en-US" sz="4000" dirty="0">
                <a:ea typeface="宋体" panose="02010600030101010101" pitchFamily="2" charset="-122"/>
              </a:rPr>
              <a:t>（</a:t>
            </a:r>
            <a:r>
              <a:rPr lang="en-US" altLang="zh-CN" sz="4000" dirty="0">
                <a:ea typeface="宋体" panose="02010600030101010101" pitchFamily="2" charset="-122"/>
              </a:rPr>
              <a:t>SNS</a:t>
            </a:r>
            <a:r>
              <a:rPr lang="zh-CN" altLang="en-US" sz="4000" dirty="0">
                <a:ea typeface="宋体" panose="02010600030101010101" pitchFamily="2" charset="-122"/>
              </a:rPr>
              <a:t>）算法</a:t>
            </a:r>
            <a:endParaRPr lang="en-US" altLang="zh-CN" sz="4000" dirty="0">
              <a:ea typeface="宋体" panose="02010600030101010101" pitchFamily="2" charset="-122"/>
            </a:endParaRPr>
          </a:p>
        </p:txBody>
      </p:sp>
      <p:sp>
        <p:nvSpPr>
          <p:cNvPr id="104451" name="Rectangle 3"/>
          <p:cNvSpPr>
            <a:spLocks noGrp="1"/>
          </p:cNvSpPr>
          <p:nvPr>
            <p:ph idx="1"/>
          </p:nvPr>
        </p:nvSpPr>
        <p:spPr>
          <a:xfrm>
            <a:off x="52388" y="804863"/>
            <a:ext cx="8985250" cy="5659437"/>
          </a:xfrm>
          <a:ln/>
        </p:spPr>
        <p:txBody>
          <a:bodyPr vert="horz" wrap="square" lIns="91440" tIns="45720" rIns="91440" bIns="45720" anchor="t" anchorCtr="0"/>
          <a:lstStyle/>
          <a:p>
            <a:pPr algn="l" eaLnBrk="1" hangingPunct="1">
              <a:buNone/>
            </a:pPr>
            <a:r>
              <a:rPr lang="zh-CN" altLang="en-US" sz="2000" b="1" dirty="0">
                <a:latin typeface="宋体" panose="02010600030101010101" pitchFamily="2" charset="-122"/>
                <a:ea typeface="宋体" panose="02010600030101010101" pitchFamily="2" charset="-122"/>
              </a:rPr>
              <a:t>算法描述（进程</a:t>
            </a:r>
            <a:r>
              <a:rPr lang="en-US" altLang="zh-CN" sz="2000" b="1" dirty="0">
                <a:latin typeface="宋体" panose="02010600030101010101" pitchFamily="2" charset="-122"/>
                <a:ea typeface="宋体" panose="02010600030101010101" pitchFamily="2" charset="-122"/>
              </a:rPr>
              <a:t>pc</a:t>
            </a:r>
            <a:r>
              <a:rPr lang="zh-CN" altLang="en-US" sz="2000" b="1" dirty="0">
                <a:latin typeface="宋体" panose="02010600030101010101" pitchFamily="2" charset="-122"/>
                <a:ea typeface="宋体" panose="02010600030101010101" pitchFamily="2" charset="-122"/>
              </a:rPr>
              <a:t>负责管理全局检查点建立过程）：</a:t>
            </a:r>
            <a:endParaRPr lang="en-US" altLang="zh-CN" sz="2000" b="1" dirty="0">
              <a:latin typeface="宋体" panose="02010600030101010101" pitchFamily="2" charset="-122"/>
              <a:ea typeface="宋体" panose="02010600030101010101" pitchFamily="2" charset="-122"/>
            </a:endParaRPr>
          </a:p>
          <a:p>
            <a:pPr algn="l" eaLnBrk="1" hangingPunct="1">
              <a:buNone/>
            </a:pPr>
            <a:endParaRPr lang="zh-CN" altLang="en-US" sz="2000" b="1" dirty="0">
              <a:latin typeface="宋体" panose="02010600030101010101" pitchFamily="2" charset="-122"/>
              <a:ea typeface="宋体" panose="02010600030101010101" pitchFamily="2" charset="-122"/>
            </a:endParaRPr>
          </a:p>
          <a:p>
            <a:pPr algn="l" eaLnBrk="1" hangingPunct="1">
              <a:buNone/>
            </a:pPr>
            <a:r>
              <a:rPr lang="zh-CN" altLang="en-US" sz="2000" b="1" dirty="0">
                <a:solidFill>
                  <a:srgbClr val="FF0000"/>
                </a:solidFill>
                <a:latin typeface="宋体" panose="02010600030101010101" pitchFamily="2" charset="-122"/>
                <a:ea typeface="宋体" panose="02010600030101010101" pitchFamily="2" charset="-122"/>
              </a:rPr>
              <a:t>第</a:t>
            </a:r>
            <a:r>
              <a:rPr lang="en-US" altLang="zh-CN" sz="2000" b="1" dirty="0">
                <a:solidFill>
                  <a:srgbClr val="FF0000"/>
                </a:solidFill>
                <a:latin typeface="宋体" panose="02010600030101010101" pitchFamily="2" charset="-122"/>
                <a:ea typeface="宋体" panose="02010600030101010101" pitchFamily="2" charset="-122"/>
              </a:rPr>
              <a:t>1</a:t>
            </a:r>
            <a:r>
              <a:rPr lang="zh-CN" altLang="en-US" sz="2000" b="1" dirty="0">
                <a:solidFill>
                  <a:srgbClr val="FF0000"/>
                </a:solidFill>
                <a:latin typeface="宋体" panose="02010600030101010101" pitchFamily="2" charset="-122"/>
                <a:ea typeface="宋体" panose="02010600030101010101" pitchFamily="2" charset="-122"/>
              </a:rPr>
              <a:t>阶段：</a:t>
            </a:r>
            <a:endParaRPr lang="en-US" altLang="zh-CN" sz="2000" b="1" dirty="0">
              <a:latin typeface="宋体" panose="02010600030101010101" pitchFamily="2" charset="-122"/>
              <a:ea typeface="宋体" panose="02010600030101010101" pitchFamily="2" charset="-122"/>
            </a:endParaRPr>
          </a:p>
          <a:p>
            <a:pPr algn="l" eaLnBrk="1" hangingPunct="1">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(1)pc</a:t>
            </a:r>
            <a:r>
              <a:rPr lang="zh-CN" altLang="en-US" sz="2000" b="1" dirty="0">
                <a:latin typeface="宋体" panose="02010600030101010101" pitchFamily="2" charset="-122"/>
                <a:ea typeface="宋体" panose="02010600030101010101" pitchFamily="2" charset="-122"/>
              </a:rPr>
              <a:t>向所有进程广播开始报文</a:t>
            </a:r>
            <a:r>
              <a:rPr lang="en-US" altLang="zh-CN" sz="2000" b="1" dirty="0">
                <a:latin typeface="宋体" panose="02010600030101010101" pitchFamily="2" charset="-122"/>
                <a:ea typeface="宋体" panose="02010600030101010101" pitchFamily="2" charset="-122"/>
              </a:rPr>
              <a:t>Mb</a:t>
            </a:r>
            <a:r>
              <a:rPr lang="zh-CN" altLang="en-US" sz="2000" b="1" dirty="0">
                <a:latin typeface="宋体" panose="02010600030101010101" pitchFamily="2" charset="-122"/>
                <a:ea typeface="宋体" panose="02010600030101010101" pitchFamily="2" charset="-122"/>
              </a:rPr>
              <a:t>；</a:t>
            </a:r>
            <a:endParaRPr lang="zh-CN" altLang="en-US" sz="2000" b="1" dirty="0">
              <a:solidFill>
                <a:srgbClr val="FF0000"/>
              </a:solidFill>
              <a:latin typeface="宋体" panose="02010600030101010101" pitchFamily="2" charset="-122"/>
              <a:ea typeface="宋体" panose="02010600030101010101" pitchFamily="2" charset="-122"/>
            </a:endParaRPr>
          </a:p>
          <a:p>
            <a:pPr algn="l" eaLnBrk="1" hangingPunct="1">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任一进程收到</a:t>
            </a:r>
            <a:r>
              <a:rPr lang="en-US" altLang="zh-CN" sz="2000" b="1" dirty="0">
                <a:latin typeface="宋体" panose="02010600030101010101" pitchFamily="2" charset="-122"/>
                <a:ea typeface="宋体" panose="02010600030101010101" pitchFamily="2" charset="-122"/>
              </a:rPr>
              <a:t>Mb</a:t>
            </a:r>
            <a:r>
              <a:rPr lang="zh-CN" altLang="en-US" sz="2000" b="1" dirty="0">
                <a:latin typeface="宋体" panose="02010600030101010101" pitchFamily="2" charset="-122"/>
                <a:ea typeface="宋体" panose="02010600030101010101" pitchFamily="2" charset="-122"/>
              </a:rPr>
              <a:t>后停止运行，并在自己所发送的报文全部到达接收者后向</a:t>
            </a:r>
            <a:r>
              <a:rPr lang="en-US" altLang="zh-CN" sz="2000" b="1" dirty="0">
                <a:latin typeface="宋体" panose="02010600030101010101" pitchFamily="2" charset="-122"/>
                <a:ea typeface="宋体" panose="02010600030101010101" pitchFamily="2" charset="-122"/>
              </a:rPr>
              <a:t>pc</a:t>
            </a:r>
            <a:r>
              <a:rPr lang="zh-CN" altLang="en-US" sz="2000" b="1" dirty="0">
                <a:latin typeface="宋体" panose="02010600030101010101" pitchFamily="2" charset="-122"/>
                <a:ea typeface="宋体" panose="02010600030101010101" pitchFamily="2" charset="-122"/>
              </a:rPr>
              <a:t>发送报文</a:t>
            </a:r>
            <a:r>
              <a:rPr lang="en-US" altLang="zh-CN" sz="2000" b="1" dirty="0">
                <a:latin typeface="宋体" panose="02010600030101010101" pitchFamily="2" charset="-122"/>
                <a:ea typeface="宋体" panose="02010600030101010101" pitchFamily="2" charset="-122"/>
              </a:rPr>
              <a:t>Ms1</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(inconsistent(LSi,LSj)= </a:t>
            </a:r>
            <a:r>
              <a:rPr lang="ru-RU" altLang="zh-CN" sz="2000" b="1" dirty="0">
                <a:latin typeface="宋体" panose="02010600030101010101" pitchFamily="2" charset="-122"/>
                <a:ea typeface="宋体" panose="02010600030101010101" pitchFamily="2" charset="-122"/>
              </a:rPr>
              <a:t>Ф</a:t>
            </a:r>
            <a:r>
              <a:rPr lang="en-US" altLang="zh-CN" sz="2000" b="1" dirty="0">
                <a:latin typeface="宋体" panose="02010600030101010101" pitchFamily="2" charset="-122"/>
                <a:ea typeface="宋体" panose="02010600030101010101" pitchFamily="2" charset="-122"/>
              </a:rPr>
              <a:t>∧transit(LSi, LSj)= </a:t>
            </a:r>
            <a:r>
              <a:rPr lang="ru-RU" altLang="zh-CN" sz="2000" b="1" dirty="0">
                <a:latin typeface="宋体" panose="02010600030101010101" pitchFamily="2" charset="-122"/>
                <a:ea typeface="宋体" panose="02010600030101010101" pitchFamily="2" charset="-122"/>
              </a:rPr>
              <a:t>Ф</a:t>
            </a:r>
            <a:r>
              <a:rPr lang="en-US" altLang="zh-CN" sz="2000" b="1" dirty="0">
                <a:latin typeface="宋体" panose="02010600030101010101" pitchFamily="2" charset="-122"/>
                <a:ea typeface="宋体" panose="02010600030101010101" pitchFamily="2" charset="-122"/>
              </a:rPr>
              <a:t>)</a:t>
            </a:r>
            <a:endParaRPr lang="zh-CN" altLang="en-US" sz="2000" b="1" u="sng" dirty="0">
              <a:solidFill>
                <a:schemeClr val="accent2"/>
              </a:solidFill>
              <a:latin typeface="宋体" panose="02010600030101010101" pitchFamily="2" charset="-122"/>
              <a:ea typeface="宋体" panose="02010600030101010101" pitchFamily="2" charset="-122"/>
            </a:endParaRPr>
          </a:p>
          <a:p>
            <a:pPr algn="l" eaLnBrk="1" hangingPunct="1">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(3)pc</a:t>
            </a:r>
            <a:r>
              <a:rPr lang="zh-CN" altLang="en-US" sz="2000" b="1" dirty="0">
                <a:latin typeface="宋体" panose="02010600030101010101" pitchFamily="2" charset="-122"/>
                <a:ea typeface="宋体" panose="02010600030101010101" pitchFamily="2" charset="-122"/>
              </a:rPr>
              <a:t>收到所有进程发送的</a:t>
            </a:r>
            <a:r>
              <a:rPr lang="en-US" altLang="zh-CN" sz="2000" b="1" dirty="0">
                <a:latin typeface="宋体" panose="02010600030101010101" pitchFamily="2" charset="-122"/>
                <a:ea typeface="宋体" panose="02010600030101010101" pitchFamily="2" charset="-122"/>
              </a:rPr>
              <a:t>Ms1</a:t>
            </a:r>
            <a:r>
              <a:rPr lang="zh-CN" altLang="en-US" sz="2000" b="1" dirty="0">
                <a:latin typeface="宋体" panose="02010600030101010101" pitchFamily="2" charset="-122"/>
                <a:ea typeface="宋体" panose="02010600030101010101" pitchFamily="2" charset="-122"/>
              </a:rPr>
              <a:t>后，向各进程广播报文</a:t>
            </a:r>
            <a:r>
              <a:rPr lang="en-US" altLang="zh-CN" sz="2000" b="1" dirty="0">
                <a:solidFill>
                  <a:srgbClr val="FF0000"/>
                </a:solidFill>
                <a:latin typeface="宋体" panose="02010600030101010101" pitchFamily="2" charset="-122"/>
                <a:ea typeface="宋体" panose="02010600030101010101" pitchFamily="2" charset="-122"/>
              </a:rPr>
              <a:t>Mchk</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algn="l" eaLnBrk="1" hangingPunct="1">
              <a:buNone/>
            </a:pPr>
            <a:endParaRPr lang="en-US" altLang="zh-CN" sz="2000" b="1" dirty="0">
              <a:latin typeface="宋体" panose="02010600030101010101" pitchFamily="2" charset="-122"/>
              <a:ea typeface="宋体" panose="02010600030101010101" pitchFamily="2" charset="-122"/>
            </a:endParaRPr>
          </a:p>
          <a:p>
            <a:pPr algn="l" eaLnBrk="1" hangingPunct="1">
              <a:buNone/>
            </a:pPr>
            <a:r>
              <a:rPr lang="zh-CN" altLang="en-US" sz="2000" b="1" dirty="0">
                <a:solidFill>
                  <a:srgbClr val="FF0000"/>
                </a:solidFill>
                <a:latin typeface="宋体" panose="02010600030101010101" pitchFamily="2" charset="-122"/>
                <a:ea typeface="宋体" panose="02010600030101010101" pitchFamily="2" charset="-122"/>
              </a:rPr>
              <a:t>第</a:t>
            </a:r>
            <a:r>
              <a:rPr lang="en-US" altLang="zh-CN" sz="2000" b="1" dirty="0">
                <a:solidFill>
                  <a:srgbClr val="FF0000"/>
                </a:solidFill>
                <a:latin typeface="宋体" panose="02010600030101010101" pitchFamily="2" charset="-122"/>
                <a:ea typeface="宋体" panose="02010600030101010101" pitchFamily="2" charset="-122"/>
              </a:rPr>
              <a:t>2</a:t>
            </a:r>
            <a:r>
              <a:rPr lang="zh-CN" altLang="en-US" sz="2000" b="1" dirty="0">
                <a:solidFill>
                  <a:srgbClr val="FF0000"/>
                </a:solidFill>
                <a:latin typeface="宋体" panose="02010600030101010101" pitchFamily="2" charset="-122"/>
                <a:ea typeface="宋体" panose="02010600030101010101" pitchFamily="2" charset="-122"/>
              </a:rPr>
              <a:t>阶段：</a:t>
            </a:r>
          </a:p>
          <a:p>
            <a:pPr algn="l" eaLnBrk="1" hangingPunct="1">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任一进程收到</a:t>
            </a:r>
            <a:r>
              <a:rPr lang="en-US" altLang="zh-CN" sz="2000" b="1" dirty="0">
                <a:solidFill>
                  <a:srgbClr val="FF0000"/>
                </a:solidFill>
                <a:latin typeface="宋体" panose="02010600030101010101" pitchFamily="2" charset="-122"/>
                <a:ea typeface="宋体" panose="02010600030101010101" pitchFamily="2" charset="-122"/>
              </a:rPr>
              <a:t>Mchk</a:t>
            </a:r>
            <a:r>
              <a:rPr lang="zh-CN" altLang="en-US" sz="2000" b="1" dirty="0">
                <a:latin typeface="宋体" panose="02010600030101010101" pitchFamily="2" charset="-122"/>
                <a:ea typeface="宋体" panose="02010600030101010101" pitchFamily="2" charset="-122"/>
              </a:rPr>
              <a:t>后，</a:t>
            </a:r>
            <a:r>
              <a:rPr lang="zh-CN" altLang="en-US" sz="2000" b="1" dirty="0">
                <a:solidFill>
                  <a:srgbClr val="FF0000"/>
                </a:solidFill>
                <a:latin typeface="宋体" panose="02010600030101010101" pitchFamily="2" charset="-122"/>
                <a:ea typeface="宋体" panose="02010600030101010101" pitchFamily="2" charset="-122"/>
              </a:rPr>
              <a:t>建立检查点</a:t>
            </a:r>
            <a:r>
              <a:rPr lang="zh-CN" altLang="en-US" sz="2000" b="1" dirty="0">
                <a:latin typeface="宋体" panose="02010600030101010101" pitchFamily="2" charset="-122"/>
                <a:ea typeface="宋体" panose="02010600030101010101" pitchFamily="2" charset="-122"/>
              </a:rPr>
              <a:t>，完成后向</a:t>
            </a:r>
            <a:r>
              <a:rPr lang="en-US" altLang="zh-CN" sz="2000" b="1" dirty="0">
                <a:latin typeface="宋体" panose="02010600030101010101" pitchFamily="2" charset="-122"/>
                <a:ea typeface="宋体" panose="02010600030101010101" pitchFamily="2" charset="-122"/>
              </a:rPr>
              <a:t>pc</a:t>
            </a:r>
            <a:r>
              <a:rPr lang="zh-CN" altLang="en-US" sz="2000" b="1" dirty="0">
                <a:latin typeface="宋体" panose="02010600030101010101" pitchFamily="2" charset="-122"/>
                <a:ea typeface="宋体" panose="02010600030101010101" pitchFamily="2" charset="-122"/>
              </a:rPr>
              <a:t>发送报文</a:t>
            </a:r>
            <a:r>
              <a:rPr lang="en-US" altLang="zh-CN" sz="2000" b="1" dirty="0">
                <a:latin typeface="宋体" panose="02010600030101010101" pitchFamily="2" charset="-122"/>
                <a:ea typeface="宋体" panose="02010600030101010101" pitchFamily="2" charset="-122"/>
              </a:rPr>
              <a:t>Ms2</a:t>
            </a:r>
            <a:r>
              <a:rPr lang="zh-CN" altLang="en-US" sz="2000" b="1" dirty="0">
                <a:latin typeface="宋体" panose="02010600030101010101" pitchFamily="2" charset="-122"/>
                <a:ea typeface="宋体" panose="02010600030101010101" pitchFamily="2" charset="-122"/>
              </a:rPr>
              <a:t>；</a:t>
            </a:r>
          </a:p>
          <a:p>
            <a:pPr algn="l" eaLnBrk="1" hangingPunct="1">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(5)pc</a:t>
            </a:r>
            <a:r>
              <a:rPr lang="zh-CN" altLang="en-US" sz="2000" b="1" dirty="0">
                <a:latin typeface="宋体" panose="02010600030101010101" pitchFamily="2" charset="-122"/>
                <a:ea typeface="宋体" panose="02010600030101010101" pitchFamily="2" charset="-122"/>
              </a:rPr>
              <a:t>接受到所有进程的</a:t>
            </a:r>
            <a:r>
              <a:rPr lang="en-US" altLang="zh-CN" sz="2000" b="1" dirty="0">
                <a:latin typeface="宋体" panose="02010600030101010101" pitchFamily="2" charset="-122"/>
                <a:ea typeface="宋体" panose="02010600030101010101" pitchFamily="2" charset="-122"/>
              </a:rPr>
              <a:t>Ms2</a:t>
            </a:r>
            <a:r>
              <a:rPr lang="zh-CN" altLang="en-US" sz="2000" b="1" dirty="0">
                <a:latin typeface="宋体" panose="02010600030101010101" pitchFamily="2" charset="-122"/>
                <a:ea typeface="宋体" panose="02010600030101010101" pitchFamily="2" charset="-122"/>
              </a:rPr>
              <a:t>后（第</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次同步结束），向所有进程广播报文</a:t>
            </a:r>
            <a:r>
              <a:rPr lang="en-US" altLang="zh-CN" sz="2000" b="1" dirty="0">
                <a:latin typeface="宋体" panose="02010600030101010101" pitchFamily="2" charset="-122"/>
                <a:ea typeface="宋体" panose="02010600030101010101" pitchFamily="2" charset="-122"/>
              </a:rPr>
              <a:t>Me</a:t>
            </a:r>
            <a:r>
              <a:rPr lang="zh-CN" altLang="en-US" sz="2000" b="1" dirty="0">
                <a:latin typeface="宋体" panose="02010600030101010101" pitchFamily="2" charset="-122"/>
                <a:ea typeface="宋体" panose="02010600030101010101" pitchFamily="2" charset="-122"/>
              </a:rPr>
              <a:t>；</a:t>
            </a:r>
          </a:p>
          <a:p>
            <a:pPr algn="l" eaLnBrk="1" hangingPunct="1">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(6)</a:t>
            </a:r>
            <a:r>
              <a:rPr lang="zh-CN" altLang="en-US" sz="2000" b="1" dirty="0">
                <a:latin typeface="宋体" panose="02010600030101010101" pitchFamily="2" charset="-122"/>
                <a:ea typeface="宋体" panose="02010600030101010101" pitchFamily="2" charset="-122"/>
              </a:rPr>
              <a:t>各进程收到报文</a:t>
            </a:r>
            <a:r>
              <a:rPr lang="en-US" altLang="zh-CN" sz="2000" b="1" dirty="0">
                <a:latin typeface="宋体" panose="02010600030101010101" pitchFamily="2" charset="-122"/>
                <a:ea typeface="宋体" panose="02010600030101010101" pitchFamily="2" charset="-122"/>
              </a:rPr>
              <a:t>Me</a:t>
            </a:r>
            <a:r>
              <a:rPr lang="zh-CN" altLang="en-US" sz="2000" b="1" dirty="0">
                <a:latin typeface="宋体" panose="02010600030101010101" pitchFamily="2" charset="-122"/>
                <a:ea typeface="宋体" panose="02010600030101010101" pitchFamily="2" charset="-122"/>
              </a:rPr>
              <a:t>后，删除旧检查点，仅保留新的检查点，然后继续运行；</a:t>
            </a:r>
          </a:p>
          <a:p>
            <a:pPr algn="l" eaLnBrk="1" hangingPunct="1">
              <a:buNone/>
            </a:pPr>
            <a:r>
              <a:rPr lang="zh-CN" altLang="en-US" sz="2000" b="1" dirty="0">
                <a:latin typeface="宋体" panose="02010600030101010101" pitchFamily="2" charset="-122"/>
                <a:ea typeface="宋体" panose="02010600030101010101" pitchFamily="2" charset="-122"/>
              </a:rPr>
              <a:t>       </a:t>
            </a:r>
            <a:endParaRPr lang="en-US" altLang="zh-CN" sz="2000" b="1" dirty="0">
              <a:latin typeface="宋体" panose="02010600030101010101" pitchFamily="2" charset="-122"/>
              <a:ea typeface="宋体" panose="02010600030101010101" pitchFamily="2" charset="-122"/>
            </a:endParaRPr>
          </a:p>
          <a:p>
            <a:pPr algn="l" eaLnBrk="1" hangingPunct="1">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算法建立的检查点满足一致性状态</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恢复简单。</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p:cNvSpPr>
          <p:nvPr>
            <p:ph type="title"/>
          </p:nvPr>
        </p:nvSpPr>
        <p:spPr>
          <a:ln/>
        </p:spPr>
        <p:txBody>
          <a:bodyPr vert="horz" wrap="square" lIns="91440" tIns="45720" rIns="91440" bIns="45720" anchor="ctr" anchorCtr="0"/>
          <a:lstStyle/>
          <a:p>
            <a:pPr algn="l"/>
            <a:r>
              <a:rPr lang="en-US" altLang="zh-CN" sz="2800" dirty="0">
                <a:solidFill>
                  <a:schemeClr val="tx1"/>
                </a:solidFill>
                <a:ea typeface="宋体" panose="02010600030101010101" pitchFamily="2" charset="-122"/>
              </a:rPr>
              <a:t>ConAir: Featherweight Concurrency Bug Recovery </a:t>
            </a:r>
            <a:br>
              <a:rPr lang="en-US" altLang="zh-CN" sz="2800" dirty="0">
                <a:solidFill>
                  <a:schemeClr val="tx1"/>
                </a:solidFill>
                <a:ea typeface="宋体" panose="02010600030101010101" pitchFamily="2" charset="-122"/>
              </a:rPr>
            </a:br>
            <a:r>
              <a:rPr lang="en-US" altLang="zh-CN" sz="2800" dirty="0">
                <a:solidFill>
                  <a:schemeClr val="tx1"/>
                </a:solidFill>
                <a:ea typeface="宋体" panose="02010600030101010101" pitchFamily="2" charset="-122"/>
              </a:rPr>
              <a:t>Via Single-Threaded Idempotent Execution</a:t>
            </a:r>
            <a:r>
              <a:rPr lang="zh-CN" altLang="en-US" sz="2800" dirty="0">
                <a:solidFill>
                  <a:schemeClr val="tx1"/>
                </a:solidFill>
                <a:ea typeface="宋体" panose="02010600030101010101" pitchFamily="2" charset="-122"/>
              </a:rPr>
              <a:t>，</a:t>
            </a:r>
            <a:r>
              <a:rPr lang="en-US" altLang="zh-CN" sz="2800" dirty="0">
                <a:solidFill>
                  <a:schemeClr val="tx1"/>
                </a:solidFill>
                <a:ea typeface="宋体" panose="02010600030101010101" pitchFamily="2" charset="-122"/>
              </a:rPr>
              <a:t>ASPLOS. 2013</a:t>
            </a:r>
            <a:endParaRPr lang="zh-CN" altLang="zh-CN" sz="2800" dirty="0">
              <a:ea typeface="宋体" panose="02010600030101010101" pitchFamily="2" charset="-122"/>
            </a:endParaRPr>
          </a:p>
        </p:txBody>
      </p:sp>
      <p:sp>
        <p:nvSpPr>
          <p:cNvPr id="105475" name="AutoShape 3"/>
          <p:cNvSpPr>
            <a:spLocks noGrp="1" noChangeAspect="1"/>
          </p:cNvSpPr>
          <p:nvPr>
            <p:ph idx="1"/>
          </p:nvPr>
        </p:nvSpPr>
        <p:spPr>
          <a:xfrm>
            <a:off x="1020763" y="6230938"/>
            <a:ext cx="7188200" cy="627062"/>
          </a:xfrm>
          <a:ln/>
        </p:spPr>
        <p:txBody>
          <a:bodyPr vert="horz" wrap="square" lIns="91440" tIns="45720" rIns="91440" bIns="45720" anchor="t" anchorCtr="0"/>
          <a:lstStyle/>
          <a:p>
            <a:r>
              <a:rPr lang="en-US" altLang="zh-CN" dirty="0">
                <a:ea typeface="宋体" panose="02010600030101010101" pitchFamily="2" charset="-122"/>
              </a:rPr>
              <a:t>Rollback recovery approach</a:t>
            </a:r>
          </a:p>
        </p:txBody>
      </p:sp>
      <p:pic>
        <p:nvPicPr>
          <p:cNvPr id="105476" name="Picture 4"/>
          <p:cNvPicPr>
            <a:picLocks noChangeAspect="1"/>
          </p:cNvPicPr>
          <p:nvPr/>
        </p:nvPicPr>
        <p:blipFill>
          <a:blip r:embed="rId2"/>
          <a:stretch>
            <a:fillRect/>
          </a:stretch>
        </p:blipFill>
        <p:spPr>
          <a:xfrm>
            <a:off x="1181100" y="1309688"/>
            <a:ext cx="6038850" cy="4486275"/>
          </a:xfrm>
          <a:prstGeom prst="rect">
            <a:avLst/>
          </a:prstGeom>
          <a:noFill/>
          <a:ln w="9525">
            <a:noFill/>
          </a:ln>
        </p:spPr>
      </p:pic>
      <p:sp>
        <p:nvSpPr>
          <p:cNvPr id="105477" name="Rectangle 8"/>
          <p:cNvSpPr/>
          <p:nvPr/>
        </p:nvSpPr>
        <p:spPr>
          <a:xfrm>
            <a:off x="2622550" y="5759450"/>
            <a:ext cx="4140200" cy="304800"/>
          </a:xfrm>
          <a:prstGeom prst="rect">
            <a:avLst/>
          </a:prstGeom>
          <a:noFill/>
          <a:ln w="9525">
            <a:noFill/>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b="1" dirty="0">
                <a:ea typeface="宋体" panose="02010600030101010101" pitchFamily="2" charset="-122"/>
              </a:rPr>
              <a:t>Whole-program memory-state checkpoint</a:t>
            </a:r>
          </a:p>
        </p:txBody>
      </p:sp>
      <p:pic>
        <p:nvPicPr>
          <p:cNvPr id="105478" name="Picture 9"/>
          <p:cNvPicPr>
            <a:picLocks noChangeAspect="1"/>
          </p:cNvPicPr>
          <p:nvPr/>
        </p:nvPicPr>
        <p:blipFill>
          <a:blip r:embed="rId3"/>
          <a:stretch>
            <a:fillRect/>
          </a:stretch>
        </p:blipFill>
        <p:spPr>
          <a:xfrm>
            <a:off x="4881563" y="1728788"/>
            <a:ext cx="3762375" cy="533400"/>
          </a:xfrm>
          <a:prstGeom prst="rect">
            <a:avLst/>
          </a:prstGeom>
          <a:noFill/>
          <a:ln w="9525">
            <a:noFill/>
          </a:ln>
        </p:spPr>
      </p:pic>
      <p:sp>
        <p:nvSpPr>
          <p:cNvPr id="11274" name="Rectangle 10"/>
          <p:cNvSpPr/>
          <p:nvPr/>
        </p:nvSpPr>
        <p:spPr>
          <a:xfrm>
            <a:off x="3327400" y="2373313"/>
            <a:ext cx="787400" cy="2590800"/>
          </a:xfrm>
          <a:prstGeom prst="rect">
            <a:avLst/>
          </a:prstGeom>
          <a:noFill/>
          <a:ln w="9525" cap="flat" cmpd="sng">
            <a:solidFill>
              <a:srgbClr val="FF0066"/>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
        <p:nvSpPr>
          <p:cNvPr id="11275" name="Rectangle 11"/>
          <p:cNvSpPr/>
          <p:nvPr/>
        </p:nvSpPr>
        <p:spPr>
          <a:xfrm>
            <a:off x="6259513" y="2343150"/>
            <a:ext cx="838200" cy="2743200"/>
          </a:xfrm>
          <a:prstGeom prst="rect">
            <a:avLst/>
          </a:prstGeom>
          <a:noFill/>
          <a:ln w="9525" cap="flat" cmpd="sng">
            <a:solidFill>
              <a:srgbClr val="FF0066"/>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1275"/>
                                        </p:tgtEl>
                                        <p:attrNameLst>
                                          <p:attrName>style.visibility</p:attrName>
                                        </p:attrNameLst>
                                      </p:cBhvr>
                                      <p:to>
                                        <p:strVal val="visible"/>
                                      </p:to>
                                    </p:set>
                                    <p:animEffect transition="in" filter="fade">
                                      <p:cBhvr>
                                        <p:cTn id="7" dur="1000"/>
                                        <p:tgtEl>
                                          <p:spTgt spid="11275"/>
                                        </p:tgtEl>
                                      </p:cBhvr>
                                    </p:animEffect>
                                    <p:anim calcmode="lin" valueType="num">
                                      <p:cBhvr>
                                        <p:cTn id="8" dur="1000" fill="hold"/>
                                        <p:tgtEl>
                                          <p:spTgt spid="11275"/>
                                        </p:tgtEl>
                                        <p:attrNameLst>
                                          <p:attrName>ppt_x</p:attrName>
                                        </p:attrNameLst>
                                      </p:cBhvr>
                                      <p:tavLst>
                                        <p:tav tm="0">
                                          <p:val>
                                            <p:strVal val="#ppt_x"/>
                                          </p:val>
                                        </p:tav>
                                        <p:tav tm="100000">
                                          <p:val>
                                            <p:strVal val="#ppt_x"/>
                                          </p:val>
                                        </p:tav>
                                      </p:tavLst>
                                    </p:anim>
                                    <p:anim calcmode="lin" valueType="num">
                                      <p:cBhvr>
                                        <p:cTn id="9" dur="1000" fill="hold"/>
                                        <p:tgtEl>
                                          <p:spTgt spid="1127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1274"/>
                                        </p:tgtEl>
                                        <p:attrNameLst>
                                          <p:attrName>style.visibility</p:attrName>
                                        </p:attrNameLst>
                                      </p:cBhvr>
                                      <p:to>
                                        <p:strVal val="visible"/>
                                      </p:to>
                                    </p:set>
                                    <p:animEffect transition="in" filter="fade">
                                      <p:cBhvr>
                                        <p:cTn id="12" dur="1000"/>
                                        <p:tgtEl>
                                          <p:spTgt spid="11274"/>
                                        </p:tgtEl>
                                      </p:cBhvr>
                                    </p:animEffect>
                                    <p:anim calcmode="lin" valueType="num">
                                      <p:cBhvr>
                                        <p:cTn id="13" dur="1000" fill="hold"/>
                                        <p:tgtEl>
                                          <p:spTgt spid="11274"/>
                                        </p:tgtEl>
                                        <p:attrNameLst>
                                          <p:attrName>ppt_x</p:attrName>
                                        </p:attrNameLst>
                                      </p:cBhvr>
                                      <p:tavLst>
                                        <p:tav tm="0">
                                          <p:val>
                                            <p:strVal val="#ppt_x"/>
                                          </p:val>
                                        </p:tav>
                                        <p:tav tm="100000">
                                          <p:val>
                                            <p:strVal val="#ppt_x"/>
                                          </p:val>
                                        </p:tav>
                                      </p:tavLst>
                                    </p:anim>
                                    <p:anim calcmode="lin" valueType="num">
                                      <p:cBhvr>
                                        <p:cTn id="14" dur="1000" fill="hold"/>
                                        <p:tgtEl>
                                          <p:spTgt spid="112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4" grpId="0" animBg="1"/>
      <p:bldP spid="1127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p:cNvSpPr>
          <p:nvPr>
            <p:ph type="title"/>
          </p:nvPr>
        </p:nvSpPr>
        <p:spPr>
          <a:ln/>
        </p:spPr>
        <p:txBody>
          <a:bodyPr vert="horz" wrap="square" lIns="91440" tIns="45720" rIns="91440" bIns="45720" anchor="ctr" anchorCtr="0"/>
          <a:lstStyle/>
          <a:p>
            <a:pPr algn="l"/>
            <a:r>
              <a:rPr lang="en-US" altLang="zh-CN" sz="2400" dirty="0">
                <a:solidFill>
                  <a:schemeClr val="tx1"/>
                </a:solidFill>
                <a:ea typeface="宋体" panose="02010600030101010101" pitchFamily="2" charset="-122"/>
              </a:rPr>
              <a:t>ConAir: Featherweight Concurrency Bug Recovery </a:t>
            </a:r>
            <a:br>
              <a:rPr lang="en-US" altLang="zh-CN" sz="2400" dirty="0">
                <a:solidFill>
                  <a:schemeClr val="tx1"/>
                </a:solidFill>
                <a:ea typeface="宋体" panose="02010600030101010101" pitchFamily="2" charset="-122"/>
              </a:rPr>
            </a:br>
            <a:r>
              <a:rPr lang="en-US" altLang="zh-CN" sz="2400" dirty="0">
                <a:solidFill>
                  <a:schemeClr val="tx1"/>
                </a:solidFill>
                <a:ea typeface="宋体" panose="02010600030101010101" pitchFamily="2" charset="-122"/>
              </a:rPr>
              <a:t>Via Single-Threaded Idempotent Execution</a:t>
            </a:r>
            <a:r>
              <a:rPr lang="zh-CN" altLang="en-US" sz="2400" dirty="0">
                <a:solidFill>
                  <a:schemeClr val="tx1"/>
                </a:solidFill>
                <a:ea typeface="宋体" panose="02010600030101010101" pitchFamily="2" charset="-122"/>
              </a:rPr>
              <a:t>， </a:t>
            </a:r>
            <a:r>
              <a:rPr lang="en-US" altLang="zh-CN" sz="2400" dirty="0">
                <a:solidFill>
                  <a:schemeClr val="tx1"/>
                </a:solidFill>
                <a:ea typeface="宋体" panose="02010600030101010101" pitchFamily="2" charset="-122"/>
              </a:rPr>
              <a:t>ASPLOS. 2013</a:t>
            </a:r>
            <a:endParaRPr lang="zh-CN" altLang="zh-CN" sz="2400" dirty="0">
              <a:solidFill>
                <a:schemeClr val="tx1"/>
              </a:solidFill>
              <a:ea typeface="宋体" panose="02010600030101010101" pitchFamily="2" charset="-122"/>
            </a:endParaRPr>
          </a:p>
        </p:txBody>
      </p:sp>
      <p:sp>
        <p:nvSpPr>
          <p:cNvPr id="106499" name="Rectangle 3"/>
          <p:cNvSpPr>
            <a:spLocks noGrp="1"/>
          </p:cNvSpPr>
          <p:nvPr>
            <p:ph idx="1"/>
          </p:nvPr>
        </p:nvSpPr>
        <p:spPr>
          <a:xfrm>
            <a:off x="298450" y="5246688"/>
            <a:ext cx="8856663" cy="1323975"/>
          </a:xfrm>
          <a:ln/>
        </p:spPr>
        <p:txBody>
          <a:bodyPr vert="horz" wrap="square" lIns="91440" tIns="45720" rIns="91440" bIns="45720" anchor="t" anchorCtr="0"/>
          <a:lstStyle/>
          <a:p>
            <a:pPr algn="l"/>
            <a:r>
              <a:rPr lang="en-US" altLang="zh-CN" sz="2400" dirty="0">
                <a:ea typeface="宋体" panose="02010600030101010101" pitchFamily="2" charset="-122"/>
              </a:rPr>
              <a:t>The whole program rollbacks </a:t>
            </a:r>
            <a:r>
              <a:rPr lang="en-US" altLang="zh-CN" sz="2400" dirty="0">
                <a:ea typeface="宋体" panose="02010600030101010101" pitchFamily="2" charset="-122"/>
                <a:sym typeface="Wingdings" panose="05000000000000000000" pitchFamily="2" charset="2"/>
              </a:rPr>
              <a:t> single thread rollbacks</a:t>
            </a:r>
          </a:p>
          <a:p>
            <a:pPr algn="l"/>
            <a:r>
              <a:rPr lang="en-US" altLang="zh-CN" sz="2400" dirty="0">
                <a:ea typeface="宋体" panose="02010600030101010101" pitchFamily="2" charset="-122"/>
                <a:sym typeface="Wingdings" panose="05000000000000000000" pitchFamily="2" charset="2"/>
              </a:rPr>
              <a:t>The whole-program memory-state checkpoint  An idempotent region. </a:t>
            </a:r>
            <a:r>
              <a:rPr lang="zh-CN" altLang="en-US" sz="2200" dirty="0">
                <a:ea typeface="宋体" panose="02010600030101010101" pitchFamily="2" charset="-122"/>
              </a:rPr>
              <a:t>多次运算结果等于一次运算结果，例如：</a:t>
            </a:r>
            <a:r>
              <a:rPr lang="en-US" altLang="zh-CN" sz="2200" dirty="0">
                <a:ea typeface="宋体" panose="02010600030101010101" pitchFamily="2" charset="-122"/>
              </a:rPr>
              <a:t>abs(a)=abs(abs(a))</a:t>
            </a:r>
          </a:p>
        </p:txBody>
      </p:sp>
      <p:pic>
        <p:nvPicPr>
          <p:cNvPr id="12295" name="Picture 7"/>
          <p:cNvPicPr>
            <a:picLocks noChangeAspect="1"/>
          </p:cNvPicPr>
          <p:nvPr/>
        </p:nvPicPr>
        <p:blipFill>
          <a:blip r:embed="rId3"/>
          <a:stretch>
            <a:fillRect/>
          </a:stretch>
        </p:blipFill>
        <p:spPr>
          <a:xfrm>
            <a:off x="350838" y="1817688"/>
            <a:ext cx="8261350" cy="2697162"/>
          </a:xfrm>
          <a:prstGeom prst="rect">
            <a:avLst/>
          </a:prstGeom>
          <a:noFill/>
          <a:ln w="9525">
            <a:noFill/>
          </a:ln>
        </p:spPr>
      </p:pic>
      <p:sp>
        <p:nvSpPr>
          <p:cNvPr id="12297" name="Rectangle 9"/>
          <p:cNvSpPr/>
          <p:nvPr/>
        </p:nvSpPr>
        <p:spPr>
          <a:xfrm>
            <a:off x="2360613" y="4527550"/>
            <a:ext cx="5570537" cy="381000"/>
          </a:xfrm>
          <a:prstGeom prst="rect">
            <a:avLst/>
          </a:prstGeom>
          <a:noFill/>
          <a:ln w="9525">
            <a:noFill/>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solidFill>
                  <a:srgbClr val="FF0066"/>
                </a:solidFill>
                <a:ea typeface="宋体" panose="02010600030101010101" pitchFamily="2" charset="-122"/>
              </a:rPr>
              <a:t>ConAir: Featherweight Concurrency Bug Recovery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fade">
                                      <p:cBhvr>
                                        <p:cTn id="7" dur="1000"/>
                                        <p:tgtEl>
                                          <p:spTgt spid="12295"/>
                                        </p:tgtEl>
                                      </p:cBhvr>
                                    </p:animEffect>
                                    <p:anim calcmode="lin" valueType="num">
                                      <p:cBhvr>
                                        <p:cTn id="8" dur="1000" fill="hold"/>
                                        <p:tgtEl>
                                          <p:spTgt spid="12295"/>
                                        </p:tgtEl>
                                        <p:attrNameLst>
                                          <p:attrName>ppt_x</p:attrName>
                                        </p:attrNameLst>
                                      </p:cBhvr>
                                      <p:tavLst>
                                        <p:tav tm="0">
                                          <p:val>
                                            <p:strVal val="#ppt_x"/>
                                          </p:val>
                                        </p:tav>
                                        <p:tav tm="100000">
                                          <p:val>
                                            <p:strVal val="#ppt_x"/>
                                          </p:val>
                                        </p:tav>
                                      </p:tavLst>
                                    </p:anim>
                                    <p:anim calcmode="lin" valueType="num">
                                      <p:cBhvr>
                                        <p:cTn id="9" dur="1000" fill="hold"/>
                                        <p:tgtEl>
                                          <p:spTgt spid="1229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12297"/>
                                        </p:tgtEl>
                                        <p:attrNameLst>
                                          <p:attrName>style.visibility</p:attrName>
                                        </p:attrNameLst>
                                      </p:cBhvr>
                                      <p:to>
                                        <p:strVal val="visible"/>
                                      </p:to>
                                    </p:set>
                                    <p:animEffect transition="in" filter="fade">
                                      <p:cBhvr>
                                        <p:cTn id="14" dur="1000"/>
                                        <p:tgtEl>
                                          <p:spTgt spid="12297"/>
                                        </p:tgtEl>
                                      </p:cBhvr>
                                    </p:animEffect>
                                    <p:anim calcmode="lin" valueType="num">
                                      <p:cBhvr>
                                        <p:cTn id="15" dur="1000" fill="hold"/>
                                        <p:tgtEl>
                                          <p:spTgt spid="12297"/>
                                        </p:tgtEl>
                                        <p:attrNameLst>
                                          <p:attrName>ppt_x</p:attrName>
                                        </p:attrNameLst>
                                      </p:cBhvr>
                                      <p:tavLst>
                                        <p:tav tm="0">
                                          <p:val>
                                            <p:strVal val="#ppt_x"/>
                                          </p:val>
                                        </p:tav>
                                        <p:tav tm="100000">
                                          <p:val>
                                            <p:strVal val="#ppt_x"/>
                                          </p:val>
                                        </p:tav>
                                      </p:tavLst>
                                    </p:anim>
                                    <p:anim calcmode="lin" valueType="num">
                                      <p:cBhvr>
                                        <p:cTn id="16" dur="1000" fill="hold"/>
                                        <p:tgtEl>
                                          <p:spTgt spid="122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p:cNvSpPr>
          <p:nvPr>
            <p:ph type="title"/>
          </p:nvPr>
        </p:nvSpPr>
        <p:spPr>
          <a:xfrm>
            <a:off x="0" y="0"/>
            <a:ext cx="9144000" cy="893763"/>
          </a:xfrm>
          <a:ln/>
        </p:spPr>
        <p:txBody>
          <a:bodyPr vert="horz" wrap="square" lIns="91440" tIns="45720" rIns="91440" bIns="45720" anchor="ctr" anchorCtr="0"/>
          <a:lstStyle/>
          <a:p>
            <a:pPr eaLnBrk="1" hangingPunct="1"/>
            <a:r>
              <a:rPr lang="zh-CN" altLang="en-US" sz="4000" dirty="0">
                <a:ea typeface="宋体" panose="02010600030101010101" pitchFamily="2" charset="-122"/>
              </a:rPr>
              <a:t>一致性问题补充说明</a:t>
            </a:r>
            <a:endParaRPr lang="en-US" altLang="zh-CN" sz="4000" dirty="0">
              <a:ea typeface="宋体" panose="02010600030101010101" pitchFamily="2" charset="-122"/>
            </a:endParaRPr>
          </a:p>
        </p:txBody>
      </p:sp>
      <p:sp>
        <p:nvSpPr>
          <p:cNvPr id="108547" name="Rectangle 3"/>
          <p:cNvSpPr>
            <a:spLocks noGrp="1"/>
          </p:cNvSpPr>
          <p:nvPr>
            <p:ph idx="1"/>
          </p:nvPr>
        </p:nvSpPr>
        <p:spPr>
          <a:xfrm>
            <a:off x="138113" y="893763"/>
            <a:ext cx="8866187" cy="5475287"/>
          </a:xfrm>
          <a:ln/>
        </p:spPr>
        <p:txBody>
          <a:bodyPr vert="horz" wrap="square" lIns="91440" tIns="45720" rIns="91440" bIns="45720" anchor="t" anchorCtr="0"/>
          <a:lstStyle/>
          <a:p>
            <a:pPr algn="l">
              <a:lnSpc>
                <a:spcPct val="150000"/>
              </a:lnSpc>
              <a:buFont typeface="Wingdings" panose="05000000000000000000" pitchFamily="2" charset="2"/>
              <a:buChar char="u"/>
            </a:pPr>
            <a:r>
              <a:rPr lang="zh-CN" altLang="en-US" sz="2000" dirty="0">
                <a:ea typeface="宋体" panose="02010600030101010101" pitchFamily="2" charset="-122"/>
              </a:rPr>
              <a:t>分布式系统一致性</a:t>
            </a:r>
            <a:r>
              <a:rPr lang="en-US" altLang="zh-CN" sz="2000" dirty="0">
                <a:ea typeface="宋体" panose="02010600030101010101" pitchFamily="2" charset="-122"/>
              </a:rPr>
              <a:t>/</a:t>
            </a:r>
            <a:r>
              <a:rPr lang="zh-CN" altLang="en-US" sz="2000" dirty="0">
                <a:ea typeface="宋体" panose="02010600030101010101" pitchFamily="2" charset="-122"/>
              </a:rPr>
              <a:t>共识问题</a:t>
            </a:r>
            <a:r>
              <a:rPr lang="en-US" altLang="zh-CN" sz="2000" dirty="0">
                <a:ea typeface="宋体" panose="02010600030101010101" pitchFamily="2" charset="-122"/>
              </a:rPr>
              <a:t>(consensus problem)</a:t>
            </a:r>
            <a:r>
              <a:rPr lang="zh-CN" altLang="en-US" sz="2000" dirty="0">
                <a:ea typeface="宋体" panose="02010600030101010101" pitchFamily="2" charset="-122"/>
              </a:rPr>
              <a:t>是指对于一组服务器，给定一组操作，使它们最后的结果达成一致。或者说：当其中某个服务器收到客户端的一组指令时，它必须与其它服务器交流以保证所有的服务器都是以同样的顺序收到同样的指令，所有服务器会产生一致的结果，看起来就像是一台机器一样。</a:t>
            </a:r>
            <a:endParaRPr lang="en-US" altLang="zh-CN" sz="2000" dirty="0">
              <a:ea typeface="宋体" panose="02010600030101010101" pitchFamily="2" charset="-122"/>
            </a:endParaRPr>
          </a:p>
          <a:p>
            <a:pPr algn="l">
              <a:lnSpc>
                <a:spcPct val="150000"/>
              </a:lnSpc>
              <a:buFont typeface="Wingdings" panose="05000000000000000000" pitchFamily="2" charset="2"/>
              <a:buChar char="u"/>
            </a:pPr>
            <a:r>
              <a:rPr lang="zh-CN" altLang="en-US" sz="2000" dirty="0">
                <a:ea typeface="宋体" panose="02010600030101010101" pitchFamily="2" charset="-122"/>
              </a:rPr>
              <a:t>一致性算法需要具备以下属性</a:t>
            </a:r>
            <a:r>
              <a:rPr lang="en-US" altLang="zh-CN" sz="2000" dirty="0">
                <a:ea typeface="宋体" panose="02010600030101010101" pitchFamily="2" charset="-122"/>
              </a:rPr>
              <a:t>:</a:t>
            </a:r>
          </a:p>
          <a:p>
            <a:pPr lvl="1">
              <a:lnSpc>
                <a:spcPct val="150000"/>
              </a:lnSpc>
              <a:buChar char="–"/>
            </a:pPr>
            <a:r>
              <a:rPr lang="en-US" altLang="zh-CN" sz="2000" dirty="0">
                <a:ea typeface="宋体" panose="02010600030101010101" pitchFamily="2" charset="-122"/>
              </a:rPr>
              <a:t>Safety</a:t>
            </a:r>
            <a:r>
              <a:rPr lang="zh-CN" altLang="en-US" sz="2000" dirty="0">
                <a:ea typeface="宋体" panose="02010600030101010101" pitchFamily="2" charset="-122"/>
              </a:rPr>
              <a:t>：即不管怎样都不会返回错误的结果；</a:t>
            </a:r>
          </a:p>
          <a:p>
            <a:pPr lvl="1">
              <a:lnSpc>
                <a:spcPct val="150000"/>
              </a:lnSpc>
              <a:buChar char="–"/>
            </a:pPr>
            <a:r>
              <a:rPr lang="en-US" altLang="zh-CN" sz="2000" dirty="0">
                <a:ea typeface="宋体" panose="02010600030101010101" pitchFamily="2" charset="-122"/>
              </a:rPr>
              <a:t>Available</a:t>
            </a:r>
            <a:r>
              <a:rPr lang="zh-CN" altLang="en-US" sz="2000" dirty="0">
                <a:ea typeface="宋体" panose="02010600030101010101" pitchFamily="2" charset="-122"/>
              </a:rPr>
              <a:t>：只要大部分的机器正常，就仍然可以工作；</a:t>
            </a:r>
            <a:endParaRPr lang="en-US" altLang="zh-CN" sz="2000" dirty="0">
              <a:ea typeface="宋体" panose="02010600030101010101" pitchFamily="2" charset="-122"/>
            </a:endParaRPr>
          </a:p>
          <a:p>
            <a:pPr algn="l">
              <a:lnSpc>
                <a:spcPct val="150000"/>
              </a:lnSpc>
              <a:buFont typeface="Wingdings" panose="05000000000000000000" pitchFamily="2" charset="2"/>
              <a:buChar char="u"/>
            </a:pPr>
            <a:r>
              <a:rPr lang="zh-CN" altLang="en-US" sz="2000" dirty="0">
                <a:ea typeface="宋体" panose="02010600030101010101" pitchFamily="2" charset="-122"/>
              </a:rPr>
              <a:t>系统是异步的，不依赖时间来确保一致性；一般情况下，运行时间由大多数的机器决定，不会因为有少部分慢的机器而影响总体效率。</a:t>
            </a:r>
            <a:endParaRPr lang="en-US" altLang="zh-CN" sz="2000" dirty="0">
              <a:ea typeface="宋体" panose="02010600030101010101" pitchFamily="2" charset="-122"/>
            </a:endParaRPr>
          </a:p>
          <a:p>
            <a:pPr algn="l">
              <a:lnSpc>
                <a:spcPct val="150000"/>
              </a:lnSpc>
              <a:buNone/>
            </a:pPr>
            <a:endParaRPr lang="zh-CN" altLang="en-US" sz="2200" dirty="0">
              <a:ea typeface="宋体" panose="02010600030101010101" pitchFamily="2" charset="-122"/>
            </a:endParaRPr>
          </a:p>
          <a:p>
            <a:pPr algn="l">
              <a:lnSpc>
                <a:spcPct val="150000"/>
              </a:lnSpc>
              <a:buNone/>
            </a:pP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p:cNvSpPr>
          <p:nvPr>
            <p:ph type="title"/>
          </p:nvPr>
        </p:nvSpPr>
        <p:spPr>
          <a:xfrm>
            <a:off x="0" y="0"/>
            <a:ext cx="9144000" cy="630238"/>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09571" name="Rectangle 3"/>
          <p:cNvSpPr>
            <a:spLocks noGrp="1"/>
          </p:cNvSpPr>
          <p:nvPr>
            <p:ph idx="1"/>
          </p:nvPr>
        </p:nvSpPr>
        <p:spPr>
          <a:xfrm>
            <a:off x="204788" y="819150"/>
            <a:ext cx="8734425" cy="5424488"/>
          </a:xfrm>
          <a:ln/>
        </p:spPr>
        <p:txBody>
          <a:bodyPr vert="horz" wrap="square" lIns="91440" tIns="45720" rIns="91440" bIns="45720" anchor="t" anchorCtr="0"/>
          <a:lstStyle/>
          <a:p>
            <a:pPr algn="l">
              <a:lnSpc>
                <a:spcPct val="150000"/>
              </a:lnSpc>
              <a:buNone/>
            </a:pPr>
            <a:r>
              <a:rPr lang="zh-CN" altLang="en-US" sz="2000" b="1" dirty="0">
                <a:ea typeface="宋体" panose="02010600030101010101" pitchFamily="2" charset="-122"/>
              </a:rPr>
              <a:t>算法的正确性应该满足：</a:t>
            </a:r>
          </a:p>
          <a:p>
            <a:pPr marL="400050" lvl="1" indent="0">
              <a:lnSpc>
                <a:spcPct val="150000"/>
              </a:lnSpc>
              <a:buNone/>
            </a:pPr>
            <a:r>
              <a:rPr lang="en-US" altLang="zh-CN" sz="2000" dirty="0">
                <a:ea typeface="宋体" panose="02010600030101010101" pitchFamily="2" charset="-122"/>
              </a:rPr>
              <a:t>1.</a:t>
            </a:r>
            <a:r>
              <a:rPr lang="zh-CN" altLang="en-US" sz="2000" dirty="0">
                <a:ea typeface="宋体" panose="02010600030101010101" pitchFamily="2" charset="-122"/>
              </a:rPr>
              <a:t>可终止性（</a:t>
            </a:r>
            <a:r>
              <a:rPr lang="en-US" altLang="zh-CN" sz="2000" dirty="0">
                <a:ea typeface="宋体" panose="02010600030101010101" pitchFamily="2" charset="-122"/>
              </a:rPr>
              <a:t>Termination</a:t>
            </a:r>
            <a:r>
              <a:rPr lang="zh-CN" altLang="en-US" sz="2000" dirty="0">
                <a:ea typeface="宋体" panose="02010600030101010101" pitchFamily="2" charset="-122"/>
              </a:rPr>
              <a:t>）：一致性的结果可在有限时间内完成。</a:t>
            </a:r>
          </a:p>
          <a:p>
            <a:pPr marL="400050" lvl="1" indent="0">
              <a:lnSpc>
                <a:spcPct val="150000"/>
              </a:lnSpc>
              <a:buNone/>
            </a:pPr>
            <a:r>
              <a:rPr lang="en-US" altLang="zh-CN" sz="2000" dirty="0">
                <a:ea typeface="宋体" panose="02010600030101010101" pitchFamily="2" charset="-122"/>
              </a:rPr>
              <a:t>2.</a:t>
            </a:r>
            <a:r>
              <a:rPr lang="zh-CN" altLang="en-US" sz="2000" dirty="0">
                <a:ea typeface="宋体" panose="02010600030101010101" pitchFamily="2" charset="-122"/>
              </a:rPr>
              <a:t>共识性</a:t>
            </a:r>
            <a:r>
              <a:rPr lang="en-US" altLang="zh-CN" sz="2000" dirty="0">
                <a:ea typeface="宋体" panose="02010600030101010101" pitchFamily="2" charset="-122"/>
              </a:rPr>
              <a:t>/</a:t>
            </a:r>
            <a:r>
              <a:rPr lang="zh-CN" altLang="en-US" sz="2000" dirty="0">
                <a:ea typeface="宋体" panose="02010600030101010101" pitchFamily="2" charset="-122"/>
              </a:rPr>
              <a:t>一致性</a:t>
            </a:r>
            <a:r>
              <a:rPr lang="en-US" altLang="zh-CN" sz="2000" dirty="0">
                <a:ea typeface="宋体" panose="02010600030101010101" pitchFamily="2" charset="-122"/>
              </a:rPr>
              <a:t>(Consensus)</a:t>
            </a:r>
            <a:r>
              <a:rPr lang="zh-CN" altLang="en-US" sz="2000" dirty="0">
                <a:ea typeface="宋体" panose="02010600030101010101" pitchFamily="2" charset="-122"/>
              </a:rPr>
              <a:t>：不同节点最终完成决策的结果应该相同。</a:t>
            </a:r>
          </a:p>
          <a:p>
            <a:pPr marL="400050" lvl="1" indent="0">
              <a:lnSpc>
                <a:spcPct val="150000"/>
              </a:lnSpc>
              <a:buNone/>
            </a:pPr>
            <a:r>
              <a:rPr lang="en-US" altLang="zh-CN" sz="2000" dirty="0">
                <a:ea typeface="宋体" panose="02010600030101010101" pitchFamily="2" charset="-122"/>
              </a:rPr>
              <a:t>3.</a:t>
            </a:r>
            <a:r>
              <a:rPr lang="zh-CN" altLang="en-US" sz="2000" dirty="0">
                <a:ea typeface="宋体" panose="02010600030101010101" pitchFamily="2" charset="-122"/>
              </a:rPr>
              <a:t>合法性</a:t>
            </a:r>
            <a:r>
              <a:rPr lang="en-US" altLang="zh-CN" sz="2000" dirty="0">
                <a:ea typeface="宋体" panose="02010600030101010101" pitchFamily="2" charset="-122"/>
              </a:rPr>
              <a:t>(Validity)</a:t>
            </a:r>
            <a:r>
              <a:rPr lang="zh-CN" altLang="en-US" sz="2000" dirty="0">
                <a:ea typeface="宋体" panose="02010600030101010101" pitchFamily="2" charset="-122"/>
              </a:rPr>
              <a:t>：决策的结果必须是其他进程提出的提案。</a:t>
            </a:r>
          </a:p>
          <a:p>
            <a:pPr algn="l">
              <a:lnSpc>
                <a:spcPct val="150000"/>
              </a:lnSpc>
              <a:buNone/>
            </a:pPr>
            <a:r>
              <a:rPr lang="zh-CN" altLang="en-US" sz="2000" b="1" dirty="0">
                <a:ea typeface="宋体" panose="02010600030101010101" pitchFamily="2" charset="-122"/>
              </a:rPr>
              <a:t>实际系统中可能会存在以下问题</a:t>
            </a:r>
            <a:r>
              <a:rPr lang="en-US" altLang="zh-CN" sz="2000" b="1" dirty="0">
                <a:ea typeface="宋体" panose="02010600030101010101" pitchFamily="2" charset="-122"/>
              </a:rPr>
              <a:t>:</a:t>
            </a:r>
          </a:p>
          <a:p>
            <a:pPr marL="400050" lvl="1" indent="0">
              <a:lnSpc>
                <a:spcPct val="150000"/>
              </a:lnSpc>
              <a:buNone/>
            </a:pPr>
            <a:r>
              <a:rPr lang="en-US" altLang="zh-CN" sz="2000" dirty="0">
                <a:ea typeface="宋体" panose="02010600030101010101" pitchFamily="2" charset="-122"/>
              </a:rPr>
              <a:t>1.</a:t>
            </a:r>
            <a:r>
              <a:rPr lang="zh-CN" altLang="en-US" sz="2000" dirty="0">
                <a:ea typeface="宋体" panose="02010600030101010101" pitchFamily="2" charset="-122"/>
              </a:rPr>
              <a:t>节点处理事务的能力不同，网络节点数据的吞吐量有差异；</a:t>
            </a:r>
          </a:p>
          <a:p>
            <a:pPr marL="400050" lvl="1" indent="0">
              <a:lnSpc>
                <a:spcPct val="150000"/>
              </a:lnSpc>
              <a:buNone/>
            </a:pPr>
            <a:r>
              <a:rPr lang="en-US" altLang="zh-CN" sz="2000" dirty="0">
                <a:ea typeface="宋体" panose="02010600030101010101" pitchFamily="2" charset="-122"/>
              </a:rPr>
              <a:t>2.</a:t>
            </a:r>
            <a:r>
              <a:rPr lang="zh-CN" altLang="en-US" sz="2000" dirty="0">
                <a:ea typeface="宋体" panose="02010600030101010101" pitchFamily="2" charset="-122"/>
              </a:rPr>
              <a:t>节点间通讯信道可能不安全；</a:t>
            </a:r>
          </a:p>
          <a:p>
            <a:pPr marL="400050" lvl="1" indent="0">
              <a:lnSpc>
                <a:spcPct val="150000"/>
              </a:lnSpc>
              <a:buNone/>
            </a:pPr>
            <a:r>
              <a:rPr lang="en-US" altLang="zh-CN" sz="2000" dirty="0">
                <a:ea typeface="宋体" panose="02010600030101010101" pitchFamily="2" charset="-122"/>
              </a:rPr>
              <a:t>3.</a:t>
            </a:r>
            <a:r>
              <a:rPr lang="zh-CN" altLang="en-US" sz="2000" dirty="0">
                <a:ea typeface="宋体" panose="02010600030101010101" pitchFamily="2" charset="-122"/>
              </a:rPr>
              <a:t>可能会有作恶节点出现；</a:t>
            </a:r>
          </a:p>
          <a:p>
            <a:pPr marL="400050" lvl="1" indent="0">
              <a:lnSpc>
                <a:spcPct val="150000"/>
              </a:lnSpc>
              <a:buNone/>
            </a:pPr>
            <a:r>
              <a:rPr lang="en-US" altLang="zh-CN" sz="2000" dirty="0">
                <a:ea typeface="宋体" panose="02010600030101010101" pitchFamily="2" charset="-122"/>
              </a:rPr>
              <a:t>4.</a:t>
            </a:r>
            <a:r>
              <a:rPr lang="zh-CN" altLang="en-US" sz="2000" dirty="0">
                <a:ea typeface="宋体" panose="02010600030101010101" pitchFamily="2" charset="-122"/>
              </a:rPr>
              <a:t>当异步处理能力达到高度一致时，可扩展性就会变差（新节点加入）。</a:t>
            </a:r>
          </a:p>
          <a:p>
            <a:pPr algn="l">
              <a:lnSpc>
                <a:spcPct val="150000"/>
              </a:lnSpc>
              <a:buNone/>
            </a:pPr>
            <a:r>
              <a:rPr lang="zh-CN" altLang="en-US" sz="2000" dirty="0">
                <a:ea typeface="宋体" panose="02010600030101010101" pitchFamily="2" charset="-122"/>
              </a:rPr>
              <a:t>      </a:t>
            </a:r>
            <a:r>
              <a:rPr lang="en-US" altLang="zh-CN" sz="2000" dirty="0">
                <a:ea typeface="宋体" panose="02010600030101010101" pitchFamily="2" charset="-122"/>
              </a:rPr>
              <a:t>(</a:t>
            </a:r>
            <a:r>
              <a:rPr lang="zh-CN" altLang="en-US" sz="2000" dirty="0">
                <a:ea typeface="宋体" panose="02010600030101010101" pitchFamily="2" charset="-122"/>
              </a:rPr>
              <a:t>强一致性</a:t>
            </a:r>
            <a:r>
              <a:rPr lang="en-US" altLang="zh-CN" sz="2000" dirty="0">
                <a:ea typeface="宋体" panose="02010600030101010101" pitchFamily="2" charset="-122"/>
              </a:rPr>
              <a:t>;</a:t>
            </a:r>
            <a:r>
              <a:rPr lang="zh-CN" altLang="en-US" sz="2000" dirty="0">
                <a:ea typeface="宋体" panose="02010600030101010101" pitchFamily="2" charset="-122"/>
              </a:rPr>
              <a:t> 弱一致性</a:t>
            </a:r>
            <a:r>
              <a:rPr lang="en-US" altLang="zh-CN" sz="2000" dirty="0">
                <a:ea typeface="宋体" panose="02010600030101010101" pitchFamily="2" charset="-122"/>
              </a:rPr>
              <a:t>;</a:t>
            </a:r>
            <a:r>
              <a:rPr lang="zh-CN" altLang="en-US" sz="2000" dirty="0">
                <a:ea typeface="宋体" panose="02010600030101010101" pitchFamily="2" charset="-122"/>
              </a:rPr>
              <a:t> 最终一致性</a:t>
            </a:r>
            <a:r>
              <a:rPr lang="en-US" altLang="zh-CN" sz="2000" dirty="0">
                <a:ea typeface="宋体" panose="02010600030101010101" pitchFamily="2" charset="-122"/>
              </a:rPr>
              <a:t>)</a:t>
            </a:r>
            <a:endParaRPr lang="zh-CN" altLang="en-US" sz="2000" dirty="0">
              <a:ea typeface="宋体" panose="02010600030101010101" pitchFamily="2" charset="-122"/>
            </a:endParaRPr>
          </a:p>
          <a:p>
            <a:pPr algn="l">
              <a:lnSpc>
                <a:spcPct val="150000"/>
              </a:lnSpc>
              <a:buNone/>
            </a:pPr>
            <a:endParaRPr lang="zh-CN" altLang="en-US" sz="2000" dirty="0">
              <a:ea typeface="宋体" panose="02010600030101010101" pitchFamily="2" charset="-122"/>
            </a:endParaRPr>
          </a:p>
          <a:p>
            <a:pPr algn="l">
              <a:lnSpc>
                <a:spcPct val="150000"/>
              </a:lnSpc>
              <a:buNone/>
            </a:pPr>
            <a:endParaRPr lang="zh-CN" altLang="en-US" sz="2000" dirty="0">
              <a:latin typeface="宋体" panose="02010600030101010101" pitchFamily="2" charset="-122"/>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p:cNvSpPr>
          <p:nvPr>
            <p:ph type="title"/>
          </p:nvPr>
        </p:nvSpPr>
        <p:spPr>
          <a:xfrm>
            <a:off x="0" y="0"/>
            <a:ext cx="9144000" cy="828675"/>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66563" name="Rectangle 3"/>
          <p:cNvSpPr>
            <a:spLocks noGrp="1" noChangeArrowheads="1"/>
          </p:cNvSpPr>
          <p:nvPr>
            <p:ph idx="1"/>
          </p:nvPr>
        </p:nvSpPr>
        <p:spPr>
          <a:xfrm>
            <a:off x="0" y="828675"/>
            <a:ext cx="9144000" cy="4465638"/>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chemeClr val="accent2"/>
              </a:buClr>
              <a:buSzTx/>
              <a:buFontTx/>
              <a:buNone/>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CAP</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定理（</a:t>
            </a:r>
            <a:r>
              <a:rPr kumimoji="0" 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CAP theorem</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），被称作布鲁尔定理</a:t>
            </a:r>
            <a:r>
              <a:rPr kumimoji="0" lang="en-US" altLang="zh-CN" sz="2200" b="0"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Brewer</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 theorem</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），它指出对于一个</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分布式计算系统</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来说，</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以下三点</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不可能同时满足：</a:t>
            </a:r>
          </a:p>
          <a:p>
            <a:pPr marL="457200" marR="0" lvl="0" indent="-457200" algn="l" defTabSz="914400" rtl="0" eaLnBrk="0" fontAlgn="base" latinLnBrk="0" hangingPunct="0">
              <a:lnSpc>
                <a:spcPct val="150000"/>
              </a:lnSpc>
              <a:spcBef>
                <a:spcPct val="20000"/>
              </a:spcBef>
              <a:spcAft>
                <a:spcPct val="0"/>
              </a:spcAft>
              <a:buClr>
                <a:schemeClr val="accent2"/>
              </a:buClr>
              <a:buSzTx/>
              <a:buFont typeface="+mj-lt"/>
              <a:buAutoNum type="arabicPeriod"/>
              <a:defRPr/>
            </a:pP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一致性</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Consistency</a:t>
            </a:r>
            <a:r>
              <a:rPr kumimoji="0" 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所有节点在同一时间</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看到</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数据</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是相同的；</a:t>
            </a:r>
            <a:endPar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457200" marR="0" lvl="0" indent="-457200" algn="l" defTabSz="914400" rtl="0" eaLnBrk="0" fontAlgn="base" latinLnBrk="0" hangingPunct="0">
              <a:lnSpc>
                <a:spcPct val="150000"/>
              </a:lnSpc>
              <a:spcBef>
                <a:spcPct val="20000"/>
              </a:spcBef>
              <a:spcAft>
                <a:spcPct val="0"/>
              </a:spcAft>
              <a:buClr>
                <a:schemeClr val="accent2"/>
              </a:buClr>
              <a:buSzTx/>
              <a:buFont typeface="+mj-lt"/>
              <a:buAutoNum type="arabicPeriod"/>
              <a:defRPr/>
            </a:pP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可用性</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Availability</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保证每个请求不</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论</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成功</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与否</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都有响应</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457200" marR="0" lvl="0" indent="-457200" algn="l" defTabSz="914400" rtl="0" eaLnBrk="0" fontAlgn="base" latinLnBrk="0" hangingPunct="0">
              <a:lnSpc>
                <a:spcPct val="150000"/>
              </a:lnSpc>
              <a:spcBef>
                <a:spcPct val="20000"/>
              </a:spcBef>
              <a:spcAft>
                <a:spcPct val="0"/>
              </a:spcAft>
              <a:buClr>
                <a:schemeClr val="accent2"/>
              </a:buClr>
              <a:buSzTx/>
              <a:buFont typeface="+mj-lt"/>
              <a:buAutoNum type="arabicPeriod"/>
              <a:defRPr/>
            </a:pP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分割容忍</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Partition tolerance</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系统中任意信息的丢失或失败不会影响系统的继续运作</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Tx/>
              <a:buNone/>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Tx/>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根据定理，只能满足</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其中</a:t>
            </a:r>
            <a:r>
              <a:rPr kumimoji="0" 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两项</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10596" name="Rectangle 4"/>
          <p:cNvSpPr/>
          <p:nvPr/>
        </p:nvSpPr>
        <p:spPr>
          <a:xfrm>
            <a:off x="192088" y="5743575"/>
            <a:ext cx="8813800" cy="1011238"/>
          </a:xfrm>
          <a:prstGeom prst="rect">
            <a:avLst/>
          </a:prstGeom>
          <a:no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None/>
            </a:pPr>
            <a:r>
              <a:rPr lang="en-US" altLang="zh-CN" sz="1400" dirty="0">
                <a:latin typeface="宋体" panose="02010600030101010101" pitchFamily="2" charset="-122"/>
                <a:ea typeface="宋体" panose="02010600030101010101" pitchFamily="2" charset="-122"/>
              </a:rPr>
              <a:t>*</a:t>
            </a:r>
            <a:r>
              <a:rPr lang="zh-CN" altLang="en-US" sz="1400" dirty="0">
                <a:latin typeface="宋体" panose="02010600030101010101" pitchFamily="2" charset="-122"/>
                <a:ea typeface="宋体" panose="02010600030101010101" pitchFamily="2" charset="-122"/>
              </a:rPr>
              <a:t>柏克莱加州大学计算机科学家埃里克</a:t>
            </a:r>
            <a:r>
              <a:rPr lang="en-US" altLang="zh-CN" sz="1400" dirty="0">
                <a:latin typeface="宋体" panose="02010600030101010101" pitchFamily="2" charset="-122"/>
                <a:ea typeface="宋体" panose="02010600030101010101" pitchFamily="2" charset="-122"/>
              </a:rPr>
              <a:t>·</a:t>
            </a:r>
            <a:r>
              <a:rPr lang="zh-CN" altLang="en-US" sz="1400" dirty="0">
                <a:latin typeface="宋体" panose="02010600030101010101" pitchFamily="2" charset="-122"/>
                <a:ea typeface="宋体" panose="02010600030101010101" pitchFamily="2" charset="-122"/>
              </a:rPr>
              <a:t>布鲁尔（</a:t>
            </a:r>
            <a:r>
              <a:rPr lang="en-US" altLang="zh-CN" sz="1400" dirty="0">
                <a:latin typeface="宋体" panose="02010600030101010101" pitchFamily="2" charset="-122"/>
                <a:ea typeface="宋体" panose="02010600030101010101" pitchFamily="2" charset="-122"/>
              </a:rPr>
              <a:t>Eric Brewer</a:t>
            </a:r>
            <a:r>
              <a:rPr lang="zh-CN" altLang="en-US" sz="1400" dirty="0">
                <a:latin typeface="宋体" panose="02010600030101010101" pitchFamily="2" charset="-122"/>
                <a:ea typeface="宋体" panose="02010600030101010101" pitchFamily="2" charset="-122"/>
              </a:rPr>
              <a:t>）在</a:t>
            </a:r>
            <a:r>
              <a:rPr lang="en-US" altLang="zh-CN" sz="1400" dirty="0">
                <a:latin typeface="宋体" panose="02010600030101010101" pitchFamily="2" charset="-122"/>
                <a:ea typeface="宋体" panose="02010600030101010101" pitchFamily="2" charset="-122"/>
              </a:rPr>
              <a:t>2000</a:t>
            </a:r>
            <a:r>
              <a:rPr lang="zh-CN" altLang="en-US" sz="1400" dirty="0">
                <a:latin typeface="宋体" panose="02010600030101010101" pitchFamily="2" charset="-122"/>
                <a:ea typeface="宋体" panose="02010600030101010101" pitchFamily="2" charset="-122"/>
              </a:rPr>
              <a:t>年</a:t>
            </a:r>
            <a:r>
              <a:rPr lang="en-US" altLang="zh-CN" sz="1400" dirty="0">
                <a:latin typeface="宋体" panose="02010600030101010101" pitchFamily="2" charset="-122"/>
                <a:ea typeface="宋体" panose="02010600030101010101" pitchFamily="2" charset="-122"/>
              </a:rPr>
              <a:t>PODC</a:t>
            </a:r>
            <a:r>
              <a:rPr lang="zh-CN" altLang="en-US"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Symposium on Principles of Distributed Computing</a:t>
            </a:r>
            <a:r>
              <a:rPr lang="zh-CN" altLang="en-US" sz="1400" dirty="0">
                <a:latin typeface="宋体" panose="02010600030101010101" pitchFamily="2" charset="-122"/>
                <a:ea typeface="宋体" panose="02010600030101010101" pitchFamily="2" charset="-122"/>
              </a:rPr>
              <a:t>）上提出的一个猜想。在</a:t>
            </a:r>
            <a:r>
              <a:rPr lang="en-US" altLang="zh-CN" sz="1400" dirty="0">
                <a:latin typeface="宋体" panose="02010600030101010101" pitchFamily="2" charset="-122"/>
                <a:ea typeface="宋体" panose="02010600030101010101" pitchFamily="2" charset="-122"/>
              </a:rPr>
              <a:t>2002</a:t>
            </a:r>
            <a:r>
              <a:rPr lang="zh-CN" altLang="en-US" sz="1400" dirty="0">
                <a:latin typeface="宋体" panose="02010600030101010101" pitchFamily="2" charset="-122"/>
                <a:ea typeface="宋体" panose="02010600030101010101" pitchFamily="2" charset="-122"/>
              </a:rPr>
              <a:t>年，麻省理工学院（</a:t>
            </a:r>
            <a:r>
              <a:rPr lang="en-US" altLang="zh-CN" sz="1400" dirty="0">
                <a:latin typeface="宋体" panose="02010600030101010101" pitchFamily="2" charset="-122"/>
                <a:ea typeface="宋体" panose="02010600030101010101" pitchFamily="2" charset="-122"/>
              </a:rPr>
              <a:t>MIT</a:t>
            </a:r>
            <a:r>
              <a:rPr lang="zh-CN" altLang="en-US" sz="1400" dirty="0">
                <a:latin typeface="宋体" panose="02010600030101010101" pitchFamily="2" charset="-122"/>
                <a:ea typeface="宋体" panose="02010600030101010101" pitchFamily="2" charset="-122"/>
              </a:rPr>
              <a:t>）的赛斯</a:t>
            </a:r>
            <a:r>
              <a:rPr lang="en-US" altLang="zh-CN" sz="1400" dirty="0">
                <a:latin typeface="宋体" panose="02010600030101010101" pitchFamily="2" charset="-122"/>
                <a:ea typeface="宋体" panose="02010600030101010101" pitchFamily="2" charset="-122"/>
              </a:rPr>
              <a:t>·</a:t>
            </a:r>
            <a:r>
              <a:rPr lang="zh-CN" altLang="en-US" sz="1400" dirty="0">
                <a:latin typeface="宋体" panose="02010600030101010101" pitchFamily="2" charset="-122"/>
                <a:ea typeface="宋体" panose="02010600030101010101" pitchFamily="2" charset="-122"/>
              </a:rPr>
              <a:t>吉尔伯特（</a:t>
            </a:r>
            <a:r>
              <a:rPr lang="en-US" altLang="zh-CN" sz="1400" dirty="0">
                <a:latin typeface="宋体" panose="02010600030101010101" pitchFamily="2" charset="-122"/>
                <a:ea typeface="宋体" panose="02010600030101010101" pitchFamily="2" charset="-122"/>
              </a:rPr>
              <a:t>Seth Gilbert</a:t>
            </a:r>
            <a:r>
              <a:rPr lang="zh-CN" altLang="en-US" sz="1400" dirty="0">
                <a:latin typeface="宋体" panose="02010600030101010101" pitchFamily="2" charset="-122"/>
                <a:ea typeface="宋体" panose="02010600030101010101" pitchFamily="2" charset="-122"/>
              </a:rPr>
              <a:t>）和南希</a:t>
            </a:r>
            <a:r>
              <a:rPr lang="en-US" altLang="zh-CN" sz="1400" dirty="0">
                <a:latin typeface="宋体" panose="02010600030101010101" pitchFamily="2" charset="-122"/>
                <a:ea typeface="宋体" panose="02010600030101010101" pitchFamily="2" charset="-122"/>
              </a:rPr>
              <a:t>·</a:t>
            </a:r>
            <a:r>
              <a:rPr lang="zh-CN" altLang="en-US" sz="1400" dirty="0">
                <a:latin typeface="宋体" panose="02010600030101010101" pitchFamily="2" charset="-122"/>
                <a:ea typeface="宋体" panose="02010600030101010101" pitchFamily="2" charset="-122"/>
              </a:rPr>
              <a:t>林奇（</a:t>
            </a:r>
            <a:r>
              <a:rPr lang="en-US" altLang="zh-CN" sz="1400" dirty="0">
                <a:latin typeface="宋体" panose="02010600030101010101" pitchFamily="2" charset="-122"/>
                <a:ea typeface="宋体" panose="02010600030101010101" pitchFamily="2" charset="-122"/>
              </a:rPr>
              <a:t>Nancy Lynch</a:t>
            </a:r>
            <a:r>
              <a:rPr lang="zh-CN" altLang="en-US" sz="1400" dirty="0">
                <a:latin typeface="宋体" panose="02010600030101010101" pitchFamily="2" charset="-122"/>
                <a:ea typeface="宋体" panose="02010600030101010101" pitchFamily="2" charset="-122"/>
              </a:rPr>
              <a:t>）发表了布鲁尔猜想的证明，使之成为一个定理。</a:t>
            </a:r>
            <a:endParaRPr lang="en-US" altLang="zh-CN" sz="1400" dirty="0">
              <a:latin typeface="宋体" panose="02010600030101010101" pitchFamily="2" charset="-122"/>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a:xfrm>
            <a:off x="1887538" y="0"/>
            <a:ext cx="4803775" cy="773113"/>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11619" name="Rectangle 3"/>
          <p:cNvSpPr>
            <a:spLocks noGrp="1"/>
          </p:cNvSpPr>
          <p:nvPr>
            <p:ph idx="1"/>
          </p:nvPr>
        </p:nvSpPr>
        <p:spPr>
          <a:xfrm>
            <a:off x="138113" y="893763"/>
            <a:ext cx="8867775" cy="5183187"/>
          </a:xfrm>
          <a:ln/>
        </p:spPr>
        <p:txBody>
          <a:bodyPr vert="horz" wrap="square" lIns="91440" tIns="45720" rIns="91440" bIns="45720" anchor="t" anchorCtr="0"/>
          <a:lstStyle/>
          <a:p>
            <a:pPr algn="l">
              <a:lnSpc>
                <a:spcPct val="150000"/>
              </a:lnSpc>
              <a:buNone/>
            </a:pPr>
            <a:r>
              <a:rPr lang="en-US" altLang="zh-CN" sz="2200" b="1" dirty="0">
                <a:ea typeface="宋体" panose="02010600030101010101" pitchFamily="2" charset="-122"/>
              </a:rPr>
              <a:t>ACID</a:t>
            </a:r>
            <a:r>
              <a:rPr lang="zh-CN" altLang="en-US" sz="2200" b="1" dirty="0">
                <a:ea typeface="宋体" panose="02010600030101010101" pitchFamily="2" charset="-122"/>
              </a:rPr>
              <a:t>和</a:t>
            </a:r>
            <a:r>
              <a:rPr lang="en-US" altLang="zh-CN" sz="2200" b="1" dirty="0">
                <a:ea typeface="宋体" panose="02010600030101010101" pitchFamily="2" charset="-122"/>
              </a:rPr>
              <a:t>BASE</a:t>
            </a:r>
          </a:p>
          <a:p>
            <a:pPr algn="l">
              <a:lnSpc>
                <a:spcPct val="150000"/>
              </a:lnSpc>
              <a:buFont typeface="Wingdings" panose="05000000000000000000" pitchFamily="2" charset="2"/>
              <a:buChar char="u"/>
            </a:pPr>
            <a:r>
              <a:rPr lang="en-US" altLang="zh-CN" sz="2200" dirty="0">
                <a:solidFill>
                  <a:srgbClr val="FF0000"/>
                </a:solidFill>
                <a:ea typeface="宋体" panose="02010600030101010101" pitchFamily="2" charset="-122"/>
              </a:rPr>
              <a:t>ACID</a:t>
            </a:r>
            <a:r>
              <a:rPr lang="zh-CN" altLang="en-US" sz="2200" dirty="0">
                <a:solidFill>
                  <a:srgbClr val="FF0000"/>
                </a:solidFill>
                <a:ea typeface="宋体" panose="02010600030101010101" pitchFamily="2" charset="-122"/>
              </a:rPr>
              <a:t>：</a:t>
            </a:r>
            <a:r>
              <a:rPr lang="zh-CN" altLang="en-US" sz="2200" dirty="0">
                <a:ea typeface="宋体" panose="02010600030101010101" pitchFamily="2" charset="-122"/>
              </a:rPr>
              <a:t>原子性（</a:t>
            </a:r>
            <a:r>
              <a:rPr lang="en-US" altLang="zh-CN" sz="2200" dirty="0">
                <a:ea typeface="宋体" panose="02010600030101010101" pitchFamily="2" charset="-122"/>
              </a:rPr>
              <a:t>Atomicity</a:t>
            </a:r>
            <a:r>
              <a:rPr lang="zh-CN" altLang="en-US" sz="2200" dirty="0">
                <a:ea typeface="宋体" panose="02010600030101010101" pitchFamily="2" charset="-122"/>
              </a:rPr>
              <a:t>）、一致性（</a:t>
            </a:r>
            <a:r>
              <a:rPr lang="en-US" altLang="zh-CN" sz="2200" dirty="0">
                <a:ea typeface="宋体" panose="02010600030101010101" pitchFamily="2" charset="-122"/>
              </a:rPr>
              <a:t>Consistency</a:t>
            </a:r>
            <a:r>
              <a:rPr lang="zh-CN" altLang="en-US" sz="2200" dirty="0">
                <a:ea typeface="宋体" panose="02010600030101010101" pitchFamily="2" charset="-122"/>
              </a:rPr>
              <a:t>）、隔离性（</a:t>
            </a:r>
            <a:r>
              <a:rPr lang="en-US" altLang="zh-CN" sz="2200" dirty="0">
                <a:ea typeface="宋体" panose="02010600030101010101" pitchFamily="2" charset="-122"/>
              </a:rPr>
              <a:t>Isolation</a:t>
            </a:r>
            <a:r>
              <a:rPr lang="zh-CN" altLang="en-US" sz="2200" dirty="0">
                <a:ea typeface="宋体" panose="02010600030101010101" pitchFamily="2" charset="-122"/>
              </a:rPr>
              <a:t>，又称独立性）、持久性（</a:t>
            </a:r>
            <a:r>
              <a:rPr lang="en-US" altLang="zh-CN" sz="2200" dirty="0">
                <a:ea typeface="宋体" panose="02010600030101010101" pitchFamily="2" charset="-122"/>
              </a:rPr>
              <a:t>Durability</a:t>
            </a:r>
            <a:r>
              <a:rPr lang="zh-CN" altLang="en-US" sz="2200" dirty="0">
                <a:ea typeface="宋体" panose="02010600030101010101" pitchFamily="2" charset="-122"/>
              </a:rPr>
              <a:t>）。</a:t>
            </a:r>
            <a:endParaRPr lang="zh-CN" altLang="en-US" sz="2200" b="1" dirty="0">
              <a:ea typeface="宋体" panose="02010600030101010101" pitchFamily="2" charset="-122"/>
            </a:endParaRPr>
          </a:p>
          <a:p>
            <a:pPr algn="l">
              <a:lnSpc>
                <a:spcPct val="150000"/>
              </a:lnSpc>
              <a:buNone/>
            </a:pPr>
            <a:r>
              <a:rPr lang="zh-CN" altLang="en-US" sz="2200" dirty="0">
                <a:ea typeface="宋体" panose="02010600030101010101" pitchFamily="2" charset="-122"/>
              </a:rPr>
              <a:t>因为</a:t>
            </a:r>
            <a:r>
              <a:rPr lang="en-US" altLang="zh-CN" sz="2200" dirty="0">
                <a:ea typeface="宋体" panose="02010600030101010101" pitchFamily="2" charset="-122"/>
              </a:rPr>
              <a:t>CAP</a:t>
            </a:r>
            <a:r>
              <a:rPr lang="zh-CN" altLang="en-US" sz="2200" dirty="0">
                <a:ea typeface="宋体" panose="02010600030101010101" pitchFamily="2" charset="-122"/>
              </a:rPr>
              <a:t>出现了</a:t>
            </a:r>
            <a:r>
              <a:rPr lang="en-US" altLang="zh-CN" sz="2200" dirty="0">
                <a:ea typeface="宋体" panose="02010600030101010101" pitchFamily="2" charset="-122"/>
              </a:rPr>
              <a:t>ACID</a:t>
            </a:r>
            <a:r>
              <a:rPr lang="zh-CN" altLang="en-US" sz="2200" dirty="0">
                <a:ea typeface="宋体" panose="02010600030101010101" pitchFamily="2" charset="-122"/>
              </a:rPr>
              <a:t>的变型</a:t>
            </a:r>
            <a:r>
              <a:rPr lang="en-US" altLang="zh-CN" sz="2200" dirty="0">
                <a:ea typeface="宋体" panose="02010600030101010101" pitchFamily="2" charset="-122"/>
              </a:rPr>
              <a:t>BASE</a:t>
            </a:r>
            <a:r>
              <a:rPr lang="zh-CN" altLang="en-US" sz="2200" dirty="0">
                <a:ea typeface="宋体" panose="02010600030101010101" pitchFamily="2" charset="-122"/>
              </a:rPr>
              <a:t>。</a:t>
            </a:r>
            <a:endParaRPr lang="en-US" altLang="zh-CN" sz="2200" dirty="0">
              <a:ea typeface="宋体" panose="02010600030101010101" pitchFamily="2" charset="-122"/>
            </a:endParaRPr>
          </a:p>
          <a:p>
            <a:pPr algn="l">
              <a:lnSpc>
                <a:spcPct val="150000"/>
              </a:lnSpc>
              <a:buFont typeface="Wingdings" panose="05000000000000000000" pitchFamily="2" charset="2"/>
              <a:buChar char="u"/>
            </a:pPr>
            <a:r>
              <a:rPr lang="en-US" altLang="zh-CN" sz="2200" dirty="0">
                <a:solidFill>
                  <a:srgbClr val="FF0000"/>
                </a:solidFill>
                <a:ea typeface="宋体" panose="02010600030101010101" pitchFamily="2" charset="-122"/>
              </a:rPr>
              <a:t>BASE</a:t>
            </a:r>
            <a:r>
              <a:rPr lang="zh-CN" altLang="en-US" sz="2200" dirty="0">
                <a:ea typeface="宋体" panose="02010600030101010101" pitchFamily="2" charset="-122"/>
              </a:rPr>
              <a:t>（ </a:t>
            </a:r>
            <a:r>
              <a:rPr lang="en-US" altLang="zh-CN" sz="2200" dirty="0">
                <a:ea typeface="宋体" panose="02010600030101010101" pitchFamily="2" charset="-122"/>
              </a:rPr>
              <a:t>Basically Available, Soft-state, Eventual consistency</a:t>
            </a:r>
            <a:r>
              <a:rPr lang="zh-CN" altLang="en-US" sz="2200" dirty="0">
                <a:ea typeface="宋体" panose="02010600030101010101" pitchFamily="2" charset="-122"/>
              </a:rPr>
              <a:t>）</a:t>
            </a:r>
          </a:p>
          <a:p>
            <a:pPr lvl="1">
              <a:lnSpc>
                <a:spcPct val="150000"/>
              </a:lnSpc>
              <a:buFont typeface="Wingdings" panose="05000000000000000000" pitchFamily="2" charset="2"/>
              <a:buChar char="Ø"/>
            </a:pPr>
            <a:r>
              <a:rPr lang="en-US" altLang="zh-CN" sz="2200" b="1" dirty="0">
                <a:ea typeface="宋体" panose="02010600030101010101" pitchFamily="2" charset="-122"/>
              </a:rPr>
              <a:t>B</a:t>
            </a:r>
            <a:r>
              <a:rPr lang="en-US" altLang="zh-CN" sz="2200" dirty="0">
                <a:ea typeface="宋体" panose="02010600030101010101" pitchFamily="2" charset="-122"/>
              </a:rPr>
              <a:t>asic </a:t>
            </a:r>
            <a:r>
              <a:rPr lang="en-US" altLang="zh-CN" sz="2200" b="1" dirty="0">
                <a:ea typeface="宋体" panose="02010600030101010101" pitchFamily="2" charset="-122"/>
              </a:rPr>
              <a:t>A</a:t>
            </a:r>
            <a:r>
              <a:rPr lang="en-US" altLang="zh-CN" sz="2200" dirty="0">
                <a:ea typeface="宋体" panose="02010600030101010101" pitchFamily="2" charset="-122"/>
              </a:rPr>
              <a:t>vailability</a:t>
            </a:r>
            <a:r>
              <a:rPr lang="zh-CN" altLang="en-US" sz="2200" dirty="0">
                <a:ea typeface="宋体" panose="02010600030101010101" pitchFamily="2" charset="-122"/>
              </a:rPr>
              <a:t>：基本可用</a:t>
            </a:r>
          </a:p>
          <a:p>
            <a:pPr lvl="1">
              <a:lnSpc>
                <a:spcPct val="150000"/>
              </a:lnSpc>
              <a:buFont typeface="Wingdings" panose="05000000000000000000" pitchFamily="2" charset="2"/>
              <a:buChar char="Ø"/>
            </a:pPr>
            <a:r>
              <a:rPr lang="en-US" altLang="zh-CN" sz="2200" b="1" dirty="0">
                <a:ea typeface="宋体" panose="02010600030101010101" pitchFamily="2" charset="-122"/>
              </a:rPr>
              <a:t>S</a:t>
            </a:r>
            <a:r>
              <a:rPr lang="en-US" altLang="zh-CN" sz="2200" dirty="0">
                <a:ea typeface="宋体" panose="02010600030101010101" pitchFamily="2" charset="-122"/>
              </a:rPr>
              <a:t>oft-state </a:t>
            </a:r>
            <a:r>
              <a:rPr lang="zh-CN" altLang="en-US" sz="2200" dirty="0">
                <a:ea typeface="宋体" panose="02010600030101010101" pitchFamily="2" charset="-122"/>
              </a:rPr>
              <a:t>：软状态</a:t>
            </a:r>
            <a:r>
              <a:rPr lang="en-US" altLang="zh-CN" sz="2200" dirty="0">
                <a:ea typeface="宋体" panose="02010600030101010101" pitchFamily="2" charset="-122"/>
              </a:rPr>
              <a:t>/</a:t>
            </a:r>
            <a:r>
              <a:rPr lang="zh-CN" altLang="en-US" sz="2200" dirty="0">
                <a:ea typeface="宋体" panose="02010600030101010101" pitchFamily="2" charset="-122"/>
              </a:rPr>
              <a:t>柔性事务，可以理解为“无连接”的，支持可伸缩性，而 “</a:t>
            </a:r>
            <a:r>
              <a:rPr lang="en-US" altLang="zh-CN" sz="2200" dirty="0">
                <a:ea typeface="宋体" panose="02010600030101010101" pitchFamily="2" charset="-122"/>
              </a:rPr>
              <a:t>Hard state” </a:t>
            </a:r>
            <a:r>
              <a:rPr lang="zh-CN" altLang="en-US" sz="2200" dirty="0">
                <a:ea typeface="宋体" panose="02010600030101010101" pitchFamily="2" charset="-122"/>
              </a:rPr>
              <a:t>是“面向连接”的。</a:t>
            </a:r>
          </a:p>
          <a:p>
            <a:pPr lvl="1">
              <a:lnSpc>
                <a:spcPct val="150000"/>
              </a:lnSpc>
              <a:buFont typeface="Wingdings" panose="05000000000000000000" pitchFamily="2" charset="2"/>
              <a:buChar char="Ø"/>
            </a:pPr>
            <a:r>
              <a:rPr lang="en-US" altLang="zh-CN" sz="2200" b="1" dirty="0">
                <a:ea typeface="宋体" panose="02010600030101010101" pitchFamily="2" charset="-122"/>
              </a:rPr>
              <a:t>E</a:t>
            </a:r>
            <a:r>
              <a:rPr lang="en-US" altLang="zh-CN" sz="2200" dirty="0">
                <a:ea typeface="宋体" panose="02010600030101010101" pitchFamily="2" charset="-122"/>
              </a:rPr>
              <a:t>ventual consistency</a:t>
            </a:r>
            <a:r>
              <a:rPr lang="zh-CN" altLang="en-US" sz="2200" dirty="0">
                <a:ea typeface="宋体" panose="02010600030101010101" pitchFamily="2" charset="-122"/>
              </a:rPr>
              <a:t>：系统最终看到的数据是一致的。</a:t>
            </a:r>
          </a:p>
          <a:p>
            <a:pPr algn="l">
              <a:lnSpc>
                <a:spcPct val="150000"/>
              </a:lnSpc>
              <a:buNone/>
            </a:pPr>
            <a:endParaRPr lang="zh-CN" altLang="en-US" sz="2200" dirty="0">
              <a:latin typeface="宋体" panose="02010600030101010101" pitchFamily="2" charset="-122"/>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p:cNvSpPr>
          <p:nvPr>
            <p:ph type="title"/>
          </p:nvPr>
        </p:nvSpPr>
        <p:spPr>
          <a:xfrm>
            <a:off x="0" y="0"/>
            <a:ext cx="9144000" cy="606425"/>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12643" name="Rectangle 3"/>
          <p:cNvSpPr>
            <a:spLocks noGrp="1"/>
          </p:cNvSpPr>
          <p:nvPr>
            <p:ph idx="1"/>
          </p:nvPr>
        </p:nvSpPr>
        <p:spPr>
          <a:xfrm>
            <a:off x="0" y="838200"/>
            <a:ext cx="9144000" cy="2346325"/>
          </a:xfrm>
          <a:ln/>
        </p:spPr>
        <p:txBody>
          <a:bodyPr vert="horz" wrap="square" lIns="91440" tIns="45720" rIns="91440" bIns="45720" anchor="t" anchorCtr="0"/>
          <a:lstStyle/>
          <a:p>
            <a:pPr algn="l">
              <a:lnSpc>
                <a:spcPct val="150000"/>
              </a:lnSpc>
              <a:buFont typeface="Wingdings" panose="05000000000000000000" pitchFamily="2" charset="2"/>
              <a:buChar char="u"/>
            </a:pPr>
            <a:r>
              <a:rPr lang="en-US" altLang="zh-CN" sz="2000" b="1" dirty="0">
                <a:ea typeface="宋体" panose="02010600030101010101" pitchFamily="2" charset="-122"/>
              </a:rPr>
              <a:t>ACID</a:t>
            </a:r>
            <a:r>
              <a:rPr lang="zh-CN" altLang="en-US" sz="2000" b="1" dirty="0">
                <a:ea typeface="宋体" panose="02010600030101010101" pitchFamily="2" charset="-122"/>
              </a:rPr>
              <a:t>保证数据库的一致性，比如银行系统的转账事务，从原账户扣除及向目标账户添加，两个操作总和构成一个完整的原子过程，保证了总金额一致</a:t>
            </a:r>
            <a:r>
              <a:rPr lang="en-US" altLang="zh-CN" sz="2000" b="1" dirty="0">
                <a:ea typeface="宋体" panose="02010600030101010101" pitchFamily="2" charset="-122"/>
              </a:rPr>
              <a:t>;</a:t>
            </a:r>
            <a:endParaRPr lang="zh-CN" altLang="en-US" sz="2000" b="1" dirty="0">
              <a:ea typeface="宋体" panose="02010600030101010101" pitchFamily="2" charset="-122"/>
            </a:endParaRPr>
          </a:p>
          <a:p>
            <a:pPr algn="l">
              <a:lnSpc>
                <a:spcPct val="200000"/>
              </a:lnSpc>
              <a:buFont typeface="Wingdings" panose="05000000000000000000" pitchFamily="2" charset="2"/>
              <a:buChar char="u"/>
            </a:pPr>
            <a:r>
              <a:rPr lang="zh-CN" altLang="en-US" sz="2000" b="1" dirty="0">
                <a:ea typeface="宋体" panose="02010600030101010101" pitchFamily="2" charset="-122"/>
              </a:rPr>
              <a:t>在大型分布式系统中，比如网上书店，买书过程都会锁住数据库直到买书行为完成，导致不能同时买书，可用性降低；（</a:t>
            </a:r>
            <a:r>
              <a:rPr lang="en-US" altLang="zh-CN" sz="2000" b="1" dirty="0">
                <a:ea typeface="宋体" panose="02010600030101010101" pitchFamily="2" charset="-122"/>
              </a:rPr>
              <a:t>CAP</a:t>
            </a:r>
            <a:r>
              <a:rPr lang="zh-CN" altLang="en-US" sz="2000" b="1" dirty="0">
                <a:ea typeface="宋体" panose="02010600030101010101" pitchFamily="2" charset="-122"/>
              </a:rPr>
              <a:t>原因）</a:t>
            </a:r>
          </a:p>
        </p:txBody>
      </p:sp>
      <p:sp>
        <p:nvSpPr>
          <p:cNvPr id="4" name="Rectangle 3"/>
          <p:cNvSpPr txBox="1">
            <a:spLocks noChangeArrowheads="1"/>
          </p:cNvSpPr>
          <p:nvPr/>
        </p:nvSpPr>
        <p:spPr bwMode="auto">
          <a:xfrm>
            <a:off x="0" y="3402013"/>
            <a:ext cx="9056688" cy="30083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引入最终一致性。比如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Amazon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卖书系统，也许在卖的过程中，每个用户看到的库存数是不一样的，剩余库存数也许是之前某个时间的快照，并不是实时的库存数（舍弃了一致性）。当只剩下最后一本书时，也许它会允许两个人同时下单，宁愿最后给那个下单成功却没货的人道歉，而不是整个系统性能的下降。</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ACID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强调一致性</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强调可用性</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p>
          <a:p>
            <a:pPr marL="342900" marR="0" lvl="0" indent="-342900" algn="l" defTabSz="914400" rtl="0" eaLnBrk="0" fontAlgn="base" latinLnBrk="0" hangingPunct="0">
              <a:lnSpc>
                <a:spcPct val="150000"/>
              </a:lnSpc>
              <a:spcBef>
                <a:spcPct val="20000"/>
              </a:spcBef>
              <a:spcAft>
                <a:spcPct val="0"/>
              </a:spcAft>
              <a:buClr>
                <a:schemeClr val="accent2"/>
              </a:buClr>
              <a:buSzTx/>
              <a:buFontTx/>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p:cNvSpPr>
          <p:nvPr>
            <p:ph type="title"/>
          </p:nvPr>
        </p:nvSpPr>
        <p:spPr>
          <a:xfrm>
            <a:off x="0" y="0"/>
            <a:ext cx="9144000" cy="693738"/>
          </a:xfrm>
          <a:ln/>
        </p:spPr>
        <p:txBody>
          <a:bodyPr vert="horz" wrap="square" lIns="91440" tIns="45720" rIns="91440" bIns="45720" anchor="ctr" anchorCtr="0"/>
          <a:lstStyle/>
          <a:p>
            <a:pPr>
              <a:lnSpc>
                <a:spcPct val="150000"/>
              </a:lnSpc>
            </a:pPr>
            <a:r>
              <a:rPr lang="en-US" altLang="zh-CN" sz="4000" b="1" dirty="0">
                <a:ea typeface="宋体" panose="02010600030101010101" pitchFamily="2" charset="-122"/>
              </a:rPr>
              <a:t>FLP Impossibility</a:t>
            </a:r>
          </a:p>
        </p:txBody>
      </p:sp>
      <p:sp>
        <p:nvSpPr>
          <p:cNvPr id="113667" name="Rectangle 3"/>
          <p:cNvSpPr>
            <a:spLocks noGrp="1"/>
          </p:cNvSpPr>
          <p:nvPr>
            <p:ph idx="1"/>
          </p:nvPr>
        </p:nvSpPr>
        <p:spPr>
          <a:xfrm>
            <a:off x="171450" y="809625"/>
            <a:ext cx="8801100" cy="5434013"/>
          </a:xfrm>
          <a:ln/>
        </p:spPr>
        <p:txBody>
          <a:bodyPr vert="horz" wrap="square" lIns="91440" tIns="45720" rIns="91440" bIns="45720" anchor="t" anchorCtr="0"/>
          <a:lstStyle/>
          <a:p>
            <a:pPr algn="l">
              <a:lnSpc>
                <a:spcPct val="150000"/>
              </a:lnSpc>
            </a:pPr>
            <a:r>
              <a:rPr lang="en-US" altLang="zh-CN" sz="2000" dirty="0">
                <a:ea typeface="宋体" panose="02010600030101010101" pitchFamily="2" charset="-122"/>
              </a:rPr>
              <a:t>No completely asynchronous consensus protocol can tolerate even a single unannounced process death. [Impossibility of Distributed Consensus with One Faulty Process,JACM,1985]</a:t>
            </a:r>
            <a:r>
              <a:rPr lang="zh-CN" altLang="en-US" sz="2000" dirty="0">
                <a:ea typeface="宋体" panose="02010600030101010101" pitchFamily="2" charset="-122"/>
              </a:rPr>
              <a:t> </a:t>
            </a:r>
            <a:r>
              <a:rPr lang="en-US" altLang="zh-CN" sz="2000" dirty="0">
                <a:ea typeface="宋体" panose="02010600030101010101" pitchFamily="2" charset="-122"/>
              </a:rPr>
              <a:t>Fischer, Lynch and Patterson</a:t>
            </a:r>
            <a:r>
              <a:rPr lang="zh-CN" altLang="en-US" sz="2000" dirty="0">
                <a:ea typeface="宋体" panose="02010600030101010101" pitchFamily="2" charset="-122"/>
              </a:rPr>
              <a:t>三位获得</a:t>
            </a:r>
            <a:r>
              <a:rPr lang="en-US" altLang="zh-CN" sz="2000" dirty="0">
                <a:ea typeface="宋体" panose="02010600030101010101" pitchFamily="2" charset="-122"/>
              </a:rPr>
              <a:t>Dijkstra</a:t>
            </a:r>
            <a:r>
              <a:rPr lang="zh-CN" altLang="en-US" sz="2000" dirty="0">
                <a:ea typeface="宋体" panose="02010600030101010101" pitchFamily="2" charset="-122"/>
              </a:rPr>
              <a:t>奖。</a:t>
            </a:r>
            <a:endParaRPr lang="en-US" altLang="zh-CN" sz="2000" dirty="0">
              <a:ea typeface="宋体" panose="02010600030101010101" pitchFamily="2" charset="-122"/>
            </a:endParaRPr>
          </a:p>
          <a:p>
            <a:pPr algn="l">
              <a:lnSpc>
                <a:spcPct val="150000"/>
              </a:lnSpc>
            </a:pPr>
            <a:r>
              <a:rPr lang="zh-CN" altLang="en-US" sz="2000" dirty="0">
                <a:ea typeface="宋体" panose="02010600030101010101" pitchFamily="2" charset="-122"/>
              </a:rPr>
              <a:t>在异步网络环境中只要有一个故障节点</a:t>
            </a:r>
            <a:r>
              <a:rPr lang="en-US" altLang="zh-CN" sz="2000" dirty="0">
                <a:ea typeface="宋体" panose="02010600030101010101" pitchFamily="2" charset="-122"/>
              </a:rPr>
              <a:t>, </a:t>
            </a:r>
            <a:r>
              <a:rPr lang="zh-CN" altLang="en-US" sz="2000" dirty="0">
                <a:ea typeface="宋体" panose="02010600030101010101" pitchFamily="2" charset="-122"/>
              </a:rPr>
              <a:t>任何共识算法都无法保证正确结束。</a:t>
            </a:r>
            <a:r>
              <a:rPr lang="en-US" altLang="zh-CN" sz="2000" dirty="0">
                <a:ea typeface="宋体" panose="02010600030101010101" pitchFamily="2" charset="-122"/>
              </a:rPr>
              <a:t> (unannounced process death</a:t>
            </a:r>
            <a:r>
              <a:rPr lang="zh-CN" altLang="en-US" sz="2000" dirty="0">
                <a:ea typeface="宋体" panose="02010600030101010101" pitchFamily="2" charset="-122"/>
              </a:rPr>
              <a:t>是指不明原因的</a:t>
            </a:r>
            <a:r>
              <a:rPr lang="en-US" altLang="zh-CN" sz="2000" dirty="0">
                <a:ea typeface="宋体" panose="02010600030101010101" pitchFamily="2" charset="-122"/>
              </a:rPr>
              <a:t>death——crash-stop).</a:t>
            </a:r>
            <a:r>
              <a:rPr lang="zh-CN" altLang="en-US" sz="2000" dirty="0">
                <a:ea typeface="宋体" panose="02010600030101010101" pitchFamily="2" charset="-122"/>
              </a:rPr>
              <a:t> </a:t>
            </a:r>
            <a:r>
              <a:rPr lang="en-US" altLang="zh-CN" sz="2000" dirty="0">
                <a:ea typeface="宋体" panose="02010600030101010101" pitchFamily="2" charset="-122"/>
              </a:rPr>
              <a:t>FLP</a:t>
            </a:r>
            <a:r>
              <a:rPr lang="zh-CN" altLang="en-US" sz="2000" dirty="0">
                <a:ea typeface="宋体" panose="02010600030101010101" pitchFamily="2" charset="-122"/>
              </a:rPr>
              <a:t>假设异步网络是可靠的。</a:t>
            </a:r>
            <a:endParaRPr lang="en-US" altLang="zh-CN" sz="2000" dirty="0">
              <a:ea typeface="宋体" panose="02010600030101010101" pitchFamily="2" charset="-122"/>
            </a:endParaRPr>
          </a:p>
          <a:p>
            <a:pPr algn="l">
              <a:lnSpc>
                <a:spcPct val="150000"/>
              </a:lnSpc>
            </a:pPr>
            <a:r>
              <a:rPr lang="zh-CN" altLang="en-US" sz="2000" dirty="0">
                <a:ea typeface="宋体" panose="02010600030101010101" pitchFamily="2" charset="-122"/>
              </a:rPr>
              <a:t>该理论证明：不要再浪费精力去试图设计一个异步网络上能够容忍各种故障并保持一致性的系统。比如分布式事务是永远无法实现单体应用级别的一致性的。或者说</a:t>
            </a:r>
            <a:r>
              <a:rPr lang="en-US" altLang="zh-CN" sz="2000" dirty="0">
                <a:ea typeface="宋体" panose="02010600030101010101" pitchFamily="2" charset="-122"/>
              </a:rPr>
              <a:t>liveness</a:t>
            </a:r>
            <a:r>
              <a:rPr lang="zh-CN" altLang="en-US" sz="2000" dirty="0">
                <a:ea typeface="宋体" panose="02010600030101010101" pitchFamily="2" charset="-122"/>
              </a:rPr>
              <a:t>是无法保证的</a:t>
            </a:r>
            <a:r>
              <a:rPr lang="en-US" altLang="zh-CN" sz="2000" dirty="0">
                <a:ea typeface="宋体" panose="02010600030101010101" pitchFamily="2" charset="-122"/>
              </a:rPr>
              <a:t>, </a:t>
            </a:r>
            <a:r>
              <a:rPr lang="zh-CN" altLang="en-US" sz="2000" dirty="0">
                <a:ea typeface="宋体" panose="02010600030101010101" pitchFamily="2" charset="-122"/>
              </a:rPr>
              <a:t>如果你要</a:t>
            </a:r>
            <a:r>
              <a:rPr lang="en-US" altLang="zh-CN" sz="2000" dirty="0">
                <a:ea typeface="宋体" panose="02010600030101010101" pitchFamily="2" charset="-122"/>
              </a:rPr>
              <a:t>safety</a:t>
            </a:r>
            <a:r>
              <a:rPr lang="zh-CN" altLang="en-US" sz="2000" dirty="0">
                <a:ea typeface="宋体" panose="02010600030101010101" pitchFamily="2" charset="-122"/>
              </a:rPr>
              <a:t>那么就会可能进入无限循环</a:t>
            </a:r>
            <a:r>
              <a:rPr lang="en-US" altLang="zh-CN" sz="2000" dirty="0">
                <a:ea typeface="宋体" panose="02010600030101010101" pitchFamily="2" charset="-122"/>
              </a:rPr>
              <a:t>,</a:t>
            </a:r>
          </a:p>
          <a:p>
            <a:pPr algn="l">
              <a:lnSpc>
                <a:spcPct val="150000"/>
              </a:lnSpc>
            </a:pPr>
            <a:endParaRPr lang="en-US" altLang="zh-CN" sz="2000" dirty="0">
              <a:ea typeface="宋体" panose="02010600030101010101" pitchFamily="2" charset="-122"/>
            </a:endParaRPr>
          </a:p>
          <a:p>
            <a:pPr algn="l">
              <a:lnSpc>
                <a:spcPct val="150000"/>
              </a:lnSpc>
            </a:pPr>
            <a:endParaRPr lang="en-US" altLang="zh-CN" sz="2000" dirty="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a:xfrm>
            <a:off x="0" y="0"/>
            <a:ext cx="9144000" cy="893763"/>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91139" name="Rectangle 3"/>
          <p:cNvSpPr>
            <a:spLocks noGrp="1" noChangeArrowheads="1"/>
          </p:cNvSpPr>
          <p:nvPr>
            <p:ph idx="1"/>
          </p:nvPr>
        </p:nvSpPr>
        <p:spPr>
          <a:xfrm>
            <a:off x="111125" y="893763"/>
            <a:ext cx="8921750" cy="5500688"/>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Paxos</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/Raft/ PBFT</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算法</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理论上都可能会进入无法表决完成的死循环</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概率很低</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但他们都是满足</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safety,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放松了</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liveness</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要求。</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实际中系统的一致性除了通过</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2PC</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或者</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Paxos</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Commit</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来实现</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也可以通过其他方式实现，现实中短时间不一致是分布式系统的常态，比如金融系统。</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CAP</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理论的提出者</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Eric Brewer</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曾经这样说过</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50000"/>
              </a:lnSpc>
              <a:spcBef>
                <a:spcPct val="20000"/>
              </a:spcBef>
              <a:spcAft>
                <a:spcPct val="0"/>
              </a:spcAft>
              <a:buClr>
                <a:schemeClr val="accent2"/>
              </a:buClr>
              <a:buSzTx/>
              <a:buFontTx/>
              <a:buNone/>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So the general answer is you allow things to be inconsistent and then</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you find ways to compensate for mistakes, versus trying to prevent mistakes altogether. In fact, the financial system is actually not based on consistency, it‘s based on auditing and compensation. They didn’t know any thing about the CAP theorem, that was just the decision they made in figuring out what they wanted, and that‘s actually, I think, the right decision.</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允许暂时不一致，然后到弥补方法。</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p:cNvSpPr>
          <p:nvPr>
            <p:ph type="title"/>
          </p:nvPr>
        </p:nvSpPr>
        <p:spPr>
          <a:xfrm>
            <a:off x="0" y="0"/>
            <a:ext cx="9144000" cy="714375"/>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15715" name="Rectangle 3"/>
          <p:cNvSpPr>
            <a:spLocks noGrp="1"/>
          </p:cNvSpPr>
          <p:nvPr>
            <p:ph idx="1"/>
          </p:nvPr>
        </p:nvSpPr>
        <p:spPr>
          <a:xfrm>
            <a:off x="300038" y="865188"/>
            <a:ext cx="8543925" cy="5037137"/>
          </a:xfrm>
          <a:ln/>
        </p:spPr>
        <p:txBody>
          <a:bodyPr vert="horz" wrap="square" lIns="91440" tIns="45720" rIns="91440" bIns="45720" anchor="t" anchorCtr="0"/>
          <a:lstStyle/>
          <a:p>
            <a:pPr algn="l">
              <a:lnSpc>
                <a:spcPct val="150000"/>
              </a:lnSpc>
            </a:pPr>
            <a:r>
              <a:rPr lang="zh-CN" altLang="en-US" sz="2000" dirty="0">
                <a:ea typeface="宋体" panose="02010600030101010101" pitchFamily="2" charset="-122"/>
              </a:rPr>
              <a:t>金融业数据是</a:t>
            </a:r>
            <a:r>
              <a:rPr lang="en-US" altLang="zh-CN" sz="2000" dirty="0">
                <a:ea typeface="宋体" panose="02010600030101010101" pitchFamily="2" charset="-122"/>
              </a:rPr>
              <a:t>WORM(write once read many)</a:t>
            </a:r>
            <a:r>
              <a:rPr lang="zh-CN" altLang="en-US" sz="2000" dirty="0">
                <a:ea typeface="宋体" panose="02010600030101010101" pitchFamily="2" charset="-122"/>
              </a:rPr>
              <a:t>，没有用两阶段分布式事务</a:t>
            </a:r>
            <a:r>
              <a:rPr lang="en-US" altLang="zh-CN" sz="2000" dirty="0">
                <a:ea typeface="宋体" panose="02010600030101010101" pitchFamily="2" charset="-122"/>
              </a:rPr>
              <a:t>;</a:t>
            </a:r>
          </a:p>
          <a:p>
            <a:pPr algn="l">
              <a:lnSpc>
                <a:spcPct val="150000"/>
              </a:lnSpc>
            </a:pPr>
            <a:r>
              <a:rPr lang="zh-CN" altLang="en-US" sz="2000" dirty="0">
                <a:ea typeface="宋体" panose="02010600030101010101" pitchFamily="2" charset="-122"/>
              </a:rPr>
              <a:t>例如：银行</a:t>
            </a:r>
            <a:r>
              <a:rPr lang="en-US" altLang="zh-CN" sz="2000" dirty="0">
                <a:ea typeface="宋体" panose="02010600030101010101" pitchFamily="2" charset="-122"/>
              </a:rPr>
              <a:t>A</a:t>
            </a:r>
            <a:r>
              <a:rPr lang="zh-CN" altLang="en-US" sz="2000" dirty="0">
                <a:ea typeface="宋体" panose="02010600030101010101" pitchFamily="2" charset="-122"/>
              </a:rPr>
              <a:t>转账给银行</a:t>
            </a:r>
            <a:r>
              <a:rPr lang="en-US" altLang="zh-CN" sz="2000" dirty="0">
                <a:ea typeface="宋体" panose="02010600030101010101" pitchFamily="2" charset="-122"/>
              </a:rPr>
              <a:t>B, </a:t>
            </a:r>
            <a:r>
              <a:rPr lang="zh-CN" altLang="en-US" sz="2000" dirty="0">
                <a:ea typeface="宋体" panose="02010600030101010101" pitchFamily="2" charset="-122"/>
              </a:rPr>
              <a:t>如果</a:t>
            </a:r>
            <a:r>
              <a:rPr lang="en-US" altLang="zh-CN" sz="2000" dirty="0">
                <a:ea typeface="宋体" panose="02010600030101010101" pitchFamily="2" charset="-122"/>
              </a:rPr>
              <a:t>A</a:t>
            </a:r>
            <a:r>
              <a:rPr lang="zh-CN" altLang="en-US" sz="2000" dirty="0">
                <a:ea typeface="宋体" panose="02010600030101010101" pitchFamily="2" charset="-122"/>
              </a:rPr>
              <a:t>已经扣款并通知了</a:t>
            </a:r>
            <a:r>
              <a:rPr lang="en-US" altLang="zh-CN" sz="2000" dirty="0">
                <a:ea typeface="宋体" panose="02010600030101010101" pitchFamily="2" charset="-122"/>
              </a:rPr>
              <a:t>B</a:t>
            </a:r>
            <a:r>
              <a:rPr lang="zh-CN" altLang="en-US" sz="2000" dirty="0">
                <a:ea typeface="宋体" panose="02010600030101010101" pitchFamily="2" charset="-122"/>
              </a:rPr>
              <a:t>，但是</a:t>
            </a:r>
            <a:r>
              <a:rPr lang="en-US" altLang="zh-CN" sz="2000" dirty="0">
                <a:ea typeface="宋体" panose="02010600030101010101" pitchFamily="2" charset="-122"/>
              </a:rPr>
              <a:t>B</a:t>
            </a:r>
            <a:r>
              <a:rPr lang="zh-CN" altLang="en-US" sz="2000" dirty="0">
                <a:ea typeface="宋体" panose="02010600030101010101" pitchFamily="2" charset="-122"/>
              </a:rPr>
              <a:t>发现该账号由于洗钱被锁定而不能入款</a:t>
            </a:r>
            <a:r>
              <a:rPr lang="en-US" altLang="zh-CN" sz="2000" dirty="0">
                <a:ea typeface="宋体" panose="02010600030101010101" pitchFamily="2" charset="-122"/>
              </a:rPr>
              <a:t>, </a:t>
            </a:r>
            <a:r>
              <a:rPr lang="zh-CN" altLang="en-US" sz="2000" dirty="0">
                <a:ea typeface="宋体" panose="02010600030101010101" pitchFamily="2" charset="-122"/>
              </a:rPr>
              <a:t>那么</a:t>
            </a:r>
            <a:r>
              <a:rPr lang="en-US" altLang="zh-CN" sz="2000" dirty="0">
                <a:ea typeface="宋体" panose="02010600030101010101" pitchFamily="2" charset="-122"/>
              </a:rPr>
              <a:t>B</a:t>
            </a:r>
            <a:r>
              <a:rPr lang="zh-CN" altLang="en-US" sz="2000" dirty="0">
                <a:ea typeface="宋体" panose="02010600030101010101" pitchFamily="2" charset="-122"/>
              </a:rPr>
              <a:t>返回拒绝消息给</a:t>
            </a:r>
            <a:r>
              <a:rPr lang="en-US" altLang="zh-CN" sz="2000" dirty="0">
                <a:ea typeface="宋体" panose="02010600030101010101" pitchFamily="2" charset="-122"/>
              </a:rPr>
              <a:t>A</a:t>
            </a:r>
            <a:r>
              <a:rPr lang="zh-CN" altLang="en-US" sz="2000" dirty="0">
                <a:ea typeface="宋体" panose="02010600030101010101" pitchFamily="2" charset="-122"/>
              </a:rPr>
              <a:t>，</a:t>
            </a:r>
            <a:r>
              <a:rPr lang="en-US" altLang="zh-CN" sz="2000" dirty="0">
                <a:ea typeface="宋体" panose="02010600030101010101" pitchFamily="2" charset="-122"/>
              </a:rPr>
              <a:t>A</a:t>
            </a:r>
            <a:r>
              <a:rPr lang="zh-CN" altLang="en-US" sz="2000" dirty="0">
                <a:ea typeface="宋体" panose="02010600030101010101" pitchFamily="2" charset="-122"/>
              </a:rPr>
              <a:t>再追加一笔补偿交易</a:t>
            </a:r>
            <a:r>
              <a:rPr lang="en-US" altLang="zh-CN" sz="2000" dirty="0">
                <a:ea typeface="宋体" panose="02010600030101010101" pitchFamily="2" charset="-122"/>
              </a:rPr>
              <a:t>, </a:t>
            </a:r>
            <a:r>
              <a:rPr lang="zh-CN" altLang="en-US" sz="2000" dirty="0">
                <a:ea typeface="宋体" panose="02010600030101010101" pitchFamily="2" charset="-122"/>
              </a:rPr>
              <a:t>把刚才扣掉的钱补偿回来。整个过程可能是几秒、几分</a:t>
            </a:r>
            <a:r>
              <a:rPr lang="en-US" altLang="zh-CN" sz="2000" dirty="0">
                <a:ea typeface="宋体" panose="02010600030101010101" pitchFamily="2" charset="-122"/>
              </a:rPr>
              <a:t>, </a:t>
            </a:r>
            <a:r>
              <a:rPr lang="zh-CN" altLang="en-US" sz="2000" dirty="0">
                <a:ea typeface="宋体" panose="02010600030101010101" pitchFamily="2" charset="-122"/>
              </a:rPr>
              <a:t>或是几天。任何环节发生故障</a:t>
            </a:r>
            <a:r>
              <a:rPr lang="en-US" altLang="zh-CN" sz="2000" dirty="0">
                <a:ea typeface="宋体" panose="02010600030101010101" pitchFamily="2" charset="-122"/>
              </a:rPr>
              <a:t>(</a:t>
            </a:r>
            <a:r>
              <a:rPr lang="zh-CN" altLang="en-US" sz="2000" dirty="0">
                <a:ea typeface="宋体" panose="02010600030101010101" pitchFamily="2" charset="-122"/>
              </a:rPr>
              <a:t>比如网络故障</a:t>
            </a:r>
            <a:r>
              <a:rPr lang="en-US" altLang="zh-CN" sz="2000" dirty="0">
                <a:ea typeface="宋体" panose="02010600030101010101" pitchFamily="2" charset="-122"/>
              </a:rPr>
              <a:t>, </a:t>
            </a:r>
            <a:r>
              <a:rPr lang="zh-CN" altLang="en-US" sz="2000" dirty="0">
                <a:ea typeface="宋体" panose="02010600030101010101" pitchFamily="2" charset="-122"/>
              </a:rPr>
              <a:t>重试多次后放弃</a:t>
            </a:r>
            <a:r>
              <a:rPr lang="en-US" altLang="zh-CN" sz="2000" dirty="0">
                <a:ea typeface="宋体" panose="02010600030101010101" pitchFamily="2" charset="-122"/>
              </a:rPr>
              <a:t>, </a:t>
            </a:r>
            <a:r>
              <a:rPr lang="zh-CN" altLang="en-US" sz="2000" dirty="0">
                <a:ea typeface="宋体" panose="02010600030101010101" pitchFamily="2" charset="-122"/>
              </a:rPr>
              <a:t>对账时发现</a:t>
            </a:r>
            <a:r>
              <a:rPr lang="en-US" altLang="zh-CN" sz="2000" dirty="0">
                <a:ea typeface="宋体" panose="02010600030101010101" pitchFamily="2" charset="-122"/>
              </a:rPr>
              <a:t>), </a:t>
            </a:r>
            <a:r>
              <a:rPr lang="zh-CN" altLang="en-US" sz="2000" dirty="0">
                <a:ea typeface="宋体" panose="02010600030101010101" pitchFamily="2" charset="-122"/>
              </a:rPr>
              <a:t>用户都会经历一定时间的不一致</a:t>
            </a:r>
            <a:r>
              <a:rPr lang="en-US" altLang="zh-CN" sz="2000" dirty="0">
                <a:ea typeface="宋体" panose="02010600030101010101" pitchFamily="2" charset="-122"/>
              </a:rPr>
              <a:t>, 2PC</a:t>
            </a:r>
            <a:r>
              <a:rPr lang="zh-CN" altLang="en-US" sz="2000" dirty="0">
                <a:ea typeface="宋体" panose="02010600030101010101" pitchFamily="2" charset="-122"/>
              </a:rPr>
              <a:t>也无法消除不一致的时间窗口</a:t>
            </a:r>
            <a:r>
              <a:rPr lang="en-US" altLang="zh-CN" sz="2000" dirty="0">
                <a:ea typeface="宋体" panose="02010600030101010101" pitchFamily="2" charset="-122"/>
              </a:rPr>
              <a:t>, </a:t>
            </a:r>
            <a:r>
              <a:rPr lang="zh-CN" altLang="en-US" sz="2000" dirty="0">
                <a:ea typeface="宋体" panose="02010600030101010101" pitchFamily="2" charset="-122"/>
              </a:rPr>
              <a:t>最后通过历史记录自动补偿或每日对账去补偿让达到新一致</a:t>
            </a:r>
            <a:r>
              <a:rPr lang="en-US" altLang="zh-CN" sz="2000" dirty="0">
                <a:ea typeface="宋体" panose="02010600030101010101" pitchFamily="2" charset="-122"/>
              </a:rPr>
              <a:t>. </a:t>
            </a:r>
          </a:p>
          <a:p>
            <a:pPr algn="l">
              <a:lnSpc>
                <a:spcPct val="150000"/>
              </a:lnSpc>
            </a:pPr>
            <a:r>
              <a:rPr lang="zh-CN" altLang="en-US" sz="2000" dirty="0">
                <a:ea typeface="宋体" panose="02010600030101010101" pitchFamily="2" charset="-122"/>
              </a:rPr>
              <a:t>这种事务可以很好地忍耐各种故障</a:t>
            </a:r>
            <a:r>
              <a:rPr lang="en-US" altLang="zh-CN" sz="2000" dirty="0">
                <a:ea typeface="宋体" panose="02010600030101010101" pitchFamily="2" charset="-122"/>
              </a:rPr>
              <a:t>, </a:t>
            </a:r>
            <a:r>
              <a:rPr lang="zh-CN" altLang="en-US" sz="2000" dirty="0">
                <a:ea typeface="宋体" panose="02010600030101010101" pitchFamily="2" charset="-122"/>
              </a:rPr>
              <a:t>包括网络分区</a:t>
            </a:r>
            <a:r>
              <a:rPr lang="en-US" altLang="zh-CN" sz="2000" dirty="0">
                <a:ea typeface="宋体" panose="02010600030101010101" pitchFamily="2" charset="-122"/>
              </a:rPr>
              <a:t>, </a:t>
            </a:r>
            <a:r>
              <a:rPr lang="zh-CN" altLang="en-US" sz="2000" dirty="0">
                <a:ea typeface="宋体" panose="02010600030101010101" pitchFamily="2" charset="-122"/>
              </a:rPr>
              <a:t>只要每个消息都有全局唯一的</a:t>
            </a:r>
            <a:r>
              <a:rPr lang="en-US" altLang="zh-CN" sz="2000" dirty="0">
                <a:ea typeface="宋体" panose="02010600030101010101" pitchFamily="2" charset="-122"/>
              </a:rPr>
              <a:t>id.</a:t>
            </a:r>
          </a:p>
          <a:p>
            <a:pPr algn="l">
              <a:lnSpc>
                <a:spcPct val="150000"/>
              </a:lnSpc>
              <a:buNone/>
            </a:pPr>
            <a:endParaRPr lang="en-US" altLang="zh-CN" sz="2000" dirty="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p:cNvSpPr>
          <p:nvPr>
            <p:ph type="title"/>
          </p:nvPr>
        </p:nvSpPr>
        <p:spPr>
          <a:xfrm>
            <a:off x="0" y="0"/>
            <a:ext cx="9144000" cy="893763"/>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16739" name="Rectangle 3"/>
          <p:cNvSpPr>
            <a:spLocks noGrp="1"/>
          </p:cNvSpPr>
          <p:nvPr>
            <p:ph idx="1"/>
          </p:nvPr>
        </p:nvSpPr>
        <p:spPr>
          <a:xfrm>
            <a:off x="581025" y="1108075"/>
            <a:ext cx="8186738" cy="3344863"/>
          </a:xfrm>
          <a:ln/>
        </p:spPr>
        <p:txBody>
          <a:bodyPr vert="horz" wrap="square" lIns="91440" tIns="45720" rIns="91440" bIns="45720" anchor="t" anchorCtr="0"/>
          <a:lstStyle/>
          <a:p>
            <a:pPr algn="l">
              <a:lnSpc>
                <a:spcPct val="150000"/>
              </a:lnSpc>
            </a:pPr>
            <a:r>
              <a:rPr lang="zh-CN" altLang="en-US" sz="2400" b="1" dirty="0">
                <a:ea typeface="宋体" panose="02010600030101010101" pitchFamily="2" charset="-122"/>
              </a:rPr>
              <a:t>数据复制模型：</a:t>
            </a:r>
            <a:endParaRPr lang="en-US" altLang="zh-CN" sz="2400" b="1" dirty="0">
              <a:ea typeface="宋体" panose="02010600030101010101" pitchFamily="2" charset="-122"/>
            </a:endParaRPr>
          </a:p>
          <a:p>
            <a:pPr lvl="2">
              <a:lnSpc>
                <a:spcPct val="150000"/>
              </a:lnSpc>
              <a:buFont typeface="Wingdings" panose="05000000000000000000" pitchFamily="2" charset="2"/>
              <a:buChar char="u"/>
            </a:pPr>
            <a:r>
              <a:rPr lang="zh-CN" altLang="zh-CN" b="1" dirty="0">
                <a:ea typeface="宋体" panose="02010600030101010101" pitchFamily="2" charset="-122"/>
              </a:rPr>
              <a:t>事务复制</a:t>
            </a:r>
            <a:r>
              <a:rPr lang="en-US" altLang="zh-CN" b="1" dirty="0">
                <a:ea typeface="宋体" panose="02010600030101010101" pitchFamily="2" charset="-122"/>
              </a:rPr>
              <a:t>(Transactional Replication);</a:t>
            </a:r>
          </a:p>
          <a:p>
            <a:pPr lvl="2">
              <a:lnSpc>
                <a:spcPct val="150000"/>
              </a:lnSpc>
              <a:buFont typeface="Wingdings" panose="05000000000000000000" pitchFamily="2" charset="2"/>
              <a:buChar char="u"/>
            </a:pPr>
            <a:r>
              <a:rPr lang="zh-CN" altLang="zh-CN" b="1" dirty="0">
                <a:ea typeface="宋体" panose="02010600030101010101" pitchFamily="2" charset="-122"/>
              </a:rPr>
              <a:t>状态机</a:t>
            </a:r>
            <a:r>
              <a:rPr lang="en-US" altLang="zh-CN" b="1" dirty="0">
                <a:ea typeface="宋体" panose="02010600030101010101" pitchFamily="2" charset="-122"/>
              </a:rPr>
              <a:t>/Paxos;</a:t>
            </a:r>
          </a:p>
          <a:p>
            <a:pPr lvl="2">
              <a:lnSpc>
                <a:spcPct val="150000"/>
              </a:lnSpc>
              <a:buFont typeface="Wingdings" panose="05000000000000000000" pitchFamily="2" charset="2"/>
              <a:buChar char="u"/>
            </a:pPr>
            <a:r>
              <a:rPr lang="zh-CN" altLang="en-US" b="1" dirty="0">
                <a:ea typeface="宋体" panose="02010600030101010101" pitchFamily="2" charset="-122"/>
              </a:rPr>
              <a:t>虚拟</a:t>
            </a:r>
            <a:r>
              <a:rPr lang="zh-CN" altLang="zh-CN" b="1" dirty="0">
                <a:ea typeface="宋体" panose="02010600030101010101" pitchFamily="2" charset="-122"/>
              </a:rPr>
              <a:t>同步</a:t>
            </a:r>
            <a:r>
              <a:rPr lang="zh-CN" altLang="en-US" b="1" dirty="0">
                <a:ea typeface="宋体" panose="02010600030101010101" pitchFamily="2" charset="-122"/>
              </a:rPr>
              <a:t>（</a:t>
            </a:r>
            <a:r>
              <a:rPr lang="en-US" altLang="zh-CN" b="1" dirty="0">
                <a:ea typeface="宋体" panose="02010600030101010101" pitchFamily="2" charset="-122"/>
              </a:rPr>
              <a:t>Virtual Synchrony</a:t>
            </a:r>
            <a:r>
              <a:rPr lang="zh-CN" altLang="en-US" b="1" dirty="0">
                <a:ea typeface="宋体" panose="02010600030101010101" pitchFamily="2" charset="-122"/>
              </a:rPr>
              <a:t>）</a:t>
            </a:r>
            <a:r>
              <a:rPr lang="en-US" altLang="zh-CN" b="1" dirty="0">
                <a:ea typeface="宋体" panose="02010600030101010101" pitchFamily="2" charset="-122"/>
              </a:rPr>
              <a:t> </a:t>
            </a:r>
            <a:r>
              <a:rPr lang="zh-CN" altLang="en-US" b="1" dirty="0">
                <a:ea typeface="宋体" panose="02010600030101010101" pitchFamily="2" charset="-122"/>
              </a:rPr>
              <a:t>；</a:t>
            </a:r>
            <a:endParaRPr lang="en-US" altLang="zh-CN" b="1" dirty="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p:cNvSpPr>
          <p:nvPr>
            <p:ph type="title"/>
          </p:nvPr>
        </p:nvSpPr>
        <p:spPr>
          <a:xfrm>
            <a:off x="0" y="0"/>
            <a:ext cx="9144000" cy="742950"/>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17763" name="Rectangle 3"/>
          <p:cNvSpPr>
            <a:spLocks noGrp="1"/>
          </p:cNvSpPr>
          <p:nvPr>
            <p:ph idx="1"/>
          </p:nvPr>
        </p:nvSpPr>
        <p:spPr>
          <a:xfrm>
            <a:off x="180975" y="1089025"/>
            <a:ext cx="8782050" cy="5078413"/>
          </a:xfrm>
          <a:ln/>
        </p:spPr>
        <p:txBody>
          <a:bodyPr vert="horz" wrap="square" lIns="91440" tIns="45720" rIns="91440" bIns="45720" anchor="t" anchorCtr="0"/>
          <a:lstStyle/>
          <a:p>
            <a:pPr algn="l">
              <a:lnSpc>
                <a:spcPct val="150000"/>
              </a:lnSpc>
              <a:buFont typeface="Wingdings" panose="05000000000000000000" pitchFamily="2" charset="2"/>
              <a:buChar char="u"/>
            </a:pPr>
            <a:r>
              <a:rPr lang="zh-CN" altLang="zh-CN" sz="2000" b="1" dirty="0">
                <a:solidFill>
                  <a:srgbClr val="FF0000"/>
                </a:solidFill>
                <a:ea typeface="宋体" panose="02010600030101010101" pitchFamily="2" charset="-122"/>
              </a:rPr>
              <a:t>事务复制</a:t>
            </a:r>
            <a:r>
              <a:rPr lang="zh-CN" altLang="en-US" sz="2000" b="1" dirty="0">
                <a:ea typeface="宋体" panose="02010600030101010101" pitchFamily="2" charset="-122"/>
              </a:rPr>
              <a:t>：将发布服务器数据库中的初始快照发送到各订阅服务器，然后监控发布服务器数据库中数据发生的变化，捕获数据变化的事务并将变化的数据发送到订阅服务器，网络连接必须可靠。 </a:t>
            </a:r>
            <a:endParaRPr lang="en-US" altLang="zh-CN" sz="2000" b="1" dirty="0">
              <a:ea typeface="宋体" panose="02010600030101010101" pitchFamily="2" charset="-122"/>
            </a:endParaRPr>
          </a:p>
          <a:p>
            <a:pPr algn="l">
              <a:lnSpc>
                <a:spcPct val="150000"/>
              </a:lnSpc>
              <a:buFont typeface="Wingdings" panose="05000000000000000000" pitchFamily="2" charset="2"/>
              <a:buChar char="u"/>
            </a:pPr>
            <a:r>
              <a:rPr lang="zh-CN" altLang="zh-CN" sz="2000" b="1" dirty="0">
                <a:solidFill>
                  <a:srgbClr val="FF0000"/>
                </a:solidFill>
                <a:ea typeface="宋体" panose="02010600030101010101" pitchFamily="2" charset="-122"/>
              </a:rPr>
              <a:t>状态机</a:t>
            </a:r>
            <a:r>
              <a:rPr lang="en-US" altLang="zh-CN" sz="2000" b="1" dirty="0">
                <a:solidFill>
                  <a:srgbClr val="FF0000"/>
                </a:solidFill>
                <a:ea typeface="宋体" panose="02010600030101010101" pitchFamily="2" charset="-122"/>
              </a:rPr>
              <a:t>/Paxos</a:t>
            </a:r>
            <a:r>
              <a:rPr lang="zh-CN" altLang="en-US" sz="2000" b="1" dirty="0">
                <a:solidFill>
                  <a:srgbClr val="FF0000"/>
                </a:solidFill>
                <a:ea typeface="宋体" panose="02010600030101010101" pitchFamily="2" charset="-122"/>
              </a:rPr>
              <a:t> </a:t>
            </a:r>
            <a:r>
              <a:rPr lang="zh-CN" altLang="en-US" sz="2000" b="1" dirty="0">
                <a:ea typeface="宋体" panose="02010600030101010101" pitchFamily="2" charset="-122"/>
              </a:rPr>
              <a:t>就某个值</a:t>
            </a:r>
            <a:r>
              <a:rPr lang="en-US" altLang="zh-CN" sz="2000" b="1" dirty="0">
                <a:ea typeface="宋体" panose="02010600030101010101" pitchFamily="2" charset="-122"/>
              </a:rPr>
              <a:t>(</a:t>
            </a:r>
            <a:r>
              <a:rPr lang="zh-CN" altLang="en-US" sz="2000" b="1" dirty="0">
                <a:ea typeface="宋体" panose="02010600030101010101" pitchFamily="2" charset="-122"/>
              </a:rPr>
              <a:t>决议</a:t>
            </a:r>
            <a:r>
              <a:rPr lang="en-US" altLang="zh-CN" sz="2000" b="1" dirty="0">
                <a:ea typeface="宋体" panose="02010600030101010101" pitchFamily="2" charset="-122"/>
              </a:rPr>
              <a:t>)</a:t>
            </a:r>
            <a:r>
              <a:rPr lang="zh-CN" altLang="en-US" sz="2000" b="1" dirty="0">
                <a:ea typeface="宋体" panose="02010600030101010101" pitchFamily="2" charset="-122"/>
              </a:rPr>
              <a:t>达成一致：如果各节点的初始状态一致，每个节点都执行相同的操作序列，那么他们最后能得到一个一致的状态。服务器组中每一个都是独立执行的状态机。</a:t>
            </a:r>
            <a:endParaRPr lang="en-US" altLang="zh-CN" sz="2000" b="1" dirty="0">
              <a:ea typeface="宋体" panose="02010600030101010101" pitchFamily="2" charset="-122"/>
            </a:endParaRPr>
          </a:p>
          <a:p>
            <a:pPr algn="l">
              <a:lnSpc>
                <a:spcPct val="150000"/>
              </a:lnSpc>
              <a:buFont typeface="Wingdings" panose="05000000000000000000" pitchFamily="2" charset="2"/>
              <a:buChar char="u"/>
            </a:pPr>
            <a:r>
              <a:rPr lang="en-US" altLang="zh-CN" sz="2000" b="1" dirty="0">
                <a:ea typeface="宋体" panose="02010600030101010101" pitchFamily="2" charset="-122"/>
              </a:rPr>
              <a:t>Google</a:t>
            </a:r>
            <a:r>
              <a:rPr lang="zh-CN" altLang="en-US" sz="2000" b="1" dirty="0">
                <a:ea typeface="宋体" panose="02010600030101010101" pitchFamily="2" charset="-122"/>
              </a:rPr>
              <a:t>的</a:t>
            </a:r>
            <a:r>
              <a:rPr lang="en-US" altLang="zh-CN" sz="2000" b="1" dirty="0">
                <a:ea typeface="宋体" panose="02010600030101010101" pitchFamily="2" charset="-122"/>
              </a:rPr>
              <a:t>Chubby</a:t>
            </a:r>
            <a:r>
              <a:rPr lang="zh-CN" altLang="en-US" sz="2000" b="1" dirty="0">
                <a:ea typeface="宋体" panose="02010600030101010101" pitchFamily="2" charset="-122"/>
              </a:rPr>
              <a:t>提供粗粒度锁确保松耦合分布式文件中数据操作的一致性。</a:t>
            </a:r>
            <a:r>
              <a:rPr lang="en-US" altLang="zh-CN" sz="2000" b="1" dirty="0">
                <a:ea typeface="宋体" panose="02010600030101010101" pitchFamily="2" charset="-122"/>
              </a:rPr>
              <a:t>Chubby</a:t>
            </a:r>
            <a:r>
              <a:rPr lang="zh-CN" altLang="en-US" sz="2000" b="1" dirty="0">
                <a:ea typeface="宋体" panose="02010600030101010101" pitchFamily="2" charset="-122"/>
              </a:rPr>
              <a:t>使用</a:t>
            </a:r>
            <a:r>
              <a:rPr lang="en-US" altLang="zh-CN" sz="2000" b="1" dirty="0">
                <a:ea typeface="宋体" panose="02010600030101010101" pitchFamily="2" charset="-122"/>
              </a:rPr>
              <a:t>Paxos</a:t>
            </a:r>
            <a:r>
              <a:rPr lang="zh-CN" altLang="en-US" sz="2000" b="1" dirty="0">
                <a:ea typeface="宋体" panose="02010600030101010101" pitchFamily="2" charset="-122"/>
              </a:rPr>
              <a:t>算法选取一个</a:t>
            </a:r>
            <a:r>
              <a:rPr lang="en-US" altLang="zh-CN" sz="2000" b="1" dirty="0">
                <a:ea typeface="宋体" panose="02010600030101010101" pitchFamily="2" charset="-122"/>
              </a:rPr>
              <a:t>GFS</a:t>
            </a:r>
            <a:r>
              <a:rPr lang="zh-CN" altLang="en-US" sz="2000" b="1" dirty="0">
                <a:ea typeface="宋体" panose="02010600030101010101" pitchFamily="2" charset="-122"/>
              </a:rPr>
              <a:t>主服务器，并发现、控制与其相关的子表服务器。所有读写操作都是由主服务器来完成的：读操作简单，客户直接从主服务器上读取所需数据即可；写操作能够同步到所有的服务器上，利用</a:t>
            </a:r>
            <a:r>
              <a:rPr lang="en-US" altLang="zh-CN" sz="2000" b="1" dirty="0">
                <a:ea typeface="宋体" panose="02010600030101010101" pitchFamily="2" charset="-122"/>
              </a:rPr>
              <a:t>Paxos</a:t>
            </a:r>
            <a:r>
              <a:rPr lang="zh-CN" altLang="en-US" sz="2000" b="1" dirty="0">
                <a:ea typeface="宋体" panose="02010600030101010101" pitchFamily="2" charset="-122"/>
              </a:rPr>
              <a:t>算法达到一致性。</a:t>
            </a:r>
          </a:p>
          <a:p>
            <a:pPr algn="l">
              <a:lnSpc>
                <a:spcPct val="150000"/>
              </a:lnSpc>
              <a:buChar char="•"/>
            </a:pPr>
            <a:endParaRPr lang="en-US" altLang="zh-CN" sz="2000" b="1" dirty="0">
              <a:ea typeface="宋体" panose="02010600030101010101" pitchFamily="2" charset="-122"/>
            </a:endParaRPr>
          </a:p>
          <a:p>
            <a:pPr algn="l">
              <a:lnSpc>
                <a:spcPct val="150000"/>
              </a:lnSpc>
              <a:buChar char="•"/>
            </a:pPr>
            <a:endParaRPr lang="en-US" altLang="zh-CN" sz="2000" b="1" dirty="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a:xfrm>
            <a:off x="0" y="0"/>
            <a:ext cx="9144000" cy="623888"/>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18787" name="Rectangle 3"/>
          <p:cNvSpPr>
            <a:spLocks noGrp="1"/>
          </p:cNvSpPr>
          <p:nvPr>
            <p:ph idx="1"/>
          </p:nvPr>
        </p:nvSpPr>
        <p:spPr>
          <a:xfrm>
            <a:off x="119063" y="642938"/>
            <a:ext cx="8905875" cy="1933575"/>
          </a:xfrm>
          <a:ln/>
        </p:spPr>
        <p:txBody>
          <a:bodyPr vert="horz" wrap="square" lIns="91440" tIns="45720" rIns="91440" bIns="45720" anchor="t" anchorCtr="0"/>
          <a:lstStyle/>
          <a:p>
            <a:pPr algn="l">
              <a:lnSpc>
                <a:spcPct val="150000"/>
              </a:lnSpc>
              <a:buFont typeface="Wingdings" panose="05000000000000000000" pitchFamily="2" charset="2"/>
              <a:buChar char="u"/>
            </a:pPr>
            <a:r>
              <a:rPr lang="zh-CN" altLang="zh-CN" sz="2000" b="1" dirty="0">
                <a:solidFill>
                  <a:srgbClr val="FF0000"/>
                </a:solidFill>
                <a:ea typeface="宋体" panose="02010600030101010101" pitchFamily="2" charset="-122"/>
              </a:rPr>
              <a:t>虚拟同步</a:t>
            </a:r>
            <a:r>
              <a:rPr lang="zh-CN" altLang="en-US" sz="2000" b="1" dirty="0">
                <a:ea typeface="宋体" panose="02010600030101010101" pitchFamily="2" charset="-122"/>
              </a:rPr>
              <a:t>引入进程组概念，为保持一致，需保证发生在</a:t>
            </a:r>
            <a:r>
              <a:rPr lang="zh-CN" altLang="en-US" sz="2000" b="1" dirty="0">
                <a:solidFill>
                  <a:srgbClr val="FF0000"/>
                </a:solidFill>
                <a:ea typeface="宋体" panose="02010600030101010101" pitchFamily="2" charset="-122"/>
              </a:rPr>
              <a:t>每个副本上事件的顺序都相同</a:t>
            </a:r>
            <a:r>
              <a:rPr lang="zh-CN" altLang="en-US" sz="2000" b="1" dirty="0">
                <a:ea typeface="宋体" panose="02010600030101010101" pitchFamily="2" charset="-122"/>
              </a:rPr>
              <a:t>。对全局事件进行</a:t>
            </a:r>
            <a:r>
              <a:rPr lang="en-US" altLang="zh-CN" sz="2000" b="1" dirty="0">
                <a:ea typeface="宋体" panose="02010600030101010101" pitchFamily="2" charset="-122"/>
              </a:rPr>
              <a:t>ordering</a:t>
            </a:r>
            <a:r>
              <a:rPr lang="zh-CN" altLang="en-US" sz="2000" b="1" dirty="0">
                <a:ea typeface="宋体" panose="02010600030101010101" pitchFamily="2" charset="-122"/>
              </a:rPr>
              <a:t>，实现可靠多播，支持动态的组成员管理。保证应用看到的数据一致，不同应用看到的数据暂时不一致，最终得到完全一致的结果，性能最好。</a:t>
            </a:r>
            <a:endParaRPr lang="en-US" altLang="zh-CN" sz="2000" b="1" dirty="0">
              <a:ea typeface="宋体" panose="02010600030101010101" pitchFamily="2" charset="-122"/>
            </a:endParaRPr>
          </a:p>
        </p:txBody>
      </p:sp>
      <p:pic>
        <p:nvPicPr>
          <p:cNvPr id="118788" name="图片 3" descr="虚同步.jpg"/>
          <p:cNvPicPr>
            <a:picLocks noChangeAspect="1"/>
          </p:cNvPicPr>
          <p:nvPr/>
        </p:nvPicPr>
        <p:blipFill>
          <a:blip r:embed="rId2"/>
          <a:stretch>
            <a:fillRect/>
          </a:stretch>
        </p:blipFill>
        <p:spPr>
          <a:xfrm>
            <a:off x="1695450" y="2505075"/>
            <a:ext cx="5753100" cy="2414588"/>
          </a:xfrm>
          <a:prstGeom prst="rect">
            <a:avLst/>
          </a:prstGeom>
          <a:noFill/>
          <a:ln w="9525">
            <a:noFill/>
          </a:ln>
        </p:spPr>
      </p:pic>
      <p:sp>
        <p:nvSpPr>
          <p:cNvPr id="118789" name="矩形 1"/>
          <p:cNvSpPr/>
          <p:nvPr/>
        </p:nvSpPr>
        <p:spPr>
          <a:xfrm>
            <a:off x="119063" y="4832350"/>
            <a:ext cx="8905875" cy="19383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Font typeface="Wingdings" panose="05000000000000000000" pitchFamily="2" charset="2"/>
              <a:buChar char="u"/>
            </a:pPr>
            <a:r>
              <a:rPr lang="zh-CN" altLang="en-US" sz="2000" b="1" dirty="0">
                <a:ea typeface="宋体" panose="02010600030101010101" pitchFamily="2" charset="-122"/>
              </a:rPr>
              <a:t>实际应用：纽约证交所、瑞士证交所、法国空管系统、美国海军</a:t>
            </a:r>
            <a:r>
              <a:rPr lang="en-US" altLang="zh-CN" sz="2000" b="1" dirty="0">
                <a:ea typeface="宋体" panose="02010600030101010101" pitchFamily="2" charset="-122"/>
              </a:rPr>
              <a:t>AEGIS</a:t>
            </a:r>
            <a:r>
              <a:rPr lang="zh-CN" altLang="en-US" sz="2000" b="1" dirty="0">
                <a:ea typeface="宋体" panose="02010600030101010101" pitchFamily="2" charset="-122"/>
              </a:rPr>
              <a:t>系统、电信提供系统、电力和天然气的输送网络管理系统，以及各种金融类的应用程序等。法国控管系统已经推广到欧洲的许多地方，几乎没有出现问题。纽约证交所的证券交易系统保持十多年的无故障运行。</a:t>
            </a:r>
            <a:endParaRPr lang="en-US" altLang="zh-CN" sz="2000" b="1" dirty="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idx="1"/>
          </p:nvPr>
        </p:nvSpPr>
        <p:spPr>
          <a:xfrm>
            <a:off x="0" y="631825"/>
            <a:ext cx="9144000" cy="2019300"/>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Two-Phase Commit</a:t>
            </a:r>
            <a:r>
              <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与</a:t>
            </a:r>
            <a:r>
              <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CAP:</a:t>
            </a: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2PC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强调</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而牺牲了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。在数据复制中性能较低。如果第一阶段协调者收到参与者回复就绪后挂掉，参与者锁定相关资源等待下一步的提交从而一直阻塞。</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3PC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增加了一次询问，只能减少故障的概率，并不能真正解决</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，降低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满足</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19811" name="Rectangle 2"/>
          <p:cNvSpPr>
            <a:spLocks noGrp="1"/>
          </p:cNvSpPr>
          <p:nvPr>
            <p:ph type="title"/>
          </p:nvPr>
        </p:nvSpPr>
        <p:spPr>
          <a:xfrm>
            <a:off x="0" y="0"/>
            <a:ext cx="9144000" cy="631825"/>
          </a:xfrm>
          <a:ln/>
        </p:spPr>
        <p:txBody>
          <a:bodyPr vert="horz" wrap="square" lIns="91440" tIns="45720" rIns="91440" bIns="45720" anchor="ctr" anchorCtr="0"/>
          <a:lstStyle/>
          <a:p>
            <a:pPr eaLnBrk="1" hangingPunct="1"/>
            <a:r>
              <a:rPr lang="zh-CN" altLang="en-US" sz="4000" dirty="0">
                <a:ea typeface="宋体" panose="02010600030101010101" pitchFamily="2" charset="-122"/>
              </a:rPr>
              <a:t>补充说明（续）</a:t>
            </a:r>
            <a:endParaRPr lang="en-US" altLang="zh-CN" sz="4000" dirty="0">
              <a:ea typeface="宋体" panose="02010600030101010101" pitchFamily="2" charset="-122"/>
            </a:endParaRPr>
          </a:p>
        </p:txBody>
      </p:sp>
      <p:sp>
        <p:nvSpPr>
          <p:cNvPr id="119812" name="Rectangle 3"/>
          <p:cNvSpPr txBox="1"/>
          <p:nvPr/>
        </p:nvSpPr>
        <p:spPr>
          <a:xfrm>
            <a:off x="0" y="2549525"/>
            <a:ext cx="9069388" cy="2030413"/>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a:lnSpc>
                <a:spcPct val="150000"/>
              </a:lnSpc>
              <a:buFont typeface="Wingdings" panose="05000000000000000000" pitchFamily="2" charset="2"/>
              <a:buChar char="u"/>
            </a:pPr>
            <a:r>
              <a:rPr lang="en-US" altLang="zh-CN" sz="2000" b="1" dirty="0">
                <a:solidFill>
                  <a:srgbClr val="FF0000"/>
                </a:solidFill>
                <a:ea typeface="宋体" panose="02010600030101010101" pitchFamily="2" charset="-122"/>
              </a:rPr>
              <a:t>Paxos</a:t>
            </a:r>
            <a:r>
              <a:rPr lang="zh-CN" altLang="zh-CN" sz="2000" b="1" dirty="0">
                <a:solidFill>
                  <a:srgbClr val="FF0000"/>
                </a:solidFill>
                <a:ea typeface="宋体" panose="02010600030101010101" pitchFamily="2" charset="-122"/>
              </a:rPr>
              <a:t>和</a:t>
            </a:r>
            <a:r>
              <a:rPr lang="en-US" altLang="zh-CN" sz="2000" b="1" dirty="0">
                <a:solidFill>
                  <a:srgbClr val="FF0000"/>
                </a:solidFill>
                <a:ea typeface="宋体" panose="02010600030101010101" pitchFamily="2" charset="-122"/>
              </a:rPr>
              <a:t>CAP</a:t>
            </a:r>
            <a:r>
              <a:rPr lang="zh-CN" altLang="en-US" sz="2000" b="1" dirty="0">
                <a:solidFill>
                  <a:srgbClr val="FF0000"/>
                </a:solidFill>
                <a:ea typeface="宋体" panose="02010600030101010101" pitchFamily="2" charset="-122"/>
              </a:rPr>
              <a:t>：</a:t>
            </a:r>
            <a:br>
              <a:rPr lang="en-US" altLang="zh-CN" sz="2000" b="1" dirty="0">
                <a:latin typeface="宋体" panose="02010600030101010101" pitchFamily="2" charset="-122"/>
                <a:ea typeface="宋体" panose="02010600030101010101" pitchFamily="2" charset="-122"/>
              </a:rPr>
            </a:br>
            <a:r>
              <a:rPr lang="en-US" altLang="zh-CN" sz="2000" b="1" dirty="0">
                <a:ea typeface="宋体" panose="02010600030101010101" pitchFamily="2" charset="-122"/>
              </a:rPr>
              <a:t>Paxos</a:t>
            </a:r>
            <a:r>
              <a:rPr lang="zh-CN" altLang="zh-CN" sz="2000" b="1" dirty="0">
                <a:ea typeface="宋体" panose="02010600030101010101" pitchFamily="2" charset="-122"/>
              </a:rPr>
              <a:t>是一种基于</a:t>
            </a:r>
            <a:r>
              <a:rPr lang="zh-CN" altLang="en-US" sz="2000" b="1" dirty="0">
                <a:ea typeface="宋体" panose="02010600030101010101" pitchFamily="2" charset="-122"/>
              </a:rPr>
              <a:t>组</a:t>
            </a:r>
            <a:r>
              <a:rPr lang="zh-CN" altLang="zh-CN" sz="2000" b="1" dirty="0">
                <a:ea typeface="宋体" panose="02010600030101010101" pitchFamily="2" charset="-122"/>
              </a:rPr>
              <a:t>播</a:t>
            </a:r>
            <a:r>
              <a:rPr lang="en-US" altLang="zh-CN" sz="2000" b="1" dirty="0">
                <a:ea typeface="宋体" panose="02010600030101010101" pitchFamily="2" charset="-122"/>
              </a:rPr>
              <a:t>(Broadcast)</a:t>
            </a:r>
            <a:r>
              <a:rPr lang="zh-CN" altLang="zh-CN" sz="2000" b="1" dirty="0">
                <a:ea typeface="宋体" panose="02010600030101010101" pitchFamily="2" charset="-122"/>
              </a:rPr>
              <a:t>消息机制的一致性</a:t>
            </a:r>
            <a:r>
              <a:rPr lang="zh-CN" altLang="en-US" sz="2000" b="1" dirty="0">
                <a:ea typeface="宋体" panose="02010600030101010101" pitchFamily="2" charset="-122"/>
              </a:rPr>
              <a:t>算法，</a:t>
            </a:r>
            <a:r>
              <a:rPr lang="zh-CN" altLang="zh-CN" sz="2000" b="1" dirty="0">
                <a:ea typeface="宋体" panose="02010600030101010101" pitchFamily="2" charset="-122"/>
              </a:rPr>
              <a:t>要求在</a:t>
            </a:r>
            <a:r>
              <a:rPr lang="en-US" altLang="zh-CN" sz="2000" b="1" dirty="0">
                <a:ea typeface="宋体" panose="02010600030101010101" pitchFamily="2" charset="-122"/>
              </a:rPr>
              <a:t>2n+1</a:t>
            </a:r>
            <a:r>
              <a:rPr lang="zh-CN" altLang="zh-CN" sz="2000" b="1" dirty="0">
                <a:ea typeface="宋体" panose="02010600030101010101" pitchFamily="2" charset="-122"/>
              </a:rPr>
              <a:t>个结点的系统中，至少有</a:t>
            </a:r>
            <a:r>
              <a:rPr lang="en-US" altLang="zh-CN" sz="2000" b="1" dirty="0">
                <a:ea typeface="宋体" panose="02010600030101010101" pitchFamily="2" charset="-122"/>
              </a:rPr>
              <a:t>n+1</a:t>
            </a:r>
            <a:r>
              <a:rPr lang="zh-CN" altLang="zh-CN" sz="2000" b="1" dirty="0">
                <a:ea typeface="宋体" panose="02010600030101010101" pitchFamily="2" charset="-122"/>
              </a:rPr>
              <a:t>个结点</a:t>
            </a:r>
            <a:r>
              <a:rPr lang="zh-CN" altLang="en-US" sz="2000" b="1" dirty="0">
                <a:ea typeface="宋体" panose="02010600030101010101" pitchFamily="2" charset="-122"/>
              </a:rPr>
              <a:t>同意</a:t>
            </a:r>
            <a:r>
              <a:rPr lang="zh-CN" altLang="zh-CN" sz="2000" b="1" dirty="0">
                <a:ea typeface="宋体" panose="02010600030101010101" pitchFamily="2" charset="-122"/>
              </a:rPr>
              <a:t>更新才会完成一次更新，虽然与</a:t>
            </a:r>
            <a:r>
              <a:rPr lang="en-US" altLang="zh-CN" sz="2000" b="1" dirty="0">
                <a:ea typeface="宋体" panose="02010600030101010101" pitchFamily="2" charset="-122"/>
              </a:rPr>
              <a:t>2n+1</a:t>
            </a:r>
            <a:r>
              <a:rPr lang="zh-CN" altLang="zh-CN" sz="2000" b="1" dirty="0">
                <a:ea typeface="宋体" panose="02010600030101010101" pitchFamily="2" charset="-122"/>
              </a:rPr>
              <a:t>相比少了近一半，</a:t>
            </a:r>
            <a:r>
              <a:rPr lang="zh-CN" altLang="en-US" sz="2000" b="1" dirty="0">
                <a:ea typeface="宋体" panose="02010600030101010101" pitchFamily="2" charset="-122"/>
              </a:rPr>
              <a:t>它损失了</a:t>
            </a:r>
            <a:r>
              <a:rPr lang="en-US" altLang="zh-CN" sz="2000" b="1" dirty="0">
                <a:ea typeface="宋体" panose="02010600030101010101" pitchFamily="2" charset="-122"/>
              </a:rPr>
              <a:t>A</a:t>
            </a:r>
            <a:r>
              <a:rPr lang="zh-CN" altLang="zh-CN" sz="2000" b="1" dirty="0">
                <a:ea typeface="宋体" panose="02010600030101010101" pitchFamily="2" charset="-122"/>
              </a:rPr>
              <a:t>（性能和吞吐量）</a:t>
            </a:r>
            <a:r>
              <a:rPr lang="zh-CN" altLang="en-US" sz="2000" b="1" dirty="0">
                <a:ea typeface="宋体" panose="02010600030101010101" pitchFamily="2" charset="-122"/>
              </a:rPr>
              <a:t>，但保证了</a:t>
            </a:r>
            <a:r>
              <a:rPr lang="en-US" altLang="zh-CN" sz="2000" b="1" dirty="0">
                <a:ea typeface="宋体" panose="02010600030101010101" pitchFamily="2" charset="-122"/>
              </a:rPr>
              <a:t>C</a:t>
            </a:r>
            <a:r>
              <a:rPr lang="zh-CN" altLang="en-US" sz="2000" b="1" dirty="0">
                <a:ea typeface="宋体" panose="02010600030101010101" pitchFamily="2" charset="-122"/>
              </a:rPr>
              <a:t>，容错性好</a:t>
            </a:r>
            <a:r>
              <a:rPr lang="zh-CN" altLang="zh-CN" sz="2000" b="1" dirty="0">
                <a:ea typeface="宋体" panose="02010600030101010101" pitchFamily="2" charset="-122"/>
              </a:rPr>
              <a:t>。</a:t>
            </a:r>
          </a:p>
          <a:p>
            <a:pPr marL="342900" lvl="0" indent="-342900" algn="l">
              <a:lnSpc>
                <a:spcPct val="150000"/>
              </a:lnSpc>
              <a:buNone/>
            </a:pPr>
            <a:endParaRPr lang="zh-CN" altLang="en-US" sz="2000" b="1" dirty="0">
              <a:latin typeface="宋体" panose="02010600030101010101" pitchFamily="2" charset="-122"/>
              <a:ea typeface="宋体" panose="02010600030101010101" pitchFamily="2" charset="-122"/>
            </a:endParaRPr>
          </a:p>
        </p:txBody>
      </p:sp>
      <p:sp>
        <p:nvSpPr>
          <p:cNvPr id="119813" name="Rectangle 3"/>
          <p:cNvSpPr txBox="1"/>
          <p:nvPr/>
        </p:nvSpPr>
        <p:spPr>
          <a:xfrm>
            <a:off x="74613" y="4579938"/>
            <a:ext cx="8994775" cy="1973262"/>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a:lnSpc>
                <a:spcPct val="150000"/>
              </a:lnSpc>
              <a:buFont typeface="Wingdings" panose="05000000000000000000" pitchFamily="2" charset="2"/>
              <a:buChar char="u"/>
            </a:pPr>
            <a:r>
              <a:rPr lang="en-US" altLang="zh-CN" sz="2000" b="1" dirty="0">
                <a:solidFill>
                  <a:srgbClr val="FF0000"/>
                </a:solidFill>
                <a:ea typeface="宋体" panose="02010600030101010101" pitchFamily="2" charset="-122"/>
              </a:rPr>
              <a:t>Virtual Synchrony</a:t>
            </a:r>
            <a:r>
              <a:rPr lang="zh-CN" altLang="zh-CN" sz="2000" b="1" dirty="0">
                <a:solidFill>
                  <a:srgbClr val="FF0000"/>
                </a:solidFill>
                <a:ea typeface="宋体" panose="02010600030101010101" pitchFamily="2" charset="-122"/>
              </a:rPr>
              <a:t>和</a:t>
            </a:r>
            <a:r>
              <a:rPr lang="en-US" altLang="zh-CN" sz="2000" b="1" dirty="0">
                <a:solidFill>
                  <a:srgbClr val="FF0000"/>
                </a:solidFill>
                <a:ea typeface="宋体" panose="02010600030101010101" pitchFamily="2" charset="-122"/>
              </a:rPr>
              <a:t>CAP</a:t>
            </a:r>
            <a:r>
              <a:rPr lang="zh-CN" altLang="en-US" sz="2000" b="1" dirty="0">
                <a:solidFill>
                  <a:srgbClr val="FF0000"/>
                </a:solidFill>
                <a:ea typeface="宋体" panose="02010600030101010101" pitchFamily="2" charset="-122"/>
              </a:rPr>
              <a:t>：</a:t>
            </a:r>
            <a:br>
              <a:rPr lang="en-US" altLang="zh-CN" sz="2000" b="1" dirty="0">
                <a:ea typeface="宋体" panose="02010600030101010101" pitchFamily="2" charset="-122"/>
              </a:rPr>
            </a:br>
            <a:r>
              <a:rPr lang="zh-CN" altLang="en-US" sz="2000" b="1" dirty="0">
                <a:ea typeface="宋体" panose="02010600030101010101" pitchFamily="2" charset="-122"/>
              </a:rPr>
              <a:t>虚拟同步</a:t>
            </a:r>
            <a:r>
              <a:rPr lang="zh-CN" altLang="zh-CN" sz="2000" b="1" dirty="0">
                <a:ea typeface="宋体" panose="02010600030101010101" pitchFamily="2" charset="-122"/>
              </a:rPr>
              <a:t>是一种基于</a:t>
            </a:r>
            <a:r>
              <a:rPr lang="en-US" altLang="zh-CN" sz="2000" b="1" dirty="0">
                <a:ea typeface="宋体" panose="02010600030101010101" pitchFamily="2" charset="-122"/>
              </a:rPr>
              <a:t>Reliable multicast</a:t>
            </a:r>
            <a:r>
              <a:rPr lang="zh-CN" altLang="zh-CN" sz="2000" b="1" dirty="0">
                <a:ea typeface="宋体" panose="02010600030101010101" pitchFamily="2" charset="-122"/>
              </a:rPr>
              <a:t>消息机制的一致性</a:t>
            </a:r>
            <a:r>
              <a:rPr lang="zh-CN" altLang="en-US" sz="2000" b="1" dirty="0">
                <a:ea typeface="宋体" panose="02010600030101010101" pitchFamily="2" charset="-122"/>
              </a:rPr>
              <a:t>方法，支持动态组成员管理</a:t>
            </a:r>
            <a:r>
              <a:rPr lang="en-US" altLang="en-US" sz="2000" b="1" dirty="0">
                <a:ea typeface="宋体" panose="02010600030101010101" pitchFamily="2" charset="-122"/>
              </a:rPr>
              <a:t>，</a:t>
            </a:r>
            <a:r>
              <a:rPr lang="zh-CN" altLang="en-US" sz="2000" b="1" dirty="0">
                <a:ea typeface="宋体" panose="02010600030101010101" pitchFamily="2" charset="-122"/>
              </a:rPr>
              <a:t>消息可达但顺序不同，保证应用看到的数据一致，</a:t>
            </a:r>
            <a:r>
              <a:rPr lang="en-US" altLang="zh-CN" sz="2000" b="1" dirty="0">
                <a:ea typeface="宋体" panose="02010600030101010101" pitchFamily="2" charset="-122"/>
              </a:rPr>
              <a:t>A</a:t>
            </a:r>
            <a:r>
              <a:rPr lang="zh-CN" altLang="en-US" sz="2000" b="1" dirty="0">
                <a:ea typeface="宋体" panose="02010600030101010101" pitchFamily="2" charset="-122"/>
              </a:rPr>
              <a:t>最好，不同应用看到的数据不一致，容错性要弱于其它模型</a:t>
            </a:r>
            <a:r>
              <a:rPr lang="zh-CN" altLang="zh-CN" sz="2000" b="1" dirty="0">
                <a:ea typeface="宋体" panose="02010600030101010101" pitchFamily="2" charset="-122"/>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92A9F-21D4-4069-992C-08522C42325A}"/>
              </a:ext>
            </a:extLst>
          </p:cNvPr>
          <p:cNvSpPr>
            <a:spLocks noGrp="1"/>
          </p:cNvSpPr>
          <p:nvPr>
            <p:ph type="title"/>
          </p:nvPr>
        </p:nvSpPr>
        <p:spPr/>
        <p:txBody>
          <a:bodyPr/>
          <a:lstStyle/>
          <a:p>
            <a:r>
              <a:rPr lang="zh-CN" altLang="en-US" dirty="0"/>
              <a:t>习题</a:t>
            </a:r>
          </a:p>
        </p:txBody>
      </p:sp>
      <p:sp>
        <p:nvSpPr>
          <p:cNvPr id="4" name="文本框 3">
            <a:extLst>
              <a:ext uri="{FF2B5EF4-FFF2-40B4-BE49-F238E27FC236}">
                <a16:creationId xmlns:a16="http://schemas.microsoft.com/office/drawing/2014/main" id="{DE5EDBA3-690B-4C5F-B995-AC16361AC073}"/>
              </a:ext>
            </a:extLst>
          </p:cNvPr>
          <p:cNvSpPr txBox="1"/>
          <p:nvPr/>
        </p:nvSpPr>
        <p:spPr>
          <a:xfrm>
            <a:off x="600074" y="1762125"/>
            <a:ext cx="7943851" cy="2677656"/>
          </a:xfrm>
          <a:prstGeom prst="rect">
            <a:avLst/>
          </a:prstGeom>
          <a:noFill/>
        </p:spPr>
        <p:txBody>
          <a:bodyPr wrap="square" rtlCol="0">
            <a:spAutoFit/>
          </a:bodyPr>
          <a:lstStyle/>
          <a:p>
            <a:pPr marL="457200" indent="-457200">
              <a:buAutoNum type="arabicPeriod"/>
            </a:pPr>
            <a:r>
              <a:rPr lang="zh-CN" altLang="en-US" dirty="0"/>
              <a:t>在</a:t>
            </a:r>
            <a:r>
              <a:rPr lang="en-US" altLang="zh-CN" dirty="0"/>
              <a:t>PBFT</a:t>
            </a:r>
            <a:r>
              <a:rPr lang="zh-CN" altLang="en-US" dirty="0"/>
              <a:t>共识协议中，设客户端 </a:t>
            </a:r>
            <a:r>
              <a:rPr lang="en-US" altLang="zh-CN" dirty="0"/>
              <a:t>C </a:t>
            </a:r>
            <a:r>
              <a:rPr lang="zh-CN" altLang="en-US" dirty="0"/>
              <a:t>将请求先发送给 </a:t>
            </a:r>
            <a:r>
              <a:rPr lang="en-US" altLang="zh-CN" dirty="0"/>
              <a:t>0 </a:t>
            </a:r>
            <a:r>
              <a:rPr lang="zh-CN" altLang="en-US" dirty="0"/>
              <a:t>号服务端，而 </a:t>
            </a:r>
            <a:r>
              <a:rPr lang="en-US" altLang="zh-CN" dirty="0"/>
              <a:t>1</a:t>
            </a:r>
            <a:r>
              <a:rPr lang="zh-CN" altLang="en-US" dirty="0"/>
              <a:t>号服务端已经宕机。请按照 </a:t>
            </a:r>
            <a:r>
              <a:rPr lang="en-US" altLang="zh-CN" dirty="0"/>
              <a:t>Request</a:t>
            </a:r>
            <a:r>
              <a:rPr lang="zh-CN" altLang="en-US" dirty="0"/>
              <a:t>、</a:t>
            </a:r>
            <a:r>
              <a:rPr lang="en-US" altLang="zh-CN" dirty="0"/>
              <a:t>Pre-Prepare</a:t>
            </a:r>
            <a:r>
              <a:rPr lang="zh-CN" altLang="en-US" dirty="0"/>
              <a:t>、</a:t>
            </a:r>
            <a:r>
              <a:rPr lang="en-US" altLang="zh-CN" dirty="0"/>
              <a:t>Prepare</a:t>
            </a:r>
            <a:r>
              <a:rPr lang="zh-CN" altLang="en-US" dirty="0"/>
              <a:t>、</a:t>
            </a:r>
            <a:r>
              <a:rPr lang="en-US" altLang="zh-CN" dirty="0"/>
              <a:t>Commit</a:t>
            </a:r>
            <a:r>
              <a:rPr lang="zh-CN" altLang="en-US" dirty="0"/>
              <a:t>、</a:t>
            </a:r>
            <a:r>
              <a:rPr lang="en-US" altLang="zh-CN" dirty="0"/>
              <a:t>Reply </a:t>
            </a:r>
            <a:r>
              <a:rPr lang="zh-CN" altLang="en-US" dirty="0"/>
              <a:t>五个阶段，说明这次请求是如何在各节点之间传播的；并回答：节点在什么条件下进入 </a:t>
            </a:r>
            <a:r>
              <a:rPr lang="en-US" altLang="zh-CN" dirty="0"/>
              <a:t>Commit </a:t>
            </a:r>
            <a:r>
              <a:rPr lang="zh-CN" altLang="en-US" dirty="0"/>
              <a:t>阶段，什么时候会向客户端 </a:t>
            </a:r>
            <a:r>
              <a:rPr lang="en-US" altLang="zh-CN" dirty="0"/>
              <a:t>C </a:t>
            </a:r>
            <a:r>
              <a:rPr lang="zh-CN" altLang="en-US" dirty="0"/>
              <a:t>返回结果？</a:t>
            </a:r>
            <a:endParaRPr lang="en-US" altLang="zh-CN" dirty="0"/>
          </a:p>
          <a:p>
            <a:pPr marL="457200" indent="-457200">
              <a:buAutoNum type="arabicPeriod"/>
            </a:pPr>
            <a:endParaRPr lang="zh-CN" altLang="en-US" dirty="0"/>
          </a:p>
        </p:txBody>
      </p:sp>
    </p:spTree>
    <p:extLst>
      <p:ext uri="{BB962C8B-B14F-4D97-AF65-F5344CB8AC3E}">
        <p14:creationId xmlns:p14="http://schemas.microsoft.com/office/powerpoint/2010/main" val="31535875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22703-4009-40B6-8A03-AE8ED716A258}"/>
              </a:ext>
            </a:extLst>
          </p:cNvPr>
          <p:cNvSpPr>
            <a:spLocks noGrp="1"/>
          </p:cNvSpPr>
          <p:nvPr>
            <p:ph type="title"/>
          </p:nvPr>
        </p:nvSpPr>
        <p:spPr/>
        <p:txBody>
          <a:bodyPr/>
          <a:lstStyle/>
          <a:p>
            <a:r>
              <a:rPr lang="zh-CN" altLang="en-US" dirty="0"/>
              <a:t>习题</a:t>
            </a:r>
          </a:p>
        </p:txBody>
      </p:sp>
      <p:sp>
        <p:nvSpPr>
          <p:cNvPr id="4" name="文本框 3">
            <a:extLst>
              <a:ext uri="{FF2B5EF4-FFF2-40B4-BE49-F238E27FC236}">
                <a16:creationId xmlns:a16="http://schemas.microsoft.com/office/drawing/2014/main" id="{583DD3D8-9495-4CB3-A6D0-9503FEA6C32D}"/>
              </a:ext>
            </a:extLst>
          </p:cNvPr>
          <p:cNvSpPr txBox="1"/>
          <p:nvPr/>
        </p:nvSpPr>
        <p:spPr>
          <a:xfrm>
            <a:off x="923925" y="1143000"/>
            <a:ext cx="7715250" cy="1938992"/>
          </a:xfrm>
          <a:prstGeom prst="rect">
            <a:avLst/>
          </a:prstGeom>
          <a:noFill/>
        </p:spPr>
        <p:txBody>
          <a:bodyPr wrap="square" rtlCol="0">
            <a:spAutoFit/>
          </a:bodyPr>
          <a:lstStyle/>
          <a:p>
            <a:r>
              <a:rPr lang="en-US" altLang="zh-CN" dirty="0"/>
              <a:t>2. Checkpointing </a:t>
            </a:r>
            <a:r>
              <a:rPr lang="zh-CN" altLang="en-US" dirty="0"/>
              <a:t>设置问题中，</a:t>
            </a:r>
            <a:r>
              <a:rPr lang="en-US" altLang="zh-CN" dirty="0"/>
              <a:t>Pi </a:t>
            </a:r>
            <a:r>
              <a:rPr lang="zh-CN" altLang="en-US" dirty="0"/>
              <a:t>向 </a:t>
            </a:r>
            <a:r>
              <a:rPr lang="en-US" altLang="zh-CN" dirty="0" err="1"/>
              <a:t>Pj</a:t>
            </a:r>
            <a:r>
              <a:rPr lang="en-US" altLang="zh-CN" dirty="0"/>
              <a:t> </a:t>
            </a:r>
            <a:r>
              <a:rPr lang="zh-CN" altLang="en-US" dirty="0"/>
              <a:t>发送消息 </a:t>
            </a:r>
            <a:r>
              <a:rPr lang="en-US" altLang="zh-CN" dirty="0"/>
              <a:t>m </a:t>
            </a:r>
            <a:r>
              <a:rPr lang="zh-CN" altLang="en-US" dirty="0"/>
              <a:t>后发生失效，这会使 </a:t>
            </a:r>
            <a:r>
              <a:rPr lang="en-US" altLang="zh-CN" dirty="0"/>
              <a:t>m </a:t>
            </a:r>
            <a:r>
              <a:rPr lang="zh-CN" altLang="en-US" dirty="0"/>
              <a:t>成为孤儿报文，并可能进一步导致消息 </a:t>
            </a:r>
            <a:r>
              <a:rPr lang="en-US" altLang="zh-CN" dirty="0"/>
              <a:t>n </a:t>
            </a:r>
            <a:r>
              <a:rPr lang="zh-CN" altLang="en-US" dirty="0"/>
              <a:t>也成为孤儿报文。请结合图示说明：为什么 </a:t>
            </a:r>
            <a:r>
              <a:rPr lang="en-US" altLang="zh-CN" dirty="0"/>
              <a:t>Pi </a:t>
            </a:r>
            <a:r>
              <a:rPr lang="zh-CN" altLang="en-US" dirty="0"/>
              <a:t>和 </a:t>
            </a:r>
            <a:r>
              <a:rPr lang="en-US" altLang="zh-CN" dirty="0" err="1"/>
              <a:t>Pj</a:t>
            </a:r>
            <a:r>
              <a:rPr lang="en-US" altLang="zh-CN" dirty="0"/>
              <a:t> </a:t>
            </a:r>
            <a:r>
              <a:rPr lang="zh-CN" altLang="en-US" dirty="0"/>
              <a:t>需要回卷？为什么这种回卷会继续传播，甚至使系统最终回到初始检查点？</a:t>
            </a:r>
          </a:p>
        </p:txBody>
      </p:sp>
      <p:sp>
        <p:nvSpPr>
          <p:cNvPr id="32" name="Line 4">
            <a:extLst>
              <a:ext uri="{FF2B5EF4-FFF2-40B4-BE49-F238E27FC236}">
                <a16:creationId xmlns:a16="http://schemas.microsoft.com/office/drawing/2014/main" id="{E873389A-BB2F-4BAB-849B-0178E79298D1}"/>
              </a:ext>
            </a:extLst>
          </p:cNvPr>
          <p:cNvSpPr/>
          <p:nvPr/>
        </p:nvSpPr>
        <p:spPr>
          <a:xfrm>
            <a:off x="1595438" y="4076700"/>
            <a:ext cx="6573837" cy="12700"/>
          </a:xfrm>
          <a:prstGeom prst="line">
            <a:avLst/>
          </a:prstGeom>
          <a:ln w="9525" cap="flat" cmpd="sng">
            <a:solidFill>
              <a:schemeClr val="tx1"/>
            </a:solidFill>
            <a:prstDash val="solid"/>
            <a:headEnd type="none" w="med" len="med"/>
            <a:tailEnd type="triangle" w="med" len="med"/>
          </a:ln>
        </p:spPr>
      </p:sp>
      <p:sp>
        <p:nvSpPr>
          <p:cNvPr id="33" name="Line 5">
            <a:extLst>
              <a:ext uri="{FF2B5EF4-FFF2-40B4-BE49-F238E27FC236}">
                <a16:creationId xmlns:a16="http://schemas.microsoft.com/office/drawing/2014/main" id="{4E74A18B-BCC9-480F-A641-30BD72379079}"/>
              </a:ext>
            </a:extLst>
          </p:cNvPr>
          <p:cNvSpPr/>
          <p:nvPr/>
        </p:nvSpPr>
        <p:spPr>
          <a:xfrm>
            <a:off x="1552575" y="5392738"/>
            <a:ext cx="6573838" cy="12700"/>
          </a:xfrm>
          <a:prstGeom prst="line">
            <a:avLst/>
          </a:prstGeom>
          <a:ln w="9525" cap="flat" cmpd="sng">
            <a:solidFill>
              <a:schemeClr val="tx1"/>
            </a:solidFill>
            <a:prstDash val="solid"/>
            <a:headEnd type="none" w="med" len="med"/>
            <a:tailEnd type="triangle" w="med" len="med"/>
          </a:ln>
        </p:spPr>
      </p:sp>
      <p:sp>
        <p:nvSpPr>
          <p:cNvPr id="34" name="Text Box 6">
            <a:extLst>
              <a:ext uri="{FF2B5EF4-FFF2-40B4-BE49-F238E27FC236}">
                <a16:creationId xmlns:a16="http://schemas.microsoft.com/office/drawing/2014/main" id="{1277C721-DBB6-412E-9590-2B6EE399A04D}"/>
              </a:ext>
            </a:extLst>
          </p:cNvPr>
          <p:cNvSpPr txBox="1"/>
          <p:nvPr/>
        </p:nvSpPr>
        <p:spPr>
          <a:xfrm>
            <a:off x="693738" y="3817938"/>
            <a:ext cx="741362"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j</a:t>
            </a:r>
          </a:p>
        </p:txBody>
      </p:sp>
      <p:sp>
        <p:nvSpPr>
          <p:cNvPr id="35" name="Text Box 7">
            <a:extLst>
              <a:ext uri="{FF2B5EF4-FFF2-40B4-BE49-F238E27FC236}">
                <a16:creationId xmlns:a16="http://schemas.microsoft.com/office/drawing/2014/main" id="{C8A34A0F-363B-4C81-BD7A-9F3F2F4A765E}"/>
              </a:ext>
            </a:extLst>
          </p:cNvPr>
          <p:cNvSpPr txBox="1"/>
          <p:nvPr/>
        </p:nvSpPr>
        <p:spPr>
          <a:xfrm>
            <a:off x="722313" y="5232400"/>
            <a:ext cx="741362"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P</a:t>
            </a:r>
            <a:r>
              <a:rPr lang="en-US" altLang="zh-CN" sz="2400" baseline="-25000" dirty="0">
                <a:ea typeface="宋体" panose="02010600030101010101" pitchFamily="2" charset="-122"/>
              </a:rPr>
              <a:t>i</a:t>
            </a:r>
          </a:p>
        </p:txBody>
      </p:sp>
      <p:sp>
        <p:nvSpPr>
          <p:cNvPr id="36" name="Line 8">
            <a:extLst>
              <a:ext uri="{FF2B5EF4-FFF2-40B4-BE49-F238E27FC236}">
                <a16:creationId xmlns:a16="http://schemas.microsoft.com/office/drawing/2014/main" id="{DC0FD1E9-A059-4AF3-BD2F-4501A62C3143}"/>
              </a:ext>
            </a:extLst>
          </p:cNvPr>
          <p:cNvSpPr/>
          <p:nvPr/>
        </p:nvSpPr>
        <p:spPr>
          <a:xfrm flipH="1">
            <a:off x="2003425" y="3841750"/>
            <a:ext cx="12700" cy="519113"/>
          </a:xfrm>
          <a:prstGeom prst="line">
            <a:avLst/>
          </a:prstGeom>
          <a:ln w="63500" cap="flat" cmpd="sng">
            <a:solidFill>
              <a:schemeClr val="tx1"/>
            </a:solidFill>
            <a:prstDash val="solid"/>
            <a:headEnd type="none" w="med" len="med"/>
            <a:tailEnd type="none" w="med" len="med"/>
          </a:ln>
        </p:spPr>
      </p:sp>
      <p:sp>
        <p:nvSpPr>
          <p:cNvPr id="37" name="Line 9">
            <a:extLst>
              <a:ext uri="{FF2B5EF4-FFF2-40B4-BE49-F238E27FC236}">
                <a16:creationId xmlns:a16="http://schemas.microsoft.com/office/drawing/2014/main" id="{DF6382C3-3C14-4717-A759-DEF3FDB149A0}"/>
              </a:ext>
            </a:extLst>
          </p:cNvPr>
          <p:cNvSpPr/>
          <p:nvPr/>
        </p:nvSpPr>
        <p:spPr>
          <a:xfrm flipH="1">
            <a:off x="2009775" y="5156200"/>
            <a:ext cx="12700" cy="519113"/>
          </a:xfrm>
          <a:prstGeom prst="line">
            <a:avLst/>
          </a:prstGeom>
          <a:ln w="63500" cap="flat" cmpd="sng">
            <a:solidFill>
              <a:schemeClr val="tx1"/>
            </a:solidFill>
            <a:prstDash val="solid"/>
            <a:headEnd type="none" w="med" len="med"/>
            <a:tailEnd type="none" w="med" len="med"/>
          </a:ln>
        </p:spPr>
      </p:sp>
      <p:sp>
        <p:nvSpPr>
          <p:cNvPr id="38" name="Line 10">
            <a:extLst>
              <a:ext uri="{FF2B5EF4-FFF2-40B4-BE49-F238E27FC236}">
                <a16:creationId xmlns:a16="http://schemas.microsoft.com/office/drawing/2014/main" id="{6B25F206-9091-465F-B552-59A0512F68C8}"/>
              </a:ext>
            </a:extLst>
          </p:cNvPr>
          <p:cNvSpPr/>
          <p:nvPr/>
        </p:nvSpPr>
        <p:spPr>
          <a:xfrm flipH="1">
            <a:off x="3122613" y="5168900"/>
            <a:ext cx="12700" cy="519113"/>
          </a:xfrm>
          <a:prstGeom prst="line">
            <a:avLst/>
          </a:prstGeom>
          <a:ln w="63500" cap="flat" cmpd="sng">
            <a:solidFill>
              <a:schemeClr val="tx1"/>
            </a:solidFill>
            <a:prstDash val="solid"/>
            <a:headEnd type="none" w="med" len="med"/>
            <a:tailEnd type="none" w="med" len="med"/>
          </a:ln>
        </p:spPr>
      </p:sp>
      <p:sp>
        <p:nvSpPr>
          <p:cNvPr id="39" name="Line 11">
            <a:extLst>
              <a:ext uri="{FF2B5EF4-FFF2-40B4-BE49-F238E27FC236}">
                <a16:creationId xmlns:a16="http://schemas.microsoft.com/office/drawing/2014/main" id="{11F0EED8-B383-4AFD-8DBC-E3EC87404A3B}"/>
              </a:ext>
            </a:extLst>
          </p:cNvPr>
          <p:cNvSpPr/>
          <p:nvPr/>
        </p:nvSpPr>
        <p:spPr>
          <a:xfrm flipH="1">
            <a:off x="4616450" y="5157788"/>
            <a:ext cx="12700" cy="519112"/>
          </a:xfrm>
          <a:prstGeom prst="line">
            <a:avLst/>
          </a:prstGeom>
          <a:ln w="63500" cap="flat" cmpd="sng">
            <a:solidFill>
              <a:schemeClr val="tx1"/>
            </a:solidFill>
            <a:prstDash val="solid"/>
            <a:headEnd type="none" w="med" len="med"/>
            <a:tailEnd type="none" w="med" len="med"/>
          </a:ln>
        </p:spPr>
      </p:sp>
      <p:sp>
        <p:nvSpPr>
          <p:cNvPr id="40" name="Line 12">
            <a:extLst>
              <a:ext uri="{FF2B5EF4-FFF2-40B4-BE49-F238E27FC236}">
                <a16:creationId xmlns:a16="http://schemas.microsoft.com/office/drawing/2014/main" id="{7EF86BA2-890B-4752-B392-63E4D6ECD692}"/>
              </a:ext>
            </a:extLst>
          </p:cNvPr>
          <p:cNvSpPr/>
          <p:nvPr/>
        </p:nvSpPr>
        <p:spPr>
          <a:xfrm flipH="1">
            <a:off x="6173788" y="5207000"/>
            <a:ext cx="12700" cy="519113"/>
          </a:xfrm>
          <a:prstGeom prst="line">
            <a:avLst/>
          </a:prstGeom>
          <a:ln w="63500" cap="flat" cmpd="sng">
            <a:solidFill>
              <a:schemeClr val="tx1"/>
            </a:solidFill>
            <a:prstDash val="solid"/>
            <a:headEnd type="none" w="med" len="med"/>
            <a:tailEnd type="none" w="med" len="med"/>
          </a:ln>
        </p:spPr>
      </p:sp>
      <p:sp>
        <p:nvSpPr>
          <p:cNvPr id="41" name="Line 13">
            <a:extLst>
              <a:ext uri="{FF2B5EF4-FFF2-40B4-BE49-F238E27FC236}">
                <a16:creationId xmlns:a16="http://schemas.microsoft.com/office/drawing/2014/main" id="{B9E17536-FD04-44CD-8E33-4E43DB77A69E}"/>
              </a:ext>
            </a:extLst>
          </p:cNvPr>
          <p:cNvSpPr/>
          <p:nvPr/>
        </p:nvSpPr>
        <p:spPr>
          <a:xfrm flipH="1">
            <a:off x="3800475" y="3873500"/>
            <a:ext cx="12700" cy="519113"/>
          </a:xfrm>
          <a:prstGeom prst="line">
            <a:avLst/>
          </a:prstGeom>
          <a:ln w="63500" cap="flat" cmpd="sng">
            <a:solidFill>
              <a:schemeClr val="tx1"/>
            </a:solidFill>
            <a:prstDash val="solid"/>
            <a:headEnd type="none" w="med" len="med"/>
            <a:tailEnd type="none" w="med" len="med"/>
          </a:ln>
        </p:spPr>
      </p:sp>
      <p:sp>
        <p:nvSpPr>
          <p:cNvPr id="42" name="Line 14">
            <a:extLst>
              <a:ext uri="{FF2B5EF4-FFF2-40B4-BE49-F238E27FC236}">
                <a16:creationId xmlns:a16="http://schemas.microsoft.com/office/drawing/2014/main" id="{48F4A3F0-819F-4AC8-8B59-DF3762AE17A6}"/>
              </a:ext>
            </a:extLst>
          </p:cNvPr>
          <p:cNvSpPr/>
          <p:nvPr/>
        </p:nvSpPr>
        <p:spPr>
          <a:xfrm flipH="1">
            <a:off x="5419725" y="3910013"/>
            <a:ext cx="12700" cy="519112"/>
          </a:xfrm>
          <a:prstGeom prst="line">
            <a:avLst/>
          </a:prstGeom>
          <a:ln w="63500" cap="flat" cmpd="sng">
            <a:solidFill>
              <a:schemeClr val="tx1"/>
            </a:solidFill>
            <a:prstDash val="solid"/>
            <a:headEnd type="none" w="med" len="med"/>
            <a:tailEnd type="none" w="med" len="med"/>
          </a:ln>
        </p:spPr>
      </p:sp>
      <p:sp>
        <p:nvSpPr>
          <p:cNvPr id="43" name="Line 15">
            <a:extLst>
              <a:ext uri="{FF2B5EF4-FFF2-40B4-BE49-F238E27FC236}">
                <a16:creationId xmlns:a16="http://schemas.microsoft.com/office/drawing/2014/main" id="{C6FB6706-8AAC-46D9-97C2-75FE0DA37717}"/>
              </a:ext>
            </a:extLst>
          </p:cNvPr>
          <p:cNvSpPr/>
          <p:nvPr/>
        </p:nvSpPr>
        <p:spPr>
          <a:xfrm flipH="1">
            <a:off x="7013575" y="3846513"/>
            <a:ext cx="12700" cy="519112"/>
          </a:xfrm>
          <a:prstGeom prst="line">
            <a:avLst/>
          </a:prstGeom>
          <a:ln w="63500" cap="flat" cmpd="sng">
            <a:solidFill>
              <a:schemeClr val="tx1"/>
            </a:solidFill>
            <a:prstDash val="solid"/>
            <a:headEnd type="none" w="med" len="med"/>
            <a:tailEnd type="none" w="med" len="med"/>
          </a:ln>
        </p:spPr>
      </p:sp>
      <p:sp>
        <p:nvSpPr>
          <p:cNvPr id="44" name="Line 16">
            <a:extLst>
              <a:ext uri="{FF2B5EF4-FFF2-40B4-BE49-F238E27FC236}">
                <a16:creationId xmlns:a16="http://schemas.microsoft.com/office/drawing/2014/main" id="{E92FACEF-29AF-454D-9792-D301C8AE361A}"/>
              </a:ext>
            </a:extLst>
          </p:cNvPr>
          <p:cNvSpPr/>
          <p:nvPr/>
        </p:nvSpPr>
        <p:spPr>
          <a:xfrm>
            <a:off x="2176463" y="4076700"/>
            <a:ext cx="542925" cy="1309688"/>
          </a:xfrm>
          <a:prstGeom prst="line">
            <a:avLst/>
          </a:prstGeom>
          <a:ln w="9525" cap="flat" cmpd="sng">
            <a:solidFill>
              <a:schemeClr val="tx1"/>
            </a:solidFill>
            <a:prstDash val="solid"/>
            <a:headEnd type="none" w="med" len="med"/>
            <a:tailEnd type="triangle" w="med" len="med"/>
          </a:ln>
        </p:spPr>
      </p:sp>
      <p:sp>
        <p:nvSpPr>
          <p:cNvPr id="45" name="Line 17">
            <a:extLst>
              <a:ext uri="{FF2B5EF4-FFF2-40B4-BE49-F238E27FC236}">
                <a16:creationId xmlns:a16="http://schemas.microsoft.com/office/drawing/2014/main" id="{7399FE92-1580-4E75-9E9E-754AAD1E6D46}"/>
              </a:ext>
            </a:extLst>
          </p:cNvPr>
          <p:cNvSpPr/>
          <p:nvPr/>
        </p:nvSpPr>
        <p:spPr>
          <a:xfrm flipV="1">
            <a:off x="3238500" y="4065588"/>
            <a:ext cx="433388" cy="1333500"/>
          </a:xfrm>
          <a:prstGeom prst="line">
            <a:avLst/>
          </a:prstGeom>
          <a:ln w="9525" cap="flat" cmpd="sng">
            <a:solidFill>
              <a:schemeClr val="tx1"/>
            </a:solidFill>
            <a:prstDash val="solid"/>
            <a:headEnd type="none" w="med" len="med"/>
            <a:tailEnd type="triangle" w="med" len="med"/>
          </a:ln>
        </p:spPr>
      </p:sp>
      <p:sp>
        <p:nvSpPr>
          <p:cNvPr id="46" name="Line 18">
            <a:extLst>
              <a:ext uri="{FF2B5EF4-FFF2-40B4-BE49-F238E27FC236}">
                <a16:creationId xmlns:a16="http://schemas.microsoft.com/office/drawing/2014/main" id="{1B4494E9-D6DA-4DC0-8316-5FA3437A956B}"/>
              </a:ext>
            </a:extLst>
          </p:cNvPr>
          <p:cNvSpPr/>
          <p:nvPr/>
        </p:nvSpPr>
        <p:spPr>
          <a:xfrm>
            <a:off x="3930650" y="4089400"/>
            <a:ext cx="482600" cy="1296988"/>
          </a:xfrm>
          <a:prstGeom prst="line">
            <a:avLst/>
          </a:prstGeom>
          <a:ln w="9525" cap="flat" cmpd="sng">
            <a:solidFill>
              <a:schemeClr val="tx1"/>
            </a:solidFill>
            <a:prstDash val="solid"/>
            <a:headEnd type="none" w="med" len="med"/>
            <a:tailEnd type="triangle" w="med" len="med"/>
          </a:ln>
        </p:spPr>
      </p:sp>
      <p:sp>
        <p:nvSpPr>
          <p:cNvPr id="47" name="Line 19">
            <a:extLst>
              <a:ext uri="{FF2B5EF4-FFF2-40B4-BE49-F238E27FC236}">
                <a16:creationId xmlns:a16="http://schemas.microsoft.com/office/drawing/2014/main" id="{8B96E687-2D18-4642-BC11-2B1534BF6CF9}"/>
              </a:ext>
            </a:extLst>
          </p:cNvPr>
          <p:cNvSpPr/>
          <p:nvPr/>
        </p:nvSpPr>
        <p:spPr>
          <a:xfrm flipV="1">
            <a:off x="4795838" y="4076700"/>
            <a:ext cx="433387" cy="1309688"/>
          </a:xfrm>
          <a:prstGeom prst="line">
            <a:avLst/>
          </a:prstGeom>
          <a:ln w="9525" cap="flat" cmpd="sng">
            <a:solidFill>
              <a:schemeClr val="tx1"/>
            </a:solidFill>
            <a:prstDash val="solid"/>
            <a:headEnd type="none" w="med" len="med"/>
            <a:tailEnd type="triangle" w="med" len="med"/>
          </a:ln>
        </p:spPr>
      </p:sp>
      <p:sp>
        <p:nvSpPr>
          <p:cNvPr id="48" name="Line 20">
            <a:extLst>
              <a:ext uri="{FF2B5EF4-FFF2-40B4-BE49-F238E27FC236}">
                <a16:creationId xmlns:a16="http://schemas.microsoft.com/office/drawing/2014/main" id="{F9F851AA-17EB-434F-B62E-268225123E4C}"/>
              </a:ext>
            </a:extLst>
          </p:cNvPr>
          <p:cNvSpPr/>
          <p:nvPr/>
        </p:nvSpPr>
        <p:spPr>
          <a:xfrm>
            <a:off x="5549900" y="4076700"/>
            <a:ext cx="457200" cy="1322388"/>
          </a:xfrm>
          <a:prstGeom prst="line">
            <a:avLst/>
          </a:prstGeom>
          <a:ln w="9525" cap="flat" cmpd="sng">
            <a:solidFill>
              <a:schemeClr val="tx1"/>
            </a:solidFill>
            <a:prstDash val="solid"/>
            <a:headEnd type="none" w="med" len="med"/>
            <a:tailEnd type="triangle" w="med" len="med"/>
          </a:ln>
        </p:spPr>
      </p:sp>
      <p:sp>
        <p:nvSpPr>
          <p:cNvPr id="49" name="Line 21">
            <a:extLst>
              <a:ext uri="{FF2B5EF4-FFF2-40B4-BE49-F238E27FC236}">
                <a16:creationId xmlns:a16="http://schemas.microsoft.com/office/drawing/2014/main" id="{4BC7989E-B11A-47C6-934C-A243279F7FBE}"/>
              </a:ext>
            </a:extLst>
          </p:cNvPr>
          <p:cNvSpPr/>
          <p:nvPr/>
        </p:nvSpPr>
        <p:spPr>
          <a:xfrm flipV="1">
            <a:off x="6303963" y="4076700"/>
            <a:ext cx="542925" cy="1322388"/>
          </a:xfrm>
          <a:prstGeom prst="line">
            <a:avLst/>
          </a:prstGeom>
          <a:ln w="9525" cap="flat" cmpd="sng">
            <a:solidFill>
              <a:schemeClr val="tx1"/>
            </a:solidFill>
            <a:prstDash val="solid"/>
            <a:headEnd type="none" w="med" len="med"/>
            <a:tailEnd type="triangle" w="med" len="med"/>
          </a:ln>
        </p:spPr>
      </p:sp>
      <p:sp>
        <p:nvSpPr>
          <p:cNvPr id="50" name="Text Box 22">
            <a:extLst>
              <a:ext uri="{FF2B5EF4-FFF2-40B4-BE49-F238E27FC236}">
                <a16:creationId xmlns:a16="http://schemas.microsoft.com/office/drawing/2014/main" id="{885A6EC4-F1FC-48E7-AE44-59A3E4B00236}"/>
              </a:ext>
            </a:extLst>
          </p:cNvPr>
          <p:cNvSpPr txBox="1"/>
          <p:nvPr/>
        </p:nvSpPr>
        <p:spPr>
          <a:xfrm>
            <a:off x="6351588" y="3371850"/>
            <a:ext cx="1336675"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51" name="Text Box 23">
            <a:extLst>
              <a:ext uri="{FF2B5EF4-FFF2-40B4-BE49-F238E27FC236}">
                <a16:creationId xmlns:a16="http://schemas.microsoft.com/office/drawing/2014/main" id="{06351E24-05F2-4A36-95A2-D3D84C0C10A7}"/>
              </a:ext>
            </a:extLst>
          </p:cNvPr>
          <p:cNvSpPr txBox="1"/>
          <p:nvPr/>
        </p:nvSpPr>
        <p:spPr>
          <a:xfrm>
            <a:off x="5529263" y="5788025"/>
            <a:ext cx="1336675"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当前检查点</a:t>
            </a:r>
          </a:p>
        </p:txBody>
      </p:sp>
      <p:sp>
        <p:nvSpPr>
          <p:cNvPr id="52" name="Text Box 24">
            <a:extLst>
              <a:ext uri="{FF2B5EF4-FFF2-40B4-BE49-F238E27FC236}">
                <a16:creationId xmlns:a16="http://schemas.microsoft.com/office/drawing/2014/main" id="{2DF29C6C-8C28-48A8-BA76-BC02293C0FEF}"/>
              </a:ext>
            </a:extLst>
          </p:cNvPr>
          <p:cNvSpPr txBox="1"/>
          <p:nvPr/>
        </p:nvSpPr>
        <p:spPr>
          <a:xfrm>
            <a:off x="1384300" y="5719763"/>
            <a:ext cx="1336675" cy="3667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初始检查点</a:t>
            </a:r>
          </a:p>
        </p:txBody>
      </p:sp>
      <p:sp>
        <p:nvSpPr>
          <p:cNvPr id="53" name="Text Box 25">
            <a:extLst>
              <a:ext uri="{FF2B5EF4-FFF2-40B4-BE49-F238E27FC236}">
                <a16:creationId xmlns:a16="http://schemas.microsoft.com/office/drawing/2014/main" id="{4CD51679-829F-4655-8023-C7C13FA0B609}"/>
              </a:ext>
            </a:extLst>
          </p:cNvPr>
          <p:cNvSpPr txBox="1"/>
          <p:nvPr/>
        </p:nvSpPr>
        <p:spPr>
          <a:xfrm>
            <a:off x="1389063" y="3451225"/>
            <a:ext cx="1336675"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初始检查点</a:t>
            </a:r>
          </a:p>
        </p:txBody>
      </p:sp>
      <p:sp>
        <p:nvSpPr>
          <p:cNvPr id="54" name="Text Box 26">
            <a:extLst>
              <a:ext uri="{FF2B5EF4-FFF2-40B4-BE49-F238E27FC236}">
                <a16:creationId xmlns:a16="http://schemas.microsoft.com/office/drawing/2014/main" id="{169DE56C-1A5A-43E9-94C5-77C2206CAFEE}"/>
              </a:ext>
            </a:extLst>
          </p:cNvPr>
          <p:cNvSpPr txBox="1"/>
          <p:nvPr/>
        </p:nvSpPr>
        <p:spPr>
          <a:xfrm>
            <a:off x="5735638" y="4349750"/>
            <a:ext cx="395287"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n</a:t>
            </a:r>
          </a:p>
        </p:txBody>
      </p:sp>
      <p:sp>
        <p:nvSpPr>
          <p:cNvPr id="55" name="Text Box 27">
            <a:extLst>
              <a:ext uri="{FF2B5EF4-FFF2-40B4-BE49-F238E27FC236}">
                <a16:creationId xmlns:a16="http://schemas.microsoft.com/office/drawing/2014/main" id="{ECBC98D9-0291-451D-9CB7-3ED6B6347D40}"/>
              </a:ext>
            </a:extLst>
          </p:cNvPr>
          <p:cNvSpPr txBox="1"/>
          <p:nvPr/>
        </p:nvSpPr>
        <p:spPr>
          <a:xfrm>
            <a:off x="6731000" y="4591050"/>
            <a:ext cx="4445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m</a:t>
            </a:r>
          </a:p>
        </p:txBody>
      </p:sp>
      <p:grpSp>
        <p:nvGrpSpPr>
          <p:cNvPr id="56" name="Group 30">
            <a:extLst>
              <a:ext uri="{FF2B5EF4-FFF2-40B4-BE49-F238E27FC236}">
                <a16:creationId xmlns:a16="http://schemas.microsoft.com/office/drawing/2014/main" id="{D05FF3AC-C237-4C06-99F2-719FA7FAA301}"/>
              </a:ext>
            </a:extLst>
          </p:cNvPr>
          <p:cNvGrpSpPr/>
          <p:nvPr/>
        </p:nvGrpSpPr>
        <p:grpSpPr>
          <a:xfrm>
            <a:off x="7069138" y="5226050"/>
            <a:ext cx="284162" cy="346075"/>
            <a:chOff x="4460" y="2086"/>
            <a:chExt cx="179" cy="218"/>
          </a:xfrm>
        </p:grpSpPr>
        <p:sp>
          <p:nvSpPr>
            <p:cNvPr id="57" name="Line 28">
              <a:extLst>
                <a:ext uri="{FF2B5EF4-FFF2-40B4-BE49-F238E27FC236}">
                  <a16:creationId xmlns:a16="http://schemas.microsoft.com/office/drawing/2014/main" id="{EB7190EF-F7D6-4999-95F2-B9E59A66F78C}"/>
                </a:ext>
              </a:extLst>
            </p:cNvPr>
            <p:cNvSpPr/>
            <p:nvPr/>
          </p:nvSpPr>
          <p:spPr>
            <a:xfrm>
              <a:off x="4460" y="2109"/>
              <a:ext cx="164" cy="187"/>
            </a:xfrm>
            <a:prstGeom prst="line">
              <a:avLst/>
            </a:prstGeom>
            <a:ln w="9525" cap="flat" cmpd="sng">
              <a:solidFill>
                <a:schemeClr val="tx1"/>
              </a:solidFill>
              <a:prstDash val="solid"/>
              <a:headEnd type="none" w="med" len="med"/>
              <a:tailEnd type="none" w="med" len="med"/>
            </a:ln>
          </p:spPr>
        </p:sp>
        <p:sp>
          <p:nvSpPr>
            <p:cNvPr id="58" name="Line 29">
              <a:extLst>
                <a:ext uri="{FF2B5EF4-FFF2-40B4-BE49-F238E27FC236}">
                  <a16:creationId xmlns:a16="http://schemas.microsoft.com/office/drawing/2014/main" id="{629FD8DF-D230-4D07-A579-00C889FA7599}"/>
                </a:ext>
              </a:extLst>
            </p:cNvPr>
            <p:cNvSpPr/>
            <p:nvPr/>
          </p:nvSpPr>
          <p:spPr>
            <a:xfrm flipH="1">
              <a:off x="4460" y="2086"/>
              <a:ext cx="179" cy="218"/>
            </a:xfrm>
            <a:prstGeom prst="line">
              <a:avLst/>
            </a:prstGeom>
            <a:ln w="9525" cap="flat" cmpd="sng">
              <a:solidFill>
                <a:schemeClr val="tx1"/>
              </a:solidFill>
              <a:prstDash val="solid"/>
              <a:headEnd type="none" w="med" len="med"/>
              <a:tailEnd type="none" w="med" len="med"/>
            </a:ln>
          </p:spPr>
        </p:sp>
      </p:grpSp>
    </p:spTree>
    <p:extLst>
      <p:ext uri="{BB962C8B-B14F-4D97-AF65-F5344CB8AC3E}">
        <p14:creationId xmlns:p14="http://schemas.microsoft.com/office/powerpoint/2010/main" val="2072925813"/>
      </p:ext>
    </p:extLst>
  </p:cSld>
  <p:clrMapOvr>
    <a:masterClrMapping/>
  </p:clrMapOvr>
</p:sld>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Office\Templates\Tannenbaum.pot</Template>
  <TotalTime>8</TotalTime>
  <Words>7231</Words>
  <Application>Microsoft Office PowerPoint</Application>
  <PresentationFormat>全屏显示(4:3)</PresentationFormat>
  <Paragraphs>683</Paragraphs>
  <Slides>74</Slides>
  <Notes>43</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74</vt:i4>
      </vt:variant>
    </vt:vector>
  </HeadingPairs>
  <TitlesOfParts>
    <vt:vector size="81" baseType="lpstr">
      <vt:lpstr>DFKai-SB</vt:lpstr>
      <vt:lpstr>宋体</vt:lpstr>
      <vt:lpstr>Arial</vt:lpstr>
      <vt:lpstr>Times New Roman</vt:lpstr>
      <vt:lpstr>Wingdings</vt:lpstr>
      <vt:lpstr>Tannenbaum</vt:lpstr>
      <vt:lpstr>1_Tannenbaum</vt:lpstr>
      <vt:lpstr>Fault Tolerance</vt:lpstr>
      <vt:lpstr>Basic Concepts</vt:lpstr>
      <vt:lpstr>Basic Concepts</vt:lpstr>
      <vt:lpstr>Basic Concepts</vt:lpstr>
      <vt:lpstr>Basic Concepts</vt:lpstr>
      <vt:lpstr>Failure Models</vt:lpstr>
      <vt:lpstr>Basic Concepts</vt:lpstr>
      <vt:lpstr>Redundancy</vt:lpstr>
      <vt:lpstr>Failure Masking by Redundancy</vt:lpstr>
      <vt:lpstr>PROCESS RESILIENCE</vt:lpstr>
      <vt:lpstr>Flat Groups versus Hierarchical Groups</vt:lpstr>
      <vt:lpstr>Redundancy</vt:lpstr>
      <vt:lpstr>Agreement in Faulty Systems (1)</vt:lpstr>
      <vt:lpstr>公元395年罗马帝国分东、西部分，东罗马帝国即拜占庭帝国。核心区位于欧洲东南部巴尔干半岛，是欧洲最悠久的君主制国家，首都是土耳其的君士坦丁堡(新罗马:伊斯坦布尔）</vt:lpstr>
      <vt:lpstr>The Byzantine Generals Problem</vt:lpstr>
      <vt:lpstr>Agreement in Faulty Systems</vt:lpstr>
      <vt:lpstr>PowerPoint 演示文稿</vt:lpstr>
      <vt:lpstr>Agreement in Faulty Systems (1)</vt:lpstr>
      <vt:lpstr>Agreement in Faulty Systems (2)</vt:lpstr>
      <vt:lpstr>Reliable Client-Server Communication</vt:lpstr>
      <vt:lpstr>Reliable Client-Server Communication</vt:lpstr>
      <vt:lpstr>Reliable Client-Server Communication</vt:lpstr>
      <vt:lpstr>3. Server Crashes</vt:lpstr>
      <vt:lpstr>Server Crashes(5)</vt:lpstr>
      <vt:lpstr>Server Crashes (3)</vt:lpstr>
      <vt:lpstr>Server Crashes (4)</vt:lpstr>
      <vt:lpstr>Reliable Client-Server Communication</vt:lpstr>
      <vt:lpstr>Reliable Group Communication</vt:lpstr>
      <vt:lpstr>Basic Reliable-Multicasting Schemes</vt:lpstr>
      <vt:lpstr>Nonhierarchical Feedback Control</vt:lpstr>
      <vt:lpstr>Hierarchical Feedback Control</vt:lpstr>
      <vt:lpstr>Atomic Multicast</vt:lpstr>
      <vt:lpstr>Virtual Synchrony (3)</vt:lpstr>
      <vt:lpstr>Virtual Synchrony (2)</vt:lpstr>
      <vt:lpstr>Virtual Synchrony (4)</vt:lpstr>
      <vt:lpstr>Message Ordering (1)</vt:lpstr>
      <vt:lpstr>Message Ordering (2)</vt:lpstr>
      <vt:lpstr>Message Ordering (3)</vt:lpstr>
      <vt:lpstr>Implementing Virtual Synchrony Multicasts (1)</vt:lpstr>
      <vt:lpstr>Virtual Synchrony (1)</vt:lpstr>
      <vt:lpstr>Implementing Virtual Synchrony (2)</vt:lpstr>
      <vt:lpstr>Implementing Virtual Synchrony (2)</vt:lpstr>
      <vt:lpstr>PowerPoint 演示文稿</vt:lpstr>
      <vt:lpstr>Three-Phase Commit</vt:lpstr>
      <vt:lpstr>Three-Phase Commit</vt:lpstr>
      <vt:lpstr>Recovery</vt:lpstr>
      <vt:lpstr>Recovery</vt:lpstr>
      <vt:lpstr>Recovery Stable Storage</vt:lpstr>
      <vt:lpstr>Checkpointing</vt:lpstr>
      <vt:lpstr>Checkpointing</vt:lpstr>
      <vt:lpstr>Checkpointing</vt:lpstr>
      <vt:lpstr>Checkpointing设置</vt:lpstr>
      <vt:lpstr>Checkpointing设置问题</vt:lpstr>
      <vt:lpstr>Checkpointing设置问题</vt:lpstr>
      <vt:lpstr>Checkpointing设置问题</vt:lpstr>
      <vt:lpstr>Checkpointing设置</vt:lpstr>
      <vt:lpstr>Checkpointing</vt:lpstr>
      <vt:lpstr>Sync-and-Stop（SNS）算法</vt:lpstr>
      <vt:lpstr>ConAir: Featherweight Concurrency Bug Recovery  Via Single-Threaded Idempotent Execution，ASPLOS. 2013</vt:lpstr>
      <vt:lpstr>ConAir: Featherweight Concurrency Bug Recovery  Via Single-Threaded Idempotent Execution， ASPLOS. 2013</vt:lpstr>
      <vt:lpstr>一致性问题补充说明</vt:lpstr>
      <vt:lpstr>补充说明（续）</vt:lpstr>
      <vt:lpstr>补充说明（续）</vt:lpstr>
      <vt:lpstr>补充说明（续）</vt:lpstr>
      <vt:lpstr>补充说明（续）</vt:lpstr>
      <vt:lpstr>FLP Impossibility</vt:lpstr>
      <vt:lpstr>补充说明（续）</vt:lpstr>
      <vt:lpstr>补充说明（续）</vt:lpstr>
      <vt:lpstr>补充说明（续）</vt:lpstr>
      <vt:lpstr>补充说明（续）</vt:lpstr>
      <vt:lpstr>补充说明（续）</vt:lpstr>
      <vt:lpstr>补充说明（续）</vt:lpstr>
      <vt:lpstr>习题</vt:lpstr>
      <vt:lpstr>习题</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Fault Tolerance</dc:title>
  <dc:creator>Steve  Armstrong</dc:creator>
  <cp:lastModifiedBy>hgzhao_1@stu.xidian.edu.cn</cp:lastModifiedBy>
  <cp:revision>675</cp:revision>
  <dcterms:created xsi:type="dcterms:W3CDTF">2001-05-16T14:13:15Z</dcterms:created>
  <dcterms:modified xsi:type="dcterms:W3CDTF">2026-04-10T09:57:38Z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DD5F55D11AE94158AD4392FDFDA9D802_12</vt:lpwstr>
  </property>
  <property fmtid="{D5CDD505-2E9C-101B-9397-08002B2CF9AE}" pid="3" name="KSOProductBuildVer">
    <vt:lpwstr>2052-12.1.0.20305</vt:lpwstr>
  </property>
</Properties>
</file>