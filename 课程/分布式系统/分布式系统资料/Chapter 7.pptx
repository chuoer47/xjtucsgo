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83"/>
  </p:handoutMasterIdLst>
  <p:sldIdLst>
    <p:sldId id="256" r:id="rId3"/>
    <p:sldId id="301" r:id="rId4"/>
    <p:sldId id="302" r:id="rId5"/>
    <p:sldId id="257" r:id="rId7"/>
    <p:sldId id="303" r:id="rId8"/>
    <p:sldId id="259" r:id="rId9"/>
    <p:sldId id="305" r:id="rId10"/>
    <p:sldId id="333" r:id="rId11"/>
    <p:sldId id="307" r:id="rId12"/>
    <p:sldId id="308" r:id="rId13"/>
    <p:sldId id="261" r:id="rId14"/>
    <p:sldId id="310" r:id="rId15"/>
    <p:sldId id="309" r:id="rId16"/>
    <p:sldId id="262" r:id="rId17"/>
    <p:sldId id="312" r:id="rId18"/>
    <p:sldId id="263" r:id="rId19"/>
    <p:sldId id="264" r:id="rId20"/>
    <p:sldId id="314" r:id="rId21"/>
    <p:sldId id="315" r:id="rId22"/>
    <p:sldId id="265" r:id="rId23"/>
    <p:sldId id="266" r:id="rId24"/>
    <p:sldId id="267" r:id="rId25"/>
    <p:sldId id="268" r:id="rId26"/>
    <p:sldId id="269" r:id="rId27"/>
    <p:sldId id="270" r:id="rId28"/>
    <p:sldId id="316" r:id="rId29"/>
    <p:sldId id="317" r:id="rId30"/>
    <p:sldId id="274" r:id="rId31"/>
    <p:sldId id="275" r:id="rId32"/>
    <p:sldId id="276" r:id="rId33"/>
    <p:sldId id="320" r:id="rId34"/>
    <p:sldId id="277" r:id="rId35"/>
    <p:sldId id="323" r:id="rId36"/>
    <p:sldId id="280" r:id="rId37"/>
    <p:sldId id="325" r:id="rId38"/>
    <p:sldId id="281" r:id="rId39"/>
    <p:sldId id="326" r:id="rId40"/>
    <p:sldId id="282" r:id="rId41"/>
    <p:sldId id="284" r:id="rId42"/>
    <p:sldId id="283" r:id="rId43"/>
    <p:sldId id="285" r:id="rId44"/>
    <p:sldId id="331" r:id="rId45"/>
    <p:sldId id="337" r:id="rId46"/>
    <p:sldId id="338" r:id="rId47"/>
    <p:sldId id="339" r:id="rId48"/>
    <p:sldId id="330" r:id="rId49"/>
    <p:sldId id="332" r:id="rId50"/>
    <p:sldId id="286" r:id="rId51"/>
    <p:sldId id="343" r:id="rId52"/>
    <p:sldId id="344" r:id="rId53"/>
    <p:sldId id="345" r:id="rId54"/>
    <p:sldId id="287" r:id="rId55"/>
    <p:sldId id="346" r:id="rId56"/>
    <p:sldId id="347" r:id="rId57"/>
    <p:sldId id="288" r:id="rId58"/>
    <p:sldId id="289" r:id="rId59"/>
    <p:sldId id="290" r:id="rId60"/>
    <p:sldId id="291" r:id="rId61"/>
    <p:sldId id="294" r:id="rId62"/>
    <p:sldId id="352" r:id="rId63"/>
    <p:sldId id="353" r:id="rId64"/>
    <p:sldId id="355" r:id="rId65"/>
    <p:sldId id="357" r:id="rId66"/>
    <p:sldId id="358" r:id="rId67"/>
    <p:sldId id="360" r:id="rId68"/>
    <p:sldId id="368" r:id="rId69"/>
    <p:sldId id="369" r:id="rId70"/>
    <p:sldId id="370" r:id="rId71"/>
    <p:sldId id="378" r:id="rId72"/>
    <p:sldId id="379" r:id="rId73"/>
    <p:sldId id="380" r:id="rId74"/>
    <p:sldId id="381" r:id="rId75"/>
    <p:sldId id="366" r:id="rId76"/>
    <p:sldId id="382" r:id="rId77"/>
    <p:sldId id="388" r:id="rId78"/>
    <p:sldId id="385" r:id="rId79"/>
    <p:sldId id="295" r:id="rId80"/>
    <p:sldId id="349" r:id="rId81"/>
    <p:sldId id="296" r:id="rId82"/>
  </p:sldIdLst>
  <p:sldSz cx="9144000" cy="6858000" type="screen4x3"/>
  <p:notesSz cx="6858000" cy="9144000"/>
  <p:custDataLst>
    <p:tags r:id="rId87"/>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57" autoAdjust="0"/>
  </p:normalViewPr>
  <p:slideViewPr>
    <p:cSldViewPr snapToGrid="0" showGuides="1">
      <p:cViewPr varScale="1">
        <p:scale>
          <a:sx n="103" d="100"/>
          <a:sy n="103" d="100"/>
        </p:scale>
        <p:origin x="2170" y="77"/>
      </p:cViewPr>
      <p:guideLst>
        <p:guide orient="horz" pos="2160"/>
        <p:guide pos="290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7" Type="http://schemas.openxmlformats.org/officeDocument/2006/relationships/tags" Target="tags/tag1.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handoutMaster" Target="handoutMasters/handoutMaster1.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33.emf"/><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33.emf"/><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33.emf"/><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33.emf"/><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33.emf"/><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33.emf"/><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33.emf"/><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11786EAE-6AB2-4212-85D9-4A7B16BD671C}"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E3FCBEC-1867-4A2B-8A86-C4F82638969C}"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复制及一致性特例</a:t>
            </a:r>
            <a:endParaRPr lang="en-US" altLang="zh-CN" dirty="0"/>
          </a:p>
          <a:p>
            <a:endParaRPr lang="en-US" altLang="zh-CN" dirty="0"/>
          </a:p>
          <a:p>
            <a:r>
              <a:rPr lang="zh-CN" altLang="en-US" dirty="0"/>
              <a:t>数据</a:t>
            </a:r>
            <a:r>
              <a:rPr lang="en-US" altLang="zh-CN" dirty="0"/>
              <a:t>-</a:t>
            </a:r>
            <a:r>
              <a:rPr lang="zh-CN" altLang="en-US" dirty="0"/>
              <a:t>对象（封装了数据及相关操作）</a:t>
            </a:r>
            <a:endParaRPr lang="zh-CN" altLang="en-US" dirty="0"/>
          </a:p>
          <a:p>
            <a:endParaRPr lang="zh-CN" altLang="en-US" dirty="0"/>
          </a:p>
          <a:p>
            <a:r>
              <a:rPr lang="en-US" altLang="zh-CN" dirty="0"/>
              <a:t>1.</a:t>
            </a:r>
            <a:r>
              <a:rPr lang="zh-CN" altLang="en-US" dirty="0"/>
              <a:t>互斥访问（操作系统）</a:t>
            </a:r>
            <a:r>
              <a:rPr lang="en-US" altLang="zh-CN" dirty="0"/>
              <a:t>object</a:t>
            </a:r>
            <a:r>
              <a:rPr lang="zh-CN" altLang="en-US" dirty="0"/>
              <a:t>内部包含数据</a:t>
            </a:r>
            <a:endParaRPr lang="en-US" altLang="zh-CN" dirty="0"/>
          </a:p>
          <a:p>
            <a:r>
              <a:rPr lang="en-US" altLang="zh-CN" dirty="0"/>
              <a:t>2.</a:t>
            </a:r>
            <a:r>
              <a:rPr lang="zh-CN" altLang="en-US" dirty="0"/>
              <a:t>多副本间一致性（本章内容）</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对象：数据，操作</a:t>
            </a:r>
            <a:endParaRPr lang="en-US" altLang="zh-CN" dirty="0"/>
          </a:p>
          <a:p>
            <a:r>
              <a:rPr lang="zh-CN" altLang="en-US" dirty="0"/>
              <a:t>实现操作对数据的互斥访问；</a:t>
            </a:r>
            <a:endParaRPr lang="en-US" altLang="zh-CN" dirty="0"/>
          </a:p>
          <a:p>
            <a:r>
              <a:rPr lang="zh-CN" altLang="en-US" dirty="0"/>
              <a:t>通过锁的方式；</a:t>
            </a:r>
            <a:endParaRPr lang="en-US" altLang="zh-CN" dirty="0"/>
          </a:p>
          <a:p>
            <a:r>
              <a:rPr lang="zh-CN" altLang="en-US" dirty="0"/>
              <a:t>向程序员透明；</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并发调用，单</a:t>
            </a:r>
            <a:r>
              <a:rPr lang="en-US" altLang="zh-CN" dirty="0"/>
              <a:t>object</a:t>
            </a:r>
            <a:r>
              <a:rPr lang="zh-CN" altLang="en-US" dirty="0"/>
              <a:t>互斥；多个复制</a:t>
            </a:r>
            <a:r>
              <a:rPr lang="en-US" altLang="zh-CN" dirty="0"/>
              <a:t>object</a:t>
            </a:r>
            <a:r>
              <a:rPr lang="zh-CN" altLang="en-US" dirty="0"/>
              <a:t>一致性（调用后数据不一致）；</a:t>
            </a:r>
            <a:endParaRPr lang="en-US" altLang="zh-CN" dirty="0"/>
          </a:p>
          <a:p>
            <a:r>
              <a:rPr lang="zh-CN" altLang="en-US" dirty="0"/>
              <a:t>和数据一致性类似；</a:t>
            </a:r>
            <a:endParaRPr lang="en-US" altLang="zh-CN" dirty="0"/>
          </a:p>
          <a:p>
            <a:r>
              <a:rPr lang="zh-CN" altLang="en-US" dirty="0"/>
              <a:t>需要专门的一致性协议；</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一致性；</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定义：分布式存储，读写</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ea typeface="+mn-ea"/>
              </a:rPr>
              <a:t>promises to work correctly</a:t>
            </a:r>
            <a:r>
              <a:rPr lang="zh-CN" altLang="en-US" sz="1200" dirty="0">
                <a:ea typeface="+mn-ea"/>
              </a:rPr>
              <a:t>：</a:t>
            </a:r>
            <a:r>
              <a:rPr kumimoji="0" lang="en-US" altLang="zh-CN" sz="1200" b="0" i="0" u="none" strike="noStrike" kern="0" cap="none" spc="0" normalizeH="0" baseline="0" noProof="0" dirty="0">
                <a:ln>
                  <a:noFill/>
                </a:ln>
                <a:solidFill>
                  <a:schemeClr val="tx1"/>
                </a:solidFill>
                <a:effectLst/>
                <a:uLnTx/>
                <a:uFillTx/>
                <a:latin typeface="+mn-lt"/>
                <a:ea typeface="+mn-ea"/>
                <a:cs typeface="+mn-cs"/>
              </a:rPr>
              <a:t>values that a read operation on a data item can return</a:t>
            </a:r>
            <a:endParaRPr kumimoji="0" lang="en-US" altLang="zh-CN" sz="1200" b="0" i="0" u="none" strike="noStrike" kern="0" cap="none" spc="0" normalizeH="0" baseline="0" noProof="0" dirty="0">
              <a:ln>
                <a:noFill/>
              </a:ln>
              <a:solidFill>
                <a:schemeClr val="tx1"/>
              </a:solidFill>
              <a:effectLst/>
              <a:uLnTx/>
              <a:uFillTx/>
              <a:latin typeface="+mn-lt"/>
              <a:ea typeface="+mn-ea"/>
              <a:cs typeface="+mn-cs"/>
            </a:endParaRPr>
          </a:p>
          <a:p>
            <a:endParaRPr kumimoji="0" lang="en-US" altLang="zh-CN" sz="1200" b="0" i="0" u="none" strike="noStrike" kern="0" cap="none" spc="0" normalizeH="0" baseline="0" noProof="0" dirty="0">
              <a:ln>
                <a:noFill/>
              </a:ln>
              <a:solidFill>
                <a:schemeClr val="tx1"/>
              </a:solidFill>
              <a:effectLst/>
              <a:uLnTx/>
              <a:uFillTx/>
              <a:latin typeface="+mn-lt"/>
              <a:ea typeface="+mn-ea"/>
              <a:cs typeface="+mn-cs"/>
            </a:endParaRPr>
          </a:p>
          <a:p>
            <a:endParaRPr kumimoji="0" lang="en-US" altLang="zh-CN" sz="1200" b="0" i="0" u="none" strike="noStrike" kern="0" cap="none" spc="0" normalizeH="0" baseline="0" noProof="0" dirty="0">
              <a:ln>
                <a:noFill/>
              </a:ln>
              <a:solidFill>
                <a:schemeClr val="tx1"/>
              </a:solidFill>
              <a:effectLst/>
              <a:uLnTx/>
              <a:uFillTx/>
              <a:latin typeface="+mn-lt"/>
              <a:ea typeface="+mn-ea"/>
              <a:cs typeface="+mn-cs"/>
            </a:endParaRPr>
          </a:p>
          <a:p>
            <a:r>
              <a:rPr lang="zh-CN" altLang="en-US" dirty="0"/>
              <a:t>严格一致性：严格排序，针对一个读操作，返回最近一次写操作后的结果</a:t>
            </a:r>
            <a:endParaRPr lang="en-US" altLang="zh-CN" dirty="0"/>
          </a:p>
          <a:p>
            <a:endParaRPr lang="en-US" altLang="zh-CN" dirty="0"/>
          </a:p>
          <a:p>
            <a:r>
              <a:rPr lang="zh-CN" altLang="en-US" dirty="0"/>
              <a:t>针对严格一致性放松要求，产生一系列一致性模型</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和单机比的区别：同读写同一台机器，有全局时钟</a:t>
            </a:r>
            <a:endParaRPr lang="en-US" altLang="zh-CN" dirty="0"/>
          </a:p>
          <a:p>
            <a:endParaRPr lang="en-US" altLang="zh-CN" dirty="0"/>
          </a:p>
          <a:p>
            <a:r>
              <a:rPr lang="zh-CN" altLang="en-US" dirty="0"/>
              <a:t>同读写在不同机器上机器，没有全局时钟</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无法保障遵守绝对全局时间（在有全局时钟的前提下）；</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两个进程，两个数据备份，时间线</a:t>
            </a:r>
            <a:endParaRPr lang="en-US" altLang="zh-CN" dirty="0"/>
          </a:p>
          <a:p>
            <a:endParaRPr lang="en-US" altLang="zh-CN" dirty="0"/>
          </a:p>
          <a:p>
            <a:r>
              <a:rPr lang="en-US" altLang="zh-CN" dirty="0"/>
              <a:t>1.</a:t>
            </a:r>
            <a:r>
              <a:rPr lang="zh-CN" altLang="en-US" dirty="0"/>
              <a:t>严格一致性存储器（分布式环境下难以实现：有网络延迟）</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不同机器，不同进程，各自独立执行（并发执行）</a:t>
            </a:r>
            <a:endParaRPr lang="zh-CN" altLang="en-US" dirty="0"/>
          </a:p>
          <a:p>
            <a:endParaRPr lang="zh-CN" altLang="en-US" dirty="0"/>
          </a:p>
          <a:p>
            <a:r>
              <a:rPr lang="zh-CN" altLang="en-US" dirty="0"/>
              <a:t>存储器上的数据给所有进程所呈现出来的状态（执行结果）要遵循某一顺序，顺序；</a:t>
            </a:r>
            <a:endParaRPr lang="en-US" altLang="zh-CN" dirty="0"/>
          </a:p>
          <a:p>
            <a:endParaRPr lang="en-US" altLang="zh-CN" dirty="0"/>
          </a:p>
          <a:p>
            <a:endParaRPr lang="en-US" altLang="zh-CN" dirty="0"/>
          </a:p>
          <a:p>
            <a:r>
              <a:rPr lang="zh-CN" altLang="en-US" dirty="0"/>
              <a:t>（）</a:t>
            </a:r>
            <a:endParaRPr lang="zh-CN" altLang="en-US" dirty="0"/>
          </a:p>
          <a:p>
            <a:endParaRPr lang="zh-CN" altLang="en-US" dirty="0"/>
          </a:p>
          <a:p>
            <a:r>
              <a:rPr lang="zh-CN" altLang="en-US" dirty="0"/>
              <a:t>举例：</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举例：通信延迟</a:t>
            </a:r>
            <a:endParaRPr lang="en-US" altLang="zh-CN" dirty="0"/>
          </a:p>
          <a:p>
            <a:endParaRPr lang="en-US" altLang="zh-CN" dirty="0"/>
          </a:p>
          <a:p>
            <a:endParaRPr lang="en-US" altLang="zh-CN" dirty="0"/>
          </a:p>
          <a:p>
            <a:r>
              <a:rPr lang="zh-CN" altLang="en-US" dirty="0"/>
              <a:t>存储器：多机多副本（分布式系统）</a:t>
            </a:r>
            <a:endParaRPr lang="en-US" altLang="zh-CN" dirty="0"/>
          </a:p>
          <a:p>
            <a:endParaRPr lang="en-US" altLang="zh-CN" dirty="0"/>
          </a:p>
          <a:p>
            <a:r>
              <a:rPr lang="zh-CN" altLang="en-US" dirty="0"/>
              <a:t>单机但副本（单机操作系统）</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t>
            </a:r>
            <a:r>
              <a:rPr lang="zh-CN" altLang="en-US" dirty="0"/>
              <a:t>写</a:t>
            </a:r>
            <a:endParaRPr lang="zh-CN" altLang="en-US" dirty="0"/>
          </a:p>
          <a:p>
            <a:r>
              <a:rPr lang="en-US" altLang="zh-CN" dirty="0"/>
              <a:t>print</a:t>
            </a:r>
            <a:r>
              <a:rPr lang="zh-CN" altLang="en-US" dirty="0"/>
              <a:t>读</a:t>
            </a:r>
            <a:endParaRPr lang="en-US" altLang="zh-CN" dirty="0"/>
          </a:p>
          <a:p>
            <a:endParaRPr lang="en-US" altLang="zh-CN" dirty="0"/>
          </a:p>
          <a:p>
            <a:r>
              <a:rPr lang="zh-CN" altLang="en-US" dirty="0"/>
              <a:t>数据（</a:t>
            </a:r>
            <a:r>
              <a:rPr lang="en-US" altLang="zh-CN" dirty="0" err="1"/>
              <a:t>xyz</a:t>
            </a:r>
            <a:r>
              <a:rPr lang="zh-CN" altLang="en-US" dirty="0"/>
              <a:t>）备份存储</a:t>
            </a:r>
            <a:r>
              <a:rPr lang="en-US" altLang="zh-CN" dirty="0"/>
              <a:t>3</a:t>
            </a:r>
            <a:r>
              <a:rPr lang="zh-CN" altLang="en-US" dirty="0"/>
              <a:t>份</a:t>
            </a:r>
            <a:endParaRPr lang="en-US" altLang="zh-CN" dirty="0"/>
          </a:p>
          <a:p>
            <a:endParaRPr lang="en-US" altLang="zh-CN" dirty="0"/>
          </a:p>
          <a:p>
            <a:r>
              <a:rPr lang="zh-CN" altLang="en-US" dirty="0"/>
              <a:t>剩下</a:t>
            </a:r>
            <a:r>
              <a:rPr lang="en-US" altLang="zh-CN" dirty="0"/>
              <a:t>360</a:t>
            </a:r>
            <a:r>
              <a:rPr lang="zh-CN" altLang="en-US" dirty="0"/>
              <a:t>个，</a:t>
            </a:r>
            <a:r>
              <a:rPr lang="en-US" altLang="zh-CN" dirty="0"/>
              <a:t>print</a:t>
            </a:r>
            <a:r>
              <a:rPr lang="zh-CN" altLang="en-US" dirty="0"/>
              <a:t>开头</a:t>
            </a:r>
            <a:r>
              <a:rPr lang="en-US" altLang="zh-CN" dirty="0"/>
              <a:t>120</a:t>
            </a:r>
            <a:r>
              <a:rPr lang="zh-CN" altLang="en-US" dirty="0"/>
              <a:t>，无效；</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和严格一致性的区别；</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 </a:t>
            </a:r>
            <a:r>
              <a:rPr lang="zh-CN" altLang="en-US" dirty="0"/>
              <a:t>粗粒度时间戳排序，不能反映出精确的实际时间</a:t>
            </a:r>
            <a:endParaRPr lang="en-US" altLang="zh-CN" dirty="0"/>
          </a:p>
          <a:p>
            <a:endParaRPr lang="en-US" altLang="zh-CN" dirty="0"/>
          </a:p>
          <a:p>
            <a:endParaRPr lang="en-US" altLang="zh-CN" dirty="0"/>
          </a:p>
          <a:p>
            <a:r>
              <a:rPr lang="zh-CN" altLang="en-US" dirty="0"/>
              <a:t>可实现的最严格一致性；</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1.</a:t>
            </a:r>
            <a:r>
              <a:rPr lang="zh-CN" altLang="en-US" dirty="0"/>
              <a:t>顺序</a:t>
            </a:r>
            <a:endParaRPr lang="zh-CN" altLang="en-US" dirty="0"/>
          </a:p>
          <a:p>
            <a:r>
              <a:rPr lang="en-US" altLang="zh-CN" dirty="0"/>
              <a:t>2.</a:t>
            </a:r>
            <a:r>
              <a:rPr lang="zh-CN" altLang="en-US" dirty="0"/>
              <a:t>写入数据的人</a:t>
            </a:r>
            <a:endParaRPr lang="zh-CN" altLang="en-US" dirty="0"/>
          </a:p>
          <a:p>
            <a:r>
              <a:rPr lang="en-US" altLang="zh-CN" dirty="0"/>
              <a:t>3.</a:t>
            </a:r>
            <a:r>
              <a:rPr lang="zh-CN" altLang="en-US" dirty="0"/>
              <a:t>读数据的人</a:t>
            </a:r>
            <a:endParaRPr lang="zh-CN" altLang="en-US" dirty="0"/>
          </a:p>
          <a:p>
            <a:endParaRPr lang="zh-CN" altLang="en-US" dirty="0"/>
          </a:p>
          <a:p>
            <a:r>
              <a:rPr lang="zh-CN" altLang="en-US" dirty="0"/>
              <a:t>可以打包一组操作</a:t>
            </a:r>
            <a:endParaRPr lang="zh-CN" altLang="en-US" dirty="0"/>
          </a:p>
          <a:p>
            <a:r>
              <a:rPr lang="zh-CN" altLang="en-US" dirty="0"/>
              <a:t>可以控制同步时间</a:t>
            </a:r>
            <a:endParaRPr lang="en-US" altLang="zh-CN" dirty="0"/>
          </a:p>
          <a:p>
            <a:endParaRPr lang="en-US" altLang="zh-CN" dirty="0"/>
          </a:p>
          <a:p>
            <a:r>
              <a:rPr lang="zh-CN" altLang="en-US" dirty="0"/>
              <a:t>对一组操作进行同步，而不是单一操作；通过同步变量进行控制；写后调用，读前调用</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对同步变量的访问要遵循顺序一致性</a:t>
            </a:r>
            <a:endParaRPr lang="zh-CN" altLang="en-US" dirty="0"/>
          </a:p>
          <a:p>
            <a:endParaRPr lang="zh-CN" altLang="en-US" dirty="0"/>
          </a:p>
          <a:p>
            <a:r>
              <a:rPr lang="en-US" altLang="zh-CN">
                <a:sym typeface="+mn-ea"/>
              </a:rPr>
              <a:t>acquire</a:t>
            </a:r>
            <a:r>
              <a:rPr lang="zh-CN" altLang="en-US">
                <a:sym typeface="+mn-ea"/>
              </a:rPr>
              <a:t>：远程副本更新发送至本地副本</a:t>
            </a:r>
            <a:endParaRPr lang="zh-CN" altLang="en-US"/>
          </a:p>
          <a:p>
            <a:r>
              <a:rPr lang="en-US" altLang="zh-CN">
                <a:sym typeface="+mn-ea"/>
              </a:rPr>
              <a:t>release</a:t>
            </a:r>
            <a:r>
              <a:rPr lang="zh-CN" altLang="en-US">
                <a:sym typeface="+mn-ea"/>
              </a:rPr>
              <a:t>：本地副本更新扩散至远程副本</a:t>
            </a:r>
            <a:endParaRPr lang="zh-CN" altLang="en-US"/>
          </a:p>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acquire</a:t>
            </a:r>
            <a:r>
              <a:rPr lang="zh-CN" altLang="en-US"/>
              <a:t>：远程副本更新发送至本地副本</a:t>
            </a:r>
            <a:endParaRPr lang="zh-CN" altLang="en-US"/>
          </a:p>
          <a:p>
            <a:r>
              <a:rPr lang="en-US" altLang="zh-CN"/>
              <a:t>release</a:t>
            </a:r>
            <a:r>
              <a:rPr lang="zh-CN" altLang="en-US"/>
              <a:t>：本地副本更新扩散至远程副本</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逻辑共享内存</a:t>
            </a:r>
            <a:endParaRPr lang="en-US" altLang="zh-CN" dirty="0"/>
          </a:p>
          <a:p>
            <a:endParaRPr lang="en-US" altLang="zh-CN" dirty="0"/>
          </a:p>
          <a:p>
            <a:r>
              <a:rPr lang="zh-CN" altLang="en-US" dirty="0"/>
              <a:t>和互斥的区别</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每个</a:t>
            </a:r>
            <a:r>
              <a:rPr lang="en-US" altLang="zh-CN" dirty="0"/>
              <a:t>data item</a:t>
            </a:r>
            <a:r>
              <a:rPr lang="zh-CN" altLang="en-US" dirty="0"/>
              <a:t>一个同步变量；允许多个临界区并行执行；</a:t>
            </a:r>
            <a:endParaRPr lang="en-US" altLang="zh-CN" dirty="0"/>
          </a:p>
          <a:p>
            <a:endParaRPr lang="en-US" altLang="zh-CN" dirty="0"/>
          </a:p>
          <a:p>
            <a:r>
              <a:rPr lang="zh-CN" altLang="en-US" dirty="0"/>
              <a:t>读</a:t>
            </a:r>
            <a:r>
              <a:rPr lang="en-US" altLang="zh-CN" dirty="0"/>
              <a:t>-</a:t>
            </a:r>
            <a:r>
              <a:rPr lang="zh-CN" altLang="en-US" dirty="0"/>
              <a:t>非互斥模式访问：</a:t>
            </a:r>
            <a:endParaRPr lang="en-US" altLang="zh-CN" dirty="0"/>
          </a:p>
          <a:p>
            <a:r>
              <a:rPr lang="zh-CN" altLang="en-US" dirty="0"/>
              <a:t>写</a:t>
            </a:r>
            <a:r>
              <a:rPr lang="en-US" altLang="zh-CN" dirty="0"/>
              <a:t>-</a:t>
            </a:r>
            <a:r>
              <a:rPr lang="zh-CN" altLang="en-US" dirty="0"/>
              <a:t>互斥模式访问：</a:t>
            </a:r>
            <a:endParaRPr lang="zh-CN" altLang="en-US" dirty="0"/>
          </a:p>
          <a:p>
            <a:endParaRPr lang="zh-CN" altLang="en-US" dirty="0"/>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lang="en-US" altLang="zh-CN" kern="0" noProof="0" dirty="0">
                <a:ln>
                  <a:noFill/>
                </a:ln>
                <a:effectLst/>
                <a:uLnTx/>
                <a:uFillTx/>
                <a:ea typeface="宋体" panose="02010600030101010101" pitchFamily="2" charset="-122"/>
                <a:sym typeface="+mn-ea"/>
              </a:rPr>
              <a:t>1．</a:t>
            </a:r>
            <a:r>
              <a:rPr lang="zh-CN" altLang="en-US" kern="0" noProof="0" dirty="0">
                <a:ln>
                  <a:noFill/>
                </a:ln>
                <a:effectLst/>
                <a:uLnTx/>
                <a:uFillTx/>
                <a:ea typeface="宋体" panose="02010600030101010101" pitchFamily="2" charset="-122"/>
                <a:sym typeface="+mn-ea"/>
              </a:rPr>
              <a:t>当一进程的保护共享变量全部被更新以后，该进程才允许执行同步变量的获取访问；</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lang="zh-CN" altLang="en-US" kern="0" noProof="0" dirty="0">
                <a:ln>
                  <a:noFill/>
                </a:ln>
                <a:effectLst/>
                <a:uLnTx/>
                <a:uFillTx/>
                <a:ea typeface="宋体" panose="02010600030101010101" pitchFamily="2" charset="-122"/>
                <a:sym typeface="+mn-ea"/>
              </a:rPr>
              <a:t>2．在一进程以互斥模式访问该进程的同步变量之前，不允许其它进程持有此同步变量 ；</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lang="zh-CN" altLang="en-US" kern="0" noProof="0" dirty="0">
                <a:ln>
                  <a:noFill/>
                </a:ln>
                <a:effectLst/>
                <a:uLnTx/>
                <a:uFillTx/>
                <a:ea typeface="宋体" panose="02010600030101010101" pitchFamily="2" charset="-122"/>
                <a:sym typeface="+mn-ea"/>
              </a:rPr>
              <a:t>3．在结束互斥模式下对一个同步变量的访问后，任意其它进程必须与该变量的拥有者核查，才能试图以非互斥模式访问该同步变量。</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同步变量：自己控制</a:t>
            </a:r>
            <a:endParaRPr lang="en-US" altLang="zh-CN" dirty="0"/>
          </a:p>
          <a:p>
            <a:r>
              <a:rPr lang="zh-CN" altLang="en-US" dirty="0"/>
              <a:t>透明性</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之前：面向数据存储的系统级一致性视角，原因：多个用户同时更新</a:t>
            </a:r>
            <a:endParaRPr lang="en-US" altLang="zh-CN" dirty="0"/>
          </a:p>
          <a:p>
            <a:endParaRPr lang="en-US" altLang="zh-CN" dirty="0"/>
          </a:p>
          <a:p>
            <a:endParaRPr lang="en-US" altLang="zh-CN" dirty="0"/>
          </a:p>
          <a:p>
            <a:r>
              <a:rPr lang="zh-CN" altLang="en-US" dirty="0"/>
              <a:t>应用场景：移动用户，不同备份</a:t>
            </a:r>
            <a:endParaRPr lang="en-US" altLang="zh-CN" dirty="0"/>
          </a:p>
          <a:p>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只有少数进程允许更新，且更新频率很低，传染协议</a:t>
            </a:r>
            <a:endParaRPr lang="zh-CN" altLang="en-US" dirty="0"/>
          </a:p>
          <a:p>
            <a:endParaRPr lang="zh-CN" altLang="en-US" dirty="0"/>
          </a:p>
          <a:p>
            <a:r>
              <a:rPr lang="en-US" altLang="zh-CN" dirty="0"/>
              <a:t>DNS</a:t>
            </a:r>
            <a:r>
              <a:rPr lang="zh-CN" altLang="en-US" dirty="0"/>
              <a:t>服务器，</a:t>
            </a:r>
            <a:r>
              <a:rPr lang="en-US" altLang="zh-CN" dirty="0"/>
              <a:t>www</a:t>
            </a:r>
            <a:r>
              <a:rPr lang="zh-CN" altLang="en-US" dirty="0"/>
              <a:t>网页，</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dirty="0"/>
              <a:t>*</a:t>
            </a:r>
            <a:endParaRPr lang="en-US" altLang="zh-CN" dirty="0"/>
          </a:p>
          <a:p>
            <a:r>
              <a:rPr lang="en-US" altLang="zh-CN" dirty="0"/>
              <a:t>x</a:t>
            </a:r>
            <a:r>
              <a:rPr lang="zh-CN" altLang="en-US" dirty="0"/>
              <a:t>：</a:t>
            </a:r>
            <a:r>
              <a:rPr lang="en-US" altLang="zh-CN" dirty="0"/>
              <a:t>1</a:t>
            </a:r>
            <a:r>
              <a:rPr lang="zh-CN" altLang="en-US" dirty="0"/>
              <a:t>副本，</a:t>
            </a:r>
            <a:r>
              <a:rPr lang="en-US" altLang="zh-CN" dirty="0"/>
              <a:t>2</a:t>
            </a:r>
            <a:r>
              <a:rPr lang="zh-CN" altLang="en-US" dirty="0"/>
              <a:t>副本；</a:t>
            </a:r>
            <a:r>
              <a:rPr lang="en-US" altLang="zh-CN" dirty="0"/>
              <a:t>WS</a:t>
            </a:r>
            <a:r>
              <a:rPr lang="zh-CN" altLang="en-US" dirty="0"/>
              <a:t>为针对</a:t>
            </a:r>
            <a:r>
              <a:rPr lang="en-US" altLang="zh-CN" dirty="0"/>
              <a:t>x</a:t>
            </a:r>
            <a:r>
              <a:rPr lang="zh-CN" altLang="en-US" dirty="0"/>
              <a:t>某一副本的写操作：</a:t>
            </a:r>
            <a:endParaRPr lang="en-US" altLang="zh-CN" dirty="0"/>
          </a:p>
          <a:p>
            <a:endParaRPr lang="en-US" altLang="zh-CN" dirty="0"/>
          </a:p>
          <a:p>
            <a:r>
              <a:rPr lang="zh-CN" altLang="en-US" dirty="0"/>
              <a:t>两个</a:t>
            </a:r>
            <a:r>
              <a:rPr lang="en-US" altLang="zh-CN" dirty="0"/>
              <a:t>R</a:t>
            </a:r>
            <a:r>
              <a:rPr lang="zh-CN" altLang="en-US" dirty="0"/>
              <a:t>为同一个进程读</a:t>
            </a:r>
            <a:endParaRPr lang="en-US" altLang="zh-CN" dirty="0"/>
          </a:p>
          <a:p>
            <a:r>
              <a:rPr lang="zh-CN" altLang="en-US" dirty="0"/>
              <a:t>两个</a:t>
            </a:r>
            <a:r>
              <a:rPr lang="en-US" altLang="zh-CN" dirty="0"/>
              <a:t>WS</a:t>
            </a:r>
            <a:r>
              <a:rPr lang="zh-CN" altLang="en-US" dirty="0"/>
              <a:t>为不同进程写</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扩散；</a:t>
            </a:r>
            <a:endParaRPr lang="en-US" altLang="zh-CN" dirty="0"/>
          </a:p>
          <a:p>
            <a:endParaRPr lang="en-US" altLang="zh-CN" dirty="0"/>
          </a:p>
          <a:p>
            <a:r>
              <a:rPr lang="zh-CN" altLang="en-US" dirty="0"/>
              <a:t>两个</a:t>
            </a:r>
            <a:r>
              <a:rPr lang="en-US" altLang="zh-CN" dirty="0"/>
              <a:t>W</a:t>
            </a:r>
            <a:r>
              <a:rPr lang="zh-CN" altLang="en-US" dirty="0"/>
              <a:t>为同一个进程写入；</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a:t>
            </a:r>
            <a:r>
              <a:rPr lang="zh-CN" altLang="en-US" dirty="0"/>
              <a:t>（</a:t>
            </a:r>
            <a:r>
              <a:rPr lang="en-US" altLang="zh-CN" dirty="0"/>
              <a:t>x1</a:t>
            </a:r>
            <a:r>
              <a:rPr lang="zh-CN" altLang="en-US" dirty="0"/>
              <a:t>）和</a:t>
            </a:r>
            <a:r>
              <a:rPr lang="en-US" altLang="zh-CN" dirty="0"/>
              <a:t>WS</a:t>
            </a:r>
            <a:r>
              <a:rPr lang="zh-CN" altLang="en-US" dirty="0"/>
              <a:t>（</a:t>
            </a:r>
            <a:r>
              <a:rPr lang="en-US" altLang="zh-CN" dirty="0"/>
              <a:t>x1</a:t>
            </a:r>
            <a:r>
              <a:rPr lang="zh-CN" altLang="en-US" dirty="0"/>
              <a:t>；</a:t>
            </a:r>
            <a:r>
              <a:rPr lang="en-US" altLang="zh-CN" dirty="0"/>
              <a:t>x2</a:t>
            </a:r>
            <a:r>
              <a:rPr lang="zh-CN" altLang="en-US" dirty="0"/>
              <a:t>）都由同一个进程完成；</a:t>
            </a:r>
            <a:endParaRPr lang="zh-CN" altLang="en-US" dirty="0"/>
          </a:p>
          <a:p>
            <a:r>
              <a:rPr lang="en-US" altLang="zh-CN" dirty="0"/>
              <a:t>*</a:t>
            </a:r>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本次读的值和上次读的值至少一样，或者比上次值新；</a:t>
            </a:r>
            <a:endParaRPr lang="en-US" altLang="zh-CN" dirty="0"/>
          </a:p>
          <a:p>
            <a:endParaRPr lang="en-US" altLang="zh-CN" dirty="0"/>
          </a:p>
          <a:p>
            <a:r>
              <a:rPr lang="en-US" altLang="zh-CN" dirty="0"/>
              <a:t>Client</a:t>
            </a:r>
            <a:r>
              <a:rPr lang="zh-CN" altLang="en-US" dirty="0"/>
              <a:t>开始读操作，读操作被发送到就近的一个副本上，为了保证单调读，</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Client</a:t>
            </a:r>
            <a:r>
              <a:rPr lang="zh-CN" altLang="en-US" dirty="0"/>
              <a:t>开始写操作；写操作被发送到就近的一个副本上，为了保证单调写，</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对于同一个进程来说，上次写产生的影响能够被本次读看见</a:t>
            </a:r>
            <a:endParaRPr lang="en-US" altLang="zh-CN" dirty="0"/>
          </a:p>
          <a:p>
            <a:endParaRPr lang="en-US" altLang="zh-CN" dirty="0"/>
          </a:p>
          <a:p>
            <a:r>
              <a:rPr lang="zh-CN" altLang="en-US" dirty="0"/>
              <a:t>现在进程读，读操作被发送到就近的一个副本上，为了保证单调</a:t>
            </a:r>
            <a:r>
              <a:rPr lang="en-US" altLang="zh-CN" dirty="0"/>
              <a:t>XXX</a:t>
            </a:r>
            <a:r>
              <a:rPr lang="zh-CN" altLang="en-US" dirty="0"/>
              <a:t>，</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现在进程写入，写操作被发送到就近的一个副本上，为了保证单调</a:t>
            </a:r>
            <a:r>
              <a:rPr lang="en-US" altLang="zh-CN" dirty="0"/>
              <a:t>XXX</a:t>
            </a:r>
            <a:r>
              <a:rPr lang="zh-CN" altLang="en-US" dirty="0"/>
              <a:t>，</a:t>
            </a:r>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通用方法，在此基础上</a:t>
            </a:r>
            <a:r>
              <a:rPr lang="en-US" altLang="zh-CN" dirty="0"/>
              <a:t>-</a:t>
            </a:r>
            <a:r>
              <a:rPr lang="zh-CN" altLang="en-US" dirty="0"/>
              <a:t>共识协议</a:t>
            </a:r>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为每一个文件维持一个计数器，及请求从哪里来</a:t>
            </a:r>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endParaRPr lang="zh-CN" altLang="en-US" dirty="0"/>
          </a:p>
          <a:p>
            <a:r>
              <a:rPr lang="zh-CN" altLang="en-US" dirty="0"/>
              <a:t>何时备份一个文件；</a:t>
            </a:r>
            <a:endParaRPr lang="en-US" altLang="zh-CN" dirty="0"/>
          </a:p>
          <a:p>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Rep</a:t>
            </a:r>
            <a:r>
              <a:rPr lang="zh-CN" altLang="en-US" dirty="0"/>
              <a:t>：</a:t>
            </a:r>
            <a:r>
              <a:rPr lang="en-US" altLang="zh-CN" dirty="0"/>
              <a:t>S</a:t>
            </a:r>
            <a:r>
              <a:rPr lang="zh-CN" altLang="en-US" dirty="0"/>
              <a:t>对每个服务器记录收到访问文件</a:t>
            </a:r>
            <a:r>
              <a:rPr lang="en-US" altLang="zh-CN" dirty="0"/>
              <a:t>F</a:t>
            </a:r>
            <a:r>
              <a:rPr lang="zh-CN" altLang="en-US" dirty="0"/>
              <a:t>的请求数；</a:t>
            </a:r>
            <a:endParaRPr lang="zh-CN" altLang="en-US" dirty="0"/>
          </a:p>
          <a:p>
            <a:endParaRPr lang="en-US" altLang="zh-CN" dirty="0"/>
          </a:p>
          <a:p>
            <a:r>
              <a:rPr lang="en-US" altLang="zh-CN" dirty="0"/>
              <a:t>Rep</a:t>
            </a:r>
            <a:r>
              <a:rPr lang="zh-CN" altLang="en-US" dirty="0"/>
              <a:t>：</a:t>
            </a:r>
            <a:r>
              <a:rPr lang="en-US" altLang="zh-CN" dirty="0"/>
              <a:t>S</a:t>
            </a:r>
            <a:r>
              <a:rPr lang="zh-CN" altLang="en-US" dirty="0"/>
              <a:t>记录的收到访问文件</a:t>
            </a:r>
            <a:r>
              <a:rPr lang="en-US" altLang="zh-CN" dirty="0"/>
              <a:t>F</a:t>
            </a:r>
            <a:r>
              <a:rPr lang="zh-CN" altLang="en-US" dirty="0"/>
              <a:t>的请求数；</a:t>
            </a:r>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Cache hit</a:t>
            </a:r>
            <a:r>
              <a:rPr lang="zh-CN" altLang="en-US" dirty="0"/>
              <a:t>；</a:t>
            </a:r>
            <a:endParaRPr lang="en-US" altLang="zh-CN" dirty="0"/>
          </a:p>
          <a:p>
            <a:r>
              <a:rPr lang="en-US" altLang="zh-CN" dirty="0"/>
              <a:t>Cache</a:t>
            </a:r>
            <a:r>
              <a:rPr lang="zh-CN" altLang="en-US" dirty="0"/>
              <a:t>更新；</a:t>
            </a:r>
            <a:endParaRPr lang="zh-CN" altLang="en-US" dirty="0"/>
          </a:p>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当某一个副本被更新后，更新如何传播至其他副本：三种传播方式；</a:t>
            </a:r>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传播方式</a:t>
            </a:r>
            <a:endParaRPr lang="zh-CN" altLang="en-US" dirty="0"/>
          </a:p>
          <a:p>
            <a:endParaRPr lang="en-US" altLang="zh-CN" dirty="0"/>
          </a:p>
          <a:p>
            <a:endParaRPr lang="en-US" altLang="zh-CN" dirty="0"/>
          </a:p>
          <a:p>
            <a:r>
              <a:rPr lang="en-US" altLang="zh-CN" dirty="0"/>
              <a:t>Push</a:t>
            </a:r>
            <a:r>
              <a:rPr lang="zh-CN" altLang="en-US" dirty="0"/>
              <a:t>：永久</a:t>
            </a:r>
            <a:r>
              <a:rPr lang="en-US" altLang="zh-CN" dirty="0"/>
              <a:t>-server</a:t>
            </a:r>
            <a:r>
              <a:rPr lang="zh-CN" altLang="en-US" dirty="0"/>
              <a:t>发起</a:t>
            </a:r>
            <a:r>
              <a:rPr lang="en-US" altLang="zh-CN" dirty="0"/>
              <a:t>-</a:t>
            </a:r>
            <a:r>
              <a:rPr lang="zh-CN" altLang="en-US" dirty="0"/>
              <a:t>用户</a:t>
            </a:r>
            <a:r>
              <a:rPr lang="en-US" altLang="zh-CN" dirty="0"/>
              <a:t>cache</a:t>
            </a:r>
            <a:r>
              <a:rPr lang="zh-CN" altLang="en-US" dirty="0"/>
              <a:t>；</a:t>
            </a:r>
            <a:endParaRPr lang="en-US" altLang="zh-CN" dirty="0"/>
          </a:p>
          <a:p>
            <a:r>
              <a:rPr lang="zh-CN" altLang="en-US" dirty="0"/>
              <a:t>一致性强；</a:t>
            </a:r>
            <a:endParaRPr lang="en-US" altLang="zh-CN" dirty="0"/>
          </a:p>
          <a:p>
            <a:endParaRPr lang="en-US" altLang="zh-CN" dirty="0"/>
          </a:p>
          <a:p>
            <a:endParaRPr lang="en-US" altLang="zh-CN" dirty="0"/>
          </a:p>
          <a:p>
            <a:r>
              <a:rPr lang="en-US" altLang="zh-CN" dirty="0"/>
              <a:t>Pull</a:t>
            </a:r>
            <a:r>
              <a:rPr lang="zh-CN" altLang="en-US" dirty="0"/>
              <a:t>：</a:t>
            </a:r>
            <a:r>
              <a:rPr lang="en-US" altLang="zh-CN" dirty="0"/>
              <a:t>client</a:t>
            </a:r>
            <a:r>
              <a:rPr lang="zh-CN" altLang="en-US" dirty="0"/>
              <a:t>发起的更新；主要发生在</a:t>
            </a:r>
            <a:r>
              <a:rPr lang="en-US" altLang="zh-CN" dirty="0"/>
              <a:t>client cache</a:t>
            </a:r>
            <a:r>
              <a:rPr lang="zh-CN" altLang="en-US" dirty="0"/>
              <a:t>端</a:t>
            </a:r>
            <a:endParaRPr lang="zh-CN" altLang="en-US" dirty="0"/>
          </a:p>
          <a:p>
            <a:endParaRPr lang="zh-CN" altLang="en-US" dirty="0"/>
          </a:p>
          <a:p>
            <a:endParaRPr lang="zh-CN" altLang="en-US" dirty="0"/>
          </a:p>
          <a:p>
            <a:endParaRPr lang="zh-CN" altLang="en-US" dirty="0"/>
          </a:p>
          <a:p>
            <a:endParaRPr lang="zh-CN" altLang="en-US" dirty="0"/>
          </a:p>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是否有主副本：所有写操作都要在主副本上执行</a:t>
            </a:r>
            <a:endParaRPr lang="en-US" altLang="zh-CN" dirty="0"/>
          </a:p>
          <a:p>
            <a:endParaRPr lang="en-US" altLang="zh-CN" dirty="0"/>
          </a:p>
          <a:p>
            <a:r>
              <a:rPr lang="zh-CN" altLang="en-US" dirty="0"/>
              <a:t>没有：写操作可以在任意副本上执行</a:t>
            </a:r>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读写都在一个远程服务器上，没有备份，</a:t>
            </a:r>
            <a:r>
              <a:rPr lang="en-US" altLang="zh-CN" dirty="0"/>
              <a:t>client-server model</a:t>
            </a:r>
            <a:r>
              <a:rPr lang="zh-CN" altLang="en-US" dirty="0"/>
              <a:t>，顺序一致性</a:t>
            </a:r>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rgbClr val="0070C0"/>
                </a:solidFill>
                <a:ea typeface="+mn-ea"/>
              </a:rPr>
              <a:t>带复制的主副本；</a:t>
            </a:r>
            <a:endParaRPr lang="en-US" altLang="zh-CN" sz="1200" b="1" dirty="0">
              <a:solidFill>
                <a:srgbClr val="0070C0"/>
              </a:solidFill>
              <a:ea typeface="+mn-ea"/>
            </a:endParaRPr>
          </a:p>
          <a:p>
            <a:endParaRPr lang="en-US" altLang="zh-CN" sz="1200" b="1" dirty="0">
              <a:solidFill>
                <a:srgbClr val="0070C0"/>
              </a:solidFill>
              <a:ea typeface="+mn-ea"/>
            </a:endParaRPr>
          </a:p>
          <a:p>
            <a:r>
              <a:rPr lang="zh-CN" altLang="en-US" dirty="0"/>
              <a:t>实现顺序一致性：主副本收到所有写请求，可排序，所有副本看到写一致性</a:t>
            </a:r>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可移动的主副本，顺序一致性；只有一个副本；</a:t>
            </a:r>
            <a:endParaRPr lang="en-US" altLang="zh-CN" dirty="0"/>
          </a:p>
          <a:p>
            <a:endParaRPr lang="en-US" altLang="zh-CN" dirty="0"/>
          </a:p>
          <a:p>
            <a:r>
              <a:rPr lang="zh-CN" altLang="en-US" dirty="0"/>
              <a:t>主副本在多个服务器之间顺序移动；</a:t>
            </a:r>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顺序一致性</a:t>
            </a:r>
            <a:endParaRPr lang="en-US" altLang="zh-CN" dirty="0"/>
          </a:p>
          <a:p>
            <a:endParaRPr lang="en-US" altLang="zh-CN" dirty="0"/>
          </a:p>
          <a:p>
            <a:r>
              <a:rPr lang="zh-CN" altLang="en-US" dirty="0"/>
              <a:t>每一个数据有一个版本号，每更新一次版本号</a:t>
            </a:r>
            <a:r>
              <a:rPr lang="en-US" altLang="zh-CN" dirty="0"/>
              <a:t>+1</a:t>
            </a:r>
            <a:endParaRPr lang="en-US" altLang="zh-CN" dirty="0"/>
          </a:p>
          <a:p>
            <a:r>
              <a:rPr lang="zh-CN" altLang="en-US" dirty="0"/>
              <a:t>每个服务器都有自己的副本；</a:t>
            </a:r>
            <a:endParaRPr lang="en-US" altLang="zh-CN" dirty="0"/>
          </a:p>
          <a:p>
            <a:endParaRPr lang="en-US" altLang="zh-CN" dirty="0"/>
          </a:p>
          <a:p>
            <a:r>
              <a:rPr lang="en-US" altLang="zh-CN" dirty="0"/>
              <a:t>1.</a:t>
            </a:r>
            <a:r>
              <a:rPr lang="zh-CN" altLang="en-US" dirty="0"/>
              <a:t>读写冲突（排序）；</a:t>
            </a:r>
            <a:r>
              <a:rPr lang="en-US" altLang="zh-CN" dirty="0"/>
              <a:t>2.</a:t>
            </a:r>
            <a:r>
              <a:rPr lang="zh-CN" altLang="en-US" dirty="0"/>
              <a:t>写写冲突（排序）；</a:t>
            </a:r>
            <a:endParaRPr lang="en-US" altLang="zh-CN" dirty="0"/>
          </a:p>
          <a:p>
            <a:endParaRPr lang="en-US" altLang="zh-CN" dirty="0"/>
          </a:p>
          <a:p>
            <a:r>
              <a:rPr lang="zh-CN" altLang="en-US" dirty="0"/>
              <a:t>（</a:t>
            </a:r>
            <a:r>
              <a:rPr lang="en-US" altLang="zh-CN" dirty="0"/>
              <a:t>a</a:t>
            </a:r>
            <a:r>
              <a:rPr lang="zh-CN" altLang="en-US" dirty="0"/>
              <a:t>）最近一次的写投票集合为</a:t>
            </a:r>
            <a:r>
              <a:rPr lang="en-US" altLang="zh-CN" dirty="0"/>
              <a:t>C</a:t>
            </a:r>
            <a:r>
              <a:rPr lang="zh-CN" altLang="en-US" dirty="0"/>
              <a:t>到</a:t>
            </a:r>
            <a:r>
              <a:rPr lang="en-US" altLang="zh-CN" dirty="0"/>
              <a:t>L</a:t>
            </a:r>
            <a:r>
              <a:rPr lang="zh-CN" altLang="en-US" dirty="0"/>
              <a:t>，无论那三个节点选为读投票集合，总能找到最新版本</a:t>
            </a:r>
            <a:endParaRPr lang="en-US" altLang="zh-CN" dirty="0"/>
          </a:p>
          <a:p>
            <a:r>
              <a:rPr lang="zh-CN" altLang="en-US" dirty="0"/>
              <a:t>（</a:t>
            </a:r>
            <a:r>
              <a:rPr lang="en-US" altLang="zh-CN" dirty="0"/>
              <a:t>b</a:t>
            </a:r>
            <a:r>
              <a:rPr lang="zh-CN" altLang="en-US" dirty="0"/>
              <a:t>）写写冲突，两个写同时发生了，</a:t>
            </a:r>
            <a:endParaRPr lang="en-US" altLang="zh-CN" dirty="0"/>
          </a:p>
          <a:p>
            <a:r>
              <a:rPr lang="zh-CN" altLang="en-US" dirty="0"/>
              <a:t>（</a:t>
            </a:r>
            <a:r>
              <a:rPr lang="en-US" altLang="zh-CN" dirty="0"/>
              <a:t>c)  </a:t>
            </a:r>
            <a:r>
              <a:rPr lang="zh-CN" altLang="en-US" dirty="0"/>
              <a:t>设计性能</a:t>
            </a:r>
            <a:r>
              <a:rPr lang="en-US" altLang="zh-CN" dirty="0"/>
              <a:t>balance</a:t>
            </a:r>
            <a:r>
              <a:rPr lang="zh-CN" altLang="en-US" dirty="0"/>
              <a:t>：读一次，写全部；</a:t>
            </a:r>
            <a:endParaRPr lang="en-US" altLang="zh-CN" dirty="0"/>
          </a:p>
          <a:p>
            <a:endParaRPr lang="en-US" altLang="zh-CN" dirty="0"/>
          </a:p>
          <a:p>
            <a:endParaRPr lang="en-US" altLang="zh-CN" dirty="0"/>
          </a:p>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7" name="Rectangle 3"/>
          <p:cNvSpPr>
            <a:spLocks noGrp="1"/>
          </p:cNvSpPr>
          <p:nvPr>
            <p:ph type="body" idx="1"/>
          </p:nvPr>
        </p:nvSpPr>
        <p:spPr>
          <a:xfrm>
            <a:off x="0" y="5715000"/>
            <a:ext cx="9144000" cy="8382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32.emf"/><Relationship Id="rId7" Type="http://schemas.openxmlformats.org/officeDocument/2006/relationships/oleObject" Target="../embeddings/oleObject4.bin"/><Relationship Id="rId6" Type="http://schemas.openxmlformats.org/officeDocument/2006/relationships/image" Target="../media/image31.emf"/><Relationship Id="rId5" Type="http://schemas.openxmlformats.org/officeDocument/2006/relationships/oleObject" Target="../embeddings/oleObject3.bin"/><Relationship Id="rId4" Type="http://schemas.openxmlformats.org/officeDocument/2006/relationships/image" Target="../media/image30.emf"/><Relationship Id="rId3" Type="http://schemas.openxmlformats.org/officeDocument/2006/relationships/oleObject" Target="../embeddings/oleObject2.bin"/><Relationship Id="rId2" Type="http://schemas.openxmlformats.org/officeDocument/2006/relationships/image" Target="../media/image29.emf"/><Relationship Id="rId15" Type="http://schemas.openxmlformats.org/officeDocument/2006/relationships/vmlDrawing" Target="../drawings/vmlDrawing1.vml"/><Relationship Id="rId14" Type="http://schemas.openxmlformats.org/officeDocument/2006/relationships/slideLayout" Target="../slideLayouts/slideLayout7.xml"/><Relationship Id="rId13" Type="http://schemas.openxmlformats.org/officeDocument/2006/relationships/image" Target="../media/image33.emf"/><Relationship Id="rId12" Type="http://schemas.openxmlformats.org/officeDocument/2006/relationships/oleObject" Target="../embeddings/oleObject8.bin"/><Relationship Id="rId11" Type="http://schemas.openxmlformats.org/officeDocument/2006/relationships/oleObject" Target="../embeddings/oleObject7.bin"/><Relationship Id="rId10" Type="http://schemas.openxmlformats.org/officeDocument/2006/relationships/oleObject" Target="../embeddings/oleObject6.bin"/><Relationship Id="rId1" Type="http://schemas.openxmlformats.org/officeDocument/2006/relationships/oleObject" Target="../embeddings/oleObject1.bin"/></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32.emf"/><Relationship Id="rId7" Type="http://schemas.openxmlformats.org/officeDocument/2006/relationships/oleObject" Target="../embeddings/oleObject12.bin"/><Relationship Id="rId6" Type="http://schemas.openxmlformats.org/officeDocument/2006/relationships/image" Target="../media/image31.emf"/><Relationship Id="rId5" Type="http://schemas.openxmlformats.org/officeDocument/2006/relationships/oleObject" Target="../embeddings/oleObject11.bin"/><Relationship Id="rId4" Type="http://schemas.openxmlformats.org/officeDocument/2006/relationships/image" Target="../media/image30.emf"/><Relationship Id="rId3" Type="http://schemas.openxmlformats.org/officeDocument/2006/relationships/oleObject" Target="../embeddings/oleObject10.bin"/><Relationship Id="rId2" Type="http://schemas.openxmlformats.org/officeDocument/2006/relationships/image" Target="../media/image29.emf"/><Relationship Id="rId15" Type="http://schemas.openxmlformats.org/officeDocument/2006/relationships/vmlDrawing" Target="../drawings/vmlDrawing2.vml"/><Relationship Id="rId14" Type="http://schemas.openxmlformats.org/officeDocument/2006/relationships/slideLayout" Target="../slideLayouts/slideLayout7.xml"/><Relationship Id="rId13" Type="http://schemas.openxmlformats.org/officeDocument/2006/relationships/image" Target="../media/image33.emf"/><Relationship Id="rId12" Type="http://schemas.openxmlformats.org/officeDocument/2006/relationships/oleObject" Target="../embeddings/oleObject16.bin"/><Relationship Id="rId11" Type="http://schemas.openxmlformats.org/officeDocument/2006/relationships/oleObject" Target="../embeddings/oleObject15.bin"/><Relationship Id="rId10" Type="http://schemas.openxmlformats.org/officeDocument/2006/relationships/oleObject" Target="../embeddings/oleObject14.bin"/><Relationship Id="rId1" Type="http://schemas.openxmlformats.org/officeDocument/2006/relationships/oleObject" Target="../embeddings/oleObject9.bin"/></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32.emf"/><Relationship Id="rId7" Type="http://schemas.openxmlformats.org/officeDocument/2006/relationships/oleObject" Target="../embeddings/oleObject20.bin"/><Relationship Id="rId6" Type="http://schemas.openxmlformats.org/officeDocument/2006/relationships/image" Target="../media/image31.emf"/><Relationship Id="rId5" Type="http://schemas.openxmlformats.org/officeDocument/2006/relationships/oleObject" Target="../embeddings/oleObject19.bin"/><Relationship Id="rId4" Type="http://schemas.openxmlformats.org/officeDocument/2006/relationships/image" Target="../media/image30.emf"/><Relationship Id="rId3" Type="http://schemas.openxmlformats.org/officeDocument/2006/relationships/oleObject" Target="../embeddings/oleObject18.bin"/><Relationship Id="rId2" Type="http://schemas.openxmlformats.org/officeDocument/2006/relationships/image" Target="../media/image29.emf"/><Relationship Id="rId15" Type="http://schemas.openxmlformats.org/officeDocument/2006/relationships/vmlDrawing" Target="../drawings/vmlDrawing3.vml"/><Relationship Id="rId14" Type="http://schemas.openxmlformats.org/officeDocument/2006/relationships/slideLayout" Target="../slideLayouts/slideLayout7.xml"/><Relationship Id="rId13" Type="http://schemas.openxmlformats.org/officeDocument/2006/relationships/image" Target="../media/image33.emf"/><Relationship Id="rId12" Type="http://schemas.openxmlformats.org/officeDocument/2006/relationships/oleObject" Target="../embeddings/oleObject24.bin"/><Relationship Id="rId11" Type="http://schemas.openxmlformats.org/officeDocument/2006/relationships/oleObject" Target="../embeddings/oleObject23.bin"/><Relationship Id="rId10" Type="http://schemas.openxmlformats.org/officeDocument/2006/relationships/oleObject" Target="../embeddings/oleObject22.bin"/><Relationship Id="rId1" Type="http://schemas.openxmlformats.org/officeDocument/2006/relationships/oleObject" Target="../embeddings/oleObject17.bin"/></Relationships>
</file>

<file path=ppt/slides/_rels/slide69.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32.emf"/><Relationship Id="rId7" Type="http://schemas.openxmlformats.org/officeDocument/2006/relationships/oleObject" Target="../embeddings/oleObject28.bin"/><Relationship Id="rId6" Type="http://schemas.openxmlformats.org/officeDocument/2006/relationships/image" Target="../media/image31.emf"/><Relationship Id="rId5" Type="http://schemas.openxmlformats.org/officeDocument/2006/relationships/oleObject" Target="../embeddings/oleObject27.bin"/><Relationship Id="rId4" Type="http://schemas.openxmlformats.org/officeDocument/2006/relationships/image" Target="../media/image30.emf"/><Relationship Id="rId3" Type="http://schemas.openxmlformats.org/officeDocument/2006/relationships/oleObject" Target="../embeddings/oleObject26.bin"/><Relationship Id="rId2" Type="http://schemas.openxmlformats.org/officeDocument/2006/relationships/image" Target="../media/image29.emf"/><Relationship Id="rId17" Type="http://schemas.openxmlformats.org/officeDocument/2006/relationships/vmlDrawing" Target="../drawings/vmlDrawing4.vml"/><Relationship Id="rId16" Type="http://schemas.openxmlformats.org/officeDocument/2006/relationships/slideLayout" Target="../slideLayouts/slideLayout7.xml"/><Relationship Id="rId15" Type="http://schemas.openxmlformats.org/officeDocument/2006/relationships/oleObject" Target="../embeddings/oleObject34.bin"/><Relationship Id="rId14" Type="http://schemas.openxmlformats.org/officeDocument/2006/relationships/oleObject" Target="../embeddings/oleObject33.bin"/><Relationship Id="rId13" Type="http://schemas.openxmlformats.org/officeDocument/2006/relationships/oleObject" Target="../embeddings/oleObject32.bin"/><Relationship Id="rId12" Type="http://schemas.openxmlformats.org/officeDocument/2006/relationships/image" Target="../media/image33.emf"/><Relationship Id="rId11" Type="http://schemas.openxmlformats.org/officeDocument/2006/relationships/oleObject" Target="../embeddings/oleObject31.bin"/><Relationship Id="rId10" Type="http://schemas.openxmlformats.org/officeDocument/2006/relationships/oleObject" Target="../embeddings/oleObject30.bin"/><Relationship Id="rId1" Type="http://schemas.openxmlformats.org/officeDocument/2006/relationships/oleObject" Target="../embeddings/oleObject25.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32.emf"/><Relationship Id="rId7" Type="http://schemas.openxmlformats.org/officeDocument/2006/relationships/oleObject" Target="../embeddings/oleObject38.bin"/><Relationship Id="rId6" Type="http://schemas.openxmlformats.org/officeDocument/2006/relationships/image" Target="../media/image31.emf"/><Relationship Id="rId5" Type="http://schemas.openxmlformats.org/officeDocument/2006/relationships/oleObject" Target="../embeddings/oleObject37.bin"/><Relationship Id="rId4" Type="http://schemas.openxmlformats.org/officeDocument/2006/relationships/image" Target="../media/image30.emf"/><Relationship Id="rId3" Type="http://schemas.openxmlformats.org/officeDocument/2006/relationships/oleObject" Target="../embeddings/oleObject36.bin"/><Relationship Id="rId2" Type="http://schemas.openxmlformats.org/officeDocument/2006/relationships/image" Target="../media/image29.emf"/><Relationship Id="rId17" Type="http://schemas.openxmlformats.org/officeDocument/2006/relationships/vmlDrawing" Target="../drawings/vmlDrawing5.vml"/><Relationship Id="rId16" Type="http://schemas.openxmlformats.org/officeDocument/2006/relationships/slideLayout" Target="../slideLayouts/slideLayout7.xml"/><Relationship Id="rId15" Type="http://schemas.openxmlformats.org/officeDocument/2006/relationships/oleObject" Target="../embeddings/oleObject44.bin"/><Relationship Id="rId14" Type="http://schemas.openxmlformats.org/officeDocument/2006/relationships/oleObject" Target="../embeddings/oleObject43.bin"/><Relationship Id="rId13" Type="http://schemas.openxmlformats.org/officeDocument/2006/relationships/oleObject" Target="../embeddings/oleObject42.bin"/><Relationship Id="rId12" Type="http://schemas.openxmlformats.org/officeDocument/2006/relationships/image" Target="../media/image33.emf"/><Relationship Id="rId11" Type="http://schemas.openxmlformats.org/officeDocument/2006/relationships/oleObject" Target="../embeddings/oleObject41.bin"/><Relationship Id="rId10" Type="http://schemas.openxmlformats.org/officeDocument/2006/relationships/oleObject" Target="../embeddings/oleObject40.bin"/><Relationship Id="rId1" Type="http://schemas.openxmlformats.org/officeDocument/2006/relationships/oleObject" Target="../embeddings/oleObject35.bin"/></Relationships>
</file>

<file path=ppt/slides/_rels/slide71.xml.rels><?xml version="1.0" encoding="UTF-8" standalone="yes"?>
<Relationships xmlns="http://schemas.openxmlformats.org/package/2006/relationships"><Relationship Id="rId9" Type="http://schemas.openxmlformats.org/officeDocument/2006/relationships/oleObject" Target="../embeddings/oleObject49.bin"/><Relationship Id="rId8" Type="http://schemas.openxmlformats.org/officeDocument/2006/relationships/image" Target="../media/image32.emf"/><Relationship Id="rId7" Type="http://schemas.openxmlformats.org/officeDocument/2006/relationships/oleObject" Target="../embeddings/oleObject48.bin"/><Relationship Id="rId6" Type="http://schemas.openxmlformats.org/officeDocument/2006/relationships/image" Target="../media/image31.emf"/><Relationship Id="rId5" Type="http://schemas.openxmlformats.org/officeDocument/2006/relationships/oleObject" Target="../embeddings/oleObject47.bin"/><Relationship Id="rId4" Type="http://schemas.openxmlformats.org/officeDocument/2006/relationships/image" Target="../media/image30.emf"/><Relationship Id="rId3" Type="http://schemas.openxmlformats.org/officeDocument/2006/relationships/oleObject" Target="../embeddings/oleObject46.bin"/><Relationship Id="rId2" Type="http://schemas.openxmlformats.org/officeDocument/2006/relationships/image" Target="../media/image29.emf"/><Relationship Id="rId17" Type="http://schemas.openxmlformats.org/officeDocument/2006/relationships/vmlDrawing" Target="../drawings/vmlDrawing6.vml"/><Relationship Id="rId16" Type="http://schemas.openxmlformats.org/officeDocument/2006/relationships/slideLayout" Target="../slideLayouts/slideLayout7.xml"/><Relationship Id="rId15" Type="http://schemas.openxmlformats.org/officeDocument/2006/relationships/oleObject" Target="../embeddings/oleObject54.bin"/><Relationship Id="rId14" Type="http://schemas.openxmlformats.org/officeDocument/2006/relationships/oleObject" Target="../embeddings/oleObject53.bin"/><Relationship Id="rId13" Type="http://schemas.openxmlformats.org/officeDocument/2006/relationships/oleObject" Target="../embeddings/oleObject52.bin"/><Relationship Id="rId12" Type="http://schemas.openxmlformats.org/officeDocument/2006/relationships/image" Target="../media/image33.emf"/><Relationship Id="rId11" Type="http://schemas.openxmlformats.org/officeDocument/2006/relationships/oleObject" Target="../embeddings/oleObject51.bin"/><Relationship Id="rId10" Type="http://schemas.openxmlformats.org/officeDocument/2006/relationships/oleObject" Target="../embeddings/oleObject50.bin"/><Relationship Id="rId1" Type="http://schemas.openxmlformats.org/officeDocument/2006/relationships/oleObject" Target="../embeddings/oleObject45.bin"/></Relationships>
</file>

<file path=ppt/slides/_rels/slide72.xml.rels><?xml version="1.0" encoding="UTF-8" standalone="yes"?>
<Relationships xmlns="http://schemas.openxmlformats.org/package/2006/relationships"><Relationship Id="rId9" Type="http://schemas.openxmlformats.org/officeDocument/2006/relationships/oleObject" Target="../embeddings/oleObject59.bin"/><Relationship Id="rId8" Type="http://schemas.openxmlformats.org/officeDocument/2006/relationships/image" Target="../media/image32.emf"/><Relationship Id="rId7" Type="http://schemas.openxmlformats.org/officeDocument/2006/relationships/oleObject" Target="../embeddings/oleObject58.bin"/><Relationship Id="rId6" Type="http://schemas.openxmlformats.org/officeDocument/2006/relationships/image" Target="../media/image31.emf"/><Relationship Id="rId5" Type="http://schemas.openxmlformats.org/officeDocument/2006/relationships/oleObject" Target="../embeddings/oleObject57.bin"/><Relationship Id="rId4" Type="http://schemas.openxmlformats.org/officeDocument/2006/relationships/image" Target="../media/image30.emf"/><Relationship Id="rId3" Type="http://schemas.openxmlformats.org/officeDocument/2006/relationships/oleObject" Target="../embeddings/oleObject56.bin"/><Relationship Id="rId2" Type="http://schemas.openxmlformats.org/officeDocument/2006/relationships/image" Target="../media/image29.emf"/><Relationship Id="rId17" Type="http://schemas.openxmlformats.org/officeDocument/2006/relationships/vmlDrawing" Target="../drawings/vmlDrawing7.vml"/><Relationship Id="rId16" Type="http://schemas.openxmlformats.org/officeDocument/2006/relationships/slideLayout" Target="../slideLayouts/slideLayout7.xml"/><Relationship Id="rId15" Type="http://schemas.openxmlformats.org/officeDocument/2006/relationships/oleObject" Target="../embeddings/oleObject64.bin"/><Relationship Id="rId14" Type="http://schemas.openxmlformats.org/officeDocument/2006/relationships/oleObject" Target="../embeddings/oleObject63.bin"/><Relationship Id="rId13" Type="http://schemas.openxmlformats.org/officeDocument/2006/relationships/oleObject" Target="../embeddings/oleObject62.bin"/><Relationship Id="rId12" Type="http://schemas.openxmlformats.org/officeDocument/2006/relationships/image" Target="../media/image33.emf"/><Relationship Id="rId11" Type="http://schemas.openxmlformats.org/officeDocument/2006/relationships/oleObject" Target="../embeddings/oleObject61.bin"/><Relationship Id="rId10" Type="http://schemas.openxmlformats.org/officeDocument/2006/relationships/oleObject" Target="../embeddings/oleObject60.bin"/><Relationship Id="rId1" Type="http://schemas.openxmlformats.org/officeDocument/2006/relationships/oleObject" Target="../embeddings/oleObject55.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ctrTitle"/>
          </p:nvPr>
        </p:nvSpPr>
        <p:spPr>
          <a:xfrm>
            <a:off x="685800" y="2286000"/>
            <a:ext cx="7772400" cy="1143000"/>
          </a:xfrm>
        </p:spPr>
        <p:txBody>
          <a:bodyPr vert="horz" wrap="square" lIns="91440" tIns="45720" rIns="91440" bIns="45720" anchor="ctr" anchorCtr="0"/>
          <a:lstStyle/>
          <a:p>
            <a:pPr eaLnBrk="1" hangingPunct="1">
              <a:buClrTx/>
              <a:buSzTx/>
              <a:buFontTx/>
            </a:pPr>
            <a:r>
              <a:rPr lang="en-US" altLang="zh-CN" dirty="0">
                <a:ea typeface="宋体" panose="02010600030101010101" pitchFamily="2" charset="-122"/>
              </a:rPr>
              <a:t>Consistency and Replication</a:t>
            </a:r>
            <a:endParaRPr lang="en-US" altLang="zh-CN" dirty="0">
              <a:ea typeface="宋体" panose="02010600030101010101" pitchFamily="2" charset="-122"/>
            </a:endParaRPr>
          </a:p>
        </p:txBody>
      </p:sp>
      <p:sp>
        <p:nvSpPr>
          <p:cNvPr id="4099" name="Rectangle 3"/>
          <p:cNvSpPr>
            <a:spLocks noGrp="1"/>
          </p:cNvSpPr>
          <p:nvPr>
            <p:ph type="subTitle" idx="1"/>
          </p:nvPr>
        </p:nvSpPr>
        <p:spPr>
          <a:xfrm>
            <a:off x="2659063" y="3886200"/>
            <a:ext cx="3646487" cy="633413"/>
          </a:xfrm>
        </p:spPr>
        <p:txBody>
          <a:bodyPr vert="horz" wrap="square" lIns="91440" tIns="45720" rIns="91440" bIns="45720" anchor="t" anchorCtr="0"/>
          <a:lstStyle/>
          <a:p>
            <a:pPr eaLnBrk="1" hangingPunct="1">
              <a:buSzTx/>
              <a:buFontTx/>
            </a:pPr>
            <a:r>
              <a:rPr lang="en-US" altLang="zh-CN" dirty="0">
                <a:latin typeface="+mn-lt"/>
                <a:ea typeface="宋体" panose="02010600030101010101" pitchFamily="2" charset="-122"/>
                <a:cs typeface="+mn-cs"/>
              </a:rPr>
              <a:t>Chapter 7</a:t>
            </a:r>
            <a:endParaRPr lang="en-US" altLang="zh-CN" dirty="0">
              <a:latin typeface="+mn-lt"/>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subTitle" idx="1"/>
          </p:nvPr>
        </p:nvSpPr>
        <p:spPr>
          <a:xfrm>
            <a:off x="109538" y="727075"/>
            <a:ext cx="8851900" cy="5565775"/>
          </a:xfrm>
        </p:spPr>
        <p:txBody>
          <a:bodyPr vert="horz" wrap="square" lIns="91440" tIns="45720" rIns="91440" bIns="45720" anchor="t" anchorCtr="0"/>
          <a:lstStyle/>
          <a:p>
            <a:pPr algn="l" eaLnBrk="1" hangingPunct="1">
              <a:lnSpc>
                <a:spcPct val="150000"/>
              </a:lnSpc>
              <a:buSzTx/>
              <a:buFontTx/>
            </a:pPr>
            <a:r>
              <a:rPr lang="en-US" altLang="zh-CN" sz="2400" dirty="0">
                <a:latin typeface="+mn-lt"/>
                <a:ea typeface="宋体" panose="02010600030101010101" pitchFamily="2" charset="-122"/>
                <a:cs typeface="+mn-cs"/>
              </a:rPr>
              <a:t>1. Reasons for Replication:</a:t>
            </a:r>
            <a:endParaRPr lang="en-US" altLang="zh-CN" sz="2400" dirty="0">
              <a:latin typeface="+mn-lt"/>
              <a:ea typeface="宋体" panose="02010600030101010101" pitchFamily="2" charset="-122"/>
              <a:cs typeface="+mn-cs"/>
            </a:endParaRPr>
          </a:p>
          <a:p>
            <a:pPr algn="l" eaLnBrk="1" hangingPunct="1">
              <a:lnSpc>
                <a:spcPct val="150000"/>
              </a:lnSpc>
              <a:buSzTx/>
              <a:buFont typeface="Wingdings" panose="05000000000000000000" pitchFamily="2" charset="2"/>
              <a:buChar char="ü"/>
            </a:pPr>
            <a:r>
              <a:rPr lang="en-US" altLang="zh-CN" sz="2400" dirty="0">
                <a:latin typeface="+mn-lt"/>
                <a:ea typeface="宋体" panose="02010600030101010101" pitchFamily="2" charset="-122"/>
                <a:cs typeface="+mn-cs"/>
              </a:rPr>
              <a:t>Data are generally replicated to enhance </a:t>
            </a:r>
            <a:r>
              <a:rPr lang="en-US" altLang="zh-CN" sz="2400" dirty="0">
                <a:solidFill>
                  <a:srgbClr val="FF0000"/>
                </a:solidFill>
                <a:latin typeface="+mn-lt"/>
                <a:ea typeface="宋体" panose="02010600030101010101" pitchFamily="2" charset="-122"/>
                <a:cs typeface="+mn-cs"/>
              </a:rPr>
              <a:t>reliability</a:t>
            </a:r>
            <a:r>
              <a:rPr lang="en-US" altLang="zh-CN" sz="2400" dirty="0">
                <a:latin typeface="+mn-lt"/>
                <a:ea typeface="宋体" panose="02010600030101010101" pitchFamily="2" charset="-122"/>
                <a:cs typeface="+mn-cs"/>
              </a:rPr>
              <a:t> or improve </a:t>
            </a:r>
            <a:r>
              <a:rPr lang="en-US" altLang="zh-CN" sz="2400" dirty="0">
                <a:solidFill>
                  <a:srgbClr val="FF0000"/>
                </a:solidFill>
                <a:latin typeface="+mn-lt"/>
                <a:ea typeface="宋体" panose="02010600030101010101" pitchFamily="2" charset="-122"/>
                <a:cs typeface="+mn-cs"/>
              </a:rPr>
              <a:t>performance</a:t>
            </a:r>
            <a:r>
              <a:rPr lang="en-US" altLang="zh-CN" sz="2400" dirty="0">
                <a:latin typeface="+mn-lt"/>
                <a:ea typeface="宋体" panose="02010600030101010101" pitchFamily="2" charset="-122"/>
                <a:cs typeface="+mn-cs"/>
              </a:rPr>
              <a:t> in distributed system or parallel computers system. </a:t>
            </a:r>
            <a:endParaRPr lang="en-US" altLang="zh-CN" sz="2400" dirty="0">
              <a:latin typeface="+mn-lt"/>
              <a:ea typeface="宋体" panose="02010600030101010101" pitchFamily="2" charset="-122"/>
              <a:cs typeface="+mn-cs"/>
            </a:endParaRPr>
          </a:p>
          <a:p>
            <a:pPr algn="l" eaLnBrk="1" hangingPunct="1">
              <a:lnSpc>
                <a:spcPct val="150000"/>
              </a:lnSpc>
              <a:buSzTx/>
              <a:buFont typeface="Wingdings" panose="05000000000000000000" pitchFamily="2" charset="2"/>
              <a:buChar char="ü"/>
            </a:pPr>
            <a:r>
              <a:rPr lang="en-US" altLang="zh-CN" sz="2400" dirty="0">
                <a:latin typeface="+mn-lt"/>
                <a:ea typeface="宋体" panose="02010600030101010101" pitchFamily="2" charset="-122"/>
                <a:cs typeface="+mn-cs"/>
              </a:rPr>
              <a:t>How to keep replicas </a:t>
            </a:r>
            <a:r>
              <a:rPr lang="en-US" altLang="zh-CN" sz="2400" dirty="0">
                <a:solidFill>
                  <a:srgbClr val="FF0066"/>
                </a:solidFill>
                <a:latin typeface="+mn-lt"/>
                <a:ea typeface="宋体" panose="02010600030101010101" pitchFamily="2" charset="-122"/>
                <a:cs typeface="+mn-cs"/>
              </a:rPr>
              <a:t>consistent</a:t>
            </a:r>
            <a:r>
              <a:rPr lang="en-US" altLang="zh-CN" sz="2400" dirty="0">
                <a:latin typeface="+mn-lt"/>
                <a:ea typeface="宋体" panose="02010600030101010101" pitchFamily="2" charset="-122"/>
                <a:cs typeface="+mn-cs"/>
              </a:rPr>
              <a:t> is one of the major problems. when one copy is updated, we need to ensure that the other copies are updated as well. </a:t>
            </a:r>
            <a:endParaRPr lang="en-US" altLang="zh-CN" sz="2400" dirty="0">
              <a:latin typeface="+mn-lt"/>
              <a:ea typeface="宋体" panose="02010600030101010101" pitchFamily="2" charset="-122"/>
              <a:cs typeface="+mn-cs"/>
            </a:endParaRPr>
          </a:p>
          <a:p>
            <a:pPr algn="l" eaLnBrk="1" hangingPunct="1">
              <a:lnSpc>
                <a:spcPct val="150000"/>
              </a:lnSpc>
              <a:buSzPct val="70000"/>
              <a:buFontTx/>
            </a:pPr>
            <a:r>
              <a:rPr lang="en-US" altLang="zh-CN" sz="2400" dirty="0">
                <a:latin typeface="+mn-lt"/>
                <a:ea typeface="宋体" panose="02010600030101010101" pitchFamily="2" charset="-122"/>
                <a:cs typeface="+mn-cs"/>
              </a:rPr>
              <a:t>1) Gain in performance</a:t>
            </a:r>
            <a:r>
              <a:rPr lang="zh-CN" altLang="en-US" sz="2400" dirty="0">
                <a:latin typeface="+mn-lt"/>
                <a:ea typeface="宋体" panose="02010600030101010101" pitchFamily="2" charset="-122"/>
                <a:cs typeface="+mn-cs"/>
              </a:rPr>
              <a:t>；</a:t>
            </a:r>
            <a:r>
              <a:rPr lang="en-US" altLang="zh-CN" sz="2400" dirty="0">
                <a:latin typeface="+mn-lt"/>
                <a:ea typeface="宋体" panose="02010600030101010101" pitchFamily="2" charset="-122"/>
                <a:cs typeface="+mn-cs"/>
              </a:rPr>
              <a:t> 2) Cost of increased bandwidth for maintaining replication</a:t>
            </a:r>
            <a:r>
              <a:rPr lang="zh-CN" altLang="en-US" sz="2400" dirty="0">
                <a:latin typeface="+mn-lt"/>
                <a:ea typeface="宋体" panose="02010600030101010101" pitchFamily="2" charset="-122"/>
                <a:cs typeface="+mn-cs"/>
              </a:rPr>
              <a:t>；</a:t>
            </a:r>
            <a:r>
              <a:rPr lang="en-US" altLang="zh-CN" sz="2400" dirty="0">
                <a:latin typeface="+mn-lt"/>
                <a:ea typeface="宋体" panose="02010600030101010101" pitchFamily="2" charset="-122"/>
                <a:cs typeface="+mn-cs"/>
              </a:rPr>
              <a:t> </a:t>
            </a:r>
            <a:endParaRPr lang="en-US" altLang="zh-CN" sz="2400" dirty="0">
              <a:latin typeface="+mn-lt"/>
              <a:ea typeface="宋体" panose="02010600030101010101" pitchFamily="2" charset="-122"/>
              <a:cs typeface="+mn-cs"/>
            </a:endParaRPr>
          </a:p>
        </p:txBody>
      </p:sp>
      <p:sp>
        <p:nvSpPr>
          <p:cNvPr id="5123" name="Rectangle 3"/>
          <p:cNvSpPr/>
          <p:nvPr/>
        </p:nvSpPr>
        <p:spPr>
          <a:xfrm>
            <a:off x="0" y="0"/>
            <a:ext cx="9144000" cy="56515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4400" dirty="0">
                <a:solidFill>
                  <a:srgbClr val="FF0000"/>
                </a:solidFill>
                <a:ea typeface="宋体" panose="02010600030101010101" pitchFamily="2" charset="-122"/>
              </a:rPr>
              <a:t>Introduction(7.1)</a:t>
            </a:r>
            <a:endParaRPr lang="en-US" altLang="zh-CN" sz="4400" dirty="0">
              <a:solidFill>
                <a:srgbClr val="FF0000"/>
              </a:solidFill>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Grp="1"/>
          </p:cNvSpPr>
          <p:nvPr>
            <p:ph type="subTitle" idx="1"/>
          </p:nvPr>
        </p:nvSpPr>
        <p:spPr>
          <a:xfrm>
            <a:off x="319088" y="971550"/>
            <a:ext cx="8666162" cy="4981575"/>
          </a:xfrm>
        </p:spPr>
        <p:txBody>
          <a:bodyPr vert="horz" wrap="square" lIns="91440" tIns="45720" rIns="91440" bIns="45720" anchor="t" anchorCtr="0"/>
          <a:lstStyle/>
          <a:p>
            <a:pPr algn="l" eaLnBrk="1" hangingPunct="1">
              <a:lnSpc>
                <a:spcPct val="150000"/>
              </a:lnSpc>
              <a:buSzTx/>
              <a:buFontTx/>
            </a:pPr>
            <a:r>
              <a:rPr lang="en-US" altLang="zh-CN" sz="2800" dirty="0">
                <a:latin typeface="+mn-lt"/>
                <a:ea typeface="宋体" panose="02010600030101010101" pitchFamily="2" charset="-122"/>
                <a:cs typeface="+mn-cs"/>
              </a:rPr>
              <a:t>2. Object Replication</a:t>
            </a:r>
            <a:endParaRPr lang="en-US" altLang="zh-CN" sz="2800" dirty="0">
              <a:latin typeface="+mn-lt"/>
              <a:ea typeface="宋体" panose="02010600030101010101" pitchFamily="2" charset="-122"/>
              <a:cs typeface="+mn-cs"/>
            </a:endParaRPr>
          </a:p>
          <a:p>
            <a:pPr algn="l" eaLnBrk="1" hangingPunct="1">
              <a:lnSpc>
                <a:spcPct val="150000"/>
              </a:lnSpc>
              <a:buSzTx/>
              <a:buFontTx/>
            </a:pPr>
            <a:r>
              <a:rPr lang="en-US" altLang="zh-CN" sz="2800" dirty="0">
                <a:latin typeface="+mn-lt"/>
                <a:ea typeface="宋体" panose="02010600030101010101" pitchFamily="2" charset="-122"/>
                <a:cs typeface="+mn-cs"/>
              </a:rPr>
              <a:t>     1) A distributed remote object is </a:t>
            </a:r>
            <a:r>
              <a:rPr lang="en-US" altLang="zh-CN" sz="2800" dirty="0">
                <a:solidFill>
                  <a:srgbClr val="FF0000"/>
                </a:solidFill>
                <a:latin typeface="+mn-lt"/>
                <a:ea typeface="宋体" panose="02010600030101010101" pitchFamily="2" charset="-122"/>
                <a:cs typeface="+mn-cs"/>
              </a:rPr>
              <a:t>shared</a:t>
            </a:r>
            <a:r>
              <a:rPr lang="en-US" altLang="zh-CN" sz="2800" dirty="0">
                <a:latin typeface="+mn-lt"/>
                <a:ea typeface="宋体" panose="02010600030101010101" pitchFamily="2" charset="-122"/>
                <a:cs typeface="+mn-cs"/>
              </a:rPr>
              <a:t> by multiple clients-------how to protect the object against simultaneous access by multiple clients. </a:t>
            </a:r>
            <a:endParaRPr lang="en-US" altLang="zh-CN" sz="2800" dirty="0">
              <a:latin typeface="+mn-lt"/>
              <a:ea typeface="宋体" panose="02010600030101010101" pitchFamily="2" charset="-122"/>
              <a:cs typeface="+mn-cs"/>
            </a:endParaRPr>
          </a:p>
          <a:p>
            <a:pPr algn="l" eaLnBrk="1" hangingPunct="1">
              <a:lnSpc>
                <a:spcPct val="150000"/>
              </a:lnSpc>
              <a:buSzTx/>
              <a:buFontTx/>
            </a:pPr>
            <a:r>
              <a:rPr lang="en-US" altLang="zh-CN" sz="2800" dirty="0">
                <a:latin typeface="+mn-lt"/>
                <a:ea typeface="宋体" panose="02010600030101010101" pitchFamily="2" charset="-122"/>
                <a:cs typeface="+mn-cs"/>
              </a:rPr>
              <a:t>     2) A distributed remote object is </a:t>
            </a:r>
            <a:r>
              <a:rPr lang="en-US" altLang="zh-CN" sz="2800" dirty="0">
                <a:solidFill>
                  <a:srgbClr val="FF0000"/>
                </a:solidFill>
                <a:latin typeface="+mn-lt"/>
                <a:ea typeface="宋体" panose="02010600030101010101" pitchFamily="2" charset="-122"/>
                <a:cs typeface="+mn-cs"/>
              </a:rPr>
              <a:t>replicated</a:t>
            </a:r>
            <a:r>
              <a:rPr lang="en-US" altLang="zh-CN" sz="2800" dirty="0">
                <a:latin typeface="+mn-lt"/>
                <a:ea typeface="宋体" panose="02010600030101010101" pitchFamily="2" charset="-122"/>
                <a:cs typeface="+mn-cs"/>
              </a:rPr>
              <a:t> at different node-------how to ensure that concurrent invocations are performed in the correct order at each of the replicas.</a:t>
            </a:r>
            <a:endParaRPr lang="en-US" altLang="zh-CN" sz="2800" dirty="0">
              <a:latin typeface="+mn-lt"/>
              <a:ea typeface="宋体" panose="02010600030101010101" pitchFamily="2" charset="-122"/>
              <a:cs typeface="+mn-cs"/>
            </a:endParaRPr>
          </a:p>
        </p:txBody>
      </p:sp>
      <p:sp>
        <p:nvSpPr>
          <p:cNvPr id="6147" name="Rectangle 1027"/>
          <p:cNvSpPr/>
          <p:nvPr/>
        </p:nvSpPr>
        <p:spPr>
          <a:xfrm>
            <a:off x="0" y="0"/>
            <a:ext cx="9144000" cy="11430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4400" dirty="0">
                <a:solidFill>
                  <a:srgbClr val="FF0000"/>
                </a:solidFill>
                <a:ea typeface="宋体" panose="02010600030101010101" pitchFamily="2" charset="-122"/>
              </a:rPr>
              <a:t>Introduction(7.1)</a:t>
            </a:r>
            <a:endParaRPr lang="en-US" altLang="zh-CN" sz="4400" dirty="0">
              <a:solidFill>
                <a:srgbClr val="FF0000"/>
              </a:solidFill>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2078038" y="42863"/>
            <a:ext cx="4572000" cy="531812"/>
          </a:xfrm>
        </p:spPr>
        <p:txBody>
          <a:bodyPr vert="horz" wrap="square" lIns="91440" tIns="45720" rIns="91440" bIns="45720" anchor="ctr" anchorCtr="0"/>
          <a:lstStyle/>
          <a:p>
            <a:pPr eaLnBrk="1" hangingPunct="1"/>
            <a:r>
              <a:rPr lang="en-US" altLang="zh-CN" dirty="0">
                <a:ea typeface="宋体" panose="02010600030101010101" pitchFamily="2" charset="-122"/>
              </a:rPr>
              <a:t>Object shared</a:t>
            </a:r>
            <a:endParaRPr lang="en-US" altLang="zh-CN" dirty="0">
              <a:ea typeface="宋体" panose="02010600030101010101" pitchFamily="2" charset="-122"/>
            </a:endParaRPr>
          </a:p>
        </p:txBody>
      </p:sp>
      <p:sp>
        <p:nvSpPr>
          <p:cNvPr id="7171" name="Rectangle 3"/>
          <p:cNvSpPr>
            <a:spLocks noGrp="1"/>
          </p:cNvSpPr>
          <p:nvPr>
            <p:ph idx="1"/>
          </p:nvPr>
        </p:nvSpPr>
        <p:spPr>
          <a:xfrm>
            <a:off x="342900" y="617538"/>
            <a:ext cx="7088188" cy="374650"/>
          </a:xfrm>
        </p:spPr>
        <p:txBody>
          <a:bodyPr vert="horz" wrap="square" lIns="91440" tIns="45720" rIns="91440" bIns="45720" anchor="t" anchorCtr="0"/>
          <a:lstStyle/>
          <a:p>
            <a:pPr algn="l" eaLnBrk="1" hangingPunct="1">
              <a:lnSpc>
                <a:spcPct val="90000"/>
              </a:lnSpc>
              <a:buNone/>
            </a:pPr>
            <a:r>
              <a:rPr lang="en-US" altLang="zh-CN" sz="1800" dirty="0">
                <a:ea typeface="宋体" panose="02010600030101010101" pitchFamily="2" charset="-122"/>
              </a:rPr>
              <a:t>Organization of a distributed remote object </a:t>
            </a:r>
            <a:r>
              <a:rPr lang="en-US" altLang="zh-CN" sz="1800" dirty="0">
                <a:solidFill>
                  <a:srgbClr val="FF0000"/>
                </a:solidFill>
                <a:ea typeface="宋体" panose="02010600030101010101" pitchFamily="2" charset="-122"/>
              </a:rPr>
              <a:t>shared</a:t>
            </a:r>
            <a:r>
              <a:rPr lang="en-US" altLang="zh-CN" sz="1800" dirty="0">
                <a:ea typeface="宋体" panose="02010600030101010101" pitchFamily="2" charset="-122"/>
              </a:rPr>
              <a:t> by two different clients.</a:t>
            </a:r>
            <a:endParaRPr lang="en-US" altLang="zh-CN" sz="1800" dirty="0">
              <a:ea typeface="宋体" panose="02010600030101010101" pitchFamily="2" charset="-122"/>
            </a:endParaRPr>
          </a:p>
        </p:txBody>
      </p:sp>
      <p:sp>
        <p:nvSpPr>
          <p:cNvPr id="7172" name="Picture 5"/>
          <p:cNvSpPr>
            <a:spLocks noChangeAspect="1"/>
          </p:cNvSpPr>
          <p:nvPr/>
        </p:nvSpPr>
        <p:spPr>
          <a:xfrm>
            <a:off x="342900" y="1104900"/>
            <a:ext cx="8382000" cy="4252913"/>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pic>
        <p:nvPicPr>
          <p:cNvPr id="7173" name="Picture 5"/>
          <p:cNvPicPr>
            <a:picLocks noChangeAspect="1"/>
          </p:cNvPicPr>
          <p:nvPr/>
        </p:nvPicPr>
        <p:blipFill>
          <a:blip r:embed="rId1"/>
          <a:srcRect l="22635" t="42447" r="19643" b="36858"/>
          <a:stretch>
            <a:fillRect/>
          </a:stretch>
        </p:blipFill>
        <p:spPr>
          <a:xfrm>
            <a:off x="1196975" y="881063"/>
            <a:ext cx="6672263" cy="2587625"/>
          </a:xfrm>
          <a:prstGeom prst="rect">
            <a:avLst/>
          </a:prstGeom>
          <a:noFill/>
          <a:ln w="9525">
            <a:noFill/>
          </a:ln>
        </p:spPr>
      </p:pic>
      <p:pic>
        <p:nvPicPr>
          <p:cNvPr id="7174" name="Picture 5"/>
          <p:cNvPicPr>
            <a:picLocks noChangeAspect="1"/>
          </p:cNvPicPr>
          <p:nvPr/>
        </p:nvPicPr>
        <p:blipFill>
          <a:blip r:embed="rId2"/>
          <a:srcRect l="20096" t="40030" r="17104" b="34290"/>
          <a:stretch>
            <a:fillRect/>
          </a:stretch>
        </p:blipFill>
        <p:spPr>
          <a:xfrm>
            <a:off x="515938" y="3468688"/>
            <a:ext cx="7902575" cy="2998787"/>
          </a:xfrm>
          <a:prstGeom prst="rect">
            <a:avLst/>
          </a:prstGeom>
          <a:noFill/>
          <a:ln w="9525">
            <a:noFill/>
          </a:ln>
        </p:spPr>
      </p:pic>
      <p:sp>
        <p:nvSpPr>
          <p:cNvPr id="7" name="Rectangle 3"/>
          <p:cNvSpPr txBox="1">
            <a:spLocks noChangeArrowheads="1"/>
          </p:cNvSpPr>
          <p:nvPr/>
        </p:nvSpPr>
        <p:spPr bwMode="auto">
          <a:xfrm>
            <a:off x="974725" y="6327775"/>
            <a:ext cx="3389313" cy="5699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 remote </a:t>
            </a:r>
            <a:r>
              <a:rPr kumimoji="0" lang="en-US" altLang="zh-CN" sz="16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object </a:t>
            </a: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capable of handling concurrent invocations on its own</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2" name="矩形 1"/>
          <p:cNvSpPr/>
          <p:nvPr/>
        </p:nvSpPr>
        <p:spPr>
          <a:xfrm>
            <a:off x="5086350" y="6327775"/>
            <a:ext cx="3957638" cy="534988"/>
          </a:xfrm>
          <a:prstGeom prst="rect">
            <a:avLst/>
          </a:prstGeom>
        </p:spPr>
        <p:txBody>
          <a:bodyPr>
            <a:spAutoFit/>
          </a:body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16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b)A remote object for which an object </a:t>
            </a:r>
            <a:r>
              <a:rPr kumimoji="0" lang="en-US" altLang="zh-CN" sz="1600" b="0"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adapter </a:t>
            </a:r>
            <a:r>
              <a:rPr kumimoji="0" lang="en-US" altLang="zh-CN" sz="16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is required to handle concurrent invocations</a:t>
            </a:r>
            <a:endParaRPr kumimoji="0" lang="en-US" altLang="zh-CN" sz="16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Object shared</a:t>
            </a:r>
            <a:endParaRPr lang="en-US" altLang="zh-CN" dirty="0">
              <a:ea typeface="宋体" panose="02010600030101010101" pitchFamily="2" charset="-122"/>
            </a:endParaRPr>
          </a:p>
        </p:txBody>
      </p:sp>
      <p:sp>
        <p:nvSpPr>
          <p:cNvPr id="8195" name="Rectangle 4"/>
          <p:cNvSpPr>
            <a:spLocks noGrp="1"/>
          </p:cNvSpPr>
          <p:nvPr>
            <p:ph idx="1"/>
          </p:nvPr>
        </p:nvSpPr>
        <p:spPr>
          <a:xfrm>
            <a:off x="166688" y="887413"/>
            <a:ext cx="8820150" cy="3502025"/>
          </a:xfrm>
        </p:spPr>
        <p:txBody>
          <a:bodyPr vert="horz" wrap="square" lIns="91440" tIns="45720" rIns="91440" bIns="45720" anchor="t" anchorCtr="0"/>
          <a:lstStyle/>
          <a:p>
            <a:pPr marL="0" indent="0" algn="l" eaLnBrk="1" hangingPunct="1">
              <a:buNone/>
            </a:pPr>
            <a:r>
              <a:rPr lang="en-US" altLang="zh-CN" sz="2200" dirty="0">
                <a:ea typeface="宋体" panose="02010600030101010101" pitchFamily="2" charset="-122"/>
              </a:rPr>
              <a:t>Fig(a): For example,  java object----which can be constructed as a monitor by declaring the object’s method to be </a:t>
            </a:r>
            <a:r>
              <a:rPr lang="en-US" altLang="zh-CN" sz="2200" i="1" dirty="0">
                <a:ea typeface="宋体" panose="02010600030101010101" pitchFamily="2" charset="-122"/>
              </a:rPr>
              <a:t>synchronized.</a:t>
            </a:r>
            <a:endParaRPr lang="en-US" altLang="zh-CN" sz="2200" i="1" dirty="0">
              <a:ea typeface="宋体" panose="02010600030101010101" pitchFamily="2" charset="-122"/>
            </a:endParaRPr>
          </a:p>
          <a:p>
            <a:pPr marL="0" indent="0" algn="l" eaLnBrk="1" hangingPunct="1">
              <a:buNone/>
            </a:pPr>
            <a:r>
              <a:rPr lang="en-US" altLang="zh-CN" sz="2200" dirty="0">
                <a:ea typeface="宋体" panose="02010600030101010101" pitchFamily="2" charset="-122"/>
              </a:rPr>
              <a:t>public </a:t>
            </a:r>
            <a:r>
              <a:rPr lang="en-US" altLang="zh-CN" sz="2200" dirty="0">
                <a:solidFill>
                  <a:srgbClr val="FF0000"/>
                </a:solidFill>
                <a:ea typeface="宋体" panose="02010600030101010101" pitchFamily="2" charset="-122"/>
              </a:rPr>
              <a:t>synchronized</a:t>
            </a:r>
            <a:r>
              <a:rPr lang="en-US" altLang="zh-CN" sz="2200" dirty="0">
                <a:ea typeface="宋体" panose="02010600030101010101" pitchFamily="2" charset="-122"/>
              </a:rPr>
              <a:t> void enter(Object item) {</a:t>
            </a:r>
            <a:endParaRPr lang="en-US" altLang="zh-CN" sz="2200" dirty="0">
              <a:ea typeface="宋体" panose="02010600030101010101" pitchFamily="2" charset="-122"/>
            </a:endParaRPr>
          </a:p>
          <a:p>
            <a:pPr marL="0" indent="0" algn="l" eaLnBrk="1" hangingPunct="1">
              <a:buNone/>
            </a:pPr>
            <a:r>
              <a:rPr lang="en-US" altLang="zh-CN" sz="2200" dirty="0">
                <a:ea typeface="宋体" panose="02010600030101010101" pitchFamily="2" charset="-122"/>
              </a:rPr>
              <a:t>	while (count == BUFFER_SIZE)</a:t>
            </a:r>
            <a:endParaRPr lang="en-US" altLang="zh-CN" sz="2200" dirty="0">
              <a:ea typeface="宋体" panose="02010600030101010101" pitchFamily="2" charset="-122"/>
            </a:endParaRPr>
          </a:p>
          <a:p>
            <a:pPr marL="0" indent="0" algn="l" eaLnBrk="1" hangingPunct="1">
              <a:buNone/>
            </a:pPr>
            <a:r>
              <a:rPr lang="en-US" altLang="zh-CN" sz="2200" dirty="0">
                <a:ea typeface="宋体" panose="02010600030101010101" pitchFamily="2" charset="-122"/>
              </a:rPr>
              <a:t>		Thread.yield();</a:t>
            </a:r>
            <a:endParaRPr lang="en-US" altLang="zh-CN" sz="2200" dirty="0">
              <a:ea typeface="宋体" panose="02010600030101010101" pitchFamily="2" charset="-122"/>
            </a:endParaRPr>
          </a:p>
          <a:p>
            <a:pPr marL="0" indent="0" algn="l" eaLnBrk="1" hangingPunct="1">
              <a:buNone/>
            </a:pPr>
            <a:r>
              <a:rPr lang="en-US" altLang="zh-CN" sz="2200" dirty="0">
                <a:ea typeface="宋体" panose="02010600030101010101" pitchFamily="2" charset="-122"/>
              </a:rPr>
              <a:t>	++count;</a:t>
            </a:r>
            <a:endParaRPr lang="en-US" altLang="zh-CN" sz="2200" dirty="0">
              <a:ea typeface="宋体" panose="02010600030101010101" pitchFamily="2" charset="-122"/>
            </a:endParaRPr>
          </a:p>
          <a:p>
            <a:pPr marL="0" indent="0" algn="l" eaLnBrk="1" hangingPunct="1">
              <a:buNone/>
            </a:pPr>
            <a:r>
              <a:rPr lang="en-US" altLang="zh-CN" sz="2200" dirty="0">
                <a:ea typeface="宋体" panose="02010600030101010101" pitchFamily="2" charset="-122"/>
              </a:rPr>
              <a:t>	buffer[in] = item;</a:t>
            </a:r>
            <a:endParaRPr lang="en-US" altLang="zh-CN" sz="2200" dirty="0">
              <a:ea typeface="宋体" panose="02010600030101010101" pitchFamily="2" charset="-122"/>
            </a:endParaRPr>
          </a:p>
          <a:p>
            <a:pPr marL="0" indent="0" algn="l" eaLnBrk="1" hangingPunct="1">
              <a:buNone/>
            </a:pPr>
            <a:r>
              <a:rPr lang="en-US" altLang="zh-CN" sz="2200" dirty="0">
                <a:ea typeface="宋体" panose="02010600030101010101" pitchFamily="2" charset="-122"/>
              </a:rPr>
              <a:t>	in = (in + 1) % BUFFER_SIZE;</a:t>
            </a:r>
            <a:endParaRPr lang="en-US" altLang="zh-CN" sz="2200" dirty="0">
              <a:ea typeface="宋体" panose="02010600030101010101" pitchFamily="2" charset="-122"/>
            </a:endParaRPr>
          </a:p>
          <a:p>
            <a:pPr marL="0" indent="0" algn="l" eaLnBrk="1" hangingPunct="1">
              <a:buNone/>
            </a:pPr>
            <a:r>
              <a:rPr lang="en-US" altLang="zh-CN" sz="2200" dirty="0">
                <a:ea typeface="宋体" panose="02010600030101010101" pitchFamily="2" charset="-122"/>
              </a:rPr>
              <a:t>}</a:t>
            </a:r>
            <a:endParaRPr lang="en-US" altLang="zh-CN" sz="2200" i="1" dirty="0">
              <a:ea typeface="宋体" panose="02010600030101010101" pitchFamily="2" charset="-122"/>
            </a:endParaRPr>
          </a:p>
        </p:txBody>
      </p:sp>
      <p:pic>
        <p:nvPicPr>
          <p:cNvPr id="8196" name="Picture 1029"/>
          <p:cNvPicPr>
            <a:picLocks noChangeAspect="1"/>
          </p:cNvPicPr>
          <p:nvPr/>
        </p:nvPicPr>
        <p:blipFill>
          <a:blip r:embed="rId1"/>
          <a:srcRect l="604" t="29247" r="203" b="29498"/>
          <a:stretch>
            <a:fillRect/>
          </a:stretch>
        </p:blipFill>
        <p:spPr>
          <a:xfrm>
            <a:off x="1250950" y="4741863"/>
            <a:ext cx="6862763" cy="173355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0" y="0"/>
            <a:ext cx="9144000" cy="731838"/>
          </a:xfrm>
        </p:spPr>
        <p:txBody>
          <a:bodyPr vert="horz" wrap="square" lIns="91440" tIns="45720" rIns="91440" bIns="45720" anchor="ctr" anchorCtr="0"/>
          <a:lstStyle/>
          <a:p>
            <a:pPr eaLnBrk="1" hangingPunct="1"/>
            <a:r>
              <a:rPr lang="en-US" altLang="zh-CN" dirty="0">
                <a:ea typeface="宋体" panose="02010600030101010101" pitchFamily="2" charset="-122"/>
              </a:rPr>
              <a:t>Object Replication</a:t>
            </a:r>
            <a:endParaRPr lang="en-US" altLang="zh-CN" dirty="0">
              <a:ea typeface="宋体" panose="02010600030101010101" pitchFamily="2" charset="-122"/>
            </a:endParaRPr>
          </a:p>
        </p:txBody>
      </p:sp>
      <p:sp>
        <p:nvSpPr>
          <p:cNvPr id="11267" name="Rectangle 3"/>
          <p:cNvSpPr>
            <a:spLocks noGrp="1" noChangeArrowheads="1"/>
          </p:cNvSpPr>
          <p:nvPr>
            <p:ph idx="1"/>
          </p:nvPr>
        </p:nvSpPr>
        <p:spPr>
          <a:xfrm>
            <a:off x="158750" y="5053013"/>
            <a:ext cx="8828088" cy="1123950"/>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A distributed system for </a:t>
            </a: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replication-aware distributed objects</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SOS，Globe</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etc.）</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 A distributed </a:t>
            </a: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system responsible for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replica management (CORBA etc.)</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90000"/>
              </a:lnSpc>
              <a:spcBef>
                <a:spcPct val="20000"/>
              </a:spcBef>
              <a:spcAft>
                <a:spcPct val="0"/>
              </a:spcAft>
              <a:buClr>
                <a:schemeClr val="accent2"/>
              </a:buClr>
              <a:buSzTx/>
              <a:buFontTx/>
              <a:buNone/>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实现机理与一致性模型</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9220" name="Picture 5"/>
          <p:cNvPicPr>
            <a:picLocks noChangeAspect="1"/>
          </p:cNvPicPr>
          <p:nvPr/>
        </p:nvPicPr>
        <p:blipFill>
          <a:blip r:embed="rId1"/>
          <a:srcRect l="16675" t="44260" r="13469" b="38821"/>
          <a:stretch>
            <a:fillRect/>
          </a:stretch>
        </p:blipFill>
        <p:spPr>
          <a:xfrm>
            <a:off x="157163" y="966788"/>
            <a:ext cx="8829675" cy="37465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0" y="0"/>
            <a:ext cx="9144000" cy="747713"/>
          </a:xfrm>
        </p:spPr>
        <p:txBody>
          <a:bodyPr vert="horz" wrap="square" lIns="91440" tIns="45720" rIns="91440" bIns="45720" anchor="ctr" anchorCtr="0"/>
          <a:lstStyle/>
          <a:p>
            <a:pPr eaLnBrk="1" hangingPunct="1"/>
            <a:r>
              <a:rPr lang="en-US" altLang="zh-CN" dirty="0">
                <a:ea typeface="宋体" panose="02010600030101010101" pitchFamily="2" charset="-122"/>
              </a:rPr>
              <a:t>Object Replication</a:t>
            </a:r>
            <a:endParaRPr lang="en-US" altLang="zh-CN" dirty="0">
              <a:ea typeface="宋体" panose="02010600030101010101" pitchFamily="2" charset="-122"/>
            </a:endParaRPr>
          </a:p>
        </p:txBody>
      </p:sp>
      <p:sp>
        <p:nvSpPr>
          <p:cNvPr id="10243" name="Rectangle 3"/>
          <p:cNvSpPr>
            <a:spLocks noGrp="1"/>
          </p:cNvSpPr>
          <p:nvPr>
            <p:ph idx="1"/>
          </p:nvPr>
        </p:nvSpPr>
        <p:spPr>
          <a:xfrm>
            <a:off x="119063" y="773113"/>
            <a:ext cx="8905875" cy="2946400"/>
          </a:xfrm>
        </p:spPr>
        <p:txBody>
          <a:bodyPr vert="horz" wrap="square" lIns="91440" tIns="45720" rIns="91440" bIns="45720" anchor="t" anchorCtr="0"/>
          <a:lstStyle/>
          <a:p>
            <a:pPr marL="0" indent="0" algn="l" eaLnBrk="1" hangingPunct="1">
              <a:lnSpc>
                <a:spcPct val="150000"/>
              </a:lnSpc>
              <a:buNone/>
            </a:pPr>
            <a:r>
              <a:rPr lang="en-US" altLang="zh-CN" sz="2400" dirty="0">
                <a:ea typeface="宋体" panose="02010600030101010101" pitchFamily="2" charset="-122"/>
              </a:rPr>
              <a:t>3. Replication as Scaling Technique</a:t>
            </a:r>
            <a:endParaRPr lang="en-US" altLang="zh-CN" sz="2400"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en-US" altLang="zh-CN" sz="2400" dirty="0">
                <a:ea typeface="宋体" panose="02010600030101010101" pitchFamily="2" charset="-122"/>
              </a:rPr>
              <a:t>Placing copies of data and objects close to the processes using them can </a:t>
            </a:r>
            <a:r>
              <a:rPr lang="en-US" altLang="zh-CN" sz="2400" dirty="0">
                <a:solidFill>
                  <a:srgbClr val="FF0000"/>
                </a:solidFill>
                <a:ea typeface="宋体" panose="02010600030101010101" pitchFamily="2" charset="-122"/>
              </a:rPr>
              <a:t>improve performance </a:t>
            </a:r>
            <a:r>
              <a:rPr lang="en-US" altLang="zh-CN" sz="2400" dirty="0">
                <a:ea typeface="宋体" panose="02010600030101010101" pitchFamily="2" charset="-122"/>
              </a:rPr>
              <a:t>through reduction of access time, and thus solve </a:t>
            </a:r>
            <a:r>
              <a:rPr lang="en-US" altLang="zh-CN" sz="2400" dirty="0">
                <a:solidFill>
                  <a:srgbClr val="FF0000"/>
                </a:solidFill>
                <a:ea typeface="宋体" panose="02010600030101010101" pitchFamily="2" charset="-122"/>
              </a:rPr>
              <a:t>scalability</a:t>
            </a:r>
            <a:r>
              <a:rPr lang="en-US" altLang="zh-CN" sz="2400" dirty="0">
                <a:ea typeface="宋体" panose="02010600030101010101" pitchFamily="2" charset="-122"/>
              </a:rPr>
              <a:t> problems. Replication and caching for performance are widely applied as </a:t>
            </a:r>
            <a:r>
              <a:rPr lang="en-US" altLang="zh-CN" sz="2400" dirty="0">
                <a:solidFill>
                  <a:srgbClr val="FF0000"/>
                </a:solidFill>
                <a:ea typeface="宋体" panose="02010600030101010101" pitchFamily="2" charset="-122"/>
              </a:rPr>
              <a:t>scaling techniques</a:t>
            </a:r>
            <a:r>
              <a:rPr lang="en-US" altLang="zh-CN" sz="2400" dirty="0">
                <a:ea typeface="宋体" panose="02010600030101010101" pitchFamily="2" charset="-122"/>
              </a:rPr>
              <a:t>. </a:t>
            </a:r>
            <a:endParaRPr lang="en-US" altLang="zh-CN" sz="2400" dirty="0">
              <a:ea typeface="宋体" panose="02010600030101010101" pitchFamily="2" charset="-122"/>
            </a:endParaRPr>
          </a:p>
          <a:p>
            <a:pPr marL="0" indent="0" algn="l" eaLnBrk="1" hangingPunct="1">
              <a:lnSpc>
                <a:spcPct val="150000"/>
              </a:lnSpc>
              <a:buNone/>
            </a:pPr>
            <a:endParaRPr lang="en-US" altLang="zh-CN" sz="2400" dirty="0">
              <a:ea typeface="宋体" panose="02010600030101010101" pitchFamily="2" charset="-122"/>
            </a:endParaRPr>
          </a:p>
        </p:txBody>
      </p:sp>
      <p:sp>
        <p:nvSpPr>
          <p:cNvPr id="4" name="Rectangle 2051"/>
          <p:cNvSpPr txBox="1">
            <a:spLocks noChangeArrowheads="1"/>
          </p:cNvSpPr>
          <p:nvPr/>
        </p:nvSpPr>
        <p:spPr bwMode="auto">
          <a:xfrm>
            <a:off x="82550" y="3797300"/>
            <a:ext cx="8983663" cy="29194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24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Dilemma problem</a:t>
            </a:r>
            <a:endParaRPr kumimoji="0" lang="en-US" altLang="zh-CN" sz="24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Scalability problem can be alleviated by applying replication and caching, leading to improved performance.    </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To keep all copies consistent generally requires global synchronization, which is inherently costly in terms of performance.    </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cxnSp>
        <p:nvCxnSpPr>
          <p:cNvPr id="10245" name="直接连接符 2"/>
          <p:cNvCxnSpPr/>
          <p:nvPr/>
        </p:nvCxnSpPr>
        <p:spPr>
          <a:xfrm>
            <a:off x="0" y="3719513"/>
            <a:ext cx="9144000" cy="25400"/>
          </a:xfrm>
          <a:prstGeom prst="line">
            <a:avLst/>
          </a:prstGeom>
          <a:ln w="9525" cap="flat" cmpd="sng">
            <a:solidFill>
              <a:schemeClr val="tx1"/>
            </a:solidFill>
            <a:prstDash val="soli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p:cNvSpPr>
          <p:nvPr>
            <p:ph idx="1"/>
          </p:nvPr>
        </p:nvSpPr>
        <p:spPr>
          <a:xfrm>
            <a:off x="379413" y="2141538"/>
            <a:ext cx="8534400" cy="2193925"/>
          </a:xfrm>
        </p:spPr>
        <p:txBody>
          <a:bodyPr vert="horz" wrap="square" lIns="91440" tIns="45720" rIns="91440" bIns="45720" anchor="t" anchorCtr="0"/>
          <a:lstStyle/>
          <a:p>
            <a:pPr marL="0" indent="0" algn="l" eaLnBrk="1" hangingPunct="1">
              <a:lnSpc>
                <a:spcPct val="200000"/>
              </a:lnSpc>
              <a:buNone/>
            </a:pPr>
            <a:r>
              <a:rPr lang="en-US" altLang="zh-CN" sz="2800" dirty="0">
                <a:ea typeface="宋体" panose="02010600030101010101" pitchFamily="2" charset="-122"/>
              </a:rPr>
              <a:t>  1.  DATA-CENTRIC CONSISTENCY MODELS.  </a:t>
            </a:r>
            <a:endParaRPr lang="en-US" altLang="zh-CN" sz="2800" dirty="0">
              <a:ea typeface="宋体" panose="02010600030101010101" pitchFamily="2" charset="-122"/>
            </a:endParaRPr>
          </a:p>
          <a:p>
            <a:pPr marL="0" indent="0" algn="l" eaLnBrk="1" hangingPunct="1">
              <a:lnSpc>
                <a:spcPct val="200000"/>
              </a:lnSpc>
              <a:buNone/>
            </a:pPr>
            <a:r>
              <a:rPr lang="en-US" altLang="zh-CN" sz="2800" dirty="0">
                <a:ea typeface="宋体" panose="02010600030101010101" pitchFamily="2" charset="-122"/>
              </a:rPr>
              <a:t>  2.  CLIENT-CENTRIC CONSISTENCY MODELS</a:t>
            </a:r>
            <a:endParaRPr lang="en-US" altLang="zh-CN" sz="2800" dirty="0">
              <a:ea typeface="宋体" panose="02010600030101010101" pitchFamily="2" charset="-122"/>
            </a:endParaRPr>
          </a:p>
        </p:txBody>
      </p:sp>
      <p:sp>
        <p:nvSpPr>
          <p:cNvPr id="11267" name="Rectangle 1027"/>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TWO CONSISTENCY MODELS</a:t>
            </a:r>
            <a:endParaRPr lang="zh-CN" altLang="en-US"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p:cNvSpPr>
          <p:nvPr>
            <p:ph type="title"/>
          </p:nvPr>
        </p:nvSpPr>
        <p:spPr>
          <a:xfrm>
            <a:off x="0" y="0"/>
            <a:ext cx="9144000" cy="955675"/>
          </a:xfrm>
        </p:spPr>
        <p:txBody>
          <a:bodyPr vert="horz" wrap="square" lIns="91440" tIns="45720" rIns="91440" bIns="45720" anchor="ctr" anchorCtr="0"/>
          <a:lstStyle/>
          <a:p>
            <a:pPr eaLnBrk="1" hangingPunct="1"/>
            <a:r>
              <a:rPr lang="en-US" altLang="zh-CN" sz="3600" dirty="0">
                <a:ea typeface="宋体" panose="02010600030101010101" pitchFamily="2" charset="-122"/>
              </a:rPr>
              <a:t>DATA-CENTRIC CONSISTENCY MODELS</a:t>
            </a:r>
            <a:endParaRPr lang="en-US" altLang="zh-CN" sz="3600" dirty="0">
              <a:ea typeface="宋体" panose="02010600030101010101" pitchFamily="2" charset="-122"/>
            </a:endParaRPr>
          </a:p>
        </p:txBody>
      </p:sp>
      <p:sp>
        <p:nvSpPr>
          <p:cNvPr id="21507" name="Rectangle 1027"/>
          <p:cNvSpPr>
            <a:spLocks noGrp="1" noChangeArrowheads="1"/>
          </p:cNvSpPr>
          <p:nvPr>
            <p:ph idx="1"/>
          </p:nvPr>
        </p:nvSpPr>
        <p:spPr>
          <a:xfrm>
            <a:off x="0" y="714375"/>
            <a:ext cx="9144000" cy="2968625"/>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rgbClr val="FF0000"/>
                </a:solidFill>
                <a:effectLst/>
                <a:uLnTx/>
                <a:uFillTx/>
                <a:latin typeface="+mn-ea"/>
                <a:ea typeface="+mn-ea"/>
                <a:cs typeface="+mn-cs"/>
              </a:rPr>
              <a:t>A </a:t>
            </a:r>
            <a:r>
              <a:rPr kumimoji="0" lang="en-US" altLang="zh-CN" sz="2000" b="1" i="0" u="none" strike="noStrike" kern="0" cap="none" spc="0" normalizeH="0" baseline="0" noProof="0" dirty="0">
                <a:ln>
                  <a:noFill/>
                </a:ln>
                <a:solidFill>
                  <a:srgbClr val="FF0000"/>
                </a:solidFill>
                <a:effectLst/>
                <a:uLnTx/>
                <a:uFillTx/>
                <a:latin typeface="+mn-ea"/>
                <a:ea typeface="+mn-ea"/>
                <a:cs typeface="+mn-cs"/>
              </a:rPr>
              <a:t>data store </a:t>
            </a:r>
            <a:r>
              <a:rPr kumimoji="0" lang="en-US" altLang="zh-CN" sz="2000" b="0" i="0" u="none" strike="noStrike" kern="0" cap="none" spc="0" normalizeH="0" baseline="0" noProof="0" dirty="0">
                <a:ln>
                  <a:noFill/>
                </a:ln>
                <a:solidFill>
                  <a:schemeClr val="tx1"/>
                </a:solidFill>
                <a:effectLst/>
                <a:uLnTx/>
                <a:uFillTx/>
                <a:latin typeface="+mn-ea"/>
                <a:ea typeface="+mn-ea"/>
                <a:cs typeface="+mn-cs"/>
              </a:rPr>
              <a:t>may be physically distributed across multiple machines: shared memory, shared database, or a file system(distributed) .</a:t>
            </a:r>
            <a:endParaRPr kumimoji="0" lang="en-US" altLang="zh-CN" sz="20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ea"/>
                <a:ea typeface="+mn-ea"/>
                <a:cs typeface="+mn-cs"/>
              </a:rPr>
              <a:t>A data operation is classified as:  </a:t>
            </a:r>
            <a:r>
              <a:rPr kumimoji="0" lang="en-US" altLang="zh-CN" sz="2000" b="0" i="0" u="none" strike="noStrike" kern="0" cap="none" spc="0" normalizeH="0" baseline="0" noProof="0" dirty="0">
                <a:ln>
                  <a:noFill/>
                </a:ln>
                <a:solidFill>
                  <a:srgbClr val="FF0000"/>
                </a:solidFill>
                <a:effectLst/>
                <a:uLnTx/>
                <a:uFillTx/>
                <a:latin typeface="+mn-ea"/>
                <a:ea typeface="+mn-ea"/>
                <a:cs typeface="+mn-cs"/>
              </a:rPr>
              <a:t>write operation; read operation;</a:t>
            </a:r>
            <a:endParaRPr kumimoji="0" lang="en-US" altLang="zh-CN" sz="2000" b="0" i="0" u="none" strike="noStrike" kern="0" cap="none" spc="0" normalizeH="0" baseline="0" noProof="0" dirty="0">
              <a:ln>
                <a:noFill/>
              </a:ln>
              <a:solidFill>
                <a:srgbClr val="FF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ea"/>
                <a:ea typeface="+mn-ea"/>
                <a:cs typeface="+mn-cs"/>
              </a:rPr>
              <a:t>each process that can access data from the store is assumed to have a local(or nearby) copy available of the entire store. Write operations are propagated to the other copies.</a:t>
            </a:r>
            <a:endParaRPr kumimoji="0" lang="en-US" altLang="zh-CN" sz="2000" b="0" i="0" u="none" strike="noStrike" kern="0" cap="none" spc="0" normalizeH="0" baseline="0" noProof="0" dirty="0">
              <a:ln>
                <a:noFill/>
              </a:ln>
              <a:solidFill>
                <a:schemeClr val="tx1"/>
              </a:solidFill>
              <a:effectLst/>
              <a:uLnTx/>
              <a:uFillTx/>
              <a:latin typeface="+mn-ea"/>
              <a:ea typeface="+mn-ea"/>
              <a:cs typeface="+mn-cs"/>
            </a:endParaRPr>
          </a:p>
        </p:txBody>
      </p:sp>
      <p:sp>
        <p:nvSpPr>
          <p:cNvPr id="4" name="Rectangle 3"/>
          <p:cNvSpPr txBox="1">
            <a:spLocks noChangeArrowheads="1"/>
          </p:cNvSpPr>
          <p:nvPr/>
        </p:nvSpPr>
        <p:spPr bwMode="auto">
          <a:xfrm>
            <a:off x="-74612" y="6384925"/>
            <a:ext cx="9218613" cy="3397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general organization of a logical data store, physically distributed and replicated across multiple processes.</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2293" name="Picture 5"/>
          <p:cNvPicPr>
            <a:picLocks noChangeAspect="1"/>
          </p:cNvPicPr>
          <p:nvPr/>
        </p:nvPicPr>
        <p:blipFill>
          <a:blip r:embed="rId1"/>
          <a:srcRect l="32710" t="45468" r="30144" b="39879"/>
          <a:stretch>
            <a:fillRect/>
          </a:stretch>
        </p:blipFill>
        <p:spPr>
          <a:xfrm>
            <a:off x="1681163" y="3570288"/>
            <a:ext cx="5749925" cy="273050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p:cNvSpPr>
            <a:spLocks noGrp="1"/>
          </p:cNvSpPr>
          <p:nvPr>
            <p:ph type="title"/>
          </p:nvPr>
        </p:nvSpPr>
        <p:spPr>
          <a:xfrm>
            <a:off x="0" y="0"/>
            <a:ext cx="9144000" cy="523875"/>
          </a:xfrm>
        </p:spPr>
        <p:txBody>
          <a:bodyPr vert="horz" wrap="square" lIns="91440" tIns="45720" rIns="91440" bIns="45720" anchor="ctr" anchorCtr="0"/>
          <a:lstStyle/>
          <a:p>
            <a:pPr eaLnBrk="1" hangingPunct="1"/>
            <a:r>
              <a:rPr lang="en-US" altLang="zh-CN" dirty="0">
                <a:ea typeface="宋体" panose="02010600030101010101" pitchFamily="2" charset="-122"/>
              </a:rPr>
              <a:t>Data-Centric Consistency Models</a:t>
            </a:r>
            <a:endParaRPr lang="en-US" altLang="zh-CN" dirty="0">
              <a:ea typeface="宋体" panose="02010600030101010101" pitchFamily="2" charset="-122"/>
            </a:endParaRPr>
          </a:p>
        </p:txBody>
      </p:sp>
      <p:sp>
        <p:nvSpPr>
          <p:cNvPr id="13315" name="Rectangle 1027"/>
          <p:cNvSpPr>
            <a:spLocks noGrp="1"/>
          </p:cNvSpPr>
          <p:nvPr>
            <p:ph idx="1"/>
          </p:nvPr>
        </p:nvSpPr>
        <p:spPr>
          <a:xfrm>
            <a:off x="195263" y="892175"/>
            <a:ext cx="8820150" cy="1668463"/>
          </a:xfrm>
        </p:spPr>
        <p:txBody>
          <a:bodyPr vert="horz" wrap="square" lIns="91440" tIns="45720" rIns="91440" bIns="45720" anchor="t" anchorCtr="0"/>
          <a:lstStyle/>
          <a:p>
            <a:pPr marL="0" indent="0" algn="l" eaLnBrk="1" hangingPunct="1">
              <a:lnSpc>
                <a:spcPct val="150000"/>
              </a:lnSpc>
              <a:buNone/>
            </a:pPr>
            <a:r>
              <a:rPr lang="en-US" altLang="zh-CN" sz="2400" dirty="0">
                <a:solidFill>
                  <a:srgbClr val="FF0000"/>
                </a:solidFill>
                <a:ea typeface="宋体" panose="02010600030101010101" pitchFamily="2" charset="-122"/>
              </a:rPr>
              <a:t>A </a:t>
            </a:r>
            <a:r>
              <a:rPr lang="en-US" altLang="zh-CN" sz="2400" b="1" dirty="0">
                <a:solidFill>
                  <a:srgbClr val="FF0000"/>
                </a:solidFill>
                <a:ea typeface="宋体" panose="02010600030101010101" pitchFamily="2" charset="-122"/>
              </a:rPr>
              <a:t>consistency model</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is essentially a contract between process (read/write) and the data store. It says that if processes agree to obey certain rules, the store promises to work correctly.</a:t>
            </a:r>
            <a:endParaRPr lang="en-US" altLang="zh-CN" sz="2400" dirty="0">
              <a:ea typeface="宋体" panose="02010600030101010101" pitchFamily="2" charset="-122"/>
            </a:endParaRPr>
          </a:p>
        </p:txBody>
      </p:sp>
      <p:sp>
        <p:nvSpPr>
          <p:cNvPr id="4" name="Rectangle 3"/>
          <p:cNvSpPr txBox="1">
            <a:spLocks noChangeArrowheads="1"/>
          </p:cNvSpPr>
          <p:nvPr/>
        </p:nvSpPr>
        <p:spPr bwMode="auto">
          <a:xfrm>
            <a:off x="128588" y="3154363"/>
            <a:ext cx="8886825" cy="29892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In the absence of a global clock, it is difficult to define precisely which write operation is the last one, so we need to provide definitions, leading to </a:t>
            </a: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a range of consistency models</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Each model effectively restricts（</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限定） </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values that a read operation on a data item can return.</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Strict Consistency(7.2.1)</a:t>
            </a:r>
            <a:endParaRPr lang="en-US" altLang="zh-CN" dirty="0">
              <a:ea typeface="宋体" panose="02010600030101010101" pitchFamily="2" charset="-122"/>
            </a:endParaRPr>
          </a:p>
        </p:txBody>
      </p:sp>
      <p:sp>
        <p:nvSpPr>
          <p:cNvPr id="14339" name="Rectangle 3"/>
          <p:cNvSpPr>
            <a:spLocks noGrp="1"/>
          </p:cNvSpPr>
          <p:nvPr>
            <p:ph idx="1"/>
          </p:nvPr>
        </p:nvSpPr>
        <p:spPr>
          <a:xfrm>
            <a:off x="349250" y="1198563"/>
            <a:ext cx="8504238" cy="4860925"/>
          </a:xfrm>
        </p:spPr>
        <p:txBody>
          <a:bodyPr vert="horz" wrap="square" lIns="91440" tIns="45720" rIns="91440" bIns="45720" anchor="t" anchorCtr="0"/>
          <a:lstStyle/>
          <a:p>
            <a:pPr marL="0" indent="0" algn="l" eaLnBrk="1" hangingPunct="1">
              <a:lnSpc>
                <a:spcPct val="150000"/>
              </a:lnSpc>
              <a:buNone/>
            </a:pPr>
            <a:r>
              <a:rPr lang="en-US" altLang="zh-CN" sz="2800" dirty="0">
                <a:ea typeface="宋体" panose="02010600030101010101" pitchFamily="2" charset="-122"/>
              </a:rPr>
              <a:t>strict consistency:</a:t>
            </a:r>
            <a:endParaRPr lang="en-US" altLang="zh-CN" sz="2800" dirty="0">
              <a:ea typeface="宋体" panose="02010600030101010101" pitchFamily="2" charset="-122"/>
            </a:endParaRPr>
          </a:p>
          <a:p>
            <a:pPr marL="0" indent="0" algn="l" eaLnBrk="1" hangingPunct="1">
              <a:lnSpc>
                <a:spcPct val="150000"/>
              </a:lnSpc>
              <a:buNone/>
            </a:pPr>
            <a:r>
              <a:rPr lang="en-US" altLang="zh-CN" sz="2800" dirty="0">
                <a:ea typeface="宋体" panose="02010600030101010101" pitchFamily="2" charset="-122"/>
              </a:rPr>
              <a:t>       </a:t>
            </a:r>
            <a:r>
              <a:rPr lang="en-US" altLang="zh-CN" sz="2800" b="1" i="1" dirty="0">
                <a:ea typeface="宋体" panose="02010600030101010101" pitchFamily="2" charset="-122"/>
              </a:rPr>
              <a:t>Any read on a data item x returns a value corresponding to the result of the most recent write on x.</a:t>
            </a:r>
            <a:endParaRPr lang="en-US" altLang="zh-CN" sz="2800" b="1" i="1" dirty="0">
              <a:ea typeface="宋体" panose="02010600030101010101" pitchFamily="2" charset="-122"/>
            </a:endParaRPr>
          </a:p>
          <a:p>
            <a:pPr marL="0" indent="0" algn="l" eaLnBrk="1" hangingPunct="1">
              <a:lnSpc>
                <a:spcPct val="150000"/>
              </a:lnSpc>
              <a:buNone/>
            </a:pPr>
            <a:endParaRPr lang="en-US" altLang="zh-CN" sz="2800" i="1" dirty="0">
              <a:ea typeface="宋体" panose="02010600030101010101" pitchFamily="2" charset="-122"/>
            </a:endParaRPr>
          </a:p>
          <a:p>
            <a:pPr marL="0" indent="0" algn="just" eaLnBrk="1" hangingPunct="1">
              <a:lnSpc>
                <a:spcPct val="150000"/>
              </a:lnSpc>
              <a:buNone/>
            </a:pPr>
            <a:r>
              <a:rPr lang="zh-CN" altLang="en-US" sz="2400" b="1" dirty="0">
                <a:ea typeface="宋体" panose="02010600030101010101" pitchFamily="2" charset="-122"/>
              </a:rPr>
              <a:t>例：单一处理机遵守严格一致性，有如下程序：</a:t>
            </a:r>
            <a:endParaRPr lang="zh-CN" altLang="en-US" sz="2400" b="1" dirty="0">
              <a:ea typeface="宋体" panose="02010600030101010101" pitchFamily="2" charset="-122"/>
            </a:endParaRPr>
          </a:p>
          <a:p>
            <a:pPr marL="0" indent="0" algn="just" eaLnBrk="1" hangingPunct="1">
              <a:lnSpc>
                <a:spcPct val="150000"/>
              </a:lnSpc>
              <a:buNone/>
            </a:pPr>
            <a:r>
              <a:rPr lang="en-US" altLang="zh-CN" sz="2400" b="1" dirty="0">
                <a:ea typeface="宋体" panose="02010600030101010101" pitchFamily="2" charset="-122"/>
              </a:rPr>
              <a:t>          A=1；A=2；PRINT（A）；</a:t>
            </a:r>
            <a:endParaRPr lang="en-US" altLang="zh-CN" sz="2400" b="1" dirty="0">
              <a:ea typeface="宋体" panose="02010600030101010101" pitchFamily="2" charset="-122"/>
            </a:endParaRPr>
          </a:p>
          <a:p>
            <a:pPr marL="0" indent="0" algn="l" eaLnBrk="1" hangingPunct="1">
              <a:lnSpc>
                <a:spcPct val="150000"/>
              </a:lnSpc>
              <a:buNone/>
            </a:pPr>
            <a:r>
              <a:rPr lang="zh-CN" altLang="en-US" sz="2400" b="1" dirty="0">
                <a:ea typeface="宋体" panose="02010600030101010101" pitchFamily="2" charset="-122"/>
              </a:rPr>
              <a:t>打印1或2以外的任何值是编程者无法理解的。 </a:t>
            </a:r>
            <a:endParaRPr lang="en-US" altLang="zh-CN" sz="2400" b="1"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0" y="0"/>
            <a:ext cx="9144000" cy="590550"/>
          </a:xfrm>
        </p:spPr>
        <p:txBody>
          <a:bodyPr vert="horz" wrap="square" lIns="91440" tIns="45720" rIns="91440" bIns="45720" anchor="ctr" anchorCtr="0"/>
          <a:lstStyle/>
          <a:p>
            <a:pPr eaLnBrk="1" hangingPunct="1"/>
            <a:r>
              <a:rPr lang="en-US" altLang="zh-CN" dirty="0">
                <a:ea typeface="宋体" panose="02010600030101010101" pitchFamily="2" charset="-122"/>
              </a:rPr>
              <a:t>Strict Consistency(7.2.1)</a:t>
            </a:r>
            <a:endParaRPr lang="en-US" altLang="zh-CN" dirty="0">
              <a:ea typeface="宋体" panose="02010600030101010101" pitchFamily="2" charset="-122"/>
            </a:endParaRPr>
          </a:p>
        </p:txBody>
      </p:sp>
      <p:sp>
        <p:nvSpPr>
          <p:cNvPr id="15363" name="Rectangle 3"/>
          <p:cNvSpPr>
            <a:spLocks noGrp="1"/>
          </p:cNvSpPr>
          <p:nvPr>
            <p:ph idx="1"/>
          </p:nvPr>
        </p:nvSpPr>
        <p:spPr>
          <a:xfrm>
            <a:off x="420688" y="742950"/>
            <a:ext cx="8302625" cy="5649913"/>
          </a:xfrm>
        </p:spPr>
        <p:txBody>
          <a:bodyPr vert="horz" wrap="square" lIns="91440" tIns="45720" rIns="91440" bIns="45720" anchor="t" anchorCtr="0"/>
          <a:lstStyle/>
          <a:p>
            <a:pPr marL="0" indent="0" algn="just" eaLnBrk="1" hangingPunct="1">
              <a:lnSpc>
                <a:spcPct val="150000"/>
              </a:lnSpc>
              <a:buNone/>
            </a:pPr>
            <a:r>
              <a:rPr lang="zh-CN" altLang="en-US" sz="2000" dirty="0">
                <a:ea typeface="宋体" panose="02010600030101010101" pitchFamily="2" charset="-122"/>
              </a:rPr>
              <a:t>假设在</a:t>
            </a:r>
            <a:r>
              <a:rPr lang="en-US" altLang="zh-CN" sz="2000" dirty="0">
                <a:ea typeface="宋体" panose="02010600030101010101" pitchFamily="2" charset="-122"/>
              </a:rPr>
              <a:t>DCS</a:t>
            </a:r>
            <a:r>
              <a:rPr lang="zh-CN" altLang="en-US" sz="2000" dirty="0">
                <a:ea typeface="宋体" panose="02010600030101010101" pitchFamily="2" charset="-122"/>
              </a:rPr>
              <a:t>中有如下情形：先读后写。</a:t>
            </a:r>
            <a:endParaRPr lang="en-US" altLang="zh-CN" sz="2000" dirty="0">
              <a:ea typeface="宋体" panose="02010600030101010101" pitchFamily="2" charset="-122"/>
            </a:endParaRPr>
          </a:p>
          <a:p>
            <a:pPr marL="0" indent="0" algn="just" eaLnBrk="1" hangingPunct="1">
              <a:lnSpc>
                <a:spcPct val="150000"/>
              </a:lnSpc>
              <a:buNone/>
            </a:pPr>
            <a:r>
              <a:rPr lang="en-US" altLang="zh-CN" sz="2000" dirty="0">
                <a:ea typeface="宋体" panose="02010600030101010101" pitchFamily="2" charset="-122"/>
              </a:rPr>
              <a:t>                Node A                               Node</a:t>
            </a:r>
            <a:r>
              <a:rPr lang="zh-CN" altLang="en-US" sz="2000" dirty="0">
                <a:ea typeface="宋体" panose="02010600030101010101" pitchFamily="2" charset="-122"/>
              </a:rPr>
              <a:t> </a:t>
            </a:r>
            <a:r>
              <a:rPr lang="en-US" altLang="zh-CN" sz="2000" dirty="0">
                <a:ea typeface="宋体" panose="02010600030101010101" pitchFamily="2" charset="-122"/>
              </a:rPr>
              <a:t>B</a:t>
            </a:r>
            <a:endParaRPr lang="en-US" altLang="zh-CN" sz="2000" dirty="0">
              <a:ea typeface="宋体" panose="02010600030101010101" pitchFamily="2" charset="-122"/>
            </a:endParaRPr>
          </a:p>
          <a:p>
            <a:pPr marL="0" indent="0" algn="just" eaLnBrk="1" hangingPunct="1">
              <a:lnSpc>
                <a:spcPct val="150000"/>
              </a:lnSpc>
              <a:buNone/>
            </a:pPr>
            <a:r>
              <a:rPr lang="en-US" altLang="zh-CN" sz="2000" dirty="0">
                <a:ea typeface="宋体" panose="02010600030101010101" pitchFamily="2" charset="-122"/>
              </a:rPr>
              <a:t>                  P1                                            x   </a:t>
            </a:r>
            <a:endParaRPr lang="en-US" altLang="zh-CN" sz="2000" dirty="0">
              <a:ea typeface="宋体" panose="02010600030101010101" pitchFamily="2" charset="-122"/>
            </a:endParaRPr>
          </a:p>
          <a:p>
            <a:pPr marL="0" indent="0" algn="just" eaLnBrk="1" hangingPunct="1">
              <a:lnSpc>
                <a:spcPct val="150000"/>
              </a:lnSpc>
              <a:buNone/>
            </a:pPr>
            <a:r>
              <a:rPr lang="en-US" altLang="zh-CN" sz="2000" dirty="0">
                <a:ea typeface="宋体" panose="02010600030101010101" pitchFamily="2" charset="-122"/>
              </a:rPr>
              <a:t>                   </a:t>
            </a:r>
            <a:r>
              <a:rPr lang="en-US" altLang="zh-CN" sz="2000" dirty="0">
                <a:latin typeface="Courier New" panose="02070309020205020404" pitchFamily="49" charset="0"/>
                <a:ea typeface="宋体" panose="02010600030101010101" pitchFamily="2" charset="-122"/>
              </a:rPr>
              <a:t>…</a:t>
            </a:r>
            <a:r>
              <a:rPr lang="en-US" altLang="zh-CN" sz="2000" dirty="0">
                <a:ea typeface="宋体" panose="02010600030101010101" pitchFamily="2" charset="-122"/>
              </a:rPr>
              <a:t>                   </a:t>
            </a:r>
            <a:endParaRPr lang="en-US" altLang="zh-CN" sz="2000" dirty="0">
              <a:ea typeface="宋体" panose="02010600030101010101" pitchFamily="2" charset="-122"/>
            </a:endParaRPr>
          </a:p>
          <a:p>
            <a:pPr marL="0" indent="0" algn="just" eaLnBrk="1" hangingPunct="1">
              <a:lnSpc>
                <a:spcPct val="150000"/>
              </a:lnSpc>
              <a:buNone/>
            </a:pPr>
            <a:r>
              <a:rPr lang="en-US" altLang="zh-CN" sz="2000" dirty="0">
                <a:ea typeface="宋体" panose="02010600030101010101" pitchFamily="2" charset="-122"/>
              </a:rPr>
              <a:t>           read(B:x at t1)                              P2</a:t>
            </a:r>
            <a:endParaRPr lang="en-US" altLang="zh-CN" sz="2000" dirty="0">
              <a:ea typeface="宋体" panose="02010600030101010101" pitchFamily="2" charset="-122"/>
            </a:endParaRPr>
          </a:p>
          <a:p>
            <a:pPr marL="0" indent="0" algn="just" eaLnBrk="1" hangingPunct="1">
              <a:lnSpc>
                <a:spcPct val="150000"/>
              </a:lnSpc>
              <a:buNone/>
            </a:pPr>
            <a:r>
              <a:rPr lang="en-US" altLang="zh-CN" sz="2000" dirty="0">
                <a:ea typeface="宋体" panose="02010600030101010101" pitchFamily="2" charset="-122"/>
              </a:rPr>
              <a:t>                                                                  </a:t>
            </a:r>
            <a:r>
              <a:rPr lang="en-US" altLang="zh-CN" sz="2000" dirty="0">
                <a:latin typeface="Courier New" panose="02070309020205020404" pitchFamily="49" charset="0"/>
                <a:ea typeface="宋体" panose="02010600030101010101" pitchFamily="2" charset="-122"/>
              </a:rPr>
              <a:t>…            </a:t>
            </a:r>
            <a:r>
              <a:rPr lang="en-US" altLang="zh-CN" sz="2000" dirty="0">
                <a:ea typeface="宋体" panose="02010600030101010101" pitchFamily="2" charset="-122"/>
              </a:rPr>
              <a:t>t2-t1=1ns</a:t>
            </a:r>
            <a:endParaRPr lang="en-US" altLang="zh-CN" sz="2000" dirty="0">
              <a:ea typeface="宋体" panose="02010600030101010101" pitchFamily="2" charset="-122"/>
            </a:endParaRPr>
          </a:p>
          <a:p>
            <a:pPr marL="0" indent="0" algn="just" eaLnBrk="1" hangingPunct="1">
              <a:lnSpc>
                <a:spcPct val="150000"/>
              </a:lnSpc>
              <a:buNone/>
            </a:pPr>
            <a:r>
              <a:rPr lang="en-US" altLang="zh-CN" sz="2000" dirty="0">
                <a:ea typeface="宋体" panose="02010600030101010101" pitchFamily="2" charset="-122"/>
              </a:rPr>
              <a:t>                                                      Write(B:x at t2)</a:t>
            </a:r>
            <a:endParaRPr lang="en-US" altLang="zh-CN" sz="2000" dirty="0">
              <a:ea typeface="宋体" panose="02010600030101010101" pitchFamily="2" charset="-122"/>
            </a:endParaRPr>
          </a:p>
          <a:p>
            <a:pPr marL="0" indent="0" algn="just" eaLnBrk="1" hangingPunct="1">
              <a:lnSpc>
                <a:spcPct val="150000"/>
              </a:lnSpc>
              <a:buNone/>
            </a:pPr>
            <a:endParaRPr lang="en-US" altLang="zh-CN" sz="2000" dirty="0">
              <a:ea typeface="宋体" panose="02010600030101010101" pitchFamily="2" charset="-122"/>
            </a:endParaRPr>
          </a:p>
          <a:p>
            <a:pPr marL="0" indent="0" algn="just" eaLnBrk="1" hangingPunct="1">
              <a:lnSpc>
                <a:spcPct val="150000"/>
              </a:lnSpc>
              <a:buNone/>
            </a:pPr>
            <a:r>
              <a:rPr lang="zh-CN" altLang="en-US" sz="2000" dirty="0">
                <a:ea typeface="宋体" panose="02010600030101010101" pitchFamily="2" charset="-122"/>
              </a:rPr>
              <a:t>严格一致性</a:t>
            </a:r>
            <a:r>
              <a:rPr lang="en-US" altLang="zh-CN" sz="2000" dirty="0">
                <a:ea typeface="宋体" panose="02010600030101010101" pitchFamily="2" charset="-122"/>
              </a:rPr>
              <a:t>: A</a:t>
            </a:r>
            <a:r>
              <a:rPr lang="zh-CN" altLang="en-US" sz="2000" dirty="0">
                <a:ea typeface="宋体" panose="02010600030101010101" pitchFamily="2" charset="-122"/>
              </a:rPr>
              <a:t>应该读出写之前的</a:t>
            </a:r>
            <a:r>
              <a:rPr lang="en-US" altLang="zh-CN" sz="2000" dirty="0">
                <a:ea typeface="宋体" panose="02010600030101010101" pitchFamily="2" charset="-122"/>
              </a:rPr>
              <a:t>x</a:t>
            </a:r>
            <a:r>
              <a:rPr lang="zh-CN" altLang="en-US" sz="2000" dirty="0">
                <a:ea typeface="宋体" panose="02010600030101010101" pitchFamily="2" charset="-122"/>
              </a:rPr>
              <a:t>值。假设机器间距离3米，从</a:t>
            </a:r>
            <a:r>
              <a:rPr lang="en-US" altLang="zh-CN" sz="2000" dirty="0">
                <a:ea typeface="宋体" panose="02010600030101010101" pitchFamily="2" charset="-122"/>
              </a:rPr>
              <a:t>A</a:t>
            </a:r>
            <a:r>
              <a:rPr lang="zh-CN" altLang="en-US" sz="2000" dirty="0">
                <a:ea typeface="宋体" panose="02010600030101010101" pitchFamily="2" charset="-122"/>
              </a:rPr>
              <a:t>到</a:t>
            </a:r>
            <a:r>
              <a:rPr lang="en-US" altLang="zh-CN" sz="2000" dirty="0">
                <a:ea typeface="宋体" panose="02010600030101010101" pitchFamily="2" charset="-122"/>
              </a:rPr>
              <a:t>B</a:t>
            </a:r>
            <a:r>
              <a:rPr lang="zh-CN" altLang="en-US" sz="2000" dirty="0">
                <a:ea typeface="宋体" panose="02010600030101010101" pitchFamily="2" charset="-122"/>
              </a:rPr>
              <a:t>传送读操作并使之先于</a:t>
            </a:r>
            <a:r>
              <a:rPr lang="en-US" altLang="zh-CN" sz="2000" dirty="0">
                <a:ea typeface="宋体" panose="02010600030101010101" pitchFamily="2" charset="-122"/>
              </a:rPr>
              <a:t>B</a:t>
            </a:r>
            <a:r>
              <a:rPr lang="zh-CN" altLang="en-US" sz="2000" dirty="0">
                <a:ea typeface="宋体" panose="02010600030101010101" pitchFamily="2" charset="-122"/>
              </a:rPr>
              <a:t>的写操作，则信号必须以十倍光速传递，与相对论矛盾</a:t>
            </a:r>
            <a:r>
              <a:rPr lang="en-US" altLang="zh-CN" sz="2000" dirty="0">
                <a:ea typeface="宋体" panose="02010600030101010101" pitchFamily="2" charset="-122"/>
              </a:rPr>
              <a:t>.  1ns(</a:t>
            </a:r>
            <a:r>
              <a:rPr lang="zh-CN" altLang="en-US" sz="2000" dirty="0">
                <a:ea typeface="宋体" panose="02010600030101010101" pitchFamily="2" charset="-122"/>
              </a:rPr>
              <a:t>纳秒</a:t>
            </a:r>
            <a:r>
              <a:rPr lang="en-US" altLang="zh-CN" sz="2000" dirty="0">
                <a:ea typeface="宋体" panose="02010600030101010101" pitchFamily="2" charset="-122"/>
              </a:rPr>
              <a:t>)=10</a:t>
            </a:r>
            <a:r>
              <a:rPr lang="en-US" altLang="zh-CN" sz="2000" baseline="30000" dirty="0">
                <a:ea typeface="宋体" panose="02010600030101010101" pitchFamily="2" charset="-122"/>
              </a:rPr>
              <a:t>-9</a:t>
            </a:r>
            <a:r>
              <a:rPr lang="zh-CN" altLang="en-US" sz="2000" dirty="0">
                <a:ea typeface="宋体" panose="02010600030101010101" pitchFamily="2" charset="-122"/>
              </a:rPr>
              <a:t>秒。</a:t>
            </a:r>
            <a:endParaRPr lang="en-US" altLang="zh-CN" sz="2000" dirty="0">
              <a:ea typeface="宋体" panose="02010600030101010101" pitchFamily="2" charset="-122"/>
            </a:endParaRPr>
          </a:p>
        </p:txBody>
      </p:sp>
      <p:cxnSp>
        <p:nvCxnSpPr>
          <p:cNvPr id="15364" name="直接箭头连接符 4"/>
          <p:cNvCxnSpPr/>
          <p:nvPr/>
        </p:nvCxnSpPr>
        <p:spPr>
          <a:xfrm rot="-5400000" flipH="1">
            <a:off x="3965575" y="3019425"/>
            <a:ext cx="1944688" cy="9525"/>
          </a:xfrm>
          <a:prstGeom prst="straightConnector1">
            <a:avLst/>
          </a:prstGeom>
          <a:ln w="9525" cap="flat" cmpd="sng">
            <a:solidFill>
              <a:schemeClr val="tx1"/>
            </a:solidFill>
            <a:prstDash val="solid"/>
            <a:headEnd type="none" w="med" len="med"/>
            <a:tailEnd type="arrow" w="med" len="med"/>
          </a:ln>
        </p:spPr>
      </p:cxnSp>
      <p:cxnSp>
        <p:nvCxnSpPr>
          <p:cNvPr id="15365" name="直接箭头连接符 6"/>
          <p:cNvCxnSpPr/>
          <p:nvPr/>
        </p:nvCxnSpPr>
        <p:spPr>
          <a:xfrm rot="-5400000" flipH="1">
            <a:off x="4683125" y="4502150"/>
            <a:ext cx="500063" cy="0"/>
          </a:xfrm>
          <a:prstGeom prst="straightConnector1">
            <a:avLst/>
          </a:prstGeom>
          <a:ln w="9525" cap="flat" cmpd="sng">
            <a:solidFill>
              <a:schemeClr val="tx1"/>
            </a:solidFill>
            <a:prstDash val="solid"/>
            <a:headEnd type="none" w="med" len="med"/>
            <a:tailEnd type="arrow" w="med" len="med"/>
          </a:ln>
        </p:spPr>
      </p:cxnSp>
      <p:cxnSp>
        <p:nvCxnSpPr>
          <p:cNvPr id="15366" name="直接箭头连接符 7"/>
          <p:cNvCxnSpPr/>
          <p:nvPr/>
        </p:nvCxnSpPr>
        <p:spPr>
          <a:xfrm rot="5400000">
            <a:off x="1511300" y="2514600"/>
            <a:ext cx="1109663" cy="7938"/>
          </a:xfrm>
          <a:prstGeom prst="straightConnector1">
            <a:avLst/>
          </a:prstGeom>
          <a:ln w="9525" cap="flat" cmpd="sng">
            <a:solidFill>
              <a:schemeClr val="tx1"/>
            </a:solidFill>
            <a:prstDash val="solid"/>
            <a:headEnd type="none" w="med" len="med"/>
            <a:tailEnd type="arrow" w="med" len="med"/>
          </a:ln>
        </p:spPr>
      </p:cxnSp>
      <p:cxnSp>
        <p:nvCxnSpPr>
          <p:cNvPr id="15367" name="直接箭头连接符 11"/>
          <p:cNvCxnSpPr/>
          <p:nvPr/>
        </p:nvCxnSpPr>
        <p:spPr>
          <a:xfrm rot="5400000">
            <a:off x="1381125" y="4013200"/>
            <a:ext cx="1366838" cy="4763"/>
          </a:xfrm>
          <a:prstGeom prst="straightConnector1">
            <a:avLst/>
          </a:prstGeom>
          <a:ln w="9525" cap="flat" cmpd="sng">
            <a:solidFill>
              <a:schemeClr val="tx1"/>
            </a:solidFill>
            <a:prstDash val="solid"/>
            <a:headEnd type="none" w="med" len="med"/>
            <a:tailEnd type="arrow" w="med" len="med"/>
          </a:ln>
        </p:spPr>
      </p:cxnSp>
      <p:cxnSp>
        <p:nvCxnSpPr>
          <p:cNvPr id="15368" name="直接连接符 13"/>
          <p:cNvCxnSpPr/>
          <p:nvPr/>
        </p:nvCxnSpPr>
        <p:spPr>
          <a:xfrm flipV="1">
            <a:off x="3073400" y="3179763"/>
            <a:ext cx="3848100" cy="20637"/>
          </a:xfrm>
          <a:prstGeom prst="line">
            <a:avLst/>
          </a:prstGeom>
          <a:ln w="9525" cap="flat" cmpd="sng">
            <a:solidFill>
              <a:schemeClr val="tx1"/>
            </a:solidFill>
            <a:prstDash val="sysDot"/>
            <a:headEnd type="none" w="med" len="med"/>
            <a:tailEnd type="none" w="med" len="med"/>
          </a:ln>
        </p:spPr>
      </p:cxnSp>
      <p:cxnSp>
        <p:nvCxnSpPr>
          <p:cNvPr id="15369" name="直接连接符 14"/>
          <p:cNvCxnSpPr/>
          <p:nvPr/>
        </p:nvCxnSpPr>
        <p:spPr>
          <a:xfrm flipV="1">
            <a:off x="6145213" y="4083050"/>
            <a:ext cx="744537" cy="20638"/>
          </a:xfrm>
          <a:prstGeom prst="line">
            <a:avLst/>
          </a:prstGeom>
          <a:ln w="9525" cap="flat" cmpd="sng">
            <a:solidFill>
              <a:schemeClr val="tx1"/>
            </a:solidFill>
            <a:prstDash val="sysDot"/>
            <a:headEnd type="none" w="med" len="med"/>
            <a:tailEnd type="none" w="med" len="med"/>
          </a:ln>
        </p:spPr>
      </p:cxnSp>
      <p:sp>
        <p:nvSpPr>
          <p:cNvPr id="15370" name="右大括号 16"/>
          <p:cNvSpPr/>
          <p:nvPr/>
        </p:nvSpPr>
        <p:spPr>
          <a:xfrm>
            <a:off x="6964363" y="3189288"/>
            <a:ext cx="223837" cy="914400"/>
          </a:xfrm>
          <a:prstGeom prst="rightBrace">
            <a:avLst>
              <a:gd name="adj1" fmla="val 8321"/>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050"/>
          <p:cNvSpPr>
            <a:spLocks noGrp="1"/>
          </p:cNvSpPr>
          <p:nvPr>
            <p:ph type="title"/>
          </p:nvPr>
        </p:nvSpPr>
        <p:spPr>
          <a:xfrm>
            <a:off x="0" y="0"/>
            <a:ext cx="9144000" cy="690563"/>
          </a:xfrm>
        </p:spPr>
        <p:txBody>
          <a:bodyPr vert="horz" wrap="square" lIns="91440" tIns="45720" rIns="91440" bIns="45720" anchor="ctr" anchorCtr="0"/>
          <a:lstStyle/>
          <a:p>
            <a:pPr eaLnBrk="1" hangingPunct="1"/>
            <a:r>
              <a:rPr lang="en-US" altLang="zh-CN" dirty="0">
                <a:ea typeface="宋体" panose="02010600030101010101" pitchFamily="2" charset="-122"/>
              </a:rPr>
              <a:t>Strict Consistency(7.2.1)</a:t>
            </a:r>
            <a:endParaRPr lang="en-US" altLang="zh-CN" dirty="0">
              <a:ea typeface="宋体" panose="02010600030101010101" pitchFamily="2" charset="-122"/>
            </a:endParaRPr>
          </a:p>
        </p:txBody>
      </p:sp>
      <p:sp>
        <p:nvSpPr>
          <p:cNvPr id="16387" name="Rectangle 2051"/>
          <p:cNvSpPr>
            <a:spLocks noGrp="1"/>
          </p:cNvSpPr>
          <p:nvPr>
            <p:ph idx="1"/>
          </p:nvPr>
        </p:nvSpPr>
        <p:spPr>
          <a:xfrm>
            <a:off x="155575" y="852488"/>
            <a:ext cx="8353425" cy="819150"/>
          </a:xfrm>
        </p:spPr>
        <p:txBody>
          <a:bodyPr vert="horz" wrap="square" lIns="91440" tIns="45720" rIns="91440" bIns="45720" anchor="t" anchorCtr="0"/>
          <a:lstStyle/>
          <a:p>
            <a:pPr marL="609600" indent="-609600" algn="l" eaLnBrk="1" hangingPunct="1">
              <a:buNone/>
            </a:pPr>
            <a:r>
              <a:rPr lang="en-US" altLang="zh-CN" sz="1800" dirty="0">
                <a:ea typeface="宋体" panose="02010600030101010101" pitchFamily="2" charset="-122"/>
              </a:rPr>
              <a:t>Behavior of two processes, operating on the same data item.</a:t>
            </a:r>
            <a:endParaRPr lang="en-US" altLang="zh-CN" sz="1800" dirty="0">
              <a:ea typeface="宋体" panose="02010600030101010101" pitchFamily="2" charset="-122"/>
            </a:endParaRPr>
          </a:p>
          <a:p>
            <a:pPr marL="609600" indent="-609600" algn="l" eaLnBrk="1" hangingPunct="1">
              <a:buNone/>
            </a:pPr>
            <a:r>
              <a:rPr lang="en-US" altLang="zh-CN" sz="1800" dirty="0">
                <a:ea typeface="宋体" panose="02010600030101010101" pitchFamily="2" charset="-122"/>
              </a:rPr>
              <a:t>      (a)  A strictly consistent store</a:t>
            </a:r>
            <a:r>
              <a:rPr lang="zh-CN" altLang="en-US" sz="1800" dirty="0">
                <a:ea typeface="宋体" panose="02010600030101010101" pitchFamily="2" charset="-122"/>
              </a:rPr>
              <a:t>；</a:t>
            </a:r>
            <a:r>
              <a:rPr lang="en-US" altLang="zh-CN" sz="1800" dirty="0">
                <a:ea typeface="宋体" panose="02010600030101010101" pitchFamily="2" charset="-122"/>
              </a:rPr>
              <a:t>     (b)  A store that is not strictly consistent</a:t>
            </a:r>
            <a:r>
              <a:rPr lang="zh-CN" altLang="en-US" sz="1800" dirty="0">
                <a:ea typeface="宋体" panose="02010600030101010101" pitchFamily="2" charset="-122"/>
              </a:rPr>
              <a:t>；</a:t>
            </a:r>
            <a:endParaRPr lang="en-US" altLang="zh-CN" sz="1800" dirty="0">
              <a:ea typeface="宋体" panose="02010600030101010101" pitchFamily="2" charset="-122"/>
            </a:endParaRPr>
          </a:p>
        </p:txBody>
      </p:sp>
      <p:pic>
        <p:nvPicPr>
          <p:cNvPr id="16388" name="Picture 2052"/>
          <p:cNvPicPr>
            <a:picLocks noChangeAspect="1"/>
          </p:cNvPicPr>
          <p:nvPr/>
        </p:nvPicPr>
        <p:blipFill>
          <a:blip r:embed="rId1"/>
          <a:srcRect l="21379" t="48338" r="19241" b="42296"/>
          <a:stretch>
            <a:fillRect/>
          </a:stretch>
        </p:blipFill>
        <p:spPr>
          <a:xfrm>
            <a:off x="155575" y="1752600"/>
            <a:ext cx="8770938" cy="2087563"/>
          </a:xfrm>
          <a:prstGeom prst="rect">
            <a:avLst/>
          </a:prstGeom>
          <a:noFill/>
          <a:ln w="9525">
            <a:noFill/>
          </a:ln>
        </p:spPr>
      </p:pic>
      <p:sp>
        <p:nvSpPr>
          <p:cNvPr id="5" name="Rectangle 1027"/>
          <p:cNvSpPr txBox="1">
            <a:spLocks noChangeArrowheads="1"/>
          </p:cNvSpPr>
          <p:nvPr/>
        </p:nvSpPr>
        <p:spPr bwMode="auto">
          <a:xfrm>
            <a:off x="73025" y="3721100"/>
            <a:ext cx="8853488" cy="26463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严格一致性存储器：写操作在任一时刻对所有进程可见，后读出的是新更改值。反之，无论后面的写操作有多快，前面读操作的值仍是原来的值。</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系统维护一个绝对全局时间。严格一致性是理想的编程模式，在分布式系统中，这几乎不可能实现。</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vert="horz" wrap="square" lIns="91440" tIns="45720" rIns="91440" bIns="45720" anchor="ctr" anchorCtr="0"/>
          <a:lstStyle/>
          <a:p>
            <a:pPr eaLnBrk="1" hangingPunct="1"/>
            <a:r>
              <a:rPr lang="en-US" altLang="zh-CN" sz="3600" dirty="0">
                <a:ea typeface="宋体" panose="02010600030101010101" pitchFamily="2" charset="-122"/>
              </a:rPr>
              <a:t>Linearizability and Sequential Consistency </a:t>
            </a:r>
            <a:r>
              <a:rPr lang="en-US" altLang="zh-CN" sz="2800" dirty="0">
                <a:ea typeface="宋体" panose="02010600030101010101" pitchFamily="2" charset="-122"/>
              </a:rPr>
              <a:t>(7.2.2)</a:t>
            </a:r>
            <a:endParaRPr lang="en-US" altLang="zh-CN" sz="2800" dirty="0">
              <a:ea typeface="宋体" panose="02010600030101010101" pitchFamily="2" charset="-122"/>
            </a:endParaRPr>
          </a:p>
        </p:txBody>
      </p:sp>
      <p:sp>
        <p:nvSpPr>
          <p:cNvPr id="17411" name="Rectangle 3"/>
          <p:cNvSpPr>
            <a:spLocks noGrp="1"/>
          </p:cNvSpPr>
          <p:nvPr>
            <p:ph idx="1"/>
          </p:nvPr>
        </p:nvSpPr>
        <p:spPr>
          <a:xfrm>
            <a:off x="249238" y="1143000"/>
            <a:ext cx="8645525" cy="4786313"/>
          </a:xfrm>
        </p:spPr>
        <p:txBody>
          <a:bodyPr vert="horz" wrap="square" lIns="91440" tIns="45720" rIns="91440" bIns="45720" anchor="t" anchorCtr="0"/>
          <a:lstStyle/>
          <a:p>
            <a:pPr marL="0" indent="0" algn="l" eaLnBrk="1" hangingPunct="1">
              <a:lnSpc>
                <a:spcPct val="150000"/>
              </a:lnSpc>
              <a:buNone/>
            </a:pPr>
            <a:r>
              <a:rPr lang="en-US" altLang="zh-CN" sz="2400" dirty="0">
                <a:solidFill>
                  <a:srgbClr val="FF0000"/>
                </a:solidFill>
                <a:ea typeface="宋体" panose="02010600030101010101" pitchFamily="2" charset="-122"/>
              </a:rPr>
              <a:t>Sequential consistent</a:t>
            </a:r>
            <a:r>
              <a:rPr lang="en-US" altLang="zh-CN" sz="2400" dirty="0">
                <a:ea typeface="宋体" panose="02010600030101010101" pitchFamily="2" charset="-122"/>
              </a:rPr>
              <a:t>(</a:t>
            </a:r>
            <a:r>
              <a:rPr lang="zh-CN" altLang="en-US" sz="2400" dirty="0">
                <a:ea typeface="宋体" panose="02010600030101010101" pitchFamily="2" charset="-122"/>
              </a:rPr>
              <a:t>顺序一致性条件，</a:t>
            </a:r>
            <a:r>
              <a:rPr lang="en-US" altLang="zh-CN" sz="2400" dirty="0">
                <a:ea typeface="宋体" panose="02010600030101010101" pitchFamily="2" charset="-122"/>
              </a:rPr>
              <a:t>Lamport 1979</a:t>
            </a:r>
            <a:r>
              <a:rPr lang="zh-CN" altLang="en-US" sz="2400" dirty="0">
                <a:ea typeface="宋体" panose="02010600030101010101" pitchFamily="2" charset="-122"/>
              </a:rPr>
              <a:t>) ：</a:t>
            </a:r>
            <a:endParaRPr lang="zh-CN" altLang="en-US" sz="2400" dirty="0">
              <a:ea typeface="宋体" panose="02010600030101010101" pitchFamily="2" charset="-122"/>
            </a:endParaRPr>
          </a:p>
          <a:p>
            <a:pPr marL="0" indent="0" algn="just" eaLnBrk="1" hangingPunct="1">
              <a:lnSpc>
                <a:spcPct val="150000"/>
              </a:lnSpc>
              <a:buNone/>
            </a:pPr>
            <a:r>
              <a:rPr lang="en-US" altLang="zh-CN" sz="2400" i="1" dirty="0">
                <a:ea typeface="宋体" panose="02010600030101010101" pitchFamily="2" charset="-122"/>
              </a:rPr>
              <a:t>        The result of any execution is the same as if the (read and write)operation by all processes on the data store were executed in some sequential order and the operations of each individual process appear in this sequence in the order specified by its program. </a:t>
            </a:r>
            <a:endParaRPr lang="en-US" altLang="zh-CN" sz="2400" i="1" dirty="0">
              <a:ea typeface="宋体" panose="02010600030101010101" pitchFamily="2" charset="-122"/>
            </a:endParaRPr>
          </a:p>
          <a:p>
            <a:pPr marL="0" indent="0" algn="l" eaLnBrk="1" hangingPunct="1">
              <a:lnSpc>
                <a:spcPct val="150000"/>
              </a:lnSpc>
              <a:buNone/>
            </a:pPr>
            <a:r>
              <a:rPr lang="zh-CN" altLang="en-US" sz="2400" b="1" dirty="0">
                <a:solidFill>
                  <a:srgbClr val="FF0000"/>
                </a:solidFill>
                <a:ea typeface="宋体" panose="02010600030101010101" pitchFamily="2" charset="-122"/>
              </a:rPr>
              <a:t>        </a:t>
            </a:r>
            <a:r>
              <a:rPr lang="zh-CN" altLang="en-US" sz="2400" dirty="0">
                <a:sym typeface="+mn-ea"/>
              </a:rPr>
              <a:t>存储器上的数据给所有进程所呈现出来的状态（执行结果）要遵循某一顺序</a:t>
            </a:r>
            <a:r>
              <a:rPr lang="zh-CN" altLang="en-US" sz="2400" b="1" dirty="0">
                <a:ea typeface="宋体" panose="02010600030101010101" pitchFamily="2" charset="-122"/>
              </a:rPr>
              <a:t>（</a:t>
            </a:r>
            <a:r>
              <a:rPr lang="zh-CN" altLang="en-US" sz="2400" dirty="0">
                <a:ea typeface="宋体" panose="02010600030101010101" pitchFamily="2" charset="-122"/>
              </a:rPr>
              <a:t>不同机器上并发运行的进程，任何有效的交错是可以接受的，但所有进程必须遵守同一访问顺序）。 </a:t>
            </a:r>
            <a:endParaRPr lang="zh-CN" altLang="en-US" sz="2400"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p:txBody>
          <a:bodyPr vert="horz" wrap="square" lIns="91440" tIns="45720" rIns="91440" bIns="45720" anchor="ctr" anchorCtr="0"/>
          <a:lstStyle/>
          <a:p>
            <a:pPr eaLnBrk="1" hangingPunct="1"/>
            <a:r>
              <a:rPr lang="en-US" altLang="zh-CN" sz="3600" dirty="0">
                <a:ea typeface="宋体" panose="02010600030101010101" pitchFamily="2" charset="-122"/>
              </a:rPr>
              <a:t>Linearizability and Sequential Consistency (7.2.2)</a:t>
            </a:r>
            <a:endParaRPr lang="en-US" altLang="zh-CN" sz="3600" dirty="0">
              <a:ea typeface="宋体" panose="02010600030101010101" pitchFamily="2" charset="-122"/>
            </a:endParaRPr>
          </a:p>
        </p:txBody>
      </p:sp>
      <p:sp>
        <p:nvSpPr>
          <p:cNvPr id="18435" name="Rectangle 3"/>
          <p:cNvSpPr>
            <a:spLocks noGrp="1"/>
          </p:cNvSpPr>
          <p:nvPr>
            <p:ph idx="1"/>
          </p:nvPr>
        </p:nvSpPr>
        <p:spPr>
          <a:xfrm>
            <a:off x="76200" y="4316413"/>
            <a:ext cx="8920163" cy="2147887"/>
          </a:xfrm>
        </p:spPr>
        <p:txBody>
          <a:bodyPr vert="horz" wrap="square" lIns="91440" tIns="45720" rIns="91440" bIns="45720" anchor="t" anchorCtr="0"/>
          <a:lstStyle/>
          <a:p>
            <a:pPr marL="0" indent="0" algn="l" eaLnBrk="1" hangingPunct="1">
              <a:buFontTx/>
              <a:buAutoNum type="alphaLcParenR"/>
            </a:pPr>
            <a:r>
              <a:rPr lang="en-US" altLang="zh-CN" sz="2400" dirty="0">
                <a:ea typeface="宋体" panose="02010600030101010101" pitchFamily="2" charset="-122"/>
              </a:rPr>
              <a:t>A sequentially consistent data store.</a:t>
            </a:r>
            <a:endParaRPr lang="en-US" altLang="zh-CN" sz="2400" dirty="0">
              <a:ea typeface="宋体" panose="02010600030101010101" pitchFamily="2" charset="-122"/>
            </a:endParaRPr>
          </a:p>
          <a:p>
            <a:pPr marL="0" indent="0" algn="l" eaLnBrk="1" hangingPunct="1">
              <a:buFontTx/>
              <a:buAutoNum type="alphaLcParenR"/>
            </a:pPr>
            <a:r>
              <a:rPr lang="en-US" altLang="zh-CN" sz="2400" dirty="0">
                <a:ea typeface="宋体" panose="02010600030101010101" pitchFamily="2" charset="-122"/>
              </a:rPr>
              <a:t>A data store that is not sequentially consistent.</a:t>
            </a:r>
            <a:endParaRPr lang="en-US" altLang="zh-CN" sz="2400" dirty="0">
              <a:ea typeface="宋体" panose="02010600030101010101" pitchFamily="2" charset="-122"/>
            </a:endParaRPr>
          </a:p>
          <a:p>
            <a:pPr marL="0" indent="0" algn="l" eaLnBrk="1" hangingPunct="1">
              <a:lnSpc>
                <a:spcPct val="150000"/>
              </a:lnSpc>
              <a:buNone/>
            </a:pPr>
            <a:r>
              <a:rPr lang="zh-CN" altLang="en-US" sz="2000" dirty="0">
                <a:ea typeface="宋体" panose="02010600030101010101" pitchFamily="2" charset="-122"/>
              </a:rPr>
              <a:t>不保证读返回值是1</a:t>
            </a:r>
            <a:r>
              <a:rPr lang="en-US" altLang="zh-CN" sz="2000" dirty="0">
                <a:ea typeface="宋体" panose="02010600030101010101" pitchFamily="2" charset="-122"/>
              </a:rPr>
              <a:t>ns/1ms/</a:t>
            </a:r>
            <a:r>
              <a:rPr lang="zh-CN" altLang="en-US" sz="2000" dirty="0">
                <a:ea typeface="宋体" panose="02010600030101010101" pitchFamily="2" charset="-122"/>
              </a:rPr>
              <a:t>1分钟以前另一进程写入的。只保证所有进程以相同的顺序看见存储器的访问</a:t>
            </a:r>
            <a:r>
              <a:rPr lang="en-US" altLang="zh-CN" sz="2000" dirty="0">
                <a:ea typeface="宋体" panose="02010600030101010101" pitchFamily="2" charset="-122"/>
              </a:rPr>
              <a:t>(</a:t>
            </a:r>
            <a:r>
              <a:rPr lang="zh-CN" altLang="en-US" sz="2000" dirty="0">
                <a:ea typeface="宋体" panose="02010600030101010101" pitchFamily="2" charset="-122"/>
              </a:rPr>
              <a:t>图</a:t>
            </a:r>
            <a:r>
              <a:rPr lang="en-US" altLang="zh-CN" sz="2000" dirty="0">
                <a:ea typeface="宋体" panose="02010600030101010101" pitchFamily="2" charset="-122"/>
              </a:rPr>
              <a:t>a)</a:t>
            </a:r>
            <a:r>
              <a:rPr lang="zh-CN" altLang="en-US" sz="2000" dirty="0">
                <a:ea typeface="宋体" panose="02010600030101010101" pitchFamily="2" charset="-122"/>
              </a:rPr>
              <a:t>，如果缺少明确的同步操作，则结果是不确定的。 </a:t>
            </a:r>
            <a:endParaRPr lang="en-US" altLang="zh-CN" sz="2000" dirty="0">
              <a:ea typeface="宋体" panose="02010600030101010101" pitchFamily="2" charset="-122"/>
            </a:endParaRPr>
          </a:p>
        </p:txBody>
      </p:sp>
      <p:pic>
        <p:nvPicPr>
          <p:cNvPr id="18436" name="Picture 4"/>
          <p:cNvPicPr>
            <a:picLocks noChangeAspect="1"/>
          </p:cNvPicPr>
          <p:nvPr/>
        </p:nvPicPr>
        <p:blipFill>
          <a:blip r:embed="rId1"/>
          <a:srcRect l="20738" t="47885" r="19241" b="42447"/>
          <a:stretch>
            <a:fillRect/>
          </a:stretch>
        </p:blipFill>
        <p:spPr>
          <a:xfrm>
            <a:off x="0" y="1647825"/>
            <a:ext cx="9144000" cy="2320925"/>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p:txBody>
          <a:bodyPr vert="horz" wrap="square" lIns="91440" tIns="45720" rIns="91440" bIns="45720" anchor="ctr" anchorCtr="0"/>
          <a:lstStyle/>
          <a:p>
            <a:pPr eaLnBrk="1" hangingPunct="1"/>
            <a:r>
              <a:rPr lang="en-US" altLang="zh-CN" sz="3600" dirty="0">
                <a:ea typeface="宋体" panose="02010600030101010101" pitchFamily="2" charset="-122"/>
              </a:rPr>
              <a:t>Linearizability and Sequential Consistency (2)</a:t>
            </a:r>
            <a:endParaRPr lang="en-US" altLang="zh-CN" sz="3600" dirty="0">
              <a:ea typeface="宋体" panose="02010600030101010101" pitchFamily="2" charset="-122"/>
            </a:endParaRPr>
          </a:p>
        </p:txBody>
      </p:sp>
      <p:sp>
        <p:nvSpPr>
          <p:cNvPr id="19459" name="Rectangle 3"/>
          <p:cNvSpPr>
            <a:spLocks noGrp="1"/>
          </p:cNvSpPr>
          <p:nvPr>
            <p:ph idx="1"/>
          </p:nvPr>
        </p:nvSpPr>
        <p:spPr>
          <a:xfrm>
            <a:off x="1501775" y="5824538"/>
            <a:ext cx="6173788" cy="568325"/>
          </a:xfrm>
        </p:spPr>
        <p:txBody>
          <a:bodyPr vert="horz" wrap="square" lIns="91440" tIns="45720" rIns="91440" bIns="45720" anchor="t" anchorCtr="0"/>
          <a:lstStyle/>
          <a:p>
            <a:pPr eaLnBrk="1" hangingPunct="1">
              <a:buNone/>
            </a:pPr>
            <a:r>
              <a:rPr lang="en-US" altLang="zh-CN" sz="2800" dirty="0">
                <a:ea typeface="宋体" panose="02010600030101010101" pitchFamily="2" charset="-122"/>
              </a:rPr>
              <a:t>Three concurrently executing processes.</a:t>
            </a:r>
            <a:endParaRPr lang="en-US" altLang="zh-CN" sz="2800" dirty="0">
              <a:ea typeface="宋体" panose="02010600030101010101" pitchFamily="2" charset="-122"/>
            </a:endParaRPr>
          </a:p>
        </p:txBody>
      </p:sp>
      <p:graphicFrame>
        <p:nvGraphicFramePr>
          <p:cNvPr id="9273" name="Group 57"/>
          <p:cNvGraphicFramePr>
            <a:graphicFrameLocks noGrp="1"/>
          </p:cNvGraphicFramePr>
          <p:nvPr/>
        </p:nvGraphicFramePr>
        <p:xfrm>
          <a:off x="647700" y="1209675"/>
          <a:ext cx="7848600" cy="1528763"/>
        </p:xfrm>
        <a:graphic>
          <a:graphicData uri="http://schemas.openxmlformats.org/drawingml/2006/table">
            <a:tbl>
              <a:tblPr/>
              <a:tblGrid>
                <a:gridCol w="2616200"/>
                <a:gridCol w="2616200"/>
                <a:gridCol w="2616200"/>
              </a:tblGrid>
              <a:tr h="76358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Process P1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Process P2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Process P3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7651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print ( y, z);</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19468" name="矩形 4"/>
          <p:cNvSpPr/>
          <p:nvPr/>
        </p:nvSpPr>
        <p:spPr>
          <a:xfrm>
            <a:off x="233363" y="3473450"/>
            <a:ext cx="8740775" cy="16160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150000"/>
              </a:lnSpc>
              <a:spcBef>
                <a:spcPct val="0"/>
              </a:spcBef>
              <a:buClrTx/>
              <a:buNone/>
            </a:pPr>
            <a:r>
              <a:rPr lang="zh-CN" altLang="en-US" sz="2200" dirty="0">
                <a:latin typeface="宋体" panose="02010600030101010101" pitchFamily="2" charset="-122"/>
                <a:ea typeface="宋体" panose="02010600030101010101" pitchFamily="2" charset="-122"/>
              </a:rPr>
              <a:t>6个语句共有720(6！)种可能的执行顺序，但是，只有90个是有效的。</a:t>
            </a:r>
            <a:endParaRPr lang="en-US" altLang="zh-CN" sz="2200" dirty="0">
              <a:latin typeface="宋体" panose="02010600030101010101" pitchFamily="2" charset="-122"/>
              <a:ea typeface="宋体" panose="02010600030101010101" pitchFamily="2" charset="-122"/>
            </a:endParaRPr>
          </a:p>
          <a:p>
            <a:pPr marL="0" lvl="0" indent="0" algn="just" eaLnBrk="1" hangingPunct="1">
              <a:lnSpc>
                <a:spcPct val="150000"/>
              </a:lnSpc>
              <a:spcBef>
                <a:spcPct val="0"/>
              </a:spcBef>
              <a:buClrTx/>
              <a:buNone/>
            </a:pPr>
            <a:r>
              <a:rPr lang="zh-CN" altLang="en-US" sz="2200" dirty="0">
                <a:latin typeface="宋体" panose="02010600030101010101" pitchFamily="2" charset="-122"/>
                <a:ea typeface="宋体" panose="02010600030101010101" pitchFamily="2" charset="-122"/>
              </a:rPr>
              <a:t>注：</a:t>
            </a:r>
            <a:r>
              <a:rPr lang="en-US" altLang="zh-CN" sz="2200" dirty="0">
                <a:latin typeface="宋体" panose="02010600030101010101" pitchFamily="2" charset="-122"/>
                <a:ea typeface="宋体" panose="02010600030101010101" pitchFamily="2" charset="-122"/>
              </a:rPr>
              <a:t>x=1</a:t>
            </a:r>
            <a:r>
              <a:rPr lang="zh-CN" altLang="en-US" sz="2200" dirty="0">
                <a:latin typeface="宋体" panose="02010600030101010101" pitchFamily="2" charset="-122"/>
                <a:ea typeface="宋体" panose="02010600030101010101" pitchFamily="2" charset="-122"/>
              </a:rPr>
              <a:t>开始的顺序有120(5！)种</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其中只有1/4（</a:t>
            </a:r>
            <a:r>
              <a:rPr lang="en-US" altLang="zh-CN" sz="2200" dirty="0">
                <a:latin typeface="宋体" panose="02010600030101010101" pitchFamily="2" charset="-122"/>
                <a:ea typeface="宋体" panose="02010600030101010101" pitchFamily="2" charset="-122"/>
              </a:rPr>
              <a:t>y=1/z=1</a:t>
            </a:r>
            <a:r>
              <a:rPr lang="zh-CN" altLang="en-US" sz="2200" dirty="0">
                <a:latin typeface="宋体" panose="02010600030101010101" pitchFamily="2" charset="-122"/>
                <a:ea typeface="宋体" panose="02010600030101010101" pitchFamily="2" charset="-122"/>
              </a:rPr>
              <a:t>在</a:t>
            </a:r>
            <a:r>
              <a:rPr lang="en-US" altLang="zh-CN" sz="2200" dirty="0">
                <a:latin typeface="宋体" panose="02010600030101010101" pitchFamily="2" charset="-122"/>
                <a:ea typeface="宋体" panose="02010600030101010101" pitchFamily="2" charset="-122"/>
              </a:rPr>
              <a:t>print()</a:t>
            </a:r>
            <a:r>
              <a:rPr lang="zh-CN" altLang="en-US" sz="2200" dirty="0">
                <a:latin typeface="宋体" panose="02010600030101010101" pitchFamily="2" charset="-122"/>
                <a:ea typeface="宋体" panose="02010600030101010101" pitchFamily="2" charset="-122"/>
              </a:rPr>
              <a:t>前</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各</a:t>
            </a:r>
            <a:r>
              <a:rPr lang="en-US" altLang="zh-CN" sz="2200" dirty="0">
                <a:latin typeface="宋体" panose="02010600030101010101" pitchFamily="2" charset="-122"/>
                <a:ea typeface="宋体" panose="02010600030101010101" pitchFamily="2" charset="-122"/>
              </a:rPr>
              <a:t>1/2</a:t>
            </a:r>
            <a:r>
              <a:rPr lang="zh-CN" altLang="en-US" sz="2200" dirty="0">
                <a:latin typeface="宋体" panose="02010600030101010101" pitchFamily="2" charset="-122"/>
                <a:ea typeface="宋体" panose="02010600030101010101" pitchFamily="2" charset="-122"/>
              </a:rPr>
              <a:t>）即30个是有效的。另外，分别是以</a:t>
            </a:r>
            <a:r>
              <a:rPr lang="en-US" altLang="zh-CN" sz="2200" dirty="0">
                <a:latin typeface="宋体" panose="02010600030101010101" pitchFamily="2" charset="-122"/>
                <a:ea typeface="宋体" panose="02010600030101010101" pitchFamily="2" charset="-122"/>
              </a:rPr>
              <a:t>y=1</a:t>
            </a:r>
            <a:r>
              <a:rPr lang="zh-CN" altLang="en-US"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z=1</a:t>
            </a:r>
            <a:r>
              <a:rPr lang="zh-CN" altLang="en-US" sz="2200" dirty="0">
                <a:latin typeface="宋体" panose="02010600030101010101" pitchFamily="2" charset="-122"/>
                <a:ea typeface="宋体" panose="02010600030101010101" pitchFamily="2" charset="-122"/>
              </a:rPr>
              <a:t>开头的各30个。</a:t>
            </a:r>
            <a:endParaRPr lang="zh-CN" altLang="en-US" sz="2200" dirty="0">
              <a:latin typeface="宋体" panose="02010600030101010101" pitchFamily="2" charset="-122"/>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p:txBody>
          <a:bodyPr vert="horz" wrap="square" lIns="91440" tIns="45720" rIns="91440" bIns="45720" anchor="ctr" anchorCtr="0"/>
          <a:lstStyle/>
          <a:p>
            <a:pPr eaLnBrk="1" hangingPunct="1"/>
            <a:r>
              <a:rPr lang="en-US" altLang="zh-CN" sz="3600" dirty="0">
                <a:ea typeface="宋体" panose="02010600030101010101" pitchFamily="2" charset="-122"/>
              </a:rPr>
              <a:t>Linearizability and Sequential Consistency (3)</a:t>
            </a:r>
            <a:endParaRPr lang="en-US" altLang="zh-CN" sz="3600" dirty="0">
              <a:ea typeface="宋体" panose="02010600030101010101" pitchFamily="2" charset="-122"/>
            </a:endParaRPr>
          </a:p>
        </p:txBody>
      </p:sp>
      <p:sp>
        <p:nvSpPr>
          <p:cNvPr id="20483" name="Rectangle 3"/>
          <p:cNvSpPr>
            <a:spLocks noGrp="1"/>
          </p:cNvSpPr>
          <p:nvPr>
            <p:ph idx="1"/>
          </p:nvPr>
        </p:nvSpPr>
        <p:spPr/>
        <p:txBody>
          <a:bodyPr vert="horz" wrap="square" lIns="91440" tIns="45720" rIns="91440" bIns="45720" anchor="t" anchorCtr="0"/>
          <a:lstStyle/>
          <a:p>
            <a:pPr eaLnBrk="1" hangingPunct="1">
              <a:lnSpc>
                <a:spcPct val="90000"/>
              </a:lnSpc>
              <a:buNone/>
            </a:pPr>
            <a:r>
              <a:rPr lang="en-US" altLang="zh-CN" sz="2800" dirty="0">
                <a:ea typeface="宋体" panose="02010600030101010101" pitchFamily="2" charset="-122"/>
              </a:rPr>
              <a:t>Four valid execution sequences for the processes of the previous slide.  The vertical axis is time.</a:t>
            </a:r>
            <a:endParaRPr lang="en-US" altLang="zh-CN" sz="2800" dirty="0">
              <a:ea typeface="宋体" panose="02010600030101010101" pitchFamily="2" charset="-122"/>
            </a:endParaRPr>
          </a:p>
        </p:txBody>
      </p:sp>
      <p:graphicFrame>
        <p:nvGraphicFramePr>
          <p:cNvPr id="10272" name="Group 32"/>
          <p:cNvGraphicFramePr>
            <a:graphicFrameLocks noGrp="1"/>
          </p:cNvGraphicFramePr>
          <p:nvPr/>
        </p:nvGraphicFramePr>
        <p:xfrm>
          <a:off x="590550" y="1397000"/>
          <a:ext cx="7981950" cy="3986606"/>
        </p:xfrm>
        <a:graphic>
          <a:graphicData uri="http://schemas.openxmlformats.org/drawingml/2006/table">
            <a:tbl>
              <a:tblPr/>
              <a:tblGrid>
                <a:gridCol w="1995488"/>
                <a:gridCol w="1995487"/>
                <a:gridCol w="1995488"/>
                <a:gridCol w="1995487"/>
              </a:tblGrid>
              <a:tr h="398621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((y,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Prints:  001011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Signature:</a:t>
                      </a:r>
                      <a:b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001011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31" marB="45631" horzOverflow="overflow">
                    <a:lnL cap="flat">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x,z</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print(y,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Prints: 101011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Signature:</a:t>
                      </a:r>
                      <a:b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101011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(b)</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31" marB="45631" horzOverflow="overflow">
                    <a:lnL>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(y,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Prints: 010111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Signature: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010111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31" marB="45631" horzOverflow="overflow">
                    <a:lnL>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(y,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Prints: 111111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Signature: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111111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(d)</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31" marB="45631" horzOverflow="overflow">
                    <a:lnL>
                      <a:noFill/>
                    </a:lnL>
                    <a:lnR cap="flat">
                      <a:noFill/>
                    </a:lnR>
                    <a:lnT cap="flat">
                      <a:noFill/>
                    </a:lnT>
                    <a:lnB cap="flat">
                      <a:noFill/>
                    </a:lnB>
                    <a:lnTlToBr>
                      <a:noFill/>
                    </a:lnTlToBr>
                    <a:lnBlToTr>
                      <a:noFill/>
                    </a:lnBlToTr>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vert="horz" wrap="square" lIns="91440" tIns="45720" rIns="91440" bIns="45720" anchor="ctr" anchorCtr="0"/>
          <a:lstStyle/>
          <a:p>
            <a:pPr eaLnBrk="1" hangingPunct="1">
              <a:lnSpc>
                <a:spcPct val="150000"/>
              </a:lnSpc>
            </a:pPr>
            <a:r>
              <a:rPr lang="en-US" altLang="zh-CN" sz="3600" dirty="0">
                <a:ea typeface="宋体" panose="02010600030101010101" pitchFamily="2" charset="-122"/>
              </a:rPr>
              <a:t>Linearizability and Sequential Consistency (3)</a:t>
            </a:r>
            <a:endParaRPr lang="en-US" altLang="zh-CN" sz="3600" dirty="0">
              <a:ea typeface="宋体" panose="02010600030101010101" pitchFamily="2" charset="-122"/>
            </a:endParaRPr>
          </a:p>
        </p:txBody>
      </p:sp>
      <p:sp>
        <p:nvSpPr>
          <p:cNvPr id="27651" name="Rectangle 3"/>
          <p:cNvSpPr>
            <a:spLocks noGrp="1" noChangeArrowheads="1"/>
          </p:cNvSpPr>
          <p:nvPr>
            <p:ph idx="1"/>
          </p:nvPr>
        </p:nvSpPr>
        <p:spPr>
          <a:xfrm>
            <a:off x="180975" y="1143000"/>
            <a:ext cx="8780463" cy="4768850"/>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2200" b="0" i="0" u="none" strike="noStrike" kern="0" cap="none" spc="0" normalizeH="0" baseline="0" noProof="0" dirty="0" err="1">
                <a:ln>
                  <a:noFill/>
                </a:ln>
                <a:solidFill>
                  <a:srgbClr val="FF0000"/>
                </a:solidFill>
                <a:effectLst/>
                <a:uLnTx/>
                <a:uFillTx/>
                <a:latin typeface="+mn-lt"/>
                <a:ea typeface="宋体" panose="02010600030101010101" pitchFamily="2" charset="-122"/>
                <a:cs typeface="+mn-cs"/>
              </a:rPr>
              <a:t>Linearizability</a:t>
            </a:r>
            <a:r>
              <a:rPr kumimoji="0" lang="en-US" altLang="zh-CN" sz="22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 consistency</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满足顺序一致性约束且同时满足时间戳的顺序（比顺序一致性强）</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The result of any execution is the same as if the (read and write)operation by all processes on the data store were executed in some sequential order and the operations of each individual process appear in this sequence in the order specified by its program. </a:t>
            </a:r>
            <a:r>
              <a:rPr kumimoji="0" lang="en-US" altLang="zh-CN" sz="2200" b="0" i="1" u="none" strike="noStrike" kern="0" cap="none" spc="0" normalizeH="0" baseline="0" noProof="0" dirty="0">
                <a:ln>
                  <a:noFill/>
                </a:ln>
                <a:solidFill>
                  <a:srgbClr val="FF0000"/>
                </a:solidFill>
                <a:effectLst/>
                <a:uLnTx/>
                <a:uFillTx/>
                <a:latin typeface="+mn-lt"/>
                <a:ea typeface="宋体" panose="02010600030101010101" pitchFamily="2" charset="-122"/>
                <a:cs typeface="+mn-cs"/>
              </a:rPr>
              <a:t>In addition, if ts</a:t>
            </a:r>
            <a:r>
              <a:rPr kumimoji="0" lang="en-US" altLang="zh-CN" sz="2200" b="0" i="1" u="none" strike="noStrike" kern="0" cap="none" spc="0" normalizeH="0" baseline="-25000" noProof="0" dirty="0">
                <a:ln>
                  <a:noFill/>
                </a:ln>
                <a:solidFill>
                  <a:srgbClr val="FF0000"/>
                </a:solidFill>
                <a:effectLst/>
                <a:uLnTx/>
                <a:uFillTx/>
                <a:latin typeface="+mn-lt"/>
                <a:ea typeface="宋体" panose="02010600030101010101" pitchFamily="2" charset="-122"/>
                <a:cs typeface="+mn-cs"/>
              </a:rPr>
              <a:t>OP1</a:t>
            </a:r>
            <a:r>
              <a:rPr kumimoji="0" lang="en-US" altLang="zh-CN" sz="2200" b="0" i="1" u="none" strike="noStrike" kern="0" cap="none" spc="0" normalizeH="0" baseline="0" noProof="0" dirty="0">
                <a:ln>
                  <a:noFill/>
                </a:ln>
                <a:solidFill>
                  <a:srgbClr val="FF0000"/>
                </a:solidFill>
                <a:effectLst/>
                <a:uLnTx/>
                <a:uFillTx/>
                <a:latin typeface="+mn-lt"/>
                <a:ea typeface="宋体" panose="02010600030101010101" pitchFamily="2" charset="-122"/>
                <a:cs typeface="+mn-cs"/>
              </a:rPr>
              <a:t>(x) &lt; ts</a:t>
            </a:r>
            <a:r>
              <a:rPr kumimoji="0" lang="en-US" altLang="zh-CN" sz="2200" b="0" i="1" u="none" strike="noStrike" kern="0" cap="none" spc="0" normalizeH="0" baseline="-25000" noProof="0" dirty="0">
                <a:ln>
                  <a:noFill/>
                </a:ln>
                <a:solidFill>
                  <a:srgbClr val="FF0000"/>
                </a:solidFill>
                <a:effectLst/>
                <a:uLnTx/>
                <a:uFillTx/>
                <a:latin typeface="+mn-lt"/>
                <a:ea typeface="宋体" panose="02010600030101010101" pitchFamily="2" charset="-122"/>
                <a:cs typeface="+mn-cs"/>
              </a:rPr>
              <a:t>OP2</a:t>
            </a:r>
            <a:r>
              <a:rPr kumimoji="0" lang="en-US" altLang="zh-CN" sz="2200" b="0" i="1" u="none" strike="noStrike" kern="0" cap="none" spc="0" normalizeH="0" baseline="0" noProof="0" dirty="0">
                <a:ln>
                  <a:noFill/>
                </a:ln>
                <a:solidFill>
                  <a:srgbClr val="FF0000"/>
                </a:solidFill>
                <a:effectLst/>
                <a:uLnTx/>
                <a:uFillTx/>
                <a:latin typeface="+mn-lt"/>
                <a:ea typeface="宋体" panose="02010600030101010101" pitchFamily="2" charset="-122"/>
                <a:cs typeface="+mn-cs"/>
              </a:rPr>
              <a:t>(y), then operation OP1(x) should precede OP2(y) in this sequence.</a:t>
            </a:r>
            <a:endParaRPr kumimoji="0" lang="en-US" altLang="zh-CN" sz="2200" b="0" i="1"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Let ts</a:t>
            </a:r>
            <a:r>
              <a:rPr kumimoji="0" lang="en-US" altLang="zh-CN" sz="2200" b="0"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OP1</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 denote the timestamp assigned to operation OP that is performed on data item x</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050"/>
          <p:cNvSpPr>
            <a:spLocks noGrp="1"/>
          </p:cNvSpPr>
          <p:nvPr>
            <p:ph type="title"/>
          </p:nvPr>
        </p:nvSpPr>
        <p:spPr/>
        <p:txBody>
          <a:bodyPr vert="horz" wrap="square" lIns="91440" tIns="45720" rIns="91440" bIns="45720" anchor="ctr" anchorCtr="0"/>
          <a:lstStyle/>
          <a:p>
            <a:pPr eaLnBrk="1" hangingPunct="1"/>
            <a:r>
              <a:rPr lang="en-US" altLang="zh-CN" sz="3600" dirty="0">
                <a:ea typeface="宋体" panose="02010600030101010101" pitchFamily="2" charset="-122"/>
              </a:rPr>
              <a:t>Linearizability and Sequential Consistency (4)</a:t>
            </a:r>
            <a:endParaRPr lang="en-US" altLang="zh-CN" sz="3600" dirty="0">
              <a:ea typeface="宋体" panose="02010600030101010101" pitchFamily="2" charset="-122"/>
            </a:endParaRPr>
          </a:p>
        </p:txBody>
      </p:sp>
      <p:sp>
        <p:nvSpPr>
          <p:cNvPr id="22531" name="Rectangle 2051"/>
          <p:cNvSpPr>
            <a:spLocks noGrp="1"/>
          </p:cNvSpPr>
          <p:nvPr>
            <p:ph idx="1"/>
          </p:nvPr>
        </p:nvSpPr>
        <p:spPr>
          <a:xfrm>
            <a:off x="311150" y="1041400"/>
            <a:ext cx="8543925" cy="5395913"/>
          </a:xfrm>
        </p:spPr>
        <p:txBody>
          <a:bodyPr vert="horz" wrap="square" lIns="91440" tIns="45720" rIns="91440" bIns="45720" anchor="t" anchorCtr="0"/>
          <a:lstStyle/>
          <a:p>
            <a:pPr marL="0" indent="0" algn="l" eaLnBrk="1" hangingPunct="1">
              <a:lnSpc>
                <a:spcPct val="90000"/>
              </a:lnSpc>
              <a:buFont typeface="Wingdings" panose="05000000000000000000" pitchFamily="2" charset="2"/>
              <a:buChar char="u"/>
            </a:pPr>
            <a:r>
              <a:rPr lang="en-US" altLang="zh-CN" sz="2400" dirty="0">
                <a:ea typeface="宋体" panose="02010600030101010101" pitchFamily="2" charset="-122"/>
              </a:rPr>
              <a:t>A common approach to formally express sequential consistency is as follows (Ahamad et al., 1992; Mizunoet al., 1995).</a:t>
            </a:r>
            <a:r>
              <a:rPr lang="zh-CN" altLang="en-US" sz="2000" dirty="0">
                <a:ea typeface="宋体" panose="02010600030101010101" pitchFamily="2" charset="-122"/>
              </a:rPr>
              <a:t>另一种表示。</a:t>
            </a:r>
            <a:endParaRPr lang="en-US" altLang="zh-CN" sz="2000" dirty="0">
              <a:ea typeface="宋体" panose="02010600030101010101" pitchFamily="2" charset="-122"/>
            </a:endParaRPr>
          </a:p>
          <a:p>
            <a:pPr marL="0" indent="0" algn="l" eaLnBrk="1" hangingPunct="1">
              <a:lnSpc>
                <a:spcPct val="90000"/>
              </a:lnSpc>
              <a:buFont typeface="Wingdings" panose="05000000000000000000" pitchFamily="2" charset="2"/>
              <a:buChar char="u"/>
            </a:pPr>
            <a:endParaRPr lang="en-US" altLang="zh-CN" sz="2400" dirty="0">
              <a:ea typeface="宋体" panose="02010600030101010101" pitchFamily="2" charset="-122"/>
            </a:endParaRPr>
          </a:p>
          <a:p>
            <a:pPr marL="0" indent="0" algn="l" eaLnBrk="1" hangingPunct="1">
              <a:lnSpc>
                <a:spcPct val="90000"/>
              </a:lnSpc>
              <a:buFont typeface="Wingdings" panose="05000000000000000000" pitchFamily="2" charset="2"/>
              <a:buChar char="u"/>
            </a:pPr>
            <a:r>
              <a:rPr lang="en-US" altLang="zh-CN" sz="2400" dirty="0">
                <a:ea typeface="宋体" panose="02010600030101010101" pitchFamily="2" charset="-122"/>
              </a:rPr>
              <a:t>Each process Pi has an associated execution Ei, which is a sequence of read and write operations by process Pi performed on a data store S. </a:t>
            </a:r>
            <a:r>
              <a:rPr lang="en-US" altLang="zh-CN" sz="2400" b="1" dirty="0">
                <a:solidFill>
                  <a:srgbClr val="FF0000"/>
                </a:solidFill>
                <a:ea typeface="宋体" panose="02010600030101010101" pitchFamily="2" charset="-122"/>
              </a:rPr>
              <a:t>This sequence adheres to the program order associated with Pi. </a:t>
            </a:r>
            <a:r>
              <a:rPr lang="en-US" altLang="zh-CN" sz="2400" dirty="0">
                <a:ea typeface="宋体" panose="02010600030101010101" pitchFamily="2" charset="-122"/>
              </a:rPr>
              <a:t>For example.</a:t>
            </a: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  </a:t>
            </a: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     E1:W1(x)a;</a:t>
            </a: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     E2:W2(x)b;</a:t>
            </a: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     E3:R3(x)b,R3(x)a;</a:t>
            </a: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     E4:R4(x)b,R4(x)a;</a:t>
            </a:r>
            <a:endParaRPr lang="en-US" altLang="zh-CN" sz="2400" dirty="0">
              <a:ea typeface="宋体" panose="02010600030101010101" pitchFamily="2" charset="-122"/>
            </a:endParaRPr>
          </a:p>
          <a:p>
            <a:pPr marL="0" indent="0" algn="l" eaLnBrk="1" hangingPunct="1">
              <a:lnSpc>
                <a:spcPct val="90000"/>
              </a:lnSpc>
              <a:buFont typeface="Wingdings" panose="05000000000000000000" pitchFamily="2" charset="2"/>
              <a:buChar char="u"/>
            </a:pPr>
            <a:endParaRPr lang="en-US" altLang="zh-CN" sz="2400" dirty="0">
              <a:ea typeface="宋体" panose="02010600030101010101" pitchFamily="2" charset="-122"/>
            </a:endParaRPr>
          </a:p>
          <a:p>
            <a:pPr marL="0" indent="0" algn="l" eaLnBrk="1" hangingPunct="1">
              <a:lnSpc>
                <a:spcPct val="90000"/>
              </a:lnSpc>
              <a:buFont typeface="Wingdings" panose="05000000000000000000" pitchFamily="2" charset="2"/>
              <a:buChar char="u"/>
            </a:pPr>
            <a:r>
              <a:rPr lang="en-US" altLang="zh-CN" sz="2400" dirty="0">
                <a:ea typeface="宋体" panose="02010600030101010101" pitchFamily="2" charset="-122"/>
              </a:rPr>
              <a:t>Then  H= W1(x)b,R3(x)b, R4(x)b ,W2(x)a,R3(x)a,R4(x)a</a:t>
            </a:r>
            <a:endParaRPr lang="en-US" altLang="zh-CN" sz="2400"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Causal Consistency (7.2.3)</a:t>
            </a:r>
            <a:endParaRPr lang="en-US" altLang="zh-CN" dirty="0">
              <a:ea typeface="宋体" panose="02010600030101010101" pitchFamily="2" charset="-122"/>
            </a:endParaRPr>
          </a:p>
        </p:txBody>
      </p:sp>
      <p:sp>
        <p:nvSpPr>
          <p:cNvPr id="23555" name="Rectangle 3"/>
          <p:cNvSpPr>
            <a:spLocks noGrp="1"/>
          </p:cNvSpPr>
          <p:nvPr>
            <p:ph idx="1"/>
          </p:nvPr>
        </p:nvSpPr>
        <p:spPr>
          <a:xfrm>
            <a:off x="388938" y="1295400"/>
            <a:ext cx="8391525" cy="4721225"/>
          </a:xfrm>
        </p:spPr>
        <p:txBody>
          <a:bodyPr vert="horz" wrap="square" lIns="91440" tIns="45720" rIns="91440" bIns="45720" anchor="t" anchorCtr="0"/>
          <a:lstStyle/>
          <a:p>
            <a:pPr marL="0" indent="0" algn="l" eaLnBrk="1" hangingPunct="1">
              <a:lnSpc>
                <a:spcPct val="150000"/>
              </a:lnSpc>
              <a:buNone/>
            </a:pPr>
            <a:r>
              <a:rPr lang="en-US" altLang="zh-CN" sz="2800" dirty="0">
                <a:ea typeface="宋体" panose="02010600030101010101" pitchFamily="2" charset="-122"/>
              </a:rPr>
              <a:t>Necessary condition:</a:t>
            </a:r>
            <a:endParaRPr lang="en-US" altLang="zh-CN" sz="2800"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en-US" altLang="zh-CN" sz="2800" dirty="0">
                <a:ea typeface="宋体" panose="02010600030101010101" pitchFamily="2" charset="-122"/>
              </a:rPr>
              <a:t>Writes that are potentially casually related must be seen by all processes in the same order.</a:t>
            </a:r>
            <a:r>
              <a:rPr lang="zh-CN" altLang="en-US" sz="2000" dirty="0">
                <a:ea typeface="宋体" panose="02010600030101010101" pitchFamily="2" charset="-122"/>
              </a:rPr>
              <a:t>（因果相关的写入）</a:t>
            </a:r>
            <a:r>
              <a:rPr lang="en-US" altLang="zh-CN" sz="2000" dirty="0">
                <a:ea typeface="宋体" panose="02010600030101010101" pitchFamily="2" charset="-122"/>
              </a:rPr>
              <a:t>  </a:t>
            </a:r>
            <a:endParaRPr lang="en-US" altLang="zh-CN" sz="2000"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en-US" altLang="zh-CN" sz="2800" dirty="0">
                <a:ea typeface="宋体" panose="02010600030101010101" pitchFamily="2" charset="-122"/>
              </a:rPr>
              <a:t>Concurrent writes may be seen in a different order on different machines.</a:t>
            </a:r>
            <a:endParaRPr lang="en-US" altLang="zh-CN" sz="2800"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zh-CN" altLang="en-US" sz="2400" b="1" dirty="0">
                <a:ea typeface="宋体" panose="02010600030101010101" pitchFamily="2" charset="-122"/>
              </a:rPr>
              <a:t>所有进程仅看到满足因果关系一致性模型的写操作结果。</a:t>
            </a:r>
            <a:endParaRPr lang="en-US" altLang="zh-CN" sz="2400" b="1" dirty="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p:cNvPicPr>
            <a:picLocks noChangeAspect="1"/>
          </p:cNvPicPr>
          <p:nvPr/>
        </p:nvPicPr>
        <p:blipFill>
          <a:blip r:embed="rId1"/>
          <a:srcRect l="31000" t="49245" r="28648" b="42749"/>
          <a:stretch>
            <a:fillRect/>
          </a:stretch>
        </p:blipFill>
        <p:spPr>
          <a:xfrm>
            <a:off x="241300" y="1817688"/>
            <a:ext cx="8580438" cy="2424112"/>
          </a:xfrm>
          <a:prstGeom prst="rect">
            <a:avLst/>
          </a:prstGeom>
          <a:noFill/>
          <a:ln w="9525">
            <a:noFill/>
          </a:ln>
        </p:spPr>
      </p:pic>
      <p:sp>
        <p:nvSpPr>
          <p:cNvPr id="24579" name="Rectangle 2"/>
          <p:cNvSpPr>
            <a:spLocks noGrp="1"/>
          </p:cNvSpPr>
          <p:nvPr>
            <p:ph type="title"/>
          </p:nvPr>
        </p:nvSpPr>
        <p:spPr>
          <a:xfrm>
            <a:off x="0" y="0"/>
            <a:ext cx="9144000" cy="982663"/>
          </a:xfrm>
        </p:spPr>
        <p:txBody>
          <a:bodyPr vert="horz" wrap="square" lIns="91440" tIns="45720" rIns="91440" bIns="45720" anchor="ctr" anchorCtr="0"/>
          <a:lstStyle/>
          <a:p>
            <a:pPr eaLnBrk="1" hangingPunct="1"/>
            <a:r>
              <a:rPr lang="en-US" altLang="zh-CN" dirty="0">
                <a:ea typeface="宋体" panose="02010600030101010101" pitchFamily="2" charset="-122"/>
              </a:rPr>
              <a:t>Causal Consistency (2)</a:t>
            </a:r>
            <a:endParaRPr lang="en-US" altLang="zh-CN" dirty="0">
              <a:ea typeface="宋体" panose="02010600030101010101" pitchFamily="2" charset="-122"/>
            </a:endParaRPr>
          </a:p>
        </p:txBody>
      </p:sp>
      <p:sp>
        <p:nvSpPr>
          <p:cNvPr id="24580" name="Rectangle 3"/>
          <p:cNvSpPr>
            <a:spLocks noGrp="1"/>
          </p:cNvSpPr>
          <p:nvPr>
            <p:ph idx="1"/>
          </p:nvPr>
        </p:nvSpPr>
        <p:spPr>
          <a:xfrm>
            <a:off x="133350" y="4954588"/>
            <a:ext cx="8586788" cy="1789112"/>
          </a:xfrm>
        </p:spPr>
        <p:txBody>
          <a:bodyPr vert="horz" wrap="square" lIns="91440" tIns="45720" rIns="91440" bIns="45720" anchor="t" anchorCtr="0"/>
          <a:lstStyle/>
          <a:p>
            <a:pPr algn="l" eaLnBrk="1" hangingPunct="1">
              <a:lnSpc>
                <a:spcPct val="150000"/>
              </a:lnSpc>
              <a:buNone/>
            </a:pPr>
            <a:r>
              <a:rPr lang="en-US" altLang="zh-CN" sz="2400" dirty="0">
                <a:ea typeface="宋体" panose="02010600030101010101" pitchFamily="2" charset="-122"/>
              </a:rPr>
              <a:t>    This sequence is allowed with a causally-consistent store, but not with sequentially or strictly consistent store.(W2(x)b and W1(x)c are concurrent</a:t>
            </a:r>
            <a:r>
              <a:rPr lang="en-US" altLang="zh-CN" sz="2000" dirty="0">
                <a:ea typeface="宋体" panose="02010600030101010101" pitchFamily="2" charset="-122"/>
              </a:rPr>
              <a:t>).</a:t>
            </a:r>
            <a:r>
              <a:rPr lang="zh-CN" altLang="en-US" sz="2000" dirty="0">
                <a:ea typeface="宋体" panose="02010600030101010101" pitchFamily="2" charset="-122"/>
              </a:rPr>
              <a:t>可以是不同进程的因果顺序</a:t>
            </a:r>
            <a:r>
              <a:rPr lang="en-US" altLang="zh-CN" sz="2000" dirty="0">
                <a:ea typeface="宋体" panose="02010600030101010101" pitchFamily="2" charset="-122"/>
              </a:rPr>
              <a:t>.</a:t>
            </a:r>
            <a:r>
              <a:rPr lang="zh-CN" altLang="en-US" sz="2000" dirty="0">
                <a:ea typeface="宋体" panose="02010600030101010101" pitchFamily="2" charset="-122"/>
              </a:rPr>
              <a:t>比如</a:t>
            </a:r>
            <a:r>
              <a:rPr lang="en-US" altLang="zh-CN" sz="2000" dirty="0">
                <a:ea typeface="宋体" panose="02010600030101010101" pitchFamily="2" charset="-122"/>
              </a:rPr>
              <a:t>W(x)b</a:t>
            </a:r>
            <a:r>
              <a:rPr lang="zh-CN" altLang="en-US" sz="2000" dirty="0">
                <a:ea typeface="宋体" panose="02010600030101010101" pitchFamily="2" charset="-122"/>
              </a:rPr>
              <a:t>与</a:t>
            </a:r>
            <a:r>
              <a:rPr lang="en-US" altLang="zh-CN" sz="2000" dirty="0">
                <a:ea typeface="宋体" panose="02010600030101010101" pitchFamily="2" charset="-122"/>
              </a:rPr>
              <a:t>W(x)b</a:t>
            </a:r>
            <a:endParaRPr lang="en-US" altLang="zh-CN" sz="2000" dirty="0">
              <a:ea typeface="宋体" panose="02010600030101010101" pitchFamily="2" charset="-122"/>
            </a:endParaRPr>
          </a:p>
        </p:txBody>
      </p:sp>
      <p:cxnSp>
        <p:nvCxnSpPr>
          <p:cNvPr id="24581" name="直接箭头连接符 5"/>
          <p:cNvCxnSpPr>
            <a:stCxn id="24583" idx="0"/>
          </p:cNvCxnSpPr>
          <p:nvPr/>
        </p:nvCxnSpPr>
        <p:spPr>
          <a:xfrm flipV="1">
            <a:off x="2957513" y="2725738"/>
            <a:ext cx="334962" cy="1252537"/>
          </a:xfrm>
          <a:prstGeom prst="straightConnector1">
            <a:avLst/>
          </a:prstGeom>
          <a:ln w="9525" cap="flat" cmpd="sng">
            <a:solidFill>
              <a:schemeClr val="tx1"/>
            </a:solidFill>
            <a:prstDash val="solid"/>
            <a:headEnd type="none" w="med" len="med"/>
            <a:tailEnd type="arrow" w="med" len="med"/>
          </a:ln>
        </p:spPr>
      </p:cxnSp>
      <p:cxnSp>
        <p:nvCxnSpPr>
          <p:cNvPr id="24582" name="直接箭头连接符 10"/>
          <p:cNvCxnSpPr>
            <a:stCxn id="24584" idx="0"/>
          </p:cNvCxnSpPr>
          <p:nvPr/>
        </p:nvCxnSpPr>
        <p:spPr>
          <a:xfrm rot="-5400000" flipV="1">
            <a:off x="4219575" y="2859088"/>
            <a:ext cx="1258888" cy="577850"/>
          </a:xfrm>
          <a:prstGeom prst="straightConnector1">
            <a:avLst/>
          </a:prstGeom>
          <a:ln w="9525" cap="flat" cmpd="sng">
            <a:solidFill>
              <a:schemeClr val="tx1"/>
            </a:solidFill>
            <a:prstDash val="solid"/>
            <a:headEnd type="none" w="med" len="med"/>
            <a:tailEnd type="arrow" w="med" len="med"/>
          </a:ln>
        </p:spPr>
      </p:cxnSp>
      <p:sp>
        <p:nvSpPr>
          <p:cNvPr id="24583" name="TextBox 12"/>
          <p:cNvSpPr txBox="1"/>
          <p:nvPr/>
        </p:nvSpPr>
        <p:spPr>
          <a:xfrm>
            <a:off x="2116138" y="3978275"/>
            <a:ext cx="1684337" cy="584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600" b="1" dirty="0">
                <a:solidFill>
                  <a:srgbClr val="FF0000"/>
                </a:solidFill>
                <a:ea typeface="宋体" panose="02010600030101010101" pitchFamily="2" charset="-122"/>
              </a:rPr>
              <a:t>A</a:t>
            </a:r>
            <a:r>
              <a:rPr lang="zh-CN" altLang="en-US" sz="1600" b="1" dirty="0">
                <a:solidFill>
                  <a:srgbClr val="FF0000"/>
                </a:solidFill>
                <a:ea typeface="宋体" panose="02010600030101010101" pitchFamily="2" charset="-122"/>
              </a:rPr>
              <a:t>来自</a:t>
            </a:r>
            <a:r>
              <a:rPr lang="en-US" altLang="zh-CN" sz="1600" b="1" dirty="0">
                <a:solidFill>
                  <a:srgbClr val="FF0000"/>
                </a:solidFill>
                <a:ea typeface="宋体" panose="02010600030101010101" pitchFamily="2" charset="-122"/>
              </a:rPr>
              <a:t>P1</a:t>
            </a:r>
            <a:r>
              <a:rPr lang="zh-CN" altLang="en-US" sz="1600" b="1" dirty="0">
                <a:solidFill>
                  <a:srgbClr val="FF0000"/>
                </a:solidFill>
                <a:ea typeface="宋体" panose="02010600030101010101" pitchFamily="2" charset="-122"/>
              </a:rPr>
              <a:t>，</a:t>
            </a:r>
            <a:r>
              <a:rPr lang="en-US" altLang="zh-CN" sz="1600" b="1" dirty="0">
                <a:solidFill>
                  <a:srgbClr val="FF0000"/>
                </a:solidFill>
                <a:ea typeface="宋体" panose="02010600030101010101" pitchFamily="2" charset="-122"/>
              </a:rPr>
              <a:t>B</a:t>
            </a:r>
            <a:r>
              <a:rPr lang="zh-CN" altLang="en-US" sz="1600" b="1" dirty="0">
                <a:solidFill>
                  <a:srgbClr val="FF0000"/>
                </a:solidFill>
                <a:ea typeface="宋体" panose="02010600030101010101" pitchFamily="2" charset="-122"/>
              </a:rPr>
              <a:t>是因果关系写</a:t>
            </a:r>
            <a:endParaRPr lang="zh-CN" altLang="en-US" sz="1600" b="1" dirty="0">
              <a:solidFill>
                <a:srgbClr val="FF0000"/>
              </a:solidFill>
              <a:ea typeface="宋体" panose="02010600030101010101" pitchFamily="2" charset="-122"/>
            </a:endParaRPr>
          </a:p>
        </p:txBody>
      </p:sp>
      <p:sp>
        <p:nvSpPr>
          <p:cNvPr id="24584" name="TextBox 13"/>
          <p:cNvSpPr txBox="1"/>
          <p:nvPr/>
        </p:nvSpPr>
        <p:spPr>
          <a:xfrm>
            <a:off x="4724400" y="3778250"/>
            <a:ext cx="828675" cy="584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600" b="1" dirty="0">
                <a:solidFill>
                  <a:srgbClr val="FF0000"/>
                </a:solidFill>
                <a:ea typeface="宋体" panose="02010600030101010101" pitchFamily="2" charset="-122"/>
              </a:rPr>
              <a:t>无因果关系写</a:t>
            </a:r>
            <a:endParaRPr lang="zh-CN" altLang="en-US" sz="1600" b="1" dirty="0">
              <a:solidFill>
                <a:srgbClr val="FF0000"/>
              </a:solidFill>
              <a:ea typeface="宋体" panose="02010600030101010101" pitchFamily="2" charset="-122"/>
            </a:endParaRPr>
          </a:p>
        </p:txBody>
      </p:sp>
      <p:cxnSp>
        <p:nvCxnSpPr>
          <p:cNvPr id="24585" name="直接连接符 15"/>
          <p:cNvCxnSpPr/>
          <p:nvPr/>
        </p:nvCxnSpPr>
        <p:spPr>
          <a:xfrm rot="-10800000" flipV="1">
            <a:off x="4306888" y="2360613"/>
            <a:ext cx="457200" cy="307975"/>
          </a:xfrm>
          <a:prstGeom prst="line">
            <a:avLst/>
          </a:prstGeom>
          <a:ln w="9525" cap="flat" cmpd="sng">
            <a:solidFill>
              <a:srgbClr val="FF0000"/>
            </a:solidFill>
            <a:prstDash val="solid"/>
            <a:headEnd type="none" w="med" len="med"/>
            <a:tailEnd type="none" w="med" len="med"/>
          </a:ln>
        </p:spPr>
      </p:cxnSp>
      <p:cxnSp>
        <p:nvCxnSpPr>
          <p:cNvPr id="24586" name="直接连接符 15"/>
          <p:cNvCxnSpPr/>
          <p:nvPr/>
        </p:nvCxnSpPr>
        <p:spPr>
          <a:xfrm rot="-10800000" flipV="1">
            <a:off x="3033713" y="2711450"/>
            <a:ext cx="517525" cy="14288"/>
          </a:xfrm>
          <a:prstGeom prst="line">
            <a:avLst/>
          </a:prstGeom>
          <a:ln w="9525" cap="flat" cmpd="sng">
            <a:solidFill>
              <a:srgbClr val="FF0000"/>
            </a:solidFill>
            <a:prstDash val="solid"/>
            <a:headEnd type="none" w="med" len="med"/>
            <a:tailEnd type="none" w="med" len="med"/>
          </a:ln>
        </p:spPr>
      </p:cxnSp>
      <p:cxnSp>
        <p:nvCxnSpPr>
          <p:cNvPr id="24587" name="直接连接符 15"/>
          <p:cNvCxnSpPr/>
          <p:nvPr/>
        </p:nvCxnSpPr>
        <p:spPr>
          <a:xfrm rot="10800000">
            <a:off x="1698625" y="2424113"/>
            <a:ext cx="571500" cy="244475"/>
          </a:xfrm>
          <a:prstGeom prst="line">
            <a:avLst/>
          </a:prstGeom>
          <a:ln w="9525" cap="flat" cmpd="sng">
            <a:solidFill>
              <a:srgbClr val="FF0000"/>
            </a:solidFill>
            <a:prstDash val="solid"/>
            <a:headEnd type="none" w="med" len="med"/>
            <a:tailEnd type="none" w="med" len="med"/>
          </a:ln>
        </p:spPr>
      </p:cxnSp>
      <p:cxnSp>
        <p:nvCxnSpPr>
          <p:cNvPr id="24588" name="直接箭头连接符 5"/>
          <p:cNvCxnSpPr/>
          <p:nvPr/>
        </p:nvCxnSpPr>
        <p:spPr>
          <a:xfrm flipH="1" flipV="1">
            <a:off x="2073275" y="2597150"/>
            <a:ext cx="238125" cy="1381125"/>
          </a:xfrm>
          <a:prstGeom prst="straightConnector1">
            <a:avLst/>
          </a:prstGeom>
          <a:ln w="9525" cap="flat" cmpd="sng">
            <a:solidFill>
              <a:schemeClr val="tx1"/>
            </a:solidFill>
            <a:prstDash val="solid"/>
            <a:headEnd type="none" w="med" len="med"/>
            <a:tailEnd type="arrow" w="med" len="med"/>
          </a:ln>
        </p:spPr>
      </p:cxnSp>
      <p:cxnSp>
        <p:nvCxnSpPr>
          <p:cNvPr id="24589" name="直接连接符 15"/>
          <p:cNvCxnSpPr/>
          <p:nvPr/>
        </p:nvCxnSpPr>
        <p:spPr>
          <a:xfrm flipH="1">
            <a:off x="2525713" y="2308225"/>
            <a:ext cx="2035175" cy="0"/>
          </a:xfrm>
          <a:prstGeom prst="line">
            <a:avLst/>
          </a:prstGeom>
          <a:ln w="9525" cap="flat" cmpd="sng">
            <a:solidFill>
              <a:srgbClr val="FF0000"/>
            </a:solidFill>
            <a:prstDash val="solid"/>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p:cNvSpPr>
            <a:spLocks noGrp="1" noChangeAspect="1"/>
          </p:cNvSpPr>
          <p:nvPr>
            <p:ph type="title"/>
          </p:nvPr>
        </p:nvSpPr>
        <p:spPr>
          <a:xfrm>
            <a:off x="211138" y="119063"/>
            <a:ext cx="8594725" cy="763587"/>
          </a:xfrm>
        </p:spPr>
        <p:txBody>
          <a:bodyPr vert="horz" wrap="square" lIns="91440" tIns="45720" rIns="91440" bIns="45720" anchor="ctr" anchorCtr="0"/>
          <a:lstStyle/>
          <a:p>
            <a:pPr eaLnBrk="1" hangingPunct="1"/>
            <a:r>
              <a:rPr lang="en-US" altLang="zh-CN" dirty="0">
                <a:ea typeface="宋体" panose="02010600030101010101" pitchFamily="2" charset="-122"/>
              </a:rPr>
              <a:t>Causal Consistency (3)</a:t>
            </a:r>
            <a:endParaRPr lang="en-US" altLang="zh-CN" dirty="0">
              <a:ea typeface="宋体" panose="02010600030101010101" pitchFamily="2" charset="-122"/>
            </a:endParaRPr>
          </a:p>
        </p:txBody>
      </p:sp>
      <p:sp>
        <p:nvSpPr>
          <p:cNvPr id="25603" name="Rectangle 3"/>
          <p:cNvSpPr>
            <a:spLocks noGrp="1"/>
          </p:cNvSpPr>
          <p:nvPr>
            <p:ph idx="1"/>
          </p:nvPr>
        </p:nvSpPr>
        <p:spPr>
          <a:xfrm>
            <a:off x="484188" y="4927600"/>
            <a:ext cx="8434387" cy="1728788"/>
          </a:xfrm>
        </p:spPr>
        <p:txBody>
          <a:bodyPr vert="horz" wrap="square" lIns="91440" tIns="45720" rIns="91440" bIns="45720" anchor="t" anchorCtr="0"/>
          <a:lstStyle/>
          <a:p>
            <a:pPr marL="0" indent="0" algn="l" eaLnBrk="1" hangingPunct="1">
              <a:lnSpc>
                <a:spcPct val="110000"/>
              </a:lnSpc>
              <a:buFontTx/>
              <a:buAutoNum type="alphaLcParenR"/>
            </a:pPr>
            <a:r>
              <a:rPr lang="en-US" altLang="zh-CN" sz="2000" dirty="0">
                <a:ea typeface="宋体" panose="02010600030101010101" pitchFamily="2" charset="-122"/>
              </a:rPr>
              <a:t>A violation of a casually-consistent store</a:t>
            </a:r>
            <a:r>
              <a:rPr lang="zh-CN" altLang="en-US" sz="2000" dirty="0">
                <a:ea typeface="宋体" panose="02010600030101010101" pitchFamily="2" charset="-122"/>
              </a:rPr>
              <a:t>（不满足）</a:t>
            </a:r>
            <a:r>
              <a:rPr lang="en-US" altLang="zh-CN" sz="2000" dirty="0">
                <a:ea typeface="宋体" panose="02010600030101010101" pitchFamily="2" charset="-122"/>
              </a:rPr>
              <a:t>.</a:t>
            </a:r>
            <a:endParaRPr lang="en-US" altLang="zh-CN" sz="2000" dirty="0">
              <a:ea typeface="宋体" panose="02010600030101010101" pitchFamily="2" charset="-122"/>
            </a:endParaRPr>
          </a:p>
          <a:p>
            <a:pPr marL="0" indent="0" algn="l" eaLnBrk="1" hangingPunct="1">
              <a:lnSpc>
                <a:spcPct val="110000"/>
              </a:lnSpc>
              <a:buFontTx/>
              <a:buAutoNum type="alphaLcParenR"/>
            </a:pPr>
            <a:r>
              <a:rPr lang="en-US" altLang="zh-CN" sz="2000" dirty="0">
                <a:ea typeface="宋体" panose="02010600030101010101" pitchFamily="2" charset="-122"/>
              </a:rPr>
              <a:t>A correct sequence of events in a causally-consistent store.</a:t>
            </a:r>
            <a:endParaRPr lang="en-US" altLang="zh-CN" sz="2000" dirty="0">
              <a:ea typeface="宋体" panose="02010600030101010101" pitchFamily="2" charset="-122"/>
            </a:endParaRPr>
          </a:p>
          <a:p>
            <a:pPr marL="0" indent="0" algn="l" eaLnBrk="1" hangingPunct="1">
              <a:lnSpc>
                <a:spcPct val="110000"/>
              </a:lnSpc>
              <a:buNone/>
            </a:pPr>
            <a:r>
              <a:rPr lang="en-US" altLang="zh-CN" sz="2000" dirty="0">
                <a:ea typeface="宋体" panose="02010600030101010101" pitchFamily="2" charset="-122"/>
              </a:rPr>
              <a:t>Implement: requiring keeping track of which processes have seen which writes</a:t>
            </a:r>
            <a:endParaRPr lang="en-US" altLang="zh-CN" sz="2000" dirty="0">
              <a:ea typeface="宋体" panose="02010600030101010101" pitchFamily="2" charset="-122"/>
            </a:endParaRPr>
          </a:p>
          <a:p>
            <a:pPr marL="0" indent="0" algn="l" eaLnBrk="1" hangingPunct="1">
              <a:lnSpc>
                <a:spcPct val="110000"/>
              </a:lnSpc>
              <a:buNone/>
            </a:pPr>
            <a:r>
              <a:rPr lang="en-US" altLang="zh-CN" sz="2000" dirty="0">
                <a:ea typeface="宋体" panose="02010600030101010101" pitchFamily="2" charset="-122"/>
              </a:rPr>
              <a:t>(</a:t>
            </a:r>
            <a:r>
              <a:rPr lang="zh-CN" altLang="en-US" sz="2000" dirty="0">
                <a:ea typeface="宋体" panose="02010600030101010101" pitchFamily="2" charset="-122"/>
              </a:rPr>
              <a:t>实现</a:t>
            </a:r>
            <a:r>
              <a:rPr lang="en-US" altLang="zh-CN" sz="2000" dirty="0">
                <a:ea typeface="宋体" panose="02010600030101010101" pitchFamily="2" charset="-122"/>
              </a:rPr>
              <a:t>:</a:t>
            </a:r>
            <a:r>
              <a:rPr lang="zh-CN" altLang="en-US" sz="2000" dirty="0">
                <a:ea typeface="宋体" panose="02010600030101010101" pitchFamily="2" charset="-122"/>
              </a:rPr>
              <a:t>  建立维护一个操作逻辑依赖图)</a:t>
            </a:r>
            <a:endParaRPr lang="en-US" altLang="zh-CN" sz="2000" dirty="0">
              <a:ea typeface="宋体" panose="02010600030101010101" pitchFamily="2" charset="-122"/>
            </a:endParaRPr>
          </a:p>
        </p:txBody>
      </p:sp>
      <p:pic>
        <p:nvPicPr>
          <p:cNvPr id="25604" name="Picture 5"/>
          <p:cNvPicPr>
            <a:picLocks noChangeAspect="1"/>
          </p:cNvPicPr>
          <p:nvPr/>
        </p:nvPicPr>
        <p:blipFill>
          <a:blip r:embed="rId1"/>
          <a:srcRect l="19455" t="48489" r="48531" b="43655"/>
          <a:stretch>
            <a:fillRect/>
          </a:stretch>
        </p:blipFill>
        <p:spPr>
          <a:xfrm>
            <a:off x="1544638" y="942975"/>
            <a:ext cx="5994400" cy="1981200"/>
          </a:xfrm>
          <a:prstGeom prst="rect">
            <a:avLst/>
          </a:prstGeom>
          <a:noFill/>
          <a:ln w="9525">
            <a:noFill/>
          </a:ln>
        </p:spPr>
      </p:pic>
      <p:pic>
        <p:nvPicPr>
          <p:cNvPr id="25605" name="Picture 7"/>
          <p:cNvPicPr>
            <a:picLocks noChangeAspect="1"/>
          </p:cNvPicPr>
          <p:nvPr/>
        </p:nvPicPr>
        <p:blipFill>
          <a:blip r:embed="rId1"/>
          <a:srcRect l="51950" t="48489" r="11545" b="43655"/>
          <a:stretch>
            <a:fillRect/>
          </a:stretch>
        </p:blipFill>
        <p:spPr>
          <a:xfrm>
            <a:off x="1211263" y="2824163"/>
            <a:ext cx="6861175" cy="19812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FIFO Consistency(or PRAM</a:t>
            </a:r>
            <a:r>
              <a:rPr lang="en-US" altLang="zh-CN" b="1" dirty="0">
                <a:ea typeface="宋体" panose="02010600030101010101" pitchFamily="2" charset="-122"/>
              </a:rPr>
              <a:t>) </a:t>
            </a:r>
            <a:r>
              <a:rPr lang="en-US" altLang="zh-CN" dirty="0">
                <a:ea typeface="宋体" panose="02010600030101010101" pitchFamily="2" charset="-122"/>
              </a:rPr>
              <a:t>(7.2.4)</a:t>
            </a:r>
            <a:endParaRPr lang="en-US" altLang="zh-CN" dirty="0">
              <a:ea typeface="宋体" panose="02010600030101010101" pitchFamily="2" charset="-122"/>
            </a:endParaRPr>
          </a:p>
        </p:txBody>
      </p:sp>
      <p:sp>
        <p:nvSpPr>
          <p:cNvPr id="26627" name="Rectangle 3"/>
          <p:cNvSpPr>
            <a:spLocks noGrp="1"/>
          </p:cNvSpPr>
          <p:nvPr>
            <p:ph idx="1"/>
          </p:nvPr>
        </p:nvSpPr>
        <p:spPr>
          <a:xfrm>
            <a:off x="319088" y="1125538"/>
            <a:ext cx="8548687" cy="4637087"/>
          </a:xfrm>
        </p:spPr>
        <p:txBody>
          <a:bodyPr vert="horz" wrap="square" lIns="91440" tIns="45720" rIns="91440" bIns="45720" anchor="t" anchorCtr="0"/>
          <a:lstStyle/>
          <a:p>
            <a:pPr marL="0" indent="0" algn="l" eaLnBrk="1" hangingPunct="1">
              <a:lnSpc>
                <a:spcPct val="150000"/>
              </a:lnSpc>
              <a:buNone/>
            </a:pPr>
            <a:r>
              <a:rPr lang="en-US" altLang="zh-CN" sz="2400" dirty="0">
                <a:ea typeface="楷体_GB2312" pitchFamily="49" charset="-122"/>
              </a:rPr>
              <a:t>Necessary Condition:</a:t>
            </a:r>
            <a:br>
              <a:rPr lang="en-US" altLang="zh-CN" sz="2400" dirty="0">
                <a:ea typeface="楷体_GB2312" pitchFamily="49" charset="-122"/>
              </a:rPr>
            </a:br>
            <a:r>
              <a:rPr lang="en-US" altLang="zh-CN" sz="2400" dirty="0">
                <a:ea typeface="楷体_GB2312" pitchFamily="49" charset="-122"/>
              </a:rPr>
              <a:t>       Writes done by a single process are seen by all other processes in the order in which they were issued, but writes from different processes may be seen in a different order by different processes</a:t>
            </a:r>
            <a:endParaRPr lang="en-US" altLang="zh-CN" sz="2400" dirty="0">
              <a:ea typeface="楷体_GB2312" pitchFamily="49" charset="-122"/>
            </a:endParaRPr>
          </a:p>
          <a:p>
            <a:pPr marL="0" indent="0" algn="l" eaLnBrk="1" hangingPunct="1">
              <a:lnSpc>
                <a:spcPct val="150000"/>
              </a:lnSpc>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一个进程的写操作可以被其它进程以相同的顺序接收到，不同进程的写操作在不同进程看来次序可以是不同的</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r>
              <a:rPr lang="zh-CN" altLang="en-US" sz="2000" b="1" dirty="0">
                <a:solidFill>
                  <a:srgbClr val="FF0000"/>
                </a:solidFill>
                <a:latin typeface="宋体" panose="02010600030101010101" pitchFamily="2" charset="-122"/>
                <a:ea typeface="宋体" panose="02010600030101010101" pitchFamily="2" charset="-122"/>
              </a:rPr>
              <a:t>强调单个进程的操作顺序</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a:t>
            </a:r>
            <a:endParaRPr lang="zh-CN" altLang="en-US" sz="2000" b="1" dirty="0">
              <a:latin typeface="宋体" panose="02010600030101010101" pitchFamily="2" charset="-122"/>
              <a:ea typeface="宋体" panose="02010600030101010101" pitchFamily="2" charset="-122"/>
            </a:endParaRPr>
          </a:p>
          <a:p>
            <a:pPr marL="0" indent="0" algn="l" eaLnBrk="1" hangingPunct="1">
              <a:lnSpc>
                <a:spcPct val="150000"/>
              </a:lnSpc>
              <a:buNone/>
            </a:pPr>
            <a:r>
              <a:rPr lang="en-US" altLang="zh-CN" sz="2000" dirty="0">
                <a:latin typeface="宋体" panose="02010600030101010101" pitchFamily="2" charset="-122"/>
                <a:ea typeface="宋体" panose="02010600030101010101" pitchFamily="2" charset="-122"/>
              </a:rPr>
              <a:t>    PRAM</a:t>
            </a:r>
            <a:r>
              <a:rPr lang="zh-CN" altLang="en-US" sz="2000" dirty="0">
                <a:latin typeface="宋体" panose="02010600030101010101" pitchFamily="2" charset="-122"/>
                <a:ea typeface="宋体" panose="02010600030101010101" pitchFamily="2" charset="-122"/>
              </a:rPr>
              <a:t>一致性由</a:t>
            </a:r>
            <a:r>
              <a:rPr lang="en-US" altLang="zh-CN" sz="2000" dirty="0">
                <a:latin typeface="宋体" panose="02010600030101010101" pitchFamily="2" charset="-122"/>
                <a:ea typeface="宋体" panose="02010600030101010101" pitchFamily="2" charset="-122"/>
              </a:rPr>
              <a:t>LIPTON</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SANDBERG（1988）</a:t>
            </a:r>
            <a:r>
              <a:rPr lang="zh-CN" altLang="en-US" sz="2000" dirty="0">
                <a:latin typeface="宋体" panose="02010600030101010101" pitchFamily="2" charset="-122"/>
                <a:ea typeface="宋体" panose="02010600030101010101" pitchFamily="2" charset="-122"/>
              </a:rPr>
              <a:t>提出，</a:t>
            </a:r>
            <a:r>
              <a:rPr lang="en-US" altLang="zh-CN" sz="2000" dirty="0">
                <a:latin typeface="宋体" panose="02010600030101010101" pitchFamily="2" charset="-122"/>
                <a:ea typeface="宋体" panose="02010600030101010101" pitchFamily="2" charset="-122"/>
              </a:rPr>
              <a:t>PRAM</a:t>
            </a:r>
            <a:r>
              <a:rPr lang="zh-CN" altLang="en-US" sz="2000" dirty="0">
                <a:latin typeface="宋体" panose="02010600030101010101" pitchFamily="2" charset="-122"/>
                <a:ea typeface="宋体" panose="02010600030101010101" pitchFamily="2" charset="-122"/>
              </a:rPr>
              <a:t>代表管道</a:t>
            </a:r>
            <a:r>
              <a:rPr lang="en-US" altLang="zh-CN" sz="2000" dirty="0">
                <a:latin typeface="宋体" panose="02010600030101010101" pitchFamily="2" charset="-122"/>
                <a:ea typeface="宋体" panose="02010600030101010101" pitchFamily="2" charset="-122"/>
              </a:rPr>
              <a:t>RAM，</a:t>
            </a:r>
            <a:r>
              <a:rPr lang="zh-CN" altLang="en-US" sz="2000" dirty="0">
                <a:latin typeface="宋体" panose="02010600030101010101" pitchFamily="2" charset="-122"/>
                <a:ea typeface="宋体" panose="02010600030101010101" pitchFamily="2" charset="-122"/>
              </a:rPr>
              <a:t>一个进程的写操作可以是流水线的，进程不必在开始下一个操作之前等待一操作结束，只要求一个进程的写操作顺序被所有进程看到。</a:t>
            </a:r>
            <a:endParaRPr lang="en-US" altLang="zh-CN" sz="2000" dirty="0">
              <a:latin typeface="宋体" panose="02010600030101010101" pitchFamily="2" charset="-122"/>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FIFO Consistency</a:t>
            </a:r>
            <a:endParaRPr lang="en-US" altLang="zh-CN" dirty="0">
              <a:ea typeface="宋体" panose="02010600030101010101" pitchFamily="2" charset="-122"/>
            </a:endParaRPr>
          </a:p>
        </p:txBody>
      </p:sp>
      <p:sp>
        <p:nvSpPr>
          <p:cNvPr id="27651" name="Rectangle 3"/>
          <p:cNvSpPr>
            <a:spLocks noGrp="1"/>
          </p:cNvSpPr>
          <p:nvPr>
            <p:ph idx="1"/>
          </p:nvPr>
        </p:nvSpPr>
        <p:spPr>
          <a:xfrm>
            <a:off x="44450" y="3852863"/>
            <a:ext cx="8948738" cy="2938462"/>
          </a:xfrm>
        </p:spPr>
        <p:txBody>
          <a:bodyPr vert="horz" wrap="square" lIns="91440" tIns="45720" rIns="91440" bIns="45720" anchor="t" anchorCtr="0"/>
          <a:lstStyle/>
          <a:p>
            <a:pPr marL="0" indent="0" eaLnBrk="1" hangingPunct="1">
              <a:lnSpc>
                <a:spcPct val="90000"/>
              </a:lnSpc>
              <a:buNone/>
            </a:pPr>
            <a:r>
              <a:rPr lang="en-US" altLang="zh-CN" sz="2400" dirty="0">
                <a:ea typeface="宋体" panose="02010600030101010101" pitchFamily="2" charset="-122"/>
              </a:rPr>
              <a:t>A valid sequence of events of FIFO consistency</a:t>
            </a:r>
            <a:endParaRPr lang="en-US" altLang="zh-CN" sz="2400" dirty="0">
              <a:ea typeface="宋体" panose="02010600030101010101" pitchFamily="2" charset="-122"/>
            </a:endParaRPr>
          </a:p>
          <a:p>
            <a:pPr marL="0" indent="0" eaLnBrk="1" hangingPunct="1">
              <a:lnSpc>
                <a:spcPct val="90000"/>
              </a:lnSpc>
              <a:buNone/>
            </a:pPr>
            <a:endParaRPr lang="en-US" altLang="zh-CN" sz="2400" dirty="0">
              <a:ea typeface="宋体" panose="02010600030101010101" pitchFamily="2" charset="-122"/>
            </a:endParaRPr>
          </a:p>
          <a:p>
            <a:pPr marL="0" indent="0" algn="l" eaLnBrk="1" hangingPunct="1">
              <a:lnSpc>
                <a:spcPct val="90000"/>
              </a:lnSpc>
              <a:buNone/>
            </a:pPr>
            <a:r>
              <a:rPr lang="zh-CN" altLang="en-US" sz="2400" dirty="0">
                <a:ea typeface="宋体" panose="02010600030101010101" pitchFamily="2" charset="-122"/>
              </a:rPr>
              <a:t>        </a:t>
            </a:r>
            <a:r>
              <a:rPr lang="zh-CN" altLang="en-US" sz="2000" dirty="0">
                <a:ea typeface="宋体" panose="02010600030101010101" pitchFamily="2" charset="-122"/>
              </a:rPr>
              <a:t>保证由同一个进程的写操作顺序被所有进程看到。可通过设置序列号实现。</a:t>
            </a:r>
            <a:endParaRPr lang="zh-CN" altLang="en-US" sz="2000" dirty="0">
              <a:ea typeface="宋体" panose="02010600030101010101" pitchFamily="2" charset="-122"/>
            </a:endParaRPr>
          </a:p>
          <a:p>
            <a:pPr marL="0" indent="0" algn="l" eaLnBrk="1" hangingPunct="1">
              <a:lnSpc>
                <a:spcPct val="90000"/>
              </a:lnSpc>
              <a:buNone/>
            </a:pPr>
            <a:r>
              <a:rPr lang="zh-CN" altLang="en-US" sz="2400" dirty="0">
                <a:ea typeface="宋体" panose="02010600030101010101" pitchFamily="2" charset="-122"/>
              </a:rPr>
              <a:t>       </a:t>
            </a:r>
            <a:r>
              <a:rPr lang="en-US" altLang="zh-CN" sz="2400" dirty="0">
                <a:ea typeface="宋体" panose="02010600030101010101" pitchFamily="2" charset="-122"/>
              </a:rPr>
              <a:t>the model can be implemented by simply tagging each write operation with a(process, sequence number)pair, and performing writes per process in the order of their sequence number.</a:t>
            </a:r>
            <a:endParaRPr lang="en-US" altLang="zh-CN" sz="2400" dirty="0">
              <a:ea typeface="宋体" panose="02010600030101010101" pitchFamily="2" charset="-122"/>
            </a:endParaRPr>
          </a:p>
          <a:p>
            <a:pPr marL="0" indent="0" algn="l" eaLnBrk="1" hangingPunct="1">
              <a:lnSpc>
                <a:spcPct val="90000"/>
              </a:lnSpc>
              <a:buNone/>
            </a:pPr>
            <a:r>
              <a:rPr lang="zh-CN" altLang="en-US" sz="2400" dirty="0">
                <a:ea typeface="宋体" panose="02010600030101010101" pitchFamily="2" charset="-122"/>
              </a:rPr>
              <a:t>       </a:t>
            </a:r>
            <a:r>
              <a:rPr lang="zh-CN" altLang="en-US" sz="2000" dirty="0">
                <a:ea typeface="宋体" panose="02010600030101010101" pitchFamily="2" charset="-122"/>
              </a:rPr>
              <a:t>与因果一致性的区别：因果关系可以是不同进程之间，比如同步点。</a:t>
            </a:r>
            <a:endParaRPr lang="en-US" altLang="zh-CN" sz="2000" dirty="0">
              <a:ea typeface="宋体" panose="02010600030101010101" pitchFamily="2" charset="-122"/>
            </a:endParaRPr>
          </a:p>
        </p:txBody>
      </p:sp>
      <p:pic>
        <p:nvPicPr>
          <p:cNvPr id="27652" name="Picture 5"/>
          <p:cNvPicPr>
            <a:picLocks noChangeAspect="1"/>
          </p:cNvPicPr>
          <p:nvPr/>
        </p:nvPicPr>
        <p:blipFill>
          <a:blip r:embed="rId1"/>
          <a:srcRect l="31854" t="47734" r="29716" b="43202"/>
          <a:stretch>
            <a:fillRect/>
          </a:stretch>
        </p:blipFill>
        <p:spPr>
          <a:xfrm>
            <a:off x="327025" y="1119188"/>
            <a:ext cx="8262938" cy="2757487"/>
          </a:xfrm>
          <a:prstGeom prst="rect">
            <a:avLst/>
          </a:prstGeom>
          <a:noFill/>
          <a:ln w="9525">
            <a:noFill/>
          </a:ln>
        </p:spPr>
      </p:pic>
      <p:cxnSp>
        <p:nvCxnSpPr>
          <p:cNvPr id="27653" name="直接箭头连接符 6"/>
          <p:cNvCxnSpPr/>
          <p:nvPr/>
        </p:nvCxnSpPr>
        <p:spPr>
          <a:xfrm>
            <a:off x="4264025" y="2487613"/>
            <a:ext cx="382588" cy="1587"/>
          </a:xfrm>
          <a:prstGeom prst="straightConnector1">
            <a:avLst/>
          </a:prstGeom>
          <a:ln w="9525" cap="flat" cmpd="sng">
            <a:solidFill>
              <a:srgbClr val="FF0000"/>
            </a:solidFill>
            <a:prstDash val="solid"/>
            <a:headEnd type="none" w="med" len="med"/>
            <a:tailEnd type="arrow" w="med" len="med"/>
          </a:ln>
        </p:spPr>
      </p:cxnSp>
      <p:sp>
        <p:nvSpPr>
          <p:cNvPr id="27654" name="TextBox 9"/>
          <p:cNvSpPr txBox="1"/>
          <p:nvPr/>
        </p:nvSpPr>
        <p:spPr>
          <a:xfrm>
            <a:off x="3849688" y="1817688"/>
            <a:ext cx="1222375" cy="3381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600" dirty="0">
                <a:ea typeface="宋体" panose="02010600030101010101" pitchFamily="2" charset="-122"/>
              </a:rPr>
              <a:t>确定的顺序</a:t>
            </a:r>
            <a:endParaRPr lang="zh-CN" altLang="en-US" sz="1600" dirty="0">
              <a:ea typeface="宋体" panose="02010600030101010101" pitchFamily="2" charset="-122"/>
            </a:endParaRPr>
          </a:p>
        </p:txBody>
      </p:sp>
      <p:cxnSp>
        <p:nvCxnSpPr>
          <p:cNvPr id="27655" name="直接箭头连接符 11"/>
          <p:cNvCxnSpPr/>
          <p:nvPr/>
        </p:nvCxnSpPr>
        <p:spPr>
          <a:xfrm rot="-5400000" flipH="1">
            <a:off x="4267200" y="2300288"/>
            <a:ext cx="373063" cy="0"/>
          </a:xfrm>
          <a:prstGeom prst="straightConnector1">
            <a:avLst/>
          </a:prstGeom>
          <a:ln w="9525" cap="flat" cmpd="sng">
            <a:solidFill>
              <a:schemeClr val="tx1"/>
            </a:solidFill>
            <a:prstDash val="solid"/>
            <a:headEnd type="none" w="med" len="med"/>
            <a:tailEnd type="arrow"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0" y="0"/>
            <a:ext cx="9144000" cy="506413"/>
          </a:xfrm>
        </p:spPr>
        <p:txBody>
          <a:bodyPr vert="horz" wrap="square" lIns="91440" tIns="45720" rIns="91440" bIns="45720" anchor="ctr" anchorCtr="0"/>
          <a:lstStyle/>
          <a:p>
            <a:pPr eaLnBrk="1" hangingPunct="1"/>
            <a:r>
              <a:rPr lang="en-US" altLang="zh-CN" dirty="0">
                <a:ea typeface="宋体" panose="02010600030101010101" pitchFamily="2" charset="-122"/>
              </a:rPr>
              <a:t>FIFO Consistency</a:t>
            </a:r>
            <a:endParaRPr lang="en-US" altLang="zh-CN" dirty="0">
              <a:ea typeface="宋体" panose="02010600030101010101" pitchFamily="2" charset="-122"/>
            </a:endParaRPr>
          </a:p>
        </p:txBody>
      </p:sp>
      <p:sp>
        <p:nvSpPr>
          <p:cNvPr id="28675" name="Rectangle 3"/>
          <p:cNvSpPr>
            <a:spLocks noGrp="1"/>
          </p:cNvSpPr>
          <p:nvPr>
            <p:ph idx="1"/>
          </p:nvPr>
        </p:nvSpPr>
        <p:spPr>
          <a:xfrm>
            <a:off x="0" y="6105525"/>
            <a:ext cx="8994775" cy="631825"/>
          </a:xfrm>
        </p:spPr>
        <p:txBody>
          <a:bodyPr vert="horz" wrap="square" lIns="91440" tIns="45720" rIns="91440" bIns="45720" anchor="t" anchorCtr="0"/>
          <a:lstStyle/>
          <a:p>
            <a:pPr algn="l" eaLnBrk="1" hangingPunct="1">
              <a:lnSpc>
                <a:spcPct val="90000"/>
              </a:lnSpc>
              <a:buNone/>
            </a:pPr>
            <a:r>
              <a:rPr lang="en-US" altLang="zh-CN" sz="1800" dirty="0">
                <a:ea typeface="宋体" panose="02010600030101010101" pitchFamily="2" charset="-122"/>
              </a:rPr>
              <a:t>    Statement execution as seen by the three processes from the previous slide.  The statements in bold are the ones that generate the output shown.(</a:t>
            </a:r>
            <a:r>
              <a:rPr lang="zh-CN" altLang="en-US" sz="1800" dirty="0">
                <a:ea typeface="宋体" panose="02010600030101010101" pitchFamily="2" charset="-122"/>
              </a:rPr>
              <a:t>结果只受本进程顺序影响</a:t>
            </a:r>
            <a:r>
              <a:rPr lang="en-US" altLang="zh-CN" sz="1800" dirty="0">
                <a:ea typeface="宋体" panose="02010600030101010101" pitchFamily="2" charset="-122"/>
              </a:rPr>
              <a:t>)</a:t>
            </a:r>
            <a:endParaRPr lang="en-US" altLang="zh-CN" sz="1800" dirty="0">
              <a:ea typeface="宋体" panose="02010600030101010101" pitchFamily="2" charset="-122"/>
            </a:endParaRPr>
          </a:p>
        </p:txBody>
      </p:sp>
      <p:graphicFrame>
        <p:nvGraphicFramePr>
          <p:cNvPr id="16405" name="Group 21"/>
          <p:cNvGraphicFramePr>
            <a:graphicFrameLocks noGrp="1"/>
          </p:cNvGraphicFramePr>
          <p:nvPr/>
        </p:nvGraphicFramePr>
        <p:xfrm>
          <a:off x="1370013" y="2197100"/>
          <a:ext cx="6096000" cy="3535363"/>
        </p:xfrm>
        <a:graphic>
          <a:graphicData uri="http://schemas.openxmlformats.org/drawingml/2006/table">
            <a:tbl>
              <a:tblPr/>
              <a:tblGrid>
                <a:gridCol w="2032000"/>
                <a:gridCol w="2033587"/>
                <a:gridCol w="2030413"/>
              </a:tblGrid>
              <a:tr h="353536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(y,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print(x,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Prints: </a:t>
                      </a:r>
                      <a:r>
                        <a:rPr kumimoji="0" lang="en-US" altLang="zh-CN" sz="1800" b="0" i="0" u="none" strike="noStrike" cap="none" normalizeH="0" baseline="0" dirty="0">
                          <a:ln>
                            <a:noFill/>
                          </a:ln>
                          <a:solidFill>
                            <a:srgbClr val="FF0000"/>
                          </a:solidFill>
                          <a:effectLst/>
                          <a:latin typeface="Arial" panose="020B0604020202020204" pitchFamily="34" charset="0"/>
                          <a:ea typeface="宋体" panose="02010600030101010101" pitchFamily="2" charset="-122"/>
                        </a:rPr>
                        <a:t>00</a:t>
                      </a:r>
                      <a:endParaRPr kumimoji="0" lang="en-US" altLang="zh-CN" sz="18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print(x, z);</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 y,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Prints: </a:t>
                      </a:r>
                      <a:r>
                        <a:rPr kumimoji="0" lang="en-US" altLang="zh-CN" sz="1800" b="0" i="0" u="none" strike="noStrike" cap="none" normalizeH="0" baseline="0" dirty="0">
                          <a:ln>
                            <a:noFill/>
                          </a:ln>
                          <a:solidFill>
                            <a:srgbClr val="FF0000"/>
                          </a:solidFill>
                          <a:effectLst/>
                          <a:latin typeface="Arial" panose="020B0604020202020204" pitchFamily="34" charset="0"/>
                          <a:ea typeface="宋体" panose="02010600030101010101" pitchFamily="2" charset="-122"/>
                        </a:rPr>
                        <a:t>10</a:t>
                      </a:r>
                      <a:endParaRPr kumimoji="0" lang="en-US" altLang="zh-CN" sz="18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(b)</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(y,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Prints:  </a:t>
                      </a:r>
                      <a:r>
                        <a:rPr kumimoji="0" lang="en-US" altLang="zh-CN" sz="1800" b="0" i="0" u="none" strike="noStrike" cap="none" normalizeH="0" baseline="0" dirty="0">
                          <a:ln>
                            <a:noFill/>
                          </a:ln>
                          <a:solidFill>
                            <a:srgbClr val="FF0000"/>
                          </a:solidFill>
                          <a:effectLst/>
                          <a:latin typeface="Arial" panose="020B0604020202020204" pitchFamily="34" charset="0"/>
                          <a:ea typeface="宋体" panose="02010600030101010101" pitchFamily="2" charset="-122"/>
                        </a:rPr>
                        <a:t>01</a:t>
                      </a:r>
                      <a:endParaRPr kumimoji="0" lang="en-US" altLang="zh-CN" sz="18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cap="flat">
                      <a:noFill/>
                    </a:lnB>
                    <a:lnTlToBr>
                      <a:noFill/>
                    </a:lnTlToBr>
                    <a:lnBlToTr>
                      <a:noFill/>
                    </a:lnBlToTr>
                    <a:noFill/>
                  </a:tcPr>
                </a:tc>
              </a:tr>
            </a:tbl>
          </a:graphicData>
        </a:graphic>
      </p:graphicFrame>
      <p:cxnSp>
        <p:nvCxnSpPr>
          <p:cNvPr id="28680" name="直接箭头连接符 5"/>
          <p:cNvCxnSpPr/>
          <p:nvPr/>
        </p:nvCxnSpPr>
        <p:spPr>
          <a:xfrm>
            <a:off x="2665413" y="2819400"/>
            <a:ext cx="3189287" cy="552450"/>
          </a:xfrm>
          <a:prstGeom prst="straightConnector1">
            <a:avLst/>
          </a:prstGeom>
          <a:ln w="9525" cap="flat" cmpd="sng">
            <a:solidFill>
              <a:srgbClr val="FF0000"/>
            </a:solidFill>
            <a:prstDash val="solid"/>
            <a:headEnd type="none" w="med" len="med"/>
            <a:tailEnd type="arrow" w="med" len="med"/>
          </a:ln>
        </p:spPr>
      </p:cxnSp>
      <p:cxnSp>
        <p:nvCxnSpPr>
          <p:cNvPr id="28681" name="直接连接符 8"/>
          <p:cNvCxnSpPr/>
          <p:nvPr/>
        </p:nvCxnSpPr>
        <p:spPr>
          <a:xfrm>
            <a:off x="2665413" y="2805113"/>
            <a:ext cx="4338637" cy="31750"/>
          </a:xfrm>
          <a:prstGeom prst="line">
            <a:avLst/>
          </a:prstGeom>
          <a:ln w="9525" cap="flat" cmpd="sng">
            <a:solidFill>
              <a:schemeClr val="tx1"/>
            </a:solidFill>
            <a:prstDash val="sysDash"/>
            <a:headEnd type="none" w="med" len="med"/>
            <a:tailEnd type="none" w="med" len="med"/>
          </a:ln>
        </p:spPr>
      </p:cxnSp>
      <p:cxnSp>
        <p:nvCxnSpPr>
          <p:cNvPr id="28682" name="直接连接符 9"/>
          <p:cNvCxnSpPr/>
          <p:nvPr/>
        </p:nvCxnSpPr>
        <p:spPr>
          <a:xfrm>
            <a:off x="4665663" y="3087688"/>
            <a:ext cx="2338387" cy="17462"/>
          </a:xfrm>
          <a:prstGeom prst="line">
            <a:avLst/>
          </a:prstGeom>
          <a:ln w="9525" cap="flat" cmpd="sng">
            <a:solidFill>
              <a:schemeClr val="tx1"/>
            </a:solidFill>
            <a:prstDash val="sysDash"/>
            <a:headEnd type="none" w="med" len="med"/>
            <a:tailEnd type="none" w="med" len="med"/>
          </a:ln>
        </p:spPr>
      </p:cxnSp>
      <p:sp>
        <p:nvSpPr>
          <p:cNvPr id="28683" name="矩形 7"/>
          <p:cNvSpPr/>
          <p:nvPr/>
        </p:nvSpPr>
        <p:spPr>
          <a:xfrm>
            <a:off x="1370013" y="5567363"/>
            <a:ext cx="6321425"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如果将三个进程的输出顺序相接,  得到结果为</a:t>
            </a:r>
            <a:r>
              <a:rPr lang="zh-CN" altLang="en-US" sz="2000" dirty="0">
                <a:solidFill>
                  <a:srgbClr val="FF0000"/>
                </a:solidFill>
                <a:ea typeface="宋体" panose="02010600030101010101" pitchFamily="2" charset="-122"/>
              </a:rPr>
              <a:t>001001</a:t>
            </a:r>
            <a:endParaRPr lang="zh-CN" altLang="en-US" sz="2000" dirty="0">
              <a:ea typeface="宋体" panose="02010600030101010101" pitchFamily="2" charset="-122"/>
            </a:endParaRPr>
          </a:p>
        </p:txBody>
      </p:sp>
      <p:graphicFrame>
        <p:nvGraphicFramePr>
          <p:cNvPr id="9" name="Group 57"/>
          <p:cNvGraphicFramePr>
            <a:graphicFrameLocks noGrp="1"/>
          </p:cNvGraphicFramePr>
          <p:nvPr/>
        </p:nvGraphicFramePr>
        <p:xfrm>
          <a:off x="1273175" y="568325"/>
          <a:ext cx="6192837" cy="1077913"/>
        </p:xfrm>
        <a:graphic>
          <a:graphicData uri="http://schemas.openxmlformats.org/drawingml/2006/table">
            <a:tbl>
              <a:tblPr/>
              <a:tblGrid>
                <a:gridCol w="2064279"/>
                <a:gridCol w="2064279"/>
                <a:gridCol w="2064279"/>
              </a:tblGrid>
              <a:tr h="38235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Process P1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60" marB="45760"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Process P2</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60" marB="4576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Process P3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60" marB="4576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69555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x = 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print ( y, z);</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60" marB="45760" anchor="ctr"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60" marB="45760" anchor="ct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 =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(x, y);</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60" marB="45760" anchor="ct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cxnSp>
        <p:nvCxnSpPr>
          <p:cNvPr id="28692" name="直接连接符 3"/>
          <p:cNvCxnSpPr/>
          <p:nvPr/>
        </p:nvCxnSpPr>
        <p:spPr>
          <a:xfrm>
            <a:off x="274638" y="1825625"/>
            <a:ext cx="8561387" cy="0"/>
          </a:xfrm>
          <a:prstGeom prst="line">
            <a:avLst/>
          </a:prstGeom>
          <a:ln w="9525" cap="flat" cmpd="sng">
            <a:solidFill>
              <a:schemeClr val="tx1"/>
            </a:solidFill>
            <a:prstDash val="solid"/>
            <a:headEnd type="none" w="med" len="med"/>
            <a:tailEnd type="non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FIFO Consistency</a:t>
            </a:r>
            <a:endParaRPr lang="en-US" altLang="zh-CN" dirty="0">
              <a:ea typeface="宋体" panose="02010600030101010101" pitchFamily="2" charset="-122"/>
            </a:endParaRPr>
          </a:p>
        </p:txBody>
      </p:sp>
      <p:sp>
        <p:nvSpPr>
          <p:cNvPr id="29699" name="Rectangle 3"/>
          <p:cNvSpPr>
            <a:spLocks noGrp="1"/>
          </p:cNvSpPr>
          <p:nvPr>
            <p:ph idx="1"/>
          </p:nvPr>
        </p:nvSpPr>
        <p:spPr>
          <a:xfrm>
            <a:off x="409575" y="1271588"/>
            <a:ext cx="8429625" cy="4554537"/>
          </a:xfrm>
        </p:spPr>
        <p:txBody>
          <a:bodyPr vert="horz" wrap="square" lIns="91440" tIns="45720" rIns="91440" bIns="45720" anchor="t" anchorCtr="0"/>
          <a:lstStyle/>
          <a:p>
            <a:pPr marL="0" indent="0" algn="just" eaLnBrk="1" hangingPunct="1">
              <a:lnSpc>
                <a:spcPct val="150000"/>
              </a:lnSpc>
              <a:buNone/>
            </a:pPr>
            <a:r>
              <a:rPr lang="zh-CN" altLang="en-US" sz="2400" dirty="0">
                <a:ea typeface="宋体" panose="02010600030101010101" pitchFamily="2" charset="-122"/>
              </a:rPr>
              <a:t>        在</a:t>
            </a:r>
            <a:r>
              <a:rPr lang="en-US" altLang="zh-CN" sz="2400" dirty="0">
                <a:ea typeface="宋体" panose="02010600030101010101" pitchFamily="2" charset="-122"/>
              </a:rPr>
              <a:t>FIFO</a:t>
            </a:r>
            <a:r>
              <a:rPr lang="zh-CN" altLang="en-US" sz="2400" dirty="0">
                <a:ea typeface="宋体" panose="02010600030101010101" pitchFamily="2" charset="-122"/>
              </a:rPr>
              <a:t>中不同进程看到的语句执行顺序不同，进程</a:t>
            </a:r>
            <a:r>
              <a:rPr lang="en-US" altLang="zh-CN" sz="2400" dirty="0">
                <a:ea typeface="宋体" panose="02010600030101010101" pitchFamily="2" charset="-122"/>
              </a:rPr>
              <a:t>P1</a:t>
            </a:r>
            <a:r>
              <a:rPr lang="zh-CN" altLang="en-US" sz="2400" dirty="0">
                <a:ea typeface="宋体" panose="02010600030101010101" pitchFamily="2" charset="-122"/>
              </a:rPr>
              <a:t>、</a:t>
            </a:r>
            <a:r>
              <a:rPr lang="en-US" altLang="zh-CN" sz="2400" dirty="0">
                <a:ea typeface="宋体" panose="02010600030101010101" pitchFamily="2" charset="-122"/>
              </a:rPr>
              <a:t>P2</a:t>
            </a:r>
            <a:r>
              <a:rPr lang="zh-CN" altLang="en-US" sz="2400" dirty="0">
                <a:ea typeface="宋体" panose="02010600030101010101" pitchFamily="2" charset="-122"/>
              </a:rPr>
              <a:t>和</a:t>
            </a:r>
            <a:r>
              <a:rPr lang="en-US" altLang="zh-CN" sz="2400" dirty="0">
                <a:ea typeface="宋体" panose="02010600030101010101" pitchFamily="2" charset="-122"/>
              </a:rPr>
              <a:t>P3</a:t>
            </a:r>
            <a:r>
              <a:rPr lang="zh-CN" altLang="en-US" sz="2400" dirty="0">
                <a:ea typeface="宋体" panose="02010600030101010101" pitchFamily="2" charset="-122"/>
              </a:rPr>
              <a:t>分别看到的是图(</a:t>
            </a:r>
            <a:r>
              <a:rPr lang="en-US" altLang="zh-CN" sz="2400" dirty="0">
                <a:ea typeface="宋体" panose="02010600030101010101" pitchFamily="2" charset="-122"/>
              </a:rPr>
              <a:t>a)</a:t>
            </a:r>
            <a:r>
              <a:rPr lang="zh-CN" altLang="en-US" sz="2400" dirty="0">
                <a:ea typeface="宋体" panose="02010600030101010101" pitchFamily="2" charset="-122"/>
              </a:rPr>
              <a:t> 、(</a:t>
            </a:r>
            <a:r>
              <a:rPr lang="en-US" altLang="zh-CN" sz="2400" dirty="0">
                <a:ea typeface="宋体" panose="02010600030101010101" pitchFamily="2" charset="-122"/>
              </a:rPr>
              <a:t>b)</a:t>
            </a:r>
            <a:r>
              <a:rPr lang="zh-CN" altLang="en-US" sz="2400" dirty="0">
                <a:ea typeface="宋体" panose="02010600030101010101" pitchFamily="2" charset="-122"/>
              </a:rPr>
              <a:t>和 (</a:t>
            </a:r>
            <a:r>
              <a:rPr lang="en-US" altLang="zh-CN" sz="2400" dirty="0">
                <a:ea typeface="宋体" panose="02010600030101010101" pitchFamily="2" charset="-122"/>
              </a:rPr>
              <a:t>c)</a:t>
            </a:r>
            <a:r>
              <a:rPr lang="zh-CN" altLang="en-US" sz="2400" dirty="0">
                <a:ea typeface="宋体" panose="02010600030101010101" pitchFamily="2" charset="-122"/>
              </a:rPr>
              <a:t>。对于顺序一致存储器, 三个不同显示是不允许的，比如结果“001001”在顺序一致性下不可能的（大家必须一致）。            </a:t>
            </a:r>
            <a:r>
              <a:rPr lang="en-US" altLang="zh-CN" sz="2400" dirty="0">
                <a:ea typeface="宋体" panose="02010600030101010101" pitchFamily="2" charset="-122"/>
              </a:rPr>
              <a:t>yzxzxy</a:t>
            </a:r>
            <a:endParaRPr lang="zh-CN" altLang="en-US" sz="2400" dirty="0">
              <a:ea typeface="宋体" panose="02010600030101010101" pitchFamily="2" charset="-122"/>
            </a:endParaRPr>
          </a:p>
          <a:p>
            <a:pPr marL="0" indent="0" algn="l" eaLnBrk="1" hangingPunct="1">
              <a:lnSpc>
                <a:spcPct val="150000"/>
              </a:lnSpc>
              <a:buNone/>
            </a:pPr>
            <a:r>
              <a:rPr lang="zh-CN" altLang="en-US" sz="2400" dirty="0">
                <a:ea typeface="宋体" panose="02010600030101010101" pitchFamily="2" charset="-122"/>
              </a:rPr>
              <a:t>         不同之处：前者尽管未确定语句（和存储器访问）的执行顺序,  但至少所有进程都遵守共同的顺序。后者就不遵守，不同进程看到的操作顺序不同</a:t>
            </a:r>
            <a:r>
              <a:rPr lang="en-US" altLang="zh-CN" sz="2400" dirty="0">
                <a:ea typeface="宋体" panose="02010600030101010101" pitchFamily="2" charset="-122"/>
              </a:rPr>
              <a:t>(</a:t>
            </a:r>
            <a:r>
              <a:rPr lang="zh-CN" altLang="en-US" sz="2400" dirty="0">
                <a:ea typeface="宋体" panose="02010600030101010101" pitchFamily="2" charset="-122"/>
              </a:rPr>
              <a:t>不同进程写结果可不同</a:t>
            </a:r>
            <a:r>
              <a:rPr lang="en-US" altLang="zh-CN" sz="2400" dirty="0">
                <a:ea typeface="宋体" panose="02010600030101010101" pitchFamily="2" charset="-122"/>
              </a:rPr>
              <a:t>) </a:t>
            </a:r>
            <a:r>
              <a:rPr lang="zh-CN" altLang="en-US" sz="2400" dirty="0">
                <a:ea typeface="宋体" panose="02010600030101010101" pitchFamily="2" charset="-122"/>
              </a:rPr>
              <a:t>。 </a:t>
            </a:r>
            <a:endParaRPr lang="en-US" altLang="zh-CN" sz="2400" dirty="0">
              <a:ea typeface="宋体" panose="02010600030101010101" pitchFamily="2" charset="-122"/>
            </a:endParaRPr>
          </a:p>
        </p:txBody>
      </p:sp>
      <p:cxnSp>
        <p:nvCxnSpPr>
          <p:cNvPr id="29700" name="直接箭头连接符 2"/>
          <p:cNvCxnSpPr/>
          <p:nvPr/>
        </p:nvCxnSpPr>
        <p:spPr>
          <a:xfrm>
            <a:off x="5875338" y="2847975"/>
            <a:ext cx="0" cy="388938"/>
          </a:xfrm>
          <a:prstGeom prst="straightConnector1">
            <a:avLst/>
          </a:prstGeom>
          <a:ln w="9525" cap="flat" cmpd="sng">
            <a:solidFill>
              <a:schemeClr val="tx1"/>
            </a:solidFill>
            <a:prstDash val="solid"/>
            <a:headEnd type="none" w="med" len="med"/>
            <a:tailEnd type="triangle" w="med" len="med"/>
          </a:ln>
        </p:spPr>
      </p:cxnSp>
      <p:cxnSp>
        <p:nvCxnSpPr>
          <p:cNvPr id="29701" name="直接箭头连接符 7"/>
          <p:cNvCxnSpPr/>
          <p:nvPr/>
        </p:nvCxnSpPr>
        <p:spPr>
          <a:xfrm>
            <a:off x="6027738" y="2838450"/>
            <a:ext cx="0" cy="388938"/>
          </a:xfrm>
          <a:prstGeom prst="straightConnector1">
            <a:avLst/>
          </a:prstGeom>
          <a:ln w="9525" cap="flat" cmpd="sng">
            <a:solidFill>
              <a:schemeClr val="tx1"/>
            </a:solidFill>
            <a:prstDash val="solid"/>
            <a:headEnd type="none" w="med" len="med"/>
            <a:tailEnd type="triangle" w="med" len="med"/>
          </a:ln>
        </p:spPr>
      </p:cxnSp>
      <p:cxnSp>
        <p:nvCxnSpPr>
          <p:cNvPr id="29702" name="直接箭头连接符 8"/>
          <p:cNvCxnSpPr/>
          <p:nvPr/>
        </p:nvCxnSpPr>
        <p:spPr>
          <a:xfrm>
            <a:off x="6200775" y="2847975"/>
            <a:ext cx="0" cy="388938"/>
          </a:xfrm>
          <a:prstGeom prst="straightConnector1">
            <a:avLst/>
          </a:prstGeom>
          <a:ln w="9525" cap="flat" cmpd="sng">
            <a:solidFill>
              <a:schemeClr val="tx1"/>
            </a:solidFill>
            <a:prstDash val="solid"/>
            <a:headEnd type="none" w="med" len="med"/>
            <a:tailEnd type="triangle" w="med" len="med"/>
          </a:ln>
        </p:spPr>
      </p:cxnSp>
      <p:cxnSp>
        <p:nvCxnSpPr>
          <p:cNvPr id="29703" name="直接箭头连接符 9"/>
          <p:cNvCxnSpPr/>
          <p:nvPr/>
        </p:nvCxnSpPr>
        <p:spPr>
          <a:xfrm>
            <a:off x="6353175" y="2832100"/>
            <a:ext cx="0" cy="388938"/>
          </a:xfrm>
          <a:prstGeom prst="straightConnector1">
            <a:avLst/>
          </a:prstGeom>
          <a:ln w="9525" cap="flat" cmpd="sng">
            <a:solidFill>
              <a:schemeClr val="tx1"/>
            </a:solidFill>
            <a:prstDash val="solid"/>
            <a:headEnd type="none" w="med" len="med"/>
            <a:tailEnd type="triangle" w="med" len="med"/>
          </a:ln>
        </p:spPr>
      </p:cxnSp>
      <p:cxnSp>
        <p:nvCxnSpPr>
          <p:cNvPr id="29704" name="直接箭头连接符 10"/>
          <p:cNvCxnSpPr/>
          <p:nvPr/>
        </p:nvCxnSpPr>
        <p:spPr>
          <a:xfrm>
            <a:off x="6505575" y="2838450"/>
            <a:ext cx="0" cy="388938"/>
          </a:xfrm>
          <a:prstGeom prst="straightConnector1">
            <a:avLst/>
          </a:prstGeom>
          <a:ln w="9525" cap="flat" cmpd="sng">
            <a:solidFill>
              <a:schemeClr val="tx1"/>
            </a:solidFill>
            <a:prstDash val="solid"/>
            <a:headEnd type="none" w="med" len="med"/>
            <a:tailEnd type="triangle" w="med" len="med"/>
          </a:ln>
        </p:spPr>
      </p:cxnSp>
      <p:cxnSp>
        <p:nvCxnSpPr>
          <p:cNvPr id="29705" name="直接箭头连接符 11"/>
          <p:cNvCxnSpPr/>
          <p:nvPr/>
        </p:nvCxnSpPr>
        <p:spPr>
          <a:xfrm>
            <a:off x="5743575" y="2832100"/>
            <a:ext cx="0" cy="388938"/>
          </a:xfrm>
          <a:prstGeom prst="straightConnector1">
            <a:avLst/>
          </a:prstGeom>
          <a:ln w="9525" cap="flat" cmpd="sng">
            <a:solidFill>
              <a:schemeClr val="tx1"/>
            </a:solidFill>
            <a:prstDash val="solid"/>
            <a:headEnd type="none" w="med" len="med"/>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0" y="0"/>
            <a:ext cx="9144000" cy="822325"/>
          </a:xfrm>
        </p:spPr>
        <p:txBody>
          <a:bodyPr vert="horz" wrap="square" lIns="91440" tIns="45720" rIns="91440" bIns="45720" anchor="ctr" anchorCtr="0"/>
          <a:lstStyle/>
          <a:p>
            <a:pPr eaLnBrk="1" hangingPunct="1"/>
            <a:r>
              <a:rPr lang="en-US" altLang="zh-CN" dirty="0">
                <a:ea typeface="宋体" panose="02010600030101010101" pitchFamily="2" charset="-122"/>
              </a:rPr>
              <a:t>Weak Consistency (7.2.5)</a:t>
            </a:r>
            <a:endParaRPr lang="en-US" altLang="zh-CN" dirty="0">
              <a:ea typeface="宋体" panose="02010600030101010101" pitchFamily="2" charset="-122"/>
            </a:endParaRPr>
          </a:p>
        </p:txBody>
      </p:sp>
      <p:sp>
        <p:nvSpPr>
          <p:cNvPr id="37891" name="Rectangle 3"/>
          <p:cNvSpPr>
            <a:spLocks noGrp="1" noChangeArrowheads="1"/>
          </p:cNvSpPr>
          <p:nvPr>
            <p:ph idx="1"/>
          </p:nvPr>
        </p:nvSpPr>
        <p:spPr>
          <a:xfrm>
            <a:off x="200025" y="1096963"/>
            <a:ext cx="8743950" cy="5170488"/>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FIFO</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要求一个进程的写操作顺序被</a:t>
            </a: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所有进程</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看到，实际应用并非必要。比如：临界区中进程通过循环读写复制数据，只要临界区完成后的结果对进程可见即可。</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Properties (Dubois et al.1986 ):</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Accesses to synchronization variables associated with a data store are sequentially consistent</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a:t>
            </a:r>
            <a:r>
              <a:rPr kumimoji="0" lang="zh-CN" altLang="en-US" sz="18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同步变量</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的访问是</a:t>
            </a:r>
            <a:r>
              <a:rPr kumimoji="0" lang="zh-CN" altLang="en-US" sz="18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顺序一致的</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just"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u"/>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No operation on a synchronization variable is allowed to be performed until all previous writes have been completed everywhere</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（在先前所有的写操作完成之前, 不能访问同步变量）；</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No read or write operation on data items are allowed to be performed until all previous operations to synchronization variables have been performed.</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在先前所有同步变量的访问完成前，不能访问（读或写）数据</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说明了对同步变量操作的约束）。</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Weak Consistency</a:t>
            </a:r>
            <a:endParaRPr lang="en-US" altLang="zh-CN" dirty="0">
              <a:ea typeface="宋体" panose="02010600030101010101" pitchFamily="2" charset="-122"/>
            </a:endParaRPr>
          </a:p>
        </p:txBody>
      </p:sp>
      <p:pic>
        <p:nvPicPr>
          <p:cNvPr id="32771" name="Picture 5"/>
          <p:cNvPicPr>
            <a:picLocks noChangeAspect="1"/>
          </p:cNvPicPr>
          <p:nvPr/>
        </p:nvPicPr>
        <p:blipFill>
          <a:blip r:embed="rId1"/>
          <a:srcRect l="19669" t="47885" r="48958" b="42749"/>
          <a:stretch>
            <a:fillRect/>
          </a:stretch>
        </p:blipFill>
        <p:spPr>
          <a:xfrm>
            <a:off x="1828800" y="952500"/>
            <a:ext cx="5591175" cy="2362200"/>
          </a:xfrm>
          <a:prstGeom prst="rect">
            <a:avLst/>
          </a:prstGeom>
          <a:noFill/>
          <a:ln w="9525">
            <a:noFill/>
          </a:ln>
        </p:spPr>
      </p:pic>
      <p:pic>
        <p:nvPicPr>
          <p:cNvPr id="32772" name="Picture 6"/>
          <p:cNvPicPr>
            <a:picLocks noChangeAspect="1"/>
          </p:cNvPicPr>
          <p:nvPr/>
        </p:nvPicPr>
        <p:blipFill>
          <a:blip r:embed="rId1"/>
          <a:srcRect l="52377" t="47885" r="16890" b="42749"/>
          <a:stretch>
            <a:fillRect/>
          </a:stretch>
        </p:blipFill>
        <p:spPr>
          <a:xfrm>
            <a:off x="1562100" y="3086100"/>
            <a:ext cx="5476875" cy="2362200"/>
          </a:xfrm>
          <a:prstGeom prst="rect">
            <a:avLst/>
          </a:prstGeom>
          <a:noFill/>
          <a:ln w="9525">
            <a:noFill/>
          </a:ln>
        </p:spPr>
      </p:pic>
      <p:sp>
        <p:nvSpPr>
          <p:cNvPr id="32773" name="Rectangle 3"/>
          <p:cNvSpPr>
            <a:spLocks noGrp="1"/>
          </p:cNvSpPr>
          <p:nvPr>
            <p:ph idx="1"/>
          </p:nvPr>
        </p:nvSpPr>
        <p:spPr>
          <a:xfrm>
            <a:off x="939800" y="5334000"/>
            <a:ext cx="7772400" cy="838200"/>
          </a:xfrm>
        </p:spPr>
        <p:txBody>
          <a:bodyPr vert="horz" wrap="square" lIns="91440" tIns="45720" rIns="91440" bIns="45720" anchor="t" anchorCtr="0"/>
          <a:lstStyle/>
          <a:p>
            <a:pPr marL="609600" indent="-609600" algn="l" eaLnBrk="1" hangingPunct="1">
              <a:lnSpc>
                <a:spcPct val="90000"/>
              </a:lnSpc>
              <a:buFontTx/>
              <a:buAutoNum type="alphaLcParenR"/>
            </a:pPr>
            <a:r>
              <a:rPr lang="en-US" altLang="zh-CN" sz="2800" dirty="0">
                <a:ea typeface="宋体" panose="02010600030101010101" pitchFamily="2" charset="-122"/>
              </a:rPr>
              <a:t>A valid sequence of events for weak consistency.</a:t>
            </a:r>
            <a:endParaRPr lang="en-US" altLang="zh-CN" sz="2800" dirty="0">
              <a:ea typeface="宋体" panose="02010600030101010101" pitchFamily="2" charset="-122"/>
            </a:endParaRPr>
          </a:p>
          <a:p>
            <a:pPr marL="609600" indent="-609600" algn="l" eaLnBrk="1" hangingPunct="1">
              <a:lnSpc>
                <a:spcPct val="90000"/>
              </a:lnSpc>
              <a:buFontTx/>
              <a:buAutoNum type="alphaLcParenR"/>
            </a:pPr>
            <a:r>
              <a:rPr lang="en-US" altLang="zh-CN" sz="2800" dirty="0">
                <a:ea typeface="宋体" panose="02010600030101010101" pitchFamily="2" charset="-122"/>
              </a:rPr>
              <a:t>An invalid sequence for weak consistency.</a:t>
            </a:r>
            <a:endParaRPr lang="en-US" altLang="zh-CN" sz="2800" dirty="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Release Consistency (7.2.6)</a:t>
            </a:r>
            <a:endParaRPr lang="en-US" altLang="zh-CN" dirty="0">
              <a:ea typeface="宋体" panose="02010600030101010101" pitchFamily="2" charset="-122"/>
            </a:endParaRPr>
          </a:p>
        </p:txBody>
      </p:sp>
      <p:sp>
        <p:nvSpPr>
          <p:cNvPr id="34819" name="Rectangle 3"/>
          <p:cNvSpPr>
            <a:spLocks noGrp="1"/>
          </p:cNvSpPr>
          <p:nvPr>
            <p:ph idx="1"/>
          </p:nvPr>
        </p:nvSpPr>
        <p:spPr>
          <a:xfrm>
            <a:off x="209550" y="835343"/>
            <a:ext cx="8791575" cy="3159125"/>
          </a:xfrm>
        </p:spPr>
        <p:txBody>
          <a:bodyPr vert="horz" wrap="square" lIns="91440" tIns="45720" rIns="91440" bIns="45720" anchor="t" anchorCtr="0"/>
          <a:lstStyle/>
          <a:p>
            <a:pPr marL="0" indent="0" algn="l" eaLnBrk="1" hangingPunct="1">
              <a:lnSpc>
                <a:spcPct val="150000"/>
              </a:lnSpc>
              <a:buNone/>
            </a:pPr>
            <a:r>
              <a:rPr lang="zh-CN" altLang="en-US" sz="2000" dirty="0">
                <a:latin typeface="宋体" panose="02010600030101010101" pitchFamily="2" charset="-122"/>
                <a:ea typeface="宋体" panose="02010600030101010101" pitchFamily="2" charset="-122"/>
              </a:rPr>
              <a:t>    弱一致性的问题：访问同步变量时，存储器不知道是因为进程已完成共享变量的写操作，还是要开始读共享变量。因此，引入释放一致性（</a:t>
            </a:r>
            <a:r>
              <a:rPr lang="en-US" altLang="zh-CN" sz="2000" dirty="0">
                <a:latin typeface="宋体" panose="02010600030101010101" pitchFamily="2" charset="-122"/>
                <a:ea typeface="宋体" panose="02010600030101010101" pitchFamily="2" charset="-122"/>
              </a:rPr>
              <a:t>Gharachorloo et al.,1990），</a:t>
            </a:r>
            <a:r>
              <a:rPr lang="zh-CN" altLang="en-US" sz="2000" dirty="0">
                <a:latin typeface="宋体" panose="02010600030101010101" pitchFamily="2" charset="-122"/>
                <a:ea typeface="宋体" panose="02010600030101010101" pitchFamily="2" charset="-122"/>
              </a:rPr>
              <a:t>提供两种操作：</a:t>
            </a:r>
            <a:endParaRPr lang="zh-CN" altLang="en-US" sz="2000"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zh-CN" altLang="en-US" sz="2000" dirty="0">
                <a:latin typeface="宋体" panose="02010600030101010101" pitchFamily="2" charset="-122"/>
                <a:ea typeface="宋体" panose="02010600030101010101" pitchFamily="2" charset="-122"/>
              </a:rPr>
              <a:t>获取（</a:t>
            </a:r>
            <a:r>
              <a:rPr lang="en-US" altLang="zh-CN" sz="2000" dirty="0">
                <a:latin typeface="宋体" panose="02010600030101010101" pitchFamily="2" charset="-122"/>
                <a:ea typeface="宋体" panose="02010600030101010101" pitchFamily="2" charset="-122"/>
              </a:rPr>
              <a:t>acquire）——</a:t>
            </a:r>
            <a:r>
              <a:rPr lang="zh-CN" altLang="en-US" sz="2000" dirty="0">
                <a:latin typeface="宋体" panose="02010600030101010101" pitchFamily="2" charset="-122"/>
                <a:ea typeface="宋体" panose="02010600030101010101" pitchFamily="2" charset="-122"/>
              </a:rPr>
              <a:t>访问用于通知存储器系统临界区已就绪。</a:t>
            </a:r>
            <a:endParaRPr lang="zh-CN" altLang="en-US" sz="2000"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zh-CN" altLang="en-US" sz="2000" dirty="0">
                <a:latin typeface="宋体" panose="02010600030101010101" pitchFamily="2" charset="-122"/>
                <a:ea typeface="宋体" panose="02010600030101010101" pitchFamily="2" charset="-122"/>
              </a:rPr>
              <a:t>释放 (</a:t>
            </a:r>
            <a:r>
              <a:rPr lang="en-US" altLang="zh-CN" sz="2000" dirty="0">
                <a:latin typeface="宋体" panose="02010600030101010101" pitchFamily="2" charset="-122"/>
                <a:ea typeface="宋体" panose="02010600030101010101" pitchFamily="2" charset="-122"/>
              </a:rPr>
              <a:t>release)——</a:t>
            </a:r>
            <a:r>
              <a:rPr lang="zh-CN" altLang="en-US" sz="2000" dirty="0">
                <a:latin typeface="宋体" panose="02010600030101010101" pitchFamily="2" charset="-122"/>
                <a:ea typeface="宋体" panose="02010600030101010101" pitchFamily="2" charset="-122"/>
              </a:rPr>
              <a:t>访问表明临界区刚退出。</a:t>
            </a:r>
            <a:endParaRPr lang="zh-CN" altLang="en-US" sz="2000" dirty="0">
              <a:latin typeface="宋体" panose="02010600030101010101" pitchFamily="2" charset="-122"/>
              <a:ea typeface="宋体" panose="02010600030101010101" pitchFamily="2" charset="-122"/>
            </a:endParaRPr>
          </a:p>
          <a:p>
            <a:pPr marL="0" indent="0" algn="l" eaLnBrk="1" hangingPunct="1">
              <a:lnSpc>
                <a:spcPct val="150000"/>
              </a:lnSpc>
              <a:buNone/>
            </a:pPr>
            <a:r>
              <a:rPr lang="zh-CN" altLang="en-US" sz="2000" dirty="0">
                <a:latin typeface="宋体" panose="02010600030101010101" pitchFamily="2" charset="-122"/>
                <a:ea typeface="宋体" panose="02010600030101010101" pitchFamily="2" charset="-122"/>
              </a:rPr>
              <a:t>    程序员需要在程序中编写代码明确说明何时做这些操作。</a:t>
            </a:r>
            <a:endParaRPr lang="zh-CN" altLang="en-US" sz="2000" dirty="0">
              <a:latin typeface="宋体" panose="02010600030101010101" pitchFamily="2" charset="-122"/>
              <a:ea typeface="宋体" panose="02010600030101010101" pitchFamily="2" charset="-122"/>
            </a:endParaRPr>
          </a:p>
          <a:p>
            <a:pPr marL="0" indent="0" algn="l" eaLnBrk="1" hangingPunct="1">
              <a:lnSpc>
                <a:spcPct val="150000"/>
              </a:lnSpc>
              <a:buNone/>
            </a:pPr>
            <a:r>
              <a:rPr lang="zh-CN" altLang="en-US" sz="2000" dirty="0">
                <a:latin typeface="宋体" panose="02010600030101010101" pitchFamily="2" charset="-122"/>
                <a:ea typeface="宋体" panose="02010600030101010101" pitchFamily="2" charset="-122"/>
              </a:rPr>
              <a:t> </a:t>
            </a:r>
            <a:endParaRPr lang="en-US" altLang="zh-CN" sz="2000" dirty="0">
              <a:latin typeface="宋体" panose="02010600030101010101" pitchFamily="2" charset="-122"/>
              <a:ea typeface="宋体" panose="02010600030101010101" pitchFamily="2" charset="-122"/>
            </a:endParaRPr>
          </a:p>
        </p:txBody>
      </p:sp>
      <p:sp>
        <p:nvSpPr>
          <p:cNvPr id="4" name="Rectangle 1027"/>
          <p:cNvSpPr txBox="1">
            <a:spLocks noChangeArrowheads="1"/>
          </p:cNvSpPr>
          <p:nvPr/>
        </p:nvSpPr>
        <p:spPr bwMode="auto">
          <a:xfrm>
            <a:off x="1312863" y="5941695"/>
            <a:ext cx="7016750" cy="45878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valid event sequence  for release consistency.</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34821" name="Picture 1028"/>
          <p:cNvPicPr>
            <a:picLocks noChangeAspect="1"/>
          </p:cNvPicPr>
          <p:nvPr/>
        </p:nvPicPr>
        <p:blipFill>
          <a:blip r:embed="rId1"/>
          <a:srcRect l="27792" t="49245" r="24345" b="43353"/>
          <a:stretch>
            <a:fillRect/>
          </a:stretch>
        </p:blipFill>
        <p:spPr>
          <a:xfrm>
            <a:off x="339725" y="3906203"/>
            <a:ext cx="8529638" cy="2035175"/>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0" y="0"/>
            <a:ext cx="9144000" cy="673100"/>
          </a:xfrm>
        </p:spPr>
        <p:txBody>
          <a:bodyPr vert="horz" wrap="square" lIns="91440" tIns="45720" rIns="91440" bIns="45720" anchor="ctr" anchorCtr="0"/>
          <a:lstStyle/>
          <a:p>
            <a:pPr eaLnBrk="1" hangingPunct="1"/>
            <a:r>
              <a:rPr lang="en-US" altLang="zh-CN" dirty="0">
                <a:ea typeface="宋体" panose="02010600030101010101" pitchFamily="2" charset="-122"/>
              </a:rPr>
              <a:t>Release Consistency</a:t>
            </a:r>
            <a:endParaRPr lang="en-US" altLang="zh-CN" dirty="0">
              <a:ea typeface="宋体" panose="02010600030101010101" pitchFamily="2" charset="-122"/>
            </a:endParaRPr>
          </a:p>
        </p:txBody>
      </p:sp>
      <p:sp>
        <p:nvSpPr>
          <p:cNvPr id="35843" name="Rectangle 3"/>
          <p:cNvSpPr>
            <a:spLocks noGrp="1"/>
          </p:cNvSpPr>
          <p:nvPr>
            <p:ph idx="1"/>
          </p:nvPr>
        </p:nvSpPr>
        <p:spPr>
          <a:xfrm>
            <a:off x="192088" y="763588"/>
            <a:ext cx="8818562" cy="4997450"/>
          </a:xfrm>
        </p:spPr>
        <p:txBody>
          <a:bodyPr vert="horz" wrap="square" lIns="91440" tIns="45720" rIns="91440" bIns="45720" anchor="t" anchorCtr="0"/>
          <a:lstStyle/>
          <a:p>
            <a:pPr algn="l" eaLnBrk="1" hangingPunct="1">
              <a:lnSpc>
                <a:spcPct val="150000"/>
              </a:lnSpc>
              <a:buNone/>
            </a:pPr>
            <a:r>
              <a:rPr lang="en-US" altLang="zh-CN" sz="2000" dirty="0">
                <a:ea typeface="宋体" panose="02010600030101010101" pitchFamily="2" charset="-122"/>
              </a:rPr>
              <a:t>Rules:</a:t>
            </a:r>
            <a:endParaRPr lang="en-US" altLang="zh-CN" sz="2000" dirty="0">
              <a:ea typeface="宋体" panose="02010600030101010101" pitchFamily="2" charset="-122"/>
            </a:endParaRPr>
          </a:p>
          <a:p>
            <a:pPr algn="l" eaLnBrk="1" hangingPunct="1">
              <a:lnSpc>
                <a:spcPct val="150000"/>
              </a:lnSpc>
            </a:pPr>
            <a:r>
              <a:rPr lang="en-US" altLang="zh-CN" sz="2000" dirty="0">
                <a:ea typeface="宋体" panose="02010600030101010101" pitchFamily="2" charset="-122"/>
              </a:rPr>
              <a:t>Before a read or write operation on shared data is performed, all previous acquires done by the process must have completed successfully.</a:t>
            </a:r>
            <a:r>
              <a:rPr lang="zh-CN" altLang="en-US" sz="2000" b="1" dirty="0">
                <a:ea typeface="宋体" panose="02010600030101010101" pitchFamily="2" charset="-122"/>
              </a:rPr>
              <a:t>在访问共享变量前，进程所有先前的获取访问都 必须成功地完成；</a:t>
            </a:r>
            <a:endParaRPr lang="en-US" altLang="zh-CN" sz="2000" dirty="0">
              <a:ea typeface="宋体" panose="02010600030101010101" pitchFamily="2" charset="-122"/>
            </a:endParaRPr>
          </a:p>
          <a:p>
            <a:pPr algn="l" eaLnBrk="1" hangingPunct="1">
              <a:lnSpc>
                <a:spcPct val="150000"/>
              </a:lnSpc>
            </a:pPr>
            <a:r>
              <a:rPr lang="en-US" altLang="zh-CN" sz="2000" dirty="0">
                <a:ea typeface="宋体" panose="02010600030101010101" pitchFamily="2" charset="-122"/>
              </a:rPr>
              <a:t>Before a release is allowed to be performed, all previous reads and writes by the process must have completed</a:t>
            </a:r>
            <a:r>
              <a:rPr lang="zh-CN" altLang="en-US" sz="2000" b="1" dirty="0">
                <a:solidFill>
                  <a:srgbClr val="FF0000"/>
                </a:solidFill>
                <a:ea typeface="宋体" panose="02010600030101010101" pitchFamily="2" charset="-122"/>
              </a:rPr>
              <a:t>在允许释放访问前</a:t>
            </a:r>
            <a:r>
              <a:rPr lang="zh-CN" altLang="en-US" sz="2000" b="1" dirty="0">
                <a:ea typeface="宋体" panose="02010600030101010101" pitchFamily="2" charset="-122"/>
              </a:rPr>
              <a:t>，进程先前的所有读写操作都必须结束；</a:t>
            </a:r>
            <a:endParaRPr lang="zh-CN" altLang="en-US" sz="2000" b="1" dirty="0">
              <a:ea typeface="宋体" panose="02010600030101010101" pitchFamily="2" charset="-122"/>
            </a:endParaRPr>
          </a:p>
          <a:p>
            <a:pPr algn="l" eaLnBrk="1" hangingPunct="1">
              <a:lnSpc>
                <a:spcPct val="150000"/>
              </a:lnSpc>
            </a:pPr>
            <a:r>
              <a:rPr lang="en-US" altLang="zh-CN" sz="2000" dirty="0">
                <a:ea typeface="宋体" panose="02010600030101010101" pitchFamily="2" charset="-122"/>
              </a:rPr>
              <a:t>Accesses to synchronization variables are FIFO consistent (sequential consistency is not required).</a:t>
            </a:r>
            <a:r>
              <a:rPr lang="zh-CN" altLang="en-US" sz="2000" b="1" dirty="0">
                <a:solidFill>
                  <a:srgbClr val="FF0000"/>
                </a:solidFill>
                <a:ea typeface="宋体" panose="02010600030101010101" pitchFamily="2" charset="-122"/>
              </a:rPr>
              <a:t>获取访问和释放访问必须是</a:t>
            </a:r>
            <a:r>
              <a:rPr lang="en-US" altLang="zh-CN" sz="2000" b="1" dirty="0">
                <a:solidFill>
                  <a:srgbClr val="FF0000"/>
                </a:solidFill>
                <a:ea typeface="宋体" panose="02010600030101010101" pitchFamily="2" charset="-122"/>
              </a:rPr>
              <a:t>FIFO</a:t>
            </a:r>
            <a:r>
              <a:rPr lang="zh-CN" altLang="en-US" sz="2000" b="1" dirty="0">
                <a:ea typeface="宋体" panose="02010600030101010101" pitchFamily="2" charset="-122"/>
              </a:rPr>
              <a:t>一致的。</a:t>
            </a:r>
            <a:endParaRPr lang="zh-CN" altLang="en-US" sz="2000" b="1" dirty="0">
              <a:ea typeface="宋体" panose="02010600030101010101" pitchFamily="2" charset="-122"/>
            </a:endParaRPr>
          </a:p>
          <a:p>
            <a:pPr algn="l" eaLnBrk="1" hangingPunct="1">
              <a:lnSpc>
                <a:spcPct val="150000"/>
              </a:lnSpc>
            </a:pPr>
            <a:endParaRPr lang="en-US" altLang="zh-CN" sz="2000" dirty="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0" y="0"/>
            <a:ext cx="9144000" cy="985838"/>
          </a:xfrm>
        </p:spPr>
        <p:txBody>
          <a:bodyPr vert="horz" wrap="square" lIns="91440" tIns="45720" rIns="91440" bIns="45720" anchor="ctr" anchorCtr="0"/>
          <a:lstStyle/>
          <a:p>
            <a:pPr eaLnBrk="1" hangingPunct="1"/>
            <a:r>
              <a:rPr lang="en-US" altLang="zh-CN" dirty="0">
                <a:ea typeface="宋体" panose="02010600030101010101" pitchFamily="2" charset="-122"/>
              </a:rPr>
              <a:t>Release Consistency</a:t>
            </a:r>
            <a:endParaRPr lang="en-US" altLang="zh-CN" dirty="0">
              <a:ea typeface="宋体" panose="02010600030101010101" pitchFamily="2" charset="-122"/>
            </a:endParaRPr>
          </a:p>
        </p:txBody>
      </p:sp>
      <p:sp>
        <p:nvSpPr>
          <p:cNvPr id="36867" name="Rectangle 3"/>
          <p:cNvSpPr>
            <a:spLocks noGrp="1"/>
          </p:cNvSpPr>
          <p:nvPr>
            <p:ph idx="1"/>
          </p:nvPr>
        </p:nvSpPr>
        <p:spPr>
          <a:xfrm>
            <a:off x="304800" y="885825"/>
            <a:ext cx="8705850" cy="1931988"/>
          </a:xfrm>
        </p:spPr>
        <p:txBody>
          <a:bodyPr vert="horz" wrap="square" lIns="91440" tIns="45720" rIns="91440" bIns="45720" anchor="t" anchorCtr="0"/>
          <a:lstStyle/>
          <a:p>
            <a:pPr marL="0" indent="0" algn="l" eaLnBrk="1" hangingPunct="1">
              <a:lnSpc>
                <a:spcPct val="150000"/>
              </a:lnSpc>
              <a:buNone/>
            </a:pPr>
            <a:r>
              <a:rPr lang="zh-CN" altLang="en-US" sz="2000" b="1" dirty="0">
                <a:solidFill>
                  <a:srgbClr val="FF0000"/>
                </a:solidFill>
                <a:ea typeface="宋体" panose="02010600030101010101" pitchFamily="2" charset="-122"/>
              </a:rPr>
              <a:t>在</a:t>
            </a:r>
            <a:r>
              <a:rPr lang="en-US" altLang="zh-CN" sz="2000" b="1" dirty="0">
                <a:solidFill>
                  <a:srgbClr val="FF0000"/>
                </a:solidFill>
                <a:ea typeface="宋体" panose="02010600030101010101" pitchFamily="2" charset="-122"/>
              </a:rPr>
              <a:t>DSM</a:t>
            </a:r>
            <a:r>
              <a:rPr lang="zh-CN" altLang="en-US" sz="2000" b="1" dirty="0">
                <a:solidFill>
                  <a:srgbClr val="FF0000"/>
                </a:solidFill>
                <a:ea typeface="宋体" panose="02010600030101010101" pitchFamily="2" charset="-122"/>
              </a:rPr>
              <a:t>的应用：</a:t>
            </a:r>
            <a:r>
              <a:rPr lang="zh-CN" altLang="en-US" sz="2000" dirty="0">
                <a:ea typeface="宋体" panose="02010600030101010101" pitchFamily="2" charset="-122"/>
              </a:rPr>
              <a:t>进程</a:t>
            </a:r>
            <a:r>
              <a:rPr lang="en-US" altLang="zh-CN" sz="2000" dirty="0">
                <a:ea typeface="宋体" panose="02010600030101010101" pitchFamily="2" charset="-122"/>
              </a:rPr>
              <a:t>A</a:t>
            </a:r>
            <a:r>
              <a:rPr lang="zh-CN" altLang="en-US" sz="2000" dirty="0">
                <a:ea typeface="宋体" panose="02010600030101010101" pitchFamily="2" charset="-122"/>
              </a:rPr>
              <a:t>将</a:t>
            </a:r>
            <a:r>
              <a:rPr lang="en-US" altLang="zh-CN" sz="2000" dirty="0">
                <a:ea typeface="宋体" panose="02010600030101010101" pitchFamily="2" charset="-122"/>
              </a:rPr>
              <a:t>acq</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请求发送给同步管理者，要求在一特殊锁上执行</a:t>
            </a:r>
            <a:r>
              <a:rPr lang="en-US" altLang="zh-CN" sz="2000" dirty="0">
                <a:ea typeface="宋体" panose="02010600030101010101" pitchFamily="2" charset="-122"/>
              </a:rPr>
              <a:t>acq</a:t>
            </a:r>
            <a:r>
              <a:rPr lang="en-US" altLang="zh-CN" sz="2000" dirty="0">
                <a:latin typeface="宋体" panose="02010600030101010101" pitchFamily="2" charset="-122"/>
                <a:ea typeface="宋体" panose="02010600030101010101" pitchFamily="2" charset="-122"/>
              </a:rPr>
              <a:t>()</a:t>
            </a:r>
            <a:r>
              <a:rPr lang="zh-CN" altLang="en-US" sz="2000" dirty="0">
                <a:ea typeface="宋体" panose="02010600030101010101" pitchFamily="2" charset="-122"/>
              </a:rPr>
              <a:t>访问：无竞争时请求获准， 获取访问完成。</a:t>
            </a:r>
            <a:r>
              <a:rPr lang="en-US" altLang="zh-CN" sz="2000" dirty="0">
                <a:ea typeface="宋体" panose="02010600030101010101" pitchFamily="2" charset="-122"/>
              </a:rPr>
              <a:t>A</a:t>
            </a:r>
            <a:r>
              <a:rPr lang="zh-CN" altLang="en-US" sz="2000" dirty="0">
                <a:ea typeface="宋体" panose="02010600030101010101" pitchFamily="2" charset="-122"/>
              </a:rPr>
              <a:t>对共享数据在本地进行读写，不必同步更新副本。</a:t>
            </a:r>
            <a:r>
              <a:rPr lang="zh-CN" altLang="en-US" sz="2000" dirty="0">
                <a:solidFill>
                  <a:srgbClr val="FF0000"/>
                </a:solidFill>
                <a:ea typeface="宋体" panose="02010600030101010101" pitchFamily="2" charset="-122"/>
              </a:rPr>
              <a:t>当执行</a:t>
            </a:r>
            <a:r>
              <a:rPr lang="en-US" altLang="zh-CN" sz="2000" dirty="0">
                <a:solidFill>
                  <a:srgbClr val="FF0000"/>
                </a:solidFill>
                <a:ea typeface="宋体" panose="02010600030101010101" pitchFamily="2" charset="-122"/>
              </a:rPr>
              <a:t>rel()</a:t>
            </a:r>
            <a:r>
              <a:rPr lang="zh-CN" altLang="en-US" sz="2000" dirty="0">
                <a:solidFill>
                  <a:srgbClr val="FF0000"/>
                </a:solidFill>
                <a:ea typeface="宋体" panose="02010600030101010101" pitchFamily="2" charset="-122"/>
              </a:rPr>
              <a:t>时，同步更新副本完成后</a:t>
            </a:r>
            <a:r>
              <a:rPr lang="zh-CN" altLang="en-US" sz="2000" dirty="0">
                <a:ea typeface="宋体" panose="02010600030101010101" pitchFamily="2" charset="-122"/>
              </a:rPr>
              <a:t>，同步管理者被告知可以执行释放了。</a:t>
            </a:r>
            <a:endParaRPr lang="en-US" altLang="zh-CN" sz="2000" dirty="0">
              <a:ea typeface="宋体" panose="02010600030101010101" pitchFamily="2" charset="-122"/>
            </a:endParaRPr>
          </a:p>
        </p:txBody>
      </p:sp>
      <p:pic>
        <p:nvPicPr>
          <p:cNvPr id="36868" name="图片 6" descr="DSM弱一致性应用.JPG"/>
          <p:cNvPicPr>
            <a:picLocks noChangeAspect="1"/>
          </p:cNvPicPr>
          <p:nvPr/>
        </p:nvPicPr>
        <p:blipFill>
          <a:blip r:embed="rId1"/>
          <a:stretch>
            <a:fillRect/>
          </a:stretch>
        </p:blipFill>
        <p:spPr>
          <a:xfrm>
            <a:off x="771525" y="2932113"/>
            <a:ext cx="7988300" cy="336867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xfrm>
            <a:off x="0" y="0"/>
            <a:ext cx="9144000" cy="473075"/>
          </a:xfrm>
        </p:spPr>
        <p:txBody>
          <a:bodyPr vert="horz" wrap="square" lIns="91440" tIns="45720" rIns="91440" bIns="45720" anchor="ctr" anchorCtr="0"/>
          <a:lstStyle/>
          <a:p>
            <a:pPr eaLnBrk="1" hangingPunct="1"/>
            <a:r>
              <a:rPr lang="en-US" altLang="zh-CN" dirty="0">
                <a:ea typeface="宋体" panose="02010600030101010101" pitchFamily="2" charset="-122"/>
              </a:rPr>
              <a:t>Entry Consistency (7.2.7)</a:t>
            </a:r>
            <a:endParaRPr lang="en-US" altLang="zh-CN" dirty="0">
              <a:ea typeface="宋体" panose="02010600030101010101" pitchFamily="2" charset="-122"/>
            </a:endParaRPr>
          </a:p>
        </p:txBody>
      </p:sp>
      <p:sp>
        <p:nvSpPr>
          <p:cNvPr id="37891" name="Rectangle 3"/>
          <p:cNvSpPr>
            <a:spLocks noGrp="1"/>
          </p:cNvSpPr>
          <p:nvPr>
            <p:ph idx="1"/>
          </p:nvPr>
        </p:nvSpPr>
        <p:spPr>
          <a:xfrm>
            <a:off x="58738" y="584200"/>
            <a:ext cx="8982075" cy="3014663"/>
          </a:xfrm>
        </p:spPr>
        <p:txBody>
          <a:bodyPr vert="horz" wrap="square" lIns="91440" tIns="45720" rIns="91440" bIns="45720" anchor="t" anchorCtr="0"/>
          <a:lstStyle/>
          <a:p>
            <a:pPr algn="l" eaLnBrk="1" hangingPunct="1">
              <a:buNone/>
            </a:pPr>
            <a:r>
              <a:rPr lang="en-US" altLang="zh-CN" sz="1800" dirty="0">
                <a:ea typeface="宋体" panose="02010600030101010101" pitchFamily="2" charset="-122"/>
              </a:rPr>
              <a:t>Conditions:</a:t>
            </a:r>
            <a:endParaRPr lang="en-US" altLang="zh-CN" sz="1800" dirty="0">
              <a:ea typeface="宋体" panose="02010600030101010101" pitchFamily="2" charset="-122"/>
            </a:endParaRPr>
          </a:p>
          <a:p>
            <a:pPr algn="l" eaLnBrk="1" hangingPunct="1">
              <a:buFont typeface="Wingdings" panose="05000000000000000000" pitchFamily="2" charset="2"/>
              <a:buChar char="u"/>
            </a:pPr>
            <a:r>
              <a:rPr lang="en-US" altLang="zh-CN" sz="1800" dirty="0">
                <a:ea typeface="宋体" panose="02010600030101010101" pitchFamily="2" charset="-122"/>
              </a:rPr>
              <a:t>An acquire access of a synchronization variable is not allowed to perform with respect to a process until all updates to the guarded shared data have been performed with respect to that process.</a:t>
            </a:r>
            <a:endParaRPr lang="en-US" altLang="zh-CN" sz="1800" dirty="0">
              <a:ea typeface="宋体" panose="02010600030101010101" pitchFamily="2" charset="-122"/>
            </a:endParaRPr>
          </a:p>
          <a:p>
            <a:pPr algn="l" eaLnBrk="1" hangingPunct="1">
              <a:buFont typeface="Wingdings" panose="05000000000000000000" pitchFamily="2" charset="2"/>
              <a:buChar char="u"/>
            </a:pPr>
            <a:r>
              <a:rPr lang="en-US" altLang="zh-CN" sz="1800" dirty="0">
                <a:ea typeface="宋体" panose="02010600030101010101" pitchFamily="2" charset="-122"/>
              </a:rPr>
              <a:t>Before an exclusive mode access to a synchronization variable by a process is allowed to perform with respect to that process, no other process may hold the synchronization variable, not even in nonexclusive mode.</a:t>
            </a:r>
            <a:endParaRPr lang="en-US" altLang="zh-CN" sz="1800" dirty="0">
              <a:ea typeface="宋体" panose="02010600030101010101" pitchFamily="2" charset="-122"/>
            </a:endParaRPr>
          </a:p>
          <a:p>
            <a:pPr algn="l" eaLnBrk="1" hangingPunct="1">
              <a:buFont typeface="Wingdings" panose="05000000000000000000" pitchFamily="2" charset="2"/>
              <a:buChar char="u"/>
            </a:pPr>
            <a:r>
              <a:rPr lang="en-US" altLang="zh-CN" sz="1800" dirty="0">
                <a:ea typeface="宋体" panose="02010600030101010101" pitchFamily="2" charset="-122"/>
              </a:rPr>
              <a:t>After an exclusive mode access to a synchronization variable has been performed, any other process's next nonexclusive mode access to that synchronization variable may not be performed until it has performed with respect to that variable's owner. </a:t>
            </a:r>
            <a:endParaRPr lang="en-US" altLang="zh-CN" sz="1800" dirty="0">
              <a:ea typeface="宋体" panose="02010600030101010101" pitchFamily="2" charset="-122"/>
            </a:endParaRPr>
          </a:p>
        </p:txBody>
      </p:sp>
      <p:sp>
        <p:nvSpPr>
          <p:cNvPr id="4" name="Rectangle 3"/>
          <p:cNvSpPr txBox="1">
            <a:spLocks noChangeArrowheads="1"/>
          </p:cNvSpPr>
          <p:nvPr/>
        </p:nvSpPr>
        <p:spPr bwMode="auto">
          <a:xfrm>
            <a:off x="393700" y="5040313"/>
            <a:ext cx="8356600" cy="16287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a:t>
            </a:r>
            <a:r>
              <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当一进程的保护共享变量全部被更新以后，该进程才允许执行同步变量的获取访问；</a:t>
            </a:r>
            <a:endPar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2．在一进程以互斥模式访问该进程的同步变量之前，不允许其它进程持有此同步变量 ；</a:t>
            </a:r>
            <a:endPar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3．在结束互斥模式下对一个同步变量的访问后，任意其它进程必须与该变量的拥有者核查，才能试图以非互斥模式访问该同步变量。</a:t>
            </a:r>
            <a:endPar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37893" name="Picture 5"/>
          <p:cNvPicPr>
            <a:picLocks noChangeAspect="1"/>
          </p:cNvPicPr>
          <p:nvPr/>
        </p:nvPicPr>
        <p:blipFill>
          <a:blip r:embed="rId1"/>
          <a:srcRect l="28220" t="49396" r="23250" b="43958"/>
          <a:stretch>
            <a:fillRect/>
          </a:stretch>
        </p:blipFill>
        <p:spPr>
          <a:xfrm>
            <a:off x="393700" y="3562350"/>
            <a:ext cx="7964488" cy="1341438"/>
          </a:xfrm>
          <a:prstGeom prst="rect">
            <a:avLst/>
          </a:prstGeom>
          <a:noFill/>
          <a:ln w="9525">
            <a:noFill/>
          </a:ln>
        </p:spPr>
      </p:pic>
      <p:sp>
        <p:nvSpPr>
          <p:cNvPr id="6" name="Rectangle 3"/>
          <p:cNvSpPr txBox="1">
            <a:spLocks noChangeArrowheads="1"/>
          </p:cNvSpPr>
          <p:nvPr/>
        </p:nvSpPr>
        <p:spPr bwMode="auto">
          <a:xfrm>
            <a:off x="909638" y="4575175"/>
            <a:ext cx="5062538" cy="3968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valid event sequence for entry consistency.</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3" name="图片 2"/>
          <p:cNvPicPr>
            <a:picLocks noChangeAspect="1"/>
          </p:cNvPicPr>
          <p:nvPr/>
        </p:nvPicPr>
        <p:blipFill>
          <a:blip r:embed="rId2"/>
          <a:stretch>
            <a:fillRect/>
          </a:stretch>
        </p:blipFill>
        <p:spPr>
          <a:xfrm>
            <a:off x="393700" y="5040630"/>
            <a:ext cx="8356600" cy="16281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Summary of Consistency Models</a:t>
            </a:r>
            <a:endParaRPr lang="en-US" altLang="zh-CN" dirty="0">
              <a:ea typeface="宋体" panose="02010600030101010101" pitchFamily="2" charset="-122"/>
            </a:endParaRPr>
          </a:p>
        </p:txBody>
      </p:sp>
      <p:sp>
        <p:nvSpPr>
          <p:cNvPr id="38915" name="Rectangle 3"/>
          <p:cNvSpPr>
            <a:spLocks noGrp="1"/>
          </p:cNvSpPr>
          <p:nvPr>
            <p:ph idx="1"/>
          </p:nvPr>
        </p:nvSpPr>
        <p:spPr>
          <a:xfrm>
            <a:off x="439738" y="5865813"/>
            <a:ext cx="8321675" cy="838200"/>
          </a:xfrm>
        </p:spPr>
        <p:txBody>
          <a:bodyPr vert="horz" wrap="square" lIns="91440" tIns="45720" rIns="91440" bIns="45720" anchor="t" anchorCtr="0"/>
          <a:lstStyle/>
          <a:p>
            <a:pPr marL="609600" indent="-609600" algn="l" eaLnBrk="1" hangingPunct="1">
              <a:buFontTx/>
              <a:buAutoNum type="alphaLcParenR"/>
            </a:pPr>
            <a:r>
              <a:rPr lang="en-US" altLang="zh-CN" sz="2000" dirty="0">
                <a:ea typeface="宋体" panose="02010600030101010101" pitchFamily="2" charset="-122"/>
              </a:rPr>
              <a:t>Consistency models not using synchronization operations.</a:t>
            </a:r>
            <a:endParaRPr lang="en-US" altLang="zh-CN" sz="2000" dirty="0">
              <a:ea typeface="宋体" panose="02010600030101010101" pitchFamily="2" charset="-122"/>
            </a:endParaRPr>
          </a:p>
          <a:p>
            <a:pPr marL="609600" indent="-609600" algn="l" eaLnBrk="1" hangingPunct="1">
              <a:buFontTx/>
              <a:buAutoNum type="alphaLcParenR"/>
            </a:pPr>
            <a:r>
              <a:rPr lang="en-US" altLang="zh-CN" sz="2000" dirty="0">
                <a:ea typeface="宋体" panose="02010600030101010101" pitchFamily="2" charset="-122"/>
              </a:rPr>
              <a:t>Models with synchronization operations.</a:t>
            </a:r>
            <a:endParaRPr lang="en-US" altLang="zh-CN" sz="2000" dirty="0">
              <a:ea typeface="宋体" panose="02010600030101010101" pitchFamily="2" charset="-122"/>
            </a:endParaRPr>
          </a:p>
        </p:txBody>
      </p:sp>
      <p:graphicFrame>
        <p:nvGraphicFramePr>
          <p:cNvPr id="70660" name="Group 4"/>
          <p:cNvGraphicFramePr>
            <a:graphicFrameLocks noGrp="1"/>
          </p:cNvGraphicFramePr>
          <p:nvPr/>
        </p:nvGraphicFramePr>
        <p:xfrm>
          <a:off x="190500" y="868363"/>
          <a:ext cx="8591550" cy="5048254"/>
        </p:xfrm>
        <a:graphic>
          <a:graphicData uri="http://schemas.openxmlformats.org/drawingml/2006/table">
            <a:tbl>
              <a:tblPr/>
              <a:tblGrid>
                <a:gridCol w="1474788"/>
                <a:gridCol w="7116762"/>
              </a:tblGrid>
              <a:tr h="3381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Consistency</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Description</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Strict</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Absolute time ordering of all shared accesses matters.</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Linearizability</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All processes must see all shared accesses in the same order.  Accesses are furthermore ordered according to a (nonunique) global timestamp</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Sequential</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All processes see all shared accesses in the same order.  Accesses are not ordered in time</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Causal</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All processes see causally-related shared accesses in the same order.</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FIFO</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All processes see writes from each other in the order they were used.  Writes from different processes may not always be seen in that order</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Consistency</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Description</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78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Weak</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Shared data can be counted on to be consistent only after a synchronization is done</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Release</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Shared data are made consistent when a critical region is exited</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Entry</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Shared data pertaining to a critical region are made consistent when a critical region is entered.</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a:t>
                      </a:r>
                      <a:endPar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0" y="0"/>
            <a:ext cx="9144000" cy="623888"/>
          </a:xfrm>
        </p:spPr>
        <p:txBody>
          <a:bodyPr vert="horz" wrap="square" lIns="91440" tIns="45720" rIns="91440" bIns="45720" anchor="ctr" anchorCtr="0"/>
          <a:lstStyle/>
          <a:p>
            <a:pPr eaLnBrk="1" hangingPunct="1"/>
            <a:r>
              <a:rPr lang="en-US" altLang="zh-CN" dirty="0">
                <a:ea typeface="宋体" panose="02010600030101010101" pitchFamily="2" charset="-122"/>
              </a:rPr>
              <a:t>Client-Centric Consistency Models(7.3)</a:t>
            </a:r>
            <a:endParaRPr lang="en-US" altLang="zh-CN" dirty="0">
              <a:ea typeface="宋体" panose="02010600030101010101" pitchFamily="2" charset="-122"/>
            </a:endParaRPr>
          </a:p>
        </p:txBody>
      </p:sp>
      <p:sp>
        <p:nvSpPr>
          <p:cNvPr id="39939" name="Rectangle 3"/>
          <p:cNvSpPr>
            <a:spLocks noGrp="1"/>
          </p:cNvSpPr>
          <p:nvPr>
            <p:ph idx="1"/>
          </p:nvPr>
        </p:nvSpPr>
        <p:spPr>
          <a:xfrm>
            <a:off x="157163" y="682625"/>
            <a:ext cx="8829675" cy="1103313"/>
          </a:xfrm>
        </p:spPr>
        <p:txBody>
          <a:bodyPr vert="horz" wrap="square" lIns="91440" tIns="45720" rIns="91440" bIns="45720" anchor="t" anchorCtr="0"/>
          <a:lstStyle/>
          <a:p>
            <a:pPr marL="0" indent="0" algn="l" eaLnBrk="1" hangingPunct="1">
              <a:buNone/>
            </a:pPr>
            <a:r>
              <a:rPr lang="en-US" altLang="zh-CN" sz="2000" dirty="0">
                <a:ea typeface="宋体" panose="02010600030101010101" pitchFamily="2" charset="-122"/>
              </a:rPr>
              <a:t>Client-centric consistency provides guarantees for </a:t>
            </a:r>
            <a:r>
              <a:rPr lang="en-US" altLang="zh-CN" sz="2000" b="1" dirty="0">
                <a:solidFill>
                  <a:srgbClr val="0070C0"/>
                </a:solidFill>
                <a:ea typeface="宋体" panose="02010600030101010101" pitchFamily="2" charset="-122"/>
              </a:rPr>
              <a:t>a single client </a:t>
            </a:r>
            <a:r>
              <a:rPr lang="en-US" altLang="zh-CN" sz="2000" dirty="0">
                <a:ea typeface="宋体" panose="02010600030101010101" pitchFamily="2" charset="-122"/>
              </a:rPr>
              <a:t>concerning the consistency of accesses to a data store </a:t>
            </a:r>
            <a:r>
              <a:rPr lang="en-US" altLang="zh-CN" sz="2000" b="1" dirty="0">
                <a:solidFill>
                  <a:srgbClr val="0070C0"/>
                </a:solidFill>
                <a:ea typeface="宋体" panose="02010600030101010101" pitchFamily="2" charset="-122"/>
              </a:rPr>
              <a:t>by that client</a:t>
            </a:r>
            <a:r>
              <a:rPr lang="en-US" altLang="zh-CN" sz="2000" dirty="0">
                <a:ea typeface="宋体" panose="02010600030101010101" pitchFamily="2" charset="-122"/>
              </a:rPr>
              <a:t>. No guarantees are given concerning concurrent accesses by different clients(No simultaneous updates)</a:t>
            </a:r>
            <a:endParaRPr lang="en-US" altLang="zh-CN" sz="2000" dirty="0">
              <a:ea typeface="宋体" panose="02010600030101010101" pitchFamily="2" charset="-122"/>
            </a:endParaRPr>
          </a:p>
        </p:txBody>
      </p:sp>
      <p:sp>
        <p:nvSpPr>
          <p:cNvPr id="5" name="Rectangle 3"/>
          <p:cNvSpPr txBox="1">
            <a:spLocks noChangeArrowheads="1"/>
          </p:cNvSpPr>
          <p:nvPr/>
        </p:nvSpPr>
        <p:spPr bwMode="auto">
          <a:xfrm>
            <a:off x="441325" y="6384925"/>
            <a:ext cx="7962900" cy="3905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principle of a mobile user accessing different replicas of a distributed database.</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39941" name="Picture 4"/>
          <p:cNvPicPr>
            <a:picLocks noChangeAspect="1"/>
          </p:cNvPicPr>
          <p:nvPr/>
        </p:nvPicPr>
        <p:blipFill>
          <a:blip r:embed="rId1"/>
          <a:srcRect l="21593" t="39577" r="19455" b="34138"/>
          <a:stretch>
            <a:fillRect/>
          </a:stretch>
        </p:blipFill>
        <p:spPr>
          <a:xfrm>
            <a:off x="796925" y="1785938"/>
            <a:ext cx="7399338" cy="457517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Eventual Consistency (7.3.1)</a:t>
            </a:r>
            <a:endParaRPr lang="en-US" altLang="zh-CN" dirty="0">
              <a:ea typeface="宋体" panose="02010600030101010101" pitchFamily="2" charset="-122"/>
            </a:endParaRPr>
          </a:p>
        </p:txBody>
      </p:sp>
      <p:sp>
        <p:nvSpPr>
          <p:cNvPr id="40963" name="Rectangle 3"/>
          <p:cNvSpPr>
            <a:spLocks noGrp="1"/>
          </p:cNvSpPr>
          <p:nvPr>
            <p:ph idx="1"/>
          </p:nvPr>
        </p:nvSpPr>
        <p:spPr>
          <a:xfrm>
            <a:off x="549275" y="1230313"/>
            <a:ext cx="8045450" cy="4587875"/>
          </a:xfrm>
        </p:spPr>
        <p:txBody>
          <a:bodyPr vert="horz" wrap="square" lIns="91440" tIns="45720" rIns="91440" bIns="45720" anchor="t" anchorCtr="0"/>
          <a:lstStyle/>
          <a:p>
            <a:pPr marL="0" indent="0" algn="l" eaLnBrk="1" hangingPunct="1">
              <a:lnSpc>
                <a:spcPct val="150000"/>
              </a:lnSpc>
              <a:buNone/>
            </a:pPr>
            <a:r>
              <a:rPr lang="en-US" altLang="zh-CN" sz="2800" dirty="0">
                <a:ea typeface="宋体" panose="02010600030101010101" pitchFamily="2" charset="-122"/>
              </a:rPr>
              <a:t>There are many cases of (large-scale) distributed and replicated databases that tolerate a relatively high degree of inconsistency. They have in common that if no updates take place for a long  time, all replicas will gradually become consistent.---</a:t>
            </a:r>
            <a:r>
              <a:rPr lang="en-US" altLang="zh-CN" sz="2800" dirty="0">
                <a:solidFill>
                  <a:srgbClr val="FF3300"/>
                </a:solidFill>
                <a:ea typeface="宋体" panose="02010600030101010101" pitchFamily="2" charset="-122"/>
              </a:rPr>
              <a:t>eventual consistency</a:t>
            </a:r>
            <a:r>
              <a:rPr lang="en-US" altLang="zh-CN" sz="2800" dirty="0">
                <a:ea typeface="宋体" panose="02010600030101010101" pitchFamily="2" charset="-122"/>
              </a:rPr>
              <a:t>.</a:t>
            </a:r>
            <a:endParaRPr lang="en-US" altLang="zh-CN" sz="2800" dirty="0">
              <a:ea typeface="宋体" panose="02010600030101010101" pitchFamily="2" charset="-122"/>
            </a:endParaRPr>
          </a:p>
          <a:p>
            <a:pPr marL="0" indent="0" algn="l" eaLnBrk="1" hangingPunct="1">
              <a:lnSpc>
                <a:spcPct val="150000"/>
              </a:lnSpc>
              <a:buNone/>
            </a:pPr>
            <a:r>
              <a:rPr lang="en-US" altLang="zh-CN" sz="2800" dirty="0">
                <a:ea typeface="宋体" panose="02010600030101010101" pitchFamily="2" charset="-122"/>
              </a:rPr>
              <a:t>      For example, DNS, WWW, etc.</a:t>
            </a:r>
            <a:endParaRPr lang="en-US" altLang="zh-CN" sz="2800" dirty="0">
              <a:ea typeface="宋体" panose="02010600030101010101" pitchFamily="2" charset="-122"/>
            </a:endParaRPr>
          </a:p>
          <a:p>
            <a:pPr marL="0" indent="0" algn="l" eaLnBrk="1" hangingPunct="1">
              <a:lnSpc>
                <a:spcPct val="150000"/>
              </a:lnSpc>
              <a:buNone/>
            </a:pPr>
            <a:endParaRPr lang="zh-CN" altLang="en-US" sz="2800" dirty="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Monotonic-Read Consistency(7.3.2)</a:t>
            </a:r>
            <a:endParaRPr lang="en-US" altLang="zh-CN" dirty="0">
              <a:ea typeface="宋体" panose="02010600030101010101" pitchFamily="2" charset="-122"/>
            </a:endParaRPr>
          </a:p>
        </p:txBody>
      </p:sp>
      <p:sp>
        <p:nvSpPr>
          <p:cNvPr id="41987" name="Rectangle 3"/>
          <p:cNvSpPr>
            <a:spLocks noGrp="1"/>
          </p:cNvSpPr>
          <p:nvPr>
            <p:ph idx="1"/>
          </p:nvPr>
        </p:nvSpPr>
        <p:spPr>
          <a:xfrm>
            <a:off x="706438" y="1274763"/>
            <a:ext cx="7710487" cy="4827587"/>
          </a:xfrm>
        </p:spPr>
        <p:txBody>
          <a:bodyPr vert="horz" wrap="square" lIns="91440" tIns="45720" rIns="91440" bIns="45720" anchor="t" anchorCtr="0"/>
          <a:lstStyle/>
          <a:p>
            <a:pPr marL="0" indent="0" algn="l" eaLnBrk="1" hangingPunct="1">
              <a:lnSpc>
                <a:spcPct val="130000"/>
              </a:lnSpc>
              <a:buNone/>
            </a:pPr>
            <a:r>
              <a:rPr lang="en-US" altLang="zh-CN" sz="2800" u="sng" dirty="0">
                <a:ea typeface="宋体" panose="02010600030101010101" pitchFamily="2" charset="-122"/>
              </a:rPr>
              <a:t>Condition:</a:t>
            </a:r>
            <a:endParaRPr lang="en-US" altLang="zh-CN" sz="2800" u="sng" dirty="0">
              <a:ea typeface="宋体" panose="02010600030101010101" pitchFamily="2" charset="-122"/>
            </a:endParaRPr>
          </a:p>
          <a:p>
            <a:pPr marL="0" indent="0" algn="l" eaLnBrk="1" hangingPunct="1">
              <a:lnSpc>
                <a:spcPct val="130000"/>
              </a:lnSpc>
              <a:buNone/>
            </a:pPr>
            <a:r>
              <a:rPr lang="en-US" altLang="zh-CN" sz="2800" i="1" dirty="0">
                <a:ea typeface="宋体" panose="02010600030101010101" pitchFamily="2" charset="-122"/>
              </a:rPr>
              <a:t>         </a:t>
            </a:r>
            <a:r>
              <a:rPr lang="en-US" altLang="zh-CN" sz="2800" b="1" i="1" dirty="0">
                <a:ea typeface="宋体" panose="02010600030101010101" pitchFamily="2" charset="-122"/>
              </a:rPr>
              <a:t>If </a:t>
            </a:r>
            <a:r>
              <a:rPr lang="en-US" altLang="zh-CN" sz="2800" b="1" i="1" dirty="0">
                <a:solidFill>
                  <a:srgbClr val="FF3300"/>
                </a:solidFill>
                <a:ea typeface="宋体" panose="02010600030101010101" pitchFamily="2" charset="-122"/>
              </a:rPr>
              <a:t>a process</a:t>
            </a:r>
            <a:r>
              <a:rPr lang="en-US" altLang="zh-CN" sz="2800" b="1" i="1" dirty="0">
                <a:ea typeface="宋体" panose="02010600030101010101" pitchFamily="2" charset="-122"/>
              </a:rPr>
              <a:t> reads the value of a data item x, any successive read operation on x </a:t>
            </a:r>
            <a:r>
              <a:rPr lang="en-US" altLang="zh-CN" sz="2800" b="1" i="1" dirty="0">
                <a:solidFill>
                  <a:srgbClr val="FF3300"/>
                </a:solidFill>
                <a:ea typeface="宋体" panose="02010600030101010101" pitchFamily="2" charset="-122"/>
              </a:rPr>
              <a:t>by that process</a:t>
            </a:r>
            <a:r>
              <a:rPr lang="en-US" altLang="zh-CN" sz="2800" b="1" i="1" dirty="0">
                <a:ea typeface="宋体" panose="02010600030101010101" pitchFamily="2" charset="-122"/>
              </a:rPr>
              <a:t> will always return that same value or a more recent value.</a:t>
            </a:r>
            <a:endParaRPr lang="en-US" altLang="zh-CN" sz="2800" b="1" i="1" dirty="0">
              <a:ea typeface="宋体" panose="02010600030101010101" pitchFamily="2" charset="-122"/>
            </a:endParaRPr>
          </a:p>
          <a:p>
            <a:pPr marL="0" indent="0" algn="l" eaLnBrk="1" hangingPunct="1">
              <a:lnSpc>
                <a:spcPct val="130000"/>
              </a:lnSpc>
              <a:buNone/>
            </a:pPr>
            <a:r>
              <a:rPr lang="en-US" altLang="zh-CN" sz="2800" i="1" dirty="0">
                <a:ea typeface="宋体" panose="02010600030101010101" pitchFamily="2" charset="-122"/>
              </a:rPr>
              <a:t>       </a:t>
            </a:r>
            <a:r>
              <a:rPr lang="en-US" altLang="zh-CN" sz="2800" dirty="0">
                <a:ea typeface="宋体" panose="02010600030101010101" pitchFamily="2" charset="-122"/>
              </a:rPr>
              <a:t>(to guarantee that if a process has seen a value of x at time t, it will never see an older version of x at a later time).</a:t>
            </a:r>
            <a:endParaRPr lang="en-US" altLang="zh-CN" sz="2800" dirty="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2030413" y="222250"/>
            <a:ext cx="4986337" cy="639763"/>
          </a:xfrm>
        </p:spPr>
        <p:txBody>
          <a:bodyPr vert="horz" wrap="square" lIns="91440" tIns="45720" rIns="91440" bIns="45720" anchor="ctr" anchorCtr="0"/>
          <a:lstStyle/>
          <a:p>
            <a:pPr eaLnBrk="1" hangingPunct="1"/>
            <a:r>
              <a:rPr lang="en-US" altLang="zh-CN" dirty="0">
                <a:ea typeface="宋体" panose="02010600030101010101" pitchFamily="2" charset="-122"/>
              </a:rPr>
              <a:t>Monotonic Reads</a:t>
            </a:r>
            <a:endParaRPr lang="en-US" altLang="zh-CN" dirty="0">
              <a:ea typeface="宋体" panose="02010600030101010101" pitchFamily="2" charset="-122"/>
            </a:endParaRPr>
          </a:p>
        </p:txBody>
      </p:sp>
      <p:sp>
        <p:nvSpPr>
          <p:cNvPr id="43011" name="Rectangle 3"/>
          <p:cNvSpPr>
            <a:spLocks noGrp="1"/>
          </p:cNvSpPr>
          <p:nvPr>
            <p:ph idx="1"/>
          </p:nvPr>
        </p:nvSpPr>
        <p:spPr>
          <a:xfrm>
            <a:off x="922338" y="4275138"/>
            <a:ext cx="7645400" cy="1411287"/>
          </a:xfrm>
        </p:spPr>
        <p:txBody>
          <a:bodyPr vert="horz" wrap="square" lIns="91440" tIns="45720" rIns="91440" bIns="45720" anchor="t" anchorCtr="0"/>
          <a:lstStyle/>
          <a:p>
            <a:pPr marL="533400" indent="-533400" algn="l" eaLnBrk="1" hangingPunct="1">
              <a:buNone/>
            </a:pPr>
            <a:r>
              <a:rPr lang="en-US" altLang="zh-CN" sz="2000" dirty="0">
                <a:ea typeface="宋体" panose="02010600030101010101" pitchFamily="2" charset="-122"/>
              </a:rPr>
              <a:t>The read operations performed by </a:t>
            </a:r>
            <a:r>
              <a:rPr lang="en-US" altLang="zh-CN" sz="2000" dirty="0">
                <a:solidFill>
                  <a:srgbClr val="FF3300"/>
                </a:solidFill>
                <a:ea typeface="宋体" panose="02010600030101010101" pitchFamily="2" charset="-122"/>
              </a:rPr>
              <a:t>a single process </a:t>
            </a:r>
            <a:r>
              <a:rPr lang="en-US" altLang="zh-CN" sz="2000" i="1" dirty="0">
                <a:solidFill>
                  <a:srgbClr val="FF3300"/>
                </a:solidFill>
                <a:ea typeface="宋体" panose="02010600030101010101" pitchFamily="2" charset="-122"/>
              </a:rPr>
              <a:t>P</a:t>
            </a:r>
            <a:r>
              <a:rPr lang="en-US" altLang="zh-CN" sz="2000" dirty="0">
                <a:ea typeface="宋体" panose="02010600030101010101" pitchFamily="2" charset="-122"/>
              </a:rPr>
              <a:t> at two different local copies of the same data store.</a:t>
            </a:r>
            <a:endParaRPr lang="en-US" altLang="zh-CN" sz="2000" dirty="0">
              <a:ea typeface="宋体" panose="02010600030101010101" pitchFamily="2" charset="-122"/>
            </a:endParaRPr>
          </a:p>
          <a:p>
            <a:pPr marL="533400" indent="-533400" algn="l" eaLnBrk="1" hangingPunct="1">
              <a:buFontTx/>
              <a:buAutoNum type="alphaLcParenR"/>
            </a:pPr>
            <a:r>
              <a:rPr lang="en-US" altLang="zh-CN" sz="2000" dirty="0">
                <a:ea typeface="宋体" panose="02010600030101010101" pitchFamily="2" charset="-122"/>
              </a:rPr>
              <a:t>A monotonic-read consistent data store;</a:t>
            </a:r>
            <a:endParaRPr lang="en-US" altLang="zh-CN" sz="2000" dirty="0">
              <a:ea typeface="宋体" panose="02010600030101010101" pitchFamily="2" charset="-122"/>
            </a:endParaRPr>
          </a:p>
          <a:p>
            <a:pPr marL="533400" indent="-533400" algn="l" eaLnBrk="1" hangingPunct="1">
              <a:buFontTx/>
              <a:buAutoNum type="alphaLcParenR"/>
            </a:pPr>
            <a:r>
              <a:rPr lang="en-US" altLang="zh-CN" sz="2000" dirty="0">
                <a:ea typeface="宋体" panose="02010600030101010101" pitchFamily="2" charset="-122"/>
              </a:rPr>
              <a:t>A data store that does not provide monotonic reads;</a:t>
            </a:r>
            <a:endParaRPr lang="en-US" altLang="zh-CN" sz="2000" dirty="0">
              <a:ea typeface="宋体" panose="02010600030101010101" pitchFamily="2" charset="-122"/>
            </a:endParaRPr>
          </a:p>
        </p:txBody>
      </p:sp>
      <p:pic>
        <p:nvPicPr>
          <p:cNvPr id="43012" name="Picture 4"/>
          <p:cNvPicPr>
            <a:picLocks noChangeAspect="1"/>
          </p:cNvPicPr>
          <p:nvPr/>
        </p:nvPicPr>
        <p:blipFill>
          <a:blip r:embed="rId1"/>
          <a:srcRect l="20738" t="48187" r="53233" b="44109"/>
          <a:stretch>
            <a:fillRect/>
          </a:stretch>
        </p:blipFill>
        <p:spPr>
          <a:xfrm>
            <a:off x="2265363" y="927100"/>
            <a:ext cx="4516437" cy="1851025"/>
          </a:xfrm>
          <a:prstGeom prst="rect">
            <a:avLst/>
          </a:prstGeom>
          <a:noFill/>
          <a:ln w="9525">
            <a:noFill/>
          </a:ln>
        </p:spPr>
      </p:pic>
      <p:pic>
        <p:nvPicPr>
          <p:cNvPr id="43013" name="Picture 5"/>
          <p:cNvPicPr>
            <a:picLocks noChangeAspect="1"/>
          </p:cNvPicPr>
          <p:nvPr/>
        </p:nvPicPr>
        <p:blipFill>
          <a:blip r:embed="rId1"/>
          <a:srcRect l="48958" t="48187" r="17958" b="44109"/>
          <a:stretch>
            <a:fillRect/>
          </a:stretch>
        </p:blipFill>
        <p:spPr>
          <a:xfrm>
            <a:off x="1816100" y="2608263"/>
            <a:ext cx="5026025" cy="1725612"/>
          </a:xfrm>
          <a:prstGeom prst="rect">
            <a:avLst/>
          </a:prstGeom>
          <a:noFill/>
          <a:ln w="9525">
            <a:noFill/>
          </a:ln>
        </p:spPr>
      </p:pic>
      <p:sp>
        <p:nvSpPr>
          <p:cNvPr id="43014" name="矩形 5"/>
          <p:cNvSpPr/>
          <p:nvPr/>
        </p:nvSpPr>
        <p:spPr>
          <a:xfrm>
            <a:off x="173038" y="5710238"/>
            <a:ext cx="8877300" cy="95726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2000" dirty="0">
                <a:ea typeface="宋体" panose="02010600030101010101" pitchFamily="2" charset="-122"/>
              </a:rPr>
              <a:t>（</a:t>
            </a:r>
            <a:r>
              <a:rPr lang="en-US" altLang="zh-CN" sz="2000" dirty="0">
                <a:ea typeface="宋体" panose="02010600030101010101" pitchFamily="2" charset="-122"/>
              </a:rPr>
              <a:t>WS(x</a:t>
            </a:r>
            <a:r>
              <a:rPr lang="en-US" altLang="zh-CN" sz="2000" baseline="-25000" dirty="0">
                <a:ea typeface="宋体" panose="02010600030101010101" pitchFamily="2" charset="-122"/>
              </a:rPr>
              <a:t>i</a:t>
            </a:r>
            <a:r>
              <a:rPr lang="en-US" altLang="zh-CN" sz="2000" dirty="0">
                <a:ea typeface="宋体" panose="02010600030101010101" pitchFamily="2" charset="-122"/>
              </a:rPr>
              <a:t>[t])</a:t>
            </a:r>
            <a:r>
              <a:rPr lang="zh-CN" altLang="en-US" sz="2000" dirty="0">
                <a:ea typeface="宋体" panose="02010600030101010101" pitchFamily="2" charset="-122"/>
              </a:rPr>
              <a:t>表示在时刻</a:t>
            </a:r>
            <a:r>
              <a:rPr lang="en-US" altLang="zh-CN" sz="2000" dirty="0">
                <a:ea typeface="宋体" panose="02010600030101010101" pitchFamily="2" charset="-122"/>
              </a:rPr>
              <a:t>t，</a:t>
            </a:r>
            <a:r>
              <a:rPr lang="zh-CN" altLang="en-US" sz="2000" dirty="0">
                <a:ea typeface="宋体" panose="02010600030101010101" pitchFamily="2" charset="-122"/>
              </a:rPr>
              <a:t>本地副本</a:t>
            </a:r>
            <a:r>
              <a:rPr lang="en-US" altLang="zh-CN" sz="2000" dirty="0">
                <a:ea typeface="宋体" panose="02010600030101010101" pitchFamily="2" charset="-122"/>
              </a:rPr>
              <a:t>L</a:t>
            </a:r>
            <a:r>
              <a:rPr lang="en-US" altLang="zh-CN" sz="2000" baseline="-25000" dirty="0">
                <a:ea typeface="宋体" panose="02010600030101010101" pitchFamily="2" charset="-122"/>
              </a:rPr>
              <a:t>i</a:t>
            </a:r>
            <a:r>
              <a:rPr lang="zh-CN" altLang="en-US" sz="2000" dirty="0">
                <a:ea typeface="宋体" panose="02010600030101010101" pitchFamily="2" charset="-122"/>
              </a:rPr>
              <a:t>上的一系列</a:t>
            </a:r>
            <a:r>
              <a:rPr lang="en-US" altLang="zh-CN" sz="2000" dirty="0">
                <a:ea typeface="宋体" panose="02010600030101010101" pitchFamily="2" charset="-122"/>
              </a:rPr>
              <a:t>write</a:t>
            </a:r>
            <a:r>
              <a:rPr lang="zh-CN" altLang="en-US" sz="2000" dirty="0">
                <a:ea typeface="宋体" panose="02010600030101010101" pitchFamily="2" charset="-122"/>
              </a:rPr>
              <a:t>操作的结果，</a:t>
            </a:r>
            <a:r>
              <a:rPr lang="en-US" altLang="zh-CN" sz="2000" dirty="0">
                <a:ea typeface="宋体" panose="02010600030101010101" pitchFamily="2" charset="-122"/>
              </a:rPr>
              <a:t>t</a:t>
            </a:r>
            <a:r>
              <a:rPr lang="zh-CN" altLang="en-US" sz="2000" dirty="0">
                <a:ea typeface="宋体" panose="02010600030101010101" pitchFamily="2" charset="-122"/>
              </a:rPr>
              <a:t>可以省略）</a:t>
            </a:r>
            <a:endParaRPr lang="en-US" altLang="zh-CN" sz="2000" dirty="0">
              <a:ea typeface="宋体" panose="02010600030101010101" pitchFamily="2" charset="-122"/>
            </a:endParaRPr>
          </a:p>
          <a:p>
            <a:pPr marL="0" lvl="0" indent="0" algn="l" eaLnBrk="1" hangingPunct="1">
              <a:lnSpc>
                <a:spcPct val="150000"/>
              </a:lnSpc>
              <a:spcBef>
                <a:spcPct val="0"/>
              </a:spcBef>
              <a:buClrTx/>
              <a:buNone/>
            </a:pPr>
            <a:r>
              <a:rPr lang="zh-CN" altLang="en-US" sz="2000" dirty="0">
                <a:ea typeface="宋体" panose="02010600030101010101" pitchFamily="2" charset="-122"/>
              </a:rPr>
              <a:t>比如：阅读</a:t>
            </a:r>
            <a:endParaRPr lang="zh-CN" altLang="en-US" sz="2000"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0" y="0"/>
            <a:ext cx="9144000" cy="731838"/>
          </a:xfrm>
        </p:spPr>
        <p:txBody>
          <a:bodyPr vert="horz" wrap="square" lIns="91440" tIns="45720" rIns="91440" bIns="45720" anchor="ctr" anchorCtr="0"/>
          <a:lstStyle/>
          <a:p>
            <a:pPr eaLnBrk="1" hangingPunct="1"/>
            <a:r>
              <a:rPr lang="en-US" altLang="zh-CN" dirty="0">
                <a:ea typeface="宋体" panose="02010600030101010101" pitchFamily="2" charset="-122"/>
              </a:rPr>
              <a:t>Monotonic-Write Consistence(7.3.3)</a:t>
            </a:r>
            <a:endParaRPr lang="en-US" altLang="zh-CN" dirty="0">
              <a:ea typeface="宋体" panose="02010600030101010101" pitchFamily="2" charset="-122"/>
            </a:endParaRPr>
          </a:p>
        </p:txBody>
      </p:sp>
      <p:sp>
        <p:nvSpPr>
          <p:cNvPr id="44035" name="Rectangle 3"/>
          <p:cNvSpPr>
            <a:spLocks noGrp="1"/>
          </p:cNvSpPr>
          <p:nvPr>
            <p:ph idx="1"/>
          </p:nvPr>
        </p:nvSpPr>
        <p:spPr>
          <a:xfrm>
            <a:off x="0" y="731838"/>
            <a:ext cx="9267825" cy="1222375"/>
          </a:xfrm>
        </p:spPr>
        <p:txBody>
          <a:bodyPr vert="horz" wrap="square" lIns="91440" tIns="45720" rIns="91440" bIns="45720" anchor="t" anchorCtr="0"/>
          <a:lstStyle/>
          <a:p>
            <a:pPr marL="0" indent="0" algn="l" eaLnBrk="1" hangingPunct="1">
              <a:lnSpc>
                <a:spcPct val="150000"/>
              </a:lnSpc>
              <a:buNone/>
            </a:pPr>
            <a:r>
              <a:rPr lang="en-US" altLang="zh-CN" sz="2400" u="sng" dirty="0">
                <a:ea typeface="宋体" panose="02010600030101010101" pitchFamily="2" charset="-122"/>
              </a:rPr>
              <a:t>Condition:</a:t>
            </a:r>
            <a:r>
              <a:rPr lang="en-US" altLang="zh-CN" sz="2400" i="1" dirty="0">
                <a:ea typeface="宋体" panose="02010600030101010101" pitchFamily="2" charset="-122"/>
              </a:rPr>
              <a:t>  </a:t>
            </a:r>
            <a:r>
              <a:rPr lang="en-US" altLang="zh-CN" sz="2400" b="1" i="1" dirty="0">
                <a:ea typeface="宋体" panose="02010600030101010101" pitchFamily="2" charset="-122"/>
              </a:rPr>
              <a:t>A write operation </a:t>
            </a:r>
            <a:r>
              <a:rPr lang="en-US" altLang="zh-CN" sz="2400" b="1" i="1" dirty="0">
                <a:solidFill>
                  <a:srgbClr val="FF3300"/>
                </a:solidFill>
                <a:ea typeface="宋体" panose="02010600030101010101" pitchFamily="2" charset="-122"/>
              </a:rPr>
              <a:t>by a process</a:t>
            </a:r>
            <a:r>
              <a:rPr lang="en-US" altLang="zh-CN" sz="2400" b="1" i="1" dirty="0">
                <a:ea typeface="宋体" panose="02010600030101010101" pitchFamily="2" charset="-122"/>
              </a:rPr>
              <a:t> on a data item x is completed before any successive write operation on x </a:t>
            </a:r>
            <a:r>
              <a:rPr lang="en-US" altLang="zh-CN" sz="2400" b="1" i="1" dirty="0">
                <a:solidFill>
                  <a:srgbClr val="FF3300"/>
                </a:solidFill>
                <a:ea typeface="宋体" panose="02010600030101010101" pitchFamily="2" charset="-122"/>
              </a:rPr>
              <a:t>by the same process.</a:t>
            </a:r>
            <a:endParaRPr lang="en-US" altLang="zh-CN" sz="2400" b="1" i="1" dirty="0">
              <a:solidFill>
                <a:srgbClr val="FF3300"/>
              </a:solidFill>
              <a:ea typeface="宋体" panose="02010600030101010101" pitchFamily="2" charset="-122"/>
            </a:endParaRPr>
          </a:p>
          <a:p>
            <a:pPr marL="0" indent="0" algn="l" eaLnBrk="1" hangingPunct="1">
              <a:lnSpc>
                <a:spcPct val="150000"/>
              </a:lnSpc>
              <a:buNone/>
            </a:pPr>
            <a:endParaRPr lang="en-US" altLang="zh-CN" sz="2400" i="1" dirty="0">
              <a:ea typeface="宋体" panose="02010600030101010101" pitchFamily="2" charset="-122"/>
            </a:endParaRPr>
          </a:p>
        </p:txBody>
      </p:sp>
      <p:sp>
        <p:nvSpPr>
          <p:cNvPr id="4" name="Rectangle 3"/>
          <p:cNvSpPr txBox="1">
            <a:spLocks noChangeArrowheads="1"/>
          </p:cNvSpPr>
          <p:nvPr/>
        </p:nvSpPr>
        <p:spPr bwMode="auto">
          <a:xfrm>
            <a:off x="144463" y="4845050"/>
            <a:ext cx="8978900" cy="17462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533400" marR="0" lvl="0" indent="-53340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write operations performed by a single process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two different local copies of the same data store</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 monotonic-write consistent data store.</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 data store that does not provide monotonic-write consistency (missing W(x</a:t>
            </a:r>
            <a:r>
              <a:rPr kumimoji="0" lang="en-US" altLang="zh-CN" sz="2000" b="0"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举例：文档编辑</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44037" name="Picture 4"/>
          <p:cNvPicPr>
            <a:picLocks noChangeAspect="1"/>
          </p:cNvPicPr>
          <p:nvPr/>
        </p:nvPicPr>
        <p:blipFill>
          <a:blip r:embed="rId1"/>
          <a:srcRect l="21165" t="48489" r="51196" b="43806"/>
          <a:stretch>
            <a:fillRect/>
          </a:stretch>
        </p:blipFill>
        <p:spPr>
          <a:xfrm>
            <a:off x="1554163" y="1768475"/>
            <a:ext cx="4943475" cy="1530350"/>
          </a:xfrm>
          <a:prstGeom prst="rect">
            <a:avLst/>
          </a:prstGeom>
          <a:noFill/>
          <a:ln w="9525">
            <a:noFill/>
          </a:ln>
        </p:spPr>
      </p:pic>
      <p:pic>
        <p:nvPicPr>
          <p:cNvPr id="44038" name="Picture 5"/>
          <p:cNvPicPr>
            <a:picLocks noChangeAspect="1"/>
          </p:cNvPicPr>
          <p:nvPr/>
        </p:nvPicPr>
        <p:blipFill>
          <a:blip r:embed="rId1"/>
          <a:srcRect l="52806" t="48489" r="20096" b="43806"/>
          <a:stretch>
            <a:fillRect/>
          </a:stretch>
        </p:blipFill>
        <p:spPr>
          <a:xfrm>
            <a:off x="1763713" y="3079750"/>
            <a:ext cx="4525962" cy="176530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Read-Your-Writes Consistency(7.3.4)</a:t>
            </a:r>
            <a:endParaRPr lang="en-US" altLang="zh-CN" dirty="0">
              <a:ea typeface="宋体" panose="02010600030101010101" pitchFamily="2" charset="-122"/>
            </a:endParaRPr>
          </a:p>
        </p:txBody>
      </p:sp>
      <p:sp>
        <p:nvSpPr>
          <p:cNvPr id="45059" name="Rectangle 3"/>
          <p:cNvSpPr>
            <a:spLocks noGrp="1"/>
          </p:cNvSpPr>
          <p:nvPr>
            <p:ph idx="1"/>
          </p:nvPr>
        </p:nvSpPr>
        <p:spPr>
          <a:xfrm>
            <a:off x="0" y="981075"/>
            <a:ext cx="9285288" cy="1081088"/>
          </a:xfrm>
        </p:spPr>
        <p:txBody>
          <a:bodyPr vert="horz" wrap="square" lIns="91440" tIns="45720" rIns="91440" bIns="45720" anchor="t" anchorCtr="0"/>
          <a:lstStyle/>
          <a:p>
            <a:pPr marL="0" indent="0" algn="l" eaLnBrk="1" hangingPunct="1">
              <a:lnSpc>
                <a:spcPct val="150000"/>
              </a:lnSpc>
              <a:buNone/>
            </a:pPr>
            <a:r>
              <a:rPr lang="en-US" altLang="zh-CN" sz="2200" u="sng" dirty="0">
                <a:ea typeface="宋体" panose="02010600030101010101" pitchFamily="2" charset="-122"/>
              </a:rPr>
              <a:t>Condition:</a:t>
            </a:r>
            <a:r>
              <a:rPr lang="en-US" altLang="zh-CN" sz="2200" i="1" dirty="0">
                <a:ea typeface="宋体" panose="02010600030101010101" pitchFamily="2" charset="-122"/>
              </a:rPr>
              <a:t> The effect of a write operation </a:t>
            </a:r>
            <a:r>
              <a:rPr lang="en-US" altLang="zh-CN" sz="2200" i="1" dirty="0">
                <a:solidFill>
                  <a:srgbClr val="FF3300"/>
                </a:solidFill>
                <a:ea typeface="宋体" panose="02010600030101010101" pitchFamily="2" charset="-122"/>
              </a:rPr>
              <a:t>by a process</a:t>
            </a:r>
            <a:r>
              <a:rPr lang="en-US" altLang="zh-CN" sz="2200" i="1" dirty="0">
                <a:ea typeface="宋体" panose="02010600030101010101" pitchFamily="2" charset="-122"/>
              </a:rPr>
              <a:t> on a data item x will always be seen by a successive read operation on x </a:t>
            </a:r>
            <a:r>
              <a:rPr lang="en-US" altLang="zh-CN" sz="2200" i="1" dirty="0">
                <a:solidFill>
                  <a:srgbClr val="FF3300"/>
                </a:solidFill>
                <a:ea typeface="宋体" panose="02010600030101010101" pitchFamily="2" charset="-122"/>
              </a:rPr>
              <a:t>by the same process</a:t>
            </a:r>
            <a:r>
              <a:rPr lang="en-US" altLang="zh-CN" sz="2200" i="1" dirty="0">
                <a:ea typeface="宋体" panose="02010600030101010101" pitchFamily="2" charset="-122"/>
              </a:rPr>
              <a:t>.</a:t>
            </a:r>
            <a:endParaRPr lang="en-US" altLang="zh-CN" sz="2200" i="1" dirty="0">
              <a:ea typeface="宋体" panose="02010600030101010101" pitchFamily="2" charset="-122"/>
            </a:endParaRPr>
          </a:p>
        </p:txBody>
      </p:sp>
      <p:sp>
        <p:nvSpPr>
          <p:cNvPr id="4" name="Rectangle 3"/>
          <p:cNvSpPr txBox="1">
            <a:spLocks noChangeArrowheads="1"/>
          </p:cNvSpPr>
          <p:nvPr/>
        </p:nvSpPr>
        <p:spPr bwMode="auto">
          <a:xfrm>
            <a:off x="522288" y="5062538"/>
            <a:ext cx="8191500" cy="8382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 data store that provides read-your-writes consistency.</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 data store that does not(W(x</a:t>
            </a:r>
            <a:r>
              <a:rPr kumimoji="0" lang="en-US" altLang="zh-CN" sz="2000" b="0"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not been propagated to L</a:t>
            </a:r>
            <a:r>
              <a:rPr kumimoji="0" lang="en-US" altLang="zh-CN" sz="2000" b="0"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45061" name="Picture 4"/>
          <p:cNvPicPr>
            <a:picLocks noChangeAspect="1"/>
          </p:cNvPicPr>
          <p:nvPr/>
        </p:nvPicPr>
        <p:blipFill>
          <a:blip r:embed="rId1"/>
          <a:srcRect l="23276" t="48792" r="51096" b="43806"/>
          <a:stretch>
            <a:fillRect/>
          </a:stretch>
        </p:blipFill>
        <p:spPr>
          <a:xfrm>
            <a:off x="2073275" y="1951038"/>
            <a:ext cx="4567238" cy="1581150"/>
          </a:xfrm>
          <a:prstGeom prst="rect">
            <a:avLst/>
          </a:prstGeom>
          <a:noFill/>
          <a:ln w="9525">
            <a:noFill/>
          </a:ln>
        </p:spPr>
      </p:pic>
      <p:pic>
        <p:nvPicPr>
          <p:cNvPr id="45062" name="Picture 5"/>
          <p:cNvPicPr>
            <a:picLocks noChangeAspect="1"/>
          </p:cNvPicPr>
          <p:nvPr/>
        </p:nvPicPr>
        <p:blipFill>
          <a:blip r:embed="rId1"/>
          <a:srcRect l="53848" t="48792" r="20309" b="43806"/>
          <a:stretch>
            <a:fillRect/>
          </a:stretch>
        </p:blipFill>
        <p:spPr>
          <a:xfrm>
            <a:off x="2054225" y="3406775"/>
            <a:ext cx="4605338" cy="1655763"/>
          </a:xfrm>
          <a:prstGeom prst="rect">
            <a:avLst/>
          </a:prstGeom>
          <a:noFill/>
          <a:ln w="9525">
            <a:noFill/>
          </a:ln>
        </p:spPr>
      </p:pic>
      <p:sp>
        <p:nvSpPr>
          <p:cNvPr id="2" name="矩形 1"/>
          <p:cNvSpPr/>
          <p:nvPr/>
        </p:nvSpPr>
        <p:spPr>
          <a:xfrm>
            <a:off x="522288" y="6051550"/>
            <a:ext cx="4800600" cy="423863"/>
          </a:xfrm>
          <a:prstGeom prst="rect">
            <a:avLst/>
          </a:prstGeom>
        </p:spPr>
        <p:txBody>
          <a:bodyPr wrap="none">
            <a:spAutoFit/>
          </a:bodyP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应用举例：银行转账、售票系统等</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96838" y="0"/>
            <a:ext cx="8809037" cy="747713"/>
          </a:xfrm>
        </p:spPr>
        <p:txBody>
          <a:bodyPr vert="horz" wrap="square" lIns="91440" tIns="45720" rIns="91440" bIns="45720" anchor="ctr" anchorCtr="0"/>
          <a:lstStyle/>
          <a:p>
            <a:pPr eaLnBrk="1" hangingPunct="1"/>
            <a:r>
              <a:rPr lang="en-US" altLang="zh-CN" sz="4000" dirty="0">
                <a:ea typeface="宋体" panose="02010600030101010101" pitchFamily="2" charset="-122"/>
              </a:rPr>
              <a:t>Writes-Follow-Reads Consistency(7.3.5)</a:t>
            </a:r>
            <a:endParaRPr lang="en-US" altLang="zh-CN" sz="4000" dirty="0">
              <a:ea typeface="宋体" panose="02010600030101010101" pitchFamily="2" charset="-122"/>
            </a:endParaRPr>
          </a:p>
        </p:txBody>
      </p:sp>
      <p:sp>
        <p:nvSpPr>
          <p:cNvPr id="46083" name="Rectangle 3"/>
          <p:cNvSpPr>
            <a:spLocks noGrp="1"/>
          </p:cNvSpPr>
          <p:nvPr>
            <p:ph idx="1"/>
          </p:nvPr>
        </p:nvSpPr>
        <p:spPr>
          <a:xfrm>
            <a:off x="96838" y="668338"/>
            <a:ext cx="9047162" cy="2416175"/>
          </a:xfrm>
        </p:spPr>
        <p:txBody>
          <a:bodyPr vert="horz" wrap="square" lIns="91440" tIns="45720" rIns="91440" bIns="45720" anchor="t" anchorCtr="0"/>
          <a:lstStyle/>
          <a:p>
            <a:pPr marL="0" indent="0" algn="l" eaLnBrk="1" hangingPunct="1">
              <a:lnSpc>
                <a:spcPct val="150000"/>
              </a:lnSpc>
              <a:buNone/>
            </a:pPr>
            <a:r>
              <a:rPr lang="en-US" altLang="zh-CN" sz="2000" u="sng" dirty="0">
                <a:ea typeface="宋体" panose="02010600030101010101" pitchFamily="2" charset="-122"/>
              </a:rPr>
              <a:t>Condition</a:t>
            </a:r>
            <a:r>
              <a:rPr lang="en-US" altLang="zh-CN" sz="2000" dirty="0">
                <a:ea typeface="宋体" panose="02010600030101010101" pitchFamily="2" charset="-122"/>
              </a:rPr>
              <a:t>:   A write operation </a:t>
            </a:r>
            <a:r>
              <a:rPr lang="en-US" altLang="zh-CN" sz="2000" dirty="0">
                <a:solidFill>
                  <a:srgbClr val="FF3300"/>
                </a:solidFill>
                <a:ea typeface="宋体" panose="02010600030101010101" pitchFamily="2" charset="-122"/>
              </a:rPr>
              <a:t>by a process</a:t>
            </a:r>
            <a:r>
              <a:rPr lang="en-US" altLang="zh-CN" sz="2000" dirty="0">
                <a:ea typeface="宋体" panose="02010600030101010101" pitchFamily="2" charset="-122"/>
              </a:rPr>
              <a:t> on a data item x following a previous read operation on x </a:t>
            </a:r>
            <a:r>
              <a:rPr lang="en-US" altLang="zh-CN" sz="2000" dirty="0">
                <a:solidFill>
                  <a:srgbClr val="FF3300"/>
                </a:solidFill>
                <a:ea typeface="宋体" panose="02010600030101010101" pitchFamily="2" charset="-122"/>
              </a:rPr>
              <a:t>by the same process</a:t>
            </a:r>
            <a:r>
              <a:rPr lang="en-US" altLang="zh-CN" sz="2000" dirty="0">
                <a:ea typeface="宋体" panose="02010600030101010101" pitchFamily="2" charset="-122"/>
              </a:rPr>
              <a:t>, is guaranteed to take place on the same or a more recent value of that was read.(In other words, any successive write operation by a process on a data item x will be performed on a copy of x that is up to date with the value most recently read by that process )</a:t>
            </a:r>
            <a:endParaRPr lang="en-US" altLang="zh-CN" sz="2000" dirty="0">
              <a:ea typeface="宋体" panose="02010600030101010101" pitchFamily="2" charset="-122"/>
            </a:endParaRPr>
          </a:p>
        </p:txBody>
      </p:sp>
      <p:sp>
        <p:nvSpPr>
          <p:cNvPr id="4" name="Rectangle 3"/>
          <p:cNvSpPr txBox="1">
            <a:spLocks noChangeArrowheads="1"/>
          </p:cNvSpPr>
          <p:nvPr/>
        </p:nvSpPr>
        <p:spPr bwMode="auto">
          <a:xfrm>
            <a:off x="569913" y="4452938"/>
            <a:ext cx="8191500" cy="8382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609600" marR="0" lvl="0" indent="-609600" algn="l" defTabSz="914400" rtl="0" eaLnBrk="1" fontAlgn="base" latinLnBrk="0" hangingPunct="1">
              <a:lnSpc>
                <a:spcPct val="90000"/>
              </a:lnSpc>
              <a:spcBef>
                <a:spcPct val="20000"/>
              </a:spcBef>
              <a:spcAft>
                <a:spcPct val="0"/>
              </a:spcAft>
              <a:buClr>
                <a:schemeClr val="accent2"/>
              </a:buClr>
              <a:buSzTx/>
              <a:buFontTx/>
              <a:buAutoNum type="alphaLcParen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writes-follow-reads consistent data store</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90000"/>
              </a:lnSpc>
              <a:spcBef>
                <a:spcPct val="20000"/>
              </a:spcBef>
              <a:spcAft>
                <a:spcPct val="0"/>
              </a:spcAft>
              <a:buClr>
                <a:schemeClr val="accent2"/>
              </a:buClr>
              <a:buSzTx/>
              <a:buFontTx/>
              <a:buAutoNum type="alphaLcParen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data store that does not provide writes-follow-reads consistency</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46085" name="Picture 4"/>
          <p:cNvPicPr>
            <a:picLocks noChangeAspect="1"/>
          </p:cNvPicPr>
          <p:nvPr/>
        </p:nvPicPr>
        <p:blipFill>
          <a:blip r:embed="rId1"/>
          <a:srcRect l="21165" t="48792" r="50668" b="43958"/>
          <a:stretch>
            <a:fillRect/>
          </a:stretch>
        </p:blipFill>
        <p:spPr>
          <a:xfrm>
            <a:off x="0" y="3000375"/>
            <a:ext cx="4206875" cy="1504950"/>
          </a:xfrm>
          <a:prstGeom prst="rect">
            <a:avLst/>
          </a:prstGeom>
          <a:noFill/>
          <a:ln w="9525">
            <a:noFill/>
          </a:ln>
        </p:spPr>
      </p:pic>
      <p:pic>
        <p:nvPicPr>
          <p:cNvPr id="46086" name="Picture 5"/>
          <p:cNvPicPr>
            <a:picLocks noChangeAspect="1"/>
          </p:cNvPicPr>
          <p:nvPr/>
        </p:nvPicPr>
        <p:blipFill>
          <a:blip r:embed="rId1"/>
          <a:srcRect l="53876" t="48792" r="20096" b="43958"/>
          <a:stretch>
            <a:fillRect/>
          </a:stretch>
        </p:blipFill>
        <p:spPr>
          <a:xfrm>
            <a:off x="4608513" y="3054350"/>
            <a:ext cx="4297362" cy="1398588"/>
          </a:xfrm>
          <a:prstGeom prst="rect">
            <a:avLst/>
          </a:prstGeom>
          <a:noFill/>
          <a:ln w="9525">
            <a:noFill/>
          </a:ln>
        </p:spPr>
      </p:pic>
      <p:sp>
        <p:nvSpPr>
          <p:cNvPr id="46087" name="矩形 1"/>
          <p:cNvSpPr/>
          <p:nvPr/>
        </p:nvSpPr>
        <p:spPr>
          <a:xfrm>
            <a:off x="347663" y="5416550"/>
            <a:ext cx="8520112" cy="1016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2000" i="1" dirty="0">
                <a:ea typeface="宋体" panose="02010600030101010101" pitchFamily="2" charset="-122"/>
              </a:rPr>
              <a:t>实例：</a:t>
            </a:r>
            <a:r>
              <a:rPr lang="en-US" altLang="zh-CN" sz="2000" dirty="0">
                <a:ea typeface="宋体" panose="02010600030101010101" pitchFamily="2" charset="-122"/>
              </a:rPr>
              <a:t>Usenet</a:t>
            </a:r>
            <a:r>
              <a:rPr lang="zh-CN" altLang="en-US" sz="2000" dirty="0">
                <a:ea typeface="宋体" panose="02010600030101010101" pitchFamily="2" charset="-122"/>
              </a:rPr>
              <a:t>或</a:t>
            </a:r>
            <a:r>
              <a:rPr lang="en-US" altLang="zh-CN" sz="2000" dirty="0">
                <a:ea typeface="宋体" panose="02010600030101010101" pitchFamily="2" charset="-122"/>
              </a:rPr>
              <a:t>NewsGroup——</a:t>
            </a:r>
            <a:r>
              <a:rPr lang="zh-CN" altLang="en-US" sz="2000" dirty="0">
                <a:ea typeface="宋体" panose="02010600030101010101" pitchFamily="2" charset="-122"/>
              </a:rPr>
              <a:t>新闻组，不同的用户通过一些软件可连接到新闻服务器上，阅读其他人的消息并可以参与讨论。</a:t>
            </a:r>
            <a:endParaRPr lang="en-US" altLang="zh-CN" sz="2000" i="1"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0" y="0"/>
            <a:ext cx="9144000" cy="865188"/>
          </a:xfrm>
        </p:spPr>
        <p:txBody>
          <a:bodyPr vert="horz" wrap="square" lIns="91440" tIns="45720" rIns="91440" bIns="45720" anchor="ctr" anchorCtr="0"/>
          <a:lstStyle/>
          <a:p>
            <a:pPr eaLnBrk="1" hangingPunct="1"/>
            <a:r>
              <a:rPr lang="en-US" altLang="zh-CN" dirty="0">
                <a:ea typeface="宋体" panose="02010600030101010101" pitchFamily="2" charset="-122"/>
              </a:rPr>
              <a:t>Implementation(7.3.6)</a:t>
            </a:r>
            <a:endParaRPr lang="en-US" altLang="zh-CN" dirty="0">
              <a:ea typeface="宋体" panose="02010600030101010101" pitchFamily="2" charset="-122"/>
            </a:endParaRPr>
          </a:p>
        </p:txBody>
      </p:sp>
      <p:sp>
        <p:nvSpPr>
          <p:cNvPr id="47107" name="Rectangle 3"/>
          <p:cNvSpPr>
            <a:spLocks noGrp="1"/>
          </p:cNvSpPr>
          <p:nvPr>
            <p:ph idx="1"/>
          </p:nvPr>
        </p:nvSpPr>
        <p:spPr>
          <a:xfrm>
            <a:off x="265113" y="865188"/>
            <a:ext cx="8613775" cy="4964112"/>
          </a:xfrm>
        </p:spPr>
        <p:txBody>
          <a:bodyPr vert="horz" wrap="square" lIns="91440" tIns="45720" rIns="91440" bIns="45720" anchor="t" anchorCtr="0"/>
          <a:lstStyle/>
          <a:p>
            <a:pPr marL="0" indent="0" algn="l" eaLnBrk="1" hangingPunct="1">
              <a:lnSpc>
                <a:spcPct val="130000"/>
              </a:lnSpc>
              <a:buNone/>
            </a:pPr>
            <a:r>
              <a:rPr lang="en-US" altLang="zh-CN" sz="2400" dirty="0">
                <a:ea typeface="宋体" panose="02010600030101010101" pitchFamily="2" charset="-122"/>
              </a:rPr>
              <a:t>A native implementation:</a:t>
            </a:r>
            <a:endParaRPr lang="en-US" altLang="zh-CN" sz="2400" dirty="0">
              <a:ea typeface="宋体" panose="02010600030101010101" pitchFamily="2" charset="-122"/>
            </a:endParaRPr>
          </a:p>
          <a:p>
            <a:pPr marL="0" indent="0" algn="l" eaLnBrk="1" hangingPunct="1">
              <a:lnSpc>
                <a:spcPct val="130000"/>
              </a:lnSpc>
              <a:buFont typeface="Wingdings" panose="05000000000000000000" pitchFamily="2" charset="2"/>
              <a:buChar char="u"/>
            </a:pPr>
            <a:r>
              <a:rPr lang="en-US" altLang="zh-CN" sz="2400" dirty="0">
                <a:ea typeface="宋体" panose="02010600030101010101" pitchFamily="2" charset="-122"/>
              </a:rPr>
              <a:t>Each write operation is assigned a globally unique identifier by the server that accepts the operation for the first time(initiated by server). </a:t>
            </a:r>
            <a:endParaRPr lang="en-US" altLang="zh-CN" sz="2400" dirty="0">
              <a:ea typeface="宋体" panose="02010600030101010101" pitchFamily="2" charset="-122"/>
            </a:endParaRPr>
          </a:p>
          <a:p>
            <a:pPr marL="0" indent="0" algn="l" eaLnBrk="1" hangingPunct="1">
              <a:lnSpc>
                <a:spcPct val="130000"/>
              </a:lnSpc>
              <a:buFont typeface="Wingdings" panose="05000000000000000000" pitchFamily="2" charset="2"/>
              <a:buChar char="u"/>
            </a:pPr>
            <a:r>
              <a:rPr lang="en-US" altLang="zh-CN" sz="2400" dirty="0">
                <a:ea typeface="宋体" panose="02010600030101010101" pitchFamily="2" charset="-122"/>
              </a:rPr>
              <a:t>For each client, we keep track of two sets of write identifiers. </a:t>
            </a:r>
            <a:endParaRPr lang="en-US" altLang="zh-CN" sz="2400" dirty="0">
              <a:ea typeface="宋体" panose="02010600030101010101" pitchFamily="2" charset="-122"/>
            </a:endParaRPr>
          </a:p>
          <a:p>
            <a:pPr marL="400050" lvl="1" indent="0" eaLnBrk="1" hangingPunct="1">
              <a:lnSpc>
                <a:spcPct val="130000"/>
              </a:lnSpc>
              <a:buFont typeface="Wingdings" panose="05000000000000000000" pitchFamily="2" charset="2"/>
              <a:buChar char="Ø"/>
            </a:pPr>
            <a:r>
              <a:rPr lang="en-US" altLang="zh-CN" sz="2200" dirty="0">
                <a:ea typeface="宋体" panose="02010600030101010101" pitchFamily="2" charset="-122"/>
              </a:rPr>
              <a:t>  </a:t>
            </a:r>
            <a:r>
              <a:rPr lang="en-US" altLang="zh-CN" sz="2200" dirty="0">
                <a:solidFill>
                  <a:srgbClr val="FF0000"/>
                </a:solidFill>
                <a:ea typeface="宋体" panose="02010600030101010101" pitchFamily="2" charset="-122"/>
              </a:rPr>
              <a:t>The read set </a:t>
            </a:r>
            <a:r>
              <a:rPr lang="en-US" altLang="zh-CN" sz="2200" dirty="0">
                <a:ea typeface="宋体" panose="02010600030101010101" pitchFamily="2" charset="-122"/>
              </a:rPr>
              <a:t>={ the write identifiers relevant for the read operations performed by a client}. </a:t>
            </a:r>
            <a:r>
              <a:rPr lang="zh-CN" altLang="en-US" sz="2200" dirty="0">
                <a:ea typeface="宋体" panose="02010600030101010101" pitchFamily="2" charset="-122"/>
              </a:rPr>
              <a:t>该客户端读之前的写操作集合。</a:t>
            </a:r>
            <a:endParaRPr lang="en-US" altLang="zh-CN" sz="2200" dirty="0">
              <a:ea typeface="宋体" panose="02010600030101010101" pitchFamily="2" charset="-122"/>
            </a:endParaRPr>
          </a:p>
          <a:p>
            <a:pPr marL="400050" lvl="1" indent="0" eaLnBrk="1" hangingPunct="1">
              <a:lnSpc>
                <a:spcPct val="130000"/>
              </a:lnSpc>
              <a:buNone/>
            </a:pPr>
            <a:r>
              <a:rPr lang="en-US" altLang="zh-CN" sz="2200" dirty="0">
                <a:ea typeface="宋体" panose="02010600030101010101" pitchFamily="2" charset="-122"/>
              </a:rPr>
              <a:t>      For example: Pid-read-set={wid1, wid2,…… widn} </a:t>
            </a:r>
            <a:endParaRPr lang="en-US" altLang="zh-CN" sz="2200" dirty="0">
              <a:ea typeface="宋体" panose="02010600030101010101" pitchFamily="2" charset="-122"/>
            </a:endParaRPr>
          </a:p>
          <a:p>
            <a:pPr marL="400050" lvl="1" indent="0" eaLnBrk="1" hangingPunct="1">
              <a:lnSpc>
                <a:spcPct val="130000"/>
              </a:lnSpc>
              <a:buFont typeface="Wingdings" panose="05000000000000000000" pitchFamily="2" charset="2"/>
              <a:buChar char="Ø"/>
            </a:pPr>
            <a:r>
              <a:rPr lang="en-US" altLang="zh-CN" sz="2200" dirty="0">
                <a:ea typeface="宋体" panose="02010600030101010101" pitchFamily="2" charset="-122"/>
              </a:rPr>
              <a:t>  </a:t>
            </a:r>
            <a:r>
              <a:rPr lang="en-US" altLang="zh-CN" sz="2200" dirty="0">
                <a:solidFill>
                  <a:srgbClr val="FF0000"/>
                </a:solidFill>
                <a:ea typeface="宋体" panose="02010600030101010101" pitchFamily="2" charset="-122"/>
              </a:rPr>
              <a:t>The write set </a:t>
            </a:r>
            <a:r>
              <a:rPr lang="en-US" altLang="zh-CN" sz="2200" dirty="0">
                <a:ea typeface="宋体" panose="02010600030101010101" pitchFamily="2" charset="-122"/>
              </a:rPr>
              <a:t>={ the identifiers of the writes performed by the client}.</a:t>
            </a:r>
            <a:r>
              <a:rPr lang="zh-CN" altLang="en-US" sz="2200" dirty="0">
                <a:ea typeface="宋体" panose="02010600030101010101" pitchFamily="2" charset="-122"/>
              </a:rPr>
              <a:t>该客户端写操作的集合</a:t>
            </a:r>
            <a:endParaRPr lang="en-US" altLang="zh-CN" sz="2200" dirty="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Implementation(7.3.6)</a:t>
            </a:r>
            <a:endParaRPr lang="en-US" altLang="zh-CN" dirty="0">
              <a:ea typeface="宋体" panose="02010600030101010101" pitchFamily="2" charset="-122"/>
            </a:endParaRPr>
          </a:p>
        </p:txBody>
      </p:sp>
      <p:sp>
        <p:nvSpPr>
          <p:cNvPr id="48131" name="Rectangle 3"/>
          <p:cNvSpPr>
            <a:spLocks noGrp="1"/>
          </p:cNvSpPr>
          <p:nvPr>
            <p:ph idx="1"/>
          </p:nvPr>
        </p:nvSpPr>
        <p:spPr>
          <a:xfrm>
            <a:off x="385763" y="936625"/>
            <a:ext cx="8537575" cy="2106613"/>
          </a:xfrm>
        </p:spPr>
        <p:txBody>
          <a:bodyPr vert="horz" wrap="square" lIns="91440" tIns="45720" rIns="91440" bIns="45720" anchor="t" anchorCtr="0"/>
          <a:lstStyle/>
          <a:p>
            <a:pPr marL="0" indent="0" algn="l" eaLnBrk="1" hangingPunct="1">
              <a:lnSpc>
                <a:spcPct val="150000"/>
              </a:lnSpc>
              <a:buNone/>
            </a:pPr>
            <a:r>
              <a:rPr lang="en-US" altLang="zh-CN" sz="2000" u="sng" dirty="0">
                <a:solidFill>
                  <a:srgbClr val="FF0000"/>
                </a:solidFill>
                <a:ea typeface="宋体" panose="02010600030101010101" pitchFamily="2" charset="-122"/>
              </a:rPr>
              <a:t>monotonic-read consistency:</a:t>
            </a:r>
            <a:r>
              <a:rPr lang="en-US" altLang="zh-CN" sz="2000" dirty="0">
                <a:solidFill>
                  <a:srgbClr val="FF0000"/>
                </a:solidFill>
                <a:ea typeface="宋体" panose="02010600030101010101" pitchFamily="2" charset="-122"/>
              </a:rPr>
              <a:t> </a:t>
            </a:r>
            <a:r>
              <a:rPr lang="en-US" altLang="zh-CN" sz="2000" dirty="0">
                <a:ea typeface="宋体" panose="02010600030101010101" pitchFamily="2" charset="-122"/>
              </a:rPr>
              <a:t>When a client performs a read operation at a server, that server is handed the client’s read set to check whether all the identified writes have taken place locally. </a:t>
            </a:r>
            <a:endParaRPr lang="en-US" altLang="zh-CN" sz="2000" dirty="0">
              <a:ea typeface="宋体" panose="02010600030101010101" pitchFamily="2" charset="-122"/>
            </a:endParaRPr>
          </a:p>
          <a:p>
            <a:pPr marL="0" indent="0" algn="l" eaLnBrk="1" hangingPunct="1">
              <a:lnSpc>
                <a:spcPct val="150000"/>
              </a:lnSpc>
              <a:buNone/>
            </a:pPr>
            <a:r>
              <a:rPr lang="en-US" altLang="zh-CN" sz="2000" dirty="0">
                <a:ea typeface="宋体" panose="02010600030101010101" pitchFamily="2" charset="-122"/>
              </a:rPr>
              <a:t>If not: </a:t>
            </a:r>
            <a:endParaRPr lang="en-US" altLang="zh-CN" sz="2000" dirty="0">
              <a:ea typeface="宋体" panose="02010600030101010101" pitchFamily="2" charset="-122"/>
            </a:endParaRPr>
          </a:p>
          <a:p>
            <a:pPr marL="0" indent="0" algn="l" eaLnBrk="1" hangingPunct="1">
              <a:lnSpc>
                <a:spcPct val="150000"/>
              </a:lnSpc>
              <a:buNone/>
            </a:pPr>
            <a:r>
              <a:rPr lang="en-US" altLang="zh-CN" sz="2000" dirty="0">
                <a:ea typeface="宋体" panose="02010600030101010101" pitchFamily="2" charset="-122"/>
              </a:rPr>
              <a:t>     </a:t>
            </a:r>
            <a:endParaRPr lang="en-US" altLang="zh-CN" sz="2000" dirty="0">
              <a:ea typeface="宋体" panose="02010600030101010101" pitchFamily="2" charset="-122"/>
            </a:endParaRPr>
          </a:p>
        </p:txBody>
      </p:sp>
      <p:sp>
        <p:nvSpPr>
          <p:cNvPr id="48132" name="矩形 3"/>
          <p:cNvSpPr/>
          <p:nvPr/>
        </p:nvSpPr>
        <p:spPr>
          <a:xfrm>
            <a:off x="1265238" y="2360613"/>
            <a:ext cx="7762875" cy="19399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en-US" altLang="zh-CN" sz="2000" dirty="0">
                <a:ea typeface="宋体" panose="02010600030101010101" pitchFamily="2" charset="-122"/>
              </a:rPr>
              <a:t>1)  it contacts the other servers to ensure that it is brought up to date before carrying out the read operation.   or </a:t>
            </a:r>
            <a:endParaRPr lang="en-US" altLang="zh-CN" sz="2000" dirty="0">
              <a:ea typeface="宋体" panose="02010600030101010101" pitchFamily="2" charset="-122"/>
            </a:endParaRPr>
          </a:p>
          <a:p>
            <a:pPr marL="0" lvl="0" indent="0" algn="l" eaLnBrk="1" hangingPunct="1">
              <a:lnSpc>
                <a:spcPct val="150000"/>
              </a:lnSpc>
              <a:spcBef>
                <a:spcPct val="0"/>
              </a:spcBef>
              <a:buClrTx/>
              <a:buNone/>
            </a:pPr>
            <a:r>
              <a:rPr lang="en-US" altLang="zh-CN" sz="2000" dirty="0">
                <a:ea typeface="宋体" panose="02010600030101010101" pitchFamily="2" charset="-122"/>
              </a:rPr>
              <a:t>2) the read operation is forwarded to a server where the write operations that already taken place.</a:t>
            </a:r>
            <a:endParaRPr lang="zh-CN" altLang="en-US" sz="2000" dirty="0">
              <a:ea typeface="宋体" panose="02010600030101010101" pitchFamily="2" charset="-122"/>
            </a:endParaRPr>
          </a:p>
        </p:txBody>
      </p:sp>
      <p:grpSp>
        <p:nvGrpSpPr>
          <p:cNvPr id="48133" name="Group 21"/>
          <p:cNvGrpSpPr/>
          <p:nvPr/>
        </p:nvGrpSpPr>
        <p:grpSpPr>
          <a:xfrm>
            <a:off x="766763" y="4416425"/>
            <a:ext cx="3478212" cy="2203450"/>
            <a:chOff x="1988" y="1202"/>
            <a:chExt cx="2833" cy="1856"/>
          </a:xfrm>
        </p:grpSpPr>
        <p:cxnSp>
          <p:nvCxnSpPr>
            <p:cNvPr id="48139" name="AutoShape 13"/>
            <p:cNvCxnSpPr/>
            <p:nvPr/>
          </p:nvCxnSpPr>
          <p:spPr>
            <a:xfrm rot="10800000">
              <a:off x="2850" y="1474"/>
              <a:ext cx="40" cy="1037"/>
            </a:xfrm>
            <a:prstGeom prst="curvedConnector4">
              <a:avLst>
                <a:gd name="adj1" fmla="val 465667"/>
                <a:gd name="adj2" fmla="val 94245"/>
              </a:avLst>
            </a:prstGeom>
            <a:ln w="9525" cap="flat" cmpd="sng">
              <a:solidFill>
                <a:schemeClr val="tx1"/>
              </a:solidFill>
              <a:prstDash val="solid"/>
              <a:headEnd type="none" w="med" len="med"/>
              <a:tailEnd type="triangle" w="med" len="med"/>
            </a:ln>
          </p:spPr>
        </p:cxnSp>
        <p:grpSp>
          <p:nvGrpSpPr>
            <p:cNvPr id="48140" name="Group 15"/>
            <p:cNvGrpSpPr/>
            <p:nvPr/>
          </p:nvGrpSpPr>
          <p:grpSpPr>
            <a:xfrm>
              <a:off x="1988" y="1202"/>
              <a:ext cx="2833" cy="1856"/>
              <a:chOff x="1180" y="1120"/>
              <a:chExt cx="2833" cy="1856"/>
            </a:xfrm>
          </p:grpSpPr>
          <p:sp>
            <p:nvSpPr>
              <p:cNvPr id="48141" name="Oval 5"/>
              <p:cNvSpPr/>
              <p:nvPr/>
            </p:nvSpPr>
            <p:spPr>
              <a:xfrm>
                <a:off x="2041" y="1120"/>
                <a:ext cx="321" cy="32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8142" name="Oval 6"/>
              <p:cNvSpPr/>
              <p:nvPr/>
            </p:nvSpPr>
            <p:spPr>
              <a:xfrm>
                <a:off x="3692" y="2146"/>
                <a:ext cx="321" cy="32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8143" name="Text Box 8"/>
              <p:cNvSpPr txBox="1"/>
              <p:nvPr/>
            </p:nvSpPr>
            <p:spPr>
              <a:xfrm>
                <a:off x="1712" y="2724"/>
                <a:ext cx="1217"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Client A</a:t>
                </a:r>
                <a:endParaRPr lang="en-US" altLang="zh-CN" sz="2000" dirty="0">
                  <a:ea typeface="宋体" panose="02010600030101010101" pitchFamily="2" charset="-122"/>
                </a:endParaRPr>
              </a:p>
            </p:txBody>
          </p:sp>
          <p:sp>
            <p:nvSpPr>
              <p:cNvPr id="48144" name="AutoShape 11"/>
              <p:cNvSpPr/>
              <p:nvPr/>
            </p:nvSpPr>
            <p:spPr>
              <a:xfrm rot="-3499316">
                <a:off x="2712" y="1330"/>
                <a:ext cx="407" cy="1028"/>
              </a:xfrm>
              <a:prstGeom prst="upArrow">
                <a:avLst>
                  <a:gd name="adj1" fmla="val 50000"/>
                  <a:gd name="adj2" fmla="val 54316"/>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8145" name="Text Box 12"/>
              <p:cNvSpPr txBox="1"/>
              <p:nvPr/>
            </p:nvSpPr>
            <p:spPr>
              <a:xfrm>
                <a:off x="2993" y="1522"/>
                <a:ext cx="962"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Read-set</a:t>
                </a:r>
                <a:endParaRPr lang="en-US" altLang="zh-CN" sz="2000" dirty="0">
                  <a:ea typeface="宋体" panose="02010600030101010101" pitchFamily="2" charset="-122"/>
                </a:endParaRPr>
              </a:p>
            </p:txBody>
          </p:sp>
          <p:sp>
            <p:nvSpPr>
              <p:cNvPr id="48146" name="Text Box 14"/>
              <p:cNvSpPr txBox="1"/>
              <p:nvPr/>
            </p:nvSpPr>
            <p:spPr>
              <a:xfrm>
                <a:off x="1180" y="1856"/>
                <a:ext cx="740"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Read</a:t>
                </a:r>
                <a:endParaRPr lang="en-US" altLang="zh-CN" sz="2000" dirty="0">
                  <a:ea typeface="宋体" panose="02010600030101010101" pitchFamily="2" charset="-122"/>
                </a:endParaRPr>
              </a:p>
            </p:txBody>
          </p:sp>
        </p:grpSp>
      </p:grpSp>
      <p:sp>
        <p:nvSpPr>
          <p:cNvPr id="48134" name="矩形 17"/>
          <p:cNvSpPr/>
          <p:nvPr/>
        </p:nvSpPr>
        <p:spPr>
          <a:xfrm>
            <a:off x="4440238" y="4340225"/>
            <a:ext cx="4608512" cy="24003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en-US" altLang="zh-CN" sz="2000" dirty="0">
                <a:ea typeface="宋体" panose="02010600030101010101" pitchFamily="2" charset="-122"/>
              </a:rPr>
              <a:t> After the read operation is performed, the write operations that have taken place at the selected server and which are relevant for the read operation, are added to the client’s read set.  </a:t>
            </a:r>
            <a:endParaRPr lang="zh-CN" altLang="en-US" sz="2000" dirty="0">
              <a:ea typeface="宋体" panose="02010600030101010101" pitchFamily="2" charset="-122"/>
            </a:endParaRPr>
          </a:p>
        </p:txBody>
      </p:sp>
      <p:sp>
        <p:nvSpPr>
          <p:cNvPr id="48135" name="等腰三角形 1"/>
          <p:cNvSpPr/>
          <p:nvPr/>
        </p:nvSpPr>
        <p:spPr>
          <a:xfrm>
            <a:off x="1798638" y="5857875"/>
            <a:ext cx="404812" cy="333375"/>
          </a:xfrm>
          <a:prstGeom prst="triangle">
            <a:avLst>
              <a:gd name="adj" fmla="val 50000"/>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sp>
        <p:nvSpPr>
          <p:cNvPr id="48136" name="Text Box 14"/>
          <p:cNvSpPr txBox="1"/>
          <p:nvPr/>
        </p:nvSpPr>
        <p:spPr>
          <a:xfrm>
            <a:off x="2768600" y="5969000"/>
            <a:ext cx="908050" cy="2984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Read</a:t>
            </a:r>
            <a:endParaRPr lang="en-US" altLang="zh-CN" sz="2000" dirty="0">
              <a:ea typeface="宋体" panose="02010600030101010101" pitchFamily="2" charset="-122"/>
            </a:endParaRPr>
          </a:p>
        </p:txBody>
      </p:sp>
      <p:cxnSp>
        <p:nvCxnSpPr>
          <p:cNvPr id="48137" name="直接箭头连接符 2"/>
          <p:cNvCxnSpPr>
            <a:endCxn id="48135" idx="4"/>
          </p:cNvCxnSpPr>
          <p:nvPr/>
        </p:nvCxnSpPr>
        <p:spPr>
          <a:xfrm flipH="1">
            <a:off x="2203450" y="5813425"/>
            <a:ext cx="1647825" cy="377825"/>
          </a:xfrm>
          <a:prstGeom prst="straightConnector1">
            <a:avLst/>
          </a:prstGeom>
          <a:ln w="9525" cap="flat" cmpd="sng">
            <a:solidFill>
              <a:schemeClr val="tx1"/>
            </a:solidFill>
            <a:prstDash val="solid"/>
            <a:headEnd type="none" w="med" len="med"/>
            <a:tailEnd type="triangle" w="med" len="med"/>
          </a:ln>
        </p:spPr>
      </p:cxnSp>
      <p:cxnSp>
        <p:nvCxnSpPr>
          <p:cNvPr id="48138" name="直接箭头连接符 23"/>
          <p:cNvCxnSpPr>
            <a:endCxn id="48141" idx="6"/>
          </p:cNvCxnSpPr>
          <p:nvPr/>
        </p:nvCxnSpPr>
        <p:spPr>
          <a:xfrm flipH="1" flipV="1">
            <a:off x="2217738" y="4611688"/>
            <a:ext cx="1703387" cy="1085850"/>
          </a:xfrm>
          <a:prstGeom prst="straightConnector1">
            <a:avLst/>
          </a:prstGeom>
          <a:ln w="9525" cap="flat" cmpd="sng">
            <a:solidFill>
              <a:schemeClr val="tx1"/>
            </a:solidFill>
            <a:prstDash val="solid"/>
            <a:headEnd type="none" w="med" len="med"/>
            <a:tailEnd type="triangle" w="med" len="med"/>
          </a:ln>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0" y="0"/>
            <a:ext cx="9144000" cy="788988"/>
          </a:xfrm>
        </p:spPr>
        <p:txBody>
          <a:bodyPr vert="horz" wrap="square" lIns="91440" tIns="45720" rIns="91440" bIns="45720" anchor="ctr" anchorCtr="0"/>
          <a:lstStyle/>
          <a:p>
            <a:pPr eaLnBrk="1" hangingPunct="1"/>
            <a:r>
              <a:rPr lang="en-US" altLang="zh-CN" dirty="0">
                <a:ea typeface="宋体" panose="02010600030101010101" pitchFamily="2" charset="-122"/>
              </a:rPr>
              <a:t>Implementation(7.3.6)</a:t>
            </a:r>
            <a:endParaRPr lang="en-US" altLang="zh-CN" dirty="0">
              <a:ea typeface="宋体" panose="02010600030101010101" pitchFamily="2" charset="-122"/>
            </a:endParaRPr>
          </a:p>
        </p:txBody>
      </p:sp>
      <p:sp>
        <p:nvSpPr>
          <p:cNvPr id="49155" name="Rectangle 3"/>
          <p:cNvSpPr>
            <a:spLocks noGrp="1"/>
          </p:cNvSpPr>
          <p:nvPr>
            <p:ph idx="1"/>
          </p:nvPr>
        </p:nvSpPr>
        <p:spPr>
          <a:xfrm>
            <a:off x="198438" y="788988"/>
            <a:ext cx="8820150" cy="2470150"/>
          </a:xfrm>
        </p:spPr>
        <p:txBody>
          <a:bodyPr vert="horz" wrap="square" lIns="91440" tIns="45720" rIns="91440" bIns="45720" anchor="t" anchorCtr="0"/>
          <a:lstStyle/>
          <a:p>
            <a:pPr marL="0" indent="0" algn="l" eaLnBrk="1" hangingPunct="1">
              <a:lnSpc>
                <a:spcPct val="150000"/>
              </a:lnSpc>
              <a:buNone/>
            </a:pPr>
            <a:r>
              <a:rPr lang="en-US" altLang="zh-CN" sz="2000" u="sng" dirty="0">
                <a:solidFill>
                  <a:srgbClr val="FF0000"/>
                </a:solidFill>
                <a:ea typeface="宋体" panose="02010600030101010101" pitchFamily="2" charset="-122"/>
              </a:rPr>
              <a:t>monotonic-write consistency:  </a:t>
            </a:r>
            <a:r>
              <a:rPr lang="en-US" altLang="zh-CN" sz="2000" dirty="0">
                <a:ea typeface="宋体" panose="02010600030101010101" pitchFamily="2" charset="-122"/>
              </a:rPr>
              <a:t>whenever a client initiate a new write operation at a server, it contacts the other servers to ensure that it is brought up to date before carrying out the write operation. or the write set is forwarded to a server where the write operations that already taken place. It then ensures that the identified write operations are performed first and in the correct order.</a:t>
            </a:r>
            <a:endParaRPr lang="en-US" altLang="zh-CN" sz="2000" dirty="0">
              <a:ea typeface="宋体" panose="02010600030101010101" pitchFamily="2" charset="-122"/>
            </a:endParaRPr>
          </a:p>
        </p:txBody>
      </p:sp>
      <p:grpSp>
        <p:nvGrpSpPr>
          <p:cNvPr id="49156" name="组合 3"/>
          <p:cNvGrpSpPr/>
          <p:nvPr/>
        </p:nvGrpSpPr>
        <p:grpSpPr>
          <a:xfrm>
            <a:off x="941388" y="3678238"/>
            <a:ext cx="3667125" cy="2289175"/>
            <a:chOff x="2566988" y="1778000"/>
            <a:chExt cx="4591050" cy="2946400"/>
          </a:xfrm>
        </p:grpSpPr>
        <p:grpSp>
          <p:nvGrpSpPr>
            <p:cNvPr id="49161" name="Group 7"/>
            <p:cNvGrpSpPr/>
            <p:nvPr/>
          </p:nvGrpSpPr>
          <p:grpSpPr>
            <a:xfrm>
              <a:off x="2566988" y="1778000"/>
              <a:ext cx="4591050" cy="2946400"/>
              <a:chOff x="1121" y="1120"/>
              <a:chExt cx="2892" cy="1856"/>
            </a:xfrm>
          </p:grpSpPr>
          <p:sp>
            <p:nvSpPr>
              <p:cNvPr id="49165" name="Oval 8"/>
              <p:cNvSpPr/>
              <p:nvPr/>
            </p:nvSpPr>
            <p:spPr>
              <a:xfrm>
                <a:off x="2041" y="1120"/>
                <a:ext cx="321" cy="32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66" name="Oval 9"/>
              <p:cNvSpPr/>
              <p:nvPr/>
            </p:nvSpPr>
            <p:spPr>
              <a:xfrm>
                <a:off x="3692" y="2146"/>
                <a:ext cx="321" cy="32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67" name="Text Box 10"/>
              <p:cNvSpPr txBox="1"/>
              <p:nvPr/>
            </p:nvSpPr>
            <p:spPr>
              <a:xfrm>
                <a:off x="1712" y="2724"/>
                <a:ext cx="1217"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Client A</a:t>
                </a:r>
                <a:endParaRPr lang="en-US" altLang="zh-CN" sz="2000" dirty="0">
                  <a:ea typeface="宋体" panose="02010600030101010101" pitchFamily="2" charset="-122"/>
                </a:endParaRPr>
              </a:p>
            </p:txBody>
          </p:sp>
          <p:sp>
            <p:nvSpPr>
              <p:cNvPr id="49168" name="AutoShape 11"/>
              <p:cNvSpPr/>
              <p:nvPr/>
            </p:nvSpPr>
            <p:spPr>
              <a:xfrm rot="-3417843">
                <a:off x="2726" y="1316"/>
                <a:ext cx="405" cy="1051"/>
              </a:xfrm>
              <a:prstGeom prst="upArrow">
                <a:avLst>
                  <a:gd name="adj1" fmla="val 50000"/>
                  <a:gd name="adj2" fmla="val 54316"/>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69" name="Text Box 12"/>
              <p:cNvSpPr txBox="1"/>
              <p:nvPr/>
            </p:nvSpPr>
            <p:spPr>
              <a:xfrm>
                <a:off x="2814" y="1422"/>
                <a:ext cx="962"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Write-set</a:t>
                </a:r>
                <a:endParaRPr lang="en-US" altLang="zh-CN" sz="2000" dirty="0">
                  <a:ea typeface="宋体" panose="02010600030101010101" pitchFamily="2" charset="-122"/>
                </a:endParaRPr>
              </a:p>
            </p:txBody>
          </p:sp>
          <p:sp>
            <p:nvSpPr>
              <p:cNvPr id="49170" name="Text Box 13"/>
              <p:cNvSpPr txBox="1"/>
              <p:nvPr/>
            </p:nvSpPr>
            <p:spPr>
              <a:xfrm>
                <a:off x="1121" y="1715"/>
                <a:ext cx="740"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Write</a:t>
                </a:r>
                <a:endParaRPr lang="en-US" altLang="zh-CN" sz="2000" dirty="0">
                  <a:ea typeface="宋体" panose="02010600030101010101" pitchFamily="2" charset="-122"/>
                </a:endParaRPr>
              </a:p>
            </p:txBody>
          </p:sp>
        </p:grpSp>
        <p:grpSp>
          <p:nvGrpSpPr>
            <p:cNvPr id="49162" name="Group 19"/>
            <p:cNvGrpSpPr/>
            <p:nvPr/>
          </p:nvGrpSpPr>
          <p:grpSpPr>
            <a:xfrm>
              <a:off x="4519613" y="2039938"/>
              <a:ext cx="2203450" cy="1981200"/>
              <a:chOff x="2847" y="1285"/>
              <a:chExt cx="1388" cy="1248"/>
            </a:xfrm>
          </p:grpSpPr>
          <p:cxnSp>
            <p:nvCxnSpPr>
              <p:cNvPr id="49163" name="AutoShape 20"/>
              <p:cNvCxnSpPr/>
              <p:nvPr/>
            </p:nvCxnSpPr>
            <p:spPr>
              <a:xfrm>
                <a:off x="2858" y="1285"/>
                <a:ext cx="1377" cy="909"/>
              </a:xfrm>
              <a:prstGeom prst="straightConnector1">
                <a:avLst/>
              </a:prstGeom>
              <a:ln w="9525" cap="flat" cmpd="sng">
                <a:solidFill>
                  <a:schemeClr val="tx1"/>
                </a:solidFill>
                <a:prstDash val="solid"/>
                <a:headEnd type="triangle" w="med" len="med"/>
                <a:tailEnd type="triangle" w="med" len="med"/>
              </a:ln>
            </p:spPr>
          </p:cxnSp>
          <p:cxnSp>
            <p:nvCxnSpPr>
              <p:cNvPr id="49164" name="AutoShape 21"/>
              <p:cNvCxnSpPr/>
              <p:nvPr/>
            </p:nvCxnSpPr>
            <p:spPr>
              <a:xfrm flipV="1">
                <a:off x="2847" y="2311"/>
                <a:ext cx="1341" cy="222"/>
              </a:xfrm>
              <a:prstGeom prst="straightConnector1">
                <a:avLst/>
              </a:prstGeom>
              <a:ln w="9525" cap="flat" cmpd="sng">
                <a:solidFill>
                  <a:schemeClr val="tx1"/>
                </a:solidFill>
                <a:prstDash val="solid"/>
                <a:headEnd type="triangle" w="med" len="med"/>
                <a:tailEnd type="triangle" w="med" len="med"/>
              </a:ln>
            </p:spPr>
          </p:cxnSp>
        </p:grpSp>
      </p:grpSp>
      <p:sp>
        <p:nvSpPr>
          <p:cNvPr id="49157" name="矩形 17"/>
          <p:cNvSpPr/>
          <p:nvPr/>
        </p:nvSpPr>
        <p:spPr>
          <a:xfrm>
            <a:off x="5076825" y="4159250"/>
            <a:ext cx="4143375" cy="14779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en-US" altLang="zh-CN" sz="2000" dirty="0">
                <a:ea typeface="宋体" panose="02010600030101010101" pitchFamily="2" charset="-122"/>
              </a:rPr>
              <a:t>After performing the new operation, that operation’s write identifier is added to the write set.</a:t>
            </a:r>
            <a:endParaRPr lang="en-US" altLang="zh-CN" sz="2000" dirty="0">
              <a:ea typeface="宋体" panose="02010600030101010101" pitchFamily="2" charset="-122"/>
            </a:endParaRPr>
          </a:p>
        </p:txBody>
      </p:sp>
      <p:sp>
        <p:nvSpPr>
          <p:cNvPr id="49158" name="等腰三角形 20"/>
          <p:cNvSpPr/>
          <p:nvPr/>
        </p:nvSpPr>
        <p:spPr>
          <a:xfrm>
            <a:off x="2136775" y="5183188"/>
            <a:ext cx="404813" cy="333375"/>
          </a:xfrm>
          <a:prstGeom prst="triangle">
            <a:avLst>
              <a:gd name="adj" fmla="val 50000"/>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cxnSp>
        <p:nvCxnSpPr>
          <p:cNvPr id="49159" name="AutoShape 13"/>
          <p:cNvCxnSpPr/>
          <p:nvPr/>
        </p:nvCxnSpPr>
        <p:spPr>
          <a:xfrm rot="10800000">
            <a:off x="2087563" y="4046538"/>
            <a:ext cx="49212" cy="1230312"/>
          </a:xfrm>
          <a:prstGeom prst="curvedConnector4">
            <a:avLst>
              <a:gd name="adj1" fmla="val 465667"/>
              <a:gd name="adj2" fmla="val 94245"/>
            </a:avLst>
          </a:prstGeom>
          <a:ln w="9525" cap="flat" cmpd="sng">
            <a:solidFill>
              <a:schemeClr val="tx1"/>
            </a:solidFill>
            <a:prstDash val="solid"/>
            <a:headEnd type="none" w="med" len="med"/>
            <a:tailEnd type="triangle" w="med" len="med"/>
          </a:ln>
        </p:spPr>
      </p:cxnSp>
      <p:sp>
        <p:nvSpPr>
          <p:cNvPr id="49160" name="Text Box 13"/>
          <p:cNvSpPr txBox="1"/>
          <p:nvPr/>
        </p:nvSpPr>
        <p:spPr>
          <a:xfrm>
            <a:off x="2947988" y="5265738"/>
            <a:ext cx="938212" cy="3111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Write</a:t>
            </a:r>
            <a:endParaRPr lang="en-US" altLang="zh-CN" sz="2000"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0" y="0"/>
            <a:ext cx="9144000" cy="665163"/>
          </a:xfrm>
        </p:spPr>
        <p:txBody>
          <a:bodyPr vert="horz" wrap="square" lIns="91440" tIns="45720" rIns="91440" bIns="45720" anchor="ctr" anchorCtr="0"/>
          <a:lstStyle/>
          <a:p>
            <a:pPr eaLnBrk="1" hangingPunct="1"/>
            <a:r>
              <a:rPr lang="en-US" altLang="zh-CN" dirty="0">
                <a:ea typeface="宋体" panose="02010600030101010101" pitchFamily="2" charset="-122"/>
              </a:rPr>
              <a:t>Implementation(7.3.6)</a:t>
            </a:r>
            <a:endParaRPr lang="en-US" altLang="zh-CN" dirty="0">
              <a:ea typeface="宋体" panose="02010600030101010101" pitchFamily="2" charset="-122"/>
            </a:endParaRPr>
          </a:p>
        </p:txBody>
      </p:sp>
      <p:sp>
        <p:nvSpPr>
          <p:cNvPr id="50179" name="Rectangle 3"/>
          <p:cNvSpPr>
            <a:spLocks noGrp="1"/>
          </p:cNvSpPr>
          <p:nvPr>
            <p:ph idx="1"/>
          </p:nvPr>
        </p:nvSpPr>
        <p:spPr>
          <a:xfrm>
            <a:off x="134938" y="665163"/>
            <a:ext cx="9009062" cy="2992437"/>
          </a:xfrm>
        </p:spPr>
        <p:txBody>
          <a:bodyPr vert="horz" wrap="square" lIns="91440" tIns="45720" rIns="91440" bIns="45720" anchor="t" anchorCtr="0"/>
          <a:lstStyle/>
          <a:p>
            <a:pPr marL="0" indent="0" algn="l" eaLnBrk="1" hangingPunct="1">
              <a:lnSpc>
                <a:spcPct val="150000"/>
              </a:lnSpc>
              <a:buNone/>
            </a:pPr>
            <a:r>
              <a:rPr lang="en-US" altLang="zh-CN" sz="2000" u="sng" dirty="0">
                <a:solidFill>
                  <a:srgbClr val="FF0000"/>
                </a:solidFill>
                <a:ea typeface="宋体" panose="02010600030101010101" pitchFamily="2" charset="-122"/>
              </a:rPr>
              <a:t>read-your-writes consistency: </a:t>
            </a:r>
            <a:r>
              <a:rPr lang="en-US" altLang="zh-CN" sz="2000" dirty="0">
                <a:ea typeface="宋体" panose="02010600030101010101" pitchFamily="2" charset="-122"/>
              </a:rPr>
              <a:t>Requiring that the server where the read operation is performed has seen all the write operations in the client’s write set.</a:t>
            </a:r>
            <a:endParaRPr lang="en-US" altLang="zh-CN" sz="2000" dirty="0">
              <a:ea typeface="宋体" panose="02010600030101010101" pitchFamily="2" charset="-122"/>
            </a:endParaRPr>
          </a:p>
          <a:p>
            <a:pPr marL="0" indent="0" algn="l" eaLnBrk="1" hangingPunct="1">
              <a:lnSpc>
                <a:spcPct val="150000"/>
              </a:lnSpc>
              <a:buNone/>
            </a:pPr>
            <a:r>
              <a:rPr lang="en-US" altLang="zh-CN" sz="2000" dirty="0">
                <a:ea typeface="宋体" panose="02010600030101010101" pitchFamily="2" charset="-122"/>
              </a:rPr>
              <a:t>      1) The writes can simply be fetched from other servers before the read operation is performed.</a:t>
            </a:r>
            <a:endParaRPr lang="en-US" altLang="zh-CN" sz="2000" dirty="0">
              <a:ea typeface="宋体" panose="02010600030101010101" pitchFamily="2" charset="-122"/>
            </a:endParaRPr>
          </a:p>
          <a:p>
            <a:pPr marL="0" indent="0" algn="l" eaLnBrk="1" hangingPunct="1">
              <a:lnSpc>
                <a:spcPct val="150000"/>
              </a:lnSpc>
              <a:buNone/>
            </a:pPr>
            <a:r>
              <a:rPr lang="en-US" altLang="zh-CN" sz="2000" dirty="0">
                <a:ea typeface="宋体" panose="02010600030101010101" pitchFamily="2" charset="-122"/>
              </a:rPr>
              <a:t>      2) The client-side software can search for a server where the identified write operations in the client’s write set have already been performed. </a:t>
            </a:r>
            <a:endParaRPr lang="en-US" altLang="zh-CN" sz="2000" dirty="0">
              <a:ea typeface="宋体" panose="02010600030101010101" pitchFamily="2" charset="-122"/>
            </a:endParaRPr>
          </a:p>
        </p:txBody>
      </p:sp>
      <p:grpSp>
        <p:nvGrpSpPr>
          <p:cNvPr id="50180" name="组合 2"/>
          <p:cNvGrpSpPr/>
          <p:nvPr/>
        </p:nvGrpSpPr>
        <p:grpSpPr>
          <a:xfrm>
            <a:off x="2176463" y="3860800"/>
            <a:ext cx="3476625" cy="2203450"/>
            <a:chOff x="2176613" y="3860040"/>
            <a:chExt cx="3477231" cy="2203450"/>
          </a:xfrm>
        </p:grpSpPr>
        <p:grpSp>
          <p:nvGrpSpPr>
            <p:cNvPr id="50181" name="组合 15"/>
            <p:cNvGrpSpPr/>
            <p:nvPr/>
          </p:nvGrpSpPr>
          <p:grpSpPr>
            <a:xfrm>
              <a:off x="2176613" y="3860040"/>
              <a:ext cx="3477231" cy="2203450"/>
              <a:chOff x="3155951" y="1908175"/>
              <a:chExt cx="4497388" cy="2946400"/>
            </a:xfrm>
          </p:grpSpPr>
          <p:grpSp>
            <p:nvGrpSpPr>
              <p:cNvPr id="50184" name="Group 21"/>
              <p:cNvGrpSpPr/>
              <p:nvPr/>
            </p:nvGrpSpPr>
            <p:grpSpPr>
              <a:xfrm>
                <a:off x="3155951" y="1908175"/>
                <a:ext cx="4497388" cy="2946400"/>
                <a:chOff x="1988" y="1202"/>
                <a:chExt cx="2833" cy="1856"/>
              </a:xfrm>
            </p:grpSpPr>
            <p:cxnSp>
              <p:nvCxnSpPr>
                <p:cNvPr id="50188" name="AutoShape 13"/>
                <p:cNvCxnSpPr/>
                <p:nvPr/>
              </p:nvCxnSpPr>
              <p:spPr>
                <a:xfrm rot="10800000">
                  <a:off x="2850" y="1474"/>
                  <a:ext cx="40" cy="1037"/>
                </a:xfrm>
                <a:prstGeom prst="curvedConnector4">
                  <a:avLst>
                    <a:gd name="adj1" fmla="val 465667"/>
                    <a:gd name="adj2" fmla="val 94245"/>
                  </a:avLst>
                </a:prstGeom>
                <a:ln w="9525" cap="flat" cmpd="sng">
                  <a:solidFill>
                    <a:schemeClr val="tx1"/>
                  </a:solidFill>
                  <a:prstDash val="solid"/>
                  <a:headEnd type="none" w="med" len="med"/>
                  <a:tailEnd type="triangle" w="med" len="med"/>
                </a:ln>
              </p:spPr>
            </p:cxnSp>
            <p:grpSp>
              <p:nvGrpSpPr>
                <p:cNvPr id="50189" name="Group 15"/>
                <p:cNvGrpSpPr/>
                <p:nvPr/>
              </p:nvGrpSpPr>
              <p:grpSpPr>
                <a:xfrm>
                  <a:off x="1988" y="1202"/>
                  <a:ext cx="2833" cy="1856"/>
                  <a:chOff x="1180" y="1120"/>
                  <a:chExt cx="2833" cy="1856"/>
                </a:xfrm>
              </p:grpSpPr>
              <p:sp>
                <p:nvSpPr>
                  <p:cNvPr id="50190" name="Oval 5"/>
                  <p:cNvSpPr/>
                  <p:nvPr/>
                </p:nvSpPr>
                <p:spPr>
                  <a:xfrm>
                    <a:off x="2041" y="1120"/>
                    <a:ext cx="321" cy="32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50191" name="Oval 6"/>
                  <p:cNvSpPr/>
                  <p:nvPr/>
                </p:nvSpPr>
                <p:spPr>
                  <a:xfrm>
                    <a:off x="3692" y="2146"/>
                    <a:ext cx="321" cy="32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50192" name="Text Box 8"/>
                  <p:cNvSpPr txBox="1"/>
                  <p:nvPr/>
                </p:nvSpPr>
                <p:spPr>
                  <a:xfrm>
                    <a:off x="1712" y="2724"/>
                    <a:ext cx="1217"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Client A</a:t>
                    </a:r>
                    <a:endParaRPr lang="en-US" altLang="zh-CN" sz="2000" dirty="0">
                      <a:ea typeface="宋体" panose="02010600030101010101" pitchFamily="2" charset="-122"/>
                    </a:endParaRPr>
                  </a:p>
                </p:txBody>
              </p:sp>
              <p:sp>
                <p:nvSpPr>
                  <p:cNvPr id="50193" name="AutoShape 11"/>
                  <p:cNvSpPr/>
                  <p:nvPr/>
                </p:nvSpPr>
                <p:spPr>
                  <a:xfrm rot="-3499316">
                    <a:off x="2712" y="1330"/>
                    <a:ext cx="407" cy="1028"/>
                  </a:xfrm>
                  <a:prstGeom prst="upArrow">
                    <a:avLst>
                      <a:gd name="adj1" fmla="val 50000"/>
                      <a:gd name="adj2" fmla="val 54316"/>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50194" name="Text Box 12"/>
                  <p:cNvSpPr txBox="1"/>
                  <p:nvPr/>
                </p:nvSpPr>
                <p:spPr>
                  <a:xfrm>
                    <a:off x="2868" y="1418"/>
                    <a:ext cx="962" cy="3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Write-set</a:t>
                    </a:r>
                    <a:endParaRPr lang="en-US" altLang="zh-CN" sz="2000" dirty="0">
                      <a:ea typeface="宋体" panose="02010600030101010101" pitchFamily="2" charset="-122"/>
                    </a:endParaRPr>
                  </a:p>
                </p:txBody>
              </p:sp>
              <p:sp>
                <p:nvSpPr>
                  <p:cNvPr id="50195" name="Text Box 14"/>
                  <p:cNvSpPr txBox="1"/>
                  <p:nvPr/>
                </p:nvSpPr>
                <p:spPr>
                  <a:xfrm>
                    <a:off x="1180" y="1856"/>
                    <a:ext cx="740"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Read</a:t>
                    </a:r>
                    <a:endParaRPr lang="en-US" altLang="zh-CN" sz="2000" dirty="0">
                      <a:ea typeface="宋体" panose="02010600030101010101" pitchFamily="2" charset="-122"/>
                    </a:endParaRPr>
                  </a:p>
                </p:txBody>
              </p:sp>
            </p:grpSp>
          </p:grpSp>
          <p:grpSp>
            <p:nvGrpSpPr>
              <p:cNvPr id="50185" name="Group 17"/>
              <p:cNvGrpSpPr/>
              <p:nvPr/>
            </p:nvGrpSpPr>
            <p:grpSpPr>
              <a:xfrm>
                <a:off x="5029200" y="2195513"/>
                <a:ext cx="2203450" cy="1981200"/>
                <a:chOff x="2847" y="1285"/>
                <a:chExt cx="1388" cy="1248"/>
              </a:xfrm>
            </p:grpSpPr>
            <p:cxnSp>
              <p:nvCxnSpPr>
                <p:cNvPr id="50186" name="AutoShape 18"/>
                <p:cNvCxnSpPr/>
                <p:nvPr/>
              </p:nvCxnSpPr>
              <p:spPr>
                <a:xfrm>
                  <a:off x="2858" y="1285"/>
                  <a:ext cx="1377" cy="909"/>
                </a:xfrm>
                <a:prstGeom prst="straightConnector1">
                  <a:avLst/>
                </a:prstGeom>
                <a:ln w="9525" cap="flat" cmpd="sng">
                  <a:solidFill>
                    <a:schemeClr val="tx1"/>
                  </a:solidFill>
                  <a:prstDash val="solid"/>
                  <a:headEnd type="triangle" w="med" len="med"/>
                  <a:tailEnd type="triangle" w="med" len="med"/>
                </a:ln>
              </p:spPr>
            </p:cxnSp>
            <p:cxnSp>
              <p:nvCxnSpPr>
                <p:cNvPr id="50187" name="AutoShape 19"/>
                <p:cNvCxnSpPr/>
                <p:nvPr/>
              </p:nvCxnSpPr>
              <p:spPr>
                <a:xfrm flipV="1">
                  <a:off x="2847" y="2311"/>
                  <a:ext cx="1341" cy="222"/>
                </a:xfrm>
                <a:prstGeom prst="straightConnector1">
                  <a:avLst/>
                </a:prstGeom>
                <a:ln w="9525" cap="flat" cmpd="sng">
                  <a:solidFill>
                    <a:schemeClr val="tx1"/>
                  </a:solidFill>
                  <a:prstDash val="solid"/>
                  <a:headEnd type="triangle" w="med" len="med"/>
                  <a:tailEnd type="triangle" w="med" len="med"/>
                </a:ln>
              </p:spPr>
            </p:cxnSp>
          </p:grpSp>
        </p:grpSp>
        <p:sp>
          <p:nvSpPr>
            <p:cNvPr id="50182" name="等腰三角形 32"/>
            <p:cNvSpPr/>
            <p:nvPr/>
          </p:nvSpPr>
          <p:spPr>
            <a:xfrm>
              <a:off x="3259181" y="5265091"/>
              <a:ext cx="405042" cy="333321"/>
            </a:xfrm>
            <a:prstGeom prst="triangle">
              <a:avLst>
                <a:gd name="adj" fmla="val 50000"/>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sp>
          <p:nvSpPr>
            <p:cNvPr id="50183" name="Text Box 13"/>
            <p:cNvSpPr txBox="1"/>
            <p:nvPr/>
          </p:nvSpPr>
          <p:spPr>
            <a:xfrm>
              <a:off x="3992844" y="5399504"/>
              <a:ext cx="938382" cy="31081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Write</a:t>
              </a:r>
              <a:endParaRPr lang="en-US" altLang="zh-CN" sz="2000" dirty="0">
                <a:ea typeface="宋体" panose="02010600030101010101" pitchFamily="2"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0" y="0"/>
            <a:ext cx="9144000" cy="873125"/>
          </a:xfrm>
        </p:spPr>
        <p:txBody>
          <a:bodyPr vert="horz" wrap="square" lIns="91440" tIns="45720" rIns="91440" bIns="45720" anchor="ctr" anchorCtr="0"/>
          <a:lstStyle/>
          <a:p>
            <a:pPr eaLnBrk="1" hangingPunct="1"/>
            <a:r>
              <a:rPr lang="en-US" altLang="zh-CN" dirty="0">
                <a:ea typeface="宋体" panose="02010600030101010101" pitchFamily="2" charset="-122"/>
              </a:rPr>
              <a:t>Implementation(7.3.6)</a:t>
            </a:r>
            <a:endParaRPr lang="en-US" altLang="zh-CN" dirty="0">
              <a:ea typeface="宋体" panose="02010600030101010101" pitchFamily="2" charset="-122"/>
            </a:endParaRPr>
          </a:p>
        </p:txBody>
      </p:sp>
      <p:sp>
        <p:nvSpPr>
          <p:cNvPr id="51203" name="Rectangle 3"/>
          <p:cNvSpPr>
            <a:spLocks noGrp="1"/>
          </p:cNvSpPr>
          <p:nvPr>
            <p:ph idx="1"/>
          </p:nvPr>
        </p:nvSpPr>
        <p:spPr>
          <a:xfrm>
            <a:off x="204788" y="858838"/>
            <a:ext cx="8734425" cy="2511425"/>
          </a:xfrm>
        </p:spPr>
        <p:txBody>
          <a:bodyPr vert="horz" wrap="square" lIns="91440" tIns="45720" rIns="91440" bIns="45720" anchor="t" anchorCtr="0"/>
          <a:lstStyle/>
          <a:p>
            <a:pPr marL="0" indent="0" algn="l" eaLnBrk="1" hangingPunct="1">
              <a:lnSpc>
                <a:spcPct val="150000"/>
              </a:lnSpc>
              <a:buNone/>
            </a:pPr>
            <a:r>
              <a:rPr lang="en-US" altLang="zh-CN" sz="2400" u="sng" dirty="0">
                <a:solidFill>
                  <a:srgbClr val="FF0000"/>
                </a:solidFill>
                <a:ea typeface="宋体" panose="02010600030101010101" pitchFamily="2" charset="-122"/>
              </a:rPr>
              <a:t>writes-follow-reads consistency: </a:t>
            </a:r>
            <a:endParaRPr lang="en-US" altLang="zh-CN" sz="2400" u="sng" dirty="0">
              <a:solidFill>
                <a:srgbClr val="FF0000"/>
              </a:solidFill>
              <a:ea typeface="宋体" panose="02010600030101010101" pitchFamily="2" charset="-122"/>
            </a:endParaRPr>
          </a:p>
          <a:p>
            <a:pPr marL="0" indent="0" algn="l" eaLnBrk="1" hangingPunct="1">
              <a:lnSpc>
                <a:spcPct val="150000"/>
              </a:lnSpc>
              <a:buNone/>
            </a:pPr>
            <a:r>
              <a:rPr lang="en-US" altLang="zh-CN" sz="2400" dirty="0">
                <a:ea typeface="宋体" panose="02010600030101010101" pitchFamily="2" charset="-122"/>
              </a:rPr>
              <a:t>         bringing the selected server up to date with the write operations in the client’s read set, and then later adding the identifier of the write operation to the write set, along with the identifiers in the read set.</a:t>
            </a:r>
            <a:endParaRPr lang="en-US" altLang="zh-CN" sz="2400" dirty="0">
              <a:ea typeface="宋体" panose="02010600030101010101" pitchFamily="2" charset="-122"/>
            </a:endParaRPr>
          </a:p>
          <a:p>
            <a:pPr marL="0" indent="0" algn="l" eaLnBrk="1" hangingPunct="1">
              <a:lnSpc>
                <a:spcPct val="150000"/>
              </a:lnSpc>
              <a:buNone/>
            </a:pPr>
            <a:endParaRPr lang="en-US" altLang="zh-CN" sz="2400" dirty="0">
              <a:ea typeface="宋体" panose="02010600030101010101" pitchFamily="2" charset="-122"/>
            </a:endParaRPr>
          </a:p>
          <a:p>
            <a:pPr marL="0" indent="0" algn="l" eaLnBrk="1" hangingPunct="1">
              <a:lnSpc>
                <a:spcPct val="150000"/>
              </a:lnSpc>
              <a:buNone/>
            </a:pPr>
            <a:endParaRPr lang="en-US" altLang="zh-CN" sz="2400" dirty="0">
              <a:ea typeface="宋体" panose="02010600030101010101" pitchFamily="2" charset="-122"/>
            </a:endParaRPr>
          </a:p>
          <a:p>
            <a:pPr marL="0" indent="0" algn="l" eaLnBrk="1" hangingPunct="1">
              <a:lnSpc>
                <a:spcPct val="150000"/>
              </a:lnSpc>
              <a:buNone/>
            </a:pPr>
            <a:endParaRPr lang="en-US" altLang="zh-CN" sz="2400" dirty="0">
              <a:ea typeface="宋体" panose="02010600030101010101" pitchFamily="2" charset="-122"/>
            </a:endParaRPr>
          </a:p>
        </p:txBody>
      </p:sp>
      <p:grpSp>
        <p:nvGrpSpPr>
          <p:cNvPr id="51204" name="组合 19"/>
          <p:cNvGrpSpPr/>
          <p:nvPr/>
        </p:nvGrpSpPr>
        <p:grpSpPr>
          <a:xfrm>
            <a:off x="2332038" y="3657600"/>
            <a:ext cx="3511550" cy="2203450"/>
            <a:chOff x="2142224" y="3860040"/>
            <a:chExt cx="3511620" cy="2203450"/>
          </a:xfrm>
        </p:grpSpPr>
        <p:grpSp>
          <p:nvGrpSpPr>
            <p:cNvPr id="51208" name="Group 15"/>
            <p:cNvGrpSpPr/>
            <p:nvPr/>
          </p:nvGrpSpPr>
          <p:grpSpPr>
            <a:xfrm>
              <a:off x="2829591" y="3860040"/>
              <a:ext cx="2824253" cy="2203450"/>
              <a:chOff x="1712" y="1120"/>
              <a:chExt cx="2301" cy="1856"/>
            </a:xfrm>
          </p:grpSpPr>
          <p:sp>
            <p:nvSpPr>
              <p:cNvPr id="51211" name="Oval 5"/>
              <p:cNvSpPr/>
              <p:nvPr/>
            </p:nvSpPr>
            <p:spPr>
              <a:xfrm>
                <a:off x="2041" y="1120"/>
                <a:ext cx="321" cy="32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51212" name="Oval 6"/>
              <p:cNvSpPr/>
              <p:nvPr/>
            </p:nvSpPr>
            <p:spPr>
              <a:xfrm>
                <a:off x="3692" y="2146"/>
                <a:ext cx="321" cy="329"/>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51213" name="Text Box 8"/>
              <p:cNvSpPr txBox="1"/>
              <p:nvPr/>
            </p:nvSpPr>
            <p:spPr>
              <a:xfrm>
                <a:off x="1712" y="2724"/>
                <a:ext cx="1217"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Client A</a:t>
                </a:r>
                <a:endParaRPr lang="en-US" altLang="zh-CN" sz="2000" dirty="0">
                  <a:ea typeface="宋体" panose="02010600030101010101" pitchFamily="2" charset="-122"/>
                </a:endParaRPr>
              </a:p>
            </p:txBody>
          </p:sp>
          <p:sp>
            <p:nvSpPr>
              <p:cNvPr id="51214" name="AutoShape 11"/>
              <p:cNvSpPr/>
              <p:nvPr/>
            </p:nvSpPr>
            <p:spPr>
              <a:xfrm rot="-3499316">
                <a:off x="2712" y="1330"/>
                <a:ext cx="407" cy="1028"/>
              </a:xfrm>
              <a:prstGeom prst="upArrow">
                <a:avLst>
                  <a:gd name="adj1" fmla="val 50000"/>
                  <a:gd name="adj2" fmla="val 54316"/>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51215" name="Text Box 12"/>
              <p:cNvSpPr txBox="1"/>
              <p:nvPr/>
            </p:nvSpPr>
            <p:spPr>
              <a:xfrm>
                <a:off x="2868" y="1418"/>
                <a:ext cx="962" cy="3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Read-set</a:t>
                </a:r>
                <a:endParaRPr lang="en-US" altLang="zh-CN" sz="2000" dirty="0">
                  <a:ea typeface="宋体" panose="02010600030101010101" pitchFamily="2" charset="-122"/>
                </a:endParaRPr>
              </a:p>
            </p:txBody>
          </p:sp>
          <p:sp>
            <p:nvSpPr>
              <p:cNvPr id="51216" name="Text Box 14"/>
              <p:cNvSpPr txBox="1"/>
              <p:nvPr/>
            </p:nvSpPr>
            <p:spPr>
              <a:xfrm>
                <a:off x="2822" y="2357"/>
                <a:ext cx="740" cy="25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Read</a:t>
                </a:r>
                <a:endParaRPr lang="en-US" altLang="zh-CN" sz="2000" dirty="0">
                  <a:ea typeface="宋体" panose="02010600030101010101" pitchFamily="2" charset="-122"/>
                </a:endParaRPr>
              </a:p>
            </p:txBody>
          </p:sp>
        </p:grpSp>
        <p:sp>
          <p:nvSpPr>
            <p:cNvPr id="51209" name="等腰三角形 21"/>
            <p:cNvSpPr/>
            <p:nvPr/>
          </p:nvSpPr>
          <p:spPr>
            <a:xfrm>
              <a:off x="3259181" y="5265091"/>
              <a:ext cx="405042" cy="333321"/>
            </a:xfrm>
            <a:prstGeom prst="triangle">
              <a:avLst>
                <a:gd name="adj" fmla="val 50000"/>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sp>
          <p:nvSpPr>
            <p:cNvPr id="51210" name="Text Box 13"/>
            <p:cNvSpPr txBox="1"/>
            <p:nvPr/>
          </p:nvSpPr>
          <p:spPr>
            <a:xfrm>
              <a:off x="2142224" y="4613915"/>
              <a:ext cx="938382" cy="31081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rPr>
                <a:t>Write</a:t>
              </a:r>
              <a:endParaRPr lang="en-US" altLang="zh-CN" sz="2000" dirty="0">
                <a:ea typeface="宋体" panose="02010600030101010101" pitchFamily="2" charset="-122"/>
              </a:endParaRPr>
            </a:p>
          </p:txBody>
        </p:sp>
      </p:grpSp>
      <p:cxnSp>
        <p:nvCxnSpPr>
          <p:cNvPr id="51205" name="直接箭头连接符 19"/>
          <p:cNvCxnSpPr>
            <a:stCxn id="51212" idx="2"/>
          </p:cNvCxnSpPr>
          <p:nvPr/>
        </p:nvCxnSpPr>
        <p:spPr>
          <a:xfrm flipH="1">
            <a:off x="3787775" y="5070475"/>
            <a:ext cx="1662113" cy="234950"/>
          </a:xfrm>
          <a:prstGeom prst="straightConnector1">
            <a:avLst/>
          </a:prstGeom>
          <a:ln w="9525" cap="flat" cmpd="sng">
            <a:solidFill>
              <a:schemeClr val="tx1"/>
            </a:solidFill>
            <a:prstDash val="solid"/>
            <a:headEnd type="none" w="med" len="med"/>
            <a:tailEnd type="triangle" w="med" len="med"/>
          </a:ln>
        </p:spPr>
      </p:cxnSp>
      <p:cxnSp>
        <p:nvCxnSpPr>
          <p:cNvPr id="51206" name="直接箭头连接符 21"/>
          <p:cNvCxnSpPr>
            <a:stCxn id="51212" idx="1"/>
          </p:cNvCxnSpPr>
          <p:nvPr/>
        </p:nvCxnSpPr>
        <p:spPr>
          <a:xfrm flipH="1" flipV="1">
            <a:off x="3852863" y="3921125"/>
            <a:ext cx="1654175" cy="1011238"/>
          </a:xfrm>
          <a:prstGeom prst="straightConnector1">
            <a:avLst/>
          </a:prstGeom>
          <a:ln w="9525" cap="flat" cmpd="sng">
            <a:solidFill>
              <a:schemeClr val="tx1"/>
            </a:solidFill>
            <a:prstDash val="solid"/>
            <a:headEnd type="none" w="med" len="med"/>
            <a:tailEnd type="triangle" w="med" len="med"/>
          </a:ln>
        </p:spPr>
      </p:cxnSp>
      <p:cxnSp>
        <p:nvCxnSpPr>
          <p:cNvPr id="51207" name="连接符: 曲线 7"/>
          <p:cNvCxnSpPr/>
          <p:nvPr/>
        </p:nvCxnSpPr>
        <p:spPr>
          <a:xfrm rot="-5400000" flipH="1">
            <a:off x="2876550" y="4573588"/>
            <a:ext cx="1176338" cy="50800"/>
          </a:xfrm>
          <a:prstGeom prst="curvedConnector3">
            <a:avLst>
              <a:gd name="adj1" fmla="val 50000"/>
            </a:avLst>
          </a:prstGeom>
          <a:ln w="9525" cap="flat" cmpd="sng">
            <a:solidFill>
              <a:schemeClr val="tx1"/>
            </a:solidFill>
            <a:prstDash val="solid"/>
            <a:headEnd type="triangle" w="med" len="med"/>
            <a:tailEnd type="triangle" w="med" len="med"/>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050"/>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DISTRIBUTION PROTOCOLS(7.4)</a:t>
            </a:r>
            <a:endParaRPr lang="en-US" altLang="zh-CN" sz="4000" dirty="0">
              <a:ea typeface="宋体" panose="02010600030101010101" pitchFamily="2" charset="-122"/>
            </a:endParaRPr>
          </a:p>
        </p:txBody>
      </p:sp>
      <p:sp>
        <p:nvSpPr>
          <p:cNvPr id="53251" name="Rectangle 2051"/>
          <p:cNvSpPr>
            <a:spLocks noGrp="1"/>
          </p:cNvSpPr>
          <p:nvPr>
            <p:ph idx="1"/>
          </p:nvPr>
        </p:nvSpPr>
        <p:spPr>
          <a:xfrm>
            <a:off x="661988" y="1498600"/>
            <a:ext cx="7866062" cy="4116388"/>
          </a:xfrm>
        </p:spPr>
        <p:txBody>
          <a:bodyPr vert="horz" wrap="square" lIns="91440" tIns="45720" rIns="91440" bIns="45720" anchor="t" anchorCtr="0"/>
          <a:lstStyle/>
          <a:p>
            <a:pPr marL="0" indent="0" algn="l" eaLnBrk="1" hangingPunct="1">
              <a:lnSpc>
                <a:spcPct val="150000"/>
              </a:lnSpc>
              <a:buFont typeface="Wingdings" panose="05000000000000000000" pitchFamily="2" charset="2"/>
              <a:buChar char="u"/>
            </a:pPr>
            <a:r>
              <a:rPr lang="en-US" altLang="zh-CN" dirty="0">
                <a:ea typeface="宋体" panose="02010600030101010101" pitchFamily="2" charset="-122"/>
              </a:rPr>
              <a:t>Discussing the different ways of propagating (distributing updates to replicas). </a:t>
            </a:r>
            <a:endParaRPr lang="en-US" altLang="zh-CN"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en-US" altLang="zh-CN" dirty="0">
                <a:ea typeface="宋体" panose="02010600030101010101" pitchFamily="2" charset="-122"/>
              </a:rPr>
              <a:t>Deciding </a:t>
            </a:r>
            <a:r>
              <a:rPr lang="en-US" altLang="zh-CN" dirty="0">
                <a:solidFill>
                  <a:srgbClr val="FF3300"/>
                </a:solidFill>
                <a:ea typeface="宋体" panose="02010600030101010101" pitchFamily="2" charset="-122"/>
              </a:rPr>
              <a:t>where, when</a:t>
            </a:r>
            <a:r>
              <a:rPr lang="en-US" altLang="zh-CN" dirty="0">
                <a:ea typeface="宋体" panose="02010600030101010101" pitchFamily="2" charset="-122"/>
              </a:rPr>
              <a:t>, and by </a:t>
            </a:r>
            <a:r>
              <a:rPr lang="en-US" altLang="zh-CN" dirty="0">
                <a:solidFill>
                  <a:srgbClr val="FF3300"/>
                </a:solidFill>
                <a:ea typeface="宋体" panose="02010600030101010101" pitchFamily="2" charset="-122"/>
              </a:rPr>
              <a:t>whom</a:t>
            </a:r>
            <a:r>
              <a:rPr lang="en-US" altLang="zh-CN" dirty="0">
                <a:ea typeface="宋体" panose="02010600030101010101" pitchFamily="2" charset="-122"/>
              </a:rPr>
              <a:t> copies of the data store are to be placed. </a:t>
            </a:r>
            <a:endParaRPr lang="en-US" altLang="zh-CN"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zh-CN" altLang="en-US" sz="2800" dirty="0">
                <a:ea typeface="宋体" panose="02010600030101010101" pitchFamily="2" charset="-122"/>
              </a:rPr>
              <a:t>边缘计算和</a:t>
            </a:r>
            <a:r>
              <a:rPr lang="en-US" altLang="zh-CN" sz="2800" dirty="0">
                <a:ea typeface="宋体" panose="02010600030101010101" pitchFamily="2" charset="-122"/>
              </a:rPr>
              <a:t>CDN</a:t>
            </a:r>
            <a:r>
              <a:rPr lang="zh-CN" altLang="en-US" sz="2800" dirty="0">
                <a:ea typeface="宋体" panose="02010600030101010101" pitchFamily="2" charset="-122"/>
              </a:rPr>
              <a:t>（内容分发网）的主要方法；</a:t>
            </a:r>
            <a:endParaRPr lang="en-US" altLang="zh-CN" sz="2800" dirty="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p:cNvPicPr>
            <a:picLocks noChangeAspect="1"/>
          </p:cNvPicPr>
          <p:nvPr/>
        </p:nvPicPr>
        <p:blipFill>
          <a:blip r:embed="rId1"/>
          <a:srcRect l="21593" t="45015" r="18385" b="37764"/>
          <a:stretch>
            <a:fillRect/>
          </a:stretch>
        </p:blipFill>
        <p:spPr>
          <a:xfrm>
            <a:off x="188913" y="1195388"/>
            <a:ext cx="8726487" cy="4471987"/>
          </a:xfrm>
          <a:prstGeom prst="rect">
            <a:avLst/>
          </a:prstGeom>
          <a:noFill/>
          <a:ln w="9525">
            <a:noFill/>
          </a:ln>
        </p:spPr>
      </p:pic>
      <p:sp>
        <p:nvSpPr>
          <p:cNvPr id="54275" name="Rectangle 7"/>
          <p:cNvSpPr/>
          <p:nvPr/>
        </p:nvSpPr>
        <p:spPr>
          <a:xfrm>
            <a:off x="6281738" y="3935413"/>
            <a:ext cx="2695575" cy="13017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sp>
        <p:nvSpPr>
          <p:cNvPr id="54276" name="Rectangle 2"/>
          <p:cNvSpPr>
            <a:spLocks noGrp="1"/>
          </p:cNvSpPr>
          <p:nvPr>
            <p:ph type="title"/>
          </p:nvPr>
        </p:nvSpPr>
        <p:spPr>
          <a:xfrm>
            <a:off x="300038" y="152400"/>
            <a:ext cx="8616950" cy="685800"/>
          </a:xfrm>
        </p:spPr>
        <p:txBody>
          <a:bodyPr vert="horz" wrap="square" lIns="91440" tIns="45720" rIns="91440" bIns="45720" anchor="ctr" anchorCtr="0"/>
          <a:lstStyle/>
          <a:p>
            <a:pPr eaLnBrk="1" hangingPunct="1"/>
            <a:r>
              <a:rPr lang="en-US" altLang="zh-CN" sz="4000" dirty="0">
                <a:ea typeface="宋体" panose="02010600030101010101" pitchFamily="2" charset="-122"/>
              </a:rPr>
              <a:t>Replica Placement(7.4.1)</a:t>
            </a:r>
            <a:endParaRPr lang="en-US" altLang="zh-CN" sz="4000" dirty="0">
              <a:ea typeface="宋体" panose="02010600030101010101" pitchFamily="2" charset="-122"/>
            </a:endParaRPr>
          </a:p>
        </p:txBody>
      </p:sp>
      <p:sp>
        <p:nvSpPr>
          <p:cNvPr id="54277" name="Rectangle 3"/>
          <p:cNvSpPr>
            <a:spLocks noGrp="1"/>
          </p:cNvSpPr>
          <p:nvPr>
            <p:ph idx="1"/>
          </p:nvPr>
        </p:nvSpPr>
        <p:spPr>
          <a:xfrm>
            <a:off x="1460500" y="5765800"/>
            <a:ext cx="6477000" cy="838200"/>
          </a:xfrm>
        </p:spPr>
        <p:txBody>
          <a:bodyPr vert="horz" wrap="square" lIns="91440" tIns="45720" rIns="91440" bIns="45720" anchor="t" anchorCtr="0"/>
          <a:lstStyle/>
          <a:p>
            <a:pPr algn="l" eaLnBrk="1" hangingPunct="1">
              <a:buNone/>
            </a:pPr>
            <a:r>
              <a:rPr lang="en-US" altLang="zh-CN" sz="2400" dirty="0">
                <a:ea typeface="宋体" panose="02010600030101010101" pitchFamily="2" charset="-122"/>
              </a:rPr>
              <a:t>    The logical organization of different kinds of copies of a data store into three concentric rings.</a:t>
            </a:r>
            <a:endParaRPr lang="en-US" altLang="zh-CN" sz="2400" dirty="0">
              <a:ea typeface="宋体" panose="02010600030101010101" pitchFamily="2" charset="-122"/>
            </a:endParaRPr>
          </a:p>
        </p:txBody>
      </p:sp>
      <p:sp>
        <p:nvSpPr>
          <p:cNvPr id="54278" name="Text Box 5"/>
          <p:cNvSpPr txBox="1"/>
          <p:nvPr/>
        </p:nvSpPr>
        <p:spPr>
          <a:xfrm>
            <a:off x="6296025" y="4041775"/>
            <a:ext cx="2789238" cy="11080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2200" dirty="0">
                <a:ea typeface="宋体" panose="02010600030101010101" pitchFamily="2" charset="-122"/>
              </a:rPr>
              <a:t>The initial set of replicas that constitute a distributed data store </a:t>
            </a:r>
            <a:endParaRPr lang="en-US" altLang="zh-CN" sz="2200" dirty="0">
              <a:ea typeface="宋体" panose="02010600030101010101" pitchFamily="2" charset="-122"/>
            </a:endParaRPr>
          </a:p>
        </p:txBody>
      </p:sp>
      <p:sp>
        <p:nvSpPr>
          <p:cNvPr id="54279" name="Line 6"/>
          <p:cNvSpPr/>
          <p:nvPr/>
        </p:nvSpPr>
        <p:spPr>
          <a:xfrm>
            <a:off x="3663950" y="2871788"/>
            <a:ext cx="2625725" cy="1149350"/>
          </a:xfrm>
          <a:prstGeom prst="line">
            <a:avLst/>
          </a:prstGeom>
          <a:ln w="9525" cap="flat" cmpd="sng">
            <a:solidFill>
              <a:srgbClr val="FF0000"/>
            </a:solidFill>
            <a:prstDash val="solid"/>
            <a:headEnd type="none" w="med" len="med"/>
            <a:tailEnd type="triangle" w="med" len="med"/>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0" y="0"/>
            <a:ext cx="9144000" cy="614363"/>
          </a:xfrm>
        </p:spPr>
        <p:txBody>
          <a:bodyPr vert="horz" wrap="square" lIns="91440" tIns="45720" rIns="91440" bIns="45720" anchor="ctr" anchorCtr="0"/>
          <a:lstStyle/>
          <a:p>
            <a:pPr eaLnBrk="1" hangingPunct="1"/>
            <a:r>
              <a:rPr lang="en-US" altLang="zh-CN" dirty="0">
                <a:ea typeface="宋体" panose="02010600030101010101" pitchFamily="2" charset="-122"/>
              </a:rPr>
              <a:t>Server-Initiated Replicas</a:t>
            </a:r>
            <a:endParaRPr lang="en-US" altLang="zh-CN" dirty="0">
              <a:ea typeface="宋体" panose="02010600030101010101" pitchFamily="2" charset="-122"/>
            </a:endParaRPr>
          </a:p>
        </p:txBody>
      </p:sp>
      <p:sp>
        <p:nvSpPr>
          <p:cNvPr id="82947" name="Rectangle 3"/>
          <p:cNvSpPr>
            <a:spLocks noGrp="1" noChangeArrowheads="1"/>
          </p:cNvSpPr>
          <p:nvPr>
            <p:ph idx="1"/>
          </p:nvPr>
        </p:nvSpPr>
        <p:spPr>
          <a:xfrm>
            <a:off x="139700" y="700088"/>
            <a:ext cx="8870950" cy="2608263"/>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楷体_GB2312" pitchFamily="49" charset="-122"/>
                <a:cs typeface="+mn-cs"/>
              </a:rPr>
              <a:t>Knows as push caches/push  mode</a:t>
            </a:r>
            <a:r>
              <a:rPr kumimoji="0" lang="zh-CN" altLang="en-US" sz="2400" b="0" i="0" u="none" strike="noStrike" kern="0" cap="none" spc="0" normalizeH="0" baseline="0" noProof="0" dirty="0">
                <a:ln>
                  <a:noFill/>
                </a:ln>
                <a:solidFill>
                  <a:schemeClr val="tx1"/>
                </a:solidFill>
                <a:effectLst/>
                <a:uLnTx/>
                <a:uFillTx/>
                <a:latin typeface="+mn-lt"/>
                <a:ea typeface="楷体_GB2312" pitchFamily="49" charset="-122"/>
                <a:cs typeface="+mn-cs"/>
              </a:rPr>
              <a:t>：</a:t>
            </a:r>
            <a:endParaRPr kumimoji="0" lang="zh-CN" altLang="en-US" sz="2400" b="0" i="0" u="none" strike="noStrike" kern="0" cap="none" spc="0" normalizeH="0" baseline="0" noProof="0" dirty="0">
              <a:ln>
                <a:noFill/>
              </a:ln>
              <a:solidFill>
                <a:schemeClr val="tx1"/>
              </a:solidFill>
              <a:effectLst/>
              <a:uLnTx/>
              <a:uFillTx/>
              <a:latin typeface="+mn-lt"/>
              <a:ea typeface="楷体_GB2312" pitchFamily="49" charset="-122"/>
              <a:cs typeface="+mn-cs"/>
            </a:endParaRPr>
          </a:p>
          <a:p>
            <a:pPr marL="514350" marR="0" lvl="0" indent="-514350" algn="l" defTabSz="914400" rtl="0" eaLnBrk="1" fontAlgn="base" latinLnBrk="0" hangingPunct="1">
              <a:lnSpc>
                <a:spcPct val="100000"/>
              </a:lnSpc>
              <a:spcBef>
                <a:spcPct val="20000"/>
              </a:spcBef>
              <a:spcAft>
                <a:spcPct val="0"/>
              </a:spcAft>
              <a:buClr>
                <a:schemeClr val="accent2"/>
              </a:buClr>
              <a:buSzTx/>
              <a:buFont typeface="+mj-ea"/>
              <a:buAutoNum type="circleNumDbPlain"/>
              <a:defRPr/>
            </a:pPr>
            <a:r>
              <a:rPr kumimoji="0" lang="en-US" altLang="zh-CN" sz="2400" b="0" i="0" u="none" strike="noStrike" kern="0" cap="none" spc="0" normalizeH="0" baseline="0" noProof="0" dirty="0">
                <a:ln>
                  <a:noFill/>
                </a:ln>
                <a:solidFill>
                  <a:schemeClr val="tx1"/>
                </a:solidFill>
                <a:effectLst/>
                <a:uLnTx/>
                <a:uFillTx/>
                <a:latin typeface="+mn-lt"/>
                <a:ea typeface="楷体_GB2312" pitchFamily="49" charset="-122"/>
                <a:cs typeface="+mn-cs"/>
              </a:rPr>
              <a:t>to reduce the load on a server</a:t>
            </a:r>
            <a:r>
              <a:rPr kumimoji="0" lang="zh-CN" altLang="en-US" sz="2400" b="0" i="0" u="none" strike="noStrike" kern="0" cap="none" spc="0" normalizeH="0" baseline="0" noProof="0" dirty="0">
                <a:ln>
                  <a:noFill/>
                </a:ln>
                <a:solidFill>
                  <a:schemeClr val="tx1"/>
                </a:solidFill>
                <a:effectLst/>
                <a:uLnTx/>
                <a:uFillTx/>
                <a:latin typeface="+mn-lt"/>
                <a:ea typeface="楷体_GB2312" pitchFamily="49" charset="-122"/>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楷体_GB2312" pitchFamily="49" charset="-122"/>
              <a:cs typeface="+mn-cs"/>
            </a:endParaRPr>
          </a:p>
          <a:p>
            <a:pPr marL="514350" marR="0" lvl="0" indent="-514350" algn="l" defTabSz="914400" rtl="0" eaLnBrk="1" fontAlgn="base" latinLnBrk="0" hangingPunct="1">
              <a:lnSpc>
                <a:spcPct val="100000"/>
              </a:lnSpc>
              <a:spcBef>
                <a:spcPct val="20000"/>
              </a:spcBef>
              <a:spcAft>
                <a:spcPct val="0"/>
              </a:spcAft>
              <a:buClr>
                <a:schemeClr val="accent2"/>
              </a:buClr>
              <a:buSzTx/>
              <a:buFont typeface="+mj-ea"/>
              <a:buAutoNum type="circleNumDbPlain"/>
              <a:defRPr/>
            </a:pPr>
            <a:r>
              <a:rPr kumimoji="0" lang="en-US" altLang="zh-CN" sz="2400" b="0" i="0" u="none" strike="noStrike" kern="0" cap="none" spc="0" normalizeH="0" baseline="0" noProof="0" dirty="0">
                <a:ln>
                  <a:noFill/>
                </a:ln>
                <a:solidFill>
                  <a:schemeClr val="tx1"/>
                </a:solidFill>
                <a:effectLst/>
                <a:uLnTx/>
                <a:uFillTx/>
                <a:latin typeface="+mn-lt"/>
                <a:ea typeface="楷体_GB2312" pitchFamily="49" charset="-122"/>
                <a:cs typeface="+mn-cs"/>
              </a:rPr>
              <a:t>to be migrated , or replicated to server placed in the proximity of clients that issue many requests for those files</a:t>
            </a:r>
            <a:r>
              <a:rPr kumimoji="0" lang="zh-CN" altLang="en-US" sz="2400" b="0" i="0" u="none" strike="noStrike" kern="0" cap="none" spc="0" normalizeH="0" baseline="0" noProof="0" dirty="0">
                <a:ln>
                  <a:noFill/>
                </a:ln>
                <a:solidFill>
                  <a:schemeClr val="tx1"/>
                </a:solidFill>
                <a:effectLst/>
                <a:uLnTx/>
                <a:uFillTx/>
                <a:latin typeface="+mn-lt"/>
                <a:ea typeface="楷体_GB2312" pitchFamily="49" charset="-122"/>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楷体_GB2312" pitchFamily="49" charset="-122"/>
              <a:cs typeface="+mn-cs"/>
            </a:endParaRPr>
          </a:p>
          <a:p>
            <a:pPr marL="514350" marR="0" lvl="0" indent="-514350" algn="l" defTabSz="914400" rtl="0" eaLnBrk="1" fontAlgn="base" latinLnBrk="0" hangingPunct="1">
              <a:lnSpc>
                <a:spcPct val="100000"/>
              </a:lnSpc>
              <a:spcBef>
                <a:spcPct val="20000"/>
              </a:spcBef>
              <a:spcAft>
                <a:spcPct val="0"/>
              </a:spcAft>
              <a:buClr>
                <a:schemeClr val="accent2"/>
              </a:buClr>
              <a:buSzTx/>
              <a:buFont typeface="+mj-ea"/>
              <a:buAutoNum type="circleNumDbPlain"/>
              <a:defRPr/>
            </a:pPr>
            <a:r>
              <a:rPr kumimoji="0" lang="en-US" altLang="zh-CN" sz="2400" b="0" i="0" u="none" strike="noStrike" kern="0" cap="none" spc="0" normalizeH="0" baseline="0" noProof="0" dirty="0">
                <a:ln>
                  <a:noFill/>
                </a:ln>
                <a:solidFill>
                  <a:schemeClr val="tx1"/>
                </a:solidFill>
                <a:effectLst/>
                <a:uLnTx/>
                <a:uFillTx/>
                <a:latin typeface="+mn-lt"/>
                <a:ea typeface="楷体_GB2312" pitchFamily="49" charset="-122"/>
                <a:cs typeface="+mn-cs"/>
              </a:rPr>
              <a:t>Each server keeps track of access counts per file, and where access requests come from.</a:t>
            </a:r>
            <a:endParaRPr kumimoji="0" lang="en-US" altLang="zh-CN" sz="2400" b="0" i="0" u="none" strike="noStrike" kern="0" cap="none" spc="0" normalizeH="0" baseline="0" noProof="0" dirty="0">
              <a:ln>
                <a:noFill/>
              </a:ln>
              <a:solidFill>
                <a:schemeClr val="tx1"/>
              </a:solidFill>
              <a:effectLst/>
              <a:uLnTx/>
              <a:uFillTx/>
              <a:latin typeface="+mn-lt"/>
              <a:ea typeface="楷体_GB2312" pitchFamily="49" charset="-122"/>
              <a:cs typeface="+mn-cs"/>
            </a:endParaRPr>
          </a:p>
        </p:txBody>
      </p:sp>
      <p:sp>
        <p:nvSpPr>
          <p:cNvPr id="4" name="Rectangle 3"/>
          <p:cNvSpPr txBox="1">
            <a:spLocks noChangeArrowheads="1"/>
          </p:cNvSpPr>
          <p:nvPr/>
        </p:nvSpPr>
        <p:spPr bwMode="auto">
          <a:xfrm>
            <a:off x="1390650" y="6218238"/>
            <a:ext cx="6181725" cy="4111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Counting access requests from different clients.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55301" name="Picture 4"/>
          <p:cNvPicPr>
            <a:picLocks noChangeAspect="1"/>
          </p:cNvPicPr>
          <p:nvPr/>
        </p:nvPicPr>
        <p:blipFill>
          <a:blip r:embed="rId1"/>
          <a:srcRect l="30571" t="45317" r="28435" b="38066"/>
          <a:stretch>
            <a:fillRect/>
          </a:stretch>
        </p:blipFill>
        <p:spPr>
          <a:xfrm>
            <a:off x="1687513" y="3308350"/>
            <a:ext cx="5453062" cy="2768600"/>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Server-Initiated Replicas</a:t>
            </a:r>
            <a:endParaRPr lang="en-US" altLang="zh-CN" dirty="0">
              <a:ea typeface="宋体" panose="02010600030101010101" pitchFamily="2" charset="-122"/>
            </a:endParaRPr>
          </a:p>
        </p:txBody>
      </p:sp>
      <p:sp>
        <p:nvSpPr>
          <p:cNvPr id="56323" name="Rectangle 3"/>
          <p:cNvSpPr>
            <a:spLocks noGrp="1"/>
          </p:cNvSpPr>
          <p:nvPr>
            <p:ph idx="1"/>
          </p:nvPr>
        </p:nvSpPr>
        <p:spPr>
          <a:xfrm>
            <a:off x="374650" y="1052513"/>
            <a:ext cx="8547100" cy="5008562"/>
          </a:xfrm>
        </p:spPr>
        <p:txBody>
          <a:bodyPr vert="horz" wrap="square" lIns="91440" tIns="45720" rIns="91440" bIns="45720" anchor="t" anchorCtr="0"/>
          <a:lstStyle/>
          <a:p>
            <a:pPr marL="182880" indent="-182880" algn="l" eaLnBrk="1" hangingPunct="1">
              <a:lnSpc>
                <a:spcPct val="150000"/>
              </a:lnSpc>
              <a:buFont typeface="Wingdings" panose="05000000000000000000" pitchFamily="2" charset="2"/>
              <a:buChar char="u"/>
            </a:pPr>
            <a:r>
              <a:rPr lang="en-US" altLang="zh-CN" sz="2400" dirty="0">
                <a:ea typeface="宋体" panose="02010600030101010101" pitchFamily="2" charset="-122"/>
              </a:rPr>
              <a:t>cnt</a:t>
            </a:r>
            <a:r>
              <a:rPr lang="en-US" altLang="zh-CN" sz="2400" baseline="-25000" dirty="0">
                <a:ea typeface="宋体" panose="02010600030101010101" pitchFamily="2" charset="-122"/>
              </a:rPr>
              <a:t>Q</a:t>
            </a:r>
            <a:r>
              <a:rPr lang="en-US" altLang="zh-CN" sz="2400" dirty="0">
                <a:ea typeface="宋体" panose="02010600030101010101" pitchFamily="2" charset="-122"/>
              </a:rPr>
              <a:t>(</a:t>
            </a:r>
            <a:r>
              <a:rPr lang="en-US" altLang="zh-CN" sz="2400" i="1" dirty="0">
                <a:ea typeface="宋体" panose="02010600030101010101" pitchFamily="2" charset="-122"/>
              </a:rPr>
              <a:t>P,F</a:t>
            </a:r>
            <a:r>
              <a:rPr lang="en-US" altLang="zh-CN" sz="2400" dirty="0">
                <a:ea typeface="宋体" panose="02010600030101010101" pitchFamily="2" charset="-122"/>
              </a:rPr>
              <a:t>)-all access count for F at Q from C</a:t>
            </a:r>
            <a:r>
              <a:rPr lang="en-US" altLang="zh-CN" sz="2400" baseline="-25000" dirty="0">
                <a:ea typeface="宋体" panose="02010600030101010101" pitchFamily="2" charset="-122"/>
              </a:rPr>
              <a:t>1</a:t>
            </a:r>
            <a:r>
              <a:rPr lang="en-US" altLang="zh-CN" sz="2400" dirty="0">
                <a:ea typeface="宋体" panose="02010600030101010101" pitchFamily="2" charset="-122"/>
              </a:rPr>
              <a:t> and C</a:t>
            </a:r>
            <a:r>
              <a:rPr lang="en-US" altLang="zh-CN" sz="2400" baseline="-25000" dirty="0">
                <a:ea typeface="宋体" panose="02010600030101010101" pitchFamily="2" charset="-122"/>
              </a:rPr>
              <a:t>2 </a:t>
            </a:r>
            <a:r>
              <a:rPr lang="en-US" altLang="zh-CN" sz="2400" dirty="0">
                <a:ea typeface="宋体" panose="02010600030101010101" pitchFamily="2" charset="-122"/>
              </a:rPr>
              <a:t>(C</a:t>
            </a:r>
            <a:r>
              <a:rPr lang="en-US" altLang="zh-CN" sz="2400" baseline="-25000" dirty="0">
                <a:ea typeface="宋体" panose="02010600030101010101" pitchFamily="2" charset="-122"/>
              </a:rPr>
              <a:t>1</a:t>
            </a:r>
            <a:r>
              <a:rPr lang="en-US" altLang="zh-CN" sz="2400" dirty="0">
                <a:ea typeface="宋体" panose="02010600030101010101" pitchFamily="2" charset="-122"/>
              </a:rPr>
              <a:t> and C</a:t>
            </a:r>
            <a:r>
              <a:rPr lang="en-US" altLang="zh-CN" sz="2400" baseline="-25000" dirty="0">
                <a:ea typeface="宋体" panose="02010600030101010101" pitchFamily="2" charset="-122"/>
              </a:rPr>
              <a:t>2</a:t>
            </a:r>
            <a:r>
              <a:rPr lang="en-US" altLang="zh-CN" sz="2400" dirty="0">
                <a:ea typeface="宋体" panose="02010600030101010101" pitchFamily="2" charset="-122"/>
              </a:rPr>
              <a:t> share the same closest server P),</a:t>
            </a:r>
            <a:r>
              <a:rPr lang="zh-CN" altLang="en-US" sz="2400" dirty="0">
                <a:ea typeface="宋体" panose="02010600030101010101" pitchFamily="2" charset="-122"/>
              </a:rPr>
              <a:t>访问计数</a:t>
            </a:r>
            <a:r>
              <a:rPr lang="en-US" altLang="zh-CN" sz="2400" dirty="0">
                <a:ea typeface="宋体" panose="02010600030101010101" pitchFamily="2" charset="-122"/>
              </a:rPr>
              <a:t>.</a:t>
            </a:r>
            <a:endParaRPr lang="en-US" altLang="zh-CN" sz="2400" dirty="0">
              <a:ea typeface="宋体" panose="02010600030101010101" pitchFamily="2" charset="-122"/>
            </a:endParaRPr>
          </a:p>
          <a:p>
            <a:pPr marL="182880" indent="-182880" algn="l" eaLnBrk="1" hangingPunct="1">
              <a:lnSpc>
                <a:spcPct val="150000"/>
              </a:lnSpc>
              <a:buFont typeface="Wingdings" panose="05000000000000000000" pitchFamily="2" charset="2"/>
              <a:buChar char="u"/>
            </a:pPr>
            <a:r>
              <a:rPr lang="en-US" altLang="zh-CN" sz="2400" dirty="0">
                <a:ea typeface="宋体" panose="02010600030101010101" pitchFamily="2" charset="-122"/>
              </a:rPr>
              <a:t>del(</a:t>
            </a:r>
            <a:r>
              <a:rPr lang="en-US" altLang="zh-CN" sz="2400" i="1" dirty="0">
                <a:ea typeface="宋体" panose="02010600030101010101" pitchFamily="2" charset="-122"/>
              </a:rPr>
              <a:t>S,F</a:t>
            </a:r>
            <a:r>
              <a:rPr lang="en-US" altLang="zh-CN" sz="2400" dirty="0">
                <a:ea typeface="宋体" panose="02010600030101010101" pitchFamily="2" charset="-122"/>
              </a:rPr>
              <a:t>)-deletion threshold</a:t>
            </a:r>
            <a:endParaRPr lang="en-US" altLang="zh-CN" sz="2400" dirty="0">
              <a:ea typeface="宋体" panose="02010600030101010101" pitchFamily="2" charset="-122"/>
            </a:endParaRPr>
          </a:p>
          <a:p>
            <a:pPr marL="182880" indent="-182880" algn="l" eaLnBrk="1" hangingPunct="1">
              <a:lnSpc>
                <a:spcPct val="150000"/>
              </a:lnSpc>
              <a:buFont typeface="Wingdings" panose="05000000000000000000" pitchFamily="2" charset="2"/>
              <a:buChar char="u"/>
            </a:pPr>
            <a:r>
              <a:rPr lang="en-US" altLang="zh-CN" sz="2400" dirty="0">
                <a:ea typeface="宋体" panose="02010600030101010101" pitchFamily="2" charset="-122"/>
              </a:rPr>
              <a:t>rep(</a:t>
            </a:r>
            <a:r>
              <a:rPr lang="en-US" altLang="zh-CN" sz="2400" i="1" dirty="0">
                <a:ea typeface="宋体" panose="02010600030101010101" pitchFamily="2" charset="-122"/>
              </a:rPr>
              <a:t>S,F</a:t>
            </a:r>
            <a:r>
              <a:rPr lang="en-US" altLang="zh-CN" sz="2400" dirty="0">
                <a:ea typeface="宋体" panose="02010600030101010101" pitchFamily="2" charset="-122"/>
              </a:rPr>
              <a:t>)-replication threshold</a:t>
            </a:r>
            <a:endParaRPr lang="en-US" altLang="zh-CN" sz="2400" dirty="0">
              <a:ea typeface="宋体" panose="02010600030101010101" pitchFamily="2" charset="-122"/>
            </a:endParaRPr>
          </a:p>
          <a:p>
            <a:pPr marL="982980" lvl="2" indent="-182880" eaLnBrk="1" hangingPunct="1">
              <a:lnSpc>
                <a:spcPct val="150000"/>
              </a:lnSpc>
              <a:buFont typeface="Wingdings" panose="05000000000000000000" pitchFamily="2" charset="2"/>
              <a:buChar char="p"/>
            </a:pPr>
            <a:r>
              <a:rPr lang="en-US" altLang="zh-CN" dirty="0">
                <a:ea typeface="宋体" panose="02010600030101010101" pitchFamily="2" charset="-122"/>
              </a:rPr>
              <a:t>If cnt(</a:t>
            </a:r>
            <a:r>
              <a:rPr lang="en-US" altLang="zh-CN" i="1" dirty="0">
                <a:ea typeface="宋体" panose="02010600030101010101" pitchFamily="2" charset="-122"/>
              </a:rPr>
              <a:t>S,F</a:t>
            </a:r>
            <a:r>
              <a:rPr lang="en-US" altLang="zh-CN" dirty="0">
                <a:ea typeface="宋体" panose="02010600030101010101" pitchFamily="2" charset="-122"/>
              </a:rPr>
              <a:t>) &lt; del(</a:t>
            </a:r>
            <a:r>
              <a:rPr lang="en-US" altLang="zh-CN" i="1" dirty="0">
                <a:ea typeface="宋体" panose="02010600030101010101" pitchFamily="2" charset="-122"/>
              </a:rPr>
              <a:t>S,F</a:t>
            </a:r>
            <a:r>
              <a:rPr lang="en-US" altLang="zh-CN" dirty="0">
                <a:ea typeface="宋体" panose="02010600030101010101" pitchFamily="2" charset="-122"/>
              </a:rPr>
              <a:t>) then remove F from S;</a:t>
            </a:r>
            <a:endParaRPr lang="en-US" altLang="zh-CN" dirty="0">
              <a:ea typeface="宋体" panose="02010600030101010101" pitchFamily="2" charset="-122"/>
            </a:endParaRPr>
          </a:p>
          <a:p>
            <a:pPr marL="982980" lvl="2" indent="-182880" eaLnBrk="1" hangingPunct="1">
              <a:lnSpc>
                <a:spcPct val="150000"/>
              </a:lnSpc>
              <a:buFont typeface="Wingdings" panose="05000000000000000000" pitchFamily="2" charset="2"/>
              <a:buChar char="p"/>
            </a:pPr>
            <a:r>
              <a:rPr lang="en-US" altLang="zh-CN" dirty="0">
                <a:ea typeface="宋体" panose="02010600030101010101" pitchFamily="2" charset="-122"/>
              </a:rPr>
              <a:t>If cnt(</a:t>
            </a:r>
            <a:r>
              <a:rPr lang="en-US" altLang="zh-CN" i="1" dirty="0">
                <a:ea typeface="宋体" panose="02010600030101010101" pitchFamily="2" charset="-122"/>
              </a:rPr>
              <a:t>S,F</a:t>
            </a:r>
            <a:r>
              <a:rPr lang="en-US" altLang="zh-CN" dirty="0">
                <a:ea typeface="宋体" panose="02010600030101010101" pitchFamily="2" charset="-122"/>
              </a:rPr>
              <a:t>) &gt; rep(</a:t>
            </a:r>
            <a:r>
              <a:rPr lang="en-US" altLang="zh-CN" i="1" dirty="0">
                <a:ea typeface="宋体" panose="02010600030101010101" pitchFamily="2" charset="-122"/>
              </a:rPr>
              <a:t>S,F</a:t>
            </a:r>
            <a:r>
              <a:rPr lang="en-US" altLang="zh-CN" dirty="0">
                <a:ea typeface="宋体" panose="02010600030101010101" pitchFamily="2" charset="-122"/>
              </a:rPr>
              <a:t>) then replicate F at S;</a:t>
            </a:r>
            <a:endParaRPr lang="en-US" altLang="zh-CN" dirty="0">
              <a:ea typeface="宋体" panose="02010600030101010101" pitchFamily="2" charset="-122"/>
            </a:endParaRPr>
          </a:p>
          <a:p>
            <a:pPr marL="982980" lvl="2" indent="-182880" eaLnBrk="1" hangingPunct="1">
              <a:lnSpc>
                <a:spcPct val="150000"/>
              </a:lnSpc>
              <a:buFont typeface="Wingdings" panose="05000000000000000000" pitchFamily="2" charset="2"/>
              <a:buChar char="p"/>
            </a:pPr>
            <a:r>
              <a:rPr lang="en-US" altLang="zh-CN" dirty="0">
                <a:ea typeface="宋体" panose="02010600030101010101" pitchFamily="2" charset="-122"/>
              </a:rPr>
              <a:t>If del(</a:t>
            </a:r>
            <a:r>
              <a:rPr lang="en-US" altLang="zh-CN" i="1" dirty="0">
                <a:ea typeface="宋体" panose="02010600030101010101" pitchFamily="2" charset="-122"/>
              </a:rPr>
              <a:t>S,F</a:t>
            </a:r>
            <a:r>
              <a:rPr lang="en-US" altLang="zh-CN" dirty="0">
                <a:ea typeface="宋体" panose="02010600030101010101" pitchFamily="2" charset="-122"/>
              </a:rPr>
              <a:t>) &lt; </a:t>
            </a:r>
            <a:r>
              <a:rPr lang="en-US" altLang="zh-CN" dirty="0" err="1">
                <a:ea typeface="宋体" panose="02010600030101010101" pitchFamily="2" charset="-122"/>
              </a:rPr>
              <a:t>cnt</a:t>
            </a:r>
            <a:r>
              <a:rPr lang="en-US" altLang="zh-CN" dirty="0">
                <a:ea typeface="宋体" panose="02010600030101010101" pitchFamily="2" charset="-122"/>
              </a:rPr>
              <a:t>(</a:t>
            </a:r>
            <a:r>
              <a:rPr lang="en-US" altLang="zh-CN" i="1" dirty="0">
                <a:ea typeface="宋体" panose="02010600030101010101" pitchFamily="2" charset="-122"/>
              </a:rPr>
              <a:t>S,F</a:t>
            </a:r>
            <a:r>
              <a:rPr lang="en-US" altLang="zh-CN" dirty="0">
                <a:ea typeface="宋体" panose="02010600030101010101" pitchFamily="2" charset="-122"/>
              </a:rPr>
              <a:t>) and </a:t>
            </a:r>
            <a:r>
              <a:rPr lang="en-US" altLang="zh-CN" dirty="0" err="1">
                <a:ea typeface="宋体" panose="02010600030101010101" pitchFamily="2" charset="-122"/>
              </a:rPr>
              <a:t>cnt</a:t>
            </a:r>
            <a:r>
              <a:rPr lang="en-US" altLang="zh-CN" dirty="0">
                <a:ea typeface="宋体" panose="02010600030101010101" pitchFamily="2" charset="-122"/>
              </a:rPr>
              <a:t>(</a:t>
            </a:r>
            <a:r>
              <a:rPr lang="en-US" altLang="zh-CN" i="1" dirty="0">
                <a:ea typeface="宋体" panose="02010600030101010101" pitchFamily="2" charset="-122"/>
              </a:rPr>
              <a:t>S,F</a:t>
            </a:r>
            <a:r>
              <a:rPr lang="en-US" altLang="zh-CN" dirty="0">
                <a:ea typeface="宋体" panose="02010600030101010101" pitchFamily="2" charset="-122"/>
              </a:rPr>
              <a:t>)&lt; rep(</a:t>
            </a:r>
            <a:r>
              <a:rPr lang="en-US" altLang="zh-CN" i="1" dirty="0">
                <a:ea typeface="宋体" panose="02010600030101010101" pitchFamily="2" charset="-122"/>
              </a:rPr>
              <a:t>S,F</a:t>
            </a:r>
            <a:r>
              <a:rPr lang="en-US" altLang="zh-CN" dirty="0">
                <a:ea typeface="宋体" panose="02010600030101010101" pitchFamily="2" charset="-122"/>
              </a:rPr>
              <a:t>)  then only to be migrated. </a:t>
            </a:r>
            <a:endParaRPr lang="en-US" altLang="zh-CN" dirty="0">
              <a:ea typeface="宋体" panose="02010600030101010101" pitchFamily="2" charset="-122"/>
            </a:endParaRPr>
          </a:p>
        </p:txBody>
      </p:sp>
      <p:pic>
        <p:nvPicPr>
          <p:cNvPr id="56324" name="Picture 4"/>
          <p:cNvPicPr>
            <a:picLocks noChangeAspect="1"/>
          </p:cNvPicPr>
          <p:nvPr/>
        </p:nvPicPr>
        <p:blipFill>
          <a:blip r:embed="rId1"/>
          <a:srcRect l="30571" t="45317" r="28435" b="38066"/>
          <a:stretch>
            <a:fillRect/>
          </a:stretch>
        </p:blipFill>
        <p:spPr>
          <a:xfrm>
            <a:off x="6022975" y="1627188"/>
            <a:ext cx="3021013" cy="1989137"/>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a:xfrm>
            <a:off x="0" y="0"/>
            <a:ext cx="9144000" cy="723900"/>
          </a:xfrm>
        </p:spPr>
        <p:txBody>
          <a:bodyPr vert="horz" wrap="square" lIns="91440" tIns="45720" rIns="91440" bIns="45720" anchor="ctr" anchorCtr="0"/>
          <a:lstStyle/>
          <a:p>
            <a:pPr eaLnBrk="1" hangingPunct="1"/>
            <a:r>
              <a:rPr lang="en-US" altLang="zh-CN" dirty="0">
                <a:ea typeface="宋体" panose="02010600030101010101" pitchFamily="2" charset="-122"/>
              </a:rPr>
              <a:t>Client-Initiated Replicas</a:t>
            </a:r>
            <a:endParaRPr lang="en-US" altLang="zh-CN" dirty="0">
              <a:ea typeface="宋体" panose="02010600030101010101" pitchFamily="2" charset="-122"/>
            </a:endParaRPr>
          </a:p>
        </p:txBody>
      </p:sp>
      <p:sp>
        <p:nvSpPr>
          <p:cNvPr id="57347" name="Rectangle 3"/>
          <p:cNvSpPr>
            <a:spLocks noGrp="1"/>
          </p:cNvSpPr>
          <p:nvPr>
            <p:ph idx="1"/>
          </p:nvPr>
        </p:nvSpPr>
        <p:spPr>
          <a:xfrm>
            <a:off x="379413" y="974725"/>
            <a:ext cx="8385175" cy="3248025"/>
          </a:xfrm>
        </p:spPr>
        <p:txBody>
          <a:bodyPr vert="horz" wrap="square" lIns="91440" tIns="45720" rIns="91440" bIns="45720" anchor="t" anchorCtr="0"/>
          <a:lstStyle/>
          <a:p>
            <a:pPr marL="0" indent="0" algn="l" eaLnBrk="1" hangingPunct="1">
              <a:lnSpc>
                <a:spcPct val="150000"/>
              </a:lnSpc>
              <a:buNone/>
            </a:pPr>
            <a:r>
              <a:rPr lang="en-US" altLang="zh-CN" dirty="0">
                <a:ea typeface="宋体" panose="02010600030101010101" pitchFamily="2" charset="-122"/>
              </a:rPr>
              <a:t>Known as client caches/pull mode.</a:t>
            </a:r>
            <a:endParaRPr lang="en-US" altLang="zh-CN"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en-US" altLang="zh-CN" dirty="0">
                <a:ea typeface="宋体" panose="02010600030101010101" pitchFamily="2" charset="-122"/>
              </a:rPr>
              <a:t>Creating a cache at the client when needed and managing the cache is left entirely to that client.</a:t>
            </a:r>
            <a:endParaRPr lang="en-US" altLang="zh-CN"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zh-CN" altLang="en-US" sz="2400" dirty="0">
                <a:ea typeface="宋体" panose="02010600030101010101" pitchFamily="2" charset="-122"/>
              </a:rPr>
              <a:t>举例：浏览器通常都自动缓存访问过的页面；</a:t>
            </a:r>
            <a:endParaRPr lang="en-US" altLang="zh-CN" sz="2400" dirty="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Update Propagation(7.4.2)</a:t>
            </a:r>
            <a:endParaRPr lang="en-US" altLang="zh-CN" dirty="0">
              <a:ea typeface="宋体" panose="02010600030101010101" pitchFamily="2" charset="-122"/>
            </a:endParaRPr>
          </a:p>
        </p:txBody>
      </p:sp>
      <p:sp>
        <p:nvSpPr>
          <p:cNvPr id="58371" name="Rectangle 3"/>
          <p:cNvSpPr>
            <a:spLocks noGrp="1"/>
          </p:cNvSpPr>
          <p:nvPr>
            <p:ph idx="1"/>
          </p:nvPr>
        </p:nvSpPr>
        <p:spPr>
          <a:xfrm>
            <a:off x="620713" y="1143000"/>
            <a:ext cx="7524750" cy="3246438"/>
          </a:xfrm>
        </p:spPr>
        <p:txBody>
          <a:bodyPr vert="horz" wrap="square" lIns="91440" tIns="45720" rIns="91440" bIns="45720" anchor="t" anchorCtr="0"/>
          <a:lstStyle/>
          <a:p>
            <a:pPr marL="0" indent="0" algn="l" eaLnBrk="1" hangingPunct="1">
              <a:buNone/>
            </a:pPr>
            <a:r>
              <a:rPr lang="en-US" altLang="zh-CN" sz="2800" dirty="0">
                <a:ea typeface="宋体" panose="02010600030101010101" pitchFamily="2" charset="-122"/>
              </a:rPr>
              <a:t>Three propagations:</a:t>
            </a:r>
            <a:endParaRPr lang="en-US" altLang="zh-CN" sz="2800" dirty="0">
              <a:ea typeface="宋体" panose="02010600030101010101" pitchFamily="2" charset="-122"/>
            </a:endParaRPr>
          </a:p>
          <a:p>
            <a:pPr marL="0" indent="0" algn="l" eaLnBrk="1" hangingPunct="1">
              <a:buNone/>
            </a:pPr>
            <a:r>
              <a:rPr lang="en-US" altLang="zh-CN" sz="2800" dirty="0">
                <a:ea typeface="宋体" panose="02010600030101010101" pitchFamily="2" charset="-122"/>
              </a:rPr>
              <a:t>   1. Propagate only a notification of an update                 </a:t>
            </a:r>
            <a:endParaRPr lang="en-US" altLang="zh-CN" sz="2800" dirty="0">
              <a:ea typeface="宋体" panose="02010600030101010101" pitchFamily="2" charset="-122"/>
            </a:endParaRPr>
          </a:p>
          <a:p>
            <a:pPr marL="0" indent="0" algn="l" eaLnBrk="1" hangingPunct="1">
              <a:buNone/>
            </a:pPr>
            <a:r>
              <a:rPr lang="en-US" altLang="zh-CN" sz="2800" dirty="0">
                <a:ea typeface="宋体" panose="02010600030101010101" pitchFamily="2" charset="-122"/>
              </a:rPr>
              <a:t>             (known as </a:t>
            </a:r>
            <a:r>
              <a:rPr lang="en-US" altLang="zh-CN" sz="2800" dirty="0">
                <a:solidFill>
                  <a:srgbClr val="FF3300"/>
                </a:solidFill>
                <a:ea typeface="宋体" panose="02010600030101010101" pitchFamily="2" charset="-122"/>
              </a:rPr>
              <a:t>invalidation protocols</a:t>
            </a:r>
            <a:r>
              <a:rPr lang="en-US" altLang="zh-CN" sz="2800" dirty="0">
                <a:ea typeface="宋体" panose="02010600030101010101" pitchFamily="2" charset="-122"/>
              </a:rPr>
              <a:t>)</a:t>
            </a:r>
            <a:endParaRPr lang="en-US" altLang="zh-CN" sz="2800" dirty="0">
              <a:ea typeface="宋体" panose="02010600030101010101" pitchFamily="2" charset="-122"/>
            </a:endParaRPr>
          </a:p>
          <a:p>
            <a:pPr marL="0" indent="0" algn="l" eaLnBrk="1" hangingPunct="1">
              <a:buNone/>
            </a:pPr>
            <a:r>
              <a:rPr lang="en-US" altLang="zh-CN" sz="2800" dirty="0">
                <a:ea typeface="宋体" panose="02010600030101010101" pitchFamily="2" charset="-122"/>
              </a:rPr>
              <a:t>   2. Transfer data from one copy to another.</a:t>
            </a:r>
            <a:endParaRPr lang="en-US" altLang="zh-CN" sz="2800" dirty="0">
              <a:ea typeface="宋体" panose="02010600030101010101" pitchFamily="2" charset="-122"/>
            </a:endParaRPr>
          </a:p>
          <a:p>
            <a:pPr marL="0" indent="0" algn="l" eaLnBrk="1" hangingPunct="1">
              <a:buNone/>
            </a:pPr>
            <a:r>
              <a:rPr lang="en-US" altLang="zh-CN" sz="2800" dirty="0">
                <a:ea typeface="宋体" panose="02010600030101010101" pitchFamily="2" charset="-122"/>
              </a:rPr>
              <a:t>   3. Propagate the update operation to other copies.</a:t>
            </a:r>
            <a:endParaRPr lang="en-US" altLang="zh-CN" sz="2800" dirty="0">
              <a:ea typeface="宋体" panose="02010600030101010101" pitchFamily="2" charset="-122"/>
            </a:endParaRPr>
          </a:p>
          <a:p>
            <a:pPr marL="0" indent="0" algn="l" eaLnBrk="1" hangingPunct="1">
              <a:buNone/>
            </a:pPr>
            <a:r>
              <a:rPr lang="en-US" altLang="zh-CN" sz="2800" dirty="0">
                <a:ea typeface="宋体" panose="02010600030101010101" pitchFamily="2" charset="-122"/>
              </a:rPr>
              <a:t>Ensuring relevant consistency according to need</a:t>
            </a:r>
            <a:endParaRPr lang="en-US" altLang="zh-CN" sz="2800" dirty="0">
              <a:ea typeface="宋体" panose="02010600030101010101" pitchFamily="2" charset="-122"/>
            </a:endParaRPr>
          </a:p>
        </p:txBody>
      </p:sp>
      <p:sp>
        <p:nvSpPr>
          <p:cNvPr id="58372" name="矩形 1"/>
          <p:cNvSpPr/>
          <p:nvPr/>
        </p:nvSpPr>
        <p:spPr>
          <a:xfrm>
            <a:off x="323850" y="4389438"/>
            <a:ext cx="8494713" cy="46196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zh-CN" altLang="en-US" sz="2400" dirty="0">
                <a:ea typeface="宋体" panose="02010600030101010101" pitchFamily="2" charset="-122"/>
              </a:rPr>
              <a:t>举例：网页的版本号、网页数据本身、以及对数据的更新操作</a:t>
            </a:r>
            <a:endParaRPr lang="zh-CN" altLang="en-US" sz="2400" dirty="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Pull versus Push Protocols</a:t>
            </a:r>
            <a:endParaRPr lang="en-US" altLang="zh-CN" dirty="0">
              <a:ea typeface="宋体" panose="02010600030101010101" pitchFamily="2" charset="-122"/>
            </a:endParaRPr>
          </a:p>
        </p:txBody>
      </p:sp>
      <p:sp>
        <p:nvSpPr>
          <p:cNvPr id="59395" name="Rectangle 3"/>
          <p:cNvSpPr>
            <a:spLocks noGrp="1"/>
          </p:cNvSpPr>
          <p:nvPr>
            <p:ph idx="1"/>
          </p:nvPr>
        </p:nvSpPr>
        <p:spPr>
          <a:xfrm>
            <a:off x="950913" y="5111750"/>
            <a:ext cx="7645400" cy="838200"/>
          </a:xfrm>
        </p:spPr>
        <p:txBody>
          <a:bodyPr vert="horz" wrap="square" lIns="91440" tIns="45720" rIns="91440" bIns="45720" anchor="t" anchorCtr="0"/>
          <a:lstStyle/>
          <a:p>
            <a:pPr algn="l" eaLnBrk="1" hangingPunct="1">
              <a:buNone/>
            </a:pPr>
            <a:r>
              <a:rPr lang="en-US" altLang="zh-CN" sz="2400" dirty="0">
                <a:ea typeface="宋体" panose="02010600030101010101" pitchFamily="2" charset="-122"/>
              </a:rPr>
              <a:t>A comparison between push-based and pull-based protocols in the case of multiple client, single server systems.</a:t>
            </a:r>
            <a:endParaRPr lang="en-US" altLang="zh-CN" sz="2400" dirty="0">
              <a:ea typeface="宋体" panose="02010600030101010101" pitchFamily="2" charset="-122"/>
            </a:endParaRPr>
          </a:p>
        </p:txBody>
      </p:sp>
      <p:graphicFrame>
        <p:nvGraphicFramePr>
          <p:cNvPr id="33823" name="Group 31"/>
          <p:cNvGraphicFramePr>
            <a:graphicFrameLocks noGrp="1"/>
          </p:cNvGraphicFramePr>
          <p:nvPr/>
        </p:nvGraphicFramePr>
        <p:xfrm>
          <a:off x="361950" y="1604963"/>
          <a:ext cx="8496300" cy="2727325"/>
        </p:xfrm>
        <a:graphic>
          <a:graphicData uri="http://schemas.openxmlformats.org/drawingml/2006/table">
            <a:tbl>
              <a:tblPr/>
              <a:tblGrid>
                <a:gridCol w="2038350"/>
                <a:gridCol w="4343400"/>
                <a:gridCol w="2114550"/>
              </a:tblGrid>
              <a:tr h="66094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Issue</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Push-based</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Pull-based</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094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State of server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List of client replicas and caches</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None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094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Messages sent</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Update (and possibly fetch update later)</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Poll and update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450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Response time at client</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Immediate (or fetch-update time)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Fetch-update time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9418" name="Rectangle 33"/>
          <p:cNvSpPr/>
          <p:nvPr/>
        </p:nvSpPr>
        <p:spPr>
          <a:xfrm>
            <a:off x="4402138" y="4441825"/>
            <a:ext cx="3017837" cy="5746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sp>
        <p:nvSpPr>
          <p:cNvPr id="59419" name="Text Box 32"/>
          <p:cNvSpPr txBox="1"/>
          <p:nvPr/>
        </p:nvSpPr>
        <p:spPr>
          <a:xfrm>
            <a:off x="4402138" y="4491038"/>
            <a:ext cx="3032125" cy="46196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rPr>
              <a:t>If invalidation protocol</a:t>
            </a:r>
            <a:endParaRPr lang="en-US" altLang="zh-CN" sz="2400" dirty="0">
              <a:ea typeface="宋体" panose="02010600030101010101" pitchFamily="2" charset="-122"/>
            </a:endParaRPr>
          </a:p>
        </p:txBody>
      </p:sp>
      <p:sp>
        <p:nvSpPr>
          <p:cNvPr id="59420" name="Line 34"/>
          <p:cNvSpPr/>
          <p:nvPr/>
        </p:nvSpPr>
        <p:spPr>
          <a:xfrm>
            <a:off x="4572000" y="4102100"/>
            <a:ext cx="939800" cy="327025"/>
          </a:xfrm>
          <a:prstGeom prst="line">
            <a:avLst/>
          </a:prstGeom>
          <a:ln w="9525" cap="flat" cmpd="sng">
            <a:solidFill>
              <a:schemeClr val="tx1"/>
            </a:solidFill>
            <a:prstDash val="solid"/>
            <a:headEnd type="none" w="med" len="med"/>
            <a:tailEnd type="triangle" w="med" len="med"/>
          </a:ln>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1595438" y="149225"/>
            <a:ext cx="5953125" cy="574675"/>
          </a:xfrm>
        </p:spPr>
        <p:txBody>
          <a:bodyPr vert="horz" wrap="square" lIns="91440" tIns="45720" rIns="91440" bIns="45720" anchor="ctr" anchorCtr="0"/>
          <a:lstStyle/>
          <a:p>
            <a:pPr eaLnBrk="1" hangingPunct="1"/>
            <a:r>
              <a:rPr lang="en-US" altLang="zh-CN" dirty="0">
                <a:ea typeface="宋体" panose="02010600030101010101" pitchFamily="2" charset="-122"/>
              </a:rPr>
              <a:t>Epidemic Protocols</a:t>
            </a:r>
            <a:endParaRPr lang="en-US" altLang="zh-CN" dirty="0">
              <a:ea typeface="宋体" panose="02010600030101010101" pitchFamily="2" charset="-122"/>
            </a:endParaRPr>
          </a:p>
        </p:txBody>
      </p:sp>
      <p:sp>
        <p:nvSpPr>
          <p:cNvPr id="60419" name="Rectangle 3"/>
          <p:cNvSpPr>
            <a:spLocks noGrp="1"/>
          </p:cNvSpPr>
          <p:nvPr>
            <p:ph idx="1"/>
          </p:nvPr>
        </p:nvSpPr>
        <p:spPr>
          <a:xfrm>
            <a:off x="244475" y="1025525"/>
            <a:ext cx="8655050" cy="5332413"/>
          </a:xfrm>
        </p:spPr>
        <p:txBody>
          <a:bodyPr vert="horz" wrap="square" lIns="91440" tIns="45720" rIns="91440" bIns="45720" anchor="t" anchorCtr="0"/>
          <a:lstStyle/>
          <a:p>
            <a:pPr marL="0" indent="0" algn="l" eaLnBrk="1" hangingPunct="1">
              <a:lnSpc>
                <a:spcPct val="150000"/>
              </a:lnSpc>
              <a:buNone/>
            </a:pPr>
            <a:r>
              <a:rPr lang="en-US" altLang="zh-CN" sz="2800" u="sng" dirty="0">
                <a:ea typeface="宋体" panose="02010600030101010101" pitchFamily="2" charset="-122"/>
              </a:rPr>
              <a:t>Implement eventual-consistent based on epidemics.</a:t>
            </a:r>
            <a:endParaRPr lang="en-US" altLang="zh-CN" sz="2800" u="sng"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en-US" altLang="zh-CN" sz="2800" dirty="0">
                <a:ea typeface="宋体" panose="02010600030101010101" pitchFamily="2" charset="-122"/>
              </a:rPr>
              <a:t>a server </a:t>
            </a:r>
            <a:r>
              <a:rPr lang="en-US" altLang="zh-CN" sz="2800" i="1" dirty="0">
                <a:ea typeface="宋体" panose="02010600030101010101" pitchFamily="2" charset="-122"/>
              </a:rPr>
              <a:t>P</a:t>
            </a:r>
            <a:r>
              <a:rPr lang="en-US" altLang="zh-CN" sz="2800" dirty="0">
                <a:ea typeface="宋体" panose="02010600030101010101" pitchFamily="2" charset="-122"/>
              </a:rPr>
              <a:t> picks another server </a:t>
            </a:r>
            <a:r>
              <a:rPr lang="en-US" altLang="zh-CN" sz="2800" i="1" dirty="0">
                <a:ea typeface="宋体" panose="02010600030101010101" pitchFamily="2" charset="-122"/>
              </a:rPr>
              <a:t>Q</a:t>
            </a:r>
            <a:r>
              <a:rPr lang="en-US" altLang="zh-CN" sz="2800" dirty="0">
                <a:ea typeface="宋体" panose="02010600030101010101" pitchFamily="2" charset="-122"/>
              </a:rPr>
              <a:t> at random, and subsequently exchanges updates with </a:t>
            </a:r>
            <a:r>
              <a:rPr lang="en-US" altLang="zh-CN" sz="2800" i="1" dirty="0">
                <a:ea typeface="宋体" panose="02010600030101010101" pitchFamily="2" charset="-122"/>
              </a:rPr>
              <a:t>Q.</a:t>
            </a:r>
            <a:endParaRPr lang="en-US" altLang="zh-CN" sz="2800" i="1"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en-US" altLang="zh-CN" sz="2800" dirty="0">
                <a:ea typeface="宋体" panose="02010600030101010101" pitchFamily="2" charset="-122"/>
              </a:rPr>
              <a:t>Three approaches:</a:t>
            </a:r>
            <a:endParaRPr lang="en-US" altLang="zh-CN" sz="2800" dirty="0">
              <a:ea typeface="宋体" panose="02010600030101010101" pitchFamily="2" charset="-122"/>
            </a:endParaRPr>
          </a:p>
          <a:p>
            <a:pPr marL="0" indent="0" algn="l" eaLnBrk="1" hangingPunct="1">
              <a:lnSpc>
                <a:spcPct val="150000"/>
              </a:lnSpc>
              <a:buNone/>
            </a:pPr>
            <a:r>
              <a:rPr lang="en-US" altLang="zh-CN" sz="2800" dirty="0">
                <a:ea typeface="宋体" panose="02010600030101010101" pitchFamily="2" charset="-122"/>
              </a:rPr>
              <a:t>    1. </a:t>
            </a:r>
            <a:r>
              <a:rPr lang="en-US" altLang="zh-CN" sz="2800" i="1" dirty="0">
                <a:ea typeface="宋体" panose="02010600030101010101" pitchFamily="2" charset="-122"/>
              </a:rPr>
              <a:t>P</a:t>
            </a:r>
            <a:r>
              <a:rPr lang="en-US" altLang="zh-CN" sz="2800" dirty="0">
                <a:ea typeface="宋体" panose="02010600030101010101" pitchFamily="2" charset="-122"/>
              </a:rPr>
              <a:t> only pushes its own updates to </a:t>
            </a:r>
            <a:r>
              <a:rPr lang="en-US" altLang="zh-CN" sz="2800" i="1" dirty="0">
                <a:ea typeface="宋体" panose="02010600030101010101" pitchFamily="2" charset="-122"/>
              </a:rPr>
              <a:t>Q</a:t>
            </a:r>
            <a:endParaRPr lang="en-US" altLang="zh-CN" sz="2800" i="1" dirty="0">
              <a:ea typeface="宋体" panose="02010600030101010101" pitchFamily="2" charset="-122"/>
            </a:endParaRPr>
          </a:p>
          <a:p>
            <a:pPr marL="0" indent="0" algn="l" eaLnBrk="1" hangingPunct="1">
              <a:lnSpc>
                <a:spcPct val="150000"/>
              </a:lnSpc>
              <a:buNone/>
            </a:pPr>
            <a:r>
              <a:rPr lang="en-US" altLang="zh-CN" sz="2800" dirty="0">
                <a:ea typeface="宋体" panose="02010600030101010101" pitchFamily="2" charset="-122"/>
              </a:rPr>
              <a:t>    2. </a:t>
            </a:r>
            <a:r>
              <a:rPr lang="en-US" altLang="zh-CN" sz="2800" i="1" dirty="0">
                <a:ea typeface="宋体" panose="02010600030101010101" pitchFamily="2" charset="-122"/>
              </a:rPr>
              <a:t>P</a:t>
            </a:r>
            <a:r>
              <a:rPr lang="en-US" altLang="zh-CN" sz="2800" dirty="0">
                <a:ea typeface="宋体" panose="02010600030101010101" pitchFamily="2" charset="-122"/>
              </a:rPr>
              <a:t> only pulls in new updates from </a:t>
            </a:r>
            <a:r>
              <a:rPr lang="en-US" altLang="zh-CN" sz="2800" i="1" dirty="0">
                <a:ea typeface="宋体" panose="02010600030101010101" pitchFamily="2" charset="-122"/>
              </a:rPr>
              <a:t>Q</a:t>
            </a:r>
            <a:endParaRPr lang="en-US" altLang="zh-CN" sz="2800" i="1" dirty="0">
              <a:ea typeface="宋体" panose="02010600030101010101" pitchFamily="2" charset="-122"/>
            </a:endParaRPr>
          </a:p>
          <a:p>
            <a:pPr marL="0" indent="0" algn="l" eaLnBrk="1" hangingPunct="1">
              <a:lnSpc>
                <a:spcPct val="150000"/>
              </a:lnSpc>
              <a:buNone/>
            </a:pPr>
            <a:r>
              <a:rPr lang="en-US" altLang="zh-CN" sz="2800" dirty="0">
                <a:ea typeface="宋体" panose="02010600030101010101" pitchFamily="2" charset="-122"/>
              </a:rPr>
              <a:t>    3. </a:t>
            </a:r>
            <a:r>
              <a:rPr lang="en-US" altLang="zh-CN" sz="2800" i="1" dirty="0">
                <a:ea typeface="宋体" panose="02010600030101010101" pitchFamily="2" charset="-122"/>
              </a:rPr>
              <a:t>P</a:t>
            </a:r>
            <a:r>
              <a:rPr lang="en-US" altLang="zh-CN" sz="2800" dirty="0">
                <a:ea typeface="宋体" panose="02010600030101010101" pitchFamily="2" charset="-122"/>
              </a:rPr>
              <a:t> and </a:t>
            </a:r>
            <a:r>
              <a:rPr lang="en-US" altLang="zh-CN" sz="2800" i="1" dirty="0">
                <a:ea typeface="宋体" panose="02010600030101010101" pitchFamily="2" charset="-122"/>
              </a:rPr>
              <a:t>Q</a:t>
            </a:r>
            <a:r>
              <a:rPr lang="en-US" altLang="zh-CN" sz="2800" dirty="0">
                <a:ea typeface="宋体" panose="02010600030101010101" pitchFamily="2" charset="-122"/>
              </a:rPr>
              <a:t> send updates to each other(pull-pull) </a:t>
            </a:r>
            <a:endParaRPr lang="en-US" altLang="zh-CN" sz="2800" dirty="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p:txBody>
          <a:bodyPr vert="horz" wrap="square" lIns="91440" tIns="45720" rIns="91440" bIns="45720" anchor="ctr" anchorCtr="0"/>
          <a:lstStyle/>
          <a:p>
            <a:pPr eaLnBrk="1" hangingPunct="1"/>
            <a:r>
              <a:rPr lang="en-US" altLang="zh-CN" sz="3600" dirty="0">
                <a:ea typeface="宋体" panose="02010600030101010101" pitchFamily="2" charset="-122"/>
              </a:rPr>
              <a:t>CONSISTENCY PROTOCOLS(7.5)</a:t>
            </a:r>
            <a:endParaRPr lang="en-US" altLang="zh-CN" sz="3600" dirty="0">
              <a:ea typeface="宋体" panose="02010600030101010101" pitchFamily="2" charset="-122"/>
            </a:endParaRPr>
          </a:p>
        </p:txBody>
      </p:sp>
      <p:sp>
        <p:nvSpPr>
          <p:cNvPr id="61443" name="Rectangle 3"/>
          <p:cNvSpPr>
            <a:spLocks noGrp="1"/>
          </p:cNvSpPr>
          <p:nvPr>
            <p:ph idx="1"/>
          </p:nvPr>
        </p:nvSpPr>
        <p:spPr>
          <a:xfrm>
            <a:off x="950913" y="1663700"/>
            <a:ext cx="7645400" cy="4286250"/>
          </a:xfrm>
        </p:spPr>
        <p:txBody>
          <a:bodyPr vert="horz" wrap="square" lIns="91440" tIns="45720" rIns="91440" bIns="45720" anchor="t" anchorCtr="0"/>
          <a:lstStyle/>
          <a:p>
            <a:pPr marL="0" indent="0" algn="l" eaLnBrk="1" hangingPunct="1">
              <a:buNone/>
            </a:pPr>
            <a:r>
              <a:rPr lang="en-US" altLang="zh-CN" sz="2800" dirty="0">
                <a:ea typeface="宋体" panose="02010600030101010101" pitchFamily="2" charset="-122"/>
              </a:rPr>
              <a:t>Implement a specific consistency model(sequential, weak consistency, and atomic transaction ).</a:t>
            </a:r>
            <a:endParaRPr lang="en-US" altLang="zh-CN" sz="2800" dirty="0">
              <a:ea typeface="宋体" panose="02010600030101010101" pitchFamily="2" charset="-122"/>
            </a:endParaRPr>
          </a:p>
          <a:p>
            <a:pPr marL="0" indent="0" algn="l" eaLnBrk="1" hangingPunct="1">
              <a:buNone/>
            </a:pPr>
            <a:endParaRPr lang="en-US" altLang="zh-CN" sz="2800" dirty="0">
              <a:ea typeface="宋体" panose="02010600030101010101" pitchFamily="2" charset="-122"/>
            </a:endParaRPr>
          </a:p>
          <a:p>
            <a:pPr marL="0" indent="0" algn="l" eaLnBrk="1" hangingPunct="1">
              <a:buNone/>
            </a:pPr>
            <a:r>
              <a:rPr lang="en-US" altLang="zh-CN" sz="2800" dirty="0">
                <a:ea typeface="宋体" panose="02010600030101010101" pitchFamily="2" charset="-122"/>
              </a:rPr>
              <a:t>“Global sequence”</a:t>
            </a:r>
            <a:endParaRPr lang="en-US" altLang="zh-CN" sz="2800" dirty="0">
              <a:ea typeface="宋体" panose="02010600030101010101" pitchFamily="2" charset="-122"/>
            </a:endParaRPr>
          </a:p>
          <a:p>
            <a:pPr marL="0" indent="0" algn="l" eaLnBrk="1" hangingPunct="1">
              <a:buNone/>
            </a:pPr>
            <a:endParaRPr lang="en-US" altLang="zh-CN" sz="2800" dirty="0">
              <a:ea typeface="宋体" panose="02010600030101010101" pitchFamily="2" charset="-122"/>
            </a:endParaRPr>
          </a:p>
          <a:p>
            <a:pPr marL="0" indent="0" algn="l" eaLnBrk="1" hangingPunct="1">
              <a:buNone/>
            </a:pPr>
            <a:r>
              <a:rPr lang="en-US" altLang="zh-CN" sz="2800" dirty="0">
                <a:solidFill>
                  <a:srgbClr val="FF0000"/>
                </a:solidFill>
                <a:ea typeface="宋体" panose="02010600030101010101" pitchFamily="2" charset="-122"/>
              </a:rPr>
              <a:t>7.5.1 Primary-based Protocols</a:t>
            </a:r>
            <a:endParaRPr lang="en-US" altLang="zh-CN" sz="2800" dirty="0">
              <a:solidFill>
                <a:srgbClr val="FF0000"/>
              </a:solidFill>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5"/>
          <p:cNvPicPr>
            <a:picLocks noChangeAspect="1"/>
          </p:cNvPicPr>
          <p:nvPr/>
        </p:nvPicPr>
        <p:blipFill>
          <a:blip r:embed="rId1"/>
          <a:srcRect l="24345" t="41994" r="21593" b="36858"/>
          <a:stretch>
            <a:fillRect/>
          </a:stretch>
        </p:blipFill>
        <p:spPr>
          <a:xfrm>
            <a:off x="512763" y="898525"/>
            <a:ext cx="8491537" cy="4613275"/>
          </a:xfrm>
          <a:prstGeom prst="rect">
            <a:avLst/>
          </a:prstGeom>
          <a:noFill/>
          <a:ln w="9525">
            <a:noFill/>
          </a:ln>
        </p:spPr>
      </p:pic>
      <p:sp>
        <p:nvSpPr>
          <p:cNvPr id="62467" name="Rectangle 2"/>
          <p:cNvSpPr>
            <a:spLocks noGrp="1"/>
          </p:cNvSpPr>
          <p:nvPr>
            <p:ph type="title"/>
          </p:nvPr>
        </p:nvSpPr>
        <p:spPr>
          <a:xfrm>
            <a:off x="400050" y="109538"/>
            <a:ext cx="8112125" cy="755650"/>
          </a:xfrm>
        </p:spPr>
        <p:txBody>
          <a:bodyPr vert="horz" wrap="square" lIns="91440" tIns="45720" rIns="91440" bIns="45720" anchor="ctr" anchorCtr="0"/>
          <a:lstStyle/>
          <a:p>
            <a:pPr eaLnBrk="1" hangingPunct="1"/>
            <a:r>
              <a:rPr lang="en-US" altLang="zh-CN" dirty="0">
                <a:ea typeface="宋体" panose="02010600030101010101" pitchFamily="2" charset="-122"/>
              </a:rPr>
              <a:t>Remote-Write Protocols (1)</a:t>
            </a:r>
            <a:endParaRPr lang="en-US" altLang="zh-CN" dirty="0">
              <a:ea typeface="宋体" panose="02010600030101010101" pitchFamily="2" charset="-122"/>
            </a:endParaRPr>
          </a:p>
        </p:txBody>
      </p:sp>
      <p:sp>
        <p:nvSpPr>
          <p:cNvPr id="62468" name="Rectangle 3"/>
          <p:cNvSpPr>
            <a:spLocks noGrp="1"/>
          </p:cNvSpPr>
          <p:nvPr>
            <p:ph idx="1"/>
          </p:nvPr>
        </p:nvSpPr>
        <p:spPr>
          <a:xfrm>
            <a:off x="400050" y="5819775"/>
            <a:ext cx="8604250" cy="730250"/>
          </a:xfrm>
        </p:spPr>
        <p:txBody>
          <a:bodyPr vert="horz" wrap="square" lIns="91440" tIns="45720" rIns="91440" bIns="45720" anchor="t" anchorCtr="0"/>
          <a:lstStyle/>
          <a:p>
            <a:pPr algn="l" eaLnBrk="1" hangingPunct="1">
              <a:buNone/>
            </a:pPr>
            <a:r>
              <a:rPr lang="en-US" altLang="zh-CN" sz="2000" dirty="0">
                <a:ea typeface="宋体" panose="02010600030101010101" pitchFamily="2" charset="-122"/>
              </a:rPr>
              <a:t>Primary-based remote-write protocol with a fixed server to which all read and write operations are forwarded</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主副本固定</a:t>
            </a:r>
            <a:r>
              <a:rPr lang="en-US" altLang="zh-CN" sz="2000" dirty="0">
                <a:solidFill>
                  <a:srgbClr val="FF0000"/>
                </a:solidFill>
                <a:ea typeface="宋体" panose="02010600030101010101" pitchFamily="2" charset="-122"/>
              </a:rPr>
              <a:t>)</a:t>
            </a:r>
            <a:r>
              <a:rPr lang="en-US" altLang="zh-CN" sz="2000" dirty="0">
                <a:ea typeface="宋体" panose="02010600030101010101" pitchFamily="2" charset="-122"/>
              </a:rPr>
              <a:t>.</a:t>
            </a:r>
            <a:endParaRPr lang="en-US" altLang="zh-CN" sz="2000" dirty="0">
              <a:ea typeface="宋体" panose="02010600030101010101" pitchFamily="2" charset="-122"/>
            </a:endParaRPr>
          </a:p>
        </p:txBody>
      </p:sp>
      <p:sp>
        <p:nvSpPr>
          <p:cNvPr id="62469" name="Text Box 6"/>
          <p:cNvSpPr txBox="1"/>
          <p:nvPr/>
        </p:nvSpPr>
        <p:spPr>
          <a:xfrm>
            <a:off x="400050" y="6457950"/>
            <a:ext cx="3343275"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solidFill>
                  <a:srgbClr val="FF3300"/>
                </a:solidFill>
                <a:ea typeface="宋体" panose="02010600030101010101" pitchFamily="2" charset="-122"/>
              </a:rPr>
              <a:t>Blocking or nonblocking</a:t>
            </a:r>
            <a:endParaRPr lang="en-US" altLang="zh-CN" sz="2000" dirty="0">
              <a:solidFill>
                <a:srgbClr val="FF3300"/>
              </a:solidFill>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Remote-Write Protocols (2)</a:t>
            </a:r>
            <a:endParaRPr lang="en-US" altLang="zh-CN" dirty="0">
              <a:ea typeface="宋体" panose="02010600030101010101" pitchFamily="2" charset="-122"/>
            </a:endParaRPr>
          </a:p>
        </p:txBody>
      </p:sp>
      <p:pic>
        <p:nvPicPr>
          <p:cNvPr id="63491" name="Picture 5"/>
          <p:cNvPicPr>
            <a:picLocks noChangeAspect="1"/>
          </p:cNvPicPr>
          <p:nvPr/>
        </p:nvPicPr>
        <p:blipFill>
          <a:blip r:embed="rId1"/>
          <a:srcRect l="24345" t="41389" r="21593" b="35951"/>
          <a:stretch>
            <a:fillRect/>
          </a:stretch>
        </p:blipFill>
        <p:spPr>
          <a:xfrm>
            <a:off x="190500" y="952500"/>
            <a:ext cx="8643938" cy="5127625"/>
          </a:xfrm>
          <a:prstGeom prst="rect">
            <a:avLst/>
          </a:prstGeom>
          <a:noFill/>
          <a:ln w="9525">
            <a:noFill/>
          </a:ln>
        </p:spPr>
      </p:pic>
      <p:sp>
        <p:nvSpPr>
          <p:cNvPr id="63492" name="Rectangle 3"/>
          <p:cNvSpPr>
            <a:spLocks noGrp="1"/>
          </p:cNvSpPr>
          <p:nvPr>
            <p:ph idx="1"/>
          </p:nvPr>
        </p:nvSpPr>
        <p:spPr>
          <a:xfrm>
            <a:off x="4033838" y="5486400"/>
            <a:ext cx="5110162" cy="1371600"/>
          </a:xfrm>
        </p:spPr>
        <p:txBody>
          <a:bodyPr vert="horz" wrap="square" lIns="91440" tIns="45720" rIns="91440" bIns="45720" anchor="t" anchorCtr="0"/>
          <a:lstStyle/>
          <a:p>
            <a:pPr algn="l" eaLnBrk="1" hangingPunct="1">
              <a:buNone/>
            </a:pPr>
            <a:r>
              <a:rPr lang="en-US" altLang="zh-CN" sz="2800" dirty="0">
                <a:ea typeface="宋体" panose="02010600030101010101" pitchFamily="2" charset="-122"/>
              </a:rPr>
              <a:t>The principle of primary-backup protocol(</a:t>
            </a:r>
            <a:r>
              <a:rPr lang="zh-CN" altLang="en-US" sz="2000" b="1" dirty="0">
                <a:solidFill>
                  <a:srgbClr val="0070C0"/>
                </a:solidFill>
                <a:ea typeface="宋体" panose="02010600030101010101" pitchFamily="2" charset="-122"/>
              </a:rPr>
              <a:t>带复制的主副本</a:t>
            </a:r>
            <a:r>
              <a:rPr lang="en-US" altLang="zh-CN" sz="2800" dirty="0">
                <a:ea typeface="宋体" panose="02010600030101010101" pitchFamily="2" charset="-122"/>
              </a:rPr>
              <a:t>).</a:t>
            </a:r>
            <a:endParaRPr lang="en-US" altLang="zh-CN" sz="2800" dirty="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0" y="0"/>
            <a:ext cx="9144000" cy="739775"/>
          </a:xfrm>
        </p:spPr>
        <p:txBody>
          <a:bodyPr vert="horz" wrap="square" lIns="91440" tIns="45720" rIns="91440" bIns="45720" anchor="ctr" anchorCtr="0"/>
          <a:lstStyle/>
          <a:p>
            <a:pPr eaLnBrk="1" hangingPunct="1"/>
            <a:r>
              <a:rPr lang="en-US" altLang="zh-CN" dirty="0">
                <a:ea typeface="宋体" panose="02010600030101010101" pitchFamily="2" charset="-122"/>
              </a:rPr>
              <a:t>Local-Write Protocols (1)</a:t>
            </a:r>
            <a:endParaRPr lang="en-US" altLang="zh-CN" dirty="0">
              <a:ea typeface="宋体" panose="02010600030101010101" pitchFamily="2" charset="-122"/>
            </a:endParaRPr>
          </a:p>
        </p:txBody>
      </p:sp>
      <p:pic>
        <p:nvPicPr>
          <p:cNvPr id="64515" name="Picture 5"/>
          <p:cNvPicPr>
            <a:picLocks noChangeAspect="1"/>
          </p:cNvPicPr>
          <p:nvPr/>
        </p:nvPicPr>
        <p:blipFill>
          <a:blip r:embed="rId1"/>
          <a:srcRect l="24345" t="42296" r="21379" b="36404"/>
          <a:stretch>
            <a:fillRect/>
          </a:stretch>
        </p:blipFill>
        <p:spPr>
          <a:xfrm>
            <a:off x="317500" y="996950"/>
            <a:ext cx="8567738" cy="4757738"/>
          </a:xfrm>
          <a:prstGeom prst="rect">
            <a:avLst/>
          </a:prstGeom>
          <a:noFill/>
          <a:ln w="9525">
            <a:noFill/>
          </a:ln>
        </p:spPr>
      </p:pic>
      <p:sp>
        <p:nvSpPr>
          <p:cNvPr id="64516" name="Rectangle 3"/>
          <p:cNvSpPr>
            <a:spLocks noGrp="1"/>
          </p:cNvSpPr>
          <p:nvPr>
            <p:ph idx="1"/>
          </p:nvPr>
        </p:nvSpPr>
        <p:spPr>
          <a:xfrm>
            <a:off x="317500" y="5905500"/>
            <a:ext cx="8686800" cy="784225"/>
          </a:xfrm>
        </p:spPr>
        <p:txBody>
          <a:bodyPr vert="horz" wrap="square" lIns="91440" tIns="45720" rIns="91440" bIns="45720" anchor="t" anchorCtr="0"/>
          <a:lstStyle/>
          <a:p>
            <a:pPr algn="l" eaLnBrk="1" hangingPunct="1">
              <a:lnSpc>
                <a:spcPct val="90000"/>
              </a:lnSpc>
              <a:buNone/>
            </a:pPr>
            <a:r>
              <a:rPr lang="en-US" altLang="zh-CN" sz="2400" dirty="0">
                <a:ea typeface="宋体" panose="02010600030101010101" pitchFamily="2" charset="-122"/>
              </a:rPr>
              <a:t>Primary-based local-write protocol in which a single copy is migrated between processes</a:t>
            </a:r>
            <a:r>
              <a:rPr lang="en-US" altLang="zh-CN" sz="2000" dirty="0">
                <a:ea typeface="宋体" panose="02010600030101010101" pitchFamily="2" charset="-122"/>
              </a:rPr>
              <a:t>(</a:t>
            </a:r>
            <a:r>
              <a:rPr lang="zh-CN" altLang="en-US" sz="2000" dirty="0">
                <a:solidFill>
                  <a:srgbClr val="FF0000"/>
                </a:solidFill>
                <a:ea typeface="宋体" panose="02010600030101010101" pitchFamily="2" charset="-122"/>
              </a:rPr>
              <a:t>可移动的主副本</a:t>
            </a:r>
            <a:r>
              <a:rPr lang="zh-CN" altLang="en-US" sz="2000" dirty="0">
                <a:ea typeface="宋体" panose="02010600030101010101" pitchFamily="2" charset="-122"/>
              </a:rPr>
              <a:t>)</a:t>
            </a:r>
            <a:r>
              <a:rPr lang="zh-CN" altLang="en-US" sz="2400" dirty="0">
                <a:ea typeface="宋体" panose="02010600030101010101" pitchFamily="2" charset="-122"/>
              </a:rPr>
              <a:t>.</a:t>
            </a:r>
            <a:endParaRPr lang="zh-CN" altLang="en-US" sz="2400" dirty="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0" y="0"/>
            <a:ext cx="9144000" cy="690563"/>
          </a:xfrm>
        </p:spPr>
        <p:txBody>
          <a:bodyPr vert="horz" wrap="square" lIns="91440" tIns="45720" rIns="91440" bIns="45720" anchor="ctr" anchorCtr="0"/>
          <a:lstStyle/>
          <a:p>
            <a:pPr eaLnBrk="1" hangingPunct="1"/>
            <a:r>
              <a:rPr lang="en-US" altLang="zh-CN" dirty="0">
                <a:ea typeface="宋体" panose="02010600030101010101" pitchFamily="2" charset="-122"/>
              </a:rPr>
              <a:t>Local-Write Protocols (2)</a:t>
            </a:r>
            <a:endParaRPr lang="en-US" altLang="zh-CN" dirty="0">
              <a:ea typeface="宋体" panose="02010600030101010101" pitchFamily="2" charset="-122"/>
            </a:endParaRPr>
          </a:p>
        </p:txBody>
      </p:sp>
      <p:sp>
        <p:nvSpPr>
          <p:cNvPr id="65539" name="Rectangle 3"/>
          <p:cNvSpPr>
            <a:spLocks noGrp="1"/>
          </p:cNvSpPr>
          <p:nvPr>
            <p:ph idx="1"/>
          </p:nvPr>
        </p:nvSpPr>
        <p:spPr>
          <a:xfrm>
            <a:off x="573088" y="5876925"/>
            <a:ext cx="8123237" cy="808038"/>
          </a:xfrm>
        </p:spPr>
        <p:txBody>
          <a:bodyPr vert="horz" wrap="square" lIns="91440" tIns="45720" rIns="91440" bIns="45720" anchor="t" anchorCtr="0"/>
          <a:lstStyle/>
          <a:p>
            <a:pPr algn="l" eaLnBrk="1" hangingPunct="1">
              <a:buNone/>
            </a:pPr>
            <a:r>
              <a:rPr lang="en-US" altLang="zh-CN" sz="2400" dirty="0">
                <a:ea typeface="宋体" panose="02010600030101010101" pitchFamily="2" charset="-122"/>
              </a:rPr>
              <a:t>Primary-backup protocol in which the primary migrates to the process wanting to perform an update </a:t>
            </a:r>
            <a:r>
              <a:rPr lang="en-US" altLang="zh-CN" sz="2000" dirty="0">
                <a:ea typeface="宋体" panose="02010600030101010101" pitchFamily="2" charset="-122"/>
              </a:rPr>
              <a:t>(</a:t>
            </a:r>
            <a:r>
              <a:rPr lang="zh-CN" altLang="en-US" sz="2000" dirty="0">
                <a:solidFill>
                  <a:srgbClr val="FF0000"/>
                </a:solidFill>
                <a:ea typeface="宋体" panose="02010600030101010101" pitchFamily="2" charset="-122"/>
              </a:rPr>
              <a:t>带复制的可移动主副本</a:t>
            </a:r>
            <a:r>
              <a:rPr lang="en-US" altLang="zh-CN" sz="2000" dirty="0">
                <a:ea typeface="宋体" panose="02010600030101010101" pitchFamily="2" charset="-122"/>
              </a:rPr>
              <a:t>)</a:t>
            </a:r>
            <a:r>
              <a:rPr lang="en-US" altLang="zh-CN" sz="2400" dirty="0">
                <a:ea typeface="宋体" panose="02010600030101010101" pitchFamily="2" charset="-122"/>
              </a:rPr>
              <a:t>.</a:t>
            </a:r>
            <a:endParaRPr lang="en-US" altLang="zh-CN" sz="2400" dirty="0">
              <a:ea typeface="宋体" panose="02010600030101010101" pitchFamily="2" charset="-122"/>
            </a:endParaRPr>
          </a:p>
        </p:txBody>
      </p:sp>
      <p:pic>
        <p:nvPicPr>
          <p:cNvPr id="65540" name="Picture 5"/>
          <p:cNvPicPr>
            <a:picLocks noChangeAspect="1"/>
          </p:cNvPicPr>
          <p:nvPr/>
        </p:nvPicPr>
        <p:blipFill>
          <a:blip r:embed="rId1"/>
          <a:srcRect l="24345" t="41389" r="21593" b="36555"/>
          <a:stretch>
            <a:fillRect/>
          </a:stretch>
        </p:blipFill>
        <p:spPr>
          <a:xfrm>
            <a:off x="457200" y="908050"/>
            <a:ext cx="8388350" cy="4854575"/>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Quorum-Based Protocols</a:t>
            </a:r>
            <a:endParaRPr lang="en-US" altLang="zh-CN" dirty="0">
              <a:ea typeface="宋体" panose="02010600030101010101" pitchFamily="2" charset="-122"/>
            </a:endParaRPr>
          </a:p>
        </p:txBody>
      </p:sp>
      <p:sp>
        <p:nvSpPr>
          <p:cNvPr id="67587" name="Rectangle 3"/>
          <p:cNvSpPr>
            <a:spLocks noGrp="1"/>
          </p:cNvSpPr>
          <p:nvPr>
            <p:ph idx="1"/>
          </p:nvPr>
        </p:nvSpPr>
        <p:spPr>
          <a:xfrm>
            <a:off x="544513" y="4306888"/>
            <a:ext cx="8280400" cy="2328862"/>
          </a:xfrm>
        </p:spPr>
        <p:txBody>
          <a:bodyPr vert="horz" wrap="square" lIns="91440" tIns="45720" rIns="91440" bIns="45720" anchor="t" anchorCtr="0"/>
          <a:lstStyle/>
          <a:p>
            <a:pPr marL="609600" indent="-609600" algn="l" eaLnBrk="1" hangingPunct="1">
              <a:buNone/>
            </a:pPr>
            <a:r>
              <a:rPr lang="en-US" altLang="zh-CN" sz="2000" dirty="0">
                <a:ea typeface="宋体" panose="02010600030101010101" pitchFamily="2" charset="-122"/>
              </a:rPr>
              <a:t>Two constraints(for </a:t>
            </a:r>
            <a:r>
              <a:rPr lang="en-US" altLang="zh-CN" sz="2000" i="1" dirty="0">
                <a:ea typeface="宋体" panose="02010600030101010101" pitchFamily="2" charset="-122"/>
              </a:rPr>
              <a:t>N</a:t>
            </a:r>
            <a:r>
              <a:rPr lang="en-US" altLang="zh-CN" sz="2000" dirty="0">
                <a:ea typeface="宋体" panose="02010600030101010101" pitchFamily="2" charset="-122"/>
              </a:rPr>
              <a:t> replicas):     1.</a:t>
            </a:r>
            <a:r>
              <a:rPr lang="en-US" altLang="zh-CN" sz="2000" i="1" dirty="0">
                <a:ea typeface="宋体" panose="02010600030101010101" pitchFamily="2" charset="-122"/>
              </a:rPr>
              <a:t> N</a:t>
            </a:r>
            <a:r>
              <a:rPr lang="en-US" altLang="zh-CN" sz="2000" i="1" baseline="-25000" dirty="0">
                <a:ea typeface="宋体" panose="02010600030101010101" pitchFamily="2" charset="-122"/>
              </a:rPr>
              <a:t>R</a:t>
            </a:r>
            <a:r>
              <a:rPr lang="en-US" altLang="zh-CN" sz="2000" dirty="0">
                <a:ea typeface="宋体" panose="02010600030101010101" pitchFamily="2" charset="-122"/>
              </a:rPr>
              <a:t> + </a:t>
            </a:r>
            <a:r>
              <a:rPr lang="en-US" altLang="zh-CN" sz="2000" i="1" dirty="0">
                <a:ea typeface="宋体" panose="02010600030101010101" pitchFamily="2" charset="-122"/>
              </a:rPr>
              <a:t>N</a:t>
            </a:r>
            <a:r>
              <a:rPr lang="en-US" altLang="zh-CN" sz="2000" i="1" baseline="-25000" dirty="0">
                <a:ea typeface="宋体" panose="02010600030101010101" pitchFamily="2" charset="-122"/>
              </a:rPr>
              <a:t>W</a:t>
            </a:r>
            <a:r>
              <a:rPr lang="en-US" altLang="zh-CN" sz="2000" dirty="0">
                <a:ea typeface="宋体" panose="02010600030101010101" pitchFamily="2" charset="-122"/>
              </a:rPr>
              <a:t> &gt; </a:t>
            </a:r>
            <a:r>
              <a:rPr lang="en-US" altLang="zh-CN" sz="2000" i="1" dirty="0">
                <a:ea typeface="宋体" panose="02010600030101010101" pitchFamily="2" charset="-122"/>
              </a:rPr>
              <a:t>N</a:t>
            </a:r>
            <a:r>
              <a:rPr lang="en-US" altLang="zh-CN" sz="2000" dirty="0">
                <a:ea typeface="宋体" panose="02010600030101010101" pitchFamily="2" charset="-122"/>
              </a:rPr>
              <a:t>;         2. </a:t>
            </a:r>
            <a:r>
              <a:rPr lang="en-US" altLang="zh-CN" sz="2000" i="1" dirty="0">
                <a:ea typeface="宋体" panose="02010600030101010101" pitchFamily="2" charset="-122"/>
              </a:rPr>
              <a:t>N</a:t>
            </a:r>
            <a:r>
              <a:rPr lang="en-US" altLang="zh-CN" sz="2000" i="1" baseline="-25000" dirty="0">
                <a:ea typeface="宋体" panose="02010600030101010101" pitchFamily="2" charset="-122"/>
              </a:rPr>
              <a:t>W</a:t>
            </a:r>
            <a:r>
              <a:rPr lang="en-US" altLang="zh-CN" sz="2000" i="1" dirty="0">
                <a:ea typeface="宋体" panose="02010600030101010101" pitchFamily="2" charset="-122"/>
              </a:rPr>
              <a:t> </a:t>
            </a:r>
            <a:r>
              <a:rPr lang="en-US" altLang="zh-CN" sz="2000" dirty="0">
                <a:ea typeface="宋体" panose="02010600030101010101" pitchFamily="2" charset="-122"/>
              </a:rPr>
              <a:t>&gt; </a:t>
            </a:r>
            <a:r>
              <a:rPr lang="en-US" altLang="zh-CN" sz="2000" i="1" dirty="0">
                <a:ea typeface="宋体" panose="02010600030101010101" pitchFamily="2" charset="-122"/>
              </a:rPr>
              <a:t>N/2</a:t>
            </a:r>
            <a:endParaRPr lang="en-US" altLang="zh-CN" sz="2000" i="1" dirty="0">
              <a:ea typeface="宋体" panose="02010600030101010101" pitchFamily="2" charset="-122"/>
            </a:endParaRPr>
          </a:p>
          <a:p>
            <a:pPr marL="609600" indent="-609600" algn="l" eaLnBrk="1" hangingPunct="1">
              <a:buNone/>
            </a:pPr>
            <a:endParaRPr lang="en-US" altLang="zh-CN" sz="2000" dirty="0">
              <a:ea typeface="宋体" panose="02010600030101010101" pitchFamily="2" charset="-122"/>
            </a:endParaRPr>
          </a:p>
          <a:p>
            <a:pPr marL="609600" indent="-609600" algn="l" eaLnBrk="1" hangingPunct="1">
              <a:buNone/>
            </a:pPr>
            <a:r>
              <a:rPr lang="en-US" altLang="zh-CN" sz="2000" dirty="0">
                <a:ea typeface="宋体" panose="02010600030101010101" pitchFamily="2" charset="-122"/>
              </a:rPr>
              <a:t>Three examples of the voting algorithm:</a:t>
            </a:r>
            <a:endParaRPr lang="en-US" altLang="zh-CN" sz="2000" dirty="0">
              <a:ea typeface="宋体" panose="02010600030101010101" pitchFamily="2" charset="-122"/>
            </a:endParaRPr>
          </a:p>
          <a:p>
            <a:pPr marL="609600" indent="-609600" algn="l" eaLnBrk="1" hangingPunct="1">
              <a:buNone/>
            </a:pPr>
            <a:r>
              <a:rPr lang="en-US" altLang="zh-CN" sz="2000" dirty="0">
                <a:ea typeface="宋体" panose="02010600030101010101" pitchFamily="2" charset="-122"/>
              </a:rPr>
              <a:t>        (a) A correct choice of read and write set;</a:t>
            </a:r>
            <a:endParaRPr lang="en-US" altLang="zh-CN" sz="2000" dirty="0">
              <a:ea typeface="宋体" panose="02010600030101010101" pitchFamily="2" charset="-122"/>
            </a:endParaRPr>
          </a:p>
          <a:p>
            <a:pPr marL="609600" indent="-609600" algn="l" eaLnBrk="1" hangingPunct="1">
              <a:buNone/>
            </a:pPr>
            <a:r>
              <a:rPr lang="en-US" altLang="zh-CN" sz="2000" dirty="0">
                <a:ea typeface="宋体" panose="02010600030101010101" pitchFamily="2" charset="-122"/>
              </a:rPr>
              <a:t>        (b) A choice that may lead to write-write conflicts;</a:t>
            </a:r>
            <a:endParaRPr lang="en-US" altLang="zh-CN" sz="2000" dirty="0">
              <a:ea typeface="宋体" panose="02010600030101010101" pitchFamily="2" charset="-122"/>
            </a:endParaRPr>
          </a:p>
          <a:p>
            <a:pPr marL="609600" indent="-609600" algn="l" eaLnBrk="1" hangingPunct="1">
              <a:buNone/>
            </a:pPr>
            <a:r>
              <a:rPr lang="en-US" altLang="zh-CN" sz="2000" dirty="0">
                <a:ea typeface="宋体" panose="02010600030101010101" pitchFamily="2" charset="-122"/>
              </a:rPr>
              <a:t>        (c) A correct choice, known as ROWA (read one, write all);</a:t>
            </a:r>
            <a:endParaRPr lang="en-US" altLang="zh-CN" sz="2000" dirty="0">
              <a:ea typeface="宋体" panose="02010600030101010101" pitchFamily="2" charset="-122"/>
            </a:endParaRPr>
          </a:p>
        </p:txBody>
      </p:sp>
      <p:pic>
        <p:nvPicPr>
          <p:cNvPr id="67588" name="Picture 5"/>
          <p:cNvPicPr>
            <a:picLocks noChangeAspect="1"/>
          </p:cNvPicPr>
          <p:nvPr/>
        </p:nvPicPr>
        <p:blipFill>
          <a:blip r:embed="rId1"/>
          <a:srcRect l="20523" t="44864" r="18814" b="39577"/>
          <a:stretch>
            <a:fillRect/>
          </a:stretch>
        </p:blipFill>
        <p:spPr>
          <a:xfrm>
            <a:off x="285750" y="1044575"/>
            <a:ext cx="8650288" cy="3140075"/>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Grp="1"/>
          </p:cNvSpPr>
          <p:nvPr>
            <p:ph type="ctrTitle"/>
          </p:nvPr>
        </p:nvSpPr>
        <p:spPr>
          <a:xfrm>
            <a:off x="250825" y="827088"/>
            <a:ext cx="8642350" cy="1603375"/>
          </a:xfrm>
        </p:spPr>
        <p:txBody>
          <a:bodyPr vert="horz" wrap="square" lIns="91440" tIns="45720" rIns="91440" bIns="45720" anchor="ctr" anchorCtr="0"/>
          <a:lstStyle/>
          <a:p>
            <a:pPr algn="l">
              <a:lnSpc>
                <a:spcPct val="150000"/>
              </a:lnSpc>
              <a:buClrTx/>
              <a:buSzTx/>
              <a:buFontTx/>
            </a:pPr>
            <a:r>
              <a:rPr lang="zh-CN" altLang="en-US" sz="2000" b="1" dirty="0">
                <a:solidFill>
                  <a:schemeClr val="tx1"/>
                </a:solidFill>
                <a:latin typeface="宋体" panose="02010600030101010101" pitchFamily="2" charset="-122"/>
                <a:ea typeface="宋体" panose="02010600030101010101" pitchFamily="2" charset="-122"/>
              </a:rPr>
              <a:t>背景</a:t>
            </a:r>
            <a:r>
              <a:rPr lang="en-US" altLang="zh-CN" sz="2000" b="1" dirty="0">
                <a:solidFill>
                  <a:schemeClr val="tx1"/>
                </a:solidFill>
                <a:latin typeface="宋体" panose="02010600030101010101" pitchFamily="2" charset="-122"/>
                <a:ea typeface="宋体" panose="02010600030101010101" pitchFamily="2" charset="-122"/>
              </a:rPr>
              <a:t>: Paxos</a:t>
            </a:r>
            <a:r>
              <a:rPr lang="zh-CN" altLang="en-US" sz="2000" b="1" dirty="0">
                <a:solidFill>
                  <a:schemeClr val="tx1"/>
                </a:solidFill>
                <a:latin typeface="宋体" panose="02010600030101010101" pitchFamily="2" charset="-122"/>
                <a:ea typeface="宋体" panose="02010600030101010101" pitchFamily="2" charset="-122"/>
              </a:rPr>
              <a:t>是古希腊一个小岛</a:t>
            </a:r>
            <a:r>
              <a:rPr lang="en-US" altLang="zh-CN" sz="2000" b="1" dirty="0">
                <a:solidFill>
                  <a:schemeClr val="tx1"/>
                </a:solidFill>
                <a:latin typeface="宋体" panose="02010600030101010101" pitchFamily="2" charset="-122"/>
                <a:ea typeface="宋体" panose="02010600030101010101" pitchFamily="2" charset="-122"/>
              </a:rPr>
              <a:t>,</a:t>
            </a:r>
            <a:r>
              <a:rPr lang="zh-CN" altLang="en-US" sz="2000" b="1" dirty="0">
                <a:solidFill>
                  <a:schemeClr val="tx1"/>
                </a:solidFill>
                <a:latin typeface="宋体" panose="02010600030101010101" pitchFamily="2" charset="-122"/>
                <a:ea typeface="宋体" panose="02010600030101010101" pitchFamily="2" charset="-122"/>
              </a:rPr>
              <a:t>其法令通过议会表决形成，议员和信使都是兼职且不一定在会议厅，议员通过信使传递消息</a:t>
            </a:r>
            <a:r>
              <a:rPr lang="en-US" altLang="zh-CN" sz="2000" b="1" dirty="0">
                <a:solidFill>
                  <a:schemeClr val="tx1"/>
                </a:solidFill>
                <a:latin typeface="宋体" panose="02010600030101010101" pitchFamily="2" charset="-122"/>
                <a:ea typeface="宋体" panose="02010600030101010101" pitchFamily="2" charset="-122"/>
              </a:rPr>
              <a:t>,</a:t>
            </a:r>
            <a:r>
              <a:rPr lang="zh-CN" altLang="en-US" sz="2000" b="1" dirty="0">
                <a:solidFill>
                  <a:schemeClr val="tx1"/>
                </a:solidFill>
                <a:latin typeface="宋体" panose="02010600030101010101" pitchFamily="2" charset="-122"/>
                <a:ea typeface="宋体" panose="02010600030101010101" pitchFamily="2" charset="-122"/>
              </a:rPr>
              <a:t>并且信使可能重复投递消息</a:t>
            </a:r>
            <a:r>
              <a:rPr lang="en-US" altLang="zh-CN" sz="2000" b="1" dirty="0">
                <a:solidFill>
                  <a:schemeClr val="tx1"/>
                </a:solidFill>
                <a:latin typeface="宋体" panose="02010600030101010101" pitchFamily="2" charset="-122"/>
                <a:ea typeface="宋体" panose="02010600030101010101" pitchFamily="2" charset="-122"/>
              </a:rPr>
              <a:t>,</a:t>
            </a:r>
            <a:r>
              <a:rPr lang="zh-CN" altLang="en-US" sz="2000" b="1" dirty="0">
                <a:solidFill>
                  <a:schemeClr val="tx1"/>
                </a:solidFill>
                <a:latin typeface="宋体" panose="02010600030101010101" pitchFamily="2" charset="-122"/>
                <a:ea typeface="宋体" panose="02010600030101010101" pitchFamily="2" charset="-122"/>
              </a:rPr>
              <a:t>也可能一去不复返。协议</a:t>
            </a:r>
            <a:r>
              <a:rPr lang="en-US" altLang="zh-CN" sz="2000" b="1" dirty="0">
                <a:solidFill>
                  <a:schemeClr val="tx1"/>
                </a:solidFill>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保证法令能够正确产生且不会出现冲突！</a:t>
            </a:r>
            <a:endParaRPr lang="en-US" altLang="zh-CN" sz="2000" b="1" dirty="0">
              <a:latin typeface="宋体" panose="02010600030101010101" pitchFamily="2" charset="-122"/>
              <a:ea typeface="宋体" panose="02010600030101010101" pitchFamily="2" charset="-122"/>
            </a:endParaRPr>
          </a:p>
        </p:txBody>
      </p:sp>
      <p:sp>
        <p:nvSpPr>
          <p:cNvPr id="68611" name="矩形 3"/>
          <p:cNvSpPr/>
          <p:nvPr/>
        </p:nvSpPr>
        <p:spPr>
          <a:xfrm>
            <a:off x="2865438" y="66675"/>
            <a:ext cx="2955925" cy="7080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4000" b="1" dirty="0">
                <a:solidFill>
                  <a:srgbClr val="FF0000"/>
                </a:solidFill>
                <a:ea typeface="宋体" panose="02010600030101010101" pitchFamily="2" charset="-122"/>
              </a:rPr>
              <a:t>Paxos</a:t>
            </a:r>
            <a:r>
              <a:rPr lang="zh-CN" altLang="en-US" sz="4000" b="1" dirty="0">
                <a:solidFill>
                  <a:srgbClr val="FF0000"/>
                </a:solidFill>
                <a:ea typeface="宋体" panose="02010600030101010101" pitchFamily="2" charset="-122"/>
              </a:rPr>
              <a:t>算法</a:t>
            </a:r>
            <a:endParaRPr lang="zh-CN" altLang="en-US" sz="4000" b="1" dirty="0">
              <a:solidFill>
                <a:srgbClr val="FF0000"/>
              </a:solidFill>
              <a:ea typeface="宋体" panose="02010600030101010101" pitchFamily="2" charset="-122"/>
            </a:endParaRPr>
          </a:p>
        </p:txBody>
      </p:sp>
      <p:sp>
        <p:nvSpPr>
          <p:cNvPr id="4" name="Rectangle 4"/>
          <p:cNvSpPr txBox="1">
            <a:spLocks noChangeArrowheads="1"/>
          </p:cNvSpPr>
          <p:nvPr/>
        </p:nvSpPr>
        <p:spPr bwMode="auto">
          <a:xfrm>
            <a:off x="0" y="2578100"/>
            <a:ext cx="8455025" cy="942975"/>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Leslie Lamport1998</a:t>
            </a:r>
            <a:r>
              <a:rPr kumimoji="0" lang="zh-CN" altLang="en-US"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在</a:t>
            </a:r>
            <a:r>
              <a:rPr kumimoji="0" lang="en-US" altLang="zh-CN"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ACM TCS</a:t>
            </a:r>
            <a:r>
              <a:rPr kumimoji="0" lang="zh-CN" altLang="en-US"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上发表了</a:t>
            </a:r>
            <a:r>
              <a:rPr kumimoji="0" lang="en-US" altLang="zh-CN" sz="2000" b="0" i="0" u="none" strike="noStrike" kern="0" cap="none" spc="0" normalizeH="0" baseline="0" noProof="0" dirty="0" err="1">
                <a:ln>
                  <a:noFill/>
                </a:ln>
                <a:solidFill>
                  <a:schemeClr val="tx1"/>
                </a:solidFill>
                <a:effectLst/>
                <a:uLnTx/>
                <a:uFillTx/>
                <a:latin typeface="+mj-lt"/>
                <a:ea typeface="宋体" panose="02010600030101010101" pitchFamily="2" charset="-122"/>
                <a:cs typeface="+mj-cs"/>
              </a:rPr>
              <a:t>paxos</a:t>
            </a:r>
            <a:r>
              <a:rPr kumimoji="0" lang="zh-CN" altLang="en-US"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的论文“</a:t>
            </a:r>
            <a:r>
              <a:rPr kumimoji="0" lang="en-US" altLang="zh-CN"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The Part-Time Parliament”</a:t>
            </a:r>
            <a:r>
              <a:rPr kumimoji="0" lang="zh-CN" altLang="en-US"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，由于晦涩难懂，</a:t>
            </a:r>
            <a:r>
              <a:rPr kumimoji="0" lang="en-US" altLang="zh-CN"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2001</a:t>
            </a:r>
            <a:r>
              <a:rPr kumimoji="0" lang="zh-CN" altLang="en-US"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年又发表了“</a:t>
            </a:r>
            <a:r>
              <a:rPr kumimoji="0" lang="en-US" altLang="zh-CN" sz="2000" b="0" i="0" u="none" strike="noStrike" kern="0" cap="none" spc="0" normalizeH="0" baseline="0" noProof="0" dirty="0" err="1">
                <a:ln>
                  <a:noFill/>
                </a:ln>
                <a:solidFill>
                  <a:schemeClr val="tx1"/>
                </a:solidFill>
                <a:effectLst/>
                <a:uLnTx/>
                <a:uFillTx/>
                <a:latin typeface="+mj-lt"/>
                <a:ea typeface="宋体" panose="02010600030101010101" pitchFamily="2" charset="-122"/>
                <a:cs typeface="+mj-cs"/>
              </a:rPr>
              <a:t>Paxos</a:t>
            </a:r>
            <a:r>
              <a:rPr kumimoji="0" lang="en-US" altLang="zh-CN"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 Made Simple”</a:t>
            </a:r>
            <a:r>
              <a:rPr kumimoji="0" lang="zh-CN" altLang="en-US"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rPr>
              <a:t>；</a:t>
            </a:r>
            <a:endParaRPr kumimoji="0" lang="en-US" altLang="zh-CN" sz="2000" b="0" i="0" u="none" strike="noStrike" kern="0" cap="none" spc="0" normalizeH="0" baseline="0" noProof="0" dirty="0">
              <a:ln>
                <a:noFill/>
              </a:ln>
              <a:solidFill>
                <a:schemeClr val="tx1"/>
              </a:solidFill>
              <a:effectLst/>
              <a:uLnTx/>
              <a:uFillTx/>
              <a:latin typeface="+mj-lt"/>
              <a:ea typeface="宋体" panose="02010600030101010101" pitchFamily="2" charset="-122"/>
              <a:cs typeface="Times New Roman" panose="02020603050405020304" pitchFamily="18" charset="0"/>
            </a:endParaRPr>
          </a:p>
        </p:txBody>
      </p:sp>
      <p:sp>
        <p:nvSpPr>
          <p:cNvPr id="68613" name="矩形 1"/>
          <p:cNvSpPr/>
          <p:nvPr/>
        </p:nvSpPr>
        <p:spPr>
          <a:xfrm>
            <a:off x="0" y="3719513"/>
            <a:ext cx="8774113" cy="14192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a:lnSpc>
                <a:spcPct val="150000"/>
              </a:lnSpc>
              <a:spcBef>
                <a:spcPct val="0"/>
              </a:spcBef>
              <a:buClrTx/>
              <a:buFont typeface="Wingdings" panose="05000000000000000000" pitchFamily="2" charset="2"/>
              <a:buChar char="u"/>
            </a:pPr>
            <a:r>
              <a:rPr lang="en-US" altLang="zh-CN" sz="2000" dirty="0">
                <a:ea typeface="宋体" panose="02010600030101010101" pitchFamily="2" charset="-122"/>
              </a:rPr>
              <a:t>Google</a:t>
            </a:r>
            <a:r>
              <a:rPr lang="zh-CN" altLang="en-US" sz="2000" dirty="0">
                <a:ea typeface="宋体" panose="02010600030101010101" pitchFamily="2" charset="-122"/>
              </a:rPr>
              <a:t>使用算法后其声名大噪，</a:t>
            </a:r>
            <a:r>
              <a:rPr lang="en-US" altLang="zh-CN" sz="2000" dirty="0">
                <a:ea typeface="宋体" panose="02010600030101010101" pitchFamily="2" charset="-122"/>
              </a:rPr>
              <a:t>Google Chubby </a:t>
            </a:r>
            <a:r>
              <a:rPr lang="zh-CN" altLang="en-US" sz="2000" dirty="0">
                <a:ea typeface="宋体" panose="02010600030101010101" pitchFamily="2" charset="-122"/>
              </a:rPr>
              <a:t>的作者</a:t>
            </a:r>
            <a:r>
              <a:rPr lang="en-US" altLang="zh-CN" sz="2000" dirty="0">
                <a:ea typeface="宋体" panose="02010600030101010101" pitchFamily="2" charset="-122"/>
              </a:rPr>
              <a:t>Mike Burrows</a:t>
            </a:r>
            <a:r>
              <a:rPr lang="zh-CN" altLang="en-US" sz="2000" dirty="0">
                <a:ea typeface="宋体" panose="02010600030101010101" pitchFamily="2" charset="-122"/>
              </a:rPr>
              <a:t>：</a:t>
            </a:r>
            <a:r>
              <a:rPr lang="en-US" altLang="zh-CN" sz="2000" dirty="0">
                <a:ea typeface="宋体" panose="02010600030101010101" pitchFamily="2" charset="-122"/>
              </a:rPr>
              <a:t>There is only one consensus protocol, and that‘s Paxos”-all other approaches are just broken versions of Paxos.</a:t>
            </a:r>
            <a:r>
              <a:rPr lang="zh-CN" altLang="en-US" sz="2000" dirty="0">
                <a:ea typeface="宋体" panose="02010600030101010101" pitchFamily="2" charset="-122"/>
              </a:rPr>
              <a:t> （</a:t>
            </a:r>
            <a:r>
              <a:rPr lang="en-US" altLang="zh-CN" sz="2000" dirty="0">
                <a:ea typeface="宋体" panose="02010600030101010101" pitchFamily="2" charset="-122"/>
              </a:rPr>
              <a:t>OSDI 2006</a:t>
            </a:r>
            <a:r>
              <a:rPr lang="zh-CN" altLang="en-US" sz="2000" dirty="0">
                <a:ea typeface="宋体" panose="02010600030101010101" pitchFamily="2" charset="-122"/>
              </a:rPr>
              <a:t>）</a:t>
            </a:r>
            <a:endParaRPr lang="zh-CN" altLang="en-US" sz="2000" dirty="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p:cNvSpPr>
          <p:nvPr>
            <p:ph type="title"/>
          </p:nvPr>
        </p:nvSpPr>
        <p:spPr/>
        <p:txBody>
          <a:bodyPr vert="horz" wrap="square" lIns="91440" tIns="45720" rIns="91440" bIns="45720" anchor="ctr" anchorCtr="0"/>
          <a:lstStyle/>
          <a:p>
            <a:pPr algn="l"/>
            <a:r>
              <a:rPr lang="en-US" altLang="zh-CN" dirty="0">
                <a:ea typeface="宋体" panose="02010600030101010101" pitchFamily="2" charset="-122"/>
              </a:rPr>
              <a:t>Introduction</a:t>
            </a:r>
            <a:endParaRPr lang="en-US" altLang="zh-CN" dirty="0">
              <a:ea typeface="宋体" panose="02010600030101010101" pitchFamily="2" charset="-122"/>
            </a:endParaRPr>
          </a:p>
        </p:txBody>
      </p:sp>
      <p:sp>
        <p:nvSpPr>
          <p:cNvPr id="69635" name="Rectangle 3"/>
          <p:cNvSpPr>
            <a:spLocks noGrp="1" noRot="1"/>
          </p:cNvSpPr>
          <p:nvPr>
            <p:ph idx="1"/>
          </p:nvPr>
        </p:nvSpPr>
        <p:spPr>
          <a:xfrm>
            <a:off x="276225" y="1008063"/>
            <a:ext cx="8693150" cy="3546475"/>
          </a:xfrm>
        </p:spPr>
        <p:txBody>
          <a:bodyPr vert="horz" wrap="square" lIns="91440" tIns="45720" rIns="91440" bIns="45720" anchor="t" anchorCtr="0"/>
          <a:lstStyle/>
          <a:p>
            <a:pPr algn="l"/>
            <a:r>
              <a:rPr lang="en-US" altLang="zh-CN" sz="2400" dirty="0">
                <a:ea typeface="宋体" panose="02010600030101010101" pitchFamily="2" charset="-122"/>
              </a:rPr>
              <a:t>Lock is the easiest way to manage concurrency</a:t>
            </a:r>
            <a:endParaRPr lang="en-US" altLang="zh-CN" sz="2400" dirty="0">
              <a:ea typeface="宋体" panose="02010600030101010101" pitchFamily="2" charset="-122"/>
            </a:endParaRPr>
          </a:p>
          <a:p>
            <a:pPr lvl="1"/>
            <a:r>
              <a:rPr lang="en-US" altLang="zh-CN" sz="2400" dirty="0">
                <a:ea typeface="宋体" panose="02010600030101010101" pitchFamily="2" charset="-122"/>
              </a:rPr>
              <a:t>Mutex and semaphore.</a:t>
            </a:r>
            <a:endParaRPr lang="en-US" altLang="zh-CN" sz="2400" dirty="0">
              <a:ea typeface="宋体" panose="02010600030101010101" pitchFamily="2" charset="-122"/>
            </a:endParaRPr>
          </a:p>
          <a:p>
            <a:pPr lvl="1"/>
            <a:r>
              <a:rPr lang="en-US" altLang="zh-CN" sz="2400" dirty="0">
                <a:ea typeface="宋体" panose="02010600030101010101" pitchFamily="2" charset="-122"/>
              </a:rPr>
              <a:t>Read and write locks in 2PL for transaction.</a:t>
            </a:r>
            <a:endParaRPr lang="en-US" altLang="zh-CN" sz="2400" dirty="0">
              <a:ea typeface="宋体" panose="02010600030101010101" pitchFamily="2" charset="-122"/>
            </a:endParaRPr>
          </a:p>
          <a:p>
            <a:pPr algn="l"/>
            <a:r>
              <a:rPr lang="en-US" altLang="zh-CN" sz="2400" dirty="0">
                <a:solidFill>
                  <a:srgbClr val="FF0000"/>
                </a:solidFill>
                <a:ea typeface="宋体" panose="02010600030101010101" pitchFamily="2" charset="-122"/>
              </a:rPr>
              <a:t>In distributed system:</a:t>
            </a:r>
            <a:endParaRPr lang="en-US" altLang="zh-CN" sz="2400" dirty="0">
              <a:solidFill>
                <a:srgbClr val="FF0000"/>
              </a:solidFill>
              <a:ea typeface="宋体" panose="02010600030101010101" pitchFamily="2" charset="-122"/>
            </a:endParaRPr>
          </a:p>
          <a:p>
            <a:pPr lvl="1"/>
            <a:r>
              <a:rPr lang="en-US" altLang="zh-CN" sz="2400" dirty="0">
                <a:ea typeface="宋体" panose="02010600030101010101" pitchFamily="2" charset="-122"/>
              </a:rPr>
              <a:t>No master for issuing locks.</a:t>
            </a:r>
            <a:endParaRPr lang="en-US" altLang="zh-CN" sz="2400" dirty="0">
              <a:ea typeface="宋体" panose="02010600030101010101" pitchFamily="2" charset="-122"/>
            </a:endParaRPr>
          </a:p>
          <a:p>
            <a:pPr lvl="1"/>
            <a:r>
              <a:rPr lang="en-US" altLang="zh-CN" sz="2400" dirty="0">
                <a:ea typeface="宋体" panose="02010600030101010101" pitchFamily="2" charset="-122"/>
              </a:rPr>
              <a:t>Failures.</a:t>
            </a:r>
            <a:endParaRPr lang="en-US" altLang="zh-CN" sz="2400" dirty="0">
              <a:ea typeface="宋体" panose="02010600030101010101" pitchFamily="2" charset="-122"/>
            </a:endParaRPr>
          </a:p>
          <a:p>
            <a:pPr algn="l"/>
            <a:r>
              <a:rPr lang="en-US" altLang="zh-CN" sz="2400" dirty="0">
                <a:solidFill>
                  <a:srgbClr val="FF0000"/>
                </a:solidFill>
                <a:ea typeface="宋体" panose="02010600030101010101" pitchFamily="2" charset="-122"/>
              </a:rPr>
              <a:t>Problem:</a:t>
            </a:r>
            <a:r>
              <a:rPr lang="zh-CN" altLang="en-US" sz="2400" dirty="0">
                <a:solidFill>
                  <a:srgbClr val="FF0000"/>
                </a:solidFill>
                <a:ea typeface="宋体" panose="02010600030101010101" pitchFamily="2" charset="-122"/>
              </a:rPr>
              <a:t> </a:t>
            </a:r>
            <a:r>
              <a:rPr lang="en-US" altLang="zh-CN" sz="2400" dirty="0">
                <a:ea typeface="宋体" panose="02010600030101010101" pitchFamily="2" charset="-122"/>
              </a:rPr>
              <a:t>How to reach consensus/data consistency in distributed system that can tolerate non-malicious failures?</a:t>
            </a:r>
            <a:endParaRPr lang="en-US" altLang="zh-CN" sz="2400" dirty="0">
              <a:ea typeface="宋体" panose="02010600030101010101" pitchFamily="2" charset="-122"/>
            </a:endParaRPr>
          </a:p>
        </p:txBody>
      </p:sp>
      <p:sp>
        <p:nvSpPr>
          <p:cNvPr id="69636" name="文本框 4"/>
          <p:cNvSpPr txBox="1"/>
          <p:nvPr/>
        </p:nvSpPr>
        <p:spPr>
          <a:xfrm>
            <a:off x="377825" y="4854575"/>
            <a:ext cx="8591550" cy="14176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Font typeface="Wingdings" panose="05000000000000000000" pitchFamily="2" charset="2"/>
              <a:buChar char="u"/>
            </a:pPr>
            <a:r>
              <a:rPr lang="zh-CN" altLang="en-US" sz="2000" dirty="0">
                <a:ea typeface="宋体" panose="02010600030101010101" pitchFamily="2" charset="-122"/>
              </a:rPr>
              <a:t>在分布式系统中有一组</a:t>
            </a:r>
            <a:r>
              <a:rPr lang="en-US" altLang="zh-CN" sz="2000" dirty="0">
                <a:ea typeface="宋体" panose="02010600030101010101" pitchFamily="2" charset="-122"/>
              </a:rPr>
              <a:t>Process</a:t>
            </a:r>
            <a:r>
              <a:rPr lang="zh-CN" altLang="en-US" sz="2000" dirty="0">
                <a:ea typeface="宋体" panose="02010600030101010101" pitchFamily="2" charset="-122"/>
              </a:rPr>
              <a:t>，它们需要确定一个</a:t>
            </a:r>
            <a:r>
              <a:rPr lang="en-US" altLang="zh-CN" sz="2000" dirty="0">
                <a:ea typeface="宋体" panose="02010600030101010101" pitchFamily="2" charset="-122"/>
              </a:rPr>
              <a:t>Value</a:t>
            </a:r>
            <a:r>
              <a:rPr lang="zh-CN" altLang="en-US" sz="2000" dirty="0">
                <a:ea typeface="宋体" panose="02010600030101010101" pitchFamily="2" charset="-122"/>
              </a:rPr>
              <a:t>。每个</a:t>
            </a:r>
            <a:r>
              <a:rPr lang="en-US" altLang="zh-CN" sz="2000" dirty="0">
                <a:ea typeface="宋体" panose="02010600030101010101" pitchFamily="2" charset="-122"/>
              </a:rPr>
              <a:t>Process</a:t>
            </a:r>
            <a:r>
              <a:rPr lang="zh-CN" altLang="en-US" sz="2000" dirty="0">
                <a:ea typeface="宋体" panose="02010600030101010101" pitchFamily="2" charset="-122"/>
              </a:rPr>
              <a:t>都提出了一个</a:t>
            </a:r>
            <a:r>
              <a:rPr lang="en-US" altLang="zh-CN" sz="2000" dirty="0">
                <a:ea typeface="宋体" panose="02010600030101010101" pitchFamily="2" charset="-122"/>
              </a:rPr>
              <a:t>Value</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共识</a:t>
            </a:r>
            <a:r>
              <a:rPr lang="en-US" altLang="zh-CN" sz="2000" dirty="0">
                <a:solidFill>
                  <a:srgbClr val="FF0000"/>
                </a:solidFill>
                <a:ea typeface="宋体" panose="02010600030101010101" pitchFamily="2" charset="-122"/>
              </a:rPr>
              <a:t>(consensus)</a:t>
            </a:r>
            <a:r>
              <a:rPr lang="zh-CN" altLang="en-US" sz="2000" dirty="0">
                <a:solidFill>
                  <a:srgbClr val="FF0000"/>
                </a:solidFill>
                <a:ea typeface="宋体" panose="02010600030101010101" pitchFamily="2" charset="-122"/>
              </a:rPr>
              <a:t>是指只能有一个</a:t>
            </a:r>
            <a:r>
              <a:rPr lang="en-US" altLang="zh-CN" sz="2000" dirty="0">
                <a:solidFill>
                  <a:srgbClr val="FF0000"/>
                </a:solidFill>
                <a:ea typeface="宋体" panose="02010600030101010101" pitchFamily="2" charset="-122"/>
              </a:rPr>
              <a:t>Value</a:t>
            </a:r>
            <a:r>
              <a:rPr lang="zh-CN" altLang="en-US" sz="2000" dirty="0">
                <a:solidFill>
                  <a:srgbClr val="FF0000"/>
                </a:solidFill>
                <a:ea typeface="宋体" panose="02010600030101010101" pitchFamily="2" charset="-122"/>
              </a:rPr>
              <a:t>被选中且作为终的值，并且当这个值被确定后，所有</a:t>
            </a:r>
            <a:r>
              <a:rPr lang="en-US" altLang="zh-CN" sz="2000" dirty="0">
                <a:solidFill>
                  <a:srgbClr val="FF0000"/>
                </a:solidFill>
                <a:ea typeface="宋体" panose="02010600030101010101" pitchFamily="2" charset="-122"/>
              </a:rPr>
              <a:t>Processes</a:t>
            </a:r>
            <a:r>
              <a:rPr lang="zh-CN" altLang="en-US" sz="2000" dirty="0">
                <a:solidFill>
                  <a:srgbClr val="FF0000"/>
                </a:solidFill>
                <a:ea typeface="宋体" panose="02010600030101010101" pitchFamily="2" charset="-122"/>
              </a:rPr>
              <a:t>都要被通知到</a:t>
            </a:r>
            <a:r>
              <a:rPr lang="en-US" altLang="zh-CN" sz="2000" dirty="0">
                <a:solidFill>
                  <a:srgbClr val="FF0000"/>
                </a:solidFill>
                <a:latin typeface="宋体" panose="02010600030101010101" pitchFamily="2" charset="-122"/>
                <a:ea typeface="宋体" panose="02010600030101010101" pitchFamily="2" charset="-122"/>
              </a:rPr>
              <a:t>.</a:t>
            </a:r>
            <a:endParaRPr lang="zh-CN" altLang="en-US" sz="2000" dirty="0">
              <a:solidFill>
                <a:srgbClr val="FF0000"/>
              </a:solidFill>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p:cNvSpPr>
          <p:nvPr>
            <p:ph type="title"/>
          </p:nvPr>
        </p:nvSpPr>
        <p:spPr>
          <a:xfrm>
            <a:off x="304800" y="0"/>
            <a:ext cx="8540750" cy="762000"/>
          </a:xfrm>
        </p:spPr>
        <p:txBody>
          <a:bodyPr vert="horz" wrap="square" lIns="91440" tIns="45720" rIns="91440" bIns="45720" anchor="ctr" anchorCtr="0"/>
          <a:lstStyle/>
          <a:p>
            <a:pPr algn="l"/>
            <a:r>
              <a:rPr lang="en-US" altLang="zh-CN" dirty="0">
                <a:ea typeface="宋体" panose="02010600030101010101" pitchFamily="2" charset="-122"/>
              </a:rPr>
              <a:t>Requirements</a:t>
            </a:r>
            <a:endParaRPr lang="en-US" altLang="zh-CN" dirty="0">
              <a:ea typeface="宋体" panose="02010600030101010101" pitchFamily="2" charset="-122"/>
            </a:endParaRPr>
          </a:p>
        </p:txBody>
      </p:sp>
      <p:sp>
        <p:nvSpPr>
          <p:cNvPr id="70659" name="Rectangle 3"/>
          <p:cNvSpPr>
            <a:spLocks noGrp="1" noRot="1"/>
          </p:cNvSpPr>
          <p:nvPr>
            <p:ph idx="1"/>
          </p:nvPr>
        </p:nvSpPr>
        <p:spPr>
          <a:xfrm>
            <a:off x="77788" y="762000"/>
            <a:ext cx="8916987" cy="2687638"/>
          </a:xfrm>
        </p:spPr>
        <p:txBody>
          <a:bodyPr vert="horz" wrap="square" lIns="91440" tIns="45720" rIns="91440" bIns="45720" anchor="t" anchorCtr="0"/>
          <a:lstStyle/>
          <a:p>
            <a:pPr algn="l">
              <a:lnSpc>
                <a:spcPct val="150000"/>
              </a:lnSpc>
              <a:buFont typeface="Wingdings" panose="05000000000000000000" pitchFamily="2" charset="2"/>
              <a:buChar char="u"/>
            </a:pPr>
            <a:r>
              <a:rPr lang="en-US" altLang="zh-CN" sz="2400" dirty="0">
                <a:ea typeface="宋体" panose="02010600030101010101" pitchFamily="2" charset="-122"/>
              </a:rPr>
              <a:t>Safety</a:t>
            </a:r>
            <a:endParaRPr lang="en-US" altLang="zh-CN" sz="2400" dirty="0">
              <a:ea typeface="宋体" panose="02010600030101010101" pitchFamily="2" charset="-122"/>
            </a:endParaRPr>
          </a:p>
          <a:p>
            <a:pPr lvl="1">
              <a:lnSpc>
                <a:spcPct val="150000"/>
              </a:lnSpc>
            </a:pPr>
            <a:r>
              <a:rPr lang="en-US" altLang="zh-CN" sz="2000" dirty="0">
                <a:ea typeface="宋体" panose="02010600030101010101" pitchFamily="2" charset="-122"/>
              </a:rPr>
              <a:t>Only a value that has been proposed may be chosen.</a:t>
            </a:r>
            <a:r>
              <a:rPr lang="zh-CN" altLang="en-US" sz="2000" dirty="0">
                <a:ea typeface="宋体" panose="02010600030101010101" pitchFamily="2" charset="-122"/>
              </a:rPr>
              <a:t>只有提案才能被选定；</a:t>
            </a:r>
            <a:endParaRPr lang="en-US" altLang="zh-CN" sz="2000" dirty="0">
              <a:ea typeface="宋体" panose="02010600030101010101" pitchFamily="2" charset="-122"/>
            </a:endParaRPr>
          </a:p>
          <a:p>
            <a:pPr lvl="1">
              <a:lnSpc>
                <a:spcPct val="150000"/>
              </a:lnSpc>
            </a:pPr>
            <a:r>
              <a:rPr lang="en-US" altLang="zh-CN" sz="2000" dirty="0">
                <a:ea typeface="宋体" panose="02010600030101010101" pitchFamily="2" charset="-122"/>
              </a:rPr>
              <a:t>Only a single value is chosen.</a:t>
            </a:r>
            <a:r>
              <a:rPr lang="zh-CN" altLang="en-US" sz="2000" dirty="0">
                <a:ea typeface="宋体" panose="02010600030101010101" pitchFamily="2" charset="-122"/>
              </a:rPr>
              <a:t>只能有一个值被选定</a:t>
            </a:r>
            <a:r>
              <a:rPr lang="en-US" altLang="zh-CN" sz="2000" dirty="0">
                <a:ea typeface="宋体" panose="02010600030101010101" pitchFamily="2" charset="-122"/>
              </a:rPr>
              <a:t>;</a:t>
            </a:r>
            <a:endParaRPr lang="zh-CN" altLang="en-US" sz="2000" dirty="0">
              <a:ea typeface="宋体" panose="02010600030101010101" pitchFamily="2" charset="-122"/>
            </a:endParaRPr>
          </a:p>
          <a:p>
            <a:pPr lvl="1">
              <a:lnSpc>
                <a:spcPct val="150000"/>
              </a:lnSpc>
            </a:pPr>
            <a:r>
              <a:rPr lang="en-US" altLang="zh-CN" sz="2000" dirty="0">
                <a:ea typeface="宋体" panose="02010600030101010101" pitchFamily="2" charset="-122"/>
              </a:rPr>
              <a:t>A node never learns that a value has been chosen unless it actually has been.</a:t>
            </a:r>
            <a:r>
              <a:rPr lang="zh-CN" altLang="en-US" sz="2000" dirty="0">
                <a:ea typeface="宋体" panose="02010600030101010101" pitchFamily="2" charset="-122"/>
              </a:rPr>
              <a:t>除非那个提案被选中，否则，某个节点不会知道有提案被选中。</a:t>
            </a:r>
            <a:endParaRPr lang="zh-CN" altLang="en-US" sz="2000" dirty="0">
              <a:ea typeface="宋体" panose="02010600030101010101" pitchFamily="2" charset="-122"/>
            </a:endParaRPr>
          </a:p>
        </p:txBody>
      </p:sp>
      <p:sp>
        <p:nvSpPr>
          <p:cNvPr id="4" name="Rectangle 3"/>
          <p:cNvSpPr txBox="1">
            <a:spLocks noRot="1" noChangeArrowheads="1"/>
          </p:cNvSpPr>
          <p:nvPr/>
        </p:nvSpPr>
        <p:spPr bwMode="auto">
          <a:xfrm>
            <a:off x="150813" y="3541713"/>
            <a:ext cx="8770938" cy="23606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Liveness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50000"/>
              </a:lnSpc>
              <a:spcBef>
                <a:spcPct val="20000"/>
              </a:spcBef>
              <a:spcAft>
                <a:spcPct val="0"/>
              </a:spcAft>
              <a:buClr>
                <a:schemeClr val="accent2"/>
              </a:buClr>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Some proposed value is eventually chosen.</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保证最终有一个提案会被选定</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50000"/>
              </a:lnSpc>
              <a:spcBef>
                <a:spcPct val="20000"/>
              </a:spcBef>
              <a:spcAft>
                <a:spcPct val="0"/>
              </a:spcAft>
              <a:buClr>
                <a:schemeClr val="accent2"/>
              </a:buClr>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If a value has been chosen, a node can eventually learn the value.</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当提案被选定后，进程最终也能获取到被选定的提案。</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p:cNvSpPr>
          <p:nvPr>
            <p:ph type="title"/>
          </p:nvPr>
        </p:nvSpPr>
        <p:spPr>
          <a:xfrm>
            <a:off x="0" y="0"/>
            <a:ext cx="9144000" cy="665163"/>
          </a:xfrm>
        </p:spPr>
        <p:txBody>
          <a:bodyPr vert="horz" wrap="square" lIns="91440" tIns="45720" rIns="91440" bIns="45720" anchor="ctr" anchorCtr="0"/>
          <a:lstStyle/>
          <a:p>
            <a:pPr algn="l"/>
            <a:r>
              <a:rPr lang="en-US" altLang="zh-CN" dirty="0">
                <a:ea typeface="宋体" panose="02010600030101010101" pitchFamily="2" charset="-122"/>
              </a:rPr>
              <a:t>Paxos‘s notation and algorithm</a:t>
            </a:r>
            <a:endParaRPr lang="en-US" altLang="zh-CN" dirty="0">
              <a:ea typeface="宋体" panose="02010600030101010101" pitchFamily="2" charset="-122"/>
            </a:endParaRPr>
          </a:p>
        </p:txBody>
      </p:sp>
      <p:sp>
        <p:nvSpPr>
          <p:cNvPr id="71683" name="Rectangle 3"/>
          <p:cNvSpPr>
            <a:spLocks noGrp="1" noRot="1"/>
          </p:cNvSpPr>
          <p:nvPr>
            <p:ph idx="1"/>
          </p:nvPr>
        </p:nvSpPr>
        <p:spPr>
          <a:xfrm>
            <a:off x="0" y="665163"/>
            <a:ext cx="9144000" cy="2651125"/>
          </a:xfrm>
        </p:spPr>
        <p:txBody>
          <a:bodyPr vert="horz" wrap="square" lIns="91440" tIns="45720" rIns="91440" bIns="45720" anchor="t" anchorCtr="0"/>
          <a:lstStyle/>
          <a:p>
            <a:pPr algn="l">
              <a:lnSpc>
                <a:spcPct val="150000"/>
              </a:lnSpc>
            </a:pPr>
            <a:r>
              <a:rPr lang="en-US" altLang="zh-CN" sz="2400" dirty="0">
                <a:ea typeface="宋体" panose="02010600030101010101" pitchFamily="2" charset="-122"/>
              </a:rPr>
              <a:t>Classes of agents A node can act as more than one clients (usually 3):</a:t>
            </a:r>
            <a:endParaRPr lang="en-US" altLang="zh-CN" sz="2400" dirty="0">
              <a:ea typeface="宋体" panose="02010600030101010101" pitchFamily="2" charset="-122"/>
            </a:endParaRPr>
          </a:p>
          <a:p>
            <a:pPr lvl="1">
              <a:lnSpc>
                <a:spcPct val="150000"/>
              </a:lnSpc>
            </a:pPr>
            <a:r>
              <a:rPr lang="en-US" altLang="zh-CN" sz="2400" dirty="0">
                <a:ea typeface="宋体" panose="02010600030101010101" pitchFamily="2" charset="-122"/>
              </a:rPr>
              <a:t>Proposers</a:t>
            </a:r>
            <a:r>
              <a:rPr lang="zh-CN" altLang="en-US" sz="2400" dirty="0">
                <a:ea typeface="宋体" panose="02010600030101010101" pitchFamily="2" charset="-122"/>
              </a:rPr>
              <a:t>；</a:t>
            </a:r>
            <a:endParaRPr lang="en-US" altLang="zh-CN" sz="2400" dirty="0">
              <a:ea typeface="宋体" panose="02010600030101010101" pitchFamily="2" charset="-122"/>
            </a:endParaRPr>
          </a:p>
          <a:p>
            <a:pPr lvl="1">
              <a:lnSpc>
                <a:spcPct val="150000"/>
              </a:lnSpc>
            </a:pPr>
            <a:r>
              <a:rPr lang="en-US" altLang="zh-CN" sz="2400" dirty="0">
                <a:ea typeface="宋体" panose="02010600030101010101" pitchFamily="2" charset="-122"/>
              </a:rPr>
              <a:t>Acceptors</a:t>
            </a:r>
            <a:r>
              <a:rPr lang="zh-CN" altLang="en-US" sz="2400" dirty="0">
                <a:ea typeface="宋体" panose="02010600030101010101" pitchFamily="2" charset="-122"/>
              </a:rPr>
              <a:t>；</a:t>
            </a:r>
            <a:endParaRPr lang="en-US" altLang="zh-CN" sz="2400" dirty="0">
              <a:ea typeface="宋体" panose="02010600030101010101" pitchFamily="2" charset="-122"/>
            </a:endParaRPr>
          </a:p>
          <a:p>
            <a:pPr lvl="1">
              <a:lnSpc>
                <a:spcPct val="150000"/>
              </a:lnSpc>
            </a:pPr>
            <a:r>
              <a:rPr lang="en-US" altLang="zh-CN" sz="2400" dirty="0">
                <a:ea typeface="宋体" panose="02010600030101010101" pitchFamily="2" charset="-122"/>
              </a:rPr>
              <a:t>Learners</a:t>
            </a:r>
            <a:r>
              <a:rPr lang="zh-CN" altLang="en-US" sz="2400" dirty="0">
                <a:ea typeface="宋体" panose="02010600030101010101" pitchFamily="2" charset="-122"/>
              </a:rPr>
              <a:t>；</a:t>
            </a:r>
            <a:endParaRPr lang="en-US" altLang="zh-CN" sz="2400" dirty="0">
              <a:ea typeface="宋体" panose="02010600030101010101" pitchFamily="2" charset="-122"/>
            </a:endParaRPr>
          </a:p>
        </p:txBody>
      </p:sp>
      <p:pic>
        <p:nvPicPr>
          <p:cNvPr id="71684" name="图片 1"/>
          <p:cNvPicPr>
            <a:picLocks noChangeAspect="1"/>
          </p:cNvPicPr>
          <p:nvPr/>
        </p:nvPicPr>
        <p:blipFill>
          <a:blip r:embed="rId1"/>
          <a:stretch>
            <a:fillRect/>
          </a:stretch>
        </p:blipFill>
        <p:spPr>
          <a:xfrm>
            <a:off x="2192338" y="1497013"/>
            <a:ext cx="6684962" cy="4530725"/>
          </a:xfrm>
          <a:prstGeom prst="rect">
            <a:avLst/>
          </a:prstGeom>
          <a:noFill/>
          <a:ln w="9525">
            <a:noFill/>
          </a:ln>
        </p:spPr>
      </p:pic>
      <p:sp>
        <p:nvSpPr>
          <p:cNvPr id="71685" name="矩形 2"/>
          <p:cNvSpPr/>
          <p:nvPr/>
        </p:nvSpPr>
        <p:spPr>
          <a:xfrm>
            <a:off x="457200" y="3198813"/>
            <a:ext cx="1722438" cy="460375"/>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zh-CN" altLang="en-US" sz="2400" b="1" dirty="0">
                <a:solidFill>
                  <a:srgbClr val="0070C0"/>
                </a:solidFill>
                <a:ea typeface="宋体" panose="02010600030101010101" pitchFamily="2" charset="-122"/>
              </a:rPr>
              <a:t>算法思想：</a:t>
            </a:r>
            <a:endParaRPr lang="zh-CN" altLang="en-US" sz="2400" b="1" dirty="0">
              <a:solidFill>
                <a:srgbClr val="0070C0"/>
              </a:solidFill>
              <a:ea typeface="宋体" panose="02010600030101010101" pitchFamily="2" charset="-122"/>
            </a:endParaRPr>
          </a:p>
        </p:txBody>
      </p:sp>
      <p:sp>
        <p:nvSpPr>
          <p:cNvPr id="7" name="文本框 6"/>
          <p:cNvSpPr txBox="1"/>
          <p:nvPr/>
        </p:nvSpPr>
        <p:spPr>
          <a:xfrm>
            <a:off x="5067300" y="1881188"/>
            <a:ext cx="2249488" cy="523875"/>
          </a:xfrm>
          <a:prstGeom prst="rect">
            <a:avLst/>
          </a:prstGeom>
          <a:noFill/>
        </p:spPr>
        <p:txBody>
          <a:bodyPr>
            <a:spAutoFit/>
          </a:bodyPr>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0" lang="zh-CN" altLang="en-US" sz="1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收到大多数的</a:t>
            </a:r>
            <a:r>
              <a:rPr kumimoji="0" lang="en-US" altLang="zh-CN" sz="1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y</a:t>
            </a:r>
            <a:r>
              <a:rPr kumimoji="0" lang="zh-CN" altLang="en-US" sz="1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回答，发送编号</a:t>
            </a:r>
            <a:r>
              <a:rPr kumimoji="0" lang="en-US" altLang="zh-CN" sz="1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0" lang="zh-CN" altLang="en-US" sz="1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的值</a:t>
            </a:r>
            <a:r>
              <a:rPr kumimoji="0" lang="en-US" altLang="zh-CN" sz="1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v</a:t>
            </a:r>
            <a:endParaRPr kumimoji="0" lang="en-US" altLang="zh-CN" sz="1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687" name="文本框 8"/>
          <p:cNvSpPr txBox="1"/>
          <p:nvPr/>
        </p:nvSpPr>
        <p:spPr>
          <a:xfrm>
            <a:off x="3825875" y="2527300"/>
            <a:ext cx="1641475" cy="5238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en-US" altLang="zh-CN" sz="1400" dirty="0">
                <a:ea typeface="宋体" panose="02010600030101010101" pitchFamily="2" charset="-122"/>
              </a:rPr>
              <a:t>1.</a:t>
            </a:r>
            <a:r>
              <a:rPr lang="zh-CN" altLang="en-US" sz="1400" dirty="0">
                <a:ea typeface="宋体" panose="02010600030101010101" pitchFamily="2" charset="-122"/>
              </a:rPr>
              <a:t>向多数接收者发送编号为</a:t>
            </a:r>
            <a:r>
              <a:rPr lang="en-US" altLang="zh-CN" sz="1400" dirty="0">
                <a:ea typeface="宋体" panose="02010600030101010101" pitchFamily="2" charset="-122"/>
              </a:rPr>
              <a:t>n</a:t>
            </a:r>
            <a:r>
              <a:rPr lang="zh-CN" altLang="en-US" sz="1400" dirty="0">
                <a:ea typeface="宋体" panose="02010600030101010101" pitchFamily="2" charset="-122"/>
              </a:rPr>
              <a:t>预请求</a:t>
            </a:r>
            <a:endParaRPr lang="zh-CN" altLang="en-US" sz="1400" dirty="0">
              <a:ea typeface="宋体" panose="02010600030101010101" pitchFamily="2" charset="-122"/>
            </a:endParaRPr>
          </a:p>
        </p:txBody>
      </p:sp>
      <p:sp>
        <p:nvSpPr>
          <p:cNvPr id="71688" name="文本框 10"/>
          <p:cNvSpPr txBox="1"/>
          <p:nvPr/>
        </p:nvSpPr>
        <p:spPr>
          <a:xfrm>
            <a:off x="3271838" y="4408488"/>
            <a:ext cx="1627187" cy="73818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en-US" altLang="zh-CN" sz="1400" dirty="0">
                <a:ea typeface="宋体" panose="02010600030101010101" pitchFamily="2" charset="-122"/>
              </a:rPr>
              <a:t>2.</a:t>
            </a:r>
            <a:r>
              <a:rPr lang="zh-CN" altLang="en-US" sz="1400" dirty="0">
                <a:ea typeface="宋体" panose="02010600030101010101" pitchFamily="2" charset="-122"/>
              </a:rPr>
              <a:t>接受者只响应目前编号最大的提案请求者</a:t>
            </a:r>
            <a:r>
              <a:rPr lang="en-US" altLang="zh-CN" sz="1400" dirty="0">
                <a:ea typeface="宋体" panose="02010600030101010101" pitchFamily="2" charset="-122"/>
              </a:rPr>
              <a:t>.</a:t>
            </a:r>
            <a:endParaRPr lang="zh-CN" altLang="en-US" sz="1400" dirty="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p:cNvSpPr>
          <p:nvPr>
            <p:ph type="title"/>
          </p:nvPr>
        </p:nvSpPr>
        <p:spPr>
          <a:xfrm>
            <a:off x="228600" y="152400"/>
            <a:ext cx="8540750" cy="685800"/>
          </a:xfrm>
        </p:spPr>
        <p:txBody>
          <a:bodyPr vert="horz" wrap="square" lIns="91440" tIns="45720" rIns="91440" bIns="45720" anchor="ctr" anchorCtr="0"/>
          <a:lstStyle/>
          <a:p>
            <a:pPr algn="l"/>
            <a:r>
              <a:rPr lang="en-US" altLang="zh-CN" dirty="0">
                <a:ea typeface="宋体" panose="02010600030101010101" pitchFamily="2" charset="-122"/>
              </a:rPr>
              <a:t>Paxos algorithm</a:t>
            </a:r>
            <a:endParaRPr lang="en-US" altLang="zh-CN" dirty="0">
              <a:ea typeface="宋体" panose="02010600030101010101" pitchFamily="2" charset="-122"/>
            </a:endParaRPr>
          </a:p>
        </p:txBody>
      </p:sp>
      <p:sp>
        <p:nvSpPr>
          <p:cNvPr id="72707" name="Rectangle 3"/>
          <p:cNvSpPr>
            <a:spLocks noGrp="1" noRot="1"/>
          </p:cNvSpPr>
          <p:nvPr>
            <p:ph idx="1"/>
          </p:nvPr>
        </p:nvSpPr>
        <p:spPr>
          <a:xfrm>
            <a:off x="144463" y="1000125"/>
            <a:ext cx="8707437" cy="2754313"/>
          </a:xfrm>
        </p:spPr>
        <p:txBody>
          <a:bodyPr vert="horz" wrap="square" lIns="91440" tIns="45720" rIns="91440" bIns="45720" anchor="t" anchorCtr="0"/>
          <a:lstStyle/>
          <a:p>
            <a:pPr algn="l">
              <a:buFont typeface="Wingdings" panose="05000000000000000000" pitchFamily="2" charset="2"/>
              <a:buChar char="u"/>
            </a:pPr>
            <a:r>
              <a:rPr lang="en-US" altLang="zh-CN" sz="2000" dirty="0">
                <a:ea typeface="宋体" panose="02010600030101010101" pitchFamily="2" charset="-122"/>
              </a:rPr>
              <a:t>Phase 1 (prepare):</a:t>
            </a:r>
            <a:endParaRPr lang="en-US" altLang="zh-CN" sz="2000" dirty="0">
              <a:ea typeface="宋体" panose="02010600030101010101" pitchFamily="2" charset="-122"/>
            </a:endParaRPr>
          </a:p>
          <a:p>
            <a:pPr lvl="1">
              <a:buFont typeface="Wingdings" panose="05000000000000000000" pitchFamily="2" charset="2"/>
              <a:buChar char="Ø"/>
            </a:pPr>
            <a:r>
              <a:rPr lang="en-US" altLang="zh-CN" sz="2000" dirty="0">
                <a:ea typeface="宋体" panose="02010600030101010101" pitchFamily="2" charset="-122"/>
              </a:rPr>
              <a:t>A proposer selects a proposal </a:t>
            </a:r>
            <a:r>
              <a:rPr lang="en-US" altLang="zh-CN" sz="2000" dirty="0">
                <a:solidFill>
                  <a:srgbClr val="FF0000"/>
                </a:solidFill>
                <a:ea typeface="宋体" panose="02010600030101010101" pitchFamily="2" charset="-122"/>
              </a:rPr>
              <a:t>number n</a:t>
            </a:r>
            <a:r>
              <a:rPr lang="en-US" altLang="zh-CN" sz="2000" dirty="0">
                <a:ea typeface="宋体" panose="02010600030101010101" pitchFamily="2" charset="-122"/>
              </a:rPr>
              <a:t> and sends </a:t>
            </a:r>
            <a:r>
              <a:rPr lang="en-US" altLang="zh-CN" sz="2000" dirty="0">
                <a:solidFill>
                  <a:srgbClr val="FF0000"/>
                </a:solidFill>
                <a:ea typeface="宋体" panose="02010600030101010101" pitchFamily="2" charset="-122"/>
              </a:rPr>
              <a:t>a </a:t>
            </a:r>
            <a:r>
              <a:rPr lang="en-US" altLang="zh-CN" sz="2000" i="1" dirty="0">
                <a:solidFill>
                  <a:srgbClr val="FF0000"/>
                </a:solidFill>
                <a:ea typeface="宋体" panose="02010600030101010101" pitchFamily="2" charset="-122"/>
              </a:rPr>
              <a:t>prepare request</a:t>
            </a:r>
            <a:r>
              <a:rPr lang="en-US" altLang="zh-CN" sz="2000" dirty="0">
                <a:solidFill>
                  <a:srgbClr val="FF0000"/>
                </a:solidFill>
                <a:ea typeface="宋体" panose="02010600030101010101" pitchFamily="2" charset="-122"/>
              </a:rPr>
              <a:t> with number n </a:t>
            </a:r>
            <a:r>
              <a:rPr lang="en-US" altLang="zh-CN" sz="2000" dirty="0">
                <a:ea typeface="宋体" panose="02010600030101010101" pitchFamily="2" charset="-122"/>
              </a:rPr>
              <a:t>to majority of acceptors.</a:t>
            </a:r>
            <a:r>
              <a:rPr lang="zh-CN" altLang="en-US" sz="1800" dirty="0">
                <a:ea typeface="宋体" panose="02010600030101010101" pitchFamily="2" charset="-122"/>
              </a:rPr>
              <a:t>向大多数接收者发送编号为</a:t>
            </a:r>
            <a:r>
              <a:rPr lang="en-US" altLang="zh-CN" sz="1800" dirty="0">
                <a:ea typeface="宋体" panose="02010600030101010101" pitchFamily="2" charset="-122"/>
              </a:rPr>
              <a:t>n</a:t>
            </a:r>
            <a:r>
              <a:rPr lang="zh-CN" altLang="en-US" sz="1800" dirty="0">
                <a:ea typeface="宋体" panose="02010600030101010101" pitchFamily="2" charset="-122"/>
              </a:rPr>
              <a:t>预请求；</a:t>
            </a:r>
            <a:r>
              <a:rPr lang="en-US" altLang="zh-CN" sz="1800" dirty="0">
                <a:ea typeface="宋体" panose="02010600030101010101" pitchFamily="2" charset="-122"/>
              </a:rPr>
              <a:t> </a:t>
            </a:r>
            <a:endParaRPr lang="en-US" altLang="zh-CN" sz="1800" dirty="0">
              <a:ea typeface="宋体" panose="02010600030101010101" pitchFamily="2" charset="-122"/>
            </a:endParaRPr>
          </a:p>
          <a:p>
            <a:pPr lvl="1">
              <a:buFont typeface="Wingdings" panose="05000000000000000000" pitchFamily="2" charset="2"/>
              <a:buChar char="Ø"/>
            </a:pPr>
            <a:r>
              <a:rPr lang="en-US" altLang="zh-CN" sz="2000" dirty="0">
                <a:ea typeface="宋体" panose="02010600030101010101" pitchFamily="2" charset="-122"/>
              </a:rPr>
              <a:t>If an acceptor receives a prepare request with number  n </a:t>
            </a:r>
            <a:r>
              <a:rPr lang="en-US" altLang="zh-CN" sz="2000" dirty="0">
                <a:solidFill>
                  <a:srgbClr val="FF0000"/>
                </a:solidFill>
                <a:ea typeface="宋体" panose="02010600030101010101" pitchFamily="2" charset="-122"/>
              </a:rPr>
              <a:t>greater than </a:t>
            </a:r>
            <a:r>
              <a:rPr lang="en-US" altLang="zh-CN" sz="2000" dirty="0">
                <a:ea typeface="宋体" panose="02010600030101010101" pitchFamily="2" charset="-122"/>
              </a:rPr>
              <a:t>that of any prepare request it saw, it responses </a:t>
            </a:r>
            <a:r>
              <a:rPr lang="en-US" altLang="zh-CN" sz="2000" dirty="0">
                <a:solidFill>
                  <a:srgbClr val="FF0000"/>
                </a:solidFill>
                <a:ea typeface="宋体" panose="02010600030101010101" pitchFamily="2" charset="-122"/>
              </a:rPr>
              <a:t>YES</a:t>
            </a:r>
            <a:r>
              <a:rPr lang="en-US" altLang="zh-CN" sz="2000" dirty="0">
                <a:ea typeface="宋体" panose="02010600030101010101" pitchFamily="2" charset="-122"/>
              </a:rPr>
              <a:t> to that request with a </a:t>
            </a:r>
            <a:r>
              <a:rPr lang="en-US" altLang="zh-CN" sz="2000" dirty="0">
                <a:solidFill>
                  <a:srgbClr val="FF0000"/>
                </a:solidFill>
                <a:ea typeface="宋体" panose="02010600030101010101" pitchFamily="2" charset="-122"/>
              </a:rPr>
              <a:t>promise </a:t>
            </a:r>
            <a:r>
              <a:rPr lang="en-US" altLang="zh-CN" sz="2000" dirty="0">
                <a:ea typeface="宋体" panose="02010600030101010101" pitchFamily="2" charset="-122"/>
              </a:rPr>
              <a:t>not to accept any more proposals numbered </a:t>
            </a:r>
            <a:r>
              <a:rPr lang="en-US" altLang="zh-CN" sz="2000" dirty="0">
                <a:solidFill>
                  <a:srgbClr val="FF0000"/>
                </a:solidFill>
                <a:ea typeface="宋体" panose="02010600030101010101" pitchFamily="2" charset="-122"/>
              </a:rPr>
              <a:t>less than </a:t>
            </a:r>
            <a:r>
              <a:rPr lang="en-US" altLang="zh-CN" sz="2000" dirty="0">
                <a:ea typeface="宋体" panose="02010600030101010101" pitchFamily="2" charset="-122"/>
              </a:rPr>
              <a:t>n and include the </a:t>
            </a:r>
            <a:r>
              <a:rPr lang="en-US" altLang="zh-CN" sz="2000" dirty="0">
                <a:solidFill>
                  <a:srgbClr val="FF0000"/>
                </a:solidFill>
                <a:ea typeface="宋体" panose="02010600030101010101" pitchFamily="2" charset="-122"/>
              </a:rPr>
              <a:t>highest-numbered proposal </a:t>
            </a:r>
            <a:r>
              <a:rPr lang="en-US" altLang="zh-CN" sz="2000" dirty="0">
                <a:ea typeface="宋体" panose="02010600030101010101" pitchFamily="2" charset="-122"/>
              </a:rPr>
              <a:t>(if any) that it has accepted.</a:t>
            </a:r>
            <a:r>
              <a:rPr lang="zh-CN" altLang="en-US" sz="1800" dirty="0">
                <a:ea typeface="宋体" panose="02010600030101010101" pitchFamily="2" charset="-122"/>
              </a:rPr>
              <a:t>接受者只响应目前编号最大的提案请求者</a:t>
            </a: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4" name="Rectangle 3"/>
          <p:cNvSpPr txBox="1">
            <a:spLocks noRot="1" noChangeArrowheads="1"/>
          </p:cNvSpPr>
          <p:nvPr/>
        </p:nvSpPr>
        <p:spPr bwMode="auto">
          <a:xfrm>
            <a:off x="68263" y="3916363"/>
            <a:ext cx="9017000" cy="26844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Phase 2 (accept):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Ø"/>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If the proposer receives a response YES to its prepare requests from a </a:t>
            </a: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majority of acceptors</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then it sends an </a:t>
            </a:r>
            <a:r>
              <a:rPr kumimoji="0" lang="en-US" altLang="zh-CN" sz="2000" b="0" i="1" u="none" strike="noStrike" kern="0" cap="none" spc="0" normalizeH="0" baseline="0" noProof="0" dirty="0">
                <a:ln>
                  <a:noFill/>
                </a:ln>
                <a:solidFill>
                  <a:srgbClr val="FF0000"/>
                </a:solidFill>
                <a:effectLst/>
                <a:uLnTx/>
                <a:uFillTx/>
                <a:latin typeface="+mn-lt"/>
                <a:ea typeface="宋体" panose="02010600030101010101" pitchFamily="2" charset="-122"/>
                <a:cs typeface="+mn-cs"/>
              </a:rPr>
              <a:t>accept request</a:t>
            </a: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to each of those acceptors for a proposal </a:t>
            </a: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numbered n with a values </a:t>
            </a:r>
            <a:r>
              <a:rPr kumimoji="0" lang="en-US" altLang="zh-CN" sz="2000" b="0" i="1" u="none" strike="noStrike" kern="0" cap="none" spc="0" normalizeH="0" baseline="0" noProof="0" dirty="0">
                <a:ln>
                  <a:noFill/>
                </a:ln>
                <a:solidFill>
                  <a:srgbClr val="FF0000"/>
                </a:solidFill>
                <a:effectLst/>
                <a:uLnTx/>
                <a:uFillTx/>
                <a:latin typeface="+mn-lt"/>
                <a:ea typeface="宋体" panose="02010600030101010101" pitchFamily="2" charset="-122"/>
                <a:cs typeface="+mn-cs"/>
              </a:rPr>
              <a:t>v</a:t>
            </a: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which is the value of the highest-numbered proposal among the responses.</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收到大多数的</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回答，发送编号</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的值</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Ø"/>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If an acceptor receives an accept request for a proposal numbered n, it </a:t>
            </a: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accepts the proposal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unless it has already responded to a prepare request having a number greater than n.</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p:cNvSpPr>
          <p:nvPr>
            <p:ph type="title"/>
          </p:nvPr>
        </p:nvSpPr>
        <p:spPr>
          <a:xfrm>
            <a:off x="0" y="0"/>
            <a:ext cx="5743575" cy="665163"/>
          </a:xfrm>
        </p:spPr>
        <p:txBody>
          <a:bodyPr vert="horz" wrap="square" lIns="91440" tIns="45720" rIns="91440" bIns="45720" anchor="ctr" anchorCtr="0"/>
          <a:lstStyle/>
          <a:p>
            <a:pPr algn="l"/>
            <a:r>
              <a:rPr lang="en-US" altLang="zh-CN" dirty="0">
                <a:ea typeface="宋体" panose="02010600030101010101" pitchFamily="2" charset="-122"/>
              </a:rPr>
              <a:t>Definition of chosen</a:t>
            </a:r>
            <a:endParaRPr lang="en-US" altLang="zh-CN" dirty="0">
              <a:ea typeface="宋体" panose="02010600030101010101" pitchFamily="2" charset="-122"/>
            </a:endParaRPr>
          </a:p>
        </p:txBody>
      </p:sp>
      <p:sp>
        <p:nvSpPr>
          <p:cNvPr id="73731" name="Rectangle 3"/>
          <p:cNvSpPr>
            <a:spLocks noGrp="1" noRot="1"/>
          </p:cNvSpPr>
          <p:nvPr>
            <p:ph idx="1"/>
          </p:nvPr>
        </p:nvSpPr>
        <p:spPr>
          <a:xfrm>
            <a:off x="155575" y="711200"/>
            <a:ext cx="8705850" cy="863600"/>
          </a:xfrm>
        </p:spPr>
        <p:txBody>
          <a:bodyPr vert="horz" wrap="square" lIns="91440" tIns="45720" rIns="91440" bIns="45720" anchor="t" anchorCtr="0"/>
          <a:lstStyle/>
          <a:p>
            <a:pPr algn="l">
              <a:buFont typeface="Wingdings" panose="05000000000000000000" pitchFamily="2" charset="2"/>
              <a:buChar char="u"/>
            </a:pPr>
            <a:r>
              <a:rPr lang="en-US" altLang="zh-CN" sz="2400" dirty="0">
                <a:solidFill>
                  <a:srgbClr val="FF0000"/>
                </a:solidFill>
                <a:ea typeface="宋体" panose="02010600030101010101" pitchFamily="2" charset="-122"/>
              </a:rPr>
              <a:t>A value is chosen</a:t>
            </a:r>
            <a:r>
              <a:rPr lang="en-US" altLang="zh-CN" sz="2400" dirty="0">
                <a:ea typeface="宋体" panose="02010600030101010101" pitchFamily="2" charset="-122"/>
              </a:rPr>
              <a:t> at proposal number n iff majority of acceptor accept that value in phase 2 of the proposal number.</a:t>
            </a:r>
            <a:endParaRPr lang="en-US" altLang="zh-CN" sz="2400" dirty="0">
              <a:ea typeface="宋体" panose="02010600030101010101" pitchFamily="2" charset="-122"/>
            </a:endParaRPr>
          </a:p>
        </p:txBody>
      </p:sp>
      <p:sp>
        <p:nvSpPr>
          <p:cNvPr id="4" name="Rectangle 2"/>
          <p:cNvSpPr txBox="1">
            <a:spLocks noRot="1" noChangeArrowheads="1"/>
          </p:cNvSpPr>
          <p:nvPr/>
        </p:nvSpPr>
        <p:spPr bwMode="auto">
          <a:xfrm>
            <a:off x="66675" y="1574800"/>
            <a:ext cx="4879975" cy="628650"/>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0" i="0" u="none" strike="noStrike" kern="0" cap="none" spc="0" normalizeH="0" baseline="0" noProof="0" dirty="0" err="1">
                <a:ln>
                  <a:noFill/>
                </a:ln>
                <a:solidFill>
                  <a:srgbClr val="FF0000"/>
                </a:solidFill>
                <a:effectLst/>
                <a:uLnTx/>
                <a:uFillTx/>
                <a:latin typeface="+mj-lt"/>
                <a:ea typeface="宋体" panose="02010600030101010101" pitchFamily="2" charset="-122"/>
                <a:cs typeface="+mj-cs"/>
              </a:rPr>
              <a:t>Paxos’s</a:t>
            </a:r>
            <a:r>
              <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 properties</a:t>
            </a:r>
            <a:endPar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5" name="Rectangle 3"/>
          <p:cNvSpPr txBox="1">
            <a:spLocks noRot="1" noChangeArrowheads="1"/>
          </p:cNvSpPr>
          <p:nvPr/>
        </p:nvSpPr>
        <p:spPr bwMode="auto">
          <a:xfrm>
            <a:off x="14288" y="2268538"/>
            <a:ext cx="8988425" cy="18462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P1: Any proposal number is unique.</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P2: Any two set of acceptors have at least one acceptor in common.</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P3: the value sent out in phase 2 is the value of the highest-numbered proposal of all the responses in phase 1.</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 name="Rectangle 2"/>
          <p:cNvSpPr txBox="1">
            <a:spLocks noRot="1" noChangeArrowheads="1"/>
          </p:cNvSpPr>
          <p:nvPr/>
        </p:nvSpPr>
        <p:spPr bwMode="auto">
          <a:xfrm>
            <a:off x="66675" y="4114800"/>
            <a:ext cx="6026150" cy="539750"/>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Learning a chosen value</a:t>
            </a:r>
            <a:endPar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7" name="Rectangle 3"/>
          <p:cNvSpPr txBox="1">
            <a:spLocks noRot="1" noChangeArrowheads="1"/>
          </p:cNvSpPr>
          <p:nvPr/>
        </p:nvSpPr>
        <p:spPr bwMode="auto">
          <a:xfrm>
            <a:off x="0" y="4921250"/>
            <a:ext cx="9144000" cy="17208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There are some options: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Each acceptor, whenever it accepts a proposal, informs all the learners. Acceptors informs a distinguished learner (usually the proposer) and let the distinguished learner broadcast the result.</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vert="horz" wrap="square" lIns="91440" tIns="45720" rIns="91440" bIns="45720" anchor="ctr" anchorCtr="0"/>
          <a:lstStyle/>
          <a:p>
            <a:pPr algn="l" eaLnBrk="1" hangingPunct="1"/>
            <a:r>
              <a:rPr lang="en-US" altLang="zh-CN" dirty="0">
                <a:ea typeface="宋体" panose="02010600030101010101" pitchFamily="2" charset="-122"/>
              </a:rPr>
              <a:t>Classic Paxos</a:t>
            </a:r>
            <a:endParaRPr lang="zh-CN" altLang="en-US" dirty="0">
              <a:ea typeface="宋体" panose="02010600030101010101" pitchFamily="2" charset="-122"/>
            </a:endParaRPr>
          </a:p>
        </p:txBody>
      </p:sp>
      <p:sp>
        <p:nvSpPr>
          <p:cNvPr id="74755" name="内容占位符 2"/>
          <p:cNvSpPr>
            <a:spLocks noGrp="1"/>
          </p:cNvSpPr>
          <p:nvPr>
            <p:ph idx="1"/>
          </p:nvPr>
        </p:nvSpPr>
        <p:spPr>
          <a:xfrm>
            <a:off x="468313" y="1557338"/>
            <a:ext cx="8229600" cy="4525962"/>
          </a:xfrm>
        </p:spPr>
        <p:txBody>
          <a:bodyPr vert="horz" wrap="square" lIns="91440" tIns="45720" rIns="91440" bIns="45720" anchor="t" anchorCtr="0"/>
          <a:lstStyle/>
          <a:p>
            <a:pPr lvl="1" eaLnBrk="1" hangingPunct="1">
              <a:buSzPct val="60000"/>
              <a:buNone/>
            </a:pPr>
            <a:r>
              <a:rPr lang="zh-CN" altLang="en-US" dirty="0">
                <a:ea typeface="宋体" panose="02010600030101010101" pitchFamily="2" charset="-122"/>
              </a:rPr>
              <a:t>情形</a:t>
            </a:r>
            <a:r>
              <a:rPr lang="en-US" altLang="zh-CN" dirty="0">
                <a:ea typeface="宋体" panose="02010600030101010101" pitchFamily="2" charset="-122"/>
              </a:rPr>
              <a:t>1: Paxos without Proposer Competition</a:t>
            </a:r>
            <a:endParaRPr lang="en-US" altLang="zh-CN" dirty="0">
              <a:ea typeface="宋体" panose="02010600030101010101" pitchFamily="2" charset="-122"/>
            </a:endParaRPr>
          </a:p>
          <a:p>
            <a:pPr lvl="1" eaLnBrk="1" hangingPunct="1">
              <a:buSzPct val="60000"/>
              <a:buFont typeface="Wingdings" panose="05000000000000000000" pitchFamily="2" charset="2"/>
              <a:buChar char="p"/>
            </a:pPr>
            <a:r>
              <a:rPr lang="en-US" altLang="zh-CN" dirty="0">
                <a:ea typeface="宋体" panose="02010600030101010101" pitchFamily="2" charset="-122"/>
              </a:rPr>
              <a:t>Prepare</a:t>
            </a:r>
            <a:endParaRPr lang="en-US" altLang="zh-CN" dirty="0">
              <a:ea typeface="宋体" panose="02010600030101010101" pitchFamily="2" charset="-122"/>
            </a:endParaRPr>
          </a:p>
        </p:txBody>
      </p:sp>
      <p:graphicFrame>
        <p:nvGraphicFramePr>
          <p:cNvPr id="74756" name="Object 4"/>
          <p:cNvGraphicFramePr/>
          <p:nvPr/>
        </p:nvGraphicFramePr>
        <p:xfrm>
          <a:off x="3132138" y="3933825"/>
          <a:ext cx="495300" cy="769938"/>
        </p:xfrm>
        <a:graphic>
          <a:graphicData uri="http://schemas.openxmlformats.org/presentationml/2006/ole">
            <mc:AlternateContent xmlns:mc="http://schemas.openxmlformats.org/markup-compatibility/2006">
              <mc:Choice xmlns:v="urn:schemas-microsoft-com:vml" Requires="v">
                <p:oleObj spid="_x0000_s3550" name="" r:id="rId1" imgW="673100" imgH="1054100" progId="Visio.Drawing.11">
                  <p:embed/>
                </p:oleObj>
              </mc:Choice>
              <mc:Fallback>
                <p:oleObj name="" r:id="rId1" imgW="673100" imgH="1054100" progId="Visio.Drawing.11">
                  <p:embed/>
                  <p:pic>
                    <p:nvPicPr>
                      <p:cNvPr id="0" name="图片 3081"/>
                      <p:cNvPicPr/>
                      <p:nvPr/>
                    </p:nvPicPr>
                    <p:blipFill>
                      <a:blip r:embed="rId2"/>
                      <a:stretch>
                        <a:fillRect/>
                      </a:stretch>
                    </p:blipFill>
                    <p:spPr>
                      <a:xfrm>
                        <a:off x="3132138" y="3933825"/>
                        <a:ext cx="495300" cy="769938"/>
                      </a:xfrm>
                      <a:prstGeom prst="rect">
                        <a:avLst/>
                      </a:prstGeom>
                      <a:noFill/>
                      <a:ln w="38100">
                        <a:noFill/>
                        <a:miter/>
                      </a:ln>
                    </p:spPr>
                  </p:pic>
                </p:oleObj>
              </mc:Fallback>
            </mc:AlternateContent>
          </a:graphicData>
        </a:graphic>
      </p:graphicFrame>
      <p:graphicFrame>
        <p:nvGraphicFramePr>
          <p:cNvPr id="74757" name="Object 5"/>
          <p:cNvGraphicFramePr/>
          <p:nvPr/>
        </p:nvGraphicFramePr>
        <p:xfrm>
          <a:off x="6372225" y="2997200"/>
          <a:ext cx="495300" cy="771525"/>
        </p:xfrm>
        <a:graphic>
          <a:graphicData uri="http://schemas.openxmlformats.org/presentationml/2006/ole">
            <mc:AlternateContent xmlns:mc="http://schemas.openxmlformats.org/markup-compatibility/2006">
              <mc:Choice xmlns:v="urn:schemas-microsoft-com:vml" Requires="v">
                <p:oleObj spid="_x0000_s3551" name="" r:id="rId3" imgW="673100" imgH="1054100" progId="Visio.Drawing.11">
                  <p:embed/>
                </p:oleObj>
              </mc:Choice>
              <mc:Fallback>
                <p:oleObj name="" r:id="rId3" imgW="673100" imgH="1054100" progId="Visio.Drawing.11">
                  <p:embed/>
                  <p:pic>
                    <p:nvPicPr>
                      <p:cNvPr id="0" name="图片 3076"/>
                      <p:cNvPicPr/>
                      <p:nvPr/>
                    </p:nvPicPr>
                    <p:blipFill>
                      <a:blip r:embed="rId4"/>
                      <a:stretch>
                        <a:fillRect/>
                      </a:stretch>
                    </p:blipFill>
                    <p:spPr>
                      <a:xfrm>
                        <a:off x="6372225" y="2997200"/>
                        <a:ext cx="495300" cy="771525"/>
                      </a:xfrm>
                      <a:prstGeom prst="rect">
                        <a:avLst/>
                      </a:prstGeom>
                      <a:noFill/>
                      <a:ln w="38100">
                        <a:noFill/>
                        <a:miter/>
                      </a:ln>
                    </p:spPr>
                  </p:pic>
                </p:oleObj>
              </mc:Fallback>
            </mc:AlternateContent>
          </a:graphicData>
        </a:graphic>
      </p:graphicFrame>
      <p:graphicFrame>
        <p:nvGraphicFramePr>
          <p:cNvPr id="74758" name="Object 6"/>
          <p:cNvGraphicFramePr/>
          <p:nvPr/>
        </p:nvGraphicFramePr>
        <p:xfrm>
          <a:off x="4076700" y="5033963"/>
          <a:ext cx="495300" cy="771525"/>
        </p:xfrm>
        <a:graphic>
          <a:graphicData uri="http://schemas.openxmlformats.org/presentationml/2006/ole">
            <mc:AlternateContent xmlns:mc="http://schemas.openxmlformats.org/markup-compatibility/2006">
              <mc:Choice xmlns:v="urn:schemas-microsoft-com:vml" Requires="v">
                <p:oleObj spid="_x0000_s3552" name="" r:id="rId5" imgW="673100" imgH="1054100" progId="Visio.Drawing.11">
                  <p:embed/>
                </p:oleObj>
              </mc:Choice>
              <mc:Fallback>
                <p:oleObj name="" r:id="rId5" imgW="673100" imgH="1054100" progId="Visio.Drawing.11">
                  <p:embed/>
                  <p:pic>
                    <p:nvPicPr>
                      <p:cNvPr id="0" name="图片 3078"/>
                      <p:cNvPicPr/>
                      <p:nvPr/>
                    </p:nvPicPr>
                    <p:blipFill>
                      <a:blip r:embed="rId6"/>
                      <a:stretch>
                        <a:fillRect/>
                      </a:stretch>
                    </p:blipFill>
                    <p:spPr>
                      <a:xfrm>
                        <a:off x="4076700" y="5033963"/>
                        <a:ext cx="495300" cy="771525"/>
                      </a:xfrm>
                      <a:prstGeom prst="rect">
                        <a:avLst/>
                      </a:prstGeom>
                      <a:noFill/>
                      <a:ln w="38100">
                        <a:noFill/>
                        <a:miter/>
                      </a:ln>
                    </p:spPr>
                  </p:pic>
                </p:oleObj>
              </mc:Fallback>
            </mc:AlternateContent>
          </a:graphicData>
        </a:graphic>
      </p:graphicFrame>
      <p:graphicFrame>
        <p:nvGraphicFramePr>
          <p:cNvPr id="74759" name="Object 7"/>
          <p:cNvGraphicFramePr/>
          <p:nvPr/>
        </p:nvGraphicFramePr>
        <p:xfrm>
          <a:off x="5084763" y="5033963"/>
          <a:ext cx="495300" cy="771525"/>
        </p:xfrm>
        <a:graphic>
          <a:graphicData uri="http://schemas.openxmlformats.org/presentationml/2006/ole">
            <mc:AlternateContent xmlns:mc="http://schemas.openxmlformats.org/markup-compatibility/2006">
              <mc:Choice xmlns:v="urn:schemas-microsoft-com:vml" Requires="v">
                <p:oleObj spid="_x0000_s3553" name="" r:id="rId7" imgW="673100" imgH="1054100" progId="Visio.Drawing.11">
                  <p:embed/>
                </p:oleObj>
              </mc:Choice>
              <mc:Fallback>
                <p:oleObj name="" r:id="rId7" imgW="673100" imgH="1054100" progId="Visio.Drawing.11">
                  <p:embed/>
                  <p:pic>
                    <p:nvPicPr>
                      <p:cNvPr id="0" name="图片 3079"/>
                      <p:cNvPicPr/>
                      <p:nvPr/>
                    </p:nvPicPr>
                    <p:blipFill>
                      <a:blip r:embed="rId8"/>
                      <a:stretch>
                        <a:fillRect/>
                      </a:stretch>
                    </p:blipFill>
                    <p:spPr>
                      <a:xfrm>
                        <a:off x="5084763" y="5033963"/>
                        <a:ext cx="495300" cy="771525"/>
                      </a:xfrm>
                      <a:prstGeom prst="rect">
                        <a:avLst/>
                      </a:prstGeom>
                      <a:noFill/>
                      <a:ln w="38100">
                        <a:noFill/>
                        <a:miter/>
                      </a:ln>
                    </p:spPr>
                  </p:pic>
                </p:oleObj>
              </mc:Fallback>
            </mc:AlternateContent>
          </a:graphicData>
        </a:graphic>
      </p:graphicFrame>
      <p:graphicFrame>
        <p:nvGraphicFramePr>
          <p:cNvPr id="74760" name="Object 8"/>
          <p:cNvGraphicFramePr/>
          <p:nvPr/>
        </p:nvGraphicFramePr>
        <p:xfrm>
          <a:off x="5948363" y="5033963"/>
          <a:ext cx="495300" cy="771525"/>
        </p:xfrm>
        <a:graphic>
          <a:graphicData uri="http://schemas.openxmlformats.org/presentationml/2006/ole">
            <mc:AlternateContent xmlns:mc="http://schemas.openxmlformats.org/markup-compatibility/2006">
              <mc:Choice xmlns:v="urn:schemas-microsoft-com:vml" Requires="v">
                <p:oleObj spid="_x0000_s3554" name="" r:id="rId9" imgW="673100" imgH="1054100" progId="Visio.Drawing.11">
                  <p:embed/>
                </p:oleObj>
              </mc:Choice>
              <mc:Fallback>
                <p:oleObj name="" r:id="rId9" imgW="673100" imgH="1054100" progId="Visio.Drawing.11">
                  <p:embed/>
                  <p:pic>
                    <p:nvPicPr>
                      <p:cNvPr id="0" name="图片 3077"/>
                      <p:cNvPicPr/>
                      <p:nvPr/>
                    </p:nvPicPr>
                    <p:blipFill>
                      <a:blip r:embed="rId8"/>
                      <a:stretch>
                        <a:fillRect/>
                      </a:stretch>
                    </p:blipFill>
                    <p:spPr>
                      <a:xfrm>
                        <a:off x="5948363" y="5033963"/>
                        <a:ext cx="495300" cy="771525"/>
                      </a:xfrm>
                      <a:prstGeom prst="rect">
                        <a:avLst/>
                      </a:prstGeom>
                      <a:noFill/>
                      <a:ln w="38100">
                        <a:noFill/>
                        <a:miter/>
                      </a:ln>
                    </p:spPr>
                  </p:pic>
                </p:oleObj>
              </mc:Fallback>
            </mc:AlternateContent>
          </a:graphicData>
        </a:graphic>
      </p:graphicFrame>
      <p:graphicFrame>
        <p:nvGraphicFramePr>
          <p:cNvPr id="74761" name="Object 9"/>
          <p:cNvGraphicFramePr/>
          <p:nvPr/>
        </p:nvGraphicFramePr>
        <p:xfrm>
          <a:off x="6813550" y="5033963"/>
          <a:ext cx="495300" cy="771525"/>
        </p:xfrm>
        <a:graphic>
          <a:graphicData uri="http://schemas.openxmlformats.org/presentationml/2006/ole">
            <mc:AlternateContent xmlns:mc="http://schemas.openxmlformats.org/markup-compatibility/2006">
              <mc:Choice xmlns:v="urn:schemas-microsoft-com:vml" Requires="v">
                <p:oleObj spid="_x0000_s3555" name="" r:id="rId10" imgW="673100" imgH="1054100" progId="Visio.Drawing.11">
                  <p:embed/>
                </p:oleObj>
              </mc:Choice>
              <mc:Fallback>
                <p:oleObj name="" r:id="rId10" imgW="673100" imgH="1054100" progId="Visio.Drawing.11">
                  <p:embed/>
                  <p:pic>
                    <p:nvPicPr>
                      <p:cNvPr id="0" name="图片 3080"/>
                      <p:cNvPicPr/>
                      <p:nvPr/>
                    </p:nvPicPr>
                    <p:blipFill>
                      <a:blip r:embed="rId8"/>
                      <a:stretch>
                        <a:fillRect/>
                      </a:stretch>
                    </p:blipFill>
                    <p:spPr>
                      <a:xfrm>
                        <a:off x="6813550" y="5033963"/>
                        <a:ext cx="495300" cy="771525"/>
                      </a:xfrm>
                      <a:prstGeom prst="rect">
                        <a:avLst/>
                      </a:prstGeom>
                      <a:noFill/>
                      <a:ln w="38100">
                        <a:noFill/>
                        <a:miter/>
                      </a:ln>
                    </p:spPr>
                  </p:pic>
                </p:oleObj>
              </mc:Fallback>
            </mc:AlternateContent>
          </a:graphicData>
        </a:graphic>
      </p:graphicFrame>
      <p:graphicFrame>
        <p:nvGraphicFramePr>
          <p:cNvPr id="74762" name="Object 10"/>
          <p:cNvGraphicFramePr/>
          <p:nvPr/>
        </p:nvGraphicFramePr>
        <p:xfrm>
          <a:off x="7677150" y="5033963"/>
          <a:ext cx="495300" cy="771525"/>
        </p:xfrm>
        <a:graphic>
          <a:graphicData uri="http://schemas.openxmlformats.org/presentationml/2006/ole">
            <mc:AlternateContent xmlns:mc="http://schemas.openxmlformats.org/markup-compatibility/2006">
              <mc:Choice xmlns:v="urn:schemas-microsoft-com:vml" Requires="v">
                <p:oleObj spid="_x0000_s3556" name="" r:id="rId11" imgW="673100" imgH="1054100" progId="Visio.Drawing.11">
                  <p:embed/>
                </p:oleObj>
              </mc:Choice>
              <mc:Fallback>
                <p:oleObj name="" r:id="rId11" imgW="673100" imgH="1054100" progId="Visio.Drawing.11">
                  <p:embed/>
                  <p:pic>
                    <p:nvPicPr>
                      <p:cNvPr id="0" name="图片 3075"/>
                      <p:cNvPicPr/>
                      <p:nvPr/>
                    </p:nvPicPr>
                    <p:blipFill>
                      <a:blip r:embed="rId8"/>
                      <a:stretch>
                        <a:fillRect/>
                      </a:stretch>
                    </p:blipFill>
                    <p:spPr>
                      <a:xfrm>
                        <a:off x="7677150" y="5033963"/>
                        <a:ext cx="495300" cy="771525"/>
                      </a:xfrm>
                      <a:prstGeom prst="rect">
                        <a:avLst/>
                      </a:prstGeom>
                      <a:noFill/>
                      <a:ln w="38100">
                        <a:noFill/>
                        <a:miter/>
                      </a:ln>
                    </p:spPr>
                  </p:pic>
                </p:oleObj>
              </mc:Fallback>
            </mc:AlternateContent>
          </a:graphicData>
        </a:graphic>
      </p:graphicFrame>
      <p:graphicFrame>
        <p:nvGraphicFramePr>
          <p:cNvPr id="74763" name="Object 11"/>
          <p:cNvGraphicFramePr/>
          <p:nvPr/>
        </p:nvGraphicFramePr>
        <p:xfrm>
          <a:off x="900113" y="5043488"/>
          <a:ext cx="2238375" cy="1457325"/>
        </p:xfrm>
        <a:graphic>
          <a:graphicData uri="http://schemas.openxmlformats.org/presentationml/2006/ole">
            <mc:AlternateContent xmlns:mc="http://schemas.openxmlformats.org/markup-compatibility/2006">
              <mc:Choice xmlns:v="urn:schemas-microsoft-com:vml" Requires="v">
                <p:oleObj spid="_x0000_s3557" name="" r:id="rId12" imgW="3009900" imgH="1968500" progId="Visio.Drawing.11">
                  <p:embed/>
                </p:oleObj>
              </mc:Choice>
              <mc:Fallback>
                <p:oleObj name="" r:id="rId12" imgW="3009900" imgH="1968500" progId="Visio.Drawing.11">
                  <p:embed/>
                  <p:pic>
                    <p:nvPicPr>
                      <p:cNvPr id="0" name="图片 3082"/>
                      <p:cNvPicPr/>
                      <p:nvPr/>
                    </p:nvPicPr>
                    <p:blipFill>
                      <a:blip r:embed="rId13"/>
                      <a:stretch>
                        <a:fillRect/>
                      </a:stretch>
                    </p:blipFill>
                    <p:spPr>
                      <a:xfrm>
                        <a:off x="900113" y="5043488"/>
                        <a:ext cx="2238375" cy="1457325"/>
                      </a:xfrm>
                      <a:prstGeom prst="rect">
                        <a:avLst/>
                      </a:prstGeom>
                      <a:noFill/>
                      <a:ln w="38100">
                        <a:noFill/>
                        <a:miter/>
                      </a:ln>
                    </p:spPr>
                  </p:pic>
                </p:oleObj>
              </mc:Fallback>
            </mc:AlternateContent>
          </a:graphicData>
        </a:graphic>
      </p:graphicFrame>
      <p:sp>
        <p:nvSpPr>
          <p:cNvPr id="12300" name="Text Box 12"/>
          <p:cNvSpPr txBox="1"/>
          <p:nvPr/>
        </p:nvSpPr>
        <p:spPr>
          <a:xfrm>
            <a:off x="3702050" y="3160713"/>
            <a:ext cx="1306513" cy="365125"/>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zh-CN" sz="2400" dirty="0">
                <a:ea typeface="宋体" panose="02010600030101010101" pitchFamily="2" charset="-122"/>
              </a:rPr>
              <a:t>set abc = 0</a:t>
            </a:r>
            <a:endParaRPr lang="zh-CN" altLang="zh-CN" sz="2400" dirty="0">
              <a:ea typeface="宋体" panose="02010600030101010101" pitchFamily="2" charset="-122"/>
            </a:endParaRPr>
          </a:p>
        </p:txBody>
      </p:sp>
      <p:sp>
        <p:nvSpPr>
          <p:cNvPr id="74765" name="Text Box 13"/>
          <p:cNvSpPr txBox="1"/>
          <p:nvPr/>
        </p:nvSpPr>
        <p:spPr>
          <a:xfrm>
            <a:off x="5867400" y="5589588"/>
            <a:ext cx="1160463" cy="46196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400" dirty="0">
                <a:ea typeface="宋体" panose="02010600030101010101" pitchFamily="2" charset="-122"/>
              </a:rPr>
              <a:t>abc = </a:t>
            </a:r>
            <a:r>
              <a:rPr lang="en-US" altLang="zh-CN" sz="2400" dirty="0">
                <a:ea typeface="宋体" panose="02010600030101010101" pitchFamily="2" charset="-122"/>
              </a:rPr>
              <a:t>X</a:t>
            </a:r>
            <a:endParaRPr lang="zh-CN" altLang="en-US" sz="2400" dirty="0">
              <a:ea typeface="宋体" panose="02010600030101010101" pitchFamily="2" charset="-122"/>
            </a:endParaRPr>
          </a:p>
        </p:txBody>
      </p:sp>
      <p:sp>
        <p:nvSpPr>
          <p:cNvPr id="12302" name="箭头 169"/>
          <p:cNvSpPr/>
          <p:nvPr/>
        </p:nvSpPr>
        <p:spPr>
          <a:xfrm flipV="1">
            <a:off x="3635375" y="3213100"/>
            <a:ext cx="2736850" cy="863600"/>
          </a:xfrm>
          <a:prstGeom prst="line">
            <a:avLst/>
          </a:prstGeom>
          <a:ln w="19050" cap="flat" cmpd="sng">
            <a:solidFill>
              <a:schemeClr val="tx1"/>
            </a:solidFill>
            <a:prstDash val="solid"/>
            <a:headEnd type="none" w="med" len="med"/>
            <a:tailEnd type="triangle" w="med" len="med"/>
          </a:ln>
        </p:spPr>
      </p:sp>
      <p:sp>
        <p:nvSpPr>
          <p:cNvPr id="12303" name="箭头 170"/>
          <p:cNvSpPr/>
          <p:nvPr/>
        </p:nvSpPr>
        <p:spPr>
          <a:xfrm flipH="1">
            <a:off x="4427538" y="3357563"/>
            <a:ext cx="2089150" cy="1728787"/>
          </a:xfrm>
          <a:prstGeom prst="line">
            <a:avLst/>
          </a:prstGeom>
          <a:ln w="19050" cap="flat" cmpd="sng">
            <a:solidFill>
              <a:schemeClr val="tx1"/>
            </a:solidFill>
            <a:prstDash val="solid"/>
            <a:headEnd type="none" w="med" len="med"/>
            <a:tailEnd type="triangle" w="med" len="med"/>
          </a:ln>
        </p:spPr>
      </p:sp>
      <p:sp>
        <p:nvSpPr>
          <p:cNvPr id="12304" name="箭头 170"/>
          <p:cNvSpPr/>
          <p:nvPr/>
        </p:nvSpPr>
        <p:spPr>
          <a:xfrm flipH="1">
            <a:off x="5435600" y="3429000"/>
            <a:ext cx="1081088" cy="1657350"/>
          </a:xfrm>
          <a:prstGeom prst="line">
            <a:avLst/>
          </a:prstGeom>
          <a:ln w="19050" cap="flat" cmpd="sng">
            <a:solidFill>
              <a:schemeClr val="tx1"/>
            </a:solidFill>
            <a:prstDash val="solid"/>
            <a:headEnd type="none" w="med" len="med"/>
            <a:tailEnd type="triangle" w="med" len="med"/>
          </a:ln>
        </p:spPr>
      </p:sp>
      <p:sp>
        <p:nvSpPr>
          <p:cNvPr id="12305" name="箭头 170"/>
          <p:cNvSpPr/>
          <p:nvPr/>
        </p:nvSpPr>
        <p:spPr>
          <a:xfrm flipH="1">
            <a:off x="6156325" y="3429000"/>
            <a:ext cx="431800" cy="1657350"/>
          </a:xfrm>
          <a:prstGeom prst="line">
            <a:avLst/>
          </a:prstGeom>
          <a:ln w="19050" cap="flat" cmpd="sng">
            <a:solidFill>
              <a:schemeClr val="tx1"/>
            </a:solidFill>
            <a:prstDash val="solid"/>
            <a:headEnd type="none" w="med" len="med"/>
            <a:tailEnd type="triangle" w="med" len="med"/>
          </a:ln>
        </p:spPr>
      </p:sp>
      <p:sp>
        <p:nvSpPr>
          <p:cNvPr id="12306" name="箭头 170"/>
          <p:cNvSpPr/>
          <p:nvPr/>
        </p:nvSpPr>
        <p:spPr>
          <a:xfrm>
            <a:off x="6661150" y="3429000"/>
            <a:ext cx="501650" cy="1657350"/>
          </a:xfrm>
          <a:prstGeom prst="line">
            <a:avLst/>
          </a:prstGeom>
          <a:ln w="19050" cap="flat" cmpd="sng">
            <a:solidFill>
              <a:schemeClr val="tx1"/>
            </a:solidFill>
            <a:prstDash val="solid"/>
            <a:headEnd type="none" w="med" len="med"/>
            <a:tailEnd type="triangle" w="med" len="med"/>
          </a:ln>
        </p:spPr>
      </p:sp>
      <p:sp>
        <p:nvSpPr>
          <p:cNvPr id="12307" name="箭头 170"/>
          <p:cNvSpPr/>
          <p:nvPr/>
        </p:nvSpPr>
        <p:spPr>
          <a:xfrm>
            <a:off x="6732588" y="3429000"/>
            <a:ext cx="1223962" cy="1657350"/>
          </a:xfrm>
          <a:prstGeom prst="line">
            <a:avLst/>
          </a:prstGeom>
          <a:ln w="19050" cap="flat" cmpd="sng">
            <a:solidFill>
              <a:schemeClr val="tx1"/>
            </a:solidFill>
            <a:prstDash val="solid"/>
            <a:headEnd type="none" w="med" len="med"/>
            <a:tailEnd type="triangle" w="med" len="med"/>
          </a:ln>
        </p:spPr>
      </p:sp>
      <p:sp>
        <p:nvSpPr>
          <p:cNvPr id="12308" name="Text Box 20"/>
          <p:cNvSpPr txBox="1"/>
          <p:nvPr/>
        </p:nvSpPr>
        <p:spPr>
          <a:xfrm>
            <a:off x="6394450" y="3998913"/>
            <a:ext cx="482600"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(1)</a:t>
            </a:r>
            <a:endParaRPr lang="zh-CN" altLang="en-US" sz="2000" dirty="0">
              <a:ea typeface="宋体" panose="02010600030101010101" pitchFamily="2" charset="-122"/>
            </a:endParaRPr>
          </a:p>
        </p:txBody>
      </p:sp>
      <p:sp>
        <p:nvSpPr>
          <p:cNvPr id="12309" name="Text Box 21"/>
          <p:cNvSpPr txBox="1"/>
          <p:nvPr/>
        </p:nvSpPr>
        <p:spPr>
          <a:xfrm>
            <a:off x="5076825" y="5949950"/>
            <a:ext cx="3744913" cy="3698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Response</a:t>
            </a:r>
            <a:r>
              <a:rPr lang="zh-CN" altLang="en-US" sz="2400" dirty="0">
                <a:ea typeface="宋体" panose="02010600030101010101" pitchFamily="2" charset="-122"/>
              </a:rPr>
              <a:t> (1) &amp;&amp; Promise</a:t>
            </a:r>
            <a:endParaRPr lang="zh-CN" altLang="en-US" sz="2400" dirty="0">
              <a:ea typeface="宋体" panose="02010600030101010101" pitchFamily="2" charset="-122"/>
            </a:endParaRPr>
          </a:p>
        </p:txBody>
      </p:sp>
      <p:sp>
        <p:nvSpPr>
          <p:cNvPr id="12310" name="箭头 177"/>
          <p:cNvSpPr/>
          <p:nvPr/>
        </p:nvSpPr>
        <p:spPr>
          <a:xfrm flipV="1">
            <a:off x="4572000" y="3357563"/>
            <a:ext cx="1944688" cy="1800225"/>
          </a:xfrm>
          <a:prstGeom prst="line">
            <a:avLst/>
          </a:prstGeom>
          <a:ln w="19050" cap="flat" cmpd="sng">
            <a:solidFill>
              <a:srgbClr val="FF0000"/>
            </a:solidFill>
            <a:prstDash val="solid"/>
            <a:headEnd type="none" w="med" len="med"/>
            <a:tailEnd type="triangle" w="med" len="med"/>
          </a:ln>
        </p:spPr>
      </p:sp>
      <p:sp>
        <p:nvSpPr>
          <p:cNvPr id="12311" name="箭头 177"/>
          <p:cNvSpPr/>
          <p:nvPr/>
        </p:nvSpPr>
        <p:spPr>
          <a:xfrm flipV="1">
            <a:off x="5508625" y="3500438"/>
            <a:ext cx="1008063" cy="1657350"/>
          </a:xfrm>
          <a:prstGeom prst="line">
            <a:avLst/>
          </a:prstGeom>
          <a:ln w="19050" cap="flat" cmpd="sng">
            <a:solidFill>
              <a:srgbClr val="FF0000"/>
            </a:solidFill>
            <a:prstDash val="solid"/>
            <a:headEnd type="none" w="med" len="med"/>
            <a:tailEnd type="triangle" w="med" len="med"/>
          </a:ln>
        </p:spPr>
      </p:sp>
      <p:sp>
        <p:nvSpPr>
          <p:cNvPr id="12312" name="箭头 177"/>
          <p:cNvSpPr/>
          <p:nvPr/>
        </p:nvSpPr>
        <p:spPr>
          <a:xfrm flipV="1">
            <a:off x="6300788" y="3500438"/>
            <a:ext cx="287337" cy="1585912"/>
          </a:xfrm>
          <a:prstGeom prst="line">
            <a:avLst/>
          </a:prstGeom>
          <a:ln w="19050" cap="flat" cmpd="sng">
            <a:solidFill>
              <a:srgbClr val="FF0000"/>
            </a:solidFill>
            <a:prstDash val="solid"/>
            <a:headEnd type="none" w="med" len="med"/>
            <a:tailEnd type="triangle" w="med" len="med"/>
          </a:ln>
        </p:spPr>
      </p:sp>
      <p:sp>
        <p:nvSpPr>
          <p:cNvPr id="12313" name="箭头 177"/>
          <p:cNvSpPr/>
          <p:nvPr/>
        </p:nvSpPr>
        <p:spPr>
          <a:xfrm flipH="1" flipV="1">
            <a:off x="6661150" y="3502025"/>
            <a:ext cx="304800" cy="1528763"/>
          </a:xfrm>
          <a:prstGeom prst="line">
            <a:avLst/>
          </a:prstGeom>
          <a:ln w="19050" cap="flat" cmpd="sng">
            <a:solidFill>
              <a:srgbClr val="FF0000"/>
            </a:solidFill>
            <a:prstDash val="solid"/>
            <a:headEnd type="none" w="med" len="med"/>
            <a:tailEnd type="triangle" w="med" len="med"/>
          </a:ln>
        </p:spPr>
      </p:sp>
      <p:sp>
        <p:nvSpPr>
          <p:cNvPr id="12314" name="箭头 177"/>
          <p:cNvSpPr/>
          <p:nvPr/>
        </p:nvSpPr>
        <p:spPr>
          <a:xfrm flipH="1" flipV="1">
            <a:off x="6732588" y="3429000"/>
            <a:ext cx="1096962" cy="1601788"/>
          </a:xfrm>
          <a:prstGeom prst="line">
            <a:avLst/>
          </a:prstGeom>
          <a:ln w="19050" cap="flat" cmpd="sng">
            <a:solidFill>
              <a:srgbClr val="FF0000"/>
            </a:solidFill>
            <a:prstDash val="solid"/>
            <a:headEnd type="none" w="med" len="med"/>
            <a:tailEnd type="triangle" w="med" len="med"/>
          </a:ln>
        </p:spPr>
      </p:sp>
      <p:sp>
        <p:nvSpPr>
          <p:cNvPr id="12315" name="Text Box 27"/>
          <p:cNvSpPr txBox="1"/>
          <p:nvPr/>
        </p:nvSpPr>
        <p:spPr>
          <a:xfrm>
            <a:off x="6102350" y="4437063"/>
            <a:ext cx="1414463"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Response</a:t>
            </a:r>
            <a:r>
              <a:rPr lang="zh-CN" altLang="en-US" sz="2000" dirty="0">
                <a:ea typeface="宋体" panose="02010600030101010101" pitchFamily="2" charset="-122"/>
              </a:rPr>
              <a:t> </a:t>
            </a:r>
            <a:endParaRPr lang="zh-CN" altLang="en-US" sz="20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30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2300"/>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230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30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30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30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3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0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30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3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3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3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3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3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315"/>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2303"/>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2304"/>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2305"/>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230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2307"/>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23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0" grpId="0" bldLvl="0"/>
      <p:bldP spid="12308" grpId="0" bldLvl="0"/>
      <p:bldP spid="12308" grpId="1" bldLvl="0"/>
      <p:bldP spid="12309" grpId="0" bldLvl="0"/>
      <p:bldP spid="12315" grpId="0" bldLvl="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vert="horz" wrap="square" lIns="91440" tIns="45720" rIns="91440" bIns="45720" anchor="ctr" anchorCtr="0"/>
          <a:lstStyle/>
          <a:p>
            <a:pPr algn="l" eaLnBrk="1" hangingPunct="1"/>
            <a:r>
              <a:rPr lang="en-US" altLang="zh-CN" dirty="0">
                <a:ea typeface="宋体" panose="02010600030101010101" pitchFamily="2" charset="-122"/>
              </a:rPr>
              <a:t>Classic Paxos</a:t>
            </a:r>
            <a:endParaRPr lang="zh-CN" altLang="en-US" dirty="0">
              <a:ea typeface="宋体" panose="02010600030101010101" pitchFamily="2" charset="-122"/>
            </a:endParaRPr>
          </a:p>
        </p:txBody>
      </p:sp>
      <p:sp>
        <p:nvSpPr>
          <p:cNvPr id="75779" name="内容占位符 2"/>
          <p:cNvSpPr>
            <a:spLocks noGrp="1"/>
          </p:cNvSpPr>
          <p:nvPr>
            <p:ph idx="1"/>
          </p:nvPr>
        </p:nvSpPr>
        <p:spPr>
          <a:xfrm>
            <a:off x="468313" y="1408113"/>
            <a:ext cx="8229600" cy="4525962"/>
          </a:xfrm>
        </p:spPr>
        <p:txBody>
          <a:bodyPr vert="horz" wrap="square" lIns="91440" tIns="45720" rIns="91440" bIns="45720" anchor="t" anchorCtr="0"/>
          <a:lstStyle/>
          <a:p>
            <a:pPr lvl="1" eaLnBrk="1" hangingPunct="1">
              <a:buSzPct val="60000"/>
              <a:buFont typeface="Wingdings" panose="05000000000000000000" pitchFamily="2" charset="2"/>
              <a:buChar char="p"/>
            </a:pPr>
            <a:r>
              <a:rPr lang="en-US" altLang="zh-CN" dirty="0">
                <a:ea typeface="宋体" panose="02010600030101010101" pitchFamily="2" charset="-122"/>
              </a:rPr>
              <a:t>Accept</a:t>
            </a:r>
            <a:endParaRPr lang="en-US" altLang="zh-CN" dirty="0">
              <a:ea typeface="宋体" panose="02010600030101010101" pitchFamily="2" charset="-122"/>
            </a:endParaRPr>
          </a:p>
        </p:txBody>
      </p:sp>
      <p:graphicFrame>
        <p:nvGraphicFramePr>
          <p:cNvPr id="75780" name="Object 4"/>
          <p:cNvGraphicFramePr/>
          <p:nvPr/>
        </p:nvGraphicFramePr>
        <p:xfrm>
          <a:off x="3132138" y="3933825"/>
          <a:ext cx="495300" cy="769938"/>
        </p:xfrm>
        <a:graphic>
          <a:graphicData uri="http://schemas.openxmlformats.org/presentationml/2006/ole">
            <mc:AlternateContent xmlns:mc="http://schemas.openxmlformats.org/markup-compatibility/2006">
              <mc:Choice xmlns:v="urn:schemas-microsoft-com:vml" Requires="v">
                <p:oleObj spid="_x0000_s4569" name="" r:id="rId1" imgW="673100" imgH="1054100" progId="Visio.Drawing.11">
                  <p:embed/>
                </p:oleObj>
              </mc:Choice>
              <mc:Fallback>
                <p:oleObj name="" r:id="rId1" imgW="673100" imgH="1054100" progId="Visio.Drawing.11">
                  <p:embed/>
                  <p:pic>
                    <p:nvPicPr>
                      <p:cNvPr id="0" name="图片 3085"/>
                      <p:cNvPicPr/>
                      <p:nvPr/>
                    </p:nvPicPr>
                    <p:blipFill>
                      <a:blip r:embed="rId2"/>
                      <a:stretch>
                        <a:fillRect/>
                      </a:stretch>
                    </p:blipFill>
                    <p:spPr>
                      <a:xfrm>
                        <a:off x="3132138" y="3933825"/>
                        <a:ext cx="495300" cy="769938"/>
                      </a:xfrm>
                      <a:prstGeom prst="rect">
                        <a:avLst/>
                      </a:prstGeom>
                      <a:noFill/>
                      <a:ln w="38100">
                        <a:noFill/>
                        <a:miter/>
                      </a:ln>
                    </p:spPr>
                  </p:pic>
                </p:oleObj>
              </mc:Fallback>
            </mc:AlternateContent>
          </a:graphicData>
        </a:graphic>
      </p:graphicFrame>
      <p:graphicFrame>
        <p:nvGraphicFramePr>
          <p:cNvPr id="75781" name="Object 5"/>
          <p:cNvGraphicFramePr/>
          <p:nvPr/>
        </p:nvGraphicFramePr>
        <p:xfrm>
          <a:off x="6372225" y="2997200"/>
          <a:ext cx="495300" cy="771525"/>
        </p:xfrm>
        <a:graphic>
          <a:graphicData uri="http://schemas.openxmlformats.org/presentationml/2006/ole">
            <mc:AlternateContent xmlns:mc="http://schemas.openxmlformats.org/markup-compatibility/2006">
              <mc:Choice xmlns:v="urn:schemas-microsoft-com:vml" Requires="v">
                <p:oleObj spid="_x0000_s4570" name="" r:id="rId3" imgW="673100" imgH="1054100" progId="Visio.Drawing.11">
                  <p:embed/>
                </p:oleObj>
              </mc:Choice>
              <mc:Fallback>
                <p:oleObj name="" r:id="rId3" imgW="673100" imgH="1054100" progId="Visio.Drawing.11">
                  <p:embed/>
                  <p:pic>
                    <p:nvPicPr>
                      <p:cNvPr id="0" name="图片 3087"/>
                      <p:cNvPicPr/>
                      <p:nvPr/>
                    </p:nvPicPr>
                    <p:blipFill>
                      <a:blip r:embed="rId4"/>
                      <a:stretch>
                        <a:fillRect/>
                      </a:stretch>
                    </p:blipFill>
                    <p:spPr>
                      <a:xfrm>
                        <a:off x="6372225" y="2997200"/>
                        <a:ext cx="495300" cy="771525"/>
                      </a:xfrm>
                      <a:prstGeom prst="rect">
                        <a:avLst/>
                      </a:prstGeom>
                      <a:noFill/>
                      <a:ln w="38100">
                        <a:noFill/>
                        <a:miter/>
                      </a:ln>
                    </p:spPr>
                  </p:pic>
                </p:oleObj>
              </mc:Fallback>
            </mc:AlternateContent>
          </a:graphicData>
        </a:graphic>
      </p:graphicFrame>
      <p:graphicFrame>
        <p:nvGraphicFramePr>
          <p:cNvPr id="75782" name="Object 6"/>
          <p:cNvGraphicFramePr/>
          <p:nvPr/>
        </p:nvGraphicFramePr>
        <p:xfrm>
          <a:off x="4076700" y="5033963"/>
          <a:ext cx="495300" cy="771525"/>
        </p:xfrm>
        <a:graphic>
          <a:graphicData uri="http://schemas.openxmlformats.org/presentationml/2006/ole">
            <mc:AlternateContent xmlns:mc="http://schemas.openxmlformats.org/markup-compatibility/2006">
              <mc:Choice xmlns:v="urn:schemas-microsoft-com:vml" Requires="v">
                <p:oleObj spid="_x0000_s4571" name="" r:id="rId5" imgW="673100" imgH="1054100" progId="Visio.Drawing.11">
                  <p:embed/>
                </p:oleObj>
              </mc:Choice>
              <mc:Fallback>
                <p:oleObj name="" r:id="rId5" imgW="673100" imgH="1054100" progId="Visio.Drawing.11">
                  <p:embed/>
                  <p:pic>
                    <p:nvPicPr>
                      <p:cNvPr id="0" name="图片 3084"/>
                      <p:cNvPicPr/>
                      <p:nvPr/>
                    </p:nvPicPr>
                    <p:blipFill>
                      <a:blip r:embed="rId6"/>
                      <a:stretch>
                        <a:fillRect/>
                      </a:stretch>
                    </p:blipFill>
                    <p:spPr>
                      <a:xfrm>
                        <a:off x="4076700" y="5033963"/>
                        <a:ext cx="495300" cy="771525"/>
                      </a:xfrm>
                      <a:prstGeom prst="rect">
                        <a:avLst/>
                      </a:prstGeom>
                      <a:noFill/>
                      <a:ln w="38100">
                        <a:noFill/>
                        <a:miter/>
                      </a:ln>
                    </p:spPr>
                  </p:pic>
                </p:oleObj>
              </mc:Fallback>
            </mc:AlternateContent>
          </a:graphicData>
        </a:graphic>
      </p:graphicFrame>
      <p:graphicFrame>
        <p:nvGraphicFramePr>
          <p:cNvPr id="75783" name="Object 7"/>
          <p:cNvGraphicFramePr/>
          <p:nvPr/>
        </p:nvGraphicFramePr>
        <p:xfrm>
          <a:off x="5084763" y="5033963"/>
          <a:ext cx="495300" cy="771525"/>
        </p:xfrm>
        <a:graphic>
          <a:graphicData uri="http://schemas.openxmlformats.org/presentationml/2006/ole">
            <mc:AlternateContent xmlns:mc="http://schemas.openxmlformats.org/markup-compatibility/2006">
              <mc:Choice xmlns:v="urn:schemas-microsoft-com:vml" Requires="v">
                <p:oleObj spid="_x0000_s4572" name="" r:id="rId7" imgW="673100" imgH="1054100" progId="Visio.Drawing.11">
                  <p:embed/>
                </p:oleObj>
              </mc:Choice>
              <mc:Fallback>
                <p:oleObj name="" r:id="rId7" imgW="673100" imgH="1054100" progId="Visio.Drawing.11">
                  <p:embed/>
                  <p:pic>
                    <p:nvPicPr>
                      <p:cNvPr id="0" name="图片 3088"/>
                      <p:cNvPicPr/>
                      <p:nvPr/>
                    </p:nvPicPr>
                    <p:blipFill>
                      <a:blip r:embed="rId8"/>
                      <a:stretch>
                        <a:fillRect/>
                      </a:stretch>
                    </p:blipFill>
                    <p:spPr>
                      <a:xfrm>
                        <a:off x="5084763" y="5033963"/>
                        <a:ext cx="495300" cy="771525"/>
                      </a:xfrm>
                      <a:prstGeom prst="rect">
                        <a:avLst/>
                      </a:prstGeom>
                      <a:noFill/>
                      <a:ln w="38100">
                        <a:noFill/>
                        <a:miter/>
                      </a:ln>
                    </p:spPr>
                  </p:pic>
                </p:oleObj>
              </mc:Fallback>
            </mc:AlternateContent>
          </a:graphicData>
        </a:graphic>
      </p:graphicFrame>
      <p:graphicFrame>
        <p:nvGraphicFramePr>
          <p:cNvPr id="75784" name="Object 8"/>
          <p:cNvGraphicFramePr/>
          <p:nvPr/>
        </p:nvGraphicFramePr>
        <p:xfrm>
          <a:off x="5948363" y="5033963"/>
          <a:ext cx="495300" cy="771525"/>
        </p:xfrm>
        <a:graphic>
          <a:graphicData uri="http://schemas.openxmlformats.org/presentationml/2006/ole">
            <mc:AlternateContent xmlns:mc="http://schemas.openxmlformats.org/markup-compatibility/2006">
              <mc:Choice xmlns:v="urn:schemas-microsoft-com:vml" Requires="v">
                <p:oleObj spid="_x0000_s4573" name="" r:id="rId9" imgW="673100" imgH="1054100" progId="Visio.Drawing.11">
                  <p:embed/>
                </p:oleObj>
              </mc:Choice>
              <mc:Fallback>
                <p:oleObj name="" r:id="rId9" imgW="673100" imgH="1054100" progId="Visio.Drawing.11">
                  <p:embed/>
                  <p:pic>
                    <p:nvPicPr>
                      <p:cNvPr id="0" name="图片 3089"/>
                      <p:cNvPicPr/>
                      <p:nvPr/>
                    </p:nvPicPr>
                    <p:blipFill>
                      <a:blip r:embed="rId8"/>
                      <a:stretch>
                        <a:fillRect/>
                      </a:stretch>
                    </p:blipFill>
                    <p:spPr>
                      <a:xfrm>
                        <a:off x="5948363" y="5033963"/>
                        <a:ext cx="495300" cy="771525"/>
                      </a:xfrm>
                      <a:prstGeom prst="rect">
                        <a:avLst/>
                      </a:prstGeom>
                      <a:noFill/>
                      <a:ln w="38100">
                        <a:noFill/>
                        <a:miter/>
                      </a:ln>
                    </p:spPr>
                  </p:pic>
                </p:oleObj>
              </mc:Fallback>
            </mc:AlternateContent>
          </a:graphicData>
        </a:graphic>
      </p:graphicFrame>
      <p:graphicFrame>
        <p:nvGraphicFramePr>
          <p:cNvPr id="75785" name="Object 9"/>
          <p:cNvGraphicFramePr/>
          <p:nvPr/>
        </p:nvGraphicFramePr>
        <p:xfrm>
          <a:off x="6813550" y="5033963"/>
          <a:ext cx="495300" cy="771525"/>
        </p:xfrm>
        <a:graphic>
          <a:graphicData uri="http://schemas.openxmlformats.org/presentationml/2006/ole">
            <mc:AlternateContent xmlns:mc="http://schemas.openxmlformats.org/markup-compatibility/2006">
              <mc:Choice xmlns:v="urn:schemas-microsoft-com:vml" Requires="v">
                <p:oleObj spid="_x0000_s4574" name="" r:id="rId10" imgW="673100" imgH="1054100" progId="Visio.Drawing.11">
                  <p:embed/>
                </p:oleObj>
              </mc:Choice>
              <mc:Fallback>
                <p:oleObj name="" r:id="rId10" imgW="673100" imgH="1054100" progId="Visio.Drawing.11">
                  <p:embed/>
                  <p:pic>
                    <p:nvPicPr>
                      <p:cNvPr id="0" name="图片 3083"/>
                      <p:cNvPicPr/>
                      <p:nvPr/>
                    </p:nvPicPr>
                    <p:blipFill>
                      <a:blip r:embed="rId8"/>
                      <a:stretch>
                        <a:fillRect/>
                      </a:stretch>
                    </p:blipFill>
                    <p:spPr>
                      <a:xfrm>
                        <a:off x="6813550" y="5033963"/>
                        <a:ext cx="495300" cy="771525"/>
                      </a:xfrm>
                      <a:prstGeom prst="rect">
                        <a:avLst/>
                      </a:prstGeom>
                      <a:noFill/>
                      <a:ln w="38100">
                        <a:noFill/>
                        <a:miter/>
                      </a:ln>
                    </p:spPr>
                  </p:pic>
                </p:oleObj>
              </mc:Fallback>
            </mc:AlternateContent>
          </a:graphicData>
        </a:graphic>
      </p:graphicFrame>
      <p:graphicFrame>
        <p:nvGraphicFramePr>
          <p:cNvPr id="75786" name="Object 10"/>
          <p:cNvGraphicFramePr/>
          <p:nvPr/>
        </p:nvGraphicFramePr>
        <p:xfrm>
          <a:off x="7677150" y="5033963"/>
          <a:ext cx="495300" cy="771525"/>
        </p:xfrm>
        <a:graphic>
          <a:graphicData uri="http://schemas.openxmlformats.org/presentationml/2006/ole">
            <mc:AlternateContent xmlns:mc="http://schemas.openxmlformats.org/markup-compatibility/2006">
              <mc:Choice xmlns:v="urn:schemas-microsoft-com:vml" Requires="v">
                <p:oleObj spid="_x0000_s4575" name="" r:id="rId11" imgW="673100" imgH="1054100" progId="Visio.Drawing.11">
                  <p:embed/>
                </p:oleObj>
              </mc:Choice>
              <mc:Fallback>
                <p:oleObj name="" r:id="rId11" imgW="673100" imgH="1054100" progId="Visio.Drawing.11">
                  <p:embed/>
                  <p:pic>
                    <p:nvPicPr>
                      <p:cNvPr id="0" name="图片 3086"/>
                      <p:cNvPicPr/>
                      <p:nvPr/>
                    </p:nvPicPr>
                    <p:blipFill>
                      <a:blip r:embed="rId8"/>
                      <a:stretch>
                        <a:fillRect/>
                      </a:stretch>
                    </p:blipFill>
                    <p:spPr>
                      <a:xfrm>
                        <a:off x="7677150" y="5033963"/>
                        <a:ext cx="495300" cy="771525"/>
                      </a:xfrm>
                      <a:prstGeom prst="rect">
                        <a:avLst/>
                      </a:prstGeom>
                      <a:noFill/>
                      <a:ln w="38100">
                        <a:noFill/>
                        <a:miter/>
                      </a:ln>
                    </p:spPr>
                  </p:pic>
                </p:oleObj>
              </mc:Fallback>
            </mc:AlternateContent>
          </a:graphicData>
        </a:graphic>
      </p:graphicFrame>
      <p:graphicFrame>
        <p:nvGraphicFramePr>
          <p:cNvPr id="75787" name="Object 11"/>
          <p:cNvGraphicFramePr/>
          <p:nvPr/>
        </p:nvGraphicFramePr>
        <p:xfrm>
          <a:off x="446088" y="4675188"/>
          <a:ext cx="2668587" cy="1501775"/>
        </p:xfrm>
        <a:graphic>
          <a:graphicData uri="http://schemas.openxmlformats.org/presentationml/2006/ole">
            <mc:AlternateContent xmlns:mc="http://schemas.openxmlformats.org/markup-compatibility/2006">
              <mc:Choice xmlns:v="urn:schemas-microsoft-com:vml" Requires="v">
                <p:oleObj spid="_x0000_s4576" name="" r:id="rId12" imgW="3009900" imgH="1968500" progId="Visio.Drawing.11">
                  <p:embed/>
                </p:oleObj>
              </mc:Choice>
              <mc:Fallback>
                <p:oleObj name="" r:id="rId12" imgW="3009900" imgH="1968500" progId="Visio.Drawing.11">
                  <p:embed/>
                  <p:pic>
                    <p:nvPicPr>
                      <p:cNvPr id="0" name="图片 3090"/>
                      <p:cNvPicPr/>
                      <p:nvPr/>
                    </p:nvPicPr>
                    <p:blipFill>
                      <a:blip r:embed="rId13"/>
                      <a:stretch>
                        <a:fillRect/>
                      </a:stretch>
                    </p:blipFill>
                    <p:spPr>
                      <a:xfrm>
                        <a:off x="446088" y="4675188"/>
                        <a:ext cx="2668587" cy="1501775"/>
                      </a:xfrm>
                      <a:prstGeom prst="rect">
                        <a:avLst/>
                      </a:prstGeom>
                      <a:noFill/>
                      <a:ln w="38100">
                        <a:noFill/>
                        <a:miter/>
                      </a:ln>
                    </p:spPr>
                  </p:pic>
                </p:oleObj>
              </mc:Fallback>
            </mc:AlternateContent>
          </a:graphicData>
        </a:graphic>
      </p:graphicFrame>
      <p:sp>
        <p:nvSpPr>
          <p:cNvPr id="75788" name="Text Box 12"/>
          <p:cNvSpPr txBox="1"/>
          <p:nvPr/>
        </p:nvSpPr>
        <p:spPr>
          <a:xfrm>
            <a:off x="5867400" y="5589588"/>
            <a:ext cx="998538"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abc = </a:t>
            </a:r>
            <a:r>
              <a:rPr lang="en-US" altLang="zh-CN" sz="2000" dirty="0">
                <a:ea typeface="宋体" panose="02010600030101010101" pitchFamily="2" charset="-122"/>
              </a:rPr>
              <a:t>X</a:t>
            </a:r>
            <a:endParaRPr lang="zh-CN" altLang="en-US" sz="2000" dirty="0">
              <a:ea typeface="宋体" panose="02010600030101010101" pitchFamily="2" charset="-122"/>
            </a:endParaRPr>
          </a:p>
        </p:txBody>
      </p:sp>
      <p:sp>
        <p:nvSpPr>
          <p:cNvPr id="14349" name="Text Box 13"/>
          <p:cNvSpPr txBox="1"/>
          <p:nvPr/>
        </p:nvSpPr>
        <p:spPr>
          <a:xfrm>
            <a:off x="4959350" y="6207125"/>
            <a:ext cx="3743325"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Accept (1, set abc=0) &amp;&amp; Promise</a:t>
            </a:r>
            <a:endParaRPr lang="zh-CN" altLang="en-US" sz="2000" dirty="0">
              <a:ea typeface="宋体" panose="02010600030101010101" pitchFamily="2" charset="-122"/>
            </a:endParaRPr>
          </a:p>
        </p:txBody>
      </p:sp>
      <p:sp>
        <p:nvSpPr>
          <p:cNvPr id="75790" name="箭头 216"/>
          <p:cNvSpPr/>
          <p:nvPr/>
        </p:nvSpPr>
        <p:spPr>
          <a:xfrm flipH="1">
            <a:off x="4427538" y="3357563"/>
            <a:ext cx="2016125" cy="1800225"/>
          </a:xfrm>
          <a:prstGeom prst="line">
            <a:avLst/>
          </a:prstGeom>
          <a:ln w="19050" cap="flat" cmpd="sng">
            <a:solidFill>
              <a:schemeClr val="tx1"/>
            </a:solidFill>
            <a:prstDash val="solid"/>
            <a:headEnd type="none" w="med" len="med"/>
            <a:tailEnd type="triangle" w="med" len="med"/>
          </a:ln>
        </p:spPr>
      </p:sp>
      <p:sp>
        <p:nvSpPr>
          <p:cNvPr id="75791" name="箭头 216"/>
          <p:cNvSpPr/>
          <p:nvPr/>
        </p:nvSpPr>
        <p:spPr>
          <a:xfrm flipH="1">
            <a:off x="5435600" y="3429000"/>
            <a:ext cx="1081088" cy="1728788"/>
          </a:xfrm>
          <a:prstGeom prst="line">
            <a:avLst/>
          </a:prstGeom>
          <a:ln w="19050" cap="flat" cmpd="sng">
            <a:solidFill>
              <a:schemeClr val="tx1"/>
            </a:solidFill>
            <a:prstDash val="solid"/>
            <a:headEnd type="none" w="med" len="med"/>
            <a:tailEnd type="triangle" w="med" len="med"/>
          </a:ln>
        </p:spPr>
      </p:sp>
      <p:sp>
        <p:nvSpPr>
          <p:cNvPr id="75792" name="箭头 216"/>
          <p:cNvSpPr/>
          <p:nvPr/>
        </p:nvSpPr>
        <p:spPr>
          <a:xfrm flipH="1">
            <a:off x="6299200" y="3502025"/>
            <a:ext cx="288925" cy="1655763"/>
          </a:xfrm>
          <a:prstGeom prst="line">
            <a:avLst/>
          </a:prstGeom>
          <a:ln w="19050" cap="flat" cmpd="sng">
            <a:solidFill>
              <a:schemeClr val="tx1"/>
            </a:solidFill>
            <a:prstDash val="solid"/>
            <a:headEnd type="none" w="med" len="med"/>
            <a:tailEnd type="triangle" w="med" len="med"/>
          </a:ln>
        </p:spPr>
      </p:sp>
      <p:sp>
        <p:nvSpPr>
          <p:cNvPr id="75793" name="箭头 216"/>
          <p:cNvSpPr/>
          <p:nvPr/>
        </p:nvSpPr>
        <p:spPr>
          <a:xfrm>
            <a:off x="6661150" y="3502025"/>
            <a:ext cx="285750" cy="1655763"/>
          </a:xfrm>
          <a:prstGeom prst="line">
            <a:avLst/>
          </a:prstGeom>
          <a:ln w="19050" cap="flat" cmpd="sng">
            <a:solidFill>
              <a:schemeClr val="tx1"/>
            </a:solidFill>
            <a:prstDash val="solid"/>
            <a:headEnd type="none" w="med" len="med"/>
            <a:tailEnd type="triangle" w="med" len="med"/>
          </a:ln>
        </p:spPr>
      </p:sp>
      <p:sp>
        <p:nvSpPr>
          <p:cNvPr id="75794" name="箭头 216"/>
          <p:cNvSpPr/>
          <p:nvPr/>
        </p:nvSpPr>
        <p:spPr>
          <a:xfrm>
            <a:off x="6804025" y="3429000"/>
            <a:ext cx="1008063" cy="1728788"/>
          </a:xfrm>
          <a:prstGeom prst="line">
            <a:avLst/>
          </a:prstGeom>
          <a:ln w="19050" cap="flat" cmpd="sng">
            <a:solidFill>
              <a:schemeClr val="tx1"/>
            </a:solidFill>
            <a:prstDash val="solid"/>
            <a:headEnd type="none" w="med" len="med"/>
            <a:tailEnd type="triangle" w="med" len="med"/>
          </a:ln>
        </p:spPr>
      </p:sp>
      <p:sp>
        <p:nvSpPr>
          <p:cNvPr id="75795" name="Text Box 19"/>
          <p:cNvSpPr txBox="1"/>
          <p:nvPr/>
        </p:nvSpPr>
        <p:spPr>
          <a:xfrm>
            <a:off x="5724525" y="4198938"/>
            <a:ext cx="1655763"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(1, set abc=0) </a:t>
            </a:r>
            <a:endParaRPr lang="zh-CN" altLang="en-US" sz="2000" dirty="0">
              <a:ea typeface="宋体" panose="02010600030101010101" pitchFamily="2" charset="-122"/>
            </a:endParaRPr>
          </a:p>
        </p:txBody>
      </p:sp>
      <p:sp>
        <p:nvSpPr>
          <p:cNvPr id="20" name="Text Box 21"/>
          <p:cNvSpPr txBox="1"/>
          <p:nvPr/>
        </p:nvSpPr>
        <p:spPr>
          <a:xfrm>
            <a:off x="5060950" y="5948363"/>
            <a:ext cx="3744913"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Response</a:t>
            </a:r>
            <a:r>
              <a:rPr lang="zh-CN" altLang="en-US" sz="2000" dirty="0">
                <a:ea typeface="宋体" panose="02010600030101010101" pitchFamily="2" charset="-122"/>
              </a:rPr>
              <a:t> (1) &amp;&amp; Promise</a:t>
            </a:r>
            <a:endParaRPr lang="zh-CN" altLang="en-US" sz="20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43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9" grpId="0"/>
      <p:bldP spid="2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vert="horz" wrap="square" lIns="91440" tIns="45720" rIns="91440" bIns="45720" anchor="ctr" anchorCtr="0"/>
          <a:lstStyle/>
          <a:p>
            <a:pPr algn="l" eaLnBrk="1" hangingPunct="1"/>
            <a:r>
              <a:rPr lang="en-US" altLang="zh-CN" dirty="0">
                <a:ea typeface="宋体" panose="02010600030101010101" pitchFamily="2" charset="-122"/>
              </a:rPr>
              <a:t>Classic Paxos</a:t>
            </a:r>
            <a:endParaRPr lang="zh-CN" altLang="en-US" dirty="0">
              <a:ea typeface="宋体" panose="02010600030101010101" pitchFamily="2" charset="-122"/>
            </a:endParaRPr>
          </a:p>
        </p:txBody>
      </p:sp>
      <p:sp>
        <p:nvSpPr>
          <p:cNvPr id="76803" name="内容占位符 2"/>
          <p:cNvSpPr>
            <a:spLocks noGrp="1"/>
          </p:cNvSpPr>
          <p:nvPr>
            <p:ph idx="1"/>
          </p:nvPr>
        </p:nvSpPr>
        <p:spPr>
          <a:xfrm>
            <a:off x="468313" y="1557338"/>
            <a:ext cx="8229600" cy="4525962"/>
          </a:xfrm>
        </p:spPr>
        <p:txBody>
          <a:bodyPr vert="horz" wrap="square" lIns="91440" tIns="45720" rIns="91440" bIns="45720" anchor="t" anchorCtr="0"/>
          <a:lstStyle/>
          <a:p>
            <a:pPr lvl="1" eaLnBrk="1" hangingPunct="1">
              <a:buSzPct val="60000"/>
              <a:buFont typeface="Wingdings" panose="05000000000000000000" pitchFamily="2" charset="2"/>
              <a:buChar char="p"/>
            </a:pPr>
            <a:r>
              <a:rPr lang="en-US" altLang="zh-CN" dirty="0">
                <a:ea typeface="宋体" panose="02010600030101010101" pitchFamily="2" charset="-122"/>
              </a:rPr>
              <a:t>Accept</a:t>
            </a:r>
            <a:endParaRPr lang="en-US" altLang="zh-CN" dirty="0">
              <a:ea typeface="宋体" panose="02010600030101010101" pitchFamily="2" charset="-122"/>
            </a:endParaRPr>
          </a:p>
          <a:p>
            <a:pPr lvl="1" eaLnBrk="1" hangingPunct="1">
              <a:buSzPct val="60000"/>
              <a:buNone/>
            </a:pPr>
            <a:endParaRPr lang="en-US" altLang="zh-CN" dirty="0">
              <a:ea typeface="宋体" panose="02010600030101010101" pitchFamily="2" charset="-122"/>
            </a:endParaRPr>
          </a:p>
        </p:txBody>
      </p:sp>
      <p:graphicFrame>
        <p:nvGraphicFramePr>
          <p:cNvPr id="76804" name="Object 4"/>
          <p:cNvGraphicFramePr/>
          <p:nvPr/>
        </p:nvGraphicFramePr>
        <p:xfrm>
          <a:off x="3132138" y="3933825"/>
          <a:ext cx="495300" cy="769938"/>
        </p:xfrm>
        <a:graphic>
          <a:graphicData uri="http://schemas.openxmlformats.org/presentationml/2006/ole">
            <mc:AlternateContent xmlns:mc="http://schemas.openxmlformats.org/markup-compatibility/2006">
              <mc:Choice xmlns:v="urn:schemas-microsoft-com:vml" Requires="v">
                <p:oleObj spid="_x0000_s5593" name="" r:id="rId1" imgW="673100" imgH="1054100" progId="Visio.Drawing.11">
                  <p:embed/>
                </p:oleObj>
              </mc:Choice>
              <mc:Fallback>
                <p:oleObj name="" r:id="rId1" imgW="673100" imgH="1054100" progId="Visio.Drawing.11">
                  <p:embed/>
                  <p:pic>
                    <p:nvPicPr>
                      <p:cNvPr id="0" name="图片 3093"/>
                      <p:cNvPicPr/>
                      <p:nvPr/>
                    </p:nvPicPr>
                    <p:blipFill>
                      <a:blip r:embed="rId2"/>
                      <a:stretch>
                        <a:fillRect/>
                      </a:stretch>
                    </p:blipFill>
                    <p:spPr>
                      <a:xfrm>
                        <a:off x="3132138" y="3933825"/>
                        <a:ext cx="495300" cy="769938"/>
                      </a:xfrm>
                      <a:prstGeom prst="rect">
                        <a:avLst/>
                      </a:prstGeom>
                      <a:noFill/>
                      <a:ln w="38100">
                        <a:noFill/>
                        <a:miter/>
                      </a:ln>
                    </p:spPr>
                  </p:pic>
                </p:oleObj>
              </mc:Fallback>
            </mc:AlternateContent>
          </a:graphicData>
        </a:graphic>
      </p:graphicFrame>
      <p:graphicFrame>
        <p:nvGraphicFramePr>
          <p:cNvPr id="76805" name="Object 5"/>
          <p:cNvGraphicFramePr/>
          <p:nvPr/>
        </p:nvGraphicFramePr>
        <p:xfrm>
          <a:off x="6372225" y="2997200"/>
          <a:ext cx="495300" cy="771525"/>
        </p:xfrm>
        <a:graphic>
          <a:graphicData uri="http://schemas.openxmlformats.org/presentationml/2006/ole">
            <mc:AlternateContent xmlns:mc="http://schemas.openxmlformats.org/markup-compatibility/2006">
              <mc:Choice xmlns:v="urn:schemas-microsoft-com:vml" Requires="v">
                <p:oleObj spid="_x0000_s5594" name="" r:id="rId3" imgW="673100" imgH="1054100" progId="Visio.Drawing.11">
                  <p:embed/>
                </p:oleObj>
              </mc:Choice>
              <mc:Fallback>
                <p:oleObj name="" r:id="rId3" imgW="673100" imgH="1054100" progId="Visio.Drawing.11">
                  <p:embed/>
                  <p:pic>
                    <p:nvPicPr>
                      <p:cNvPr id="0" name="图片 3097"/>
                      <p:cNvPicPr/>
                      <p:nvPr/>
                    </p:nvPicPr>
                    <p:blipFill>
                      <a:blip r:embed="rId4"/>
                      <a:stretch>
                        <a:fillRect/>
                      </a:stretch>
                    </p:blipFill>
                    <p:spPr>
                      <a:xfrm>
                        <a:off x="6372225" y="2997200"/>
                        <a:ext cx="495300" cy="771525"/>
                      </a:xfrm>
                      <a:prstGeom prst="rect">
                        <a:avLst/>
                      </a:prstGeom>
                      <a:noFill/>
                      <a:ln w="38100">
                        <a:noFill/>
                        <a:miter/>
                      </a:ln>
                    </p:spPr>
                  </p:pic>
                </p:oleObj>
              </mc:Fallback>
            </mc:AlternateContent>
          </a:graphicData>
        </a:graphic>
      </p:graphicFrame>
      <p:graphicFrame>
        <p:nvGraphicFramePr>
          <p:cNvPr id="76806" name="Object 6"/>
          <p:cNvGraphicFramePr/>
          <p:nvPr/>
        </p:nvGraphicFramePr>
        <p:xfrm>
          <a:off x="4076700" y="5033963"/>
          <a:ext cx="495300" cy="771525"/>
        </p:xfrm>
        <a:graphic>
          <a:graphicData uri="http://schemas.openxmlformats.org/presentationml/2006/ole">
            <mc:AlternateContent xmlns:mc="http://schemas.openxmlformats.org/markup-compatibility/2006">
              <mc:Choice xmlns:v="urn:schemas-microsoft-com:vml" Requires="v">
                <p:oleObj spid="_x0000_s5595" name="" r:id="rId5" imgW="673100" imgH="1054100" progId="Visio.Drawing.11">
                  <p:embed/>
                </p:oleObj>
              </mc:Choice>
              <mc:Fallback>
                <p:oleObj name="" r:id="rId5" imgW="673100" imgH="1054100" progId="Visio.Drawing.11">
                  <p:embed/>
                  <p:pic>
                    <p:nvPicPr>
                      <p:cNvPr id="0" name="图片 3092"/>
                      <p:cNvPicPr/>
                      <p:nvPr/>
                    </p:nvPicPr>
                    <p:blipFill>
                      <a:blip r:embed="rId6"/>
                      <a:stretch>
                        <a:fillRect/>
                      </a:stretch>
                    </p:blipFill>
                    <p:spPr>
                      <a:xfrm>
                        <a:off x="4076700" y="5033963"/>
                        <a:ext cx="495300" cy="771525"/>
                      </a:xfrm>
                      <a:prstGeom prst="rect">
                        <a:avLst/>
                      </a:prstGeom>
                      <a:noFill/>
                      <a:ln w="38100">
                        <a:noFill/>
                        <a:miter/>
                      </a:ln>
                    </p:spPr>
                  </p:pic>
                </p:oleObj>
              </mc:Fallback>
            </mc:AlternateContent>
          </a:graphicData>
        </a:graphic>
      </p:graphicFrame>
      <p:graphicFrame>
        <p:nvGraphicFramePr>
          <p:cNvPr id="76807" name="Object 7"/>
          <p:cNvGraphicFramePr/>
          <p:nvPr/>
        </p:nvGraphicFramePr>
        <p:xfrm>
          <a:off x="5084763" y="5033963"/>
          <a:ext cx="495300" cy="771525"/>
        </p:xfrm>
        <a:graphic>
          <a:graphicData uri="http://schemas.openxmlformats.org/presentationml/2006/ole">
            <mc:AlternateContent xmlns:mc="http://schemas.openxmlformats.org/markup-compatibility/2006">
              <mc:Choice xmlns:v="urn:schemas-microsoft-com:vml" Requires="v">
                <p:oleObj spid="_x0000_s5596" name="" r:id="rId7" imgW="673100" imgH="1054100" progId="Visio.Drawing.11">
                  <p:embed/>
                </p:oleObj>
              </mc:Choice>
              <mc:Fallback>
                <p:oleObj name="" r:id="rId7" imgW="673100" imgH="1054100" progId="Visio.Drawing.11">
                  <p:embed/>
                  <p:pic>
                    <p:nvPicPr>
                      <p:cNvPr id="0" name="图片 3099"/>
                      <p:cNvPicPr/>
                      <p:nvPr/>
                    </p:nvPicPr>
                    <p:blipFill>
                      <a:blip r:embed="rId8"/>
                      <a:stretch>
                        <a:fillRect/>
                      </a:stretch>
                    </p:blipFill>
                    <p:spPr>
                      <a:xfrm>
                        <a:off x="5084763" y="5033963"/>
                        <a:ext cx="495300" cy="771525"/>
                      </a:xfrm>
                      <a:prstGeom prst="rect">
                        <a:avLst/>
                      </a:prstGeom>
                      <a:noFill/>
                      <a:ln w="38100">
                        <a:noFill/>
                        <a:miter/>
                      </a:ln>
                    </p:spPr>
                  </p:pic>
                </p:oleObj>
              </mc:Fallback>
            </mc:AlternateContent>
          </a:graphicData>
        </a:graphic>
      </p:graphicFrame>
      <p:graphicFrame>
        <p:nvGraphicFramePr>
          <p:cNvPr id="76808" name="Object 8"/>
          <p:cNvGraphicFramePr/>
          <p:nvPr/>
        </p:nvGraphicFramePr>
        <p:xfrm>
          <a:off x="5948363" y="5033963"/>
          <a:ext cx="495300" cy="771525"/>
        </p:xfrm>
        <a:graphic>
          <a:graphicData uri="http://schemas.openxmlformats.org/presentationml/2006/ole">
            <mc:AlternateContent xmlns:mc="http://schemas.openxmlformats.org/markup-compatibility/2006">
              <mc:Choice xmlns:v="urn:schemas-microsoft-com:vml" Requires="v">
                <p:oleObj spid="_x0000_s5597" name="" r:id="rId9" imgW="673100" imgH="1054100" progId="Visio.Drawing.11">
                  <p:embed/>
                </p:oleObj>
              </mc:Choice>
              <mc:Fallback>
                <p:oleObj name="" r:id="rId9" imgW="673100" imgH="1054100" progId="Visio.Drawing.11">
                  <p:embed/>
                  <p:pic>
                    <p:nvPicPr>
                      <p:cNvPr id="0" name="图片 3094"/>
                      <p:cNvPicPr/>
                      <p:nvPr/>
                    </p:nvPicPr>
                    <p:blipFill>
                      <a:blip r:embed="rId8"/>
                      <a:stretch>
                        <a:fillRect/>
                      </a:stretch>
                    </p:blipFill>
                    <p:spPr>
                      <a:xfrm>
                        <a:off x="5948363" y="5033963"/>
                        <a:ext cx="495300" cy="771525"/>
                      </a:xfrm>
                      <a:prstGeom prst="rect">
                        <a:avLst/>
                      </a:prstGeom>
                      <a:noFill/>
                      <a:ln w="38100">
                        <a:noFill/>
                        <a:miter/>
                      </a:ln>
                    </p:spPr>
                  </p:pic>
                </p:oleObj>
              </mc:Fallback>
            </mc:AlternateContent>
          </a:graphicData>
        </a:graphic>
      </p:graphicFrame>
      <p:graphicFrame>
        <p:nvGraphicFramePr>
          <p:cNvPr id="76809" name="Object 9"/>
          <p:cNvGraphicFramePr/>
          <p:nvPr/>
        </p:nvGraphicFramePr>
        <p:xfrm>
          <a:off x="6813550" y="5033963"/>
          <a:ext cx="495300" cy="771525"/>
        </p:xfrm>
        <a:graphic>
          <a:graphicData uri="http://schemas.openxmlformats.org/presentationml/2006/ole">
            <mc:AlternateContent xmlns:mc="http://schemas.openxmlformats.org/markup-compatibility/2006">
              <mc:Choice xmlns:v="urn:schemas-microsoft-com:vml" Requires="v">
                <p:oleObj spid="_x0000_s5598" name="" r:id="rId10" imgW="673100" imgH="1054100" progId="Visio.Drawing.11">
                  <p:embed/>
                </p:oleObj>
              </mc:Choice>
              <mc:Fallback>
                <p:oleObj name="" r:id="rId10" imgW="673100" imgH="1054100" progId="Visio.Drawing.11">
                  <p:embed/>
                  <p:pic>
                    <p:nvPicPr>
                      <p:cNvPr id="0" name="图片 3096"/>
                      <p:cNvPicPr/>
                      <p:nvPr/>
                    </p:nvPicPr>
                    <p:blipFill>
                      <a:blip r:embed="rId8"/>
                      <a:stretch>
                        <a:fillRect/>
                      </a:stretch>
                    </p:blipFill>
                    <p:spPr>
                      <a:xfrm>
                        <a:off x="6813550" y="5033963"/>
                        <a:ext cx="495300" cy="771525"/>
                      </a:xfrm>
                      <a:prstGeom prst="rect">
                        <a:avLst/>
                      </a:prstGeom>
                      <a:noFill/>
                      <a:ln w="38100">
                        <a:noFill/>
                        <a:miter/>
                      </a:ln>
                    </p:spPr>
                  </p:pic>
                </p:oleObj>
              </mc:Fallback>
            </mc:AlternateContent>
          </a:graphicData>
        </a:graphic>
      </p:graphicFrame>
      <p:graphicFrame>
        <p:nvGraphicFramePr>
          <p:cNvPr id="76810" name="Object 10"/>
          <p:cNvGraphicFramePr/>
          <p:nvPr/>
        </p:nvGraphicFramePr>
        <p:xfrm>
          <a:off x="7677150" y="5033963"/>
          <a:ext cx="495300" cy="771525"/>
        </p:xfrm>
        <a:graphic>
          <a:graphicData uri="http://schemas.openxmlformats.org/presentationml/2006/ole">
            <mc:AlternateContent xmlns:mc="http://schemas.openxmlformats.org/markup-compatibility/2006">
              <mc:Choice xmlns:v="urn:schemas-microsoft-com:vml" Requires="v">
                <p:oleObj spid="_x0000_s5599" name="" r:id="rId11" imgW="673100" imgH="1054100" progId="Visio.Drawing.11">
                  <p:embed/>
                </p:oleObj>
              </mc:Choice>
              <mc:Fallback>
                <p:oleObj name="" r:id="rId11" imgW="673100" imgH="1054100" progId="Visio.Drawing.11">
                  <p:embed/>
                  <p:pic>
                    <p:nvPicPr>
                      <p:cNvPr id="0" name="图片 3098"/>
                      <p:cNvPicPr/>
                      <p:nvPr/>
                    </p:nvPicPr>
                    <p:blipFill>
                      <a:blip r:embed="rId8"/>
                      <a:stretch>
                        <a:fillRect/>
                      </a:stretch>
                    </p:blipFill>
                    <p:spPr>
                      <a:xfrm>
                        <a:off x="7677150" y="5033963"/>
                        <a:ext cx="495300" cy="771525"/>
                      </a:xfrm>
                      <a:prstGeom prst="rect">
                        <a:avLst/>
                      </a:prstGeom>
                      <a:noFill/>
                      <a:ln w="38100">
                        <a:noFill/>
                        <a:miter/>
                      </a:ln>
                    </p:spPr>
                  </p:pic>
                </p:oleObj>
              </mc:Fallback>
            </mc:AlternateContent>
          </a:graphicData>
        </a:graphic>
      </p:graphicFrame>
      <p:graphicFrame>
        <p:nvGraphicFramePr>
          <p:cNvPr id="76811" name="Object 11"/>
          <p:cNvGraphicFramePr/>
          <p:nvPr/>
        </p:nvGraphicFramePr>
        <p:xfrm>
          <a:off x="684213" y="4797425"/>
          <a:ext cx="2238375" cy="1457325"/>
        </p:xfrm>
        <a:graphic>
          <a:graphicData uri="http://schemas.openxmlformats.org/presentationml/2006/ole">
            <mc:AlternateContent xmlns:mc="http://schemas.openxmlformats.org/markup-compatibility/2006">
              <mc:Choice xmlns:v="urn:schemas-microsoft-com:vml" Requires="v">
                <p:oleObj spid="_x0000_s5600" name="" r:id="rId12" imgW="3009900" imgH="1968500" progId="Visio.Drawing.11">
                  <p:embed/>
                </p:oleObj>
              </mc:Choice>
              <mc:Fallback>
                <p:oleObj name="" r:id="rId12" imgW="3009900" imgH="1968500" progId="Visio.Drawing.11">
                  <p:embed/>
                  <p:pic>
                    <p:nvPicPr>
                      <p:cNvPr id="0" name="图片 3091"/>
                      <p:cNvPicPr/>
                      <p:nvPr/>
                    </p:nvPicPr>
                    <p:blipFill>
                      <a:blip r:embed="rId13"/>
                      <a:stretch>
                        <a:fillRect/>
                      </a:stretch>
                    </p:blipFill>
                    <p:spPr>
                      <a:xfrm>
                        <a:off x="684213" y="4797425"/>
                        <a:ext cx="2238375" cy="1457325"/>
                      </a:xfrm>
                      <a:prstGeom prst="rect">
                        <a:avLst/>
                      </a:prstGeom>
                      <a:noFill/>
                      <a:ln w="38100">
                        <a:noFill/>
                        <a:miter/>
                      </a:ln>
                    </p:spPr>
                  </p:pic>
                </p:oleObj>
              </mc:Fallback>
            </mc:AlternateContent>
          </a:graphicData>
        </a:graphic>
      </p:graphicFrame>
      <p:sp>
        <p:nvSpPr>
          <p:cNvPr id="76812" name="Text Box 12"/>
          <p:cNvSpPr txBox="1"/>
          <p:nvPr/>
        </p:nvSpPr>
        <p:spPr>
          <a:xfrm>
            <a:off x="5867400" y="5589588"/>
            <a:ext cx="939800" cy="365125"/>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zh-CN" sz="2400" dirty="0">
                <a:ea typeface="宋体" panose="02010600030101010101" pitchFamily="2" charset="-122"/>
              </a:rPr>
              <a:t>abc = 0</a:t>
            </a:r>
            <a:endParaRPr lang="zh-CN" altLang="zh-CN" sz="2400" dirty="0">
              <a:ea typeface="宋体" panose="02010600030101010101" pitchFamily="2" charset="-122"/>
            </a:endParaRPr>
          </a:p>
        </p:txBody>
      </p:sp>
      <p:sp>
        <p:nvSpPr>
          <p:cNvPr id="76813" name="箭头 216"/>
          <p:cNvSpPr/>
          <p:nvPr/>
        </p:nvSpPr>
        <p:spPr>
          <a:xfrm flipH="1">
            <a:off x="4427538" y="3357563"/>
            <a:ext cx="2016125" cy="1800225"/>
          </a:xfrm>
          <a:prstGeom prst="line">
            <a:avLst/>
          </a:prstGeom>
          <a:ln w="19050" cap="flat" cmpd="sng">
            <a:solidFill>
              <a:srgbClr val="FF0000"/>
            </a:solidFill>
            <a:prstDash val="solid"/>
            <a:headEnd type="triangle" w="med" len="med"/>
            <a:tailEnd type="none" w="med" len="med"/>
          </a:ln>
        </p:spPr>
      </p:sp>
      <p:sp>
        <p:nvSpPr>
          <p:cNvPr id="76814" name="箭头 216"/>
          <p:cNvSpPr/>
          <p:nvPr/>
        </p:nvSpPr>
        <p:spPr>
          <a:xfrm flipH="1">
            <a:off x="5435600" y="3429000"/>
            <a:ext cx="1081088" cy="1728788"/>
          </a:xfrm>
          <a:prstGeom prst="line">
            <a:avLst/>
          </a:prstGeom>
          <a:ln w="19050" cap="flat" cmpd="sng">
            <a:solidFill>
              <a:srgbClr val="FF0000"/>
            </a:solidFill>
            <a:prstDash val="solid"/>
            <a:headEnd type="triangle" w="med" len="med"/>
            <a:tailEnd type="none" w="med" len="med"/>
          </a:ln>
        </p:spPr>
      </p:sp>
      <p:sp>
        <p:nvSpPr>
          <p:cNvPr id="76815" name="箭头 216"/>
          <p:cNvSpPr/>
          <p:nvPr/>
        </p:nvSpPr>
        <p:spPr>
          <a:xfrm flipH="1">
            <a:off x="6300788" y="3502025"/>
            <a:ext cx="287337" cy="1655763"/>
          </a:xfrm>
          <a:prstGeom prst="line">
            <a:avLst/>
          </a:prstGeom>
          <a:ln w="19050" cap="flat" cmpd="sng">
            <a:solidFill>
              <a:srgbClr val="FF0000"/>
            </a:solidFill>
            <a:prstDash val="solid"/>
            <a:headEnd type="triangle" w="med" len="med"/>
            <a:tailEnd type="none" w="med" len="med"/>
          </a:ln>
        </p:spPr>
      </p:sp>
      <p:sp>
        <p:nvSpPr>
          <p:cNvPr id="76816" name="箭头 216"/>
          <p:cNvSpPr/>
          <p:nvPr/>
        </p:nvSpPr>
        <p:spPr>
          <a:xfrm>
            <a:off x="6661150" y="3502025"/>
            <a:ext cx="285750" cy="1655763"/>
          </a:xfrm>
          <a:prstGeom prst="line">
            <a:avLst/>
          </a:prstGeom>
          <a:ln w="19050" cap="flat" cmpd="sng">
            <a:solidFill>
              <a:srgbClr val="FF0000"/>
            </a:solidFill>
            <a:prstDash val="solid"/>
            <a:headEnd type="triangle" w="med" len="med"/>
            <a:tailEnd type="none" w="med" len="med"/>
          </a:ln>
        </p:spPr>
      </p:sp>
      <p:sp>
        <p:nvSpPr>
          <p:cNvPr id="76817" name="箭头 216"/>
          <p:cNvSpPr/>
          <p:nvPr/>
        </p:nvSpPr>
        <p:spPr>
          <a:xfrm>
            <a:off x="6804025" y="3429000"/>
            <a:ext cx="1008063" cy="1728788"/>
          </a:xfrm>
          <a:prstGeom prst="line">
            <a:avLst/>
          </a:prstGeom>
          <a:ln w="19050" cap="flat" cmpd="sng">
            <a:solidFill>
              <a:srgbClr val="FF0000"/>
            </a:solidFill>
            <a:prstDash val="solid"/>
            <a:headEnd type="triangle" w="med" len="med"/>
            <a:tailEnd type="none" w="med" len="med"/>
          </a:ln>
        </p:spPr>
      </p:sp>
      <p:sp>
        <p:nvSpPr>
          <p:cNvPr id="76818" name="Text Box 18"/>
          <p:cNvSpPr txBox="1"/>
          <p:nvPr/>
        </p:nvSpPr>
        <p:spPr>
          <a:xfrm>
            <a:off x="6030913" y="4264025"/>
            <a:ext cx="1657350"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Accepted </a:t>
            </a:r>
            <a:endParaRPr lang="zh-CN" altLang="en-US" sz="2000" dirty="0">
              <a:ea typeface="宋体" panose="02010600030101010101" pitchFamily="2" charset="-122"/>
            </a:endParaRPr>
          </a:p>
        </p:txBody>
      </p:sp>
      <p:sp>
        <p:nvSpPr>
          <p:cNvPr id="14355" name="箭头 216"/>
          <p:cNvSpPr/>
          <p:nvPr/>
        </p:nvSpPr>
        <p:spPr>
          <a:xfrm flipV="1">
            <a:off x="3563938" y="3213100"/>
            <a:ext cx="2808287" cy="863600"/>
          </a:xfrm>
          <a:prstGeom prst="line">
            <a:avLst/>
          </a:prstGeom>
          <a:ln w="19050" cap="flat" cmpd="sng">
            <a:solidFill>
              <a:srgbClr val="FF0000"/>
            </a:solidFill>
            <a:prstDash val="solid"/>
            <a:headEnd type="triangle" w="med" len="med"/>
            <a:tailEnd type="none" w="med" len="med"/>
          </a:ln>
        </p:spPr>
      </p:sp>
      <p:sp>
        <p:nvSpPr>
          <p:cNvPr id="14356" name="Text Box 20"/>
          <p:cNvSpPr txBox="1"/>
          <p:nvPr/>
        </p:nvSpPr>
        <p:spPr>
          <a:xfrm>
            <a:off x="3276600" y="3213100"/>
            <a:ext cx="2519363" cy="3651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400" dirty="0">
                <a:ea typeface="宋体" panose="02010600030101010101" pitchFamily="2" charset="-122"/>
              </a:rPr>
              <a:t>set abc=0 accpeted</a:t>
            </a:r>
            <a:endParaRPr lang="zh-CN" altLang="en-US" sz="2400" dirty="0">
              <a:ea typeface="宋体" panose="02010600030101010101" pitchFamily="2" charset="-122"/>
            </a:endParaRPr>
          </a:p>
        </p:txBody>
      </p:sp>
      <p:sp>
        <p:nvSpPr>
          <p:cNvPr id="76821" name="Text Box 13"/>
          <p:cNvSpPr txBox="1"/>
          <p:nvPr/>
        </p:nvSpPr>
        <p:spPr>
          <a:xfrm>
            <a:off x="5076825" y="5949950"/>
            <a:ext cx="3743325" cy="3698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dirty="0">
                <a:ea typeface="宋体" panose="02010600030101010101" pitchFamily="2" charset="-122"/>
              </a:rPr>
              <a:t>Accept (1, set abc=0) &amp;&amp; Promise</a:t>
            </a:r>
            <a:endParaRPr lang="zh-CN" altLang="en-US" sz="18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6" grpId="0" bldLvl="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vert="horz" wrap="square" lIns="91440" tIns="45720" rIns="91440" bIns="45720" anchor="ctr" anchorCtr="0"/>
          <a:lstStyle/>
          <a:p>
            <a:pPr algn="l" eaLnBrk="1" hangingPunct="1"/>
            <a:r>
              <a:rPr lang="en-US" altLang="zh-CN" dirty="0">
                <a:ea typeface="宋体" panose="02010600030101010101" pitchFamily="2" charset="-122"/>
              </a:rPr>
              <a:t>Classic Paxos</a:t>
            </a:r>
            <a:endParaRPr lang="zh-CN" altLang="en-US" dirty="0">
              <a:ea typeface="宋体" panose="02010600030101010101" pitchFamily="2" charset="-122"/>
            </a:endParaRPr>
          </a:p>
        </p:txBody>
      </p:sp>
      <p:sp>
        <p:nvSpPr>
          <p:cNvPr id="77827" name="内容占位符 2"/>
          <p:cNvSpPr>
            <a:spLocks noGrp="1"/>
          </p:cNvSpPr>
          <p:nvPr>
            <p:ph idx="1"/>
          </p:nvPr>
        </p:nvSpPr>
        <p:spPr>
          <a:xfrm>
            <a:off x="468313" y="1557338"/>
            <a:ext cx="8229600" cy="4525962"/>
          </a:xfrm>
        </p:spPr>
        <p:txBody>
          <a:bodyPr vert="horz" wrap="square" lIns="91440" tIns="45720" rIns="91440" bIns="45720" anchor="t" anchorCtr="0"/>
          <a:lstStyle/>
          <a:p>
            <a:pPr algn="l" eaLnBrk="1" hangingPunct="1">
              <a:buSzPct val="60000"/>
              <a:buFont typeface="Wingdings" panose="05000000000000000000" pitchFamily="2" charset="2"/>
              <a:buChar char="p"/>
            </a:pPr>
            <a:r>
              <a:rPr lang="zh-CN" altLang="en-US" dirty="0">
                <a:ea typeface="宋体" panose="02010600030101010101" pitchFamily="2" charset="-122"/>
              </a:rPr>
              <a:t>情形</a:t>
            </a:r>
            <a:r>
              <a:rPr lang="en-US" altLang="zh-CN" dirty="0">
                <a:ea typeface="宋体" panose="02010600030101010101" pitchFamily="2" charset="-122"/>
              </a:rPr>
              <a:t>2: Paxos with Proposer Competition</a:t>
            </a:r>
            <a:endParaRPr lang="en-US" altLang="zh-CN" dirty="0">
              <a:ea typeface="宋体" panose="02010600030101010101" pitchFamily="2" charset="-122"/>
            </a:endParaRPr>
          </a:p>
          <a:p>
            <a:pPr lvl="1" eaLnBrk="1" hangingPunct="1">
              <a:buSzPct val="60000"/>
              <a:buFont typeface="Wingdings" panose="05000000000000000000" pitchFamily="2" charset="2"/>
              <a:buChar char="p"/>
            </a:pPr>
            <a:r>
              <a:rPr lang="en-US" altLang="zh-CN" dirty="0">
                <a:ea typeface="宋体" panose="02010600030101010101" pitchFamily="2" charset="-122"/>
              </a:rPr>
              <a:t>Prepare</a:t>
            </a:r>
            <a:endParaRPr lang="en-US" altLang="zh-CN" dirty="0">
              <a:ea typeface="宋体" panose="02010600030101010101" pitchFamily="2" charset="-122"/>
            </a:endParaRPr>
          </a:p>
        </p:txBody>
      </p:sp>
      <p:graphicFrame>
        <p:nvGraphicFramePr>
          <p:cNvPr id="77828" name="Object 4"/>
          <p:cNvGraphicFramePr/>
          <p:nvPr/>
        </p:nvGraphicFramePr>
        <p:xfrm>
          <a:off x="3132138" y="3933825"/>
          <a:ext cx="495300" cy="769938"/>
        </p:xfrm>
        <a:graphic>
          <a:graphicData uri="http://schemas.openxmlformats.org/presentationml/2006/ole">
            <mc:AlternateContent xmlns:mc="http://schemas.openxmlformats.org/markup-compatibility/2006">
              <mc:Choice xmlns:v="urn:schemas-microsoft-com:vml" Requires="v">
                <p:oleObj spid="_x0000_s6735" name="" r:id="rId1" imgW="673100" imgH="1054100" progId="Visio.Drawing.11">
                  <p:embed/>
                </p:oleObj>
              </mc:Choice>
              <mc:Fallback>
                <p:oleObj name="" r:id="rId1" imgW="673100" imgH="1054100" progId="Visio.Drawing.11">
                  <p:embed/>
                  <p:pic>
                    <p:nvPicPr>
                      <p:cNvPr id="0" name="图片 3102"/>
                      <p:cNvPicPr/>
                      <p:nvPr/>
                    </p:nvPicPr>
                    <p:blipFill>
                      <a:blip r:embed="rId2"/>
                      <a:stretch>
                        <a:fillRect/>
                      </a:stretch>
                    </p:blipFill>
                    <p:spPr>
                      <a:xfrm>
                        <a:off x="3132138" y="3933825"/>
                        <a:ext cx="495300" cy="769938"/>
                      </a:xfrm>
                      <a:prstGeom prst="rect">
                        <a:avLst/>
                      </a:prstGeom>
                      <a:noFill/>
                      <a:ln w="38100">
                        <a:noFill/>
                        <a:miter/>
                      </a:ln>
                    </p:spPr>
                  </p:pic>
                </p:oleObj>
              </mc:Fallback>
            </mc:AlternateContent>
          </a:graphicData>
        </a:graphic>
      </p:graphicFrame>
      <p:graphicFrame>
        <p:nvGraphicFramePr>
          <p:cNvPr id="77829" name="Object 5"/>
          <p:cNvGraphicFramePr/>
          <p:nvPr/>
        </p:nvGraphicFramePr>
        <p:xfrm>
          <a:off x="6445250" y="2997200"/>
          <a:ext cx="495300" cy="771525"/>
        </p:xfrm>
        <a:graphic>
          <a:graphicData uri="http://schemas.openxmlformats.org/presentationml/2006/ole">
            <mc:AlternateContent xmlns:mc="http://schemas.openxmlformats.org/markup-compatibility/2006">
              <mc:Choice xmlns:v="urn:schemas-microsoft-com:vml" Requires="v">
                <p:oleObj spid="_x0000_s6736" name="" r:id="rId3" imgW="673100" imgH="1054100" progId="Visio.Drawing.11">
                  <p:embed/>
                </p:oleObj>
              </mc:Choice>
              <mc:Fallback>
                <p:oleObj name="" r:id="rId3" imgW="673100" imgH="1054100" progId="Visio.Drawing.11">
                  <p:embed/>
                  <p:pic>
                    <p:nvPicPr>
                      <p:cNvPr id="0" name="图片 3101"/>
                      <p:cNvPicPr/>
                      <p:nvPr/>
                    </p:nvPicPr>
                    <p:blipFill>
                      <a:blip r:embed="rId4"/>
                      <a:stretch>
                        <a:fillRect/>
                      </a:stretch>
                    </p:blipFill>
                    <p:spPr>
                      <a:xfrm>
                        <a:off x="6445250" y="2997200"/>
                        <a:ext cx="495300" cy="771525"/>
                      </a:xfrm>
                      <a:prstGeom prst="rect">
                        <a:avLst/>
                      </a:prstGeom>
                      <a:noFill/>
                      <a:ln w="38100">
                        <a:noFill/>
                        <a:miter/>
                      </a:ln>
                    </p:spPr>
                  </p:pic>
                </p:oleObj>
              </mc:Fallback>
            </mc:AlternateContent>
          </a:graphicData>
        </a:graphic>
      </p:graphicFrame>
      <p:graphicFrame>
        <p:nvGraphicFramePr>
          <p:cNvPr id="77830" name="Object 6"/>
          <p:cNvGraphicFramePr/>
          <p:nvPr/>
        </p:nvGraphicFramePr>
        <p:xfrm>
          <a:off x="4076700" y="5033963"/>
          <a:ext cx="495300" cy="771525"/>
        </p:xfrm>
        <a:graphic>
          <a:graphicData uri="http://schemas.openxmlformats.org/presentationml/2006/ole">
            <mc:AlternateContent xmlns:mc="http://schemas.openxmlformats.org/markup-compatibility/2006">
              <mc:Choice xmlns:v="urn:schemas-microsoft-com:vml" Requires="v">
                <p:oleObj spid="_x0000_s6737" name="" r:id="rId5" imgW="673100" imgH="1054100" progId="Visio.Drawing.11">
                  <p:embed/>
                </p:oleObj>
              </mc:Choice>
              <mc:Fallback>
                <p:oleObj name="" r:id="rId5" imgW="673100" imgH="1054100" progId="Visio.Drawing.11">
                  <p:embed/>
                  <p:pic>
                    <p:nvPicPr>
                      <p:cNvPr id="0" name="图片 3103"/>
                      <p:cNvPicPr/>
                      <p:nvPr/>
                    </p:nvPicPr>
                    <p:blipFill>
                      <a:blip r:embed="rId6"/>
                      <a:stretch>
                        <a:fillRect/>
                      </a:stretch>
                    </p:blipFill>
                    <p:spPr>
                      <a:xfrm>
                        <a:off x="4076700" y="5033963"/>
                        <a:ext cx="495300" cy="771525"/>
                      </a:xfrm>
                      <a:prstGeom prst="rect">
                        <a:avLst/>
                      </a:prstGeom>
                      <a:noFill/>
                      <a:ln w="38100">
                        <a:noFill/>
                        <a:miter/>
                      </a:ln>
                    </p:spPr>
                  </p:pic>
                </p:oleObj>
              </mc:Fallback>
            </mc:AlternateContent>
          </a:graphicData>
        </a:graphic>
      </p:graphicFrame>
      <p:graphicFrame>
        <p:nvGraphicFramePr>
          <p:cNvPr id="77831" name="Object 7"/>
          <p:cNvGraphicFramePr/>
          <p:nvPr/>
        </p:nvGraphicFramePr>
        <p:xfrm>
          <a:off x="5084763" y="5033963"/>
          <a:ext cx="495300" cy="771525"/>
        </p:xfrm>
        <a:graphic>
          <a:graphicData uri="http://schemas.openxmlformats.org/presentationml/2006/ole">
            <mc:AlternateContent xmlns:mc="http://schemas.openxmlformats.org/markup-compatibility/2006">
              <mc:Choice xmlns:v="urn:schemas-microsoft-com:vml" Requires="v">
                <p:oleObj spid="_x0000_s6738" name="" r:id="rId7" imgW="673100" imgH="1054100" progId="Visio.Drawing.11">
                  <p:embed/>
                </p:oleObj>
              </mc:Choice>
              <mc:Fallback>
                <p:oleObj name="" r:id="rId7" imgW="673100" imgH="1054100" progId="Visio.Drawing.11">
                  <p:embed/>
                  <p:pic>
                    <p:nvPicPr>
                      <p:cNvPr id="0" name="图片 3106"/>
                      <p:cNvPicPr/>
                      <p:nvPr/>
                    </p:nvPicPr>
                    <p:blipFill>
                      <a:blip r:embed="rId8"/>
                      <a:stretch>
                        <a:fillRect/>
                      </a:stretch>
                    </p:blipFill>
                    <p:spPr>
                      <a:xfrm>
                        <a:off x="5084763" y="5033963"/>
                        <a:ext cx="495300" cy="771525"/>
                      </a:xfrm>
                      <a:prstGeom prst="rect">
                        <a:avLst/>
                      </a:prstGeom>
                      <a:noFill/>
                      <a:ln w="38100">
                        <a:noFill/>
                        <a:miter/>
                      </a:ln>
                    </p:spPr>
                  </p:pic>
                </p:oleObj>
              </mc:Fallback>
            </mc:AlternateContent>
          </a:graphicData>
        </a:graphic>
      </p:graphicFrame>
      <p:graphicFrame>
        <p:nvGraphicFramePr>
          <p:cNvPr id="77832" name="Object 9"/>
          <p:cNvGraphicFramePr/>
          <p:nvPr/>
        </p:nvGraphicFramePr>
        <p:xfrm>
          <a:off x="6565900" y="5000625"/>
          <a:ext cx="495300" cy="771525"/>
        </p:xfrm>
        <a:graphic>
          <a:graphicData uri="http://schemas.openxmlformats.org/presentationml/2006/ole">
            <mc:AlternateContent xmlns:mc="http://schemas.openxmlformats.org/markup-compatibility/2006">
              <mc:Choice xmlns:v="urn:schemas-microsoft-com:vml" Requires="v">
                <p:oleObj spid="_x0000_s6739" name="" r:id="rId9" imgW="673100" imgH="1054100" progId="Visio.Drawing.11">
                  <p:embed/>
                </p:oleObj>
              </mc:Choice>
              <mc:Fallback>
                <p:oleObj name="" r:id="rId9" imgW="673100" imgH="1054100" progId="Visio.Drawing.11">
                  <p:embed/>
                  <p:pic>
                    <p:nvPicPr>
                      <p:cNvPr id="0" name="图片 3107"/>
                      <p:cNvPicPr/>
                      <p:nvPr/>
                    </p:nvPicPr>
                    <p:blipFill>
                      <a:blip r:embed="rId8"/>
                      <a:stretch>
                        <a:fillRect/>
                      </a:stretch>
                    </p:blipFill>
                    <p:spPr>
                      <a:xfrm>
                        <a:off x="6565900" y="5000625"/>
                        <a:ext cx="495300" cy="771525"/>
                      </a:xfrm>
                      <a:prstGeom prst="rect">
                        <a:avLst/>
                      </a:prstGeom>
                      <a:noFill/>
                      <a:ln w="38100">
                        <a:noFill/>
                        <a:miter/>
                      </a:ln>
                    </p:spPr>
                  </p:pic>
                </p:oleObj>
              </mc:Fallback>
            </mc:AlternateContent>
          </a:graphicData>
        </a:graphic>
      </p:graphicFrame>
      <p:graphicFrame>
        <p:nvGraphicFramePr>
          <p:cNvPr id="77833" name="Object 10"/>
          <p:cNvGraphicFramePr/>
          <p:nvPr/>
        </p:nvGraphicFramePr>
        <p:xfrm>
          <a:off x="7493000" y="5000625"/>
          <a:ext cx="495300" cy="771525"/>
        </p:xfrm>
        <a:graphic>
          <a:graphicData uri="http://schemas.openxmlformats.org/presentationml/2006/ole">
            <mc:AlternateContent xmlns:mc="http://schemas.openxmlformats.org/markup-compatibility/2006">
              <mc:Choice xmlns:v="urn:schemas-microsoft-com:vml" Requires="v">
                <p:oleObj spid="_x0000_s6740" name="" r:id="rId10" imgW="673100" imgH="1054100" progId="Visio.Drawing.11">
                  <p:embed/>
                </p:oleObj>
              </mc:Choice>
              <mc:Fallback>
                <p:oleObj name="" r:id="rId10" imgW="673100" imgH="1054100" progId="Visio.Drawing.11">
                  <p:embed/>
                  <p:pic>
                    <p:nvPicPr>
                      <p:cNvPr id="0" name="图片 3095"/>
                      <p:cNvPicPr/>
                      <p:nvPr/>
                    </p:nvPicPr>
                    <p:blipFill>
                      <a:blip r:embed="rId8"/>
                      <a:stretch>
                        <a:fillRect/>
                      </a:stretch>
                    </p:blipFill>
                    <p:spPr>
                      <a:xfrm>
                        <a:off x="7493000" y="5000625"/>
                        <a:ext cx="495300" cy="771525"/>
                      </a:xfrm>
                      <a:prstGeom prst="rect">
                        <a:avLst/>
                      </a:prstGeom>
                      <a:noFill/>
                      <a:ln w="38100">
                        <a:noFill/>
                        <a:miter/>
                      </a:ln>
                    </p:spPr>
                  </p:pic>
                </p:oleObj>
              </mc:Fallback>
            </mc:AlternateContent>
          </a:graphicData>
        </a:graphic>
      </p:graphicFrame>
      <p:graphicFrame>
        <p:nvGraphicFramePr>
          <p:cNvPr id="77834" name="Object 11"/>
          <p:cNvGraphicFramePr/>
          <p:nvPr/>
        </p:nvGraphicFramePr>
        <p:xfrm>
          <a:off x="539750" y="5086350"/>
          <a:ext cx="2238375" cy="1457325"/>
        </p:xfrm>
        <a:graphic>
          <a:graphicData uri="http://schemas.openxmlformats.org/presentationml/2006/ole">
            <mc:AlternateContent xmlns:mc="http://schemas.openxmlformats.org/markup-compatibility/2006">
              <mc:Choice xmlns:v="urn:schemas-microsoft-com:vml" Requires="v">
                <p:oleObj spid="_x0000_s6741" name="" r:id="rId11" imgW="3009900" imgH="1968500" progId="Visio.Drawing.11">
                  <p:embed/>
                </p:oleObj>
              </mc:Choice>
              <mc:Fallback>
                <p:oleObj name="" r:id="rId11" imgW="3009900" imgH="1968500" progId="Visio.Drawing.11">
                  <p:embed/>
                  <p:pic>
                    <p:nvPicPr>
                      <p:cNvPr id="0" name="图片 3100"/>
                      <p:cNvPicPr/>
                      <p:nvPr/>
                    </p:nvPicPr>
                    <p:blipFill>
                      <a:blip r:embed="rId12"/>
                      <a:stretch>
                        <a:fillRect/>
                      </a:stretch>
                    </p:blipFill>
                    <p:spPr>
                      <a:xfrm>
                        <a:off x="539750" y="5086350"/>
                        <a:ext cx="2238375" cy="1457325"/>
                      </a:xfrm>
                      <a:prstGeom prst="rect">
                        <a:avLst/>
                      </a:prstGeom>
                      <a:noFill/>
                      <a:ln w="38100">
                        <a:noFill/>
                        <a:miter/>
                      </a:ln>
                    </p:spPr>
                  </p:pic>
                </p:oleObj>
              </mc:Fallback>
            </mc:AlternateContent>
          </a:graphicData>
        </a:graphic>
      </p:graphicFrame>
      <p:sp>
        <p:nvSpPr>
          <p:cNvPr id="77835" name="Text Box 12"/>
          <p:cNvSpPr txBox="1"/>
          <p:nvPr/>
        </p:nvSpPr>
        <p:spPr>
          <a:xfrm>
            <a:off x="5867400" y="5589588"/>
            <a:ext cx="998538"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abc = </a:t>
            </a:r>
            <a:r>
              <a:rPr lang="en-US" altLang="zh-CN" sz="2000" dirty="0">
                <a:ea typeface="宋体" panose="02010600030101010101" pitchFamily="2" charset="-122"/>
              </a:rPr>
              <a:t>X</a:t>
            </a:r>
            <a:endParaRPr lang="zh-CN" altLang="en-US" sz="2000" dirty="0">
              <a:ea typeface="宋体" panose="02010600030101010101" pitchFamily="2" charset="-122"/>
            </a:endParaRPr>
          </a:p>
        </p:txBody>
      </p:sp>
      <p:sp>
        <p:nvSpPr>
          <p:cNvPr id="77836" name="Text Box 13"/>
          <p:cNvSpPr txBox="1"/>
          <p:nvPr/>
        </p:nvSpPr>
        <p:spPr>
          <a:xfrm>
            <a:off x="4283075" y="3573463"/>
            <a:ext cx="1584325"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set abc=0</a:t>
            </a:r>
            <a:endParaRPr lang="zh-CN" altLang="en-US" sz="2000" dirty="0">
              <a:ea typeface="宋体" panose="02010600030101010101" pitchFamily="2" charset="-122"/>
            </a:endParaRPr>
          </a:p>
        </p:txBody>
      </p:sp>
      <p:graphicFrame>
        <p:nvGraphicFramePr>
          <p:cNvPr id="77837" name="Object 14"/>
          <p:cNvGraphicFramePr/>
          <p:nvPr/>
        </p:nvGraphicFramePr>
        <p:xfrm>
          <a:off x="5003800" y="2420938"/>
          <a:ext cx="495300" cy="771525"/>
        </p:xfrm>
        <a:graphic>
          <a:graphicData uri="http://schemas.openxmlformats.org/presentationml/2006/ole">
            <mc:AlternateContent xmlns:mc="http://schemas.openxmlformats.org/markup-compatibility/2006">
              <mc:Choice xmlns:v="urn:schemas-microsoft-com:vml" Requires="v">
                <p:oleObj spid="_x0000_s6742" name="" r:id="rId13" imgW="673100" imgH="1054100" progId="Visio.Drawing.11">
                  <p:embed/>
                </p:oleObj>
              </mc:Choice>
              <mc:Fallback>
                <p:oleObj name="" r:id="rId13" imgW="673100" imgH="1054100" progId="Visio.Drawing.11">
                  <p:embed/>
                  <p:pic>
                    <p:nvPicPr>
                      <p:cNvPr id="0" name="图片 3105"/>
                      <p:cNvPicPr/>
                      <p:nvPr/>
                    </p:nvPicPr>
                    <p:blipFill>
                      <a:blip r:embed="rId4"/>
                      <a:stretch>
                        <a:fillRect/>
                      </a:stretch>
                    </p:blipFill>
                    <p:spPr>
                      <a:xfrm>
                        <a:off x="5003800" y="2420938"/>
                        <a:ext cx="495300" cy="771525"/>
                      </a:xfrm>
                      <a:prstGeom prst="rect">
                        <a:avLst/>
                      </a:prstGeom>
                      <a:noFill/>
                      <a:ln w="38100">
                        <a:noFill/>
                        <a:miter/>
                      </a:ln>
                    </p:spPr>
                  </p:pic>
                </p:oleObj>
              </mc:Fallback>
            </mc:AlternateContent>
          </a:graphicData>
        </a:graphic>
      </p:graphicFrame>
      <p:sp>
        <p:nvSpPr>
          <p:cNvPr id="77838" name="箭头 275"/>
          <p:cNvSpPr/>
          <p:nvPr/>
        </p:nvSpPr>
        <p:spPr>
          <a:xfrm flipV="1">
            <a:off x="3348038" y="2781300"/>
            <a:ext cx="1800225" cy="360363"/>
          </a:xfrm>
          <a:prstGeom prst="line">
            <a:avLst/>
          </a:prstGeom>
          <a:ln w="19050" cap="flat" cmpd="sng">
            <a:solidFill>
              <a:schemeClr val="tx1"/>
            </a:solidFill>
            <a:prstDash val="solid"/>
            <a:headEnd type="none" w="med" len="med"/>
            <a:tailEnd type="triangle" w="med" len="med"/>
          </a:ln>
        </p:spPr>
      </p:sp>
      <p:sp>
        <p:nvSpPr>
          <p:cNvPr id="77839" name="箭头 276"/>
          <p:cNvSpPr/>
          <p:nvPr/>
        </p:nvSpPr>
        <p:spPr>
          <a:xfrm flipV="1">
            <a:off x="3563938" y="3213100"/>
            <a:ext cx="2879725" cy="936625"/>
          </a:xfrm>
          <a:prstGeom prst="line">
            <a:avLst/>
          </a:prstGeom>
          <a:ln w="19050" cap="flat" cmpd="sng">
            <a:solidFill>
              <a:schemeClr val="tx1"/>
            </a:solidFill>
            <a:prstDash val="solid"/>
            <a:headEnd type="none" w="med" len="med"/>
            <a:tailEnd type="triangle" w="med" len="med"/>
          </a:ln>
        </p:spPr>
      </p:sp>
      <p:sp>
        <p:nvSpPr>
          <p:cNvPr id="77840" name="Text Box 17"/>
          <p:cNvSpPr txBox="1"/>
          <p:nvPr/>
        </p:nvSpPr>
        <p:spPr>
          <a:xfrm>
            <a:off x="3779838" y="3068638"/>
            <a:ext cx="1657350"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set abc=1 </a:t>
            </a:r>
            <a:endParaRPr lang="zh-CN" altLang="en-US" sz="2000" dirty="0">
              <a:ea typeface="宋体" panose="02010600030101010101" pitchFamily="2" charset="-122"/>
            </a:endParaRPr>
          </a:p>
        </p:txBody>
      </p:sp>
      <p:sp>
        <p:nvSpPr>
          <p:cNvPr id="15384" name="Text Box 24"/>
          <p:cNvSpPr txBox="1"/>
          <p:nvPr/>
        </p:nvSpPr>
        <p:spPr>
          <a:xfrm>
            <a:off x="6548438" y="4149725"/>
            <a:ext cx="547687"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(1) </a:t>
            </a:r>
            <a:endParaRPr lang="zh-CN" altLang="en-US" sz="2000" dirty="0">
              <a:ea typeface="宋体" panose="02010600030101010101" pitchFamily="2" charset="-122"/>
            </a:endParaRPr>
          </a:p>
        </p:txBody>
      </p:sp>
      <p:sp>
        <p:nvSpPr>
          <p:cNvPr id="15386" name="Text Box 26"/>
          <p:cNvSpPr txBox="1"/>
          <p:nvPr/>
        </p:nvSpPr>
        <p:spPr>
          <a:xfrm>
            <a:off x="4810125" y="4073525"/>
            <a:ext cx="547688"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(2) </a:t>
            </a:r>
            <a:endParaRPr lang="zh-CN" altLang="en-US" sz="2000" dirty="0">
              <a:ea typeface="宋体" panose="02010600030101010101" pitchFamily="2" charset="-122"/>
            </a:endParaRPr>
          </a:p>
        </p:txBody>
      </p:sp>
      <p:sp>
        <p:nvSpPr>
          <p:cNvPr id="15387" name="箭头 216"/>
          <p:cNvSpPr/>
          <p:nvPr/>
        </p:nvSpPr>
        <p:spPr>
          <a:xfrm>
            <a:off x="6661150" y="3429000"/>
            <a:ext cx="152400" cy="1657350"/>
          </a:xfrm>
          <a:prstGeom prst="line">
            <a:avLst/>
          </a:prstGeom>
          <a:ln w="19050" cap="flat" cmpd="sng">
            <a:solidFill>
              <a:schemeClr val="tx1"/>
            </a:solidFill>
            <a:prstDash val="solid"/>
            <a:headEnd type="none" w="med" len="med"/>
            <a:tailEnd type="triangle" w="med" len="med"/>
          </a:ln>
        </p:spPr>
      </p:sp>
      <p:sp>
        <p:nvSpPr>
          <p:cNvPr id="15390" name="箭头 216"/>
          <p:cNvSpPr/>
          <p:nvPr/>
        </p:nvSpPr>
        <p:spPr>
          <a:xfrm flipH="1">
            <a:off x="4429125" y="2852738"/>
            <a:ext cx="646113" cy="2233612"/>
          </a:xfrm>
          <a:prstGeom prst="line">
            <a:avLst/>
          </a:prstGeom>
          <a:ln w="19050" cap="flat" cmpd="sng">
            <a:solidFill>
              <a:srgbClr val="FF0000"/>
            </a:solidFill>
            <a:prstDash val="solid"/>
            <a:headEnd type="none" w="med" len="med"/>
            <a:tailEnd type="triangle" w="med" len="med"/>
          </a:ln>
        </p:spPr>
      </p:sp>
      <p:graphicFrame>
        <p:nvGraphicFramePr>
          <p:cNvPr id="77845" name="对象 1"/>
          <p:cNvGraphicFramePr/>
          <p:nvPr/>
        </p:nvGraphicFramePr>
        <p:xfrm>
          <a:off x="2916238" y="2960688"/>
          <a:ext cx="495300" cy="771525"/>
        </p:xfrm>
        <a:graphic>
          <a:graphicData uri="http://schemas.openxmlformats.org/presentationml/2006/ole">
            <mc:AlternateContent xmlns:mc="http://schemas.openxmlformats.org/markup-compatibility/2006">
              <mc:Choice xmlns:v="urn:schemas-microsoft-com:vml" Requires="v">
                <p:oleObj spid="_x0000_s6743" name="" r:id="rId14" imgW="673100" imgH="1054100" progId="Visio.Drawing.11">
                  <p:embed/>
                </p:oleObj>
              </mc:Choice>
              <mc:Fallback>
                <p:oleObj name="" r:id="rId14" imgW="673100" imgH="1054100" progId="Visio.Drawing.11">
                  <p:embed/>
                  <p:pic>
                    <p:nvPicPr>
                      <p:cNvPr id="0" name="图片 3104"/>
                      <p:cNvPicPr/>
                      <p:nvPr/>
                    </p:nvPicPr>
                    <p:blipFill>
                      <a:blip r:embed="rId2"/>
                      <a:stretch>
                        <a:fillRect/>
                      </a:stretch>
                    </p:blipFill>
                    <p:spPr>
                      <a:xfrm>
                        <a:off x="2916238" y="2960688"/>
                        <a:ext cx="495300" cy="771525"/>
                      </a:xfrm>
                      <a:prstGeom prst="rect">
                        <a:avLst/>
                      </a:prstGeom>
                      <a:noFill/>
                      <a:ln w="38100">
                        <a:noFill/>
                        <a:miter/>
                      </a:ln>
                    </p:spPr>
                  </p:pic>
                </p:oleObj>
              </mc:Fallback>
            </mc:AlternateContent>
          </a:graphicData>
        </a:graphic>
      </p:graphicFrame>
      <p:sp>
        <p:nvSpPr>
          <p:cNvPr id="32" name="箭头 216"/>
          <p:cNvSpPr/>
          <p:nvPr/>
        </p:nvSpPr>
        <p:spPr>
          <a:xfrm>
            <a:off x="6813550" y="3441700"/>
            <a:ext cx="927100" cy="1644650"/>
          </a:xfrm>
          <a:prstGeom prst="line">
            <a:avLst/>
          </a:prstGeom>
          <a:ln w="19050" cap="flat" cmpd="sng">
            <a:solidFill>
              <a:schemeClr val="tx1"/>
            </a:solidFill>
            <a:prstDash val="solid"/>
            <a:headEnd type="none" w="med" len="med"/>
            <a:tailEnd type="triangle" w="med" len="med"/>
          </a:ln>
        </p:spPr>
      </p:sp>
      <p:sp>
        <p:nvSpPr>
          <p:cNvPr id="33" name="箭头 216"/>
          <p:cNvSpPr/>
          <p:nvPr/>
        </p:nvSpPr>
        <p:spPr>
          <a:xfrm>
            <a:off x="5148263" y="2852738"/>
            <a:ext cx="242887" cy="2233612"/>
          </a:xfrm>
          <a:prstGeom prst="line">
            <a:avLst/>
          </a:prstGeom>
          <a:ln w="19050" cap="flat" cmpd="sng">
            <a:solidFill>
              <a:srgbClr val="FF0000"/>
            </a:solidFill>
            <a:prstDash val="solid"/>
            <a:headEnd type="none" w="med" len="med"/>
            <a:tailEnd type="triangle" w="med" len="med"/>
          </a:ln>
        </p:spPr>
      </p:sp>
      <p:sp>
        <p:nvSpPr>
          <p:cNvPr id="36" name="箭头 216"/>
          <p:cNvSpPr/>
          <p:nvPr/>
        </p:nvSpPr>
        <p:spPr>
          <a:xfrm flipH="1">
            <a:off x="6188075" y="3321050"/>
            <a:ext cx="255588" cy="1765300"/>
          </a:xfrm>
          <a:prstGeom prst="line">
            <a:avLst/>
          </a:prstGeom>
          <a:ln w="19050" cap="flat" cmpd="sng">
            <a:solidFill>
              <a:schemeClr val="tx1"/>
            </a:solidFill>
            <a:prstDash val="solid"/>
            <a:headEnd type="none" w="med" len="med"/>
            <a:tailEnd type="triangle" w="med" len="med"/>
          </a:ln>
        </p:spPr>
      </p:sp>
      <p:graphicFrame>
        <p:nvGraphicFramePr>
          <p:cNvPr id="77849" name="Object 11"/>
          <p:cNvGraphicFramePr/>
          <p:nvPr/>
        </p:nvGraphicFramePr>
        <p:xfrm>
          <a:off x="5867400" y="5032375"/>
          <a:ext cx="495300" cy="771525"/>
        </p:xfrm>
        <a:graphic>
          <a:graphicData uri="http://schemas.openxmlformats.org/presentationml/2006/ole">
            <mc:AlternateContent xmlns:mc="http://schemas.openxmlformats.org/markup-compatibility/2006">
              <mc:Choice xmlns:v="urn:schemas-microsoft-com:vml" Requires="v">
                <p:oleObj spid="_x0000_s6744" name="" r:id="rId15" imgW="673100" imgH="1054100" progId="Visio.Drawing.11">
                  <p:embed/>
                </p:oleObj>
              </mc:Choice>
              <mc:Fallback>
                <p:oleObj name="" r:id="rId15" imgW="673100" imgH="1054100" progId="Visio.Drawing.11">
                  <p:embed/>
                  <p:pic>
                    <p:nvPicPr>
                      <p:cNvPr id="0" name="图片 3114"/>
                      <p:cNvPicPr/>
                      <p:nvPr/>
                    </p:nvPicPr>
                    <p:blipFill>
                      <a:blip r:embed="rId8"/>
                      <a:stretch>
                        <a:fillRect/>
                      </a:stretch>
                    </p:blipFill>
                    <p:spPr>
                      <a:xfrm>
                        <a:off x="5867400" y="5032375"/>
                        <a:ext cx="495300" cy="7715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9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8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4" grpId="0"/>
      <p:bldP spid="1538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vert="horz" wrap="square" lIns="91440" tIns="45720" rIns="91440" bIns="45720" anchor="ctr" anchorCtr="0"/>
          <a:lstStyle/>
          <a:p>
            <a:pPr algn="l" eaLnBrk="1" hangingPunct="1"/>
            <a:r>
              <a:rPr lang="en-US" altLang="zh-CN" dirty="0">
                <a:ea typeface="宋体" panose="02010600030101010101" pitchFamily="2" charset="-122"/>
              </a:rPr>
              <a:t>Classic Paxos</a:t>
            </a:r>
            <a:endParaRPr lang="zh-CN" altLang="en-US" dirty="0">
              <a:ea typeface="宋体" panose="02010600030101010101" pitchFamily="2" charset="-122"/>
            </a:endParaRPr>
          </a:p>
        </p:txBody>
      </p:sp>
      <p:graphicFrame>
        <p:nvGraphicFramePr>
          <p:cNvPr id="78851" name="Object 4"/>
          <p:cNvGraphicFramePr/>
          <p:nvPr/>
        </p:nvGraphicFramePr>
        <p:xfrm>
          <a:off x="3132138" y="3933825"/>
          <a:ext cx="495300" cy="769938"/>
        </p:xfrm>
        <a:graphic>
          <a:graphicData uri="http://schemas.openxmlformats.org/presentationml/2006/ole">
            <mc:AlternateContent xmlns:mc="http://schemas.openxmlformats.org/markup-compatibility/2006">
              <mc:Choice xmlns:v="urn:schemas-microsoft-com:vml" Requires="v">
                <p:oleObj spid="_x0000_s7759" name="" r:id="rId1" imgW="673100" imgH="1054100" progId="Visio.Drawing.11">
                  <p:embed/>
                </p:oleObj>
              </mc:Choice>
              <mc:Fallback>
                <p:oleObj name="" r:id="rId1" imgW="673100" imgH="1054100" progId="Visio.Drawing.11">
                  <p:embed/>
                  <p:pic>
                    <p:nvPicPr>
                      <p:cNvPr id="0" name="图片 3112"/>
                      <p:cNvPicPr/>
                      <p:nvPr/>
                    </p:nvPicPr>
                    <p:blipFill>
                      <a:blip r:embed="rId2"/>
                      <a:stretch>
                        <a:fillRect/>
                      </a:stretch>
                    </p:blipFill>
                    <p:spPr>
                      <a:xfrm>
                        <a:off x="3132138" y="3933825"/>
                        <a:ext cx="495300" cy="769938"/>
                      </a:xfrm>
                      <a:prstGeom prst="rect">
                        <a:avLst/>
                      </a:prstGeom>
                      <a:noFill/>
                      <a:ln w="38100">
                        <a:noFill/>
                        <a:miter/>
                      </a:ln>
                    </p:spPr>
                  </p:pic>
                </p:oleObj>
              </mc:Fallback>
            </mc:AlternateContent>
          </a:graphicData>
        </a:graphic>
      </p:graphicFrame>
      <p:graphicFrame>
        <p:nvGraphicFramePr>
          <p:cNvPr id="78852" name="Object 5"/>
          <p:cNvGraphicFramePr/>
          <p:nvPr/>
        </p:nvGraphicFramePr>
        <p:xfrm>
          <a:off x="6445250" y="2997200"/>
          <a:ext cx="495300" cy="771525"/>
        </p:xfrm>
        <a:graphic>
          <a:graphicData uri="http://schemas.openxmlformats.org/presentationml/2006/ole">
            <mc:AlternateContent xmlns:mc="http://schemas.openxmlformats.org/markup-compatibility/2006">
              <mc:Choice xmlns:v="urn:schemas-microsoft-com:vml" Requires="v">
                <p:oleObj spid="_x0000_s7760" name="" r:id="rId3" imgW="673100" imgH="1054100" progId="Visio.Drawing.11">
                  <p:embed/>
                </p:oleObj>
              </mc:Choice>
              <mc:Fallback>
                <p:oleObj name="" r:id="rId3" imgW="673100" imgH="1054100" progId="Visio.Drawing.11">
                  <p:embed/>
                  <p:pic>
                    <p:nvPicPr>
                      <p:cNvPr id="0" name="图片 3111"/>
                      <p:cNvPicPr/>
                      <p:nvPr/>
                    </p:nvPicPr>
                    <p:blipFill>
                      <a:blip r:embed="rId4"/>
                      <a:stretch>
                        <a:fillRect/>
                      </a:stretch>
                    </p:blipFill>
                    <p:spPr>
                      <a:xfrm>
                        <a:off x="6445250" y="2997200"/>
                        <a:ext cx="495300" cy="771525"/>
                      </a:xfrm>
                      <a:prstGeom prst="rect">
                        <a:avLst/>
                      </a:prstGeom>
                      <a:noFill/>
                      <a:ln w="38100">
                        <a:noFill/>
                        <a:miter/>
                      </a:ln>
                    </p:spPr>
                  </p:pic>
                </p:oleObj>
              </mc:Fallback>
            </mc:AlternateContent>
          </a:graphicData>
        </a:graphic>
      </p:graphicFrame>
      <p:graphicFrame>
        <p:nvGraphicFramePr>
          <p:cNvPr id="78853" name="Object 6"/>
          <p:cNvGraphicFramePr/>
          <p:nvPr/>
        </p:nvGraphicFramePr>
        <p:xfrm>
          <a:off x="4076700" y="5033963"/>
          <a:ext cx="495300" cy="771525"/>
        </p:xfrm>
        <a:graphic>
          <a:graphicData uri="http://schemas.openxmlformats.org/presentationml/2006/ole">
            <mc:AlternateContent xmlns:mc="http://schemas.openxmlformats.org/markup-compatibility/2006">
              <mc:Choice xmlns:v="urn:schemas-microsoft-com:vml" Requires="v">
                <p:oleObj spid="_x0000_s7761" name="" r:id="rId5" imgW="673100" imgH="1054100" progId="Visio.Drawing.11">
                  <p:embed/>
                </p:oleObj>
              </mc:Choice>
              <mc:Fallback>
                <p:oleObj name="" r:id="rId5" imgW="673100" imgH="1054100" progId="Visio.Drawing.11">
                  <p:embed/>
                  <p:pic>
                    <p:nvPicPr>
                      <p:cNvPr id="0" name="图片 3116"/>
                      <p:cNvPicPr/>
                      <p:nvPr/>
                    </p:nvPicPr>
                    <p:blipFill>
                      <a:blip r:embed="rId6"/>
                      <a:stretch>
                        <a:fillRect/>
                      </a:stretch>
                    </p:blipFill>
                    <p:spPr>
                      <a:xfrm>
                        <a:off x="4076700" y="5033963"/>
                        <a:ext cx="495300" cy="771525"/>
                      </a:xfrm>
                      <a:prstGeom prst="rect">
                        <a:avLst/>
                      </a:prstGeom>
                      <a:noFill/>
                      <a:ln w="38100">
                        <a:noFill/>
                        <a:miter/>
                      </a:ln>
                    </p:spPr>
                  </p:pic>
                </p:oleObj>
              </mc:Fallback>
            </mc:AlternateContent>
          </a:graphicData>
        </a:graphic>
      </p:graphicFrame>
      <p:graphicFrame>
        <p:nvGraphicFramePr>
          <p:cNvPr id="78854" name="Object 7"/>
          <p:cNvGraphicFramePr/>
          <p:nvPr/>
        </p:nvGraphicFramePr>
        <p:xfrm>
          <a:off x="5084763" y="5033963"/>
          <a:ext cx="495300" cy="771525"/>
        </p:xfrm>
        <a:graphic>
          <a:graphicData uri="http://schemas.openxmlformats.org/presentationml/2006/ole">
            <mc:AlternateContent xmlns:mc="http://schemas.openxmlformats.org/markup-compatibility/2006">
              <mc:Choice xmlns:v="urn:schemas-microsoft-com:vml" Requires="v">
                <p:oleObj spid="_x0000_s7762" name="" r:id="rId7" imgW="673100" imgH="1054100" progId="Visio.Drawing.11">
                  <p:embed/>
                </p:oleObj>
              </mc:Choice>
              <mc:Fallback>
                <p:oleObj name="" r:id="rId7" imgW="673100" imgH="1054100" progId="Visio.Drawing.11">
                  <p:embed/>
                  <p:pic>
                    <p:nvPicPr>
                      <p:cNvPr id="0" name="图片 3113"/>
                      <p:cNvPicPr/>
                      <p:nvPr/>
                    </p:nvPicPr>
                    <p:blipFill>
                      <a:blip r:embed="rId8"/>
                      <a:stretch>
                        <a:fillRect/>
                      </a:stretch>
                    </p:blipFill>
                    <p:spPr>
                      <a:xfrm>
                        <a:off x="5084763" y="5033963"/>
                        <a:ext cx="495300" cy="771525"/>
                      </a:xfrm>
                      <a:prstGeom prst="rect">
                        <a:avLst/>
                      </a:prstGeom>
                      <a:noFill/>
                      <a:ln w="38100">
                        <a:noFill/>
                        <a:miter/>
                      </a:ln>
                    </p:spPr>
                  </p:pic>
                </p:oleObj>
              </mc:Fallback>
            </mc:AlternateContent>
          </a:graphicData>
        </a:graphic>
      </p:graphicFrame>
      <p:graphicFrame>
        <p:nvGraphicFramePr>
          <p:cNvPr id="78855" name="Object 9"/>
          <p:cNvGraphicFramePr/>
          <p:nvPr/>
        </p:nvGraphicFramePr>
        <p:xfrm>
          <a:off x="6742113" y="5033963"/>
          <a:ext cx="495300" cy="771525"/>
        </p:xfrm>
        <a:graphic>
          <a:graphicData uri="http://schemas.openxmlformats.org/presentationml/2006/ole">
            <mc:AlternateContent xmlns:mc="http://schemas.openxmlformats.org/markup-compatibility/2006">
              <mc:Choice xmlns:v="urn:schemas-microsoft-com:vml" Requires="v">
                <p:oleObj spid="_x0000_s7763" name="" r:id="rId9" imgW="673100" imgH="1054100" progId="Visio.Drawing.11">
                  <p:embed/>
                </p:oleObj>
              </mc:Choice>
              <mc:Fallback>
                <p:oleObj name="" r:id="rId9" imgW="673100" imgH="1054100" progId="Visio.Drawing.11">
                  <p:embed/>
                  <p:pic>
                    <p:nvPicPr>
                      <p:cNvPr id="0" name="图片 3110"/>
                      <p:cNvPicPr/>
                      <p:nvPr/>
                    </p:nvPicPr>
                    <p:blipFill>
                      <a:blip r:embed="rId8"/>
                      <a:stretch>
                        <a:fillRect/>
                      </a:stretch>
                    </p:blipFill>
                    <p:spPr>
                      <a:xfrm>
                        <a:off x="6742113" y="5033963"/>
                        <a:ext cx="495300" cy="771525"/>
                      </a:xfrm>
                      <a:prstGeom prst="rect">
                        <a:avLst/>
                      </a:prstGeom>
                      <a:noFill/>
                      <a:ln w="38100">
                        <a:noFill/>
                        <a:miter/>
                      </a:ln>
                    </p:spPr>
                  </p:pic>
                </p:oleObj>
              </mc:Fallback>
            </mc:AlternateContent>
          </a:graphicData>
        </a:graphic>
      </p:graphicFrame>
      <p:graphicFrame>
        <p:nvGraphicFramePr>
          <p:cNvPr id="78856" name="Object 10"/>
          <p:cNvGraphicFramePr/>
          <p:nvPr/>
        </p:nvGraphicFramePr>
        <p:xfrm>
          <a:off x="7677150" y="5033963"/>
          <a:ext cx="495300" cy="771525"/>
        </p:xfrm>
        <a:graphic>
          <a:graphicData uri="http://schemas.openxmlformats.org/presentationml/2006/ole">
            <mc:AlternateContent xmlns:mc="http://schemas.openxmlformats.org/markup-compatibility/2006">
              <mc:Choice xmlns:v="urn:schemas-microsoft-com:vml" Requires="v">
                <p:oleObj spid="_x0000_s7764" name="" r:id="rId10" imgW="673100" imgH="1054100" progId="Visio.Drawing.11">
                  <p:embed/>
                </p:oleObj>
              </mc:Choice>
              <mc:Fallback>
                <p:oleObj name="" r:id="rId10" imgW="673100" imgH="1054100" progId="Visio.Drawing.11">
                  <p:embed/>
                  <p:pic>
                    <p:nvPicPr>
                      <p:cNvPr id="0" name="图片 3108"/>
                      <p:cNvPicPr/>
                      <p:nvPr/>
                    </p:nvPicPr>
                    <p:blipFill>
                      <a:blip r:embed="rId8"/>
                      <a:stretch>
                        <a:fillRect/>
                      </a:stretch>
                    </p:blipFill>
                    <p:spPr>
                      <a:xfrm>
                        <a:off x="7677150" y="5033963"/>
                        <a:ext cx="495300" cy="771525"/>
                      </a:xfrm>
                      <a:prstGeom prst="rect">
                        <a:avLst/>
                      </a:prstGeom>
                      <a:noFill/>
                      <a:ln w="38100">
                        <a:noFill/>
                        <a:miter/>
                      </a:ln>
                    </p:spPr>
                  </p:pic>
                </p:oleObj>
              </mc:Fallback>
            </mc:AlternateContent>
          </a:graphicData>
        </a:graphic>
      </p:graphicFrame>
      <p:graphicFrame>
        <p:nvGraphicFramePr>
          <p:cNvPr id="78857" name="Object 11"/>
          <p:cNvGraphicFramePr/>
          <p:nvPr/>
        </p:nvGraphicFramePr>
        <p:xfrm>
          <a:off x="468313" y="5067300"/>
          <a:ext cx="2238375" cy="1457325"/>
        </p:xfrm>
        <a:graphic>
          <a:graphicData uri="http://schemas.openxmlformats.org/presentationml/2006/ole">
            <mc:AlternateContent xmlns:mc="http://schemas.openxmlformats.org/markup-compatibility/2006">
              <mc:Choice xmlns:v="urn:schemas-microsoft-com:vml" Requires="v">
                <p:oleObj spid="_x0000_s7765" name="" r:id="rId11" imgW="3009900" imgH="1968500" progId="Visio.Drawing.11">
                  <p:embed/>
                </p:oleObj>
              </mc:Choice>
              <mc:Fallback>
                <p:oleObj name="" r:id="rId11" imgW="3009900" imgH="1968500" progId="Visio.Drawing.11">
                  <p:embed/>
                  <p:pic>
                    <p:nvPicPr>
                      <p:cNvPr id="0" name="图片 3109"/>
                      <p:cNvPicPr/>
                      <p:nvPr/>
                    </p:nvPicPr>
                    <p:blipFill>
                      <a:blip r:embed="rId12"/>
                      <a:stretch>
                        <a:fillRect/>
                      </a:stretch>
                    </p:blipFill>
                    <p:spPr>
                      <a:xfrm>
                        <a:off x="468313" y="5067300"/>
                        <a:ext cx="2238375" cy="1457325"/>
                      </a:xfrm>
                      <a:prstGeom prst="rect">
                        <a:avLst/>
                      </a:prstGeom>
                      <a:noFill/>
                      <a:ln w="38100">
                        <a:noFill/>
                        <a:miter/>
                      </a:ln>
                    </p:spPr>
                  </p:pic>
                </p:oleObj>
              </mc:Fallback>
            </mc:AlternateContent>
          </a:graphicData>
        </a:graphic>
      </p:graphicFrame>
      <p:sp>
        <p:nvSpPr>
          <p:cNvPr id="78858" name="Text Box 12"/>
          <p:cNvSpPr txBox="1"/>
          <p:nvPr/>
        </p:nvSpPr>
        <p:spPr>
          <a:xfrm>
            <a:off x="5580063" y="5518150"/>
            <a:ext cx="998537"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abc = </a:t>
            </a:r>
            <a:r>
              <a:rPr lang="en-US" altLang="zh-CN" sz="2000" dirty="0">
                <a:ea typeface="宋体" panose="02010600030101010101" pitchFamily="2" charset="-122"/>
              </a:rPr>
              <a:t>X</a:t>
            </a:r>
            <a:endParaRPr lang="zh-CN" altLang="en-US" sz="2000" dirty="0">
              <a:ea typeface="宋体" panose="02010600030101010101" pitchFamily="2" charset="-122"/>
            </a:endParaRPr>
          </a:p>
        </p:txBody>
      </p:sp>
      <p:graphicFrame>
        <p:nvGraphicFramePr>
          <p:cNvPr id="78859" name="Object 13"/>
          <p:cNvGraphicFramePr/>
          <p:nvPr/>
        </p:nvGraphicFramePr>
        <p:xfrm>
          <a:off x="5003800" y="2420938"/>
          <a:ext cx="495300" cy="771525"/>
        </p:xfrm>
        <a:graphic>
          <a:graphicData uri="http://schemas.openxmlformats.org/presentationml/2006/ole">
            <mc:AlternateContent xmlns:mc="http://schemas.openxmlformats.org/markup-compatibility/2006">
              <mc:Choice xmlns:v="urn:schemas-microsoft-com:vml" Requires="v">
                <p:oleObj spid="_x0000_s7766" name="" r:id="rId13" imgW="673100" imgH="1054100" progId="Visio.Drawing.11">
                  <p:embed/>
                </p:oleObj>
              </mc:Choice>
              <mc:Fallback>
                <p:oleObj name="" r:id="rId13" imgW="673100" imgH="1054100" progId="Visio.Drawing.11">
                  <p:embed/>
                  <p:pic>
                    <p:nvPicPr>
                      <p:cNvPr id="0" name="图片 3115"/>
                      <p:cNvPicPr/>
                      <p:nvPr/>
                    </p:nvPicPr>
                    <p:blipFill>
                      <a:blip r:embed="rId4"/>
                      <a:stretch>
                        <a:fillRect/>
                      </a:stretch>
                    </p:blipFill>
                    <p:spPr>
                      <a:xfrm>
                        <a:off x="5003800" y="2420938"/>
                        <a:ext cx="495300" cy="771525"/>
                      </a:xfrm>
                      <a:prstGeom prst="rect">
                        <a:avLst/>
                      </a:prstGeom>
                      <a:noFill/>
                      <a:ln w="38100">
                        <a:noFill/>
                        <a:miter/>
                      </a:ln>
                    </p:spPr>
                  </p:pic>
                </p:oleObj>
              </mc:Fallback>
            </mc:AlternateContent>
          </a:graphicData>
        </a:graphic>
      </p:graphicFrame>
      <p:sp>
        <p:nvSpPr>
          <p:cNvPr id="78860" name="Text Box 14"/>
          <p:cNvSpPr txBox="1"/>
          <p:nvPr/>
        </p:nvSpPr>
        <p:spPr>
          <a:xfrm>
            <a:off x="3348038" y="5876925"/>
            <a:ext cx="2662237"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ea typeface="宋体" panose="02010600030101010101" pitchFamily="2" charset="-122"/>
              </a:rPr>
              <a:t>Response</a:t>
            </a:r>
            <a:r>
              <a:rPr lang="zh-CN" altLang="en-US" sz="1200" dirty="0">
                <a:ea typeface="宋体" panose="02010600030101010101" pitchFamily="2" charset="-122"/>
              </a:rPr>
              <a:t> (</a:t>
            </a:r>
            <a:r>
              <a:rPr lang="en-US" altLang="zh-CN" sz="1200" dirty="0">
                <a:ea typeface="宋体" panose="02010600030101010101" pitchFamily="2" charset="-122"/>
              </a:rPr>
              <a:t>2</a:t>
            </a:r>
            <a:r>
              <a:rPr lang="zh-CN" altLang="en-US" sz="1200" dirty="0">
                <a:ea typeface="宋体" panose="02010600030101010101" pitchFamily="2" charset="-122"/>
              </a:rPr>
              <a:t>) &amp;&amp; Promise</a:t>
            </a:r>
            <a:endParaRPr lang="zh-CN" altLang="en-US" sz="1200" dirty="0">
              <a:ea typeface="宋体" panose="02010600030101010101" pitchFamily="2" charset="-122"/>
            </a:endParaRPr>
          </a:p>
          <a:p>
            <a:pPr marL="0" lvl="0" indent="0" eaLnBrk="1" hangingPunct="1">
              <a:spcBef>
                <a:spcPct val="0"/>
              </a:spcBef>
              <a:buClrTx/>
              <a:buNone/>
            </a:pPr>
            <a:endParaRPr lang="zh-CN" altLang="en-US" sz="1200" dirty="0">
              <a:ea typeface="宋体" panose="02010600030101010101" pitchFamily="2" charset="-122"/>
            </a:endParaRPr>
          </a:p>
        </p:txBody>
      </p:sp>
      <p:sp>
        <p:nvSpPr>
          <p:cNvPr id="78861" name="Text Box 15"/>
          <p:cNvSpPr txBox="1"/>
          <p:nvPr/>
        </p:nvSpPr>
        <p:spPr>
          <a:xfrm>
            <a:off x="6227763" y="5873750"/>
            <a:ext cx="2087562"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ea typeface="宋体" panose="02010600030101010101" pitchFamily="2" charset="-122"/>
              </a:rPr>
              <a:t>Response</a:t>
            </a:r>
            <a:r>
              <a:rPr lang="zh-CN" altLang="en-US" sz="1200" dirty="0">
                <a:ea typeface="宋体" panose="02010600030101010101" pitchFamily="2" charset="-122"/>
              </a:rPr>
              <a:t> (</a:t>
            </a:r>
            <a:r>
              <a:rPr lang="en-US" altLang="zh-CN" sz="1200" dirty="0">
                <a:ea typeface="宋体" panose="02010600030101010101" pitchFamily="2" charset="-122"/>
              </a:rPr>
              <a:t>1</a:t>
            </a:r>
            <a:r>
              <a:rPr lang="zh-CN" altLang="en-US" sz="1200" dirty="0">
                <a:ea typeface="宋体" panose="02010600030101010101" pitchFamily="2" charset="-122"/>
              </a:rPr>
              <a:t>) &amp;&amp; Promise</a:t>
            </a:r>
            <a:endParaRPr lang="zh-CN" altLang="en-US" sz="1200" dirty="0">
              <a:ea typeface="宋体" panose="02010600030101010101" pitchFamily="2" charset="-122"/>
            </a:endParaRPr>
          </a:p>
          <a:p>
            <a:pPr marL="0" lvl="0" indent="0" eaLnBrk="1" hangingPunct="1">
              <a:spcBef>
                <a:spcPct val="0"/>
              </a:spcBef>
              <a:buClrTx/>
              <a:buNone/>
            </a:pPr>
            <a:endParaRPr lang="zh-CN" altLang="en-US" sz="1200" dirty="0">
              <a:ea typeface="宋体" panose="02010600030101010101" pitchFamily="2" charset="-122"/>
            </a:endParaRPr>
          </a:p>
        </p:txBody>
      </p:sp>
      <p:sp>
        <p:nvSpPr>
          <p:cNvPr id="78862" name="箭头 216"/>
          <p:cNvSpPr/>
          <p:nvPr/>
        </p:nvSpPr>
        <p:spPr>
          <a:xfrm flipH="1">
            <a:off x="4427538" y="2852738"/>
            <a:ext cx="649287" cy="2305050"/>
          </a:xfrm>
          <a:prstGeom prst="line">
            <a:avLst/>
          </a:prstGeom>
          <a:ln w="19050" cap="flat" cmpd="sng">
            <a:solidFill>
              <a:srgbClr val="FF0000"/>
            </a:solidFill>
            <a:prstDash val="solid"/>
            <a:headEnd type="triangle" w="med" len="med"/>
            <a:tailEnd type="none" w="med" len="med"/>
          </a:ln>
        </p:spPr>
      </p:sp>
      <p:sp>
        <p:nvSpPr>
          <p:cNvPr id="78863" name="箭头 216"/>
          <p:cNvSpPr/>
          <p:nvPr/>
        </p:nvSpPr>
        <p:spPr>
          <a:xfrm>
            <a:off x="5148263" y="2852738"/>
            <a:ext cx="179387" cy="2233612"/>
          </a:xfrm>
          <a:prstGeom prst="line">
            <a:avLst/>
          </a:prstGeom>
          <a:ln w="19050" cap="flat" cmpd="sng">
            <a:solidFill>
              <a:srgbClr val="FF0000"/>
            </a:solidFill>
            <a:prstDash val="solid"/>
            <a:headEnd type="triangle" w="med" len="med"/>
            <a:tailEnd type="none" w="med" len="med"/>
          </a:ln>
        </p:spPr>
      </p:sp>
      <p:sp>
        <p:nvSpPr>
          <p:cNvPr id="78864" name="箭头 216"/>
          <p:cNvSpPr/>
          <p:nvPr/>
        </p:nvSpPr>
        <p:spPr>
          <a:xfrm>
            <a:off x="6732588" y="3429000"/>
            <a:ext cx="431800" cy="1728788"/>
          </a:xfrm>
          <a:prstGeom prst="line">
            <a:avLst/>
          </a:prstGeom>
          <a:ln w="19050" cap="flat" cmpd="sng">
            <a:solidFill>
              <a:schemeClr val="tx1"/>
            </a:solidFill>
            <a:prstDash val="solid"/>
            <a:headEnd type="triangle" w="med" len="med"/>
            <a:tailEnd type="none" w="med" len="med"/>
          </a:ln>
        </p:spPr>
      </p:sp>
      <p:sp>
        <p:nvSpPr>
          <p:cNvPr id="78865" name="箭头 216"/>
          <p:cNvSpPr/>
          <p:nvPr/>
        </p:nvSpPr>
        <p:spPr>
          <a:xfrm>
            <a:off x="6875463" y="3357563"/>
            <a:ext cx="1081087" cy="1728787"/>
          </a:xfrm>
          <a:prstGeom prst="line">
            <a:avLst/>
          </a:prstGeom>
          <a:ln w="19050" cap="flat" cmpd="sng">
            <a:solidFill>
              <a:schemeClr val="tx1"/>
            </a:solidFill>
            <a:prstDash val="solid"/>
            <a:headEnd type="triangle" w="med" len="med"/>
            <a:tailEnd type="none" w="med" len="med"/>
          </a:ln>
        </p:spPr>
      </p:sp>
      <p:graphicFrame>
        <p:nvGraphicFramePr>
          <p:cNvPr id="78866" name="对象 1"/>
          <p:cNvGraphicFramePr/>
          <p:nvPr/>
        </p:nvGraphicFramePr>
        <p:xfrm>
          <a:off x="3203575" y="2971800"/>
          <a:ext cx="495300" cy="771525"/>
        </p:xfrm>
        <a:graphic>
          <a:graphicData uri="http://schemas.openxmlformats.org/presentationml/2006/ole">
            <mc:AlternateContent xmlns:mc="http://schemas.openxmlformats.org/markup-compatibility/2006">
              <mc:Choice xmlns:v="urn:schemas-microsoft-com:vml" Requires="v">
                <p:oleObj spid="_x0000_s7767" name="" r:id="rId14" imgW="673100" imgH="1054100" progId="Visio.Drawing.11">
                  <p:embed/>
                </p:oleObj>
              </mc:Choice>
              <mc:Fallback>
                <p:oleObj name="" r:id="rId14" imgW="673100" imgH="1054100" progId="Visio.Drawing.11">
                  <p:embed/>
                  <p:pic>
                    <p:nvPicPr>
                      <p:cNvPr id="0" name="图片 3125"/>
                      <p:cNvPicPr/>
                      <p:nvPr/>
                    </p:nvPicPr>
                    <p:blipFill>
                      <a:blip r:embed="rId2"/>
                      <a:stretch>
                        <a:fillRect/>
                      </a:stretch>
                    </p:blipFill>
                    <p:spPr>
                      <a:xfrm>
                        <a:off x="3203575" y="2971800"/>
                        <a:ext cx="495300" cy="771525"/>
                      </a:xfrm>
                      <a:prstGeom prst="rect">
                        <a:avLst/>
                      </a:prstGeom>
                      <a:noFill/>
                      <a:ln w="38100">
                        <a:noFill/>
                        <a:miter/>
                      </a:ln>
                    </p:spPr>
                  </p:pic>
                </p:oleObj>
              </mc:Fallback>
            </mc:AlternateContent>
          </a:graphicData>
        </a:graphic>
      </p:graphicFrame>
      <p:graphicFrame>
        <p:nvGraphicFramePr>
          <p:cNvPr id="78867" name="Object 11"/>
          <p:cNvGraphicFramePr/>
          <p:nvPr/>
        </p:nvGraphicFramePr>
        <p:xfrm>
          <a:off x="5867400" y="5032375"/>
          <a:ext cx="495300" cy="771525"/>
        </p:xfrm>
        <a:graphic>
          <a:graphicData uri="http://schemas.openxmlformats.org/presentationml/2006/ole">
            <mc:AlternateContent xmlns:mc="http://schemas.openxmlformats.org/markup-compatibility/2006">
              <mc:Choice xmlns:v="urn:schemas-microsoft-com:vml" Requires="v">
                <p:oleObj spid="_x0000_s7768" name="" r:id="rId15" imgW="673100" imgH="1054100" progId="Visio.Drawing.11">
                  <p:embed/>
                </p:oleObj>
              </mc:Choice>
              <mc:Fallback>
                <p:oleObj name="" r:id="rId15" imgW="673100" imgH="1054100" progId="Visio.Drawing.11">
                  <p:embed/>
                  <p:pic>
                    <p:nvPicPr>
                      <p:cNvPr id="0" name="图片 3124"/>
                      <p:cNvPicPr/>
                      <p:nvPr/>
                    </p:nvPicPr>
                    <p:blipFill>
                      <a:blip r:embed="rId8"/>
                      <a:stretch>
                        <a:fillRect/>
                      </a:stretch>
                    </p:blipFill>
                    <p:spPr>
                      <a:xfrm>
                        <a:off x="5867400" y="5032375"/>
                        <a:ext cx="495300" cy="771525"/>
                      </a:xfrm>
                      <a:prstGeom prst="rect">
                        <a:avLst/>
                      </a:prstGeom>
                      <a:noFill/>
                      <a:ln w="38100">
                        <a:noFill/>
                        <a:miter/>
                      </a:ln>
                    </p:spPr>
                  </p:pic>
                </p:oleObj>
              </mc:Fallback>
            </mc:AlternateContent>
          </a:graphicData>
        </a:graphic>
      </p:graphicFrame>
      <p:sp>
        <p:nvSpPr>
          <p:cNvPr id="78868" name="Text Box 15"/>
          <p:cNvSpPr txBox="1"/>
          <p:nvPr/>
        </p:nvSpPr>
        <p:spPr>
          <a:xfrm>
            <a:off x="4264025" y="4402138"/>
            <a:ext cx="1223963"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Response</a:t>
            </a:r>
            <a:endParaRPr lang="zh-CN" altLang="en-US" sz="2000" dirty="0">
              <a:ea typeface="宋体" panose="02010600030101010101" pitchFamily="2" charset="-122"/>
            </a:endParaRPr>
          </a:p>
        </p:txBody>
      </p:sp>
      <p:sp>
        <p:nvSpPr>
          <p:cNvPr id="78869" name="Text Box 15"/>
          <p:cNvSpPr txBox="1"/>
          <p:nvPr/>
        </p:nvSpPr>
        <p:spPr>
          <a:xfrm>
            <a:off x="6615113" y="4476750"/>
            <a:ext cx="1225550"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Response</a:t>
            </a:r>
            <a:endParaRPr lang="zh-CN" altLang="en-US" sz="2000" dirty="0">
              <a:ea typeface="宋体" panose="02010600030101010101" pitchFamily="2" charset="-122"/>
            </a:endParaRPr>
          </a:p>
        </p:txBody>
      </p:sp>
      <p:sp>
        <p:nvSpPr>
          <p:cNvPr id="78870" name="箭头 216"/>
          <p:cNvSpPr/>
          <p:nvPr/>
        </p:nvSpPr>
        <p:spPr>
          <a:xfrm flipH="1">
            <a:off x="6227763" y="3411538"/>
            <a:ext cx="288925" cy="1674812"/>
          </a:xfrm>
          <a:prstGeom prst="line">
            <a:avLst/>
          </a:prstGeom>
          <a:ln w="19050" cap="flat" cmpd="sng">
            <a:solidFill>
              <a:schemeClr val="tx1"/>
            </a:solidFill>
            <a:prstDash val="solid"/>
            <a:headEnd type="triangle" w="med" len="med"/>
            <a:tailEnd type="none" w="med" len="med"/>
          </a:ln>
        </p:spPr>
      </p:sp>
      <p:sp>
        <p:nvSpPr>
          <p:cNvPr id="78871" name="内容占位符 2"/>
          <p:cNvSpPr txBox="1"/>
          <p:nvPr/>
        </p:nvSpPr>
        <p:spPr>
          <a:xfrm>
            <a:off x="466725" y="1571625"/>
            <a:ext cx="8229600" cy="4665663"/>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742950" lvl="1" indent="-285750" eaLnBrk="1" hangingPunct="1">
              <a:buSzPct val="60000"/>
              <a:buFont typeface="Wingdings" panose="05000000000000000000" pitchFamily="2" charset="2"/>
              <a:buChar char="p"/>
            </a:pPr>
            <a:r>
              <a:rPr lang="en-US" altLang="zh-CN" dirty="0">
                <a:ea typeface="宋体" panose="02010600030101010101" pitchFamily="2" charset="-122"/>
              </a:rPr>
              <a:t>Prepare</a:t>
            </a:r>
            <a:endParaRPr lang="en-US" altLang="zh-CN" dirty="0">
              <a:ea typeface="宋体" panose="02010600030101010101" pitchFamily="2" charset="-122"/>
            </a:endParaRPr>
          </a:p>
          <a:p>
            <a:pPr marL="742950" lvl="1" indent="-285750" eaLnBrk="1" hangingPunct="1">
              <a:buSzPct val="60000"/>
              <a:buNone/>
            </a:pPr>
            <a:endParaRPr lang="en-US" altLang="zh-CN" dirty="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vert="horz" wrap="square" lIns="91440" tIns="45720" rIns="91440" bIns="45720" anchor="ctr" anchorCtr="0"/>
          <a:lstStyle/>
          <a:p>
            <a:pPr algn="l" eaLnBrk="1" hangingPunct="1"/>
            <a:r>
              <a:rPr lang="en-US" altLang="zh-CN" dirty="0">
                <a:ea typeface="宋体" panose="02010600030101010101" pitchFamily="2" charset="-122"/>
              </a:rPr>
              <a:t>Classic Paxos</a:t>
            </a:r>
            <a:endParaRPr lang="zh-CN" altLang="en-US" dirty="0">
              <a:ea typeface="宋体" panose="02010600030101010101" pitchFamily="2" charset="-122"/>
            </a:endParaRPr>
          </a:p>
        </p:txBody>
      </p:sp>
      <p:sp>
        <p:nvSpPr>
          <p:cNvPr id="79875" name="内容占位符 2"/>
          <p:cNvSpPr>
            <a:spLocks noGrp="1"/>
          </p:cNvSpPr>
          <p:nvPr>
            <p:ph idx="1"/>
          </p:nvPr>
        </p:nvSpPr>
        <p:spPr>
          <a:xfrm>
            <a:off x="468313" y="1557338"/>
            <a:ext cx="8229600" cy="4525962"/>
          </a:xfrm>
        </p:spPr>
        <p:txBody>
          <a:bodyPr vert="horz" wrap="square" lIns="91440" tIns="45720" rIns="91440" bIns="45720" anchor="t" anchorCtr="0"/>
          <a:lstStyle/>
          <a:p>
            <a:pPr lvl="1" eaLnBrk="1" hangingPunct="1">
              <a:buSzPct val="60000"/>
              <a:buFont typeface="Wingdings" panose="05000000000000000000" pitchFamily="2" charset="2"/>
              <a:buChar char="p"/>
            </a:pPr>
            <a:r>
              <a:rPr lang="en-US" altLang="zh-CN" dirty="0">
                <a:ea typeface="宋体" panose="02010600030101010101" pitchFamily="2" charset="-122"/>
              </a:rPr>
              <a:t>Prepare/Accept</a:t>
            </a:r>
            <a:endParaRPr lang="en-US" altLang="zh-CN" dirty="0">
              <a:ea typeface="宋体" panose="02010600030101010101" pitchFamily="2" charset="-122"/>
            </a:endParaRPr>
          </a:p>
          <a:p>
            <a:pPr lvl="1" eaLnBrk="1" hangingPunct="1">
              <a:buSzPct val="60000"/>
              <a:buNone/>
            </a:pPr>
            <a:endParaRPr lang="en-US" altLang="zh-CN" dirty="0">
              <a:ea typeface="宋体" panose="02010600030101010101" pitchFamily="2" charset="-122"/>
            </a:endParaRPr>
          </a:p>
        </p:txBody>
      </p:sp>
      <p:graphicFrame>
        <p:nvGraphicFramePr>
          <p:cNvPr id="79876" name="Object 4"/>
          <p:cNvGraphicFramePr/>
          <p:nvPr/>
        </p:nvGraphicFramePr>
        <p:xfrm>
          <a:off x="3132138" y="3933825"/>
          <a:ext cx="495300" cy="769938"/>
        </p:xfrm>
        <a:graphic>
          <a:graphicData uri="http://schemas.openxmlformats.org/presentationml/2006/ole">
            <mc:AlternateContent xmlns:mc="http://schemas.openxmlformats.org/markup-compatibility/2006">
              <mc:Choice xmlns:v="urn:schemas-microsoft-com:vml" Requires="v">
                <p:oleObj spid="_x0000_s8783" name="" r:id="rId1" imgW="673100" imgH="1054100" progId="Visio.Drawing.11">
                  <p:embed/>
                </p:oleObj>
              </mc:Choice>
              <mc:Fallback>
                <p:oleObj name="" r:id="rId1" imgW="673100" imgH="1054100" progId="Visio.Drawing.11">
                  <p:embed/>
                  <p:pic>
                    <p:nvPicPr>
                      <p:cNvPr id="0" name="图片 3126"/>
                      <p:cNvPicPr/>
                      <p:nvPr/>
                    </p:nvPicPr>
                    <p:blipFill>
                      <a:blip r:embed="rId2"/>
                      <a:stretch>
                        <a:fillRect/>
                      </a:stretch>
                    </p:blipFill>
                    <p:spPr>
                      <a:xfrm>
                        <a:off x="3132138" y="3933825"/>
                        <a:ext cx="495300" cy="769938"/>
                      </a:xfrm>
                      <a:prstGeom prst="rect">
                        <a:avLst/>
                      </a:prstGeom>
                      <a:noFill/>
                      <a:ln w="38100">
                        <a:noFill/>
                        <a:miter/>
                      </a:ln>
                    </p:spPr>
                  </p:pic>
                </p:oleObj>
              </mc:Fallback>
            </mc:AlternateContent>
          </a:graphicData>
        </a:graphic>
      </p:graphicFrame>
      <p:graphicFrame>
        <p:nvGraphicFramePr>
          <p:cNvPr id="79877" name="Object 5"/>
          <p:cNvGraphicFramePr/>
          <p:nvPr/>
        </p:nvGraphicFramePr>
        <p:xfrm>
          <a:off x="6445250" y="2997200"/>
          <a:ext cx="495300" cy="771525"/>
        </p:xfrm>
        <a:graphic>
          <a:graphicData uri="http://schemas.openxmlformats.org/presentationml/2006/ole">
            <mc:AlternateContent xmlns:mc="http://schemas.openxmlformats.org/markup-compatibility/2006">
              <mc:Choice xmlns:v="urn:schemas-microsoft-com:vml" Requires="v">
                <p:oleObj spid="_x0000_s8784" name="" r:id="rId3" imgW="673100" imgH="1054100" progId="Visio.Drawing.11">
                  <p:embed/>
                </p:oleObj>
              </mc:Choice>
              <mc:Fallback>
                <p:oleObj name="" r:id="rId3" imgW="673100" imgH="1054100" progId="Visio.Drawing.11">
                  <p:embed/>
                  <p:pic>
                    <p:nvPicPr>
                      <p:cNvPr id="0" name="图片 3122"/>
                      <p:cNvPicPr/>
                      <p:nvPr/>
                    </p:nvPicPr>
                    <p:blipFill>
                      <a:blip r:embed="rId4"/>
                      <a:stretch>
                        <a:fillRect/>
                      </a:stretch>
                    </p:blipFill>
                    <p:spPr>
                      <a:xfrm>
                        <a:off x="6445250" y="2997200"/>
                        <a:ext cx="495300" cy="771525"/>
                      </a:xfrm>
                      <a:prstGeom prst="rect">
                        <a:avLst/>
                      </a:prstGeom>
                      <a:noFill/>
                      <a:ln w="38100">
                        <a:noFill/>
                        <a:miter/>
                      </a:ln>
                    </p:spPr>
                  </p:pic>
                </p:oleObj>
              </mc:Fallback>
            </mc:AlternateContent>
          </a:graphicData>
        </a:graphic>
      </p:graphicFrame>
      <p:graphicFrame>
        <p:nvGraphicFramePr>
          <p:cNvPr id="79878" name="Object 6"/>
          <p:cNvGraphicFramePr/>
          <p:nvPr/>
        </p:nvGraphicFramePr>
        <p:xfrm>
          <a:off x="4076700" y="5033963"/>
          <a:ext cx="495300" cy="771525"/>
        </p:xfrm>
        <a:graphic>
          <a:graphicData uri="http://schemas.openxmlformats.org/presentationml/2006/ole">
            <mc:AlternateContent xmlns:mc="http://schemas.openxmlformats.org/markup-compatibility/2006">
              <mc:Choice xmlns:v="urn:schemas-microsoft-com:vml" Requires="v">
                <p:oleObj spid="_x0000_s8785" name="" r:id="rId5" imgW="673100" imgH="1054100" progId="Visio.Drawing.11">
                  <p:embed/>
                </p:oleObj>
              </mc:Choice>
              <mc:Fallback>
                <p:oleObj name="" r:id="rId5" imgW="673100" imgH="1054100" progId="Visio.Drawing.11">
                  <p:embed/>
                  <p:pic>
                    <p:nvPicPr>
                      <p:cNvPr id="0" name="图片 3121"/>
                      <p:cNvPicPr/>
                      <p:nvPr/>
                    </p:nvPicPr>
                    <p:blipFill>
                      <a:blip r:embed="rId6"/>
                      <a:stretch>
                        <a:fillRect/>
                      </a:stretch>
                    </p:blipFill>
                    <p:spPr>
                      <a:xfrm>
                        <a:off x="4076700" y="5033963"/>
                        <a:ext cx="495300" cy="771525"/>
                      </a:xfrm>
                      <a:prstGeom prst="rect">
                        <a:avLst/>
                      </a:prstGeom>
                      <a:noFill/>
                      <a:ln w="38100">
                        <a:noFill/>
                        <a:miter/>
                      </a:ln>
                    </p:spPr>
                  </p:pic>
                </p:oleObj>
              </mc:Fallback>
            </mc:AlternateContent>
          </a:graphicData>
        </a:graphic>
      </p:graphicFrame>
      <p:graphicFrame>
        <p:nvGraphicFramePr>
          <p:cNvPr id="79879" name="Object 7"/>
          <p:cNvGraphicFramePr/>
          <p:nvPr/>
        </p:nvGraphicFramePr>
        <p:xfrm>
          <a:off x="5084763" y="5033963"/>
          <a:ext cx="495300" cy="771525"/>
        </p:xfrm>
        <a:graphic>
          <a:graphicData uri="http://schemas.openxmlformats.org/presentationml/2006/ole">
            <mc:AlternateContent xmlns:mc="http://schemas.openxmlformats.org/markup-compatibility/2006">
              <mc:Choice xmlns:v="urn:schemas-microsoft-com:vml" Requires="v">
                <p:oleObj spid="_x0000_s8786" name="" r:id="rId7" imgW="673100" imgH="1054100" progId="Visio.Drawing.11">
                  <p:embed/>
                </p:oleObj>
              </mc:Choice>
              <mc:Fallback>
                <p:oleObj name="" r:id="rId7" imgW="673100" imgH="1054100" progId="Visio.Drawing.11">
                  <p:embed/>
                  <p:pic>
                    <p:nvPicPr>
                      <p:cNvPr id="0" name="图片 3123"/>
                      <p:cNvPicPr/>
                      <p:nvPr/>
                    </p:nvPicPr>
                    <p:blipFill>
                      <a:blip r:embed="rId8"/>
                      <a:stretch>
                        <a:fillRect/>
                      </a:stretch>
                    </p:blipFill>
                    <p:spPr>
                      <a:xfrm>
                        <a:off x="5084763" y="5033963"/>
                        <a:ext cx="495300" cy="771525"/>
                      </a:xfrm>
                      <a:prstGeom prst="rect">
                        <a:avLst/>
                      </a:prstGeom>
                      <a:noFill/>
                      <a:ln w="38100">
                        <a:noFill/>
                        <a:miter/>
                      </a:ln>
                    </p:spPr>
                  </p:pic>
                </p:oleObj>
              </mc:Fallback>
            </mc:AlternateContent>
          </a:graphicData>
        </a:graphic>
      </p:graphicFrame>
      <p:graphicFrame>
        <p:nvGraphicFramePr>
          <p:cNvPr id="79880" name="Object 9"/>
          <p:cNvGraphicFramePr/>
          <p:nvPr/>
        </p:nvGraphicFramePr>
        <p:xfrm>
          <a:off x="6742113" y="5033963"/>
          <a:ext cx="495300" cy="771525"/>
        </p:xfrm>
        <a:graphic>
          <a:graphicData uri="http://schemas.openxmlformats.org/presentationml/2006/ole">
            <mc:AlternateContent xmlns:mc="http://schemas.openxmlformats.org/markup-compatibility/2006">
              <mc:Choice xmlns:v="urn:schemas-microsoft-com:vml" Requires="v">
                <p:oleObj spid="_x0000_s8787" name="" r:id="rId9" imgW="673100" imgH="1054100" progId="Visio.Drawing.11">
                  <p:embed/>
                </p:oleObj>
              </mc:Choice>
              <mc:Fallback>
                <p:oleObj name="" r:id="rId9" imgW="673100" imgH="1054100" progId="Visio.Drawing.11">
                  <p:embed/>
                  <p:pic>
                    <p:nvPicPr>
                      <p:cNvPr id="0" name="图片 3120"/>
                      <p:cNvPicPr/>
                      <p:nvPr/>
                    </p:nvPicPr>
                    <p:blipFill>
                      <a:blip r:embed="rId8"/>
                      <a:stretch>
                        <a:fillRect/>
                      </a:stretch>
                    </p:blipFill>
                    <p:spPr>
                      <a:xfrm>
                        <a:off x="6742113" y="5033963"/>
                        <a:ext cx="495300" cy="771525"/>
                      </a:xfrm>
                      <a:prstGeom prst="rect">
                        <a:avLst/>
                      </a:prstGeom>
                      <a:noFill/>
                      <a:ln w="38100">
                        <a:noFill/>
                        <a:miter/>
                      </a:ln>
                    </p:spPr>
                  </p:pic>
                </p:oleObj>
              </mc:Fallback>
            </mc:AlternateContent>
          </a:graphicData>
        </a:graphic>
      </p:graphicFrame>
      <p:graphicFrame>
        <p:nvGraphicFramePr>
          <p:cNvPr id="79881" name="Object 10"/>
          <p:cNvGraphicFramePr/>
          <p:nvPr/>
        </p:nvGraphicFramePr>
        <p:xfrm>
          <a:off x="7677150" y="5033963"/>
          <a:ext cx="495300" cy="771525"/>
        </p:xfrm>
        <a:graphic>
          <a:graphicData uri="http://schemas.openxmlformats.org/presentationml/2006/ole">
            <mc:AlternateContent xmlns:mc="http://schemas.openxmlformats.org/markup-compatibility/2006">
              <mc:Choice xmlns:v="urn:schemas-microsoft-com:vml" Requires="v">
                <p:oleObj spid="_x0000_s8788" name="" r:id="rId10" imgW="673100" imgH="1054100" progId="Visio.Drawing.11">
                  <p:embed/>
                </p:oleObj>
              </mc:Choice>
              <mc:Fallback>
                <p:oleObj name="" r:id="rId10" imgW="673100" imgH="1054100" progId="Visio.Drawing.11">
                  <p:embed/>
                  <p:pic>
                    <p:nvPicPr>
                      <p:cNvPr id="0" name="图片 3119"/>
                      <p:cNvPicPr/>
                      <p:nvPr/>
                    </p:nvPicPr>
                    <p:blipFill>
                      <a:blip r:embed="rId8"/>
                      <a:stretch>
                        <a:fillRect/>
                      </a:stretch>
                    </p:blipFill>
                    <p:spPr>
                      <a:xfrm>
                        <a:off x="7677150" y="5033963"/>
                        <a:ext cx="495300" cy="771525"/>
                      </a:xfrm>
                      <a:prstGeom prst="rect">
                        <a:avLst/>
                      </a:prstGeom>
                      <a:noFill/>
                      <a:ln w="38100">
                        <a:noFill/>
                        <a:miter/>
                      </a:ln>
                    </p:spPr>
                  </p:pic>
                </p:oleObj>
              </mc:Fallback>
            </mc:AlternateContent>
          </a:graphicData>
        </a:graphic>
      </p:graphicFrame>
      <p:graphicFrame>
        <p:nvGraphicFramePr>
          <p:cNvPr id="79882" name="Object 11"/>
          <p:cNvGraphicFramePr/>
          <p:nvPr/>
        </p:nvGraphicFramePr>
        <p:xfrm>
          <a:off x="539750" y="4933950"/>
          <a:ext cx="2238375" cy="1457325"/>
        </p:xfrm>
        <a:graphic>
          <a:graphicData uri="http://schemas.openxmlformats.org/presentationml/2006/ole">
            <mc:AlternateContent xmlns:mc="http://schemas.openxmlformats.org/markup-compatibility/2006">
              <mc:Choice xmlns:v="urn:schemas-microsoft-com:vml" Requires="v">
                <p:oleObj spid="_x0000_s8789" name="" r:id="rId11" imgW="3009900" imgH="1968500" progId="Visio.Drawing.11">
                  <p:embed/>
                </p:oleObj>
              </mc:Choice>
              <mc:Fallback>
                <p:oleObj name="" r:id="rId11" imgW="3009900" imgH="1968500" progId="Visio.Drawing.11">
                  <p:embed/>
                  <p:pic>
                    <p:nvPicPr>
                      <p:cNvPr id="0" name="图片 3117"/>
                      <p:cNvPicPr/>
                      <p:nvPr/>
                    </p:nvPicPr>
                    <p:blipFill>
                      <a:blip r:embed="rId12"/>
                      <a:stretch>
                        <a:fillRect/>
                      </a:stretch>
                    </p:blipFill>
                    <p:spPr>
                      <a:xfrm>
                        <a:off x="539750" y="4933950"/>
                        <a:ext cx="2238375" cy="1457325"/>
                      </a:xfrm>
                      <a:prstGeom prst="rect">
                        <a:avLst/>
                      </a:prstGeom>
                      <a:noFill/>
                      <a:ln w="38100">
                        <a:noFill/>
                        <a:miter/>
                      </a:ln>
                    </p:spPr>
                  </p:pic>
                </p:oleObj>
              </mc:Fallback>
            </mc:AlternateContent>
          </a:graphicData>
        </a:graphic>
      </p:graphicFrame>
      <p:sp>
        <p:nvSpPr>
          <p:cNvPr id="79883" name="Text Box 12"/>
          <p:cNvSpPr txBox="1"/>
          <p:nvPr/>
        </p:nvSpPr>
        <p:spPr>
          <a:xfrm>
            <a:off x="5292725" y="5613400"/>
            <a:ext cx="998538"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000" dirty="0">
                <a:ea typeface="宋体" panose="02010600030101010101" pitchFamily="2" charset="-122"/>
              </a:rPr>
              <a:t>abc = </a:t>
            </a:r>
            <a:r>
              <a:rPr lang="en-US" altLang="zh-CN" sz="2000" dirty="0">
                <a:ea typeface="宋体" panose="02010600030101010101" pitchFamily="2" charset="-122"/>
              </a:rPr>
              <a:t>X</a:t>
            </a:r>
            <a:endParaRPr lang="zh-CN" altLang="en-US" sz="2000" dirty="0">
              <a:ea typeface="宋体" panose="02010600030101010101" pitchFamily="2" charset="-122"/>
            </a:endParaRPr>
          </a:p>
        </p:txBody>
      </p:sp>
      <p:graphicFrame>
        <p:nvGraphicFramePr>
          <p:cNvPr id="79884" name="Object 13"/>
          <p:cNvGraphicFramePr/>
          <p:nvPr/>
        </p:nvGraphicFramePr>
        <p:xfrm>
          <a:off x="5003800" y="2420938"/>
          <a:ext cx="495300" cy="771525"/>
        </p:xfrm>
        <a:graphic>
          <a:graphicData uri="http://schemas.openxmlformats.org/presentationml/2006/ole">
            <mc:AlternateContent xmlns:mc="http://schemas.openxmlformats.org/markup-compatibility/2006">
              <mc:Choice xmlns:v="urn:schemas-microsoft-com:vml" Requires="v">
                <p:oleObj spid="_x0000_s8790" name="" r:id="rId13" imgW="673100" imgH="1054100" progId="Visio.Drawing.11">
                  <p:embed/>
                </p:oleObj>
              </mc:Choice>
              <mc:Fallback>
                <p:oleObj name="" r:id="rId13" imgW="673100" imgH="1054100" progId="Visio.Drawing.11">
                  <p:embed/>
                  <p:pic>
                    <p:nvPicPr>
                      <p:cNvPr id="0" name="图片 3118"/>
                      <p:cNvPicPr/>
                      <p:nvPr/>
                    </p:nvPicPr>
                    <p:blipFill>
                      <a:blip r:embed="rId4"/>
                      <a:stretch>
                        <a:fillRect/>
                      </a:stretch>
                    </p:blipFill>
                    <p:spPr>
                      <a:xfrm>
                        <a:off x="5003800" y="2420938"/>
                        <a:ext cx="495300" cy="771525"/>
                      </a:xfrm>
                      <a:prstGeom prst="rect">
                        <a:avLst/>
                      </a:prstGeom>
                      <a:noFill/>
                      <a:ln w="38100">
                        <a:noFill/>
                        <a:miter/>
                      </a:ln>
                    </p:spPr>
                  </p:pic>
                </p:oleObj>
              </mc:Fallback>
            </mc:AlternateContent>
          </a:graphicData>
        </a:graphic>
      </p:graphicFrame>
      <p:sp>
        <p:nvSpPr>
          <p:cNvPr id="17423" name="Text Box 15"/>
          <p:cNvSpPr txBox="1"/>
          <p:nvPr/>
        </p:nvSpPr>
        <p:spPr>
          <a:xfrm>
            <a:off x="6262688" y="5656263"/>
            <a:ext cx="2786062" cy="3079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400" dirty="0">
                <a:ea typeface="宋体" panose="02010600030101010101" pitchFamily="2" charset="-122"/>
              </a:rPr>
              <a:t>Accept</a:t>
            </a:r>
            <a:r>
              <a:rPr lang="zh-CN" altLang="en-US" sz="1400" dirty="0">
                <a:ea typeface="宋体" panose="02010600030101010101" pitchFamily="2" charset="-122"/>
              </a:rPr>
              <a:t> (</a:t>
            </a:r>
            <a:r>
              <a:rPr lang="en-US" altLang="zh-CN" sz="1400" dirty="0">
                <a:ea typeface="宋体" panose="02010600030101010101" pitchFamily="2" charset="-122"/>
              </a:rPr>
              <a:t>1, set abc=0</a:t>
            </a:r>
            <a:r>
              <a:rPr lang="zh-CN" altLang="en-US" sz="1400" dirty="0">
                <a:ea typeface="宋体" panose="02010600030101010101" pitchFamily="2" charset="-122"/>
              </a:rPr>
              <a:t>) &amp;&amp; Promise</a:t>
            </a:r>
            <a:endParaRPr lang="zh-CN" altLang="en-US" sz="1200" dirty="0">
              <a:ea typeface="宋体" panose="02010600030101010101" pitchFamily="2" charset="-122"/>
            </a:endParaRPr>
          </a:p>
        </p:txBody>
      </p:sp>
      <p:sp>
        <p:nvSpPr>
          <p:cNvPr id="79886" name="箭头 216"/>
          <p:cNvSpPr/>
          <p:nvPr/>
        </p:nvSpPr>
        <p:spPr>
          <a:xfrm flipH="1" flipV="1">
            <a:off x="6645275" y="3429000"/>
            <a:ext cx="374650" cy="1657350"/>
          </a:xfrm>
          <a:prstGeom prst="line">
            <a:avLst/>
          </a:prstGeom>
          <a:ln w="19050" cap="flat" cmpd="sng">
            <a:solidFill>
              <a:schemeClr val="tx1"/>
            </a:solidFill>
            <a:prstDash val="solid"/>
            <a:headEnd type="triangle" w="med" len="med"/>
            <a:tailEnd type="none" w="med" len="med"/>
          </a:ln>
        </p:spPr>
      </p:sp>
      <p:sp>
        <p:nvSpPr>
          <p:cNvPr id="79887" name="箭头 216"/>
          <p:cNvSpPr/>
          <p:nvPr/>
        </p:nvSpPr>
        <p:spPr>
          <a:xfrm flipH="1" flipV="1">
            <a:off x="6832600" y="3429000"/>
            <a:ext cx="1062038" cy="1657350"/>
          </a:xfrm>
          <a:prstGeom prst="line">
            <a:avLst/>
          </a:prstGeom>
          <a:ln w="19050" cap="flat" cmpd="sng">
            <a:solidFill>
              <a:schemeClr val="tx1"/>
            </a:solidFill>
            <a:prstDash val="solid"/>
            <a:headEnd type="triangle" w="med" len="med"/>
            <a:tailEnd type="none" w="med" len="med"/>
          </a:ln>
        </p:spPr>
      </p:sp>
      <p:graphicFrame>
        <p:nvGraphicFramePr>
          <p:cNvPr id="79888" name="对象 1"/>
          <p:cNvGraphicFramePr/>
          <p:nvPr/>
        </p:nvGraphicFramePr>
        <p:xfrm>
          <a:off x="3203575" y="2971800"/>
          <a:ext cx="495300" cy="771525"/>
        </p:xfrm>
        <a:graphic>
          <a:graphicData uri="http://schemas.openxmlformats.org/presentationml/2006/ole">
            <mc:AlternateContent xmlns:mc="http://schemas.openxmlformats.org/markup-compatibility/2006">
              <mc:Choice xmlns:v="urn:schemas-microsoft-com:vml" Requires="v">
                <p:oleObj spid="_x0000_s8791" name="" r:id="rId14" imgW="673100" imgH="1054100" progId="Visio.Drawing.11">
                  <p:embed/>
                </p:oleObj>
              </mc:Choice>
              <mc:Fallback>
                <p:oleObj name="" r:id="rId14" imgW="673100" imgH="1054100" progId="Visio.Drawing.11">
                  <p:embed/>
                  <p:pic>
                    <p:nvPicPr>
                      <p:cNvPr id="0" name="图片 3127"/>
                      <p:cNvPicPr/>
                      <p:nvPr/>
                    </p:nvPicPr>
                    <p:blipFill>
                      <a:blip r:embed="rId2"/>
                      <a:stretch>
                        <a:fillRect/>
                      </a:stretch>
                    </p:blipFill>
                    <p:spPr>
                      <a:xfrm>
                        <a:off x="3203575" y="2971800"/>
                        <a:ext cx="495300" cy="771525"/>
                      </a:xfrm>
                      <a:prstGeom prst="rect">
                        <a:avLst/>
                      </a:prstGeom>
                      <a:noFill/>
                      <a:ln w="38100">
                        <a:noFill/>
                        <a:miter/>
                      </a:ln>
                    </p:spPr>
                  </p:pic>
                </p:oleObj>
              </mc:Fallback>
            </mc:AlternateContent>
          </a:graphicData>
        </a:graphic>
      </p:graphicFrame>
      <p:graphicFrame>
        <p:nvGraphicFramePr>
          <p:cNvPr id="79889" name="Object 11"/>
          <p:cNvGraphicFramePr/>
          <p:nvPr/>
        </p:nvGraphicFramePr>
        <p:xfrm>
          <a:off x="5867400" y="5032375"/>
          <a:ext cx="495300" cy="771525"/>
        </p:xfrm>
        <a:graphic>
          <a:graphicData uri="http://schemas.openxmlformats.org/presentationml/2006/ole">
            <mc:AlternateContent xmlns:mc="http://schemas.openxmlformats.org/markup-compatibility/2006">
              <mc:Choice xmlns:v="urn:schemas-microsoft-com:vml" Requires="v">
                <p:oleObj spid="_x0000_s8792" name="" r:id="rId15" imgW="673100" imgH="1054100" progId="Visio.Drawing.11">
                  <p:embed/>
                </p:oleObj>
              </mc:Choice>
              <mc:Fallback>
                <p:oleObj name="" r:id="rId15" imgW="673100" imgH="1054100" progId="Visio.Drawing.11">
                  <p:embed/>
                  <p:pic>
                    <p:nvPicPr>
                      <p:cNvPr id="0" name="图片 3128"/>
                      <p:cNvPicPr/>
                      <p:nvPr/>
                    </p:nvPicPr>
                    <p:blipFill>
                      <a:blip r:embed="rId8"/>
                      <a:stretch>
                        <a:fillRect/>
                      </a:stretch>
                    </p:blipFill>
                    <p:spPr>
                      <a:xfrm>
                        <a:off x="5867400" y="5032375"/>
                        <a:ext cx="495300" cy="771525"/>
                      </a:xfrm>
                      <a:prstGeom prst="rect">
                        <a:avLst/>
                      </a:prstGeom>
                      <a:noFill/>
                      <a:ln w="38100">
                        <a:noFill/>
                        <a:miter/>
                      </a:ln>
                    </p:spPr>
                  </p:pic>
                </p:oleObj>
              </mc:Fallback>
            </mc:AlternateContent>
          </a:graphicData>
        </a:graphic>
      </p:graphicFrame>
      <p:sp>
        <p:nvSpPr>
          <p:cNvPr id="79890" name="Text Box 15"/>
          <p:cNvSpPr txBox="1"/>
          <p:nvPr/>
        </p:nvSpPr>
        <p:spPr>
          <a:xfrm>
            <a:off x="6494463" y="4429125"/>
            <a:ext cx="1614487"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(1, set abc=0)</a:t>
            </a:r>
            <a:endParaRPr lang="zh-CN" altLang="en-US" sz="2000" dirty="0">
              <a:ea typeface="宋体" panose="02010600030101010101" pitchFamily="2" charset="-122"/>
            </a:endParaRPr>
          </a:p>
        </p:txBody>
      </p:sp>
      <p:sp>
        <p:nvSpPr>
          <p:cNvPr id="79891" name="箭头 216"/>
          <p:cNvSpPr/>
          <p:nvPr/>
        </p:nvSpPr>
        <p:spPr>
          <a:xfrm flipV="1">
            <a:off x="6227763" y="3357563"/>
            <a:ext cx="288925" cy="1728787"/>
          </a:xfrm>
          <a:prstGeom prst="line">
            <a:avLst/>
          </a:prstGeom>
          <a:ln w="19050" cap="flat" cmpd="sng">
            <a:solidFill>
              <a:schemeClr val="tx1"/>
            </a:solidFill>
            <a:prstDash val="solid"/>
            <a:headEnd type="triangle" w="med" len="med"/>
            <a:tailEnd type="none" w="med" len="med"/>
          </a:ln>
        </p:spPr>
      </p:sp>
      <p:sp>
        <p:nvSpPr>
          <p:cNvPr id="79892" name="箭头 216"/>
          <p:cNvSpPr/>
          <p:nvPr/>
        </p:nvSpPr>
        <p:spPr>
          <a:xfrm>
            <a:off x="5148263" y="2852738"/>
            <a:ext cx="179387" cy="2233612"/>
          </a:xfrm>
          <a:prstGeom prst="line">
            <a:avLst/>
          </a:prstGeom>
          <a:ln w="19050" cap="flat" cmpd="sng">
            <a:solidFill>
              <a:srgbClr val="FF0000"/>
            </a:solidFill>
            <a:prstDash val="solid"/>
            <a:headEnd type="triangle" w="med" len="med"/>
            <a:tailEnd type="none" w="med" len="med"/>
          </a:ln>
        </p:spPr>
      </p:sp>
      <p:sp>
        <p:nvSpPr>
          <p:cNvPr id="79893" name="箭头 216"/>
          <p:cNvSpPr/>
          <p:nvPr/>
        </p:nvSpPr>
        <p:spPr>
          <a:xfrm flipH="1">
            <a:off x="4427538" y="2852738"/>
            <a:ext cx="649287" cy="2305050"/>
          </a:xfrm>
          <a:prstGeom prst="line">
            <a:avLst/>
          </a:prstGeom>
          <a:ln w="19050" cap="flat" cmpd="sng">
            <a:solidFill>
              <a:srgbClr val="FF0000"/>
            </a:solidFill>
            <a:prstDash val="solid"/>
            <a:headEnd type="triangle" w="med" len="med"/>
            <a:tailEnd type="none" w="med" len="med"/>
          </a:ln>
        </p:spPr>
      </p:sp>
      <p:sp>
        <p:nvSpPr>
          <p:cNvPr id="79894" name="Text Box 15"/>
          <p:cNvSpPr txBox="1"/>
          <p:nvPr/>
        </p:nvSpPr>
        <p:spPr>
          <a:xfrm>
            <a:off x="4284663" y="4221163"/>
            <a:ext cx="1223962"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Response</a:t>
            </a:r>
            <a:endParaRPr lang="zh-CN" altLang="en-US" sz="2000" dirty="0">
              <a:ea typeface="宋体" panose="02010600030101010101" pitchFamily="2" charset="-122"/>
            </a:endParaRPr>
          </a:p>
        </p:txBody>
      </p:sp>
      <p:sp>
        <p:nvSpPr>
          <p:cNvPr id="79895" name="Text Box 14"/>
          <p:cNvSpPr txBox="1"/>
          <p:nvPr/>
        </p:nvSpPr>
        <p:spPr>
          <a:xfrm>
            <a:off x="3105150" y="5657850"/>
            <a:ext cx="2247900" cy="3079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400" dirty="0">
                <a:ea typeface="宋体" panose="02010600030101010101" pitchFamily="2" charset="-122"/>
              </a:rPr>
              <a:t>Response</a:t>
            </a:r>
            <a:r>
              <a:rPr lang="zh-CN" altLang="en-US" sz="1400" dirty="0">
                <a:ea typeface="宋体" panose="02010600030101010101" pitchFamily="2" charset="-122"/>
              </a:rPr>
              <a:t> (</a:t>
            </a:r>
            <a:r>
              <a:rPr lang="en-US" altLang="zh-CN" sz="1400" dirty="0">
                <a:ea typeface="宋体" panose="02010600030101010101" pitchFamily="2" charset="-122"/>
              </a:rPr>
              <a:t>2</a:t>
            </a:r>
            <a:r>
              <a:rPr lang="zh-CN" altLang="en-US" sz="1400" dirty="0">
                <a:ea typeface="宋体" panose="02010600030101010101" pitchFamily="2" charset="-122"/>
              </a:rPr>
              <a:t>) &amp;&amp; Promise</a:t>
            </a:r>
            <a:endParaRPr lang="zh-CN" altLang="en-US" sz="1800" dirty="0">
              <a:ea typeface="宋体" panose="02010600030101010101" pitchFamily="2" charset="-122"/>
            </a:endParaRPr>
          </a:p>
        </p:txBody>
      </p:sp>
      <p:sp>
        <p:nvSpPr>
          <p:cNvPr id="31" name="箭头 216"/>
          <p:cNvSpPr/>
          <p:nvPr/>
        </p:nvSpPr>
        <p:spPr>
          <a:xfrm>
            <a:off x="5370513" y="2813050"/>
            <a:ext cx="641350" cy="2273300"/>
          </a:xfrm>
          <a:prstGeom prst="line">
            <a:avLst/>
          </a:prstGeom>
          <a:ln w="19050" cap="flat" cmpd="sng">
            <a:solidFill>
              <a:srgbClr val="FF0000"/>
            </a:solidFill>
            <a:prstDash val="solid"/>
            <a:headEnd type="none" w="med" len="med"/>
            <a:tailEnd type="triangle" w="med" len="med"/>
          </a:ln>
        </p:spPr>
      </p:sp>
      <p:sp>
        <p:nvSpPr>
          <p:cNvPr id="32" name="箭头 216"/>
          <p:cNvSpPr/>
          <p:nvPr/>
        </p:nvSpPr>
        <p:spPr>
          <a:xfrm>
            <a:off x="5508625" y="2768600"/>
            <a:ext cx="539750" cy="2305050"/>
          </a:xfrm>
          <a:prstGeom prst="line">
            <a:avLst/>
          </a:prstGeom>
          <a:ln w="19050" cap="flat" cmpd="sng">
            <a:solidFill>
              <a:srgbClr val="FF0000"/>
            </a:solidFill>
            <a:prstDash val="solid"/>
            <a:headEnd type="triangle" w="med" len="med"/>
            <a:tailEnd type="none" w="med" len="med"/>
          </a:ln>
        </p:spPr>
      </p:sp>
      <p:sp>
        <p:nvSpPr>
          <p:cNvPr id="33" name="Text Box 15"/>
          <p:cNvSpPr txBox="1"/>
          <p:nvPr/>
        </p:nvSpPr>
        <p:spPr>
          <a:xfrm>
            <a:off x="5148263" y="3090863"/>
            <a:ext cx="1497012" cy="52228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400" dirty="0">
                <a:ea typeface="宋体" panose="02010600030101010101" pitchFamily="2" charset="-122"/>
              </a:rPr>
              <a:t>Response</a:t>
            </a:r>
            <a:endParaRPr lang="en-US" altLang="zh-CN" sz="1400" dirty="0">
              <a:ea typeface="宋体" panose="02010600030101010101" pitchFamily="2" charset="-122"/>
            </a:endParaRPr>
          </a:p>
          <a:p>
            <a:pPr marL="0" lvl="0" indent="0" eaLnBrk="1" hangingPunct="1">
              <a:spcBef>
                <a:spcPct val="0"/>
              </a:spcBef>
              <a:buClrTx/>
              <a:buNone/>
            </a:pPr>
            <a:r>
              <a:rPr lang="en-US" altLang="zh-CN" sz="1400" dirty="0">
                <a:ea typeface="宋体" panose="02010600030101010101" pitchFamily="2" charset="-122"/>
              </a:rPr>
              <a:t>(1, set abc =</a:t>
            </a:r>
            <a:r>
              <a:rPr lang="en-US" altLang="zh-CN" sz="1400" dirty="0">
                <a:solidFill>
                  <a:srgbClr val="FF0000"/>
                </a:solidFill>
                <a:ea typeface="宋体" panose="02010600030101010101" pitchFamily="2" charset="-122"/>
              </a:rPr>
              <a:t>0</a:t>
            </a:r>
            <a:r>
              <a:rPr lang="en-US" altLang="zh-CN" sz="1400" dirty="0">
                <a:ea typeface="宋体" panose="02010600030101010101" pitchFamily="2" charset="-122"/>
              </a:rPr>
              <a:t>)</a:t>
            </a:r>
            <a:endParaRPr lang="zh-CN" altLang="en-US" sz="1400" dirty="0">
              <a:ea typeface="宋体" panose="02010600030101010101" pitchFamily="2" charset="-122"/>
            </a:endParaRPr>
          </a:p>
        </p:txBody>
      </p:sp>
      <p:sp>
        <p:nvSpPr>
          <p:cNvPr id="34" name="Text Box 15"/>
          <p:cNvSpPr txBox="1"/>
          <p:nvPr/>
        </p:nvSpPr>
        <p:spPr>
          <a:xfrm>
            <a:off x="6645275" y="5651500"/>
            <a:ext cx="2087563" cy="4921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400" dirty="0">
                <a:ea typeface="宋体" panose="02010600030101010101" pitchFamily="2" charset="-122"/>
              </a:rPr>
              <a:t>Response</a:t>
            </a:r>
            <a:r>
              <a:rPr lang="zh-CN" altLang="en-US" sz="1400" dirty="0">
                <a:ea typeface="宋体" panose="02010600030101010101" pitchFamily="2" charset="-122"/>
              </a:rPr>
              <a:t> (</a:t>
            </a:r>
            <a:r>
              <a:rPr lang="en-US" altLang="zh-CN" sz="1400" dirty="0">
                <a:ea typeface="宋体" panose="02010600030101010101" pitchFamily="2" charset="-122"/>
              </a:rPr>
              <a:t>1</a:t>
            </a:r>
            <a:r>
              <a:rPr lang="zh-CN" altLang="en-US" sz="1400" dirty="0">
                <a:ea typeface="宋体" panose="02010600030101010101" pitchFamily="2" charset="-122"/>
              </a:rPr>
              <a:t>) &amp;&amp; Promise</a:t>
            </a:r>
            <a:endParaRPr lang="zh-CN" altLang="en-US" sz="1400" dirty="0">
              <a:ea typeface="宋体" panose="02010600030101010101" pitchFamily="2" charset="-122"/>
            </a:endParaRPr>
          </a:p>
          <a:p>
            <a:pPr marL="0" lvl="0" indent="0" eaLnBrk="1" hangingPunct="1">
              <a:spcBef>
                <a:spcPct val="0"/>
              </a:spcBef>
              <a:buClrTx/>
              <a:buNone/>
            </a:pPr>
            <a:endParaRPr lang="zh-CN" altLang="en-US" sz="12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23"/>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3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3" grpId="0"/>
      <p:bldP spid="33" grpId="0"/>
      <p:bldP spid="3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vert="horz" wrap="square" lIns="91440" tIns="45720" rIns="91440" bIns="45720" anchor="ctr" anchorCtr="0"/>
          <a:lstStyle/>
          <a:p>
            <a:pPr algn="l" eaLnBrk="1" hangingPunct="1"/>
            <a:r>
              <a:rPr lang="en-US" altLang="zh-CN" dirty="0">
                <a:ea typeface="宋体" panose="02010600030101010101" pitchFamily="2" charset="-122"/>
              </a:rPr>
              <a:t>Classic Paxos</a:t>
            </a:r>
            <a:endParaRPr lang="zh-CN" altLang="en-US" dirty="0">
              <a:ea typeface="宋体" panose="02010600030101010101" pitchFamily="2" charset="-122"/>
            </a:endParaRPr>
          </a:p>
        </p:txBody>
      </p:sp>
      <p:sp>
        <p:nvSpPr>
          <p:cNvPr id="80899" name="内容占位符 2"/>
          <p:cNvSpPr>
            <a:spLocks noGrp="1"/>
          </p:cNvSpPr>
          <p:nvPr>
            <p:ph idx="1"/>
          </p:nvPr>
        </p:nvSpPr>
        <p:spPr>
          <a:xfrm>
            <a:off x="468313" y="1557338"/>
            <a:ext cx="8229600" cy="4525962"/>
          </a:xfrm>
        </p:spPr>
        <p:txBody>
          <a:bodyPr vert="horz" wrap="square" lIns="91440" tIns="45720" rIns="91440" bIns="45720" anchor="t" anchorCtr="0"/>
          <a:lstStyle/>
          <a:p>
            <a:pPr lvl="1" eaLnBrk="1" hangingPunct="1">
              <a:buSzPct val="60000"/>
              <a:buFont typeface="Wingdings" panose="05000000000000000000" pitchFamily="2" charset="2"/>
              <a:buChar char="p"/>
            </a:pPr>
            <a:r>
              <a:rPr lang="en-US" altLang="zh-CN" dirty="0">
                <a:ea typeface="宋体" panose="02010600030101010101" pitchFamily="2" charset="-122"/>
              </a:rPr>
              <a:t>Accept</a:t>
            </a:r>
            <a:endParaRPr lang="en-US" altLang="zh-CN" dirty="0">
              <a:ea typeface="宋体" panose="02010600030101010101" pitchFamily="2" charset="-122"/>
            </a:endParaRPr>
          </a:p>
          <a:p>
            <a:pPr lvl="1" eaLnBrk="1" hangingPunct="1">
              <a:buSzPct val="60000"/>
              <a:buNone/>
            </a:pPr>
            <a:endParaRPr lang="en-US" altLang="zh-CN" dirty="0">
              <a:ea typeface="宋体" panose="02010600030101010101" pitchFamily="2" charset="-122"/>
            </a:endParaRPr>
          </a:p>
        </p:txBody>
      </p:sp>
      <p:graphicFrame>
        <p:nvGraphicFramePr>
          <p:cNvPr id="80900" name="Object 4"/>
          <p:cNvGraphicFramePr/>
          <p:nvPr/>
        </p:nvGraphicFramePr>
        <p:xfrm>
          <a:off x="3132138" y="3933825"/>
          <a:ext cx="495300" cy="769938"/>
        </p:xfrm>
        <a:graphic>
          <a:graphicData uri="http://schemas.openxmlformats.org/presentationml/2006/ole">
            <mc:AlternateContent xmlns:mc="http://schemas.openxmlformats.org/markup-compatibility/2006">
              <mc:Choice xmlns:v="urn:schemas-microsoft-com:vml" Requires="v">
                <p:oleObj spid="_x0000_s9807" name="" r:id="rId1" imgW="673100" imgH="1054100" progId="Visio.Drawing.11">
                  <p:embed/>
                </p:oleObj>
              </mc:Choice>
              <mc:Fallback>
                <p:oleObj name="" r:id="rId1" imgW="673100" imgH="1054100" progId="Visio.Drawing.11">
                  <p:embed/>
                  <p:pic>
                    <p:nvPicPr>
                      <p:cNvPr id="0" name="图片 3133"/>
                      <p:cNvPicPr/>
                      <p:nvPr/>
                    </p:nvPicPr>
                    <p:blipFill>
                      <a:blip r:embed="rId2"/>
                      <a:stretch>
                        <a:fillRect/>
                      </a:stretch>
                    </p:blipFill>
                    <p:spPr>
                      <a:xfrm>
                        <a:off x="3132138" y="3933825"/>
                        <a:ext cx="495300" cy="769938"/>
                      </a:xfrm>
                      <a:prstGeom prst="rect">
                        <a:avLst/>
                      </a:prstGeom>
                      <a:noFill/>
                      <a:ln w="38100">
                        <a:noFill/>
                        <a:miter/>
                      </a:ln>
                    </p:spPr>
                  </p:pic>
                </p:oleObj>
              </mc:Fallback>
            </mc:AlternateContent>
          </a:graphicData>
        </a:graphic>
      </p:graphicFrame>
      <p:graphicFrame>
        <p:nvGraphicFramePr>
          <p:cNvPr id="80901" name="Object 5"/>
          <p:cNvGraphicFramePr/>
          <p:nvPr/>
        </p:nvGraphicFramePr>
        <p:xfrm>
          <a:off x="6445250" y="2997200"/>
          <a:ext cx="495300" cy="771525"/>
        </p:xfrm>
        <a:graphic>
          <a:graphicData uri="http://schemas.openxmlformats.org/presentationml/2006/ole">
            <mc:AlternateContent xmlns:mc="http://schemas.openxmlformats.org/markup-compatibility/2006">
              <mc:Choice xmlns:v="urn:schemas-microsoft-com:vml" Requires="v">
                <p:oleObj spid="_x0000_s9808" name="" r:id="rId3" imgW="673100" imgH="1054100" progId="Visio.Drawing.11">
                  <p:embed/>
                </p:oleObj>
              </mc:Choice>
              <mc:Fallback>
                <p:oleObj name="" r:id="rId3" imgW="673100" imgH="1054100" progId="Visio.Drawing.11">
                  <p:embed/>
                  <p:pic>
                    <p:nvPicPr>
                      <p:cNvPr id="0" name="图片 3135"/>
                      <p:cNvPicPr/>
                      <p:nvPr/>
                    </p:nvPicPr>
                    <p:blipFill>
                      <a:blip r:embed="rId4"/>
                      <a:stretch>
                        <a:fillRect/>
                      </a:stretch>
                    </p:blipFill>
                    <p:spPr>
                      <a:xfrm>
                        <a:off x="6445250" y="2997200"/>
                        <a:ext cx="495300" cy="771525"/>
                      </a:xfrm>
                      <a:prstGeom prst="rect">
                        <a:avLst/>
                      </a:prstGeom>
                      <a:noFill/>
                      <a:ln w="38100">
                        <a:noFill/>
                        <a:miter/>
                      </a:ln>
                    </p:spPr>
                  </p:pic>
                </p:oleObj>
              </mc:Fallback>
            </mc:AlternateContent>
          </a:graphicData>
        </a:graphic>
      </p:graphicFrame>
      <p:graphicFrame>
        <p:nvGraphicFramePr>
          <p:cNvPr id="80902" name="Object 6"/>
          <p:cNvGraphicFramePr/>
          <p:nvPr/>
        </p:nvGraphicFramePr>
        <p:xfrm>
          <a:off x="4076700" y="5033963"/>
          <a:ext cx="495300" cy="771525"/>
        </p:xfrm>
        <a:graphic>
          <a:graphicData uri="http://schemas.openxmlformats.org/presentationml/2006/ole">
            <mc:AlternateContent xmlns:mc="http://schemas.openxmlformats.org/markup-compatibility/2006">
              <mc:Choice xmlns:v="urn:schemas-microsoft-com:vml" Requires="v">
                <p:oleObj spid="_x0000_s9809" name="" r:id="rId5" imgW="673100" imgH="1054100" progId="Visio.Drawing.11">
                  <p:embed/>
                </p:oleObj>
              </mc:Choice>
              <mc:Fallback>
                <p:oleObj name="" r:id="rId5" imgW="673100" imgH="1054100" progId="Visio.Drawing.11">
                  <p:embed/>
                  <p:pic>
                    <p:nvPicPr>
                      <p:cNvPr id="0" name="图片 3130"/>
                      <p:cNvPicPr/>
                      <p:nvPr/>
                    </p:nvPicPr>
                    <p:blipFill>
                      <a:blip r:embed="rId6"/>
                      <a:stretch>
                        <a:fillRect/>
                      </a:stretch>
                    </p:blipFill>
                    <p:spPr>
                      <a:xfrm>
                        <a:off x="4076700" y="5033963"/>
                        <a:ext cx="495300" cy="771525"/>
                      </a:xfrm>
                      <a:prstGeom prst="rect">
                        <a:avLst/>
                      </a:prstGeom>
                      <a:noFill/>
                      <a:ln w="38100">
                        <a:noFill/>
                        <a:miter/>
                      </a:ln>
                    </p:spPr>
                  </p:pic>
                </p:oleObj>
              </mc:Fallback>
            </mc:AlternateContent>
          </a:graphicData>
        </a:graphic>
      </p:graphicFrame>
      <p:graphicFrame>
        <p:nvGraphicFramePr>
          <p:cNvPr id="80903" name="Object 7"/>
          <p:cNvGraphicFramePr/>
          <p:nvPr/>
        </p:nvGraphicFramePr>
        <p:xfrm>
          <a:off x="5084763" y="5033963"/>
          <a:ext cx="495300" cy="771525"/>
        </p:xfrm>
        <a:graphic>
          <a:graphicData uri="http://schemas.openxmlformats.org/presentationml/2006/ole">
            <mc:AlternateContent xmlns:mc="http://schemas.openxmlformats.org/markup-compatibility/2006">
              <mc:Choice xmlns:v="urn:schemas-microsoft-com:vml" Requires="v">
                <p:oleObj spid="_x0000_s9810" name="" r:id="rId7" imgW="673100" imgH="1054100" progId="Visio.Drawing.11">
                  <p:embed/>
                </p:oleObj>
              </mc:Choice>
              <mc:Fallback>
                <p:oleObj name="" r:id="rId7" imgW="673100" imgH="1054100" progId="Visio.Drawing.11">
                  <p:embed/>
                  <p:pic>
                    <p:nvPicPr>
                      <p:cNvPr id="0" name="图片 3136"/>
                      <p:cNvPicPr/>
                      <p:nvPr/>
                    </p:nvPicPr>
                    <p:blipFill>
                      <a:blip r:embed="rId8"/>
                      <a:stretch>
                        <a:fillRect/>
                      </a:stretch>
                    </p:blipFill>
                    <p:spPr>
                      <a:xfrm>
                        <a:off x="5084763" y="5033963"/>
                        <a:ext cx="495300" cy="771525"/>
                      </a:xfrm>
                      <a:prstGeom prst="rect">
                        <a:avLst/>
                      </a:prstGeom>
                      <a:noFill/>
                      <a:ln w="38100">
                        <a:noFill/>
                        <a:miter/>
                      </a:ln>
                    </p:spPr>
                  </p:pic>
                </p:oleObj>
              </mc:Fallback>
            </mc:AlternateContent>
          </a:graphicData>
        </a:graphic>
      </p:graphicFrame>
      <p:graphicFrame>
        <p:nvGraphicFramePr>
          <p:cNvPr id="80904" name="Object 9"/>
          <p:cNvGraphicFramePr/>
          <p:nvPr/>
        </p:nvGraphicFramePr>
        <p:xfrm>
          <a:off x="6742113" y="5033963"/>
          <a:ext cx="495300" cy="771525"/>
        </p:xfrm>
        <a:graphic>
          <a:graphicData uri="http://schemas.openxmlformats.org/presentationml/2006/ole">
            <mc:AlternateContent xmlns:mc="http://schemas.openxmlformats.org/markup-compatibility/2006">
              <mc:Choice xmlns:v="urn:schemas-microsoft-com:vml" Requires="v">
                <p:oleObj spid="_x0000_s9811" name="" r:id="rId9" imgW="673100" imgH="1054100" progId="Visio.Drawing.11">
                  <p:embed/>
                </p:oleObj>
              </mc:Choice>
              <mc:Fallback>
                <p:oleObj name="" r:id="rId9" imgW="673100" imgH="1054100" progId="Visio.Drawing.11">
                  <p:embed/>
                  <p:pic>
                    <p:nvPicPr>
                      <p:cNvPr id="0" name="图片 3129"/>
                      <p:cNvPicPr/>
                      <p:nvPr/>
                    </p:nvPicPr>
                    <p:blipFill>
                      <a:blip r:embed="rId8"/>
                      <a:stretch>
                        <a:fillRect/>
                      </a:stretch>
                    </p:blipFill>
                    <p:spPr>
                      <a:xfrm>
                        <a:off x="6742113" y="5033963"/>
                        <a:ext cx="495300" cy="771525"/>
                      </a:xfrm>
                      <a:prstGeom prst="rect">
                        <a:avLst/>
                      </a:prstGeom>
                      <a:noFill/>
                      <a:ln w="38100">
                        <a:noFill/>
                        <a:miter/>
                      </a:ln>
                    </p:spPr>
                  </p:pic>
                </p:oleObj>
              </mc:Fallback>
            </mc:AlternateContent>
          </a:graphicData>
        </a:graphic>
      </p:graphicFrame>
      <p:graphicFrame>
        <p:nvGraphicFramePr>
          <p:cNvPr id="80905" name="Object 10"/>
          <p:cNvGraphicFramePr/>
          <p:nvPr/>
        </p:nvGraphicFramePr>
        <p:xfrm>
          <a:off x="7677150" y="5033963"/>
          <a:ext cx="495300" cy="771525"/>
        </p:xfrm>
        <a:graphic>
          <a:graphicData uri="http://schemas.openxmlformats.org/presentationml/2006/ole">
            <mc:AlternateContent xmlns:mc="http://schemas.openxmlformats.org/markup-compatibility/2006">
              <mc:Choice xmlns:v="urn:schemas-microsoft-com:vml" Requires="v">
                <p:oleObj spid="_x0000_s9812" name="" r:id="rId10" imgW="673100" imgH="1054100" progId="Visio.Drawing.11">
                  <p:embed/>
                </p:oleObj>
              </mc:Choice>
              <mc:Fallback>
                <p:oleObj name="" r:id="rId10" imgW="673100" imgH="1054100" progId="Visio.Drawing.11">
                  <p:embed/>
                  <p:pic>
                    <p:nvPicPr>
                      <p:cNvPr id="0" name="图片 3137"/>
                      <p:cNvPicPr/>
                      <p:nvPr/>
                    </p:nvPicPr>
                    <p:blipFill>
                      <a:blip r:embed="rId8"/>
                      <a:stretch>
                        <a:fillRect/>
                      </a:stretch>
                    </p:blipFill>
                    <p:spPr>
                      <a:xfrm>
                        <a:off x="7677150" y="5033963"/>
                        <a:ext cx="495300" cy="771525"/>
                      </a:xfrm>
                      <a:prstGeom prst="rect">
                        <a:avLst/>
                      </a:prstGeom>
                      <a:noFill/>
                      <a:ln w="38100">
                        <a:noFill/>
                        <a:miter/>
                      </a:ln>
                    </p:spPr>
                  </p:pic>
                </p:oleObj>
              </mc:Fallback>
            </mc:AlternateContent>
          </a:graphicData>
        </a:graphic>
      </p:graphicFrame>
      <p:graphicFrame>
        <p:nvGraphicFramePr>
          <p:cNvPr id="80906" name="Object 11"/>
          <p:cNvGraphicFramePr/>
          <p:nvPr/>
        </p:nvGraphicFramePr>
        <p:xfrm>
          <a:off x="539750" y="4933950"/>
          <a:ext cx="2238375" cy="1457325"/>
        </p:xfrm>
        <a:graphic>
          <a:graphicData uri="http://schemas.openxmlformats.org/presentationml/2006/ole">
            <mc:AlternateContent xmlns:mc="http://schemas.openxmlformats.org/markup-compatibility/2006">
              <mc:Choice xmlns:v="urn:schemas-microsoft-com:vml" Requires="v">
                <p:oleObj spid="_x0000_s9813" name="" r:id="rId11" imgW="3009900" imgH="1968500" progId="Visio.Drawing.11">
                  <p:embed/>
                </p:oleObj>
              </mc:Choice>
              <mc:Fallback>
                <p:oleObj name="" r:id="rId11" imgW="3009900" imgH="1968500" progId="Visio.Drawing.11">
                  <p:embed/>
                  <p:pic>
                    <p:nvPicPr>
                      <p:cNvPr id="0" name="图片 3132"/>
                      <p:cNvPicPr/>
                      <p:nvPr/>
                    </p:nvPicPr>
                    <p:blipFill>
                      <a:blip r:embed="rId12"/>
                      <a:stretch>
                        <a:fillRect/>
                      </a:stretch>
                    </p:blipFill>
                    <p:spPr>
                      <a:xfrm>
                        <a:off x="539750" y="4933950"/>
                        <a:ext cx="2238375" cy="1457325"/>
                      </a:xfrm>
                      <a:prstGeom prst="rect">
                        <a:avLst/>
                      </a:prstGeom>
                      <a:noFill/>
                      <a:ln w="38100">
                        <a:noFill/>
                        <a:miter/>
                      </a:ln>
                    </p:spPr>
                  </p:pic>
                </p:oleObj>
              </mc:Fallback>
            </mc:AlternateContent>
          </a:graphicData>
        </a:graphic>
      </p:graphicFrame>
      <p:sp>
        <p:nvSpPr>
          <p:cNvPr id="17420" name="Text Box 12"/>
          <p:cNvSpPr txBox="1"/>
          <p:nvPr/>
        </p:nvSpPr>
        <p:spPr>
          <a:xfrm>
            <a:off x="5580063" y="5518150"/>
            <a:ext cx="1160462" cy="46196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400" dirty="0">
                <a:ea typeface="宋体" panose="02010600030101010101" pitchFamily="2" charset="-122"/>
              </a:rPr>
              <a:t>abc = </a:t>
            </a:r>
            <a:r>
              <a:rPr lang="en-US" altLang="zh-CN" sz="2400" dirty="0">
                <a:ea typeface="宋体" panose="02010600030101010101" pitchFamily="2" charset="-122"/>
              </a:rPr>
              <a:t>X</a:t>
            </a:r>
            <a:endParaRPr lang="zh-CN" altLang="en-US" sz="2400" dirty="0">
              <a:ea typeface="宋体" panose="02010600030101010101" pitchFamily="2" charset="-122"/>
            </a:endParaRPr>
          </a:p>
        </p:txBody>
      </p:sp>
      <p:graphicFrame>
        <p:nvGraphicFramePr>
          <p:cNvPr id="80908" name="Object 13"/>
          <p:cNvGraphicFramePr/>
          <p:nvPr/>
        </p:nvGraphicFramePr>
        <p:xfrm>
          <a:off x="5003800" y="2420938"/>
          <a:ext cx="495300" cy="771525"/>
        </p:xfrm>
        <a:graphic>
          <a:graphicData uri="http://schemas.openxmlformats.org/presentationml/2006/ole">
            <mc:AlternateContent xmlns:mc="http://schemas.openxmlformats.org/markup-compatibility/2006">
              <mc:Choice xmlns:v="urn:schemas-microsoft-com:vml" Requires="v">
                <p:oleObj spid="_x0000_s9814" name="" r:id="rId13" imgW="673100" imgH="1054100" progId="Visio.Drawing.11">
                  <p:embed/>
                </p:oleObj>
              </mc:Choice>
              <mc:Fallback>
                <p:oleObj name="" r:id="rId13" imgW="673100" imgH="1054100" progId="Visio.Drawing.11">
                  <p:embed/>
                  <p:pic>
                    <p:nvPicPr>
                      <p:cNvPr id="0" name="图片 3138"/>
                      <p:cNvPicPr/>
                      <p:nvPr/>
                    </p:nvPicPr>
                    <p:blipFill>
                      <a:blip r:embed="rId4"/>
                      <a:stretch>
                        <a:fillRect/>
                      </a:stretch>
                    </p:blipFill>
                    <p:spPr>
                      <a:xfrm>
                        <a:off x="5003800" y="2420938"/>
                        <a:ext cx="495300" cy="771525"/>
                      </a:xfrm>
                      <a:prstGeom prst="rect">
                        <a:avLst/>
                      </a:prstGeom>
                      <a:noFill/>
                      <a:ln w="38100">
                        <a:noFill/>
                        <a:miter/>
                      </a:ln>
                    </p:spPr>
                  </p:pic>
                </p:oleObj>
              </mc:Fallback>
            </mc:AlternateContent>
          </a:graphicData>
        </a:graphic>
      </p:graphicFrame>
      <p:sp>
        <p:nvSpPr>
          <p:cNvPr id="80909" name="Text Box 15"/>
          <p:cNvSpPr txBox="1"/>
          <p:nvPr/>
        </p:nvSpPr>
        <p:spPr>
          <a:xfrm>
            <a:off x="6645275" y="5880100"/>
            <a:ext cx="2498725" cy="4619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ea typeface="宋体" panose="02010600030101010101" pitchFamily="2" charset="-122"/>
              </a:rPr>
              <a:t>Accept</a:t>
            </a:r>
            <a:r>
              <a:rPr lang="zh-CN" altLang="en-US" sz="1200" dirty="0">
                <a:ea typeface="宋体" panose="02010600030101010101" pitchFamily="2" charset="-122"/>
              </a:rPr>
              <a:t> (</a:t>
            </a:r>
            <a:r>
              <a:rPr lang="en-US" altLang="zh-CN" sz="1200" dirty="0">
                <a:ea typeface="宋体" panose="02010600030101010101" pitchFamily="2" charset="-122"/>
              </a:rPr>
              <a:t>1, set abc=0</a:t>
            </a:r>
            <a:r>
              <a:rPr lang="zh-CN" altLang="en-US" sz="1200" dirty="0">
                <a:ea typeface="宋体" panose="02010600030101010101" pitchFamily="2" charset="-122"/>
              </a:rPr>
              <a:t>) &amp;&amp; Promise</a:t>
            </a:r>
            <a:endParaRPr lang="zh-CN" altLang="en-US" sz="1200" dirty="0">
              <a:ea typeface="宋体" panose="02010600030101010101" pitchFamily="2" charset="-122"/>
            </a:endParaRPr>
          </a:p>
          <a:p>
            <a:pPr marL="0" lvl="0" indent="0" eaLnBrk="1" hangingPunct="1">
              <a:spcBef>
                <a:spcPct val="0"/>
              </a:spcBef>
              <a:buClrTx/>
              <a:buNone/>
            </a:pPr>
            <a:endParaRPr lang="zh-CN" altLang="en-US" sz="1200" dirty="0">
              <a:ea typeface="宋体" panose="02010600030101010101" pitchFamily="2" charset="-122"/>
            </a:endParaRPr>
          </a:p>
        </p:txBody>
      </p:sp>
      <p:sp>
        <p:nvSpPr>
          <p:cNvPr id="80910" name="箭头 216"/>
          <p:cNvSpPr/>
          <p:nvPr/>
        </p:nvSpPr>
        <p:spPr>
          <a:xfrm flipH="1" flipV="1">
            <a:off x="6645275" y="3429000"/>
            <a:ext cx="374650" cy="1657350"/>
          </a:xfrm>
          <a:prstGeom prst="line">
            <a:avLst/>
          </a:prstGeom>
          <a:ln w="19050" cap="flat" cmpd="sng">
            <a:solidFill>
              <a:schemeClr val="tx1"/>
            </a:solidFill>
            <a:prstDash val="solid"/>
            <a:headEnd type="triangle" w="med" len="med"/>
            <a:tailEnd type="none" w="med" len="med"/>
          </a:ln>
        </p:spPr>
      </p:sp>
      <p:sp>
        <p:nvSpPr>
          <p:cNvPr id="80911" name="箭头 216"/>
          <p:cNvSpPr/>
          <p:nvPr/>
        </p:nvSpPr>
        <p:spPr>
          <a:xfrm flipH="1" flipV="1">
            <a:off x="6832600" y="3429000"/>
            <a:ext cx="1062038" cy="1657350"/>
          </a:xfrm>
          <a:prstGeom prst="line">
            <a:avLst/>
          </a:prstGeom>
          <a:ln w="19050" cap="flat" cmpd="sng">
            <a:solidFill>
              <a:schemeClr val="tx1"/>
            </a:solidFill>
            <a:prstDash val="solid"/>
            <a:headEnd type="triangle" w="med" len="med"/>
            <a:tailEnd type="none" w="med" len="med"/>
          </a:ln>
        </p:spPr>
      </p:sp>
      <p:graphicFrame>
        <p:nvGraphicFramePr>
          <p:cNvPr id="80912" name="对象 1"/>
          <p:cNvGraphicFramePr/>
          <p:nvPr/>
        </p:nvGraphicFramePr>
        <p:xfrm>
          <a:off x="3203575" y="2971800"/>
          <a:ext cx="495300" cy="771525"/>
        </p:xfrm>
        <a:graphic>
          <a:graphicData uri="http://schemas.openxmlformats.org/presentationml/2006/ole">
            <mc:AlternateContent xmlns:mc="http://schemas.openxmlformats.org/markup-compatibility/2006">
              <mc:Choice xmlns:v="urn:schemas-microsoft-com:vml" Requires="v">
                <p:oleObj spid="_x0000_s9815" name="" r:id="rId14" imgW="673100" imgH="1054100" progId="Visio.Drawing.11">
                  <p:embed/>
                </p:oleObj>
              </mc:Choice>
              <mc:Fallback>
                <p:oleObj name="" r:id="rId14" imgW="673100" imgH="1054100" progId="Visio.Drawing.11">
                  <p:embed/>
                  <p:pic>
                    <p:nvPicPr>
                      <p:cNvPr id="0" name="图片 3131"/>
                      <p:cNvPicPr/>
                      <p:nvPr/>
                    </p:nvPicPr>
                    <p:blipFill>
                      <a:blip r:embed="rId2"/>
                      <a:stretch>
                        <a:fillRect/>
                      </a:stretch>
                    </p:blipFill>
                    <p:spPr>
                      <a:xfrm>
                        <a:off x="3203575" y="2971800"/>
                        <a:ext cx="495300" cy="771525"/>
                      </a:xfrm>
                      <a:prstGeom prst="rect">
                        <a:avLst/>
                      </a:prstGeom>
                      <a:noFill/>
                      <a:ln w="38100">
                        <a:noFill/>
                        <a:miter/>
                      </a:ln>
                    </p:spPr>
                  </p:pic>
                </p:oleObj>
              </mc:Fallback>
            </mc:AlternateContent>
          </a:graphicData>
        </a:graphic>
      </p:graphicFrame>
      <p:graphicFrame>
        <p:nvGraphicFramePr>
          <p:cNvPr id="80913" name="Object 11"/>
          <p:cNvGraphicFramePr/>
          <p:nvPr/>
        </p:nvGraphicFramePr>
        <p:xfrm>
          <a:off x="5867400" y="5032375"/>
          <a:ext cx="495300" cy="771525"/>
        </p:xfrm>
        <a:graphic>
          <a:graphicData uri="http://schemas.openxmlformats.org/presentationml/2006/ole">
            <mc:AlternateContent xmlns:mc="http://schemas.openxmlformats.org/markup-compatibility/2006">
              <mc:Choice xmlns:v="urn:schemas-microsoft-com:vml" Requires="v">
                <p:oleObj spid="_x0000_s9816" name="" r:id="rId15" imgW="673100" imgH="1054100" progId="Visio.Drawing.11">
                  <p:embed/>
                </p:oleObj>
              </mc:Choice>
              <mc:Fallback>
                <p:oleObj name="" r:id="rId15" imgW="673100" imgH="1054100" progId="Visio.Drawing.11">
                  <p:embed/>
                  <p:pic>
                    <p:nvPicPr>
                      <p:cNvPr id="0" name="图片 3134"/>
                      <p:cNvPicPr/>
                      <p:nvPr/>
                    </p:nvPicPr>
                    <p:blipFill>
                      <a:blip r:embed="rId8"/>
                      <a:stretch>
                        <a:fillRect/>
                      </a:stretch>
                    </p:blipFill>
                    <p:spPr>
                      <a:xfrm>
                        <a:off x="5867400" y="5032375"/>
                        <a:ext cx="495300" cy="771525"/>
                      </a:xfrm>
                      <a:prstGeom prst="rect">
                        <a:avLst/>
                      </a:prstGeom>
                      <a:noFill/>
                      <a:ln w="38100">
                        <a:noFill/>
                        <a:miter/>
                      </a:ln>
                    </p:spPr>
                  </p:pic>
                </p:oleObj>
              </mc:Fallback>
            </mc:AlternateContent>
          </a:graphicData>
        </a:graphic>
      </p:graphicFrame>
      <p:sp>
        <p:nvSpPr>
          <p:cNvPr id="80914" name="Text Box 15"/>
          <p:cNvSpPr txBox="1"/>
          <p:nvPr/>
        </p:nvSpPr>
        <p:spPr>
          <a:xfrm>
            <a:off x="6376988" y="3929063"/>
            <a:ext cx="1614487"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(1, set abc=0)</a:t>
            </a:r>
            <a:endParaRPr lang="zh-CN" altLang="en-US" sz="2000" dirty="0">
              <a:ea typeface="宋体" panose="02010600030101010101" pitchFamily="2" charset="-122"/>
            </a:endParaRPr>
          </a:p>
        </p:txBody>
      </p:sp>
      <p:sp>
        <p:nvSpPr>
          <p:cNvPr id="80915" name="箭头 216"/>
          <p:cNvSpPr/>
          <p:nvPr/>
        </p:nvSpPr>
        <p:spPr>
          <a:xfrm flipV="1">
            <a:off x="6227763" y="3357563"/>
            <a:ext cx="288925" cy="1728787"/>
          </a:xfrm>
          <a:prstGeom prst="line">
            <a:avLst/>
          </a:prstGeom>
          <a:ln w="19050" cap="flat" cmpd="sng">
            <a:solidFill>
              <a:schemeClr val="tx1"/>
            </a:solidFill>
            <a:prstDash val="solid"/>
            <a:headEnd type="triangle" w="med" len="med"/>
            <a:tailEnd type="none" w="med" len="med"/>
          </a:ln>
        </p:spPr>
      </p:sp>
      <p:sp>
        <p:nvSpPr>
          <p:cNvPr id="30" name="Text Box 14"/>
          <p:cNvSpPr txBox="1"/>
          <p:nvPr/>
        </p:nvSpPr>
        <p:spPr>
          <a:xfrm>
            <a:off x="3897313" y="5880100"/>
            <a:ext cx="2592387" cy="2762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ea typeface="宋体" panose="02010600030101010101" pitchFamily="2" charset="-122"/>
              </a:rPr>
              <a:t>Accept</a:t>
            </a:r>
            <a:r>
              <a:rPr lang="zh-CN" altLang="en-US" sz="1200" dirty="0">
                <a:ea typeface="宋体" panose="02010600030101010101" pitchFamily="2" charset="-122"/>
              </a:rPr>
              <a:t> (</a:t>
            </a:r>
            <a:r>
              <a:rPr lang="en-US" altLang="zh-CN" sz="1200" dirty="0">
                <a:ea typeface="宋体" panose="02010600030101010101" pitchFamily="2" charset="-122"/>
              </a:rPr>
              <a:t>2, set abc =0</a:t>
            </a:r>
            <a:r>
              <a:rPr lang="zh-CN" altLang="en-US" sz="1200" dirty="0">
                <a:ea typeface="宋体" panose="02010600030101010101" pitchFamily="2" charset="-122"/>
              </a:rPr>
              <a:t>) &amp;&amp; Promise</a:t>
            </a:r>
            <a:endParaRPr lang="zh-CN" altLang="en-US" sz="1200" dirty="0">
              <a:ea typeface="宋体" panose="02010600030101010101" pitchFamily="2" charset="-122"/>
            </a:endParaRPr>
          </a:p>
        </p:txBody>
      </p:sp>
      <p:sp>
        <p:nvSpPr>
          <p:cNvPr id="80917" name="箭头 216"/>
          <p:cNvSpPr/>
          <p:nvPr/>
        </p:nvSpPr>
        <p:spPr>
          <a:xfrm>
            <a:off x="5370513" y="2813050"/>
            <a:ext cx="641350" cy="2273300"/>
          </a:xfrm>
          <a:prstGeom prst="line">
            <a:avLst/>
          </a:prstGeom>
          <a:ln w="19050" cap="flat" cmpd="sng">
            <a:solidFill>
              <a:srgbClr val="FF0000"/>
            </a:solidFill>
            <a:prstDash val="solid"/>
            <a:headEnd type="none" w="med" len="med"/>
            <a:tailEnd type="triangle" w="med" len="med"/>
          </a:ln>
        </p:spPr>
      </p:sp>
      <p:sp>
        <p:nvSpPr>
          <p:cNvPr id="80918" name="Text Box 15"/>
          <p:cNvSpPr txBox="1"/>
          <p:nvPr/>
        </p:nvSpPr>
        <p:spPr>
          <a:xfrm>
            <a:off x="4537075" y="3582988"/>
            <a:ext cx="1497013" cy="3079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400" dirty="0">
                <a:ea typeface="宋体" panose="02010600030101010101" pitchFamily="2" charset="-122"/>
              </a:rPr>
              <a:t>(2, set abc =0)</a:t>
            </a:r>
            <a:endParaRPr lang="zh-CN" altLang="en-US" sz="1400" dirty="0">
              <a:ea typeface="宋体" panose="02010600030101010101" pitchFamily="2" charset="-122"/>
            </a:endParaRPr>
          </a:p>
        </p:txBody>
      </p:sp>
      <p:sp>
        <p:nvSpPr>
          <p:cNvPr id="80919" name="箭头 216"/>
          <p:cNvSpPr/>
          <p:nvPr/>
        </p:nvSpPr>
        <p:spPr>
          <a:xfrm>
            <a:off x="5160963" y="2792413"/>
            <a:ext cx="209550" cy="2273300"/>
          </a:xfrm>
          <a:prstGeom prst="line">
            <a:avLst/>
          </a:prstGeom>
          <a:ln w="19050" cap="flat" cmpd="sng">
            <a:solidFill>
              <a:srgbClr val="FF0000"/>
            </a:solidFill>
            <a:prstDash val="solid"/>
            <a:headEnd type="none" w="med" len="med"/>
            <a:tailEnd type="triangle" w="med" len="med"/>
          </a:ln>
        </p:spPr>
      </p:sp>
      <p:sp>
        <p:nvSpPr>
          <p:cNvPr id="80920" name="箭头 216"/>
          <p:cNvSpPr/>
          <p:nvPr/>
        </p:nvSpPr>
        <p:spPr>
          <a:xfrm flipH="1">
            <a:off x="4427538" y="2792413"/>
            <a:ext cx="620712" cy="2273300"/>
          </a:xfrm>
          <a:prstGeom prst="line">
            <a:avLst/>
          </a:prstGeom>
          <a:ln w="19050" cap="flat" cmpd="sng">
            <a:solidFill>
              <a:srgbClr val="FF0000"/>
            </a:solidFill>
            <a:prstDash val="solid"/>
            <a:headEnd type="none" w="med" len="med"/>
            <a:tailEnd type="triangle" w="med" len="med"/>
          </a:ln>
        </p:spPr>
      </p:sp>
      <p:sp>
        <p:nvSpPr>
          <p:cNvPr id="36" name="Text Box 12"/>
          <p:cNvSpPr txBox="1"/>
          <p:nvPr/>
        </p:nvSpPr>
        <p:spPr>
          <a:xfrm>
            <a:off x="5649913" y="5510213"/>
            <a:ext cx="947737" cy="3683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400" dirty="0">
                <a:ea typeface="宋体" panose="02010600030101010101" pitchFamily="2" charset="-122"/>
              </a:rPr>
              <a:t>abc = 0</a:t>
            </a:r>
            <a:endParaRPr lang="zh-CN" altLang="en-US" sz="2400" dirty="0">
              <a:ea typeface="宋体" panose="02010600030101010101" pitchFamily="2" charset="-122"/>
            </a:endParaRPr>
          </a:p>
        </p:txBody>
      </p:sp>
      <p:sp>
        <p:nvSpPr>
          <p:cNvPr id="37" name="Text Box 14"/>
          <p:cNvSpPr txBox="1"/>
          <p:nvPr/>
        </p:nvSpPr>
        <p:spPr>
          <a:xfrm>
            <a:off x="4232275" y="5864225"/>
            <a:ext cx="2066925"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ea typeface="宋体" panose="02010600030101010101" pitchFamily="2" charset="-122"/>
              </a:rPr>
              <a:t>Response</a:t>
            </a:r>
            <a:r>
              <a:rPr lang="zh-CN" altLang="en-US" sz="1200" dirty="0">
                <a:ea typeface="宋体" panose="02010600030101010101" pitchFamily="2" charset="-122"/>
              </a:rPr>
              <a:t> (</a:t>
            </a:r>
            <a:r>
              <a:rPr lang="en-US" altLang="zh-CN" sz="1200" dirty="0">
                <a:ea typeface="宋体" panose="02010600030101010101" pitchFamily="2" charset="-122"/>
              </a:rPr>
              <a:t>2</a:t>
            </a:r>
            <a:r>
              <a:rPr lang="zh-CN" altLang="en-US" sz="1200" dirty="0">
                <a:ea typeface="宋体" panose="02010600030101010101" pitchFamily="2" charset="-122"/>
              </a:rPr>
              <a:t>) &amp;&amp; Promise</a:t>
            </a:r>
            <a:endParaRPr lang="zh-CN" altLang="en-US" sz="1200" dirty="0">
              <a:ea typeface="宋体" panose="02010600030101010101" pitchFamily="2" charset="-122"/>
            </a:endParaRPr>
          </a:p>
          <a:p>
            <a:pPr marL="0" lvl="0" indent="0" eaLnBrk="1" hangingPunct="1">
              <a:spcBef>
                <a:spcPct val="0"/>
              </a:spcBef>
              <a:buClrTx/>
              <a:buNone/>
            </a:pPr>
            <a:endParaRPr lang="zh-CN" altLang="en-US" sz="12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174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0" grpId="0"/>
      <p:bldP spid="30" grpId="0"/>
      <p:bldP spid="36" grpId="0"/>
      <p:bldP spid="3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p:cNvSpPr>
          <p:nvPr>
            <p:ph type="title"/>
          </p:nvPr>
        </p:nvSpPr>
        <p:spPr>
          <a:xfrm>
            <a:off x="0" y="0"/>
            <a:ext cx="5894388" cy="568325"/>
          </a:xfrm>
        </p:spPr>
        <p:txBody>
          <a:bodyPr vert="horz" wrap="square" lIns="91440" tIns="45720" rIns="91440" bIns="45720" anchor="ctr" anchorCtr="0"/>
          <a:lstStyle/>
          <a:p>
            <a:pPr algn="l"/>
            <a:r>
              <a:rPr lang="en-US" altLang="zh-CN" dirty="0">
                <a:ea typeface="宋体" panose="02010600030101010101" pitchFamily="2" charset="-122"/>
              </a:rPr>
              <a:t>Tunable knobs</a:t>
            </a:r>
            <a:r>
              <a:rPr lang="en-US" altLang="zh-CN" sz="3600" dirty="0">
                <a:ea typeface="宋体" panose="02010600030101010101" pitchFamily="2" charset="-122"/>
              </a:rPr>
              <a:t>(</a:t>
            </a:r>
            <a:r>
              <a:rPr lang="zh-CN" altLang="en-US" sz="3600" dirty="0">
                <a:ea typeface="宋体" panose="02010600030101010101" pitchFamily="2" charset="-122"/>
              </a:rPr>
              <a:t>可调旋钮</a:t>
            </a:r>
            <a:r>
              <a:rPr lang="en-US" altLang="zh-CN" sz="3600" dirty="0">
                <a:ea typeface="宋体" panose="02010600030101010101" pitchFamily="2" charset="-122"/>
              </a:rPr>
              <a:t>)</a:t>
            </a:r>
            <a:endParaRPr lang="en-US" altLang="zh-CN" sz="3600" dirty="0">
              <a:ea typeface="宋体" panose="02010600030101010101" pitchFamily="2" charset="-122"/>
            </a:endParaRPr>
          </a:p>
        </p:txBody>
      </p:sp>
      <p:sp>
        <p:nvSpPr>
          <p:cNvPr id="81923" name="Rectangle 3"/>
          <p:cNvSpPr>
            <a:spLocks noGrp="1" noRot="1"/>
          </p:cNvSpPr>
          <p:nvPr>
            <p:ph idx="1"/>
          </p:nvPr>
        </p:nvSpPr>
        <p:spPr>
          <a:xfrm>
            <a:off x="71438" y="568325"/>
            <a:ext cx="8936037" cy="3781425"/>
          </a:xfrm>
        </p:spPr>
        <p:txBody>
          <a:bodyPr vert="horz" wrap="square" lIns="91440" tIns="45720" rIns="91440" bIns="45720" anchor="t" anchorCtr="0"/>
          <a:lstStyle/>
          <a:p>
            <a:pPr algn="l">
              <a:lnSpc>
                <a:spcPct val="150000"/>
              </a:lnSpc>
              <a:buFont typeface="Wingdings" panose="05000000000000000000" pitchFamily="2" charset="2"/>
              <a:buChar char="u"/>
            </a:pPr>
            <a:r>
              <a:rPr lang="en-US" altLang="zh-CN" sz="2400" dirty="0">
                <a:ea typeface="宋体" panose="02010600030101010101" pitchFamily="2" charset="-122"/>
              </a:rPr>
              <a:t>Acceptors have many options to response:</a:t>
            </a:r>
            <a:endParaRPr lang="en-US" altLang="zh-CN" sz="2400" dirty="0">
              <a:ea typeface="宋体" panose="02010600030101010101" pitchFamily="2" charset="-122"/>
            </a:endParaRPr>
          </a:p>
          <a:p>
            <a:pPr lvl="1">
              <a:lnSpc>
                <a:spcPct val="150000"/>
              </a:lnSpc>
              <a:buFont typeface="Wingdings" panose="05000000000000000000" pitchFamily="2" charset="2"/>
              <a:buChar char="ü"/>
            </a:pPr>
            <a:r>
              <a:rPr lang="en-US" altLang="zh-CN" sz="2400" dirty="0">
                <a:ea typeface="宋体" panose="02010600030101010101" pitchFamily="2" charset="-122"/>
              </a:rPr>
              <a:t>Prepare request: No/Yes</a:t>
            </a:r>
            <a:endParaRPr lang="en-US" altLang="zh-CN" sz="2400" dirty="0">
              <a:ea typeface="宋体" panose="02010600030101010101" pitchFamily="2" charset="-122"/>
            </a:endParaRPr>
          </a:p>
          <a:p>
            <a:pPr lvl="1">
              <a:lnSpc>
                <a:spcPct val="150000"/>
              </a:lnSpc>
              <a:buFont typeface="Wingdings" panose="05000000000000000000" pitchFamily="2" charset="2"/>
              <a:buChar char="ü"/>
            </a:pPr>
            <a:r>
              <a:rPr lang="en-US" altLang="zh-CN" sz="2400" dirty="0">
                <a:ea typeface="宋体" panose="02010600030101010101" pitchFamily="2" charset="-122"/>
              </a:rPr>
              <a:t>Accept request: No/Yes if it didn’t promise not to do so</a:t>
            </a:r>
            <a:endParaRPr lang="en-US" altLang="zh-CN" sz="2400" dirty="0">
              <a:ea typeface="宋体" panose="02010600030101010101" pitchFamily="2" charset="-122"/>
            </a:endParaRPr>
          </a:p>
          <a:p>
            <a:pPr algn="l">
              <a:lnSpc>
                <a:spcPct val="150000"/>
              </a:lnSpc>
              <a:buFont typeface="Wingdings" panose="05000000000000000000" pitchFamily="2" charset="2"/>
              <a:buChar char="u"/>
            </a:pPr>
            <a:r>
              <a:rPr lang="en-US" altLang="zh-CN" sz="2400" dirty="0">
                <a:ea typeface="宋体" panose="02010600030101010101" pitchFamily="2" charset="-122"/>
              </a:rPr>
              <a:t>Back off time after abandon a proposal: exponential back-off/pre-assigned values</a:t>
            </a:r>
            <a:endParaRPr lang="en-US" altLang="zh-CN" sz="2400" dirty="0">
              <a:ea typeface="宋体" panose="02010600030101010101" pitchFamily="2" charset="-122"/>
            </a:endParaRPr>
          </a:p>
          <a:p>
            <a:pPr algn="l">
              <a:lnSpc>
                <a:spcPct val="150000"/>
              </a:lnSpc>
              <a:buFont typeface="Wingdings" panose="05000000000000000000" pitchFamily="2" charset="2"/>
              <a:buChar char="u"/>
            </a:pPr>
            <a:r>
              <a:rPr lang="en-US" altLang="zh-CN" sz="2400" dirty="0">
                <a:ea typeface="宋体" panose="02010600030101010101" pitchFamily="2" charset="-122"/>
              </a:rPr>
              <a:t>Should we wait for nodes to online in each phase?</a:t>
            </a:r>
            <a:endParaRPr lang="en-US" altLang="zh-CN" sz="2400" dirty="0">
              <a:ea typeface="宋体" panose="02010600030101010101" pitchFamily="2" charset="-122"/>
            </a:endParaRPr>
          </a:p>
        </p:txBody>
      </p:sp>
      <p:sp>
        <p:nvSpPr>
          <p:cNvPr id="4" name="Rectangle 2"/>
          <p:cNvSpPr txBox="1">
            <a:spLocks noRot="1" noChangeArrowheads="1"/>
          </p:cNvSpPr>
          <p:nvPr/>
        </p:nvSpPr>
        <p:spPr bwMode="auto">
          <a:xfrm>
            <a:off x="0" y="4229100"/>
            <a:ext cx="3259138" cy="698500"/>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Applications</a:t>
            </a:r>
            <a:endPar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5" name="Rectangle 3"/>
          <p:cNvSpPr txBox="1">
            <a:spLocks noRot="1" noChangeArrowheads="1"/>
          </p:cNvSpPr>
          <p:nvPr/>
        </p:nvSpPr>
        <p:spPr bwMode="auto">
          <a:xfrm>
            <a:off x="527050" y="4927600"/>
            <a:ext cx="8154988" cy="19304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Chubby lock service.</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Petal: Distributed virtual disks.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Frangipani: A scalable distributed file system.</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图片 2"/>
          <p:cNvPicPr>
            <a:picLocks noChangeAspect="1"/>
          </p:cNvPicPr>
          <p:nvPr/>
        </p:nvPicPr>
        <p:blipFill>
          <a:blip r:embed="rId1"/>
          <a:stretch>
            <a:fillRect/>
          </a:stretch>
        </p:blipFill>
        <p:spPr>
          <a:xfrm>
            <a:off x="3657600" y="2457450"/>
            <a:ext cx="5486400" cy="4400550"/>
          </a:xfrm>
          <a:prstGeom prst="rect">
            <a:avLst/>
          </a:prstGeom>
          <a:noFill/>
          <a:ln w="9525">
            <a:noFill/>
          </a:ln>
        </p:spPr>
      </p:pic>
      <p:sp>
        <p:nvSpPr>
          <p:cNvPr id="82947" name="Rectangle 2"/>
          <p:cNvSpPr>
            <a:spLocks noGrp="1" noRot="1"/>
          </p:cNvSpPr>
          <p:nvPr>
            <p:ph type="title"/>
          </p:nvPr>
        </p:nvSpPr>
        <p:spPr>
          <a:xfrm>
            <a:off x="0" y="0"/>
            <a:ext cx="9144000" cy="1135063"/>
          </a:xfrm>
        </p:spPr>
        <p:txBody>
          <a:bodyPr vert="horz" wrap="square" lIns="91440" tIns="45720" rIns="91440" bIns="45720" anchor="ctr" anchorCtr="0"/>
          <a:lstStyle/>
          <a:p>
            <a:pPr algn="l"/>
            <a:r>
              <a:rPr lang="en-US" altLang="zh-CN" dirty="0">
                <a:ea typeface="宋体" panose="02010600030101010101" pitchFamily="2" charset="-122"/>
              </a:rPr>
              <a:t>Raft algorithm</a:t>
            </a:r>
            <a:r>
              <a:rPr lang="zh-CN" altLang="en-US" dirty="0">
                <a:ea typeface="宋体" panose="02010600030101010101" pitchFamily="2" charset="-122"/>
              </a:rPr>
              <a:t>：</a:t>
            </a:r>
            <a:r>
              <a:rPr lang="en-US" altLang="zh-CN" sz="2000" dirty="0">
                <a:ea typeface="宋体" panose="02010600030101010101" pitchFamily="2" charset="-122"/>
              </a:rPr>
              <a:t>In Search of an Understandable Consensus Algorithm(Extended Version)</a:t>
            </a:r>
            <a:r>
              <a:rPr lang="zh-CN" altLang="en-US" sz="2000" dirty="0">
                <a:ea typeface="宋体" panose="02010600030101010101" pitchFamily="2" charset="-122"/>
              </a:rPr>
              <a:t>，</a:t>
            </a:r>
            <a:r>
              <a:rPr lang="en-US" altLang="zh-CN" sz="2000" dirty="0">
                <a:ea typeface="宋体" panose="02010600030101010101" pitchFamily="2" charset="-122"/>
              </a:rPr>
              <a:t>Diego Ongaro and John Ousterhout</a:t>
            </a:r>
            <a:r>
              <a:rPr lang="zh-CN" altLang="en-US" sz="2000" dirty="0">
                <a:ea typeface="宋体" panose="02010600030101010101" pitchFamily="2" charset="-122"/>
              </a:rPr>
              <a:t>，</a:t>
            </a:r>
            <a:r>
              <a:rPr lang="en-US" altLang="zh-CN" sz="2000" dirty="0">
                <a:ea typeface="宋体" panose="02010600030101010101" pitchFamily="2" charset="-122"/>
              </a:rPr>
              <a:t>Stanford University</a:t>
            </a:r>
            <a:r>
              <a:rPr lang="zh-CN" altLang="en-US" sz="2000" dirty="0">
                <a:ea typeface="宋体" panose="02010600030101010101" pitchFamily="2" charset="-122"/>
              </a:rPr>
              <a:t>，</a:t>
            </a:r>
            <a:r>
              <a:rPr lang="en-US" altLang="zh-CN" sz="2000" dirty="0">
                <a:ea typeface="宋体" panose="02010600030101010101" pitchFamily="2" charset="-122"/>
              </a:rPr>
              <a:t>May 20, 2014.</a:t>
            </a:r>
            <a:endParaRPr lang="en-US" altLang="zh-CN" sz="2000" dirty="0">
              <a:ea typeface="宋体" panose="02010600030101010101" pitchFamily="2" charset="-122"/>
            </a:endParaRPr>
          </a:p>
        </p:txBody>
      </p:sp>
      <p:sp>
        <p:nvSpPr>
          <p:cNvPr id="82948" name="Rectangle 3"/>
          <p:cNvSpPr>
            <a:spLocks noGrp="1" noRot="1"/>
          </p:cNvSpPr>
          <p:nvPr>
            <p:ph idx="1"/>
          </p:nvPr>
        </p:nvSpPr>
        <p:spPr>
          <a:xfrm>
            <a:off x="100013" y="1325563"/>
            <a:ext cx="8482012" cy="1692275"/>
          </a:xfrm>
        </p:spPr>
        <p:txBody>
          <a:bodyPr vert="horz" wrap="square" lIns="91440" tIns="45720" rIns="91440" bIns="45720" anchor="t" anchorCtr="0"/>
          <a:lstStyle/>
          <a:p>
            <a:pPr algn="l">
              <a:lnSpc>
                <a:spcPct val="150000"/>
              </a:lnSpc>
              <a:buFont typeface="Wingdings" panose="05000000000000000000" pitchFamily="2" charset="2"/>
              <a:buChar char="u"/>
            </a:pPr>
            <a:r>
              <a:rPr lang="en-US" altLang="zh-CN" sz="2400" dirty="0">
                <a:ea typeface="宋体" panose="02010600030101010101" pitchFamily="2" charset="-122"/>
              </a:rPr>
              <a:t>Raft is a consensus algorithm for managing a replicated</a:t>
            </a:r>
            <a:r>
              <a:rPr lang="zh-CN" altLang="en-US" sz="2400" dirty="0">
                <a:ea typeface="宋体" panose="02010600030101010101" pitchFamily="2" charset="-122"/>
              </a:rPr>
              <a:t> </a:t>
            </a:r>
            <a:r>
              <a:rPr lang="en-US" altLang="zh-CN" sz="2400" dirty="0">
                <a:ea typeface="宋体" panose="02010600030101010101" pitchFamily="2" charset="-122"/>
              </a:rPr>
              <a:t>log. It produces a result equivalent to (multi-)Paxos, and</a:t>
            </a:r>
            <a:r>
              <a:rPr lang="zh-CN" altLang="en-US" sz="2400" dirty="0">
                <a:ea typeface="宋体" panose="02010600030101010101" pitchFamily="2" charset="-122"/>
              </a:rPr>
              <a:t> </a:t>
            </a:r>
            <a:r>
              <a:rPr lang="en-US" altLang="zh-CN" sz="2400" dirty="0">
                <a:ea typeface="宋体" panose="02010600030101010101" pitchFamily="2" charset="-122"/>
              </a:rPr>
              <a:t>it is as efficient as Paxos, but its structure is different</a:t>
            </a:r>
            <a:r>
              <a:rPr lang="zh-CN" altLang="en-US" sz="2400" dirty="0">
                <a:ea typeface="宋体" panose="02010600030101010101" pitchFamily="2" charset="-122"/>
              </a:rPr>
              <a:t> </a:t>
            </a:r>
            <a:r>
              <a:rPr lang="en-US" altLang="zh-CN" sz="2400" dirty="0">
                <a:ea typeface="宋体" panose="02010600030101010101" pitchFamily="2" charset="-122"/>
              </a:rPr>
              <a:t>from Paxos</a:t>
            </a:r>
            <a:r>
              <a:rPr lang="zh-CN" altLang="en-US" sz="2400" dirty="0">
                <a:ea typeface="宋体" panose="02010600030101010101" pitchFamily="2" charset="-122"/>
              </a:rPr>
              <a:t>；</a:t>
            </a:r>
            <a:endParaRPr lang="en-US" altLang="zh-CN" sz="2400" dirty="0">
              <a:ea typeface="宋体" panose="02010600030101010101" pitchFamily="2" charset="-122"/>
            </a:endParaRPr>
          </a:p>
        </p:txBody>
      </p:sp>
      <p:sp>
        <p:nvSpPr>
          <p:cNvPr id="6" name="Rectangle 3"/>
          <p:cNvSpPr txBox="1">
            <a:spLocks noRot="1" noChangeArrowheads="1"/>
          </p:cNvSpPr>
          <p:nvPr/>
        </p:nvSpPr>
        <p:spPr bwMode="auto">
          <a:xfrm>
            <a:off x="166688" y="3506788"/>
            <a:ext cx="3892550" cy="26717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2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Raft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协议强依赖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Leader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节点的可用性来确保集群数据的一致性。类似于事务的两阶段提交协议完成数据的一致性。</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200000"/>
              </a:lnSpc>
              <a:spcBef>
                <a:spcPct val="20000"/>
              </a:spcBef>
              <a:spcAft>
                <a:spcPct val="0"/>
              </a:spcAft>
              <a:buClr>
                <a:schemeClr val="accent2"/>
              </a:buClr>
              <a:buSzTx/>
              <a:buFontTx/>
              <a:buNone/>
              <a:defRPr/>
            </a:pP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p:cNvSpPr>
          <p:nvPr>
            <p:ph type="title"/>
          </p:nvPr>
        </p:nvSpPr>
        <p:spPr>
          <a:xfrm>
            <a:off x="0" y="0"/>
            <a:ext cx="4022725" cy="906463"/>
          </a:xfrm>
        </p:spPr>
        <p:txBody>
          <a:bodyPr vert="horz" wrap="square" lIns="91440" tIns="45720" rIns="91440" bIns="45720" anchor="ctr" anchorCtr="0"/>
          <a:lstStyle/>
          <a:p>
            <a:pPr algn="l"/>
            <a:r>
              <a:rPr lang="en-US" altLang="zh-CN" dirty="0">
                <a:ea typeface="宋体" panose="02010600030101010101" pitchFamily="2" charset="-122"/>
              </a:rPr>
              <a:t>Raft algorithm</a:t>
            </a:r>
            <a:endParaRPr lang="en-US" altLang="zh-CN" sz="2000" dirty="0">
              <a:ea typeface="宋体" panose="02010600030101010101" pitchFamily="2" charset="-122"/>
            </a:endParaRPr>
          </a:p>
        </p:txBody>
      </p:sp>
      <p:sp>
        <p:nvSpPr>
          <p:cNvPr id="83971" name="Rectangle 3"/>
          <p:cNvSpPr>
            <a:spLocks noGrp="1" noRot="1"/>
          </p:cNvSpPr>
          <p:nvPr>
            <p:ph idx="1"/>
          </p:nvPr>
        </p:nvSpPr>
        <p:spPr>
          <a:xfrm>
            <a:off x="117475" y="866775"/>
            <a:ext cx="8851900" cy="2251075"/>
          </a:xfrm>
        </p:spPr>
        <p:txBody>
          <a:bodyPr vert="horz" wrap="square" lIns="91440" tIns="45720" rIns="91440" bIns="45720" anchor="t" anchorCtr="0"/>
          <a:lstStyle/>
          <a:p>
            <a:pPr algn="l">
              <a:buFont typeface="Wingdings" panose="05000000000000000000" pitchFamily="2" charset="2"/>
              <a:buChar char="u"/>
            </a:pPr>
            <a:r>
              <a:rPr lang="en-US" altLang="zh-CN" sz="2000" dirty="0">
                <a:ea typeface="宋体" panose="02010600030101010101" pitchFamily="2" charset="-122"/>
              </a:rPr>
              <a:t>Raft </a:t>
            </a:r>
            <a:r>
              <a:rPr lang="zh-CN" altLang="en-US" sz="2000" dirty="0">
                <a:ea typeface="宋体" panose="02010600030101010101" pitchFamily="2" charset="-122"/>
              </a:rPr>
              <a:t>中有三类角色：</a:t>
            </a:r>
            <a:endParaRPr lang="zh-CN" altLang="en-US" sz="2000" dirty="0">
              <a:ea typeface="宋体" panose="02010600030101010101" pitchFamily="2" charset="-122"/>
            </a:endParaRPr>
          </a:p>
          <a:p>
            <a:pPr lvl="1">
              <a:buFont typeface="Wingdings" panose="05000000000000000000" pitchFamily="2" charset="2"/>
              <a:buChar char="Ø"/>
            </a:pPr>
            <a:r>
              <a:rPr lang="en-US" altLang="zh-CN" sz="2000" dirty="0">
                <a:solidFill>
                  <a:srgbClr val="FF0000"/>
                </a:solidFill>
                <a:ea typeface="宋体" panose="02010600030101010101" pitchFamily="2" charset="-122"/>
              </a:rPr>
              <a:t>Leader</a:t>
            </a:r>
            <a:endParaRPr lang="en-US" altLang="zh-CN" sz="2000" dirty="0">
              <a:solidFill>
                <a:srgbClr val="FF0000"/>
              </a:solidFill>
              <a:ea typeface="宋体" panose="02010600030101010101" pitchFamily="2" charset="-122"/>
            </a:endParaRPr>
          </a:p>
          <a:p>
            <a:pPr lvl="1">
              <a:buFont typeface="Wingdings" panose="05000000000000000000" pitchFamily="2" charset="2"/>
              <a:buChar char="Ø"/>
            </a:pPr>
            <a:r>
              <a:rPr lang="en-US" altLang="zh-CN" sz="2000" dirty="0">
                <a:ea typeface="宋体" panose="02010600030101010101" pitchFamily="2" charset="-122"/>
              </a:rPr>
              <a:t>Follower</a:t>
            </a:r>
            <a:endParaRPr lang="en-US" altLang="zh-CN" sz="2000" dirty="0">
              <a:ea typeface="宋体" panose="02010600030101010101" pitchFamily="2" charset="-122"/>
            </a:endParaRPr>
          </a:p>
          <a:p>
            <a:pPr lvl="1">
              <a:buFont typeface="Wingdings" panose="05000000000000000000" pitchFamily="2" charset="2"/>
              <a:buChar char="Ø"/>
            </a:pPr>
            <a:r>
              <a:rPr lang="en-US" altLang="zh-CN" sz="2000" dirty="0">
                <a:ea typeface="宋体" panose="02010600030101010101" pitchFamily="2" charset="-122"/>
              </a:rPr>
              <a:t>Candidate</a:t>
            </a:r>
            <a:endParaRPr lang="en-US" altLang="zh-CN" sz="2000" dirty="0">
              <a:ea typeface="宋体" panose="02010600030101010101" pitchFamily="2" charset="-122"/>
            </a:endParaRPr>
          </a:p>
          <a:p>
            <a:pPr algn="l">
              <a:buFont typeface="Wingdings" panose="05000000000000000000" pitchFamily="2" charset="2"/>
              <a:buChar char="u"/>
            </a:pPr>
            <a:r>
              <a:rPr lang="zh-CN" altLang="en-US" sz="2000" b="1" dirty="0">
                <a:latin typeface="宋体" panose="02010600030101010101" pitchFamily="2" charset="-122"/>
                <a:ea typeface="宋体" panose="02010600030101010101" pitchFamily="2" charset="-122"/>
              </a:rPr>
              <a:t>当</a:t>
            </a:r>
            <a:r>
              <a:rPr lang="en-US" altLang="zh-CN" sz="2000" dirty="0">
                <a:ea typeface="宋体" panose="02010600030101010101" pitchFamily="2" charset="-122"/>
              </a:rPr>
              <a:t>Leader</a:t>
            </a:r>
            <a:r>
              <a:rPr lang="zh-CN" altLang="en-US" sz="2000" dirty="0">
                <a:ea typeface="宋体" panose="02010600030101010101" pitchFamily="2" charset="-122"/>
              </a:rPr>
              <a:t>出现故障时选举一个从</a:t>
            </a:r>
            <a:r>
              <a:rPr lang="en-US" altLang="zh-CN" sz="2000" dirty="0">
                <a:ea typeface="宋体" panose="02010600030101010101" pitchFamily="2" charset="-122"/>
              </a:rPr>
              <a:t>Candidate</a:t>
            </a:r>
            <a:r>
              <a:rPr lang="zh-CN" altLang="en-US" sz="2000" dirty="0">
                <a:ea typeface="宋体" panose="02010600030101010101" pitchFamily="2" charset="-122"/>
              </a:rPr>
              <a:t>节点中选取一个（</a:t>
            </a:r>
            <a:r>
              <a:rPr lang="zh-CN" altLang="en-US" sz="2000" b="1" dirty="0">
                <a:latin typeface="宋体" panose="02010600030101010101" pitchFamily="2" charset="-122"/>
                <a:ea typeface="宋体" panose="02010600030101010101" pitchFamily="2" charset="-122"/>
              </a:rPr>
              <a:t>算法：</a:t>
            </a:r>
            <a:r>
              <a:rPr lang="en-US" altLang="zh-CN" sz="2000" b="1" dirty="0">
                <a:latin typeface="宋体" panose="02010600030101010101" pitchFamily="2" charset="-122"/>
                <a:ea typeface="宋体" panose="02010600030101010101" pitchFamily="2" charset="-122"/>
              </a:rPr>
              <a:t>Bully</a:t>
            </a:r>
            <a:r>
              <a:rPr lang="zh-CN" altLang="en-US" sz="2000" b="1" dirty="0">
                <a:latin typeface="宋体" panose="02010600030101010101" pitchFamily="2" charset="-122"/>
                <a:ea typeface="宋体" panose="02010600030101010101" pitchFamily="2" charset="-122"/>
              </a:rPr>
              <a:t>算法和环算法</a:t>
            </a:r>
            <a:r>
              <a:rPr lang="zh-CN" altLang="en-US" sz="2000" dirty="0">
                <a:ea typeface="宋体" panose="02010600030101010101" pitchFamily="2" charset="-122"/>
              </a:rPr>
              <a:t>）。</a:t>
            </a:r>
            <a:endParaRPr lang="en-US" altLang="zh-CN" sz="2000" dirty="0">
              <a:ea typeface="宋体" panose="02010600030101010101" pitchFamily="2" charset="-122"/>
            </a:endParaRPr>
          </a:p>
        </p:txBody>
      </p:sp>
      <p:pic>
        <p:nvPicPr>
          <p:cNvPr id="83972" name="图片 3"/>
          <p:cNvPicPr>
            <a:picLocks noChangeAspect="1"/>
          </p:cNvPicPr>
          <p:nvPr/>
        </p:nvPicPr>
        <p:blipFill>
          <a:blip r:embed="rId1"/>
          <a:stretch>
            <a:fillRect/>
          </a:stretch>
        </p:blipFill>
        <p:spPr>
          <a:xfrm>
            <a:off x="2335213" y="2859088"/>
            <a:ext cx="5678487" cy="3783012"/>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p:cNvSpPr>
          <p:nvPr>
            <p:ph type="title"/>
          </p:nvPr>
        </p:nvSpPr>
        <p:spPr>
          <a:xfrm>
            <a:off x="0" y="0"/>
            <a:ext cx="4065588" cy="765175"/>
          </a:xfrm>
        </p:spPr>
        <p:txBody>
          <a:bodyPr vert="horz" wrap="square" lIns="91440" tIns="45720" rIns="91440" bIns="45720" anchor="ctr" anchorCtr="0"/>
          <a:lstStyle/>
          <a:p>
            <a:pPr algn="l"/>
            <a:r>
              <a:rPr lang="en-US" altLang="zh-CN" dirty="0">
                <a:ea typeface="宋体" panose="02010600030101010101" pitchFamily="2" charset="-122"/>
              </a:rPr>
              <a:t>Raft algorithm</a:t>
            </a:r>
            <a:endParaRPr lang="en-US" altLang="zh-CN" dirty="0">
              <a:ea typeface="宋体" panose="02010600030101010101" pitchFamily="2" charset="-122"/>
            </a:endParaRPr>
          </a:p>
        </p:txBody>
      </p:sp>
      <p:sp>
        <p:nvSpPr>
          <p:cNvPr id="84995" name="Rectangle 3"/>
          <p:cNvSpPr>
            <a:spLocks noGrp="1" noRot="1"/>
          </p:cNvSpPr>
          <p:nvPr>
            <p:ph idx="1"/>
          </p:nvPr>
        </p:nvSpPr>
        <p:spPr>
          <a:xfrm>
            <a:off x="261938" y="876300"/>
            <a:ext cx="8682037" cy="4887913"/>
          </a:xfrm>
        </p:spPr>
        <p:txBody>
          <a:bodyPr vert="horz" wrap="square" lIns="91440" tIns="45720" rIns="91440" bIns="45720" anchor="t" anchorCtr="0"/>
          <a:lstStyle/>
          <a:p>
            <a:pPr algn="l">
              <a:lnSpc>
                <a:spcPct val="150000"/>
              </a:lnSpc>
              <a:buFont typeface="Wingdings" panose="05000000000000000000" pitchFamily="2" charset="2"/>
              <a:buChar char="u"/>
            </a:pPr>
            <a:r>
              <a:rPr lang="zh-CN" altLang="en-US" sz="2200" dirty="0">
                <a:ea typeface="宋体" panose="02010600030101010101" pitchFamily="2" charset="-122"/>
              </a:rPr>
              <a:t>接下来只要解决协议中的故障问题即可：</a:t>
            </a:r>
            <a:endParaRPr lang="en-US" altLang="zh-CN" sz="2200" dirty="0">
              <a:ea typeface="宋体" panose="02010600030101010101" pitchFamily="2" charset="-122"/>
            </a:endParaRPr>
          </a:p>
          <a:p>
            <a:pPr algn="l">
              <a:lnSpc>
                <a:spcPct val="150000"/>
              </a:lnSpc>
              <a:buNone/>
            </a:pPr>
            <a:r>
              <a:rPr lang="en-US" altLang="zh-CN" sz="2200" dirty="0">
                <a:ea typeface="宋体" panose="02010600030101010101" pitchFamily="2" charset="-122"/>
              </a:rPr>
              <a:t>1. </a:t>
            </a:r>
            <a:r>
              <a:rPr lang="zh-CN" altLang="en-US" sz="2200" dirty="0">
                <a:ea typeface="宋体" panose="02010600030101010101" pitchFamily="2" charset="-122"/>
              </a:rPr>
              <a:t>数据到达 </a:t>
            </a:r>
            <a:r>
              <a:rPr lang="en-US" altLang="zh-CN" sz="2200" dirty="0">
                <a:ea typeface="宋体" panose="02010600030101010101" pitchFamily="2" charset="-122"/>
              </a:rPr>
              <a:t>Leader </a:t>
            </a:r>
            <a:r>
              <a:rPr lang="zh-CN" altLang="en-US" sz="2200" dirty="0">
                <a:ea typeface="宋体" panose="02010600030101010101" pitchFamily="2" charset="-122"/>
              </a:rPr>
              <a:t>节点前；</a:t>
            </a:r>
            <a:endParaRPr lang="zh-CN" altLang="en-US" sz="2200" dirty="0">
              <a:ea typeface="宋体" panose="02010600030101010101" pitchFamily="2" charset="-122"/>
            </a:endParaRPr>
          </a:p>
          <a:p>
            <a:pPr algn="l">
              <a:lnSpc>
                <a:spcPct val="150000"/>
              </a:lnSpc>
              <a:buNone/>
            </a:pPr>
            <a:r>
              <a:rPr lang="en-US" altLang="zh-CN" sz="2200" dirty="0">
                <a:ea typeface="宋体" panose="02010600030101010101" pitchFamily="2" charset="-122"/>
              </a:rPr>
              <a:t>2. </a:t>
            </a:r>
            <a:r>
              <a:rPr lang="zh-CN" altLang="en-US" sz="2200" dirty="0">
                <a:ea typeface="宋体" panose="02010600030101010101" pitchFamily="2" charset="-122"/>
              </a:rPr>
              <a:t>数据到达 </a:t>
            </a:r>
            <a:r>
              <a:rPr lang="en-US" altLang="zh-CN" sz="2200" dirty="0">
                <a:ea typeface="宋体" panose="02010600030101010101" pitchFamily="2" charset="-122"/>
              </a:rPr>
              <a:t>Leader </a:t>
            </a:r>
            <a:r>
              <a:rPr lang="zh-CN" altLang="en-US" sz="2200" dirty="0">
                <a:ea typeface="宋体" panose="02010600030101010101" pitchFamily="2" charset="-122"/>
              </a:rPr>
              <a:t>节点，但未复制到 </a:t>
            </a:r>
            <a:r>
              <a:rPr lang="en-US" altLang="zh-CN" sz="2200" dirty="0">
                <a:ea typeface="宋体" panose="02010600030101010101" pitchFamily="2" charset="-122"/>
              </a:rPr>
              <a:t>Follower </a:t>
            </a:r>
            <a:r>
              <a:rPr lang="zh-CN" altLang="en-US" sz="2200" dirty="0">
                <a:ea typeface="宋体" panose="02010600030101010101" pitchFamily="2" charset="-122"/>
              </a:rPr>
              <a:t>节点；</a:t>
            </a:r>
            <a:endParaRPr lang="zh-CN" altLang="en-US" sz="2200" dirty="0">
              <a:ea typeface="宋体" panose="02010600030101010101" pitchFamily="2" charset="-122"/>
            </a:endParaRPr>
          </a:p>
          <a:p>
            <a:pPr algn="l">
              <a:lnSpc>
                <a:spcPct val="150000"/>
              </a:lnSpc>
              <a:buNone/>
            </a:pPr>
            <a:r>
              <a:rPr lang="en-US" altLang="zh-CN" sz="2200" dirty="0">
                <a:ea typeface="宋体" panose="02010600030101010101" pitchFamily="2" charset="-122"/>
              </a:rPr>
              <a:t>3. </a:t>
            </a:r>
            <a:r>
              <a:rPr lang="zh-CN" altLang="en-US" sz="2200" dirty="0">
                <a:ea typeface="宋体" panose="02010600030101010101" pitchFamily="2" charset="-122"/>
              </a:rPr>
              <a:t>数据到达 </a:t>
            </a:r>
            <a:r>
              <a:rPr lang="en-US" altLang="zh-CN" sz="2200" dirty="0">
                <a:ea typeface="宋体" panose="02010600030101010101" pitchFamily="2" charset="-122"/>
              </a:rPr>
              <a:t>Leader </a:t>
            </a:r>
            <a:r>
              <a:rPr lang="zh-CN" altLang="en-US" sz="2200" dirty="0">
                <a:ea typeface="宋体" panose="02010600030101010101" pitchFamily="2" charset="-122"/>
              </a:rPr>
              <a:t>节点，成功复制到 </a:t>
            </a:r>
            <a:r>
              <a:rPr lang="en-US" altLang="zh-CN" sz="2200" dirty="0">
                <a:ea typeface="宋体" panose="02010600030101010101" pitchFamily="2" charset="-122"/>
              </a:rPr>
              <a:t>Follower </a:t>
            </a:r>
            <a:r>
              <a:rPr lang="zh-CN" altLang="en-US" sz="2200" dirty="0">
                <a:ea typeface="宋体" panose="02010600030101010101" pitchFamily="2" charset="-122"/>
              </a:rPr>
              <a:t>所有节点，但还未向 </a:t>
            </a:r>
            <a:r>
              <a:rPr lang="en-US" altLang="zh-CN" sz="2200" dirty="0">
                <a:ea typeface="宋体" panose="02010600030101010101" pitchFamily="2" charset="-122"/>
              </a:rPr>
              <a:t>Leader </a:t>
            </a:r>
            <a:r>
              <a:rPr lang="zh-CN" altLang="en-US" sz="2200" dirty="0">
                <a:ea typeface="宋体" panose="02010600030101010101" pitchFamily="2" charset="-122"/>
              </a:rPr>
              <a:t>响应接收；</a:t>
            </a:r>
            <a:endParaRPr lang="en-US" altLang="zh-CN" sz="2200" dirty="0">
              <a:ea typeface="宋体" panose="02010600030101010101" pitchFamily="2" charset="-122"/>
            </a:endParaRPr>
          </a:p>
          <a:p>
            <a:pPr algn="l">
              <a:lnSpc>
                <a:spcPct val="150000"/>
              </a:lnSpc>
              <a:buNone/>
            </a:pPr>
            <a:r>
              <a:rPr lang="en-US" altLang="zh-CN" sz="2200" dirty="0">
                <a:ea typeface="宋体" panose="02010600030101010101" pitchFamily="2" charset="-122"/>
              </a:rPr>
              <a:t>4. </a:t>
            </a:r>
            <a:r>
              <a:rPr lang="zh-CN" altLang="en-US" sz="2200" dirty="0">
                <a:ea typeface="宋体" panose="02010600030101010101" pitchFamily="2" charset="-122"/>
              </a:rPr>
              <a:t>数据到达 </a:t>
            </a:r>
            <a:r>
              <a:rPr lang="en-US" altLang="zh-CN" sz="2200" dirty="0">
                <a:ea typeface="宋体" panose="02010600030101010101" pitchFamily="2" charset="-122"/>
              </a:rPr>
              <a:t>Leader </a:t>
            </a:r>
            <a:r>
              <a:rPr lang="zh-CN" altLang="en-US" sz="2200" dirty="0">
                <a:ea typeface="宋体" panose="02010600030101010101" pitchFamily="2" charset="-122"/>
              </a:rPr>
              <a:t>节点，成功复制到 </a:t>
            </a:r>
            <a:r>
              <a:rPr lang="en-US" altLang="zh-CN" sz="2200" dirty="0">
                <a:ea typeface="宋体" panose="02010600030101010101" pitchFamily="2" charset="-122"/>
              </a:rPr>
              <a:t>Follower </a:t>
            </a:r>
            <a:r>
              <a:rPr lang="zh-CN" altLang="en-US" sz="2200" dirty="0">
                <a:ea typeface="宋体" panose="02010600030101010101" pitchFamily="2" charset="-122"/>
              </a:rPr>
              <a:t>部分节点，但还未向 </a:t>
            </a:r>
            <a:r>
              <a:rPr lang="en-US" altLang="zh-CN" sz="2200" dirty="0">
                <a:ea typeface="宋体" panose="02010600030101010101" pitchFamily="2" charset="-122"/>
              </a:rPr>
              <a:t>Leader </a:t>
            </a:r>
            <a:r>
              <a:rPr lang="zh-CN" altLang="en-US" sz="2200" dirty="0">
                <a:ea typeface="宋体" panose="02010600030101010101" pitchFamily="2" charset="-122"/>
              </a:rPr>
              <a:t>响应接收；</a:t>
            </a:r>
            <a:endParaRPr lang="zh-CN" altLang="en-US" sz="2200" dirty="0">
              <a:ea typeface="宋体" panose="02010600030101010101" pitchFamily="2" charset="-122"/>
            </a:endParaRPr>
          </a:p>
          <a:p>
            <a:pPr algn="l">
              <a:lnSpc>
                <a:spcPct val="150000"/>
              </a:lnSpc>
              <a:buNone/>
            </a:pPr>
            <a:r>
              <a:rPr lang="en-US" altLang="zh-CN" sz="2200" dirty="0">
                <a:ea typeface="宋体" panose="02010600030101010101" pitchFamily="2" charset="-122"/>
              </a:rPr>
              <a:t>5. </a:t>
            </a:r>
            <a:r>
              <a:rPr lang="zh-CN" altLang="en-US" sz="2200" dirty="0">
                <a:ea typeface="宋体" panose="02010600030101010101" pitchFamily="2" charset="-122"/>
              </a:rPr>
              <a:t>数据到达 </a:t>
            </a:r>
            <a:r>
              <a:rPr lang="en-US" altLang="zh-CN" sz="2200" dirty="0">
                <a:ea typeface="宋体" panose="02010600030101010101" pitchFamily="2" charset="-122"/>
              </a:rPr>
              <a:t>Leader </a:t>
            </a:r>
            <a:r>
              <a:rPr lang="zh-CN" altLang="en-US" sz="2200" dirty="0">
                <a:ea typeface="宋体" panose="02010600030101010101" pitchFamily="2" charset="-122"/>
              </a:rPr>
              <a:t>节点，成功复制到 </a:t>
            </a:r>
            <a:r>
              <a:rPr lang="en-US" altLang="zh-CN" sz="2200" dirty="0">
                <a:ea typeface="宋体" panose="02010600030101010101" pitchFamily="2" charset="-122"/>
              </a:rPr>
              <a:t>Follower </a:t>
            </a:r>
            <a:r>
              <a:rPr lang="zh-CN" altLang="en-US" sz="2200" dirty="0">
                <a:ea typeface="宋体" panose="02010600030101010101" pitchFamily="2" charset="-122"/>
              </a:rPr>
              <a:t>所有或多数节点，数据在 </a:t>
            </a:r>
            <a:r>
              <a:rPr lang="en-US" altLang="zh-CN" sz="2200" dirty="0">
                <a:ea typeface="宋体" panose="02010600030101010101" pitchFamily="2" charset="-122"/>
              </a:rPr>
              <a:t>Leader </a:t>
            </a:r>
            <a:r>
              <a:rPr lang="zh-CN" altLang="en-US" sz="2200" dirty="0">
                <a:ea typeface="宋体" panose="02010600030101010101" pitchFamily="2" charset="-122"/>
              </a:rPr>
              <a:t>处于已提交状态，但在 </a:t>
            </a:r>
            <a:r>
              <a:rPr lang="en-US" altLang="zh-CN" sz="2200" dirty="0">
                <a:ea typeface="宋体" panose="02010600030101010101" pitchFamily="2" charset="-122"/>
              </a:rPr>
              <a:t>Follower </a:t>
            </a:r>
            <a:r>
              <a:rPr lang="zh-CN" altLang="en-US" sz="2200" dirty="0">
                <a:ea typeface="宋体" panose="02010600030101010101" pitchFamily="2" charset="-122"/>
              </a:rPr>
              <a:t>处于未提交状态；</a:t>
            </a:r>
            <a:endParaRPr lang="zh-CN" altLang="en-US" sz="2200" dirty="0">
              <a:ea typeface="宋体" panose="02010600030101010101" pitchFamily="2" charset="-122"/>
            </a:endParaRPr>
          </a:p>
          <a:p>
            <a:pPr algn="l">
              <a:lnSpc>
                <a:spcPct val="150000"/>
              </a:lnSpc>
              <a:buNone/>
            </a:pPr>
            <a:endParaRPr lang="zh-CN" altLang="en-US" sz="2200" b="1" dirty="0">
              <a:ea typeface="宋体" panose="02010600030101010101" pitchFamily="2" charset="-122"/>
            </a:endParaRPr>
          </a:p>
          <a:p>
            <a:pPr algn="l">
              <a:lnSpc>
                <a:spcPct val="150000"/>
              </a:lnSpc>
              <a:buNone/>
            </a:pPr>
            <a:endParaRPr lang="en-US" altLang="zh-CN" sz="2200" dirty="0">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Orca(Example)</a:t>
            </a:r>
            <a:endParaRPr lang="en-US" altLang="zh-CN" dirty="0">
              <a:ea typeface="宋体" panose="02010600030101010101" pitchFamily="2" charset="-122"/>
            </a:endParaRPr>
          </a:p>
        </p:txBody>
      </p:sp>
      <p:sp>
        <p:nvSpPr>
          <p:cNvPr id="86019" name="Rectangle 3"/>
          <p:cNvSpPr>
            <a:spLocks noGrp="1"/>
          </p:cNvSpPr>
          <p:nvPr>
            <p:ph idx="1"/>
          </p:nvPr>
        </p:nvSpPr>
        <p:spPr>
          <a:xfrm>
            <a:off x="371475" y="1166813"/>
            <a:ext cx="8507413" cy="4330700"/>
          </a:xfrm>
        </p:spPr>
        <p:txBody>
          <a:bodyPr vert="horz" wrap="square" lIns="91440" tIns="45720" rIns="91440" bIns="45720" anchor="t" anchorCtr="0"/>
          <a:lstStyle/>
          <a:p>
            <a:pPr marL="0" indent="0" algn="l" eaLnBrk="1" hangingPunct="1">
              <a:lnSpc>
                <a:spcPct val="150000"/>
              </a:lnSpc>
              <a:buFont typeface="Wingdings" panose="05000000000000000000" pitchFamily="2" charset="2"/>
              <a:buChar char="u"/>
            </a:pPr>
            <a:r>
              <a:rPr lang="en-US" altLang="zh-CN" sz="2800" dirty="0">
                <a:ea typeface="宋体" panose="02010600030101010101" pitchFamily="2" charset="-122"/>
              </a:rPr>
              <a:t>Orca is a programming system that allows processes of different machines to have controlled access to a </a:t>
            </a:r>
            <a:r>
              <a:rPr lang="en-US" altLang="zh-CN" sz="2800" dirty="0">
                <a:solidFill>
                  <a:srgbClr val="FF0000"/>
                </a:solidFill>
                <a:ea typeface="宋体" panose="02010600030101010101" pitchFamily="2" charset="-122"/>
              </a:rPr>
              <a:t>distributed shared memory </a:t>
            </a:r>
            <a:r>
              <a:rPr lang="en-US" altLang="zh-CN" sz="2800" dirty="0">
                <a:ea typeface="宋体" panose="02010600030101010101" pitchFamily="2" charset="-122"/>
              </a:rPr>
              <a:t>consists of protected objects.</a:t>
            </a:r>
            <a:endParaRPr lang="en-US" altLang="zh-CN" sz="2800" dirty="0">
              <a:ea typeface="宋体" panose="02010600030101010101" pitchFamily="2" charset="-122"/>
            </a:endParaRPr>
          </a:p>
          <a:p>
            <a:pPr marL="0" indent="0" algn="l" eaLnBrk="1" hangingPunct="1">
              <a:lnSpc>
                <a:spcPct val="150000"/>
              </a:lnSpc>
              <a:buFont typeface="Wingdings" panose="05000000000000000000" pitchFamily="2" charset="2"/>
              <a:buChar char="u"/>
            </a:pPr>
            <a:r>
              <a:rPr lang="en-US" altLang="zh-CN" sz="2800" dirty="0">
                <a:ea typeface="宋体" panose="02010600030101010101" pitchFamily="2" charset="-122"/>
              </a:rPr>
              <a:t> The Orca system consists of the  Orca language (object-based language), compiler, and runtime system that actually manages the shared objects during execution.</a:t>
            </a:r>
            <a:endParaRPr lang="en-US" altLang="zh-CN" sz="2800" dirty="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Orca(Example)</a:t>
            </a:r>
            <a:endParaRPr lang="en-US" altLang="zh-CN" dirty="0">
              <a:ea typeface="宋体" panose="02010600030101010101" pitchFamily="2" charset="-122"/>
            </a:endParaRPr>
          </a:p>
        </p:txBody>
      </p:sp>
      <p:sp>
        <p:nvSpPr>
          <p:cNvPr id="87043" name="Rectangle 3"/>
          <p:cNvSpPr>
            <a:spLocks noGrp="1"/>
          </p:cNvSpPr>
          <p:nvPr>
            <p:ph idx="1"/>
          </p:nvPr>
        </p:nvSpPr>
        <p:spPr>
          <a:xfrm>
            <a:off x="1141413" y="5829300"/>
            <a:ext cx="7192962" cy="952500"/>
          </a:xfrm>
        </p:spPr>
        <p:txBody>
          <a:bodyPr vert="horz" wrap="square" lIns="91440" tIns="45720" rIns="91440" bIns="45720" anchor="t" anchorCtr="0"/>
          <a:lstStyle/>
          <a:p>
            <a:pPr algn="l" eaLnBrk="1" hangingPunct="1">
              <a:buNone/>
            </a:pPr>
            <a:r>
              <a:rPr lang="en-US" altLang="zh-CN" sz="2400" dirty="0">
                <a:ea typeface="宋体" panose="02010600030101010101" pitchFamily="2" charset="-122"/>
              </a:rPr>
              <a:t>A simplified stack object in Orca, with internal data and two operations (Orca object-based language).</a:t>
            </a:r>
            <a:endParaRPr lang="en-US" altLang="zh-CN" sz="2400" dirty="0">
              <a:ea typeface="宋体" panose="02010600030101010101" pitchFamily="2" charset="-122"/>
            </a:endParaRPr>
          </a:p>
        </p:txBody>
      </p:sp>
      <p:sp>
        <p:nvSpPr>
          <p:cNvPr id="87044" name="Text Box 4"/>
          <p:cNvSpPr txBox="1"/>
          <p:nvPr/>
        </p:nvSpPr>
        <p:spPr>
          <a:xfrm>
            <a:off x="990600" y="1028700"/>
            <a:ext cx="7810500" cy="45593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400" dirty="0">
                <a:latin typeface="Arial" panose="020B0604020202020204" pitchFamily="34" charset="0"/>
                <a:ea typeface="宋体" panose="02010600030101010101" pitchFamily="2" charset="-122"/>
              </a:rPr>
              <a:t>OBJECT IMPLEMENTATION stack;</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top: integer;				# variable indicating the top</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stack: ARRAY[integer 0..N-1] OF integer		# storage for the stack</a:t>
            </a:r>
            <a:endParaRPr lang="en-US" altLang="zh-CN" sz="1400" dirty="0">
              <a:latin typeface="Arial" panose="020B0604020202020204" pitchFamily="34" charset="0"/>
              <a:ea typeface="宋体" panose="02010600030101010101" pitchFamily="2" charset="-122"/>
            </a:endParaRPr>
          </a:p>
          <a:p>
            <a:pPr marL="0" lvl="0" indent="0" algn="l" eaLnBrk="1" hangingPunct="1">
              <a:spcBef>
                <a:spcPct val="50000"/>
              </a:spcBef>
              <a:buClrTx/>
              <a:buNone/>
            </a:pPr>
            <a:r>
              <a:rPr lang="en-US" altLang="zh-CN" sz="1400" dirty="0">
                <a:latin typeface="Arial" panose="020B0604020202020204" pitchFamily="34" charset="0"/>
                <a:ea typeface="宋体" panose="02010600030101010101" pitchFamily="2" charset="-122"/>
              </a:rPr>
              <a:t>   OPERATION push (item: integer)		# function returning nothing</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BEGIN</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GUARD top &lt; N DO</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stack [top] := item;			# push item onto the stack</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top := top + 1;				# increment the stack pointer</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OD;</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END;</a:t>
            </a:r>
            <a:endParaRPr lang="en-US" altLang="zh-CN" sz="1400" dirty="0">
              <a:latin typeface="Arial" panose="020B0604020202020204" pitchFamily="34" charset="0"/>
              <a:ea typeface="宋体" panose="02010600030101010101" pitchFamily="2" charset="-122"/>
            </a:endParaRPr>
          </a:p>
          <a:p>
            <a:pPr marL="0" lvl="0" indent="0" algn="l" eaLnBrk="1" hangingPunct="1">
              <a:spcBef>
                <a:spcPct val="50000"/>
              </a:spcBef>
              <a:buClrTx/>
              <a:buNone/>
            </a:pPr>
            <a:r>
              <a:rPr lang="en-US" altLang="zh-CN" sz="1400" dirty="0">
                <a:latin typeface="Arial" panose="020B0604020202020204" pitchFamily="34" charset="0"/>
                <a:ea typeface="宋体" panose="02010600030101010101" pitchFamily="2" charset="-122"/>
              </a:rPr>
              <a:t>   OPERATION  pop():integer;			# function returning an integer</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BEGIN</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GUARD top &gt; 0 DO			# suspend if the stack is empty</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top := top – 1;				# decrement the stack pointer</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RETURN stack [top];			# return the top item</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OD;</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END;</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BEGIN</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top := 0;					# initialization</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END;</a:t>
            </a:r>
            <a:endParaRPr lang="en-US" altLang="zh-CN" sz="1400" dirty="0">
              <a:latin typeface="Arial" panose="020B0604020202020204" pitchFamily="34"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5"/>
          <p:cNvPicPr>
            <a:picLocks noChangeAspect="1"/>
          </p:cNvPicPr>
          <p:nvPr/>
        </p:nvPicPr>
        <p:blipFill>
          <a:blip r:embed="rId1"/>
          <a:srcRect l="24345" t="41843" r="21593" b="36404"/>
          <a:stretch>
            <a:fillRect/>
          </a:stretch>
        </p:blipFill>
        <p:spPr>
          <a:xfrm>
            <a:off x="190500" y="952500"/>
            <a:ext cx="8572500" cy="4881563"/>
          </a:xfrm>
          <a:prstGeom prst="rect">
            <a:avLst/>
          </a:prstGeom>
          <a:noFill/>
          <a:ln w="9525">
            <a:noFill/>
          </a:ln>
        </p:spPr>
      </p:pic>
      <p:sp>
        <p:nvSpPr>
          <p:cNvPr id="88067"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Management of Shared Objects in Orca</a:t>
            </a:r>
            <a:endParaRPr lang="en-US" altLang="zh-CN" dirty="0">
              <a:ea typeface="宋体" panose="02010600030101010101" pitchFamily="2" charset="-122"/>
            </a:endParaRPr>
          </a:p>
        </p:txBody>
      </p:sp>
      <p:sp>
        <p:nvSpPr>
          <p:cNvPr id="88068" name="Rectangle 3"/>
          <p:cNvSpPr>
            <a:spLocks noGrp="1"/>
          </p:cNvSpPr>
          <p:nvPr>
            <p:ph idx="1"/>
          </p:nvPr>
        </p:nvSpPr>
        <p:spPr>
          <a:xfrm>
            <a:off x="381000" y="5715000"/>
            <a:ext cx="8153400" cy="838200"/>
          </a:xfrm>
        </p:spPr>
        <p:txBody>
          <a:bodyPr vert="horz" wrap="square" lIns="91440" tIns="45720" rIns="91440" bIns="45720" anchor="t" anchorCtr="0"/>
          <a:lstStyle/>
          <a:p>
            <a:pPr algn="l" eaLnBrk="1" hangingPunct="1">
              <a:lnSpc>
                <a:spcPct val="90000"/>
              </a:lnSpc>
              <a:buNone/>
            </a:pPr>
            <a:r>
              <a:rPr lang="en-US" altLang="zh-CN" sz="2800" dirty="0">
                <a:ea typeface="宋体" panose="02010600030101010101" pitchFamily="2" charset="-122"/>
              </a:rPr>
              <a:t>Four cases of a process </a:t>
            </a:r>
            <a:r>
              <a:rPr lang="en-US" altLang="zh-CN" sz="2800" i="1" dirty="0">
                <a:ea typeface="宋体" panose="02010600030101010101" pitchFamily="2" charset="-122"/>
              </a:rPr>
              <a:t>P</a:t>
            </a:r>
            <a:r>
              <a:rPr lang="en-US" altLang="zh-CN" sz="2800" dirty="0">
                <a:ea typeface="宋体" panose="02010600030101010101" pitchFamily="2" charset="-122"/>
              </a:rPr>
              <a:t> performing an operation on an object </a:t>
            </a:r>
            <a:r>
              <a:rPr lang="en-US" altLang="zh-CN" sz="2800" i="1" dirty="0">
                <a:ea typeface="宋体" panose="02010600030101010101" pitchFamily="2" charset="-122"/>
              </a:rPr>
              <a:t>O</a:t>
            </a:r>
            <a:r>
              <a:rPr lang="en-US" altLang="zh-CN" sz="2800" dirty="0">
                <a:ea typeface="宋体" panose="02010600030101010101" pitchFamily="2" charset="-122"/>
              </a:rPr>
              <a:t> in Orca.</a:t>
            </a:r>
            <a:endParaRPr lang="en-US" altLang="zh-CN" sz="2800" dirty="0">
              <a:ea typeface="宋体" panose="02010600030101010101" pitchFamily="2" charset="-122"/>
            </a:endParaRPr>
          </a:p>
        </p:txBody>
      </p:sp>
      <p:sp>
        <p:nvSpPr>
          <p:cNvPr id="88069" name="Text Box 6"/>
          <p:cNvSpPr txBox="1"/>
          <p:nvPr/>
        </p:nvSpPr>
        <p:spPr>
          <a:xfrm>
            <a:off x="7381875" y="2938463"/>
            <a:ext cx="992188" cy="3968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solidFill>
                  <a:srgbClr val="FF3300"/>
                </a:solidFill>
                <a:ea typeface="宋体" panose="02010600030101010101" pitchFamily="2" charset="-122"/>
              </a:rPr>
              <a:t>RPC</a:t>
            </a:r>
            <a:endParaRPr lang="en-US" altLang="zh-CN" sz="2000" dirty="0">
              <a:solidFill>
                <a:srgbClr val="FF3300"/>
              </a:solidFill>
              <a:ea typeface="宋体" panose="02010600030101010101" pitchFamily="2" charset="-122"/>
            </a:endParaRPr>
          </a:p>
        </p:txBody>
      </p:sp>
      <p:sp>
        <p:nvSpPr>
          <p:cNvPr id="88070" name="Text Box 7"/>
          <p:cNvSpPr txBox="1"/>
          <p:nvPr/>
        </p:nvSpPr>
        <p:spPr>
          <a:xfrm>
            <a:off x="7167563" y="5364163"/>
            <a:ext cx="1227137" cy="3365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600" dirty="0">
                <a:solidFill>
                  <a:srgbClr val="FF3300"/>
                </a:solidFill>
                <a:ea typeface="宋体" panose="02010600030101010101" pitchFamily="2" charset="-122"/>
              </a:rPr>
              <a:t>可靠的广播</a:t>
            </a:r>
            <a:endParaRPr lang="zh-CN" altLang="en-US" sz="1600" dirty="0">
              <a:solidFill>
                <a:srgbClr val="FF3300"/>
              </a:solidFill>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COMMONDATA" val="eyJoZGlkIjoiM2NkNzAyYTY3NmVkMTFhM2MwNTRmNTdhYmVlMzM2ZjgifQ=="/>
</p:tagLst>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Office\Templates\Tannenbaum.pot</Template>
  <TotalTime>0</TotalTime>
  <Words>26773</Words>
  <Application>WPS 演示</Application>
  <PresentationFormat>全屏显示(4:3)</PresentationFormat>
  <Paragraphs>900</Paragraphs>
  <Slides>79</Slides>
  <Notes>43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64</vt:i4>
      </vt:variant>
      <vt:variant>
        <vt:lpstr>幻灯片标题</vt:lpstr>
      </vt:variant>
      <vt:variant>
        <vt:i4>79</vt:i4>
      </vt:variant>
    </vt:vector>
  </HeadingPairs>
  <TitlesOfParts>
    <vt:vector size="154" baseType="lpstr">
      <vt:lpstr>Arial</vt:lpstr>
      <vt:lpstr>宋体</vt:lpstr>
      <vt:lpstr>Wingdings</vt:lpstr>
      <vt:lpstr>Times New Roman</vt:lpstr>
      <vt:lpstr>微软雅黑</vt:lpstr>
      <vt:lpstr>Arial Unicode MS</vt:lpstr>
      <vt:lpstr>Calibri</vt:lpstr>
      <vt:lpstr>Courier New</vt:lpstr>
      <vt:lpstr>楷体_GB2312</vt:lpstr>
      <vt:lpstr>新宋体</vt:lpstr>
      <vt:lpstr>Tannenbaum</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Consistency and Replication</vt:lpstr>
      <vt:lpstr>PowerPoint 演示文稿</vt:lpstr>
      <vt:lpstr>PowerPoint 演示文稿</vt:lpstr>
      <vt:lpstr>Object shared</vt:lpstr>
      <vt:lpstr>Object shared</vt:lpstr>
      <vt:lpstr>Object Replication</vt:lpstr>
      <vt:lpstr>Object Replication</vt:lpstr>
      <vt:lpstr>TWO CONSISTENCY MODELS</vt:lpstr>
      <vt:lpstr>DATA-CENTRIC CONSISTENCY MODELS</vt:lpstr>
      <vt:lpstr>Data-Centric Consistency Models</vt:lpstr>
      <vt:lpstr>Strict Consistency(7.2.1)</vt:lpstr>
      <vt:lpstr>Strict Consistency(7.2.1)</vt:lpstr>
      <vt:lpstr>Strict Consistency(7.2.1)</vt:lpstr>
      <vt:lpstr>Linearizability and Sequential Consistency (7.2.2)</vt:lpstr>
      <vt:lpstr>Linearizability and Sequential Consistency (7.2.2)</vt:lpstr>
      <vt:lpstr>Linearizability and Sequential Consistency (2)</vt:lpstr>
      <vt:lpstr>Linearizability and Sequential Consistency (3)</vt:lpstr>
      <vt:lpstr>Linearizability and Sequential Consistency (3)</vt:lpstr>
      <vt:lpstr>Linearizability and Sequential Consistency (4)</vt:lpstr>
      <vt:lpstr>Causal Consistency (7.2.3)</vt:lpstr>
      <vt:lpstr>Causal Consistency (2)</vt:lpstr>
      <vt:lpstr>Causal Consistency (3)</vt:lpstr>
      <vt:lpstr>FIFO Consistency(or PRAM) (7.2.4)</vt:lpstr>
      <vt:lpstr>FIFO Consistency</vt:lpstr>
      <vt:lpstr>FIFO Consistency</vt:lpstr>
      <vt:lpstr>FIFO Consistency</vt:lpstr>
      <vt:lpstr>Weak Consistency (7.2.5)</vt:lpstr>
      <vt:lpstr>Weak Consistency</vt:lpstr>
      <vt:lpstr>Release Consistency (7.2.6)</vt:lpstr>
      <vt:lpstr>Release Consistency</vt:lpstr>
      <vt:lpstr>Release Consistency</vt:lpstr>
      <vt:lpstr>Entry Consistency (7.2.7)</vt:lpstr>
      <vt:lpstr>Summary of Consistency Models</vt:lpstr>
      <vt:lpstr>Client-Centric Consistency Models(7.3)</vt:lpstr>
      <vt:lpstr>Eventual Consistency (7.3.1)</vt:lpstr>
      <vt:lpstr>Monotonic-Read Consistency(7.3.2)</vt:lpstr>
      <vt:lpstr>Monotonic Reads</vt:lpstr>
      <vt:lpstr>Monotonic-Write Consistence(7.3.3)</vt:lpstr>
      <vt:lpstr>Read-Your-Writes Consistency(7.3.4)</vt:lpstr>
      <vt:lpstr>Writes-Follow-Reads Consistency(7.3.5)</vt:lpstr>
      <vt:lpstr>Implementation(7.3.6)</vt:lpstr>
      <vt:lpstr>Implementation(7.3.6)</vt:lpstr>
      <vt:lpstr>Implementation(7.3.6)</vt:lpstr>
      <vt:lpstr>Implementation(7.3.6)</vt:lpstr>
      <vt:lpstr>Implementation(7.3.6)</vt:lpstr>
      <vt:lpstr>DISTRIBUTION PROTOCOLS(7.4)</vt:lpstr>
      <vt:lpstr>Replica Placement(7.4.1)</vt:lpstr>
      <vt:lpstr>Server-Initiated Replicas</vt:lpstr>
      <vt:lpstr>Server-Initiated Replicas</vt:lpstr>
      <vt:lpstr>Client-Initiated Replicas</vt:lpstr>
      <vt:lpstr>Update Propagation(7.4.2)</vt:lpstr>
      <vt:lpstr>Pull versus Push Protocols</vt:lpstr>
      <vt:lpstr>Epidemic Protocols</vt:lpstr>
      <vt:lpstr>CONSISTENCY PROTOCOLS(7.5)</vt:lpstr>
      <vt:lpstr>Remote-Write Protocols (1)</vt:lpstr>
      <vt:lpstr>Remote-Write Protocols (2)</vt:lpstr>
      <vt:lpstr>Local-Write Protocols (1)</vt:lpstr>
      <vt:lpstr>Local-Write Protocols (2)</vt:lpstr>
      <vt:lpstr>Quorum-Based Protocols</vt:lpstr>
      <vt:lpstr>背景: Paxos是古希腊一个小岛,其法令通过议会表决形成，议员和信使都是兼职且不一定在会议厅，议员通过信使传递消息,并且信使可能重复投递消息,也可能一去不复返。协议: 保证法令能够正确产生且不会出现冲突！</vt:lpstr>
      <vt:lpstr>Introduction</vt:lpstr>
      <vt:lpstr>Requirements</vt:lpstr>
      <vt:lpstr>Paxos‘s notation and algorithm</vt:lpstr>
      <vt:lpstr>Paxos algorithm</vt:lpstr>
      <vt:lpstr>Definition of chosen</vt:lpstr>
      <vt:lpstr>Classic Paxos</vt:lpstr>
      <vt:lpstr>Classic Paxos</vt:lpstr>
      <vt:lpstr>Classic Paxos</vt:lpstr>
      <vt:lpstr>Classic Paxos</vt:lpstr>
      <vt:lpstr>Classic Paxos</vt:lpstr>
      <vt:lpstr>Classic Paxos</vt:lpstr>
      <vt:lpstr>Classic Paxos</vt:lpstr>
      <vt:lpstr>Tunable knobs(可调旋钮)</vt:lpstr>
      <vt:lpstr>Raft algorithm：In Search of an Understandable Consensus Algorithm(Extended Version)，Diego Ongaro and John Ousterhout，Stanford University，May 20, 2014.</vt:lpstr>
      <vt:lpstr>Raft algorithm</vt:lpstr>
      <vt:lpstr>Raft algorithm</vt:lpstr>
      <vt:lpstr>Orca(Example)</vt:lpstr>
      <vt:lpstr>Orca(Example)</vt:lpstr>
      <vt:lpstr>Management of Shared Objects in Orca</vt:lpstr>
    </vt:vector>
  </TitlesOfParts>
  <Company>East Texas Data Service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Consistency and Replication</dc:title>
  <dc:creator>Steve  Armstrong</dc:creator>
  <cp:lastModifiedBy>WPS_1681028394</cp:lastModifiedBy>
  <cp:revision>605</cp:revision>
  <dcterms:created xsi:type="dcterms:W3CDTF">2001-05-15T16:05:00Z</dcterms:created>
  <dcterms:modified xsi:type="dcterms:W3CDTF">2025-05-12T13:52:51Z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68904F20454D4D99BE18881913DFF3DD_12</vt:lpwstr>
  </property>
  <property fmtid="{D5CDD505-2E9C-101B-9397-08002B2CF9AE}" pid="3" name="KSOProductBuildVer">
    <vt:lpwstr>2052-12.1.0.20305</vt:lpwstr>
  </property>
</Properties>
</file>