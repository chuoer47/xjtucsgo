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5"/>
  </p:notesMasterIdLst>
  <p:sldIdLst>
    <p:sldId id="256" r:id="rId4"/>
    <p:sldId id="257" r:id="rId6"/>
    <p:sldId id="290" r:id="rId7"/>
    <p:sldId id="259" r:id="rId8"/>
    <p:sldId id="377" r:id="rId9"/>
    <p:sldId id="260" r:id="rId10"/>
    <p:sldId id="341" r:id="rId11"/>
    <p:sldId id="299" r:id="rId12"/>
    <p:sldId id="385" r:id="rId13"/>
    <p:sldId id="263" r:id="rId14"/>
    <p:sldId id="307" r:id="rId15"/>
    <p:sldId id="306" r:id="rId16"/>
    <p:sldId id="384" r:id="rId17"/>
    <p:sldId id="359" r:id="rId18"/>
    <p:sldId id="361" r:id="rId19"/>
    <p:sldId id="444" r:id="rId20"/>
    <p:sldId id="386" r:id="rId21"/>
    <p:sldId id="343" r:id="rId22"/>
    <p:sldId id="312" r:id="rId23"/>
    <p:sldId id="313" r:id="rId24"/>
    <p:sldId id="315" r:id="rId25"/>
    <p:sldId id="316" r:id="rId26"/>
    <p:sldId id="273" r:id="rId27"/>
    <p:sldId id="350" r:id="rId28"/>
    <p:sldId id="443" r:id="rId29"/>
    <p:sldId id="320" r:id="rId30"/>
    <p:sldId id="322" r:id="rId31"/>
    <p:sldId id="382" r:id="rId32"/>
    <p:sldId id="324" r:id="rId33"/>
    <p:sldId id="345" r:id="rId34"/>
    <p:sldId id="380" r:id="rId35"/>
    <p:sldId id="356" r:id="rId36"/>
    <p:sldId id="357" r:id="rId37"/>
    <p:sldId id="391" r:id="rId38"/>
    <p:sldId id="363" r:id="rId39"/>
    <p:sldId id="364" r:id="rId40"/>
    <p:sldId id="365" r:id="rId41"/>
    <p:sldId id="397" r:id="rId42"/>
    <p:sldId id="374" r:id="rId43"/>
    <p:sldId id="399" r:id="rId44"/>
    <p:sldId id="402" r:id="rId45"/>
    <p:sldId id="403" r:id="rId46"/>
    <p:sldId id="404" r:id="rId47"/>
    <p:sldId id="407" r:id="rId48"/>
    <p:sldId id="431" r:id="rId49"/>
    <p:sldId id="432" r:id="rId50"/>
    <p:sldId id="435" r:id="rId51"/>
    <p:sldId id="408" r:id="rId52"/>
    <p:sldId id="410" r:id="rId53"/>
    <p:sldId id="412" r:id="rId54"/>
    <p:sldId id="413" r:id="rId55"/>
    <p:sldId id="414" r:id="rId56"/>
    <p:sldId id="437" r:id="rId57"/>
    <p:sldId id="442" r:id="rId58"/>
    <p:sldId id="417" r:id="rId59"/>
    <p:sldId id="419" r:id="rId60"/>
    <p:sldId id="420" r:id="rId61"/>
    <p:sldId id="441" r:id="rId62"/>
    <p:sldId id="422" r:id="rId63"/>
    <p:sldId id="425" r:id="rId64"/>
    <p:sldId id="429" r:id="rId65"/>
    <p:sldId id="430" r:id="rId66"/>
    <p:sldId id="281" r:id="rId67"/>
    <p:sldId id="329" r:id="rId68"/>
    <p:sldId id="330" r:id="rId69"/>
    <p:sldId id="355" r:id="rId70"/>
  </p:sldIdLst>
  <p:sldSz cx="9144000" cy="6858000" type="screen4x3"/>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mn-ea"/>
        <a:cs typeface="+mn-cs"/>
      </a:defRPr>
    </a:lvl1pPr>
    <a:lvl2pPr marL="457200" lvl="1"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mn-ea"/>
        <a:cs typeface="+mn-cs"/>
      </a:defRPr>
    </a:lvl5pPr>
    <a:lvl6pPr marL="2286000" lvl="5"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mn-ea"/>
        <a:cs typeface="+mn-cs"/>
      </a:defRPr>
    </a:lvl6pPr>
    <a:lvl7pPr marL="2743200" lvl="6"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mn-ea"/>
        <a:cs typeface="+mn-cs"/>
      </a:defRPr>
    </a:lvl7pPr>
    <a:lvl8pPr marL="3200400" lvl="7"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mn-ea"/>
        <a:cs typeface="+mn-cs"/>
      </a:defRPr>
    </a:lvl8pPr>
    <a:lvl9pPr marL="3657600" lvl="8" indent="0" algn="l"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7149"/>
    <p:restoredTop sz="78466"/>
  </p:normalViewPr>
  <p:slideViewPr>
    <p:cSldViewPr snapToGrid="0" showGuides="1">
      <p:cViewPr varScale="1">
        <p:scale>
          <a:sx n="96" d="100"/>
          <a:sy n="96" d="100"/>
        </p:scale>
        <p:origin x="2256"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3" Type="http://schemas.openxmlformats.org/officeDocument/2006/relationships/tableStyles" Target="tableStyles.xml"/><Relationship Id="rId72" Type="http://schemas.openxmlformats.org/officeDocument/2006/relationships/viewProps" Target="viewProps.xml"/><Relationship Id="rId71" Type="http://schemas.openxmlformats.org/officeDocument/2006/relationships/presProps" Target="presProps.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6486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64867"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052" name="Rectangle 4"/>
          <p:cNvSpPr>
            <a:spLocks noRo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164869"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64870"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64871"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7882F0B9-9B04-4E7B-908D-6F11D8CE9D76}" type="slidenum">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fld>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幻灯片图像占位符 1"/>
          <p:cNvSpPr>
            <a:spLocks noGrp="1" noRot="1" noChangeAspect="1" noTextEdit="1"/>
          </p:cNvSpPr>
          <p:nvPr>
            <p:ph type="sldImg"/>
          </p:nvPr>
        </p:nvSpPr>
        <p:spPr>
          <a:ln/>
        </p:spPr>
      </p:sp>
      <p:sp>
        <p:nvSpPr>
          <p:cNvPr id="4099" name="备注占位符 2"/>
          <p:cNvSpPr>
            <a:spLocks noGrp="1"/>
          </p:cNvSpPr>
          <p:nvPr>
            <p:ph type="body" idx="1"/>
          </p:nvPr>
        </p:nvSpPr>
        <p:spPr>
          <a:ln/>
        </p:spPr>
        <p:txBody>
          <a:bodyPr wrap="square" lIns="91440" tIns="45720" rIns="91440" bIns="45720" anchor="t" anchorCtr="0"/>
          <a:p>
            <a:pPr lvl="0"/>
            <a:r>
              <a:rPr lang="zh-CN" altLang="en-US" b="1" dirty="0">
                <a:latin typeface="宋体" panose="02010600030101010101" pitchFamily="2" charset="-122"/>
                <a:ea typeface="宋体" panose="02010600030101010101" pitchFamily="2" charset="-122"/>
              </a:rPr>
              <a:t>在某些事件点上按某种约束产生执行顺序（协同，互斥）</a:t>
            </a:r>
            <a:endParaRPr lang="en-US" altLang="zh-CN" b="1" dirty="0">
              <a:latin typeface="宋体" panose="02010600030101010101" pitchFamily="2" charset="-122"/>
              <a:ea typeface="宋体" panose="02010600030101010101" pitchFamily="2" charset="-122"/>
            </a:endParaRPr>
          </a:p>
          <a:p>
            <a:pPr lvl="0"/>
            <a:endParaRPr lang="zh-CN" altLang="en-US" dirty="0">
              <a:ea typeface="宋体" panose="02010600030101010101" pitchFamily="2" charset="-122"/>
            </a:endParaRPr>
          </a:p>
        </p:txBody>
      </p:sp>
      <p:sp>
        <p:nvSpPr>
          <p:cNvPr id="410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幻灯片图像占位符 1"/>
          <p:cNvSpPr>
            <a:spLocks noGrp="1" noRot="1" noChangeAspect="1" noTextEdit="1"/>
          </p:cNvSpPr>
          <p:nvPr>
            <p:ph type="sldImg"/>
          </p:nvPr>
        </p:nvSpPr>
        <p:spPr>
          <a:ln/>
        </p:spPr>
      </p:sp>
      <p:sp>
        <p:nvSpPr>
          <p:cNvPr id="6147" name="备注占位符 2"/>
          <p:cNvSpPr>
            <a:spLocks noGrp="1"/>
          </p:cNvSpPr>
          <p:nvPr>
            <p:ph type="body" idx="1"/>
          </p:nvPr>
        </p:nvSpPr>
        <p:spPr>
          <a:ln/>
        </p:spPr>
        <p:txBody>
          <a:bodyPr wrap="square" lIns="91440" tIns="45720" rIns="91440" bIns="45720" anchor="t" anchorCtr="0"/>
          <a:p>
            <a:pPr lvl="0"/>
            <a:r>
              <a:rPr lang="zh-CN" altLang="en-US" b="1" dirty="0">
                <a:latin typeface="宋体" panose="02010600030101010101" pitchFamily="2" charset="-122"/>
                <a:ea typeface="宋体" panose="02010600030101010101" pitchFamily="2" charset="-122"/>
              </a:rPr>
              <a:t>时钟计量：物理时钟 </a:t>
            </a:r>
            <a:r>
              <a:rPr lang="en-US" altLang="zh-CN" b="1" dirty="0">
                <a:latin typeface="宋体" panose="02010600030101010101" pitchFamily="2" charset="-122"/>
                <a:ea typeface="宋体" panose="02010600030101010101" pitchFamily="2" charset="-122"/>
              </a:rPr>
              <a:t>vs </a:t>
            </a:r>
            <a:r>
              <a:rPr lang="zh-CN" altLang="en-US" b="1" dirty="0">
                <a:latin typeface="宋体" panose="02010600030101010101" pitchFamily="2" charset="-122"/>
                <a:ea typeface="宋体" panose="02010600030101010101" pitchFamily="2" charset="-122"/>
              </a:rPr>
              <a:t>逻辑时钟</a:t>
            </a:r>
            <a:r>
              <a:rPr lang="en-US" altLang="zh-CN" b="1" dirty="0">
                <a:latin typeface="宋体" panose="02010600030101010101" pitchFamily="2" charset="-122"/>
                <a:ea typeface="宋体" panose="02010600030101010101" pitchFamily="2" charset="-122"/>
              </a:rPr>
              <a:t>;</a:t>
            </a:r>
            <a:endParaRPr lang="en-US" altLang="zh-CN" b="1" dirty="0">
              <a:latin typeface="宋体" panose="02010600030101010101" pitchFamily="2" charset="-122"/>
              <a:ea typeface="宋体" panose="02010600030101010101" pitchFamily="2" charset="-122"/>
            </a:endParaRPr>
          </a:p>
          <a:p>
            <a:pPr lvl="0"/>
            <a:r>
              <a:rPr lang="zh-CN" altLang="en-US" b="1" dirty="0">
                <a:latin typeface="宋体" panose="02010600030101010101" pitchFamily="2" charset="-122"/>
                <a:ea typeface="宋体" panose="02010600030101010101" pitchFamily="2" charset="-122"/>
              </a:rPr>
              <a:t>时钟同步：集中式 </a:t>
            </a:r>
            <a:r>
              <a:rPr lang="en-US" altLang="zh-CN" b="1" dirty="0">
                <a:latin typeface="宋体" panose="02010600030101010101" pitchFamily="2" charset="-122"/>
                <a:ea typeface="宋体" panose="02010600030101010101" pitchFamily="2" charset="-122"/>
              </a:rPr>
              <a:t>vs </a:t>
            </a:r>
            <a:r>
              <a:rPr lang="zh-CN" altLang="en-US" b="1" dirty="0">
                <a:latin typeface="宋体" panose="02010600030101010101" pitchFamily="2" charset="-122"/>
                <a:ea typeface="宋体" panose="02010600030101010101" pitchFamily="2" charset="-122"/>
              </a:rPr>
              <a:t>分布     </a:t>
            </a:r>
            <a:endParaRPr lang="en-US" altLang="zh-CN" b="1" dirty="0">
              <a:latin typeface="宋体" panose="02010600030101010101" pitchFamily="2" charset="-122"/>
              <a:ea typeface="宋体" panose="02010600030101010101" pitchFamily="2" charset="-122"/>
            </a:endParaRPr>
          </a:p>
          <a:p>
            <a:pPr lvl="0"/>
            <a:r>
              <a:rPr lang="zh-CN" altLang="en-US" b="1" dirty="0">
                <a:latin typeface="宋体" panose="02010600030101010101" pitchFamily="2" charset="-122"/>
                <a:ea typeface="宋体" panose="02010600030101010101" pitchFamily="2" charset="-122"/>
              </a:rPr>
              <a:t>在某些事件点上按某种约束产生执行顺序（协同，互斥）</a:t>
            </a:r>
            <a:endParaRPr lang="en-US" altLang="zh-CN" b="1" dirty="0">
              <a:latin typeface="宋体" panose="02010600030101010101" pitchFamily="2" charset="-122"/>
              <a:ea typeface="宋体" panose="02010600030101010101" pitchFamily="2" charset="-122"/>
            </a:endParaRPr>
          </a:p>
        </p:txBody>
      </p:sp>
      <p:sp>
        <p:nvSpPr>
          <p:cNvPr id="614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幻灯片图像占位符 1"/>
          <p:cNvSpPr>
            <a:spLocks noGrp="1" noRot="1" noChangeAspect="1" noTextEdit="1"/>
          </p:cNvSpPr>
          <p:nvPr>
            <p:ph type="sldImg"/>
          </p:nvPr>
        </p:nvSpPr>
        <p:spPr>
          <a:ln/>
        </p:spPr>
      </p:sp>
      <p:sp>
        <p:nvSpPr>
          <p:cNvPr id="8195" name="备注占位符 2"/>
          <p:cNvSpPr>
            <a:spLocks noGrp="1"/>
          </p:cNvSpPr>
          <p:nvPr>
            <p:ph type="body" idx="1"/>
          </p:nvPr>
        </p:nvSpPr>
        <p:spPr>
          <a:ln/>
        </p:spPr>
        <p:txBody>
          <a:bodyPr wrap="square" lIns="91440" tIns="45720" rIns="91440" bIns="45720" anchor="t" anchorCtr="0"/>
          <a:p>
            <a:pPr lvl="0"/>
            <a:r>
              <a:rPr lang="zh-CN" altLang="en-US" dirty="0">
                <a:ea typeface="宋体" panose="02010600030101010101" pitchFamily="2" charset="-122"/>
              </a:rPr>
              <a:t>物理时钟</a:t>
            </a:r>
            <a:endParaRPr lang="zh-CN" altLang="en-US" dirty="0">
              <a:ea typeface="宋体" panose="02010600030101010101" pitchFamily="2" charset="-122"/>
            </a:endParaRPr>
          </a:p>
        </p:txBody>
      </p:sp>
      <p:sp>
        <p:nvSpPr>
          <p:cNvPr id="819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幻灯片图像占位符 1"/>
          <p:cNvSpPr>
            <a:spLocks noGrp="1" noRot="1" noChangeAspect="1" noTextEdit="1"/>
          </p:cNvSpPr>
          <p:nvPr>
            <p:ph type="sldImg"/>
          </p:nvPr>
        </p:nvSpPr>
        <p:spPr>
          <a:ln/>
        </p:spPr>
      </p:sp>
      <p:sp>
        <p:nvSpPr>
          <p:cNvPr id="10243" name="备注占位符 2"/>
          <p:cNvSpPr>
            <a:spLocks noGrp="1"/>
          </p:cNvSpPr>
          <p:nvPr>
            <p:ph type="body" idx="1"/>
          </p:nvPr>
        </p:nvSpPr>
        <p:spPr>
          <a:ln/>
        </p:spPr>
        <p:txBody>
          <a:bodyPr wrap="square" lIns="91440" tIns="45720" rIns="91440" bIns="45720" anchor="t" anchorCtr="0"/>
          <a:p>
            <a:pPr lvl="0"/>
            <a:r>
              <a:rPr lang="zh-CN" altLang="en-US" dirty="0">
                <a:ea typeface="宋体" panose="02010600030101010101" pitchFamily="2" charset="-122"/>
              </a:rPr>
              <a:t>物理时钟</a:t>
            </a:r>
            <a:endParaRPr lang="zh-CN" altLang="en-US" dirty="0">
              <a:ea typeface="宋体" panose="02010600030101010101" pitchFamily="2" charset="-122"/>
            </a:endParaRPr>
          </a:p>
          <a:p>
            <a:pPr lvl="0"/>
            <a:endParaRPr lang="zh-CN" altLang="en-US" dirty="0">
              <a:ea typeface="宋体" panose="02010600030101010101" pitchFamily="2" charset="-122"/>
            </a:endParaRPr>
          </a:p>
        </p:txBody>
      </p:sp>
      <p:sp>
        <p:nvSpPr>
          <p:cNvPr id="1024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幻灯片图像占位符 1"/>
          <p:cNvSpPr>
            <a:spLocks noGrp="1" noRot="1" noChangeAspect="1" noTextEdit="1"/>
          </p:cNvSpPr>
          <p:nvPr>
            <p:ph type="sldImg"/>
          </p:nvPr>
        </p:nvSpPr>
        <p:spPr>
          <a:ln/>
        </p:spPr>
      </p:sp>
      <p:sp>
        <p:nvSpPr>
          <p:cNvPr id="12291" name="备注占位符 2"/>
          <p:cNvSpPr>
            <a:spLocks noGrp="1"/>
          </p:cNvSpPr>
          <p:nvPr>
            <p:ph type="body" idx="1"/>
          </p:nvPr>
        </p:nvSpPr>
        <p:spPr>
          <a:ln/>
        </p:spPr>
        <p:txBody>
          <a:bodyPr wrap="square" lIns="91440" tIns="45720" rIns="91440" bIns="45720" anchor="t" anchorCtr="0"/>
          <a:p>
            <a:pPr lvl="0"/>
            <a:r>
              <a:rPr lang="zh-CN" altLang="en-US" b="1" dirty="0">
                <a:latin typeface="宋体" panose="02010600030101010101" pitchFamily="2" charset="-122"/>
                <a:ea typeface="宋体" panose="02010600030101010101" pitchFamily="2" charset="-122"/>
              </a:rPr>
              <a:t>集中式不需要时钟同步</a:t>
            </a:r>
            <a:endParaRPr lang="en-US" altLang="zh-CN" b="1" dirty="0">
              <a:latin typeface="宋体" panose="02010600030101010101" pitchFamily="2" charset="-122"/>
              <a:ea typeface="宋体" panose="02010600030101010101" pitchFamily="2" charset="-122"/>
            </a:endParaRPr>
          </a:p>
          <a:p>
            <a:pPr lvl="0"/>
            <a:endParaRPr lang="en-US" altLang="zh-CN" b="1" dirty="0">
              <a:latin typeface="宋体" panose="02010600030101010101" pitchFamily="2" charset="-122"/>
              <a:ea typeface="宋体" panose="02010600030101010101" pitchFamily="2" charset="-122"/>
            </a:endParaRPr>
          </a:p>
          <a:p>
            <a:pPr lvl="0"/>
            <a:r>
              <a:rPr lang="zh-CN" altLang="en-US" b="1" dirty="0">
                <a:latin typeface="宋体" panose="02010600030101010101" pitchFamily="2" charset="-122"/>
                <a:ea typeface="宋体" panose="02010600030101010101" pitchFamily="2" charset="-122"/>
              </a:rPr>
              <a:t>分布式需要时钟同步</a:t>
            </a:r>
            <a:endParaRPr lang="en-US" altLang="zh-CN" b="1" dirty="0">
              <a:latin typeface="宋体" panose="02010600030101010101" pitchFamily="2" charset="-122"/>
              <a:ea typeface="宋体" panose="02010600030101010101" pitchFamily="2" charset="-122"/>
            </a:endParaRPr>
          </a:p>
          <a:p>
            <a:pPr lvl="0"/>
            <a:endParaRPr lang="en-US" altLang="zh-CN" b="1" dirty="0">
              <a:latin typeface="宋体" panose="02010600030101010101" pitchFamily="2" charset="-122"/>
              <a:ea typeface="宋体" panose="02010600030101010101" pitchFamily="2" charset="-122"/>
            </a:endParaRPr>
          </a:p>
          <a:p>
            <a:pPr lvl="0"/>
            <a:endParaRPr lang="en-US" altLang="zh-CN" b="1" dirty="0">
              <a:latin typeface="宋体" panose="02010600030101010101" pitchFamily="2" charset="-122"/>
              <a:ea typeface="宋体" panose="02010600030101010101" pitchFamily="2" charset="-122"/>
            </a:endParaRPr>
          </a:p>
          <a:p>
            <a:pPr lvl="0"/>
            <a:r>
              <a:rPr lang="zh-CN" altLang="en-US" b="1" dirty="0">
                <a:latin typeface="宋体" panose="02010600030101010101" pitchFamily="2" charset="-122"/>
                <a:ea typeface="宋体" panose="02010600030101010101" pitchFamily="2" charset="-122"/>
              </a:rPr>
              <a:t>时钟同步的概念，集中式简单，分布式复杂</a:t>
            </a:r>
            <a:endParaRPr lang="en-US" altLang="zh-CN" b="1" dirty="0">
              <a:latin typeface="宋体" panose="02010600030101010101" pitchFamily="2" charset="-122"/>
              <a:ea typeface="宋体" panose="02010600030101010101" pitchFamily="2" charset="-122"/>
            </a:endParaRPr>
          </a:p>
          <a:p>
            <a:pPr lvl="0"/>
            <a:endParaRPr lang="en-US" altLang="zh-CN" b="1" dirty="0">
              <a:latin typeface="宋体" panose="02010600030101010101" pitchFamily="2" charset="-122"/>
              <a:ea typeface="宋体" panose="02010600030101010101" pitchFamily="2" charset="-122"/>
            </a:endParaRPr>
          </a:p>
          <a:p>
            <a:pPr lvl="0"/>
            <a:r>
              <a:rPr lang="zh-CN" altLang="en-US" b="1" dirty="0">
                <a:latin typeface="宋体" panose="02010600030101010101" pitchFamily="2" charset="-122"/>
                <a:ea typeface="宋体" panose="02010600030101010101" pitchFamily="2" charset="-122"/>
              </a:rPr>
              <a:t>分布式场景下的时钟同步概念，下边是</a:t>
            </a:r>
            <a:endParaRPr lang="en-US" altLang="zh-CN" b="1" dirty="0">
              <a:latin typeface="宋体" panose="02010600030101010101" pitchFamily="2" charset="-122"/>
              <a:ea typeface="宋体" panose="02010600030101010101" pitchFamily="2" charset="-122"/>
            </a:endParaRPr>
          </a:p>
          <a:p>
            <a:pPr lvl="0"/>
            <a:endParaRPr lang="en-US" altLang="zh-CN" b="1" dirty="0">
              <a:latin typeface="宋体" panose="02010600030101010101" pitchFamily="2" charset="-122"/>
              <a:ea typeface="宋体" panose="02010600030101010101" pitchFamily="2" charset="-122"/>
            </a:endParaRPr>
          </a:p>
          <a:p>
            <a:pPr lvl="0"/>
            <a:r>
              <a:rPr lang="zh-CN" altLang="en-US" b="1" dirty="0">
                <a:latin typeface="宋体" panose="02010600030101010101" pitchFamily="2" charset="-122"/>
                <a:ea typeface="宋体" panose="02010600030101010101" pitchFamily="2" charset="-122"/>
              </a:rPr>
              <a:t>物理时钟的各种分类的算法</a:t>
            </a:r>
            <a:endParaRPr lang="en-US" altLang="zh-CN" b="1" dirty="0">
              <a:latin typeface="宋体" panose="02010600030101010101" pitchFamily="2" charset="-122"/>
              <a:ea typeface="宋体" panose="02010600030101010101" pitchFamily="2" charset="-122"/>
            </a:endParaRPr>
          </a:p>
          <a:p>
            <a:pPr lvl="0"/>
            <a:endParaRPr lang="en-US" altLang="zh-CN" b="1" dirty="0">
              <a:latin typeface="宋体" panose="02010600030101010101" pitchFamily="2" charset="-122"/>
              <a:ea typeface="宋体" panose="02010600030101010101" pitchFamily="2" charset="-122"/>
            </a:endParaRPr>
          </a:p>
          <a:p>
            <a:pPr lvl="0"/>
            <a:r>
              <a:rPr lang="zh-CN" altLang="en-US" b="1" dirty="0">
                <a:latin typeface="宋体" panose="02010600030101010101" pitchFamily="2" charset="-122"/>
                <a:ea typeface="宋体" panose="02010600030101010101" pitchFamily="2" charset="-122"/>
              </a:rPr>
              <a:t>逻辑时钟的各种分类的算法</a:t>
            </a:r>
            <a:endParaRPr lang="zh-CN" altLang="en-US" dirty="0">
              <a:ea typeface="宋体" panose="02010600030101010101" pitchFamily="2" charset="-122"/>
            </a:endParaRPr>
          </a:p>
          <a:p>
            <a:pPr lvl="0"/>
            <a:endParaRPr lang="zh-CN" altLang="en-US" dirty="0">
              <a:ea typeface="宋体" panose="02010600030101010101" pitchFamily="2" charset="-122"/>
            </a:endParaRPr>
          </a:p>
        </p:txBody>
      </p:sp>
      <p:sp>
        <p:nvSpPr>
          <p:cNvPr id="1229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幻灯片图像占位符 1"/>
          <p:cNvSpPr>
            <a:spLocks noGrp="1" noRot="1" noChangeAspect="1" noTextEdit="1"/>
          </p:cNvSpPr>
          <p:nvPr>
            <p:ph type="sldImg"/>
          </p:nvPr>
        </p:nvSpPr>
        <p:spPr>
          <a:ln/>
        </p:spPr>
      </p:sp>
      <p:sp>
        <p:nvSpPr>
          <p:cNvPr id="14339" name="备注占位符 2"/>
          <p:cNvSpPr>
            <a:spLocks noGrp="1"/>
          </p:cNvSpPr>
          <p:nvPr>
            <p:ph type="body" idx="1"/>
          </p:nvPr>
        </p:nvSpPr>
        <p:spPr>
          <a:ln/>
        </p:spPr>
        <p:txBody>
          <a:bodyPr wrap="square" lIns="91440" tIns="45720" rIns="91440" bIns="45720" anchor="t" anchorCtr="0"/>
          <a:p>
            <a:pPr lvl="0"/>
            <a:endParaRPr lang="en-US" altLang="zh-CN" b="1" dirty="0">
              <a:latin typeface="宋体" panose="02010600030101010101" pitchFamily="2" charset="-122"/>
              <a:ea typeface="宋体" panose="02010600030101010101" pitchFamily="2" charset="-122"/>
            </a:endParaRPr>
          </a:p>
          <a:p>
            <a:pPr lvl="0"/>
            <a:r>
              <a:rPr lang="zh-CN" altLang="en-US" b="1" dirty="0">
                <a:latin typeface="宋体" panose="02010600030101010101" pitchFamily="2" charset="-122"/>
                <a:ea typeface="宋体" panose="02010600030101010101" pitchFamily="2" charset="-122"/>
              </a:rPr>
              <a:t>物理时钟的算法，</a:t>
            </a:r>
            <a:r>
              <a:rPr lang="en-US" altLang="zh-CN"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基本思想</a:t>
            </a:r>
            <a:endParaRPr lang="en-US" altLang="zh-CN" b="1" dirty="0">
              <a:latin typeface="宋体" panose="02010600030101010101" pitchFamily="2" charset="-122"/>
              <a:ea typeface="宋体" panose="02010600030101010101" pitchFamily="2" charset="-122"/>
            </a:endParaRPr>
          </a:p>
          <a:p>
            <a:pPr lvl="0"/>
            <a:endParaRPr lang="zh-CN" altLang="en-US" dirty="0">
              <a:ea typeface="宋体" panose="02010600030101010101" pitchFamily="2" charset="-122"/>
            </a:endParaRPr>
          </a:p>
        </p:txBody>
      </p:sp>
      <p:sp>
        <p:nvSpPr>
          <p:cNvPr id="1434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幻灯片图像占位符 1"/>
          <p:cNvSpPr>
            <a:spLocks noGrp="1" noRot="1" noChangeAspect="1" noTextEdit="1"/>
          </p:cNvSpPr>
          <p:nvPr>
            <p:ph type="sldImg"/>
          </p:nvPr>
        </p:nvSpPr>
        <p:spPr>
          <a:ln/>
        </p:spPr>
      </p:sp>
      <p:sp>
        <p:nvSpPr>
          <p:cNvPr id="16387" name="备注占位符 2"/>
          <p:cNvSpPr>
            <a:spLocks noGrp="1"/>
          </p:cNvSpPr>
          <p:nvPr>
            <p:ph type="body" idx="1"/>
          </p:nvPr>
        </p:nvSpPr>
        <p:spPr>
          <a:ln/>
        </p:spPr>
        <p:txBody>
          <a:bodyPr wrap="square" lIns="91440" tIns="45720" rIns="91440" bIns="45720" anchor="t" anchorCtr="0"/>
          <a:p>
            <a:pPr lvl="0"/>
            <a:r>
              <a:rPr lang="zh-CN" altLang="en-US" b="1" dirty="0">
                <a:latin typeface="宋体" panose="02010600030101010101" pitchFamily="2" charset="-122"/>
                <a:ea typeface="宋体" panose="02010600030101010101" pitchFamily="2" charset="-122"/>
              </a:rPr>
              <a:t>算法</a:t>
            </a:r>
            <a:r>
              <a:rPr lang="en-US" altLang="zh-CN" b="1" dirty="0">
                <a:latin typeface="宋体" panose="02010600030101010101" pitchFamily="2" charset="-122"/>
                <a:ea typeface="宋体" panose="02010600030101010101" pitchFamily="2" charset="-122"/>
              </a:rPr>
              <a:t>1</a:t>
            </a:r>
            <a:endParaRPr lang="zh-CN" altLang="en-US" dirty="0">
              <a:ea typeface="宋体" panose="02010600030101010101" pitchFamily="2" charset="-122"/>
            </a:endParaRPr>
          </a:p>
        </p:txBody>
      </p:sp>
      <p:sp>
        <p:nvSpPr>
          <p:cNvPr id="1638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幻灯片图像占位符 1"/>
          <p:cNvSpPr>
            <a:spLocks noGrp="1" noRot="1" noChangeAspect="1" noTextEdit="1"/>
          </p:cNvSpPr>
          <p:nvPr>
            <p:ph type="sldImg"/>
          </p:nvPr>
        </p:nvSpPr>
        <p:spPr>
          <a:ln/>
        </p:spPr>
      </p:sp>
      <p:sp>
        <p:nvSpPr>
          <p:cNvPr id="18435" name="备注占位符 2"/>
          <p:cNvSpPr>
            <a:spLocks noGrp="1"/>
          </p:cNvSpPr>
          <p:nvPr>
            <p:ph type="body" idx="1"/>
          </p:nvPr>
        </p:nvSpPr>
        <p:spPr>
          <a:ln/>
        </p:spPr>
        <p:txBody>
          <a:bodyPr wrap="square" lIns="91440" tIns="45720" rIns="91440" bIns="45720" anchor="t" anchorCtr="0"/>
          <a:p>
            <a:pPr lvl="0"/>
            <a:r>
              <a:rPr lang="zh-CN" altLang="en-US" b="1" dirty="0">
                <a:latin typeface="宋体" panose="02010600030101010101" pitchFamily="2" charset="-122"/>
                <a:ea typeface="宋体" panose="02010600030101010101" pitchFamily="2" charset="-122"/>
              </a:rPr>
              <a:t>算法</a:t>
            </a:r>
            <a:r>
              <a:rPr lang="en-US" altLang="zh-CN" b="1" dirty="0">
                <a:latin typeface="宋体" panose="02010600030101010101" pitchFamily="2" charset="-122"/>
                <a:ea typeface="宋体" panose="02010600030101010101" pitchFamily="2" charset="-122"/>
              </a:rPr>
              <a:t>2</a:t>
            </a:r>
            <a:endParaRPr lang="zh-CN" altLang="en-US" dirty="0">
              <a:ea typeface="宋体" panose="02010600030101010101" pitchFamily="2" charset="-122"/>
            </a:endParaRPr>
          </a:p>
        </p:txBody>
      </p:sp>
      <p:sp>
        <p:nvSpPr>
          <p:cNvPr id="1843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幻灯片图像占位符 1"/>
          <p:cNvSpPr>
            <a:spLocks noGrp="1" noRot="1" noChangeAspect="1" noTextEdit="1"/>
          </p:cNvSpPr>
          <p:nvPr>
            <p:ph type="sldImg"/>
          </p:nvPr>
        </p:nvSpPr>
        <p:spPr>
          <a:ln/>
        </p:spPr>
      </p:sp>
      <p:sp>
        <p:nvSpPr>
          <p:cNvPr id="20483" name="备注占位符 2"/>
          <p:cNvSpPr>
            <a:spLocks noGrp="1"/>
          </p:cNvSpPr>
          <p:nvPr>
            <p:ph type="body" idx="1"/>
          </p:nvPr>
        </p:nvSpPr>
        <p:spPr>
          <a:ln/>
        </p:spPr>
        <p:txBody>
          <a:bodyPr wrap="square" lIns="91440" tIns="45720" rIns="91440" bIns="45720" anchor="t" anchorCtr="0"/>
          <a:p>
            <a:pPr lvl="0"/>
            <a:r>
              <a:rPr lang="zh-CN" altLang="en-US" b="1" dirty="0">
                <a:latin typeface="宋体" panose="02010600030101010101" pitchFamily="2" charset="-122"/>
                <a:ea typeface="宋体" panose="02010600030101010101" pitchFamily="2" charset="-122"/>
              </a:rPr>
              <a:t>算法</a:t>
            </a:r>
            <a:r>
              <a:rPr lang="en-US" altLang="zh-CN" b="1" dirty="0">
                <a:latin typeface="宋体" panose="02010600030101010101" pitchFamily="2" charset="-122"/>
                <a:ea typeface="宋体" panose="02010600030101010101" pitchFamily="2" charset="-122"/>
              </a:rPr>
              <a:t>3</a:t>
            </a:r>
            <a:r>
              <a:rPr lang="zh-CN" altLang="en-US" b="1" dirty="0">
                <a:latin typeface="宋体" panose="02010600030101010101" pitchFamily="2" charset="-122"/>
                <a:ea typeface="宋体" panose="02010600030101010101" pitchFamily="2" charset="-122"/>
              </a:rPr>
              <a:t>，核心思想：定期更新调整；</a:t>
            </a:r>
            <a:endParaRPr lang="en-US" altLang="zh-CN" b="1" dirty="0">
              <a:latin typeface="宋体" panose="02010600030101010101" pitchFamily="2" charset="-122"/>
              <a:ea typeface="宋体" panose="02010600030101010101" pitchFamily="2" charset="-122"/>
            </a:endParaRPr>
          </a:p>
          <a:p>
            <a:pPr lvl="0"/>
            <a:endParaRPr lang="en-US" altLang="zh-CN" b="1" dirty="0">
              <a:latin typeface="宋体" panose="02010600030101010101" pitchFamily="2" charset="-122"/>
              <a:ea typeface="宋体" panose="02010600030101010101" pitchFamily="2" charset="-122"/>
            </a:endParaRPr>
          </a:p>
          <a:p>
            <a:pPr lvl="0"/>
            <a:r>
              <a:rPr lang="zh-CN" altLang="en-US" b="1" dirty="0">
                <a:latin typeface="宋体" panose="02010600030101010101" pitchFamily="2" charset="-122"/>
                <a:ea typeface="宋体" panose="02010600030101010101" pitchFamily="2" charset="-122"/>
              </a:rPr>
              <a:t>好处：不依赖中心节点，间隔</a:t>
            </a:r>
            <a:r>
              <a:rPr lang="en-US" altLang="zh-CN" b="1" dirty="0">
                <a:latin typeface="宋体" panose="02010600030101010101" pitchFamily="2" charset="-122"/>
                <a:ea typeface="宋体" panose="02010600030101010101" pitchFamily="2" charset="-122"/>
              </a:rPr>
              <a:t>S</a:t>
            </a:r>
            <a:r>
              <a:rPr lang="zh-CN" altLang="en-US" b="1" dirty="0">
                <a:latin typeface="宋体" panose="02010600030101010101" pitchFamily="2" charset="-122"/>
                <a:ea typeface="宋体" panose="02010600030101010101" pitchFamily="2" charset="-122"/>
              </a:rPr>
              <a:t>：交给网络层，分层设计思想；</a:t>
            </a:r>
            <a:endParaRPr lang="zh-CN" altLang="en-US" dirty="0">
              <a:ea typeface="宋体" panose="02010600030101010101" pitchFamily="2" charset="-122"/>
            </a:endParaRPr>
          </a:p>
        </p:txBody>
      </p:sp>
      <p:sp>
        <p:nvSpPr>
          <p:cNvPr id="2048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幻灯片图像占位符 1"/>
          <p:cNvSpPr>
            <a:spLocks noGrp="1" noRot="1" noChangeAspect="1" noTextEdit="1"/>
          </p:cNvSpPr>
          <p:nvPr>
            <p:ph type="sldImg"/>
          </p:nvPr>
        </p:nvSpPr>
        <p:spPr>
          <a:ln/>
        </p:spPr>
      </p:sp>
      <p:sp>
        <p:nvSpPr>
          <p:cNvPr id="22531" name="备注占位符 2"/>
          <p:cNvSpPr>
            <a:spLocks noGrp="1"/>
          </p:cNvSpPr>
          <p:nvPr>
            <p:ph type="body" idx="1"/>
          </p:nvPr>
        </p:nvSpPr>
        <p:spPr>
          <a:ln/>
        </p:spPr>
        <p:txBody>
          <a:bodyPr wrap="square" lIns="91440" tIns="45720" rIns="91440" bIns="45720" anchor="t" anchorCtr="0"/>
          <a:p>
            <a:pPr lvl="0"/>
            <a:r>
              <a:rPr lang="zh-CN" altLang="en-US" dirty="0">
                <a:ea typeface="宋体" panose="02010600030101010101" pitchFamily="2" charset="-122"/>
              </a:rPr>
              <a:t>逻辑时钟定义：</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前于定义：</a:t>
            </a:r>
            <a:endParaRPr lang="en-US" altLang="zh-CN" dirty="0">
              <a:ea typeface="宋体" panose="02010600030101010101" pitchFamily="2" charset="-122"/>
            </a:endParaRPr>
          </a:p>
          <a:p>
            <a:pPr lvl="0"/>
            <a:r>
              <a:rPr lang="zh-CN" altLang="en-US" dirty="0">
                <a:ea typeface="宋体" panose="02010600030101010101" pitchFamily="2" charset="-122"/>
              </a:rPr>
              <a:t>单进程，多进程，传递性，并发定义</a:t>
            </a:r>
            <a:endParaRPr lang="zh-CN" altLang="en-US" dirty="0">
              <a:ea typeface="宋体" panose="02010600030101010101" pitchFamily="2" charset="-122"/>
            </a:endParaRPr>
          </a:p>
        </p:txBody>
      </p:sp>
      <p:sp>
        <p:nvSpPr>
          <p:cNvPr id="2253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幻灯片图像占位符 1"/>
          <p:cNvSpPr>
            <a:spLocks noGrp="1" noRot="1" noChangeAspect="1" noTextEdit="1"/>
          </p:cNvSpPr>
          <p:nvPr>
            <p:ph type="sldImg"/>
          </p:nvPr>
        </p:nvSpPr>
        <p:spPr>
          <a:ln/>
        </p:spPr>
      </p:sp>
      <p:sp>
        <p:nvSpPr>
          <p:cNvPr id="24579" name="备注占位符 2"/>
          <p:cNvSpPr>
            <a:spLocks noGrp="1"/>
          </p:cNvSpPr>
          <p:nvPr>
            <p:ph type="body" idx="1"/>
          </p:nvPr>
        </p:nvSpPr>
        <p:spPr>
          <a:ln/>
        </p:spPr>
        <p:txBody>
          <a:bodyPr wrap="square" lIns="91440" tIns="45720" rIns="91440" bIns="45720" anchor="t" anchorCtr="0"/>
          <a:p>
            <a:pPr lvl="0"/>
            <a:r>
              <a:rPr lang="zh-CN" altLang="en-US" dirty="0">
                <a:ea typeface="宋体" panose="02010600030101010101" pitchFamily="2" charset="-122"/>
              </a:rPr>
              <a:t>逻辑时钟的一种定义：</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逻辑时钟与前于的关系：</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全排序：</a:t>
            </a:r>
            <a:endParaRPr lang="en-US" altLang="zh-CN" dirty="0">
              <a:ea typeface="宋体" panose="02010600030101010101" pitchFamily="2" charset="-122"/>
            </a:endParaRPr>
          </a:p>
          <a:p>
            <a:pPr lvl="0"/>
            <a:endParaRPr lang="zh-CN" altLang="en-US" dirty="0">
              <a:ea typeface="宋体" panose="02010600030101010101" pitchFamily="2" charset="-122"/>
            </a:endParaRPr>
          </a:p>
        </p:txBody>
      </p:sp>
      <p:sp>
        <p:nvSpPr>
          <p:cNvPr id="2458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幻灯片图像占位符 1"/>
          <p:cNvSpPr>
            <a:spLocks noGrp="1" noRot="1" noChangeAspect="1" noTextEdit="1"/>
          </p:cNvSpPr>
          <p:nvPr>
            <p:ph type="sldImg"/>
          </p:nvPr>
        </p:nvSpPr>
        <p:spPr>
          <a:ln/>
        </p:spPr>
      </p:sp>
      <p:sp>
        <p:nvSpPr>
          <p:cNvPr id="27651" name="备注占位符 2"/>
          <p:cNvSpPr>
            <a:spLocks noGrp="1"/>
          </p:cNvSpPr>
          <p:nvPr>
            <p:ph type="body" idx="1"/>
          </p:nvPr>
        </p:nvSpPr>
        <p:spPr>
          <a:ln/>
        </p:spPr>
        <p:txBody>
          <a:bodyPr wrap="square" lIns="91440" tIns="45720" rIns="91440" bIns="45720" anchor="t" anchorCtr="0"/>
          <a:p>
            <a:pPr lvl="0"/>
            <a:r>
              <a:rPr lang="zh-CN" altLang="en-US" dirty="0">
                <a:ea typeface="宋体" panose="02010600030101010101" pitchFamily="2" charset="-122"/>
              </a:rPr>
              <a:t>逻辑时钟应用的好处：</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两种一致状态都正确，</a:t>
            </a:r>
            <a:endParaRPr lang="en-US" altLang="zh-CN" dirty="0">
              <a:ea typeface="宋体" panose="02010600030101010101" pitchFamily="2" charset="-122"/>
            </a:endParaRPr>
          </a:p>
          <a:p>
            <a:pPr lvl="0"/>
            <a:r>
              <a:rPr lang="zh-CN" altLang="en-US" dirty="0">
                <a:ea typeface="宋体" panose="02010600030101010101" pitchFamily="2" charset="-122"/>
              </a:rPr>
              <a:t>不一致状态：左边存款后加息，右边加息后存款，</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逻辑时钟：</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左：存款，通知右；</a:t>
            </a:r>
            <a:endParaRPr lang="en-US" altLang="zh-CN" dirty="0">
              <a:ea typeface="宋体" panose="02010600030101010101" pitchFamily="2" charset="-122"/>
            </a:endParaRPr>
          </a:p>
          <a:p>
            <a:pPr lvl="0"/>
            <a:r>
              <a:rPr lang="zh-CN" altLang="en-US" dirty="0">
                <a:ea typeface="宋体" panose="02010600030101010101" pitchFamily="2" charset="-122"/>
              </a:rPr>
              <a:t>右：判断是否已经加息，没有，则新增存款不加息，然后通知左已经加息，</a:t>
            </a:r>
            <a:endParaRPr lang="en-US" altLang="zh-CN" dirty="0">
              <a:ea typeface="宋体" panose="02010600030101010101" pitchFamily="2" charset="-122"/>
            </a:endParaRPr>
          </a:p>
          <a:p>
            <a:pPr lvl="0"/>
            <a:r>
              <a:rPr lang="zh-CN" altLang="en-US" dirty="0">
                <a:ea typeface="宋体" panose="02010600030101010101" pitchFamily="2" charset="-122"/>
              </a:rPr>
              <a:t>左：存款不加息，</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总结：逻辑时钟用于判断事件先后顺序，确保事件执行后的一致性</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用于进程同步，后续还会看到如何用于进程互斥，</a:t>
            </a:r>
            <a:endParaRPr lang="zh-CN" altLang="en-US" dirty="0">
              <a:ea typeface="宋体" panose="02010600030101010101" pitchFamily="2" charset="-122"/>
            </a:endParaRPr>
          </a:p>
        </p:txBody>
      </p:sp>
      <p:sp>
        <p:nvSpPr>
          <p:cNvPr id="2765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幻灯片图像占位符 1"/>
          <p:cNvSpPr>
            <a:spLocks noGrp="1" noRot="1" noChangeAspect="1" noTextEdit="1"/>
          </p:cNvSpPr>
          <p:nvPr>
            <p:ph type="sldImg"/>
          </p:nvPr>
        </p:nvSpPr>
        <p:spPr>
          <a:ln/>
        </p:spPr>
      </p:sp>
      <p:sp>
        <p:nvSpPr>
          <p:cNvPr id="29699" name="备注占位符 2"/>
          <p:cNvSpPr>
            <a:spLocks noGrp="1"/>
          </p:cNvSpPr>
          <p:nvPr>
            <p:ph type="body" idx="1"/>
          </p:nvPr>
        </p:nvSpPr>
        <p:spPr>
          <a:ln/>
        </p:spPr>
        <p:txBody>
          <a:bodyPr wrap="square" lIns="91440" tIns="45720" rIns="91440" bIns="45720" anchor="t" anchorCtr="0"/>
          <a:p>
            <a:pPr lvl="0"/>
            <a:r>
              <a:rPr lang="zh-CN" altLang="en-US" dirty="0">
                <a:ea typeface="宋体" panose="02010600030101010101" pitchFamily="2" charset="-122"/>
              </a:rPr>
              <a:t>记录其他进程时钟，判断本地时钟推进的原因，内部推进其他时钟不变，外部推进其他时钟变化</a:t>
            </a:r>
            <a:endParaRPr lang="zh-CN" altLang="en-US" dirty="0">
              <a:ea typeface="宋体" panose="02010600030101010101" pitchFamily="2" charset="-122"/>
            </a:endParaRPr>
          </a:p>
        </p:txBody>
      </p:sp>
      <p:sp>
        <p:nvSpPr>
          <p:cNvPr id="2970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幻灯片图像占位符 1"/>
          <p:cNvSpPr>
            <a:spLocks noGrp="1" noRot="1" noChangeAspect="1" noTextEdit="1"/>
          </p:cNvSpPr>
          <p:nvPr>
            <p:ph type="sldImg"/>
          </p:nvPr>
        </p:nvSpPr>
        <p:spPr>
          <a:ln/>
        </p:spPr>
      </p:sp>
      <p:sp>
        <p:nvSpPr>
          <p:cNvPr id="32771" name="备注占位符 2"/>
          <p:cNvSpPr>
            <a:spLocks noGrp="1"/>
          </p:cNvSpPr>
          <p:nvPr>
            <p:ph type="body" idx="1"/>
          </p:nvPr>
        </p:nvSpPr>
        <p:spPr>
          <a:ln/>
        </p:spPr>
        <p:txBody>
          <a:bodyPr wrap="square" lIns="91440" tIns="45720" rIns="91440" bIns="45720" anchor="t" anchorCtr="0"/>
          <a:p>
            <a:pPr lvl="0"/>
            <a:r>
              <a:rPr lang="zh-CN" altLang="en-US" dirty="0">
                <a:ea typeface="宋体" panose="02010600030101010101" pitchFamily="2" charset="-122"/>
              </a:rPr>
              <a:t>互斥定义回顾：</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互斥假设：</a:t>
            </a:r>
            <a:endParaRPr lang="en-US" altLang="zh-CN" dirty="0">
              <a:ea typeface="宋体" panose="02010600030101010101" pitchFamily="2" charset="-122"/>
            </a:endParaRPr>
          </a:p>
          <a:p>
            <a:pPr lvl="0"/>
            <a:r>
              <a:rPr lang="zh-CN" altLang="en-US" dirty="0">
                <a:ea typeface="宋体" panose="02010600030101010101" pitchFamily="2" charset="-122"/>
              </a:rPr>
              <a:t>分层设计思想</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一系列互斥算法，从最简单的开始，然后一步步看改进版本</a:t>
            </a:r>
            <a:endParaRPr lang="zh-CN" altLang="en-US" dirty="0">
              <a:ea typeface="宋体" panose="02010600030101010101" pitchFamily="2" charset="-122"/>
            </a:endParaRPr>
          </a:p>
        </p:txBody>
      </p:sp>
      <p:sp>
        <p:nvSpPr>
          <p:cNvPr id="3277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幻灯片图像占位符 1"/>
          <p:cNvSpPr>
            <a:spLocks noGrp="1" noRot="1" noChangeAspect="1" noTextEdit="1"/>
          </p:cNvSpPr>
          <p:nvPr>
            <p:ph type="sldImg"/>
          </p:nvPr>
        </p:nvSpPr>
        <p:spPr>
          <a:ln/>
        </p:spPr>
      </p:sp>
      <p:sp>
        <p:nvSpPr>
          <p:cNvPr id="34819" name="备注占位符 2"/>
          <p:cNvSpPr>
            <a:spLocks noGrp="1"/>
          </p:cNvSpPr>
          <p:nvPr>
            <p:ph type="body" idx="1"/>
          </p:nvPr>
        </p:nvSpPr>
        <p:spPr>
          <a:ln/>
        </p:spPr>
        <p:txBody>
          <a:bodyPr wrap="square" lIns="91440" tIns="45720" rIns="91440" bIns="45720" anchor="t" anchorCtr="0"/>
          <a:p>
            <a:pPr lvl="0"/>
            <a:r>
              <a:rPr lang="zh-CN" altLang="en-US" dirty="0">
                <a:ea typeface="宋体" panose="02010600030101010101" pitchFamily="2" charset="-122"/>
              </a:rPr>
              <a:t>临界区概念回顾，</a:t>
            </a:r>
            <a:endParaRPr lang="en-US" altLang="zh-CN" dirty="0">
              <a:ea typeface="宋体" panose="02010600030101010101" pitchFamily="2" charset="-122"/>
            </a:endParaRPr>
          </a:p>
          <a:p>
            <a:pPr lvl="0"/>
            <a:r>
              <a:rPr lang="zh-CN" altLang="en-US" dirty="0">
                <a:ea typeface="宋体" panose="02010600030101010101" pitchFamily="2" charset="-122"/>
              </a:rPr>
              <a:t>操作流程，</a:t>
            </a:r>
            <a:endParaRPr lang="en-US" altLang="zh-CN" dirty="0">
              <a:ea typeface="宋体" panose="02010600030101010101" pitchFamily="2" charset="-122"/>
            </a:endParaRPr>
          </a:p>
          <a:p>
            <a:pPr lvl="0"/>
            <a:r>
              <a:rPr lang="zh-CN" altLang="en-US" dirty="0">
                <a:ea typeface="宋体" panose="02010600030101010101" pitchFamily="2" charset="-122"/>
              </a:rPr>
              <a:t>缺陷</a:t>
            </a:r>
            <a:endParaRPr lang="zh-CN" altLang="en-US" dirty="0">
              <a:ea typeface="宋体" panose="02010600030101010101" pitchFamily="2" charset="-122"/>
            </a:endParaRPr>
          </a:p>
        </p:txBody>
      </p:sp>
      <p:sp>
        <p:nvSpPr>
          <p:cNvPr id="3482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幻灯片图像占位符 1"/>
          <p:cNvSpPr>
            <a:spLocks noGrp="1" noRot="1" noChangeAspect="1" noTextEdit="1"/>
          </p:cNvSpPr>
          <p:nvPr>
            <p:ph type="sldImg"/>
          </p:nvPr>
        </p:nvSpPr>
        <p:spPr>
          <a:ln/>
        </p:spPr>
      </p:sp>
      <p:sp>
        <p:nvSpPr>
          <p:cNvPr id="36867" name="备注占位符 2"/>
          <p:cNvSpPr>
            <a:spLocks noGrp="1"/>
          </p:cNvSpPr>
          <p:nvPr>
            <p:ph type="body" idx="1"/>
          </p:nvPr>
        </p:nvSpPr>
        <p:spPr>
          <a:ln/>
        </p:spPr>
        <p:txBody>
          <a:bodyPr wrap="square" lIns="91440" tIns="45720" rIns="91440" bIns="45720" anchor="t" anchorCtr="0"/>
          <a:p>
            <a:pPr lvl="0"/>
            <a:r>
              <a:rPr lang="zh-CN" altLang="en-US" dirty="0">
                <a:ea typeface="宋体" panose="02010600030101010101" pitchFamily="2" charset="-122"/>
              </a:rPr>
              <a:t>逻辑时钟在进程互斥时的作用</a:t>
            </a:r>
            <a:endParaRPr lang="zh-CN" altLang="en-US" dirty="0">
              <a:ea typeface="宋体" panose="02010600030101010101" pitchFamily="2" charset="-122"/>
            </a:endParaRPr>
          </a:p>
        </p:txBody>
      </p:sp>
      <p:sp>
        <p:nvSpPr>
          <p:cNvPr id="3686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幻灯片图像占位符 1"/>
          <p:cNvSpPr>
            <a:spLocks noGrp="1" noRot="1" noChangeAspect="1" noTextEdit="1"/>
          </p:cNvSpPr>
          <p:nvPr>
            <p:ph type="sldImg"/>
          </p:nvPr>
        </p:nvSpPr>
        <p:spPr>
          <a:ln/>
        </p:spPr>
      </p:sp>
      <p:sp>
        <p:nvSpPr>
          <p:cNvPr id="38915" name="备注占位符 2"/>
          <p:cNvSpPr>
            <a:spLocks noGrp="1"/>
          </p:cNvSpPr>
          <p:nvPr>
            <p:ph type="body" idx="1"/>
          </p:nvPr>
        </p:nvSpPr>
        <p:spPr>
          <a:ln/>
        </p:spPr>
        <p:txBody>
          <a:bodyPr wrap="square" lIns="91440" tIns="45720" rIns="91440" bIns="45720" anchor="t" anchorCtr="0"/>
          <a:p>
            <a:pPr lvl="0"/>
            <a:r>
              <a:rPr lang="en-US" altLang="zh-CN" dirty="0">
                <a:ea typeface="宋体" panose="02010600030101010101" pitchFamily="2" charset="-122"/>
              </a:rPr>
              <a:t>Reply</a:t>
            </a:r>
            <a:r>
              <a:rPr lang="zh-CN" altLang="en-US" dirty="0">
                <a:ea typeface="宋体" panose="02010600030101010101" pitchFamily="2" charset="-122"/>
              </a:rPr>
              <a:t>时调整了时间戳，后续在发送请求时请求时间戳就排在上一个请求之后了</a:t>
            </a:r>
            <a:endParaRPr lang="zh-CN" altLang="en-US" dirty="0">
              <a:ea typeface="宋体" panose="02010600030101010101" pitchFamily="2" charset="-122"/>
            </a:endParaRPr>
          </a:p>
        </p:txBody>
      </p:sp>
      <p:sp>
        <p:nvSpPr>
          <p:cNvPr id="3891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幻灯片图像占位符 1"/>
          <p:cNvSpPr>
            <a:spLocks noGrp="1" noRot="1" noChangeAspect="1" noTextEdit="1"/>
          </p:cNvSpPr>
          <p:nvPr>
            <p:ph type="sldImg"/>
          </p:nvPr>
        </p:nvSpPr>
        <p:spPr>
          <a:ln/>
        </p:spPr>
      </p:sp>
      <p:sp>
        <p:nvSpPr>
          <p:cNvPr id="40963" name="备注占位符 2"/>
          <p:cNvSpPr>
            <a:spLocks noGrp="1"/>
          </p:cNvSpPr>
          <p:nvPr>
            <p:ph type="body" idx="1"/>
          </p:nvPr>
        </p:nvSpPr>
        <p:spPr>
          <a:ln/>
        </p:spPr>
        <p:txBody>
          <a:bodyPr wrap="square" lIns="91440" tIns="45720" rIns="91440" bIns="45720" anchor="t" anchorCtr="0"/>
          <a:p>
            <a:pPr lvl="0"/>
            <a:r>
              <a:rPr lang="zh-CN" altLang="en-US" dirty="0">
                <a:ea typeface="宋体" panose="02010600030101010101" pitchFamily="2" charset="-122"/>
              </a:rPr>
              <a:t>对发送消息进行优化，</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如果接收者正要用，那么就不发送</a:t>
            </a:r>
            <a:r>
              <a:rPr lang="en-US" altLang="zh-CN" dirty="0">
                <a:ea typeface="宋体" panose="02010600030101010101" pitchFamily="2" charset="-122"/>
              </a:rPr>
              <a:t>reply</a:t>
            </a:r>
            <a:r>
              <a:rPr lang="zh-CN" altLang="en-US" dirty="0">
                <a:ea typeface="宋体" panose="02010600030101010101" pitchFamily="2" charset="-122"/>
              </a:rPr>
              <a:t>，以前算法时无论如何都要发送</a:t>
            </a:r>
            <a:r>
              <a:rPr lang="en-US" altLang="zh-CN" dirty="0">
                <a:ea typeface="宋体" panose="02010600030101010101" pitchFamily="2" charset="-122"/>
              </a:rPr>
              <a:t>reply</a:t>
            </a:r>
            <a:r>
              <a:rPr lang="zh-CN" altLang="en-US" dirty="0">
                <a:ea typeface="宋体" panose="02010600030101010101" pitchFamily="2" charset="-122"/>
              </a:rPr>
              <a:t>；</a:t>
            </a:r>
            <a:endParaRPr lang="en-US" altLang="zh-CN" dirty="0">
              <a:ea typeface="宋体" panose="02010600030101010101" pitchFamily="2" charset="-122"/>
            </a:endParaRPr>
          </a:p>
          <a:p>
            <a:pPr lvl="0"/>
            <a:endParaRPr lang="zh-CN" altLang="en-US" dirty="0">
              <a:ea typeface="宋体" panose="02010600030101010101" pitchFamily="2" charset="-122"/>
            </a:endParaRPr>
          </a:p>
        </p:txBody>
      </p:sp>
      <p:sp>
        <p:nvSpPr>
          <p:cNvPr id="4096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幻灯片图像占位符 1"/>
          <p:cNvSpPr>
            <a:spLocks noGrp="1" noRot="1" noChangeAspect="1" noTextEdit="1"/>
          </p:cNvSpPr>
          <p:nvPr>
            <p:ph type="sldImg"/>
          </p:nvPr>
        </p:nvSpPr>
        <p:spPr>
          <a:ln/>
        </p:spPr>
      </p:sp>
      <p:sp>
        <p:nvSpPr>
          <p:cNvPr id="43011" name="备注占位符 2"/>
          <p:cNvSpPr>
            <a:spLocks noGrp="1"/>
          </p:cNvSpPr>
          <p:nvPr>
            <p:ph type="body" idx="1"/>
          </p:nvPr>
        </p:nvSpPr>
        <p:spPr>
          <a:ln/>
        </p:spPr>
        <p:txBody>
          <a:bodyPr wrap="square" lIns="91440" tIns="45720" rIns="91440" bIns="45720" anchor="t" anchorCtr="0"/>
          <a:p>
            <a:pPr lvl="0"/>
            <a:r>
              <a:rPr lang="zh-CN" altLang="en-US" dirty="0">
                <a:ea typeface="宋体" panose="02010600030101010101" pitchFamily="2" charset="-122"/>
              </a:rPr>
              <a:t>一个进程所处于的不同状态之间的转换关系</a:t>
            </a:r>
            <a:endParaRPr lang="zh-CN" altLang="en-US" dirty="0">
              <a:ea typeface="宋体" panose="02010600030101010101" pitchFamily="2" charset="-122"/>
            </a:endParaRPr>
          </a:p>
        </p:txBody>
      </p:sp>
      <p:sp>
        <p:nvSpPr>
          <p:cNvPr id="4301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幻灯片图像占位符 1"/>
          <p:cNvSpPr>
            <a:spLocks noGrp="1" noRot="1" noChangeAspect="1" noTextEdit="1"/>
          </p:cNvSpPr>
          <p:nvPr>
            <p:ph type="sldImg"/>
          </p:nvPr>
        </p:nvSpPr>
        <p:spPr>
          <a:ln/>
        </p:spPr>
      </p:sp>
      <p:sp>
        <p:nvSpPr>
          <p:cNvPr id="46083" name="备注占位符 2"/>
          <p:cNvSpPr>
            <a:spLocks noGrp="1"/>
          </p:cNvSpPr>
          <p:nvPr>
            <p:ph type="body" idx="1"/>
          </p:nvPr>
        </p:nvSpPr>
        <p:spPr>
          <a:ln/>
        </p:spPr>
        <p:txBody>
          <a:bodyPr wrap="square" lIns="91440" tIns="45720" rIns="91440" bIns="45720" anchor="t" anchorCtr="0"/>
          <a:p>
            <a:pPr lvl="0"/>
            <a:r>
              <a:rPr lang="zh-CN" altLang="en-US" dirty="0">
                <a:ea typeface="宋体" panose="02010600030101010101" pitchFamily="2" charset="-122"/>
              </a:rPr>
              <a:t>同一时刻只有一人能持有令牌，不用逻辑时钟，另一种思路</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令牌单向动，请求不动，</a:t>
            </a:r>
            <a:endParaRPr lang="zh-CN" altLang="en-US" dirty="0">
              <a:ea typeface="宋体" panose="02010600030101010101" pitchFamily="2" charset="-122"/>
            </a:endParaRPr>
          </a:p>
        </p:txBody>
      </p:sp>
      <p:sp>
        <p:nvSpPr>
          <p:cNvPr id="4608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幻灯片图像占位符 1"/>
          <p:cNvSpPr>
            <a:spLocks noGrp="1" noRot="1" noChangeAspect="1" noTextEdit="1"/>
          </p:cNvSpPr>
          <p:nvPr>
            <p:ph type="sldImg"/>
          </p:nvPr>
        </p:nvSpPr>
        <p:spPr>
          <a:ln/>
        </p:spPr>
      </p:sp>
      <p:sp>
        <p:nvSpPr>
          <p:cNvPr id="3" name="备注占位符 2"/>
          <p:cNvSpPr>
            <a:spLocks noGrp="1"/>
          </p:cNvSpPr>
          <p:nvPr>
            <p:ph type="body" idx="1"/>
          </p:nvPr>
        </p:nvSpPr>
        <p:spPr/>
        <p:txBody>
          <a:bodyPr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Request(</a:t>
            </a:r>
            <a:r>
              <a:rPr kumimoji="0" lang="en-US" altLang="zh-CN" sz="1200" b="1" i="0" u="none" strike="noStrike" kern="0" cap="none" spc="0" normalizeH="0" baseline="0" noProof="0" dirty="0" err="1">
                <a:ln>
                  <a:noFill/>
                </a:ln>
                <a:solidFill>
                  <a:schemeClr val="tx1"/>
                </a:solidFill>
                <a:effectLst/>
                <a:uLnTx/>
                <a:uFillTx/>
                <a:latin typeface="Times New Roman" panose="02020603050405020304" pitchFamily="18" charset="0"/>
                <a:ea typeface="+mn-ea"/>
                <a:cs typeface="+mn-cs"/>
              </a:rPr>
              <a:t>p</a:t>
            </a:r>
            <a:r>
              <a:rPr kumimoji="0" lang="en-US" altLang="zh-CN" sz="1200" b="1" i="0" u="none" strike="noStrike" kern="0" cap="none" spc="0" normalizeH="0" baseline="-25000" noProof="0" dirty="0" err="1">
                <a:ln>
                  <a:noFill/>
                </a:ln>
                <a:solidFill>
                  <a:schemeClr val="tx1"/>
                </a:solidFill>
                <a:effectLst/>
                <a:uLnTx/>
                <a:uFillTx/>
                <a:latin typeface="Times New Roman" panose="02020603050405020304" pitchFamily="18" charset="0"/>
                <a:ea typeface="+mn-ea"/>
                <a:cs typeface="+mn-cs"/>
              </a:rPr>
              <a:t>j</a:t>
            </a:r>
            <a:r>
              <a:rPr kumimoji="0" lang="en-US" altLang="zh-CN" sz="1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 h)</a:t>
            </a:r>
            <a:r>
              <a:rPr kumimoji="0" lang="zh-CN" altLang="en-US" sz="1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很久以前收到，在收到令牌时很可能已经执行完了</a:t>
            </a:r>
            <a:endPar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p:txBody>
      </p:sp>
      <p:sp>
        <p:nvSpPr>
          <p:cNvPr id="4915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幻灯片图像占位符 1"/>
          <p:cNvSpPr>
            <a:spLocks noGrp="1" noRot="1" noChangeAspect="1" noTextEdit="1"/>
          </p:cNvSpPr>
          <p:nvPr>
            <p:ph type="sldImg"/>
          </p:nvPr>
        </p:nvSpPr>
        <p:spPr>
          <a:ln/>
        </p:spPr>
      </p:sp>
      <p:sp>
        <p:nvSpPr>
          <p:cNvPr id="52227" name="备注占位符 2"/>
          <p:cNvSpPr>
            <a:spLocks noGrp="1"/>
          </p:cNvSpPr>
          <p:nvPr>
            <p:ph type="body" idx="1"/>
          </p:nvPr>
        </p:nvSpPr>
        <p:spPr>
          <a:ln/>
        </p:spPr>
        <p:txBody>
          <a:bodyPr wrap="square" lIns="91440" tIns="45720" rIns="91440" bIns="45720" anchor="t" anchorCtr="0"/>
          <a:p>
            <a:pPr lvl="0"/>
            <a:r>
              <a:rPr lang="zh-CN" altLang="en-US" dirty="0">
                <a:ea typeface="宋体" panose="02010600030101010101" pitchFamily="2" charset="-122"/>
              </a:rPr>
              <a:t>有时需要一个全局协调者承担协调进程互斥的任务，这个协调者一旦坏了就要重新选举</a:t>
            </a:r>
            <a:endParaRPr lang="zh-CN" altLang="en-US" dirty="0">
              <a:ea typeface="宋体" panose="02010600030101010101" pitchFamily="2" charset="-122"/>
            </a:endParaRPr>
          </a:p>
        </p:txBody>
      </p:sp>
      <p:sp>
        <p:nvSpPr>
          <p:cNvPr id="5222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幻灯片图像占位符 1"/>
          <p:cNvSpPr>
            <a:spLocks noGrp="1" noRot="1" noChangeAspect="1" noTextEdit="1"/>
          </p:cNvSpPr>
          <p:nvPr>
            <p:ph type="sldImg"/>
          </p:nvPr>
        </p:nvSpPr>
        <p:spPr>
          <a:ln/>
        </p:spPr>
      </p:sp>
      <p:sp>
        <p:nvSpPr>
          <p:cNvPr id="54275" name="备注占位符 2"/>
          <p:cNvSpPr>
            <a:spLocks noGrp="1"/>
          </p:cNvSpPr>
          <p:nvPr>
            <p:ph type="body" idx="1"/>
          </p:nvPr>
        </p:nvSpPr>
        <p:spPr>
          <a:ln/>
        </p:spPr>
        <p:txBody>
          <a:bodyPr wrap="square" lIns="91440" tIns="45720" rIns="91440" bIns="45720" anchor="t" anchorCtr="0"/>
          <a:p>
            <a:pPr lvl="0"/>
            <a:r>
              <a:rPr lang="en-US" altLang="zh-CN" dirty="0">
                <a:ea typeface="宋体" panose="02010600030101010101" pitchFamily="2" charset="-122"/>
              </a:rPr>
              <a:t>3.</a:t>
            </a:r>
            <a:r>
              <a:rPr lang="zh-CN" altLang="en-US" dirty="0">
                <a:ea typeface="宋体" panose="02010600030101010101" pitchFamily="2" charset="-122"/>
              </a:rPr>
              <a:t>别的进程恰巧发现故障，开始精选，所以给出回复，同时开始竞选</a:t>
            </a:r>
            <a:endParaRPr lang="zh-CN" altLang="en-US" dirty="0">
              <a:ea typeface="宋体" panose="02010600030101010101" pitchFamily="2" charset="-122"/>
            </a:endParaRPr>
          </a:p>
        </p:txBody>
      </p:sp>
      <p:sp>
        <p:nvSpPr>
          <p:cNvPr id="5427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幻灯片图像占位符 1"/>
          <p:cNvSpPr>
            <a:spLocks noGrp="1" noRot="1" noChangeAspect="1" noTextEdit="1"/>
          </p:cNvSpPr>
          <p:nvPr>
            <p:ph type="sldImg"/>
          </p:nvPr>
        </p:nvSpPr>
        <p:spPr>
          <a:ln/>
        </p:spPr>
      </p:sp>
      <p:sp>
        <p:nvSpPr>
          <p:cNvPr id="57347" name="备注占位符 2"/>
          <p:cNvSpPr>
            <a:spLocks noGrp="1"/>
          </p:cNvSpPr>
          <p:nvPr>
            <p:ph type="body" idx="1"/>
          </p:nvPr>
        </p:nvSpPr>
        <p:spPr>
          <a:ln/>
        </p:spPr>
        <p:txBody>
          <a:bodyPr wrap="square" lIns="91440" tIns="45720" rIns="91440" bIns="45720" anchor="t" anchorCtr="0"/>
          <a:p>
            <a:pPr lvl="0"/>
            <a:r>
              <a:rPr lang="zh-CN" altLang="en-US" dirty="0">
                <a:ea typeface="宋体" panose="02010600030101010101" pitchFamily="2" charset="-122"/>
              </a:rPr>
              <a:t>第三步由下层网络保障，分层思想，</a:t>
            </a:r>
            <a:endParaRPr lang="en-US" altLang="zh-CN" dirty="0">
              <a:ea typeface="宋体" panose="02010600030101010101" pitchFamily="2" charset="-122"/>
            </a:endParaRPr>
          </a:p>
          <a:p>
            <a:pPr lvl="0"/>
            <a:r>
              <a:rPr lang="zh-CN" altLang="en-US" dirty="0">
                <a:ea typeface="宋体" panose="02010600030101010101" pitchFamily="2" charset="-122"/>
              </a:rPr>
              <a:t>消息一样：所有未故障节点都响应了</a:t>
            </a:r>
            <a:endParaRPr lang="zh-CN" altLang="en-US" dirty="0">
              <a:ea typeface="宋体" panose="02010600030101010101" pitchFamily="2" charset="-122"/>
            </a:endParaRPr>
          </a:p>
        </p:txBody>
      </p:sp>
      <p:sp>
        <p:nvSpPr>
          <p:cNvPr id="5734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幻灯片图像占位符 1"/>
          <p:cNvSpPr>
            <a:spLocks noGrp="1" noRot="1" noChangeAspect="1" noTextEdit="1"/>
          </p:cNvSpPr>
          <p:nvPr>
            <p:ph type="sldImg"/>
          </p:nvPr>
        </p:nvSpPr>
        <p:spPr>
          <a:ln/>
        </p:spPr>
      </p:sp>
      <p:sp>
        <p:nvSpPr>
          <p:cNvPr id="59395" name="备注占位符 2"/>
          <p:cNvSpPr>
            <a:spLocks noGrp="1"/>
          </p:cNvSpPr>
          <p:nvPr>
            <p:ph type="body" idx="1"/>
          </p:nvPr>
        </p:nvSpPr>
        <p:spPr>
          <a:ln/>
        </p:spPr>
        <p:txBody>
          <a:bodyPr wrap="square" lIns="91440" tIns="45720" rIns="91440" bIns="45720" anchor="t" anchorCtr="0"/>
          <a:p>
            <a:pPr lvl="0"/>
            <a:r>
              <a:rPr lang="zh-CN" altLang="en-US" dirty="0">
                <a:ea typeface="宋体" panose="02010600030101010101" pitchFamily="2" charset="-122"/>
              </a:rPr>
              <a:t>同步概念：某一时间点，多个进程协同下，才能继续</a:t>
            </a:r>
            <a:endParaRPr lang="zh-CN" altLang="en-US" dirty="0">
              <a:ea typeface="宋体" panose="02010600030101010101" pitchFamily="2" charset="-122"/>
            </a:endParaRPr>
          </a:p>
        </p:txBody>
      </p:sp>
      <p:sp>
        <p:nvSpPr>
          <p:cNvPr id="5939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幻灯片图像占位符 1"/>
          <p:cNvSpPr>
            <a:spLocks noGrp="1" noRot="1" noChangeAspect="1" noTextEdit="1"/>
          </p:cNvSpPr>
          <p:nvPr>
            <p:ph type="sldImg"/>
          </p:nvPr>
        </p:nvSpPr>
        <p:spPr>
          <a:ln/>
        </p:spPr>
      </p:sp>
      <p:sp>
        <p:nvSpPr>
          <p:cNvPr id="61443" name="备注占位符 2"/>
          <p:cNvSpPr>
            <a:spLocks noGrp="1"/>
          </p:cNvSpPr>
          <p:nvPr>
            <p:ph type="body" idx="1"/>
          </p:nvPr>
        </p:nvSpPr>
        <p:spPr>
          <a:ln/>
        </p:spPr>
        <p:txBody>
          <a:bodyPr wrap="square" lIns="91440" tIns="45720" rIns="91440" bIns="45720" anchor="t" anchorCtr="0"/>
          <a:p>
            <a:pPr lvl="0"/>
            <a:r>
              <a:rPr lang="zh-CN" altLang="en-US" dirty="0">
                <a:ea typeface="宋体" panose="02010600030101010101" pitchFamily="2" charset="-122"/>
              </a:rPr>
              <a:t>事务的基本概念</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事务和同步的关系？</a:t>
            </a:r>
            <a:endParaRPr lang="zh-CN" altLang="en-US" dirty="0">
              <a:ea typeface="宋体" panose="02010600030101010101" pitchFamily="2" charset="-122"/>
            </a:endParaRPr>
          </a:p>
        </p:txBody>
      </p:sp>
      <p:sp>
        <p:nvSpPr>
          <p:cNvPr id="6144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幻灯片图像占位符 1"/>
          <p:cNvSpPr>
            <a:spLocks noGrp="1" noRot="1" noChangeAspect="1" noTextEdit="1"/>
          </p:cNvSpPr>
          <p:nvPr>
            <p:ph type="sldImg"/>
          </p:nvPr>
        </p:nvSpPr>
        <p:spPr>
          <a:ln/>
        </p:spPr>
      </p:sp>
      <p:sp>
        <p:nvSpPr>
          <p:cNvPr id="63491" name="备注占位符 2"/>
          <p:cNvSpPr>
            <a:spLocks noGrp="1"/>
          </p:cNvSpPr>
          <p:nvPr>
            <p:ph type="body" idx="1"/>
          </p:nvPr>
        </p:nvSpPr>
        <p:spPr>
          <a:ln/>
        </p:spPr>
        <p:txBody>
          <a:bodyPr wrap="square" lIns="91440" tIns="45720" rIns="91440" bIns="45720" anchor="t" anchorCtr="0"/>
          <a:p>
            <a:pPr lvl="0"/>
            <a:r>
              <a:rPr lang="zh-CN" altLang="en-US" dirty="0">
                <a:ea typeface="宋体" panose="02010600030101010101" pitchFamily="2" charset="-122"/>
              </a:rPr>
              <a:t>用事务模型来完成进程同步可以保障同步正确性</a:t>
            </a:r>
            <a:endParaRPr lang="zh-CN" altLang="en-US" dirty="0">
              <a:ea typeface="宋体" panose="02010600030101010101" pitchFamily="2" charset="-122"/>
            </a:endParaRPr>
          </a:p>
        </p:txBody>
      </p:sp>
      <p:sp>
        <p:nvSpPr>
          <p:cNvPr id="6349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幻灯片图像占位符 1"/>
          <p:cNvSpPr>
            <a:spLocks noGrp="1" noRot="1" noChangeAspect="1" noTextEdit="1"/>
          </p:cNvSpPr>
          <p:nvPr>
            <p:ph type="sldImg"/>
          </p:nvPr>
        </p:nvSpPr>
        <p:spPr>
          <a:ln/>
        </p:spPr>
      </p:sp>
      <p:sp>
        <p:nvSpPr>
          <p:cNvPr id="65539" name="备注占位符 2"/>
          <p:cNvSpPr>
            <a:spLocks noGrp="1"/>
          </p:cNvSpPr>
          <p:nvPr>
            <p:ph type="body" idx="1"/>
          </p:nvPr>
        </p:nvSpPr>
        <p:spPr>
          <a:ln/>
        </p:spPr>
        <p:txBody>
          <a:bodyPr wrap="square" lIns="91440" tIns="45720" rIns="91440" bIns="45720" anchor="t" anchorCtr="0"/>
          <a:p>
            <a:pPr lvl="0"/>
            <a:r>
              <a:rPr lang="zh-CN" altLang="en-US" dirty="0">
                <a:ea typeface="宋体" panose="02010600030101010101" pitchFamily="2" charset="-122"/>
              </a:rPr>
              <a:t>分布式系统中的事务定义与描述</a:t>
            </a:r>
            <a:endParaRPr lang="zh-CN" altLang="en-US" dirty="0">
              <a:ea typeface="宋体" panose="02010600030101010101" pitchFamily="2" charset="-122"/>
            </a:endParaRPr>
          </a:p>
        </p:txBody>
      </p:sp>
      <p:sp>
        <p:nvSpPr>
          <p:cNvPr id="6554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幻灯片图像占位符 1"/>
          <p:cNvSpPr>
            <a:spLocks noGrp="1" noRot="1" noChangeAspect="1" noTextEdit="1"/>
          </p:cNvSpPr>
          <p:nvPr>
            <p:ph type="sldImg"/>
          </p:nvPr>
        </p:nvSpPr>
        <p:spPr>
          <a:ln/>
        </p:spPr>
      </p:sp>
      <p:sp>
        <p:nvSpPr>
          <p:cNvPr id="70659" name="备注占位符 2"/>
          <p:cNvSpPr>
            <a:spLocks noGrp="1"/>
          </p:cNvSpPr>
          <p:nvPr>
            <p:ph type="body" idx="1"/>
          </p:nvPr>
        </p:nvSpPr>
        <p:spPr>
          <a:ln/>
        </p:spPr>
        <p:txBody>
          <a:bodyPr wrap="square" lIns="91440" tIns="45720" rIns="91440" bIns="45720" anchor="t" anchorCtr="0"/>
          <a:p>
            <a:pPr lvl="0"/>
            <a:r>
              <a:rPr lang="zh-CN" altLang="en-US" dirty="0">
                <a:ea typeface="宋体" panose="02010600030101010101" pitchFamily="2" charset="-122"/>
              </a:rPr>
              <a:t>关键点时如何确保事务执行的原子性，执行后永久有效，执行失败返回原来状态；</a:t>
            </a:r>
            <a:endParaRPr lang="en-US" altLang="zh-CN" dirty="0">
              <a:ea typeface="宋体" panose="02010600030101010101" pitchFamily="2" charset="-122"/>
            </a:endParaRPr>
          </a:p>
          <a:p>
            <a:pPr lvl="0"/>
            <a:r>
              <a:rPr lang="zh-CN" altLang="en-US" dirty="0">
                <a:ea typeface="宋体" panose="02010600030101010101" pitchFamily="2" charset="-122"/>
              </a:rPr>
              <a:t>注意假设：有一个稳定的存储器</a:t>
            </a:r>
            <a:endParaRPr lang="zh-CN" altLang="en-US" dirty="0">
              <a:ea typeface="宋体" panose="02010600030101010101" pitchFamily="2" charset="-122"/>
            </a:endParaRPr>
          </a:p>
        </p:txBody>
      </p:sp>
      <p:sp>
        <p:nvSpPr>
          <p:cNvPr id="7066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幻灯片图像占位符 1"/>
          <p:cNvSpPr>
            <a:spLocks noGrp="1" noRot="1" noChangeAspect="1" noTextEdit="1"/>
          </p:cNvSpPr>
          <p:nvPr>
            <p:ph type="sldImg"/>
          </p:nvPr>
        </p:nvSpPr>
        <p:spPr>
          <a:ln/>
        </p:spPr>
      </p:sp>
      <p:sp>
        <p:nvSpPr>
          <p:cNvPr id="72707" name="备注占位符 2"/>
          <p:cNvSpPr>
            <a:spLocks noGrp="1"/>
          </p:cNvSpPr>
          <p:nvPr>
            <p:ph type="body" idx="1"/>
          </p:nvPr>
        </p:nvSpPr>
        <p:spPr>
          <a:ln/>
        </p:spPr>
        <p:txBody>
          <a:bodyPr wrap="square" lIns="91440" tIns="45720" rIns="91440" bIns="45720" anchor="t" anchorCtr="0"/>
          <a:p>
            <a:pPr lvl="0"/>
            <a:r>
              <a:rPr lang="zh-CN" altLang="en-US" dirty="0">
                <a:ea typeface="宋体" panose="02010600030101010101" pitchFamily="2" charset="-122"/>
              </a:rPr>
              <a:t>两种方法都假设：有一个稳定的存储器</a:t>
            </a:r>
            <a:endParaRPr lang="zh-CN" altLang="en-US" dirty="0">
              <a:ea typeface="宋体" panose="02010600030101010101" pitchFamily="2" charset="-122"/>
            </a:endParaRPr>
          </a:p>
        </p:txBody>
      </p:sp>
      <p:sp>
        <p:nvSpPr>
          <p:cNvPr id="7270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幻灯片图像占位符 1"/>
          <p:cNvSpPr>
            <a:spLocks noGrp="1" noRot="1" noChangeAspect="1" noTextEdit="1"/>
          </p:cNvSpPr>
          <p:nvPr>
            <p:ph type="sldImg"/>
          </p:nvPr>
        </p:nvSpPr>
        <p:spPr>
          <a:ln/>
        </p:spPr>
      </p:sp>
      <p:sp>
        <p:nvSpPr>
          <p:cNvPr id="75779" name="备注占位符 2"/>
          <p:cNvSpPr>
            <a:spLocks noGrp="1"/>
          </p:cNvSpPr>
          <p:nvPr>
            <p:ph type="body" idx="1"/>
          </p:nvPr>
        </p:nvSpPr>
        <p:spPr>
          <a:ln/>
        </p:spPr>
        <p:txBody>
          <a:bodyPr wrap="square" lIns="91440" tIns="45720" rIns="91440" bIns="45720" anchor="t" anchorCtr="0"/>
          <a:p>
            <a:pPr lvl="0"/>
            <a:r>
              <a:rPr lang="zh-CN" altLang="en-US" dirty="0">
                <a:ea typeface="宋体" panose="02010600030101010101" pitchFamily="2" charset="-122"/>
              </a:rPr>
              <a:t>在</a:t>
            </a:r>
            <a:r>
              <a:rPr lang="en-US" altLang="zh-CN" dirty="0">
                <a:ea typeface="宋体" panose="02010600030101010101" pitchFamily="2" charset="-122"/>
              </a:rPr>
              <a:t>end transaction</a:t>
            </a:r>
            <a:r>
              <a:rPr lang="zh-CN" altLang="en-US" dirty="0">
                <a:ea typeface="宋体" panose="02010600030101010101" pitchFamily="2" charset="-122"/>
              </a:rPr>
              <a:t>处如何提交</a:t>
            </a:r>
            <a:endParaRPr lang="zh-CN" altLang="en-US" dirty="0">
              <a:ea typeface="宋体" panose="02010600030101010101" pitchFamily="2" charset="-122"/>
            </a:endParaRPr>
          </a:p>
        </p:txBody>
      </p:sp>
      <p:sp>
        <p:nvSpPr>
          <p:cNvPr id="7578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幻灯片图像占位符 1"/>
          <p:cNvSpPr>
            <a:spLocks noGrp="1" noRot="1" noChangeAspect="1" noTextEdit="1"/>
          </p:cNvSpPr>
          <p:nvPr>
            <p:ph type="sldImg"/>
          </p:nvPr>
        </p:nvSpPr>
        <p:spPr>
          <a:ln/>
        </p:spPr>
      </p:sp>
      <p:sp>
        <p:nvSpPr>
          <p:cNvPr id="79875" name="备注占位符 2"/>
          <p:cNvSpPr>
            <a:spLocks noGrp="1"/>
          </p:cNvSpPr>
          <p:nvPr>
            <p:ph type="body" idx="1"/>
          </p:nvPr>
        </p:nvSpPr>
        <p:spPr>
          <a:ln/>
        </p:spPr>
        <p:txBody>
          <a:bodyPr wrap="square" lIns="91440" tIns="45720" rIns="91440" bIns="45720" anchor="t" anchorCtr="0"/>
          <a:p>
            <a:pPr lvl="0"/>
            <a:r>
              <a:rPr lang="zh-CN" altLang="en-US" dirty="0">
                <a:ea typeface="宋体" panose="02010600030101010101" pitchFamily="2" charset="-122"/>
              </a:rPr>
              <a:t>并发控制和同步的关系？</a:t>
            </a:r>
            <a:endParaRPr lang="zh-CN" altLang="en-US" dirty="0">
              <a:ea typeface="宋体" panose="02010600030101010101" pitchFamily="2" charset="-122"/>
            </a:endParaRPr>
          </a:p>
        </p:txBody>
      </p:sp>
      <p:sp>
        <p:nvSpPr>
          <p:cNvPr id="7987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幻灯片图像占位符 1"/>
          <p:cNvSpPr>
            <a:spLocks noGrp="1" noRot="1" noChangeAspect="1" noTextEdit="1"/>
          </p:cNvSpPr>
          <p:nvPr>
            <p:ph type="sldImg"/>
          </p:nvPr>
        </p:nvSpPr>
        <p:spPr>
          <a:ln/>
        </p:spPr>
      </p:sp>
      <p:sp>
        <p:nvSpPr>
          <p:cNvPr id="81923" name="备注占位符 2"/>
          <p:cNvSpPr>
            <a:spLocks noGrp="1"/>
          </p:cNvSpPr>
          <p:nvPr>
            <p:ph type="body" idx="1"/>
          </p:nvPr>
        </p:nvSpPr>
        <p:spPr>
          <a:ln/>
        </p:spPr>
        <p:txBody>
          <a:bodyPr wrap="square" lIns="91440" tIns="45720" rIns="91440" bIns="45720" anchor="t" anchorCtr="0"/>
          <a:p>
            <a:pPr lvl="0"/>
            <a:r>
              <a:rPr lang="zh-CN" altLang="en-US" dirty="0">
                <a:ea typeface="宋体" panose="02010600030101010101" pitchFamily="2" charset="-122"/>
              </a:rPr>
              <a:t>功能分层，各管各的</a:t>
            </a:r>
            <a:endParaRPr lang="zh-CN" altLang="en-US" dirty="0">
              <a:ea typeface="宋体" panose="02010600030101010101" pitchFamily="2" charset="-122"/>
            </a:endParaRPr>
          </a:p>
          <a:p>
            <a:pPr lvl="0"/>
            <a:endParaRPr lang="zh-CN" altLang="en-US" dirty="0">
              <a:ea typeface="宋体" panose="02010600030101010101" pitchFamily="2" charset="-122"/>
            </a:endParaRPr>
          </a:p>
        </p:txBody>
      </p:sp>
      <p:sp>
        <p:nvSpPr>
          <p:cNvPr id="8192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幻灯片图像占位符 1"/>
          <p:cNvSpPr>
            <a:spLocks noGrp="1" noRot="1" noChangeAspect="1" noTextEdit="1"/>
          </p:cNvSpPr>
          <p:nvPr>
            <p:ph type="sldImg"/>
          </p:nvPr>
        </p:nvSpPr>
        <p:spPr>
          <a:ln/>
        </p:spPr>
      </p:sp>
      <p:sp>
        <p:nvSpPr>
          <p:cNvPr id="87043" name="备注占位符 2"/>
          <p:cNvSpPr>
            <a:spLocks noGrp="1"/>
          </p:cNvSpPr>
          <p:nvPr>
            <p:ph type="body" idx="1"/>
          </p:nvPr>
        </p:nvSpPr>
        <p:spPr>
          <a:ln/>
        </p:spPr>
        <p:txBody>
          <a:bodyPr wrap="square" lIns="91440" tIns="45720" rIns="91440" bIns="45720" anchor="t" anchorCtr="0"/>
          <a:p>
            <a:pPr lvl="0"/>
            <a:endParaRPr lang="zh-CN" altLang="en-US" dirty="0">
              <a:ea typeface="宋体" panose="02010600030101010101" pitchFamily="2" charset="-122"/>
            </a:endParaRPr>
          </a:p>
        </p:txBody>
      </p:sp>
      <p:sp>
        <p:nvSpPr>
          <p:cNvPr id="8704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89091" name="Rectangle 2"/>
          <p:cNvSpPr>
            <a:spLocks noRot="1" noTextEdit="1"/>
          </p:cNvSpPr>
          <p:nvPr>
            <p:ph type="sldImg"/>
          </p:nvPr>
        </p:nvSpPr>
        <p:spPr>
          <a:ln/>
        </p:spPr>
      </p:sp>
      <p:sp>
        <p:nvSpPr>
          <p:cNvPr id="89092" name="Rectangle 3"/>
          <p:cNvSpPr>
            <a:spLocks noGrp="1"/>
          </p:cNvSpPr>
          <p:nvPr>
            <p:ph type="body" idx="1"/>
          </p:nvPr>
        </p:nvSpPr>
        <p:spPr>
          <a:ln/>
        </p:spPr>
        <p:txBody>
          <a:bodyPr wrap="square" lIns="91440" tIns="45720" rIns="91440" bIns="45720" anchor="t" anchorCtr="0"/>
          <a:p>
            <a:pPr lvl="0" eaLnBrk="1" hangingPunct="1"/>
            <a:r>
              <a:rPr lang="zh-CN" altLang="en-US" dirty="0">
                <a:ea typeface="宋体" panose="02010600030101010101" pitchFamily="2" charset="-122"/>
              </a:rPr>
              <a:t>一个事务释放锁的时候可能还没有提交，结果可能是一个中间状态。如果这个时候释放锁，其他事务请求锁，则其他事务会看到这个中间结果，导致不一致。</a:t>
            </a:r>
            <a:endParaRPr lang="zh-CN" altLang="en-US" dirty="0">
              <a:ea typeface="宋体" panose="02010600030101010101" pitchFamily="2" charset="-122"/>
            </a:endParaRPr>
          </a:p>
          <a:p>
            <a:pPr lvl="0" eaLnBrk="1" hangingPunct="1"/>
            <a:r>
              <a:rPr lang="zh-CN" altLang="en-US" dirty="0">
                <a:ea typeface="宋体" panose="02010600030101010101" pitchFamily="2" charset="-122"/>
              </a:rPr>
              <a:t>例如银行系统中转账过程中。。。</a:t>
            </a:r>
            <a:endParaRPr lang="zh-CN" altLang="en-US" dirty="0">
              <a:ea typeface="宋体" panose="02010600030101010101" pitchFamily="2" charset="-122"/>
            </a:endParaRPr>
          </a:p>
          <a:p>
            <a:pPr lvl="0" eaLnBrk="1" hangingPunct="1"/>
            <a:endParaRPr lang="zh-CN" altLang="en-US" dirty="0">
              <a:ea typeface="宋体" panose="02010600030101010101"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幻灯片图像占位符 1"/>
          <p:cNvSpPr>
            <a:spLocks noGrp="1" noRot="1" noChangeAspect="1" noTextEdit="1"/>
          </p:cNvSpPr>
          <p:nvPr>
            <p:ph type="sldImg"/>
          </p:nvPr>
        </p:nvSpPr>
        <p:spPr>
          <a:ln/>
        </p:spPr>
      </p:sp>
      <p:sp>
        <p:nvSpPr>
          <p:cNvPr id="91139" name="备注占位符 2"/>
          <p:cNvSpPr>
            <a:spLocks noGrp="1"/>
          </p:cNvSpPr>
          <p:nvPr>
            <p:ph type="body" idx="1"/>
          </p:nvPr>
        </p:nvSpPr>
        <p:spPr>
          <a:ln/>
        </p:spPr>
        <p:txBody>
          <a:bodyPr wrap="square" lIns="91440" tIns="45720" rIns="91440" bIns="45720" anchor="t" anchorCtr="0"/>
          <a:p>
            <a:pPr lvl="0"/>
            <a:r>
              <a:rPr lang="zh-CN" altLang="en-US" dirty="0">
                <a:ea typeface="宋体" panose="02010600030101010101" pitchFamily="2" charset="-122"/>
              </a:rPr>
              <a:t>功能分层，各管各的</a:t>
            </a:r>
            <a:endParaRPr lang="zh-CN" altLang="en-US" dirty="0">
              <a:ea typeface="宋体" panose="02010600030101010101" pitchFamily="2" charset="-122"/>
            </a:endParaRPr>
          </a:p>
        </p:txBody>
      </p:sp>
      <p:sp>
        <p:nvSpPr>
          <p:cNvPr id="9114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幻灯片图像占位符 1"/>
          <p:cNvSpPr>
            <a:spLocks noGrp="1" noRot="1" noChangeAspect="1" noTextEdit="1"/>
          </p:cNvSpPr>
          <p:nvPr>
            <p:ph type="sldImg"/>
          </p:nvPr>
        </p:nvSpPr>
        <p:spPr>
          <a:ln/>
        </p:spPr>
      </p:sp>
      <p:sp>
        <p:nvSpPr>
          <p:cNvPr id="97283" name="备注占位符 2"/>
          <p:cNvSpPr>
            <a:spLocks noGrp="1"/>
          </p:cNvSpPr>
          <p:nvPr>
            <p:ph type="body" idx="1"/>
          </p:nvPr>
        </p:nvSpPr>
        <p:spPr>
          <a:ln/>
        </p:spPr>
        <p:txBody>
          <a:bodyPr wrap="square" lIns="91440" tIns="45720" rIns="91440" bIns="45720" anchor="t" anchorCtr="0"/>
          <a:p>
            <a:pPr lvl="0"/>
            <a:r>
              <a:rPr lang="zh-CN" altLang="en-US" dirty="0">
                <a:ea typeface="宋体" panose="02010600030101010101" pitchFamily="2" charset="-122"/>
              </a:rPr>
              <a:t>锁时控制资源用的，</a:t>
            </a:r>
            <a:endParaRPr lang="en-US" altLang="zh-CN" dirty="0">
              <a:ea typeface="宋体" panose="02010600030101010101" pitchFamily="2" charset="-122"/>
            </a:endParaRPr>
          </a:p>
          <a:p>
            <a:pPr lvl="0"/>
            <a:r>
              <a:rPr lang="zh-CN" altLang="en-US" dirty="0">
                <a:ea typeface="宋体" panose="02010600030101010101" pitchFamily="2" charset="-122"/>
              </a:rPr>
              <a:t>时间戳是面向事务的，对事务执行给一个强制顺序</a:t>
            </a:r>
            <a:endParaRPr lang="zh-CN" altLang="en-US" dirty="0">
              <a:ea typeface="宋体" panose="02010600030101010101" pitchFamily="2" charset="-122"/>
            </a:endParaRPr>
          </a:p>
        </p:txBody>
      </p:sp>
      <p:sp>
        <p:nvSpPr>
          <p:cNvPr id="9728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幻灯片图像占位符 1"/>
          <p:cNvSpPr>
            <a:spLocks noGrp="1" noRot="1" noChangeAspect="1" noTextEdit="1"/>
          </p:cNvSpPr>
          <p:nvPr>
            <p:ph type="sldImg"/>
          </p:nvPr>
        </p:nvSpPr>
        <p:spPr>
          <a:ln/>
        </p:spPr>
      </p:sp>
      <p:sp>
        <p:nvSpPr>
          <p:cNvPr id="99331" name="备注占位符 2"/>
          <p:cNvSpPr>
            <a:spLocks noGrp="1"/>
          </p:cNvSpPr>
          <p:nvPr>
            <p:ph type="body" idx="1"/>
          </p:nvPr>
        </p:nvSpPr>
        <p:spPr>
          <a:ln/>
        </p:spPr>
        <p:txBody>
          <a:bodyPr wrap="square" lIns="91440" tIns="45720" rIns="91440" bIns="45720" anchor="t" anchorCtr="0"/>
          <a:p>
            <a:pPr lvl="0"/>
            <a:r>
              <a:rPr lang="zh-CN" altLang="en-US" dirty="0">
                <a:ea typeface="宋体" panose="02010600030101010101" pitchFamily="2" charset="-122"/>
              </a:rPr>
              <a:t>数据的读写时间戳用于记录对其进行读写操作事务的时间戳，当下一个事务来读写该数据时，用自己的时间戳与数据读写时间戳进行对比即可限制对该数据的读写顺序</a:t>
            </a:r>
            <a:endParaRPr lang="zh-CN" altLang="en-US" dirty="0">
              <a:ea typeface="宋体" panose="02010600030101010101" pitchFamily="2" charset="-122"/>
            </a:endParaRPr>
          </a:p>
        </p:txBody>
      </p:sp>
      <p:sp>
        <p:nvSpPr>
          <p:cNvPr id="9933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幻灯片图像占位符 1"/>
          <p:cNvSpPr>
            <a:spLocks noGrp="1" noRot="1" noChangeAspect="1" noTextEdit="1"/>
          </p:cNvSpPr>
          <p:nvPr>
            <p:ph type="sldImg"/>
          </p:nvPr>
        </p:nvSpPr>
        <p:spPr>
          <a:ln/>
        </p:spPr>
      </p:sp>
      <p:sp>
        <p:nvSpPr>
          <p:cNvPr id="3" name="备注占位符 2"/>
          <p:cNvSpPr>
            <a:spLocks noGrp="1"/>
          </p:cNvSpPr>
          <p:nvPr>
            <p:ph type="body" idx="1"/>
          </p:nvPr>
        </p:nvSpPr>
        <p:spPr/>
        <p:txBody>
          <a:bodyPr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以时间线为时间戳，</a:t>
            </a:r>
            <a:r>
              <a:rPr kumimoji="0" lang="el-GR" altLang="zh-CN" sz="1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β</a:t>
            </a:r>
            <a:r>
              <a:rPr kumimoji="0" lang="zh-CN" altLang="el-GR" sz="1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和</a:t>
            </a:r>
            <a:r>
              <a:rPr kumimoji="0" lang="el-GR" altLang="zh-CN" sz="1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γ</a:t>
            </a:r>
            <a:r>
              <a:rPr kumimoji="0" lang="zh-CN" altLang="el-GR" sz="1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同时开始</a:t>
            </a:r>
            <a:r>
              <a:rPr kumimoji="0" lang="zh-CN" altLang="en-US" sz="1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，但是对文件的读写操作不确定，具有随机性，我们开始考虑以下几种情况</a:t>
            </a:r>
            <a:endParaRPr kumimoji="0"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p:txBody>
      </p:sp>
      <p:sp>
        <p:nvSpPr>
          <p:cNvPr id="10138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幻灯片图像占位符 1"/>
          <p:cNvSpPr>
            <a:spLocks noGrp="1" noRot="1" noChangeAspect="1" noTextEdit="1"/>
          </p:cNvSpPr>
          <p:nvPr>
            <p:ph type="sldImg"/>
          </p:nvPr>
        </p:nvSpPr>
        <p:spPr>
          <a:ln/>
        </p:spPr>
      </p:sp>
      <p:sp>
        <p:nvSpPr>
          <p:cNvPr id="107523" name="备注占位符 2"/>
          <p:cNvSpPr>
            <a:spLocks noGrp="1"/>
          </p:cNvSpPr>
          <p:nvPr>
            <p:ph type="body" idx="1"/>
          </p:nvPr>
        </p:nvSpPr>
        <p:spPr>
          <a:ln/>
        </p:spPr>
        <p:txBody>
          <a:bodyPr wrap="square" lIns="91440" tIns="45720" rIns="91440" bIns="45720" anchor="t" anchorCtr="0"/>
          <a:p>
            <a:pPr lvl="0"/>
            <a:r>
              <a:rPr lang="zh-CN" altLang="en-US" dirty="0">
                <a:ea typeface="宋体" panose="02010600030101010101" pitchFamily="2" charset="-122"/>
              </a:rPr>
              <a:t>集中式控制模式，检测手段：检查环路</a:t>
            </a:r>
            <a:endParaRPr lang="zh-CN" altLang="en-US" dirty="0">
              <a:ea typeface="宋体" panose="02010600030101010101" pitchFamily="2" charset="-122"/>
            </a:endParaRPr>
          </a:p>
        </p:txBody>
      </p:sp>
      <p:sp>
        <p:nvSpPr>
          <p:cNvPr id="10752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幻灯片图像占位符 1"/>
          <p:cNvSpPr>
            <a:spLocks noGrp="1" noRot="1" noChangeAspect="1" noTextEdit="1"/>
          </p:cNvSpPr>
          <p:nvPr>
            <p:ph type="sldImg"/>
          </p:nvPr>
        </p:nvSpPr>
        <p:spPr>
          <a:ln/>
        </p:spPr>
      </p:sp>
      <p:sp>
        <p:nvSpPr>
          <p:cNvPr id="109571" name="备注占位符 2"/>
          <p:cNvSpPr>
            <a:spLocks noGrp="1"/>
          </p:cNvSpPr>
          <p:nvPr>
            <p:ph type="body" idx="1"/>
          </p:nvPr>
        </p:nvSpPr>
        <p:spPr>
          <a:ln/>
        </p:spPr>
        <p:txBody>
          <a:bodyPr wrap="square" lIns="91440" tIns="45720" rIns="91440" bIns="45720" anchor="t" anchorCtr="0"/>
          <a:p>
            <a:pPr lvl="0"/>
            <a:r>
              <a:rPr lang="zh-CN" altLang="en-US" dirty="0">
                <a:ea typeface="宋体" panose="02010600030101010101" pitchFamily="2" charset="-122"/>
              </a:rPr>
              <a:t>检测手段：</a:t>
            </a:r>
            <a:endParaRPr lang="zh-CN" altLang="en-US" dirty="0">
              <a:ea typeface="宋体" panose="02010600030101010101" pitchFamily="2" charset="-122"/>
            </a:endParaRPr>
          </a:p>
        </p:txBody>
      </p:sp>
      <p:sp>
        <p:nvSpPr>
          <p:cNvPr id="10957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幻灯片图像占位符 1"/>
          <p:cNvSpPr>
            <a:spLocks noGrp="1" noRot="1" noChangeAspect="1" noTextEdit="1"/>
          </p:cNvSpPr>
          <p:nvPr>
            <p:ph type="sldImg"/>
          </p:nvPr>
        </p:nvSpPr>
        <p:spPr>
          <a:ln/>
        </p:spPr>
      </p:sp>
      <p:sp>
        <p:nvSpPr>
          <p:cNvPr id="111619" name="备注占位符 2"/>
          <p:cNvSpPr>
            <a:spLocks noGrp="1"/>
          </p:cNvSpPr>
          <p:nvPr>
            <p:ph type="body" idx="1"/>
          </p:nvPr>
        </p:nvSpPr>
        <p:spPr>
          <a:ln/>
        </p:spPr>
        <p:txBody>
          <a:bodyPr wrap="square" lIns="91440" tIns="45720" rIns="91440" bIns="45720" anchor="t" anchorCtr="0"/>
          <a:p>
            <a:pPr lvl="0"/>
            <a:endParaRPr lang="zh-CN" altLang="en-US" dirty="0">
              <a:ea typeface="宋体" panose="02010600030101010101" pitchFamily="2" charset="-122"/>
            </a:endParaRPr>
          </a:p>
        </p:txBody>
      </p:sp>
      <p:sp>
        <p:nvSpPr>
          <p:cNvPr id="11162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B39DDA5-D0E7-4EB1-A08C-171EEFBFC69F}"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B39DDA5-D0E7-4EB1-A08C-171EEFBFC69F}"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B39DDA5-D0E7-4EB1-A08C-171EEFBFC69F}"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0" y="5715000"/>
            <a:ext cx="4495800" cy="83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5715000"/>
            <a:ext cx="4495800" cy="83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B39DDA5-D0E7-4EB1-A08C-171EEFBFC69F}"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B39DDA5-D0E7-4EB1-A08C-171EEFBFC69F}"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B39DDA5-D0E7-4EB1-A08C-171EEFBFC69F}"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B39DDA5-D0E7-4EB1-A08C-171EEFBFC69F}"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B39DDA5-D0E7-4EB1-A08C-171EEFBFC69F}"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ctr" defTabSz="914400" rtl="0" eaLnBrk="0" fontAlgn="base" latinLnBrk="0" hangingPunct="0">
              <a:lnSpc>
                <a:spcPct val="100000"/>
              </a:lnSpc>
              <a:spcBef>
                <a:spcPct val="20000"/>
              </a:spcBef>
              <a:spcAft>
                <a:spcPct val="0"/>
              </a:spcAft>
              <a:buClr>
                <a:schemeClr val="accent2"/>
              </a:buClr>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B39DDA5-D0E7-4EB1-A08C-171EEFBFC69F}"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B39DDA5-D0E7-4EB1-A08C-171EEFBFC69F}"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5532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0" y="0"/>
            <a:ext cx="6705600" cy="65532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B39DDA5-D0E7-4EB1-A08C-171EEFBFC69F}"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0" y="5715000"/>
            <a:ext cx="4495800" cy="838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5715000"/>
            <a:ext cx="4495800" cy="838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B39DDA5-D0E7-4EB1-A08C-171EEFBFC69F}"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B39DDA5-D0E7-4EB1-A08C-171EEFBFC69F}"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B39DDA5-D0E7-4EB1-A08C-171EEFBFC69F}"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B39DDA5-D0E7-4EB1-A08C-171EEFBFC69F}"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0" y="5715000"/>
            <a:ext cx="4495800" cy="83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5715000"/>
            <a:ext cx="4495800" cy="83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B39DDA5-D0E7-4EB1-A08C-171EEFBFC69F}"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B39DDA5-D0E7-4EB1-A08C-171EEFBFC69F}"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B39DDA5-D0E7-4EB1-A08C-171EEFBFC69F}"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B39DDA5-D0E7-4EB1-A08C-171EEFBFC69F}"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B39DDA5-D0E7-4EB1-A08C-171EEFBFC69F}"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ctr" defTabSz="914400" rtl="0" eaLnBrk="0" fontAlgn="base" latinLnBrk="0" hangingPunct="0">
              <a:lnSpc>
                <a:spcPct val="100000"/>
              </a:lnSpc>
              <a:spcBef>
                <a:spcPct val="20000"/>
              </a:spcBef>
              <a:spcAft>
                <a:spcPct val="0"/>
              </a:spcAft>
              <a:buClr>
                <a:schemeClr val="accent2"/>
              </a:buClr>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B39DDA5-D0E7-4EB1-A08C-171EEFBFC69F}"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B39DDA5-D0E7-4EB1-A08C-171EEFBFC69F}"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5532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0" y="0"/>
            <a:ext cx="6705600" cy="65532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B39DDA5-D0E7-4EB1-A08C-171EEFBFC69F}"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0" y="5715000"/>
            <a:ext cx="4495800" cy="838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5715000"/>
            <a:ext cx="4495800" cy="838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B39DDA5-D0E7-4EB1-A08C-171EEFBFC69F}"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3" Type="http://schemas.openxmlformats.org/officeDocument/2006/relationships/theme" Target="../theme/theme2.xml"/><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0" y="0"/>
            <a:ext cx="9144000" cy="1143000"/>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7" name="Rectangle 3"/>
          <p:cNvSpPr>
            <a:spLocks noGrp="1"/>
          </p:cNvSpPr>
          <p:nvPr>
            <p:ph type="body" idx="1"/>
          </p:nvPr>
        </p:nvSpPr>
        <p:spPr>
          <a:xfrm>
            <a:off x="0" y="5715000"/>
            <a:ext cx="9144000" cy="8382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3076"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4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7"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8" name="Rectangle 6"/>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4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B39DDA5-D0E7-4EB1-A08C-171EEFBFC69F}"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rtl="0" eaLnBrk="0" fontAlgn="base" hangingPunct="0">
        <a:spcBef>
          <a:spcPct val="0"/>
        </a:spcBef>
        <a:spcAft>
          <a:spcPct val="0"/>
        </a:spcAft>
        <a:defRPr sz="4400">
          <a:solidFill>
            <a:srgbClr val="FF0000"/>
          </a:solidFill>
          <a:latin typeface="+mj-lt"/>
          <a:ea typeface="+mj-ea"/>
          <a:cs typeface="+mj-cs"/>
        </a:defRPr>
      </a:lvl1pPr>
      <a:lvl2pPr algn="ctr" rtl="0" eaLnBrk="0" fontAlgn="base" hangingPunct="0">
        <a:spcBef>
          <a:spcPct val="0"/>
        </a:spcBef>
        <a:spcAft>
          <a:spcPct val="0"/>
        </a:spcAft>
        <a:defRPr sz="4400">
          <a:solidFill>
            <a:srgbClr val="FF0000"/>
          </a:solidFill>
          <a:latin typeface="Times New Roman" panose="02020603050405020304" pitchFamily="18" charset="0"/>
        </a:defRPr>
      </a:lvl2pPr>
      <a:lvl3pPr algn="ctr" rtl="0" eaLnBrk="0" fontAlgn="base" hangingPunct="0">
        <a:spcBef>
          <a:spcPct val="0"/>
        </a:spcBef>
        <a:spcAft>
          <a:spcPct val="0"/>
        </a:spcAft>
        <a:defRPr sz="4400">
          <a:solidFill>
            <a:srgbClr val="FF0000"/>
          </a:solidFill>
          <a:latin typeface="Times New Roman" panose="02020603050405020304" pitchFamily="18" charset="0"/>
        </a:defRPr>
      </a:lvl3pPr>
      <a:lvl4pPr algn="ctr" rtl="0" eaLnBrk="0" fontAlgn="base" hangingPunct="0">
        <a:spcBef>
          <a:spcPct val="0"/>
        </a:spcBef>
        <a:spcAft>
          <a:spcPct val="0"/>
        </a:spcAft>
        <a:defRPr sz="4400">
          <a:solidFill>
            <a:srgbClr val="FF0000"/>
          </a:solidFill>
          <a:latin typeface="Times New Roman" panose="02020603050405020304" pitchFamily="18" charset="0"/>
        </a:defRPr>
      </a:lvl4pPr>
      <a:lvl5pPr algn="ctr" rtl="0" eaLnBrk="0" fontAlgn="base" hangingPunct="0">
        <a:spcBef>
          <a:spcPct val="0"/>
        </a:spcBef>
        <a:spcAft>
          <a:spcPct val="0"/>
        </a:spcAft>
        <a:defRPr sz="4400">
          <a:solidFill>
            <a:srgbClr val="FF0000"/>
          </a:solidFill>
          <a:latin typeface="Times New Roman" panose="02020603050405020304" pitchFamily="18" charset="0"/>
        </a:defRPr>
      </a:lvl5pPr>
      <a:lvl6pPr marL="457200" algn="ctr" rtl="0" fontAlgn="base">
        <a:spcBef>
          <a:spcPct val="0"/>
        </a:spcBef>
        <a:spcAft>
          <a:spcPct val="0"/>
        </a:spcAft>
        <a:defRPr sz="4400">
          <a:solidFill>
            <a:srgbClr val="FF0000"/>
          </a:solidFill>
          <a:latin typeface="Times New Roman" panose="02020603050405020304" pitchFamily="18" charset="0"/>
        </a:defRPr>
      </a:lvl6pPr>
      <a:lvl7pPr marL="914400" algn="ctr" rtl="0" fontAlgn="base">
        <a:spcBef>
          <a:spcPct val="0"/>
        </a:spcBef>
        <a:spcAft>
          <a:spcPct val="0"/>
        </a:spcAft>
        <a:defRPr sz="4400">
          <a:solidFill>
            <a:srgbClr val="FF0000"/>
          </a:solidFill>
          <a:latin typeface="Times New Roman" panose="02020603050405020304" pitchFamily="18" charset="0"/>
        </a:defRPr>
      </a:lvl7pPr>
      <a:lvl8pPr marL="1371600" algn="ctr" rtl="0" fontAlgn="base">
        <a:spcBef>
          <a:spcPct val="0"/>
        </a:spcBef>
        <a:spcAft>
          <a:spcPct val="0"/>
        </a:spcAft>
        <a:defRPr sz="4400">
          <a:solidFill>
            <a:srgbClr val="FF0000"/>
          </a:solidFill>
          <a:latin typeface="Times New Roman" panose="02020603050405020304" pitchFamily="18" charset="0"/>
        </a:defRPr>
      </a:lvl8pPr>
      <a:lvl9pPr marL="1828800" algn="ctr" rtl="0" fontAlgn="base">
        <a:spcBef>
          <a:spcPct val="0"/>
        </a:spcBef>
        <a:spcAft>
          <a:spcPct val="0"/>
        </a:spcAft>
        <a:defRPr sz="4400">
          <a:solidFill>
            <a:srgbClr val="FF0000"/>
          </a:solidFill>
          <a:latin typeface="Times New Roman" panose="02020603050405020304" pitchFamily="18" charset="0"/>
        </a:defRPr>
      </a:lvl9pPr>
    </p:titleStyle>
    <p:body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0" y="0"/>
            <a:ext cx="9144000" cy="1143000"/>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7" name="Rectangle 3"/>
          <p:cNvSpPr>
            <a:spLocks noGrp="1"/>
          </p:cNvSpPr>
          <p:nvPr>
            <p:ph type="body" idx="1"/>
          </p:nvPr>
        </p:nvSpPr>
        <p:spPr>
          <a:xfrm>
            <a:off x="0" y="5715000"/>
            <a:ext cx="9144000" cy="8382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3076"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4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7"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8" name="Rectangle 6"/>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4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B39DDA5-D0E7-4EB1-A08C-171EEFBFC69F}"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dt="0"/>
  <p:txStyles>
    <p:titleStyle>
      <a:lvl1pPr algn="ctr" rtl="0" eaLnBrk="0" fontAlgn="base" hangingPunct="0">
        <a:spcBef>
          <a:spcPct val="0"/>
        </a:spcBef>
        <a:spcAft>
          <a:spcPct val="0"/>
        </a:spcAft>
        <a:defRPr sz="4400">
          <a:solidFill>
            <a:srgbClr val="FF0000"/>
          </a:solidFill>
          <a:latin typeface="+mj-lt"/>
          <a:ea typeface="+mj-ea"/>
          <a:cs typeface="+mj-cs"/>
        </a:defRPr>
      </a:lvl1pPr>
      <a:lvl2pPr algn="ctr" rtl="0" eaLnBrk="0" fontAlgn="base" hangingPunct="0">
        <a:spcBef>
          <a:spcPct val="0"/>
        </a:spcBef>
        <a:spcAft>
          <a:spcPct val="0"/>
        </a:spcAft>
        <a:defRPr sz="4400">
          <a:solidFill>
            <a:srgbClr val="FF0000"/>
          </a:solidFill>
          <a:latin typeface="Times New Roman" panose="02020603050405020304" pitchFamily="18" charset="0"/>
        </a:defRPr>
      </a:lvl2pPr>
      <a:lvl3pPr algn="ctr" rtl="0" eaLnBrk="0" fontAlgn="base" hangingPunct="0">
        <a:spcBef>
          <a:spcPct val="0"/>
        </a:spcBef>
        <a:spcAft>
          <a:spcPct val="0"/>
        </a:spcAft>
        <a:defRPr sz="4400">
          <a:solidFill>
            <a:srgbClr val="FF0000"/>
          </a:solidFill>
          <a:latin typeface="Times New Roman" panose="02020603050405020304" pitchFamily="18" charset="0"/>
        </a:defRPr>
      </a:lvl3pPr>
      <a:lvl4pPr algn="ctr" rtl="0" eaLnBrk="0" fontAlgn="base" hangingPunct="0">
        <a:spcBef>
          <a:spcPct val="0"/>
        </a:spcBef>
        <a:spcAft>
          <a:spcPct val="0"/>
        </a:spcAft>
        <a:defRPr sz="4400">
          <a:solidFill>
            <a:srgbClr val="FF0000"/>
          </a:solidFill>
          <a:latin typeface="Times New Roman" panose="02020603050405020304" pitchFamily="18" charset="0"/>
        </a:defRPr>
      </a:lvl4pPr>
      <a:lvl5pPr algn="ctr" rtl="0" eaLnBrk="0" fontAlgn="base" hangingPunct="0">
        <a:spcBef>
          <a:spcPct val="0"/>
        </a:spcBef>
        <a:spcAft>
          <a:spcPct val="0"/>
        </a:spcAft>
        <a:defRPr sz="4400">
          <a:solidFill>
            <a:srgbClr val="FF0000"/>
          </a:solidFill>
          <a:latin typeface="Times New Roman" panose="02020603050405020304" pitchFamily="18" charset="0"/>
        </a:defRPr>
      </a:lvl5pPr>
      <a:lvl6pPr marL="457200" algn="ctr" rtl="0" fontAlgn="base">
        <a:spcBef>
          <a:spcPct val="0"/>
        </a:spcBef>
        <a:spcAft>
          <a:spcPct val="0"/>
        </a:spcAft>
        <a:defRPr sz="4400">
          <a:solidFill>
            <a:srgbClr val="FF0000"/>
          </a:solidFill>
          <a:latin typeface="Times New Roman" panose="02020603050405020304" pitchFamily="18" charset="0"/>
        </a:defRPr>
      </a:lvl6pPr>
      <a:lvl7pPr marL="914400" algn="ctr" rtl="0" fontAlgn="base">
        <a:spcBef>
          <a:spcPct val="0"/>
        </a:spcBef>
        <a:spcAft>
          <a:spcPct val="0"/>
        </a:spcAft>
        <a:defRPr sz="4400">
          <a:solidFill>
            <a:srgbClr val="FF0000"/>
          </a:solidFill>
          <a:latin typeface="Times New Roman" panose="02020603050405020304" pitchFamily="18" charset="0"/>
        </a:defRPr>
      </a:lvl7pPr>
      <a:lvl8pPr marL="1371600" algn="ctr" rtl="0" fontAlgn="base">
        <a:spcBef>
          <a:spcPct val="0"/>
        </a:spcBef>
        <a:spcAft>
          <a:spcPct val="0"/>
        </a:spcAft>
        <a:defRPr sz="4400">
          <a:solidFill>
            <a:srgbClr val="FF0000"/>
          </a:solidFill>
          <a:latin typeface="Times New Roman" panose="02020603050405020304" pitchFamily="18" charset="0"/>
        </a:defRPr>
      </a:lvl8pPr>
      <a:lvl9pPr marL="1828800" algn="ctr" rtl="0" fontAlgn="base">
        <a:spcBef>
          <a:spcPct val="0"/>
        </a:spcBef>
        <a:spcAft>
          <a:spcPct val="0"/>
        </a:spcAft>
        <a:defRPr sz="4400">
          <a:solidFill>
            <a:srgbClr val="FF0000"/>
          </a:solidFill>
          <a:latin typeface="Times New Roman" panose="02020603050405020304" pitchFamily="18" charset="0"/>
        </a:defRPr>
      </a:lvl9pPr>
    </p:titleStyle>
    <p:body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17.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5" Type="http://schemas.openxmlformats.org/officeDocument/2006/relationships/notesSlide" Target="../notesSlides/notesSlide39.xml"/><Relationship Id="rId4" Type="http://schemas.openxmlformats.org/officeDocument/2006/relationships/vmlDrawing" Target="../drawings/vmlDrawing1.vml"/><Relationship Id="rId3" Type="http://schemas.openxmlformats.org/officeDocument/2006/relationships/slideLayout" Target="../slideLayouts/slideLayout12.xml"/><Relationship Id="rId2" Type="http://schemas.openxmlformats.org/officeDocument/2006/relationships/image" Target="../media/image27.emf"/><Relationship Id="rId1" Type="http://schemas.openxmlformats.org/officeDocument/2006/relationships/oleObject" Target="../embeddings/oleObject1.bin"/></Relationships>
</file>

<file path=ppt/slides/_rels/slide6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5" Type="http://schemas.openxmlformats.org/officeDocument/2006/relationships/notesSlide" Target="../notesSlides/notesSlide40.xml"/><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31.wmf"/><Relationship Id="rId1" Type="http://schemas.openxmlformats.org/officeDocument/2006/relationships/oleObject" Target="../embeddings/oleObject2.bin"/></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5" Type="http://schemas.openxmlformats.org/officeDocument/2006/relationships/notesSlide" Target="../notesSlides/notesSlide42.xml"/><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32.wmf"/><Relationship Id="rId1" Type="http://schemas.openxmlformats.org/officeDocument/2006/relationships/oleObject" Target="../embeddings/oleObject3.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Rectangle 2"/>
          <p:cNvSpPr>
            <a:spLocks noGrp="1"/>
          </p:cNvSpPr>
          <p:nvPr>
            <p:ph type="ctrTitle"/>
          </p:nvPr>
        </p:nvSpPr>
        <p:spPr>
          <a:xfrm>
            <a:off x="685800" y="2286000"/>
            <a:ext cx="7772400" cy="1143000"/>
          </a:xfrm>
          <a:ln/>
        </p:spPr>
        <p:txBody>
          <a:bodyPr vert="horz" wrap="square" lIns="91440" tIns="45720" rIns="91440" bIns="45720" anchor="ctr" anchorCtr="0"/>
          <a:p>
            <a:pPr eaLnBrk="1" hangingPunct="1">
              <a:buClrTx/>
              <a:buSzTx/>
              <a:buFontTx/>
            </a:pPr>
            <a:r>
              <a:rPr lang="en-US" altLang="zh-CN" dirty="0">
                <a:ea typeface="宋体" panose="02010600030101010101" pitchFamily="2" charset="-122"/>
              </a:rPr>
              <a:t>Synchronization</a:t>
            </a:r>
            <a:endParaRPr lang="en-US" altLang="zh-CN" dirty="0">
              <a:ea typeface="宋体" panose="02010600030101010101" pitchFamily="2" charset="-122"/>
            </a:endParaRPr>
          </a:p>
        </p:txBody>
      </p:sp>
      <p:sp>
        <p:nvSpPr>
          <p:cNvPr id="3075" name="Rectangle 3"/>
          <p:cNvSpPr>
            <a:spLocks noGrp="1"/>
          </p:cNvSpPr>
          <p:nvPr>
            <p:ph type="subTitle" idx="1"/>
          </p:nvPr>
        </p:nvSpPr>
        <p:spPr>
          <a:ln/>
        </p:spPr>
        <p:txBody>
          <a:bodyPr vert="horz" wrap="square" lIns="91440" tIns="45720" rIns="91440" bIns="45720" anchor="t" anchorCtr="0"/>
          <a:p>
            <a:pPr eaLnBrk="1" hangingPunct="1">
              <a:buSzTx/>
              <a:buFontTx/>
            </a:pPr>
            <a:r>
              <a:rPr lang="en-US" altLang="zh-CN" dirty="0">
                <a:latin typeface="+mn-lt"/>
                <a:ea typeface="宋体" panose="02010600030101010101" pitchFamily="2" charset="-122"/>
                <a:cs typeface="+mn-cs"/>
              </a:rPr>
              <a:t>Chapter 6</a:t>
            </a:r>
            <a:endParaRPr lang="en-US" altLang="zh-CN" dirty="0">
              <a:latin typeface="+mn-lt"/>
              <a:ea typeface="宋体" panose="02010600030101010101" pitchFamily="2" charset="-122"/>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2"/>
          <p:cNvSpPr>
            <a:spLocks noGrp="1"/>
          </p:cNvSpPr>
          <p:nvPr>
            <p:ph type="title"/>
          </p:nvPr>
        </p:nvSpPr>
        <p:spPr>
          <a:ln/>
        </p:spPr>
        <p:txBody>
          <a:bodyPr vert="horz" wrap="square" lIns="91440" tIns="45720" rIns="91440" bIns="45720" anchor="ctr" anchorCtr="0"/>
          <a:p>
            <a:pPr eaLnBrk="1" hangingPunct="1"/>
            <a:r>
              <a:rPr lang="en-US" altLang="zh-CN" dirty="0">
                <a:ea typeface="宋体" panose="02010600030101010101" pitchFamily="2" charset="-122"/>
              </a:rPr>
              <a:t>Clock Synchronization</a:t>
            </a:r>
            <a:endParaRPr lang="en-US" altLang="zh-CN" dirty="0">
              <a:ea typeface="宋体" panose="02010600030101010101" pitchFamily="2" charset="-122"/>
            </a:endParaRPr>
          </a:p>
        </p:txBody>
      </p:sp>
      <p:sp>
        <p:nvSpPr>
          <p:cNvPr id="5123" name="Rectangle 7"/>
          <p:cNvSpPr>
            <a:spLocks noGrp="1"/>
          </p:cNvSpPr>
          <p:nvPr>
            <p:ph idx="1"/>
          </p:nvPr>
        </p:nvSpPr>
        <p:spPr>
          <a:xfrm>
            <a:off x="347663" y="1000125"/>
            <a:ext cx="8229600" cy="2641600"/>
          </a:xfrm>
          <a:ln/>
        </p:spPr>
        <p:txBody>
          <a:bodyPr vert="horz" wrap="square" lIns="91440" tIns="45720" rIns="91440" bIns="45720" anchor="t" anchorCtr="0"/>
          <a:p>
            <a:pPr algn="l" eaLnBrk="1" hangingPunct="1">
              <a:lnSpc>
                <a:spcPct val="150000"/>
              </a:lnSpc>
              <a:buNone/>
            </a:pPr>
            <a:r>
              <a:rPr lang="zh-CN" altLang="en-US" sz="2000" b="1" dirty="0">
                <a:solidFill>
                  <a:srgbClr val="FF0000"/>
                </a:solidFill>
                <a:latin typeface="宋体" panose="02010600030101010101" pitchFamily="2" charset="-122"/>
                <a:ea typeface="宋体" panose="02010600030101010101" pitchFamily="2" charset="-122"/>
              </a:rPr>
              <a:t>  分布式系统同步问题：</a:t>
            </a:r>
            <a:endParaRPr lang="zh-CN" altLang="en-US" sz="2000" b="1" dirty="0">
              <a:solidFill>
                <a:srgbClr val="FF0000"/>
              </a:solidFill>
              <a:latin typeface="宋体" panose="02010600030101010101" pitchFamily="2" charset="-122"/>
              <a:ea typeface="宋体" panose="02010600030101010101" pitchFamily="2" charset="-122"/>
            </a:endParaRPr>
          </a:p>
          <a:p>
            <a:pPr lvl="1" eaLnBrk="1" hangingPunct="1">
              <a:lnSpc>
                <a:spcPct val="150000"/>
              </a:lnSpc>
            </a:pPr>
            <a:r>
              <a:rPr lang="en-US" altLang="zh-CN" sz="2000" b="1" dirty="0">
                <a:solidFill>
                  <a:srgbClr val="FF0000"/>
                </a:solidFill>
                <a:latin typeface="宋体" panose="02010600030101010101" pitchFamily="2" charset="-122"/>
                <a:ea typeface="宋体" panose="02010600030101010101" pitchFamily="2" charset="-122"/>
              </a:rPr>
              <a:t>1</a:t>
            </a:r>
            <a:r>
              <a:rPr lang="zh-CN" altLang="en-US" sz="2000" b="1" dirty="0">
                <a:solidFill>
                  <a:srgbClr val="FF0000"/>
                </a:solidFill>
                <a:latin typeface="宋体" panose="02010600030101010101" pitchFamily="2" charset="-122"/>
                <a:ea typeface="宋体" panose="02010600030101010101" pitchFamily="2" charset="-122"/>
              </a:rPr>
              <a:t>）时钟</a:t>
            </a:r>
            <a:endParaRPr lang="en-US" altLang="zh-CN" sz="2000" b="1" dirty="0">
              <a:solidFill>
                <a:srgbClr val="FF0000"/>
              </a:solidFill>
              <a:latin typeface="宋体" panose="02010600030101010101" pitchFamily="2" charset="-122"/>
              <a:ea typeface="宋体" panose="02010600030101010101" pitchFamily="2" charset="-122"/>
            </a:endParaRPr>
          </a:p>
          <a:p>
            <a:pPr lvl="1" eaLnBrk="1" hangingPunct="1">
              <a:lnSpc>
                <a:spcPct val="150000"/>
              </a:lnSpc>
            </a:pPr>
            <a:r>
              <a:rPr lang="en-US" altLang="zh-CN" sz="2000" b="1" dirty="0">
                <a:solidFill>
                  <a:srgbClr val="FF0000"/>
                </a:solidFill>
                <a:latin typeface="宋体" panose="02010600030101010101" pitchFamily="2" charset="-122"/>
                <a:ea typeface="宋体" panose="02010600030101010101" pitchFamily="2" charset="-122"/>
              </a:rPr>
              <a:t>2</a:t>
            </a:r>
            <a:r>
              <a:rPr lang="zh-CN" altLang="en-US" sz="2000" b="1" dirty="0">
                <a:solidFill>
                  <a:srgbClr val="FF0000"/>
                </a:solidFill>
                <a:latin typeface="宋体" panose="02010600030101010101" pitchFamily="2" charset="-122"/>
                <a:ea typeface="宋体" panose="02010600030101010101" pitchFamily="2" charset="-122"/>
              </a:rPr>
              <a:t>）互斥</a:t>
            </a:r>
            <a:r>
              <a:rPr lang="en-US" altLang="zh-CN" sz="2000" b="1" dirty="0">
                <a:solidFill>
                  <a:srgbClr val="FF0000"/>
                </a:solidFill>
                <a:latin typeface="宋体" panose="02010600030101010101" pitchFamily="2" charset="-122"/>
                <a:ea typeface="宋体" panose="02010600030101010101" pitchFamily="2" charset="-122"/>
              </a:rPr>
              <a:t>/</a:t>
            </a:r>
            <a:r>
              <a:rPr lang="zh-CN" altLang="en-US" sz="2000" b="1" dirty="0">
                <a:solidFill>
                  <a:srgbClr val="FF0000"/>
                </a:solidFill>
                <a:latin typeface="宋体" panose="02010600030101010101" pitchFamily="2" charset="-122"/>
                <a:ea typeface="宋体" panose="02010600030101010101" pitchFamily="2" charset="-122"/>
              </a:rPr>
              <a:t>同步</a:t>
            </a:r>
            <a:endParaRPr lang="zh-CN" altLang="en-US" sz="2000" b="1" dirty="0">
              <a:solidFill>
                <a:srgbClr val="FF0000"/>
              </a:solidFill>
              <a:latin typeface="宋体" panose="02010600030101010101" pitchFamily="2" charset="-122"/>
              <a:ea typeface="宋体" panose="02010600030101010101" pitchFamily="2" charset="-122"/>
            </a:endParaRPr>
          </a:p>
          <a:p>
            <a:pPr lvl="1" eaLnBrk="1" hangingPunct="1">
              <a:lnSpc>
                <a:spcPct val="150000"/>
              </a:lnSpc>
            </a:pPr>
            <a:r>
              <a:rPr lang="en-US" altLang="zh-CN" sz="2000" b="1" dirty="0">
                <a:solidFill>
                  <a:srgbClr val="FF0000"/>
                </a:solidFill>
                <a:latin typeface="宋体" panose="02010600030101010101" pitchFamily="2" charset="-122"/>
                <a:ea typeface="宋体" panose="02010600030101010101" pitchFamily="2" charset="-122"/>
              </a:rPr>
              <a:t>3) </a:t>
            </a:r>
            <a:r>
              <a:rPr lang="zh-CN" altLang="en-US" sz="2000" b="1" dirty="0">
                <a:solidFill>
                  <a:srgbClr val="FF0000"/>
                </a:solidFill>
                <a:latin typeface="宋体" panose="02010600030101010101" pitchFamily="2" charset="-122"/>
                <a:ea typeface="宋体" panose="02010600030101010101" pitchFamily="2" charset="-122"/>
              </a:rPr>
              <a:t>分布式事务</a:t>
            </a:r>
            <a:endParaRPr lang="zh-CN" altLang="en-US" sz="2000" b="1" dirty="0">
              <a:solidFill>
                <a:srgbClr val="FF0000"/>
              </a:solidFill>
              <a:latin typeface="宋体" panose="02010600030101010101" pitchFamily="2" charset="-122"/>
              <a:ea typeface="宋体" panose="02010600030101010101" pitchFamily="2" charset="-122"/>
            </a:endParaRPr>
          </a:p>
          <a:p>
            <a:pPr lvl="1" eaLnBrk="1" hangingPunct="1">
              <a:lnSpc>
                <a:spcPct val="150000"/>
              </a:lnSpc>
            </a:pPr>
            <a:r>
              <a:rPr lang="en-US" altLang="zh-CN" sz="2000" b="1" dirty="0">
                <a:solidFill>
                  <a:srgbClr val="FF0000"/>
                </a:solidFill>
                <a:latin typeface="宋体" panose="02010600030101010101" pitchFamily="2" charset="-122"/>
                <a:ea typeface="宋体" panose="02010600030101010101" pitchFamily="2" charset="-122"/>
              </a:rPr>
              <a:t>4</a:t>
            </a:r>
            <a:r>
              <a:rPr lang="zh-CN" altLang="en-US" sz="2000" b="1" dirty="0">
                <a:solidFill>
                  <a:srgbClr val="FF0000"/>
                </a:solidFill>
                <a:latin typeface="宋体" panose="02010600030101010101" pitchFamily="2" charset="-122"/>
                <a:ea typeface="宋体" panose="02010600030101010101" pitchFamily="2" charset="-122"/>
              </a:rPr>
              <a:t>）死锁</a:t>
            </a:r>
            <a:endParaRPr lang="zh-CN" altLang="en-US" sz="2000" b="1" dirty="0">
              <a:solidFill>
                <a:srgbClr val="FF0000"/>
              </a:solidFill>
              <a:latin typeface="宋体" panose="02010600030101010101" pitchFamily="2" charset="-122"/>
              <a:ea typeface="宋体" panose="02010600030101010101" pitchFamily="2" charset="-122"/>
            </a:endParaRPr>
          </a:p>
        </p:txBody>
      </p:sp>
      <p:sp>
        <p:nvSpPr>
          <p:cNvPr id="5124" name="Rectangle 3"/>
          <p:cNvSpPr txBox="1"/>
          <p:nvPr/>
        </p:nvSpPr>
        <p:spPr>
          <a:xfrm>
            <a:off x="514350" y="4159250"/>
            <a:ext cx="7415213" cy="1185863"/>
          </a:xfrm>
          <a:prstGeom prst="rect">
            <a:avLst/>
          </a:prstGeom>
          <a:no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742950" lvl="1" indent="-285750" eaLnBrk="1" hangingPunct="1">
              <a:lnSpc>
                <a:spcPct val="150000"/>
              </a:lnSpc>
            </a:pPr>
            <a:r>
              <a:rPr lang="zh-CN" altLang="en-US" sz="2000" b="1" dirty="0">
                <a:latin typeface="宋体" panose="02010600030101010101" pitchFamily="2" charset="-122"/>
                <a:ea typeface="宋体" panose="02010600030101010101" pitchFamily="2" charset="-122"/>
              </a:rPr>
              <a:t>时钟计量：物理时钟 </a:t>
            </a:r>
            <a:r>
              <a:rPr lang="en-US" altLang="zh-CN" sz="2000" b="1" dirty="0">
                <a:latin typeface="宋体" panose="02010600030101010101" pitchFamily="2" charset="-122"/>
                <a:ea typeface="宋体" panose="02010600030101010101" pitchFamily="2" charset="-122"/>
              </a:rPr>
              <a:t>vs </a:t>
            </a:r>
            <a:r>
              <a:rPr lang="zh-CN" altLang="en-US" sz="2000" b="1" dirty="0">
                <a:latin typeface="宋体" panose="02010600030101010101" pitchFamily="2" charset="-122"/>
                <a:ea typeface="宋体" panose="02010600030101010101" pitchFamily="2" charset="-122"/>
              </a:rPr>
              <a:t>逻辑时钟</a:t>
            </a:r>
            <a:r>
              <a:rPr lang="en-US" altLang="zh-CN" sz="2000" b="1" dirty="0">
                <a:latin typeface="宋体" panose="02010600030101010101" pitchFamily="2" charset="-122"/>
                <a:ea typeface="宋体" panose="02010600030101010101" pitchFamily="2" charset="-122"/>
              </a:rPr>
              <a:t>;</a:t>
            </a:r>
            <a:endParaRPr lang="en-US" altLang="zh-CN" sz="2000" b="1" dirty="0">
              <a:latin typeface="宋体" panose="02010600030101010101" pitchFamily="2" charset="-122"/>
              <a:ea typeface="宋体" panose="02010600030101010101" pitchFamily="2" charset="-122"/>
            </a:endParaRPr>
          </a:p>
          <a:p>
            <a:pPr marL="742950" lvl="1" indent="-285750" eaLnBrk="1" hangingPunct="1">
              <a:lnSpc>
                <a:spcPct val="150000"/>
              </a:lnSpc>
            </a:pPr>
            <a:r>
              <a:rPr lang="zh-CN" altLang="en-US" sz="2000" b="1" dirty="0">
                <a:latin typeface="宋体" panose="02010600030101010101" pitchFamily="2" charset="-122"/>
                <a:ea typeface="宋体" panose="02010600030101010101" pitchFamily="2" charset="-122"/>
              </a:rPr>
              <a:t>时钟同步：集中式 </a:t>
            </a:r>
            <a:r>
              <a:rPr lang="en-US" altLang="zh-CN" sz="2000" b="1" dirty="0">
                <a:latin typeface="宋体" panose="02010600030101010101" pitchFamily="2" charset="-122"/>
                <a:ea typeface="宋体" panose="02010600030101010101" pitchFamily="2" charset="-122"/>
              </a:rPr>
              <a:t>vs </a:t>
            </a:r>
            <a:r>
              <a:rPr lang="zh-CN" altLang="en-US" sz="2000" b="1" dirty="0">
                <a:latin typeface="宋体" panose="02010600030101010101" pitchFamily="2" charset="-122"/>
                <a:ea typeface="宋体" panose="02010600030101010101" pitchFamily="2" charset="-122"/>
              </a:rPr>
              <a:t>分布式</a:t>
            </a:r>
            <a:r>
              <a:rPr lang="en-US" altLang="zh-CN" sz="2000" b="1" dirty="0">
                <a:latin typeface="宋体" panose="02010600030101010101" pitchFamily="2" charset="-122"/>
                <a:ea typeface="宋体" panose="02010600030101010101" pitchFamily="2" charset="-122"/>
              </a:rPr>
              <a:t>;</a:t>
            </a:r>
            <a:endParaRPr lang="en-US" altLang="zh-CN" sz="2000" b="1" dirty="0">
              <a:latin typeface="宋体" panose="02010600030101010101" pitchFamily="2" charset="-122"/>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a:spLocks noGrp="1"/>
          </p:cNvSpPr>
          <p:nvPr>
            <p:ph type="title"/>
          </p:nvPr>
        </p:nvSpPr>
        <p:spPr>
          <a:xfrm>
            <a:off x="0" y="0"/>
            <a:ext cx="9144000" cy="922338"/>
          </a:xfrm>
          <a:ln/>
        </p:spPr>
        <p:txBody>
          <a:bodyPr vert="horz" wrap="square" lIns="91440" tIns="45720" rIns="91440" bIns="45720" anchor="ctr" anchorCtr="0"/>
          <a:p>
            <a:pPr eaLnBrk="1" hangingPunct="1"/>
            <a:r>
              <a:rPr lang="en-US" altLang="zh-CN" dirty="0">
                <a:ea typeface="宋体" panose="02010600030101010101" pitchFamily="2" charset="-122"/>
              </a:rPr>
              <a:t>Physical Clocks (1)</a:t>
            </a:r>
            <a:endParaRPr lang="en-US" altLang="zh-CN" dirty="0">
              <a:ea typeface="宋体" panose="02010600030101010101" pitchFamily="2" charset="-122"/>
            </a:endParaRPr>
          </a:p>
        </p:txBody>
      </p:sp>
      <p:sp>
        <p:nvSpPr>
          <p:cNvPr id="7171" name="Rectangle 5"/>
          <p:cNvSpPr/>
          <p:nvPr/>
        </p:nvSpPr>
        <p:spPr>
          <a:xfrm>
            <a:off x="506413" y="922338"/>
            <a:ext cx="8131175" cy="1938337"/>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lnSpc>
                <a:spcPct val="150000"/>
              </a:lnSpc>
              <a:spcBef>
                <a:spcPct val="0"/>
              </a:spcBef>
              <a:buClrTx/>
              <a:buNone/>
            </a:pPr>
            <a:r>
              <a:rPr lang="zh-CN" altLang="en-US" sz="2000" b="1" dirty="0">
                <a:ea typeface="黑体" panose="02010609060101010101" pitchFamily="49" charset="-122"/>
              </a:rPr>
              <a:t>实际时间的测量：</a:t>
            </a:r>
            <a:endParaRPr lang="zh-CN" altLang="en-US" sz="2000" b="1" dirty="0">
              <a:ea typeface="黑体" panose="02010609060101010101" pitchFamily="49" charset="-122"/>
            </a:endParaRPr>
          </a:p>
          <a:p>
            <a:pPr marL="0" lvl="0" indent="0" algn="l" eaLnBrk="1" hangingPunct="1">
              <a:lnSpc>
                <a:spcPct val="150000"/>
              </a:lnSpc>
              <a:spcBef>
                <a:spcPct val="0"/>
              </a:spcBef>
              <a:buClrTx/>
              <a:buNone/>
            </a:pPr>
            <a:r>
              <a:rPr lang="zh-CN" altLang="en-US" sz="2000" b="1" dirty="0">
                <a:latin typeface="黑体" panose="02010609060101010101" pitchFamily="49" charset="-122"/>
                <a:ea typeface="黑体" panose="02010609060101010101" pitchFamily="49" charset="-122"/>
              </a:rPr>
              <a:t>1、平均太阳日</a:t>
            </a:r>
            <a:r>
              <a:rPr lang="en-US" altLang="zh-CN" sz="2000" b="1" dirty="0">
                <a:latin typeface="黑体" panose="02010609060101010101" pitchFamily="49" charset="-122"/>
                <a:ea typeface="黑体" panose="02010609060101010101" pitchFamily="49" charset="-122"/>
              </a:rPr>
              <a:t>:</a:t>
            </a:r>
            <a:r>
              <a:rPr lang="zh-CN" altLang="en-US" sz="2000" dirty="0">
                <a:ea typeface="宋体" panose="02010600030101010101" pitchFamily="2" charset="-122"/>
              </a:rPr>
              <a:t>太阳到达的最高点</a:t>
            </a:r>
            <a:r>
              <a:rPr lang="en-US" altLang="zh-CN" sz="2000" dirty="0">
                <a:ea typeface="宋体" panose="02010600030101010101" pitchFamily="2" charset="-122"/>
              </a:rPr>
              <a:t>(</a:t>
            </a:r>
            <a:r>
              <a:rPr lang="zh-CN" altLang="en-US" sz="2000" dirty="0">
                <a:ea typeface="宋体" panose="02010600030101010101" pitchFamily="2" charset="-122"/>
              </a:rPr>
              <a:t>正午</a:t>
            </a:r>
            <a:r>
              <a:rPr lang="en-US" altLang="zh-CN" sz="2000" dirty="0">
                <a:ea typeface="宋体" panose="02010600030101010101" pitchFamily="2" charset="-122"/>
              </a:rPr>
              <a:t>)</a:t>
            </a:r>
            <a:r>
              <a:rPr lang="zh-CN" altLang="en-US" sz="2000" dirty="0">
                <a:ea typeface="宋体" panose="02010600030101010101" pitchFamily="2" charset="-122"/>
              </a:rPr>
              <a:t>称为中天(</a:t>
            </a:r>
            <a:r>
              <a:rPr lang="en-US" altLang="zh-CN" sz="2000" dirty="0">
                <a:ea typeface="宋体" panose="02010600030101010101" pitchFamily="2" charset="-122"/>
              </a:rPr>
              <a:t>transit of the sun)，</a:t>
            </a:r>
            <a:r>
              <a:rPr lang="zh-CN" altLang="en-US" sz="2000" dirty="0">
                <a:ea typeface="宋体" panose="02010600030101010101" pitchFamily="2" charset="-122"/>
              </a:rPr>
              <a:t>两次连续的中天间的时间称为太阳日(</a:t>
            </a:r>
            <a:r>
              <a:rPr lang="en-US" altLang="zh-CN" sz="2000" dirty="0">
                <a:ea typeface="宋体" panose="02010600030101010101" pitchFamily="2" charset="-122"/>
              </a:rPr>
              <a:t>solar day)。</a:t>
            </a:r>
            <a:r>
              <a:rPr lang="zh-CN" altLang="en-US" sz="2000" dirty="0">
                <a:ea typeface="宋体" panose="02010600030101010101" pitchFamily="2" charset="-122"/>
              </a:rPr>
              <a:t>每天24小时，每小时3600秒，</a:t>
            </a:r>
            <a:r>
              <a:rPr lang="zh-CN" altLang="en-US" sz="2000" dirty="0">
                <a:solidFill>
                  <a:srgbClr val="FF0000"/>
                </a:solidFill>
                <a:ea typeface="宋体" panose="02010600030101010101" pitchFamily="2" charset="-122"/>
              </a:rPr>
              <a:t>太阳秒</a:t>
            </a:r>
            <a:r>
              <a:rPr lang="zh-CN" altLang="en-US" sz="2000" dirty="0">
                <a:ea typeface="宋体" panose="02010600030101010101" pitchFamily="2" charset="-122"/>
              </a:rPr>
              <a:t>被精确地定义为</a:t>
            </a:r>
            <a:r>
              <a:rPr lang="en-US" altLang="zh-CN" sz="2000" dirty="0">
                <a:ea typeface="宋体" panose="02010600030101010101" pitchFamily="2" charset="-122"/>
              </a:rPr>
              <a:t>:    </a:t>
            </a:r>
            <a:r>
              <a:rPr lang="zh-CN" altLang="en-US" sz="2000" dirty="0">
                <a:ea typeface="宋体" panose="02010600030101010101" pitchFamily="2" charset="-122"/>
              </a:rPr>
              <a:t>1/（</a:t>
            </a:r>
            <a:r>
              <a:rPr lang="en-US" altLang="zh-CN" sz="2000" dirty="0">
                <a:ea typeface="宋体" panose="02010600030101010101" pitchFamily="2" charset="-122"/>
              </a:rPr>
              <a:t>24*3600=</a:t>
            </a:r>
            <a:r>
              <a:rPr lang="zh-CN" altLang="en-US" sz="2000" dirty="0">
                <a:ea typeface="宋体" panose="02010600030101010101" pitchFamily="2" charset="-122"/>
              </a:rPr>
              <a:t>86400）</a:t>
            </a:r>
            <a:endParaRPr lang="zh-CN" altLang="en-US" sz="2000" dirty="0">
              <a:ea typeface="宋体" panose="02010600030101010101" pitchFamily="2" charset="-122"/>
            </a:endParaRPr>
          </a:p>
        </p:txBody>
      </p:sp>
      <p:pic>
        <p:nvPicPr>
          <p:cNvPr id="7172" name="Picture 4"/>
          <p:cNvPicPr>
            <a:picLocks noChangeAspect="1"/>
          </p:cNvPicPr>
          <p:nvPr/>
        </p:nvPicPr>
        <p:blipFill>
          <a:blip r:embed="rId1"/>
          <a:srcRect l="24345" t="41087" r="20523" b="35347"/>
          <a:stretch>
            <a:fillRect/>
          </a:stretch>
        </p:blipFill>
        <p:spPr>
          <a:xfrm>
            <a:off x="1651000" y="2886075"/>
            <a:ext cx="6084888" cy="3514725"/>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2"/>
          <p:cNvSpPr>
            <a:spLocks noGrp="1"/>
          </p:cNvSpPr>
          <p:nvPr>
            <p:ph type="title"/>
          </p:nvPr>
        </p:nvSpPr>
        <p:spPr>
          <a:xfrm>
            <a:off x="0" y="0"/>
            <a:ext cx="9144000" cy="523875"/>
          </a:xfrm>
          <a:ln/>
        </p:spPr>
        <p:txBody>
          <a:bodyPr vert="horz" wrap="square" lIns="91440" tIns="45720" rIns="91440" bIns="45720" anchor="ctr" anchorCtr="0"/>
          <a:p>
            <a:pPr eaLnBrk="1" hangingPunct="1"/>
            <a:r>
              <a:rPr lang="en-US" altLang="zh-CN" dirty="0">
                <a:ea typeface="宋体" panose="02010600030101010101" pitchFamily="2" charset="-122"/>
              </a:rPr>
              <a:t>Physical Clocks (2)</a:t>
            </a:r>
            <a:endParaRPr lang="en-US" altLang="zh-CN" dirty="0">
              <a:ea typeface="宋体" panose="02010600030101010101" pitchFamily="2" charset="-122"/>
            </a:endParaRPr>
          </a:p>
        </p:txBody>
      </p:sp>
      <p:sp>
        <p:nvSpPr>
          <p:cNvPr id="9219" name="Rectangle 8"/>
          <p:cNvSpPr/>
          <p:nvPr/>
        </p:nvSpPr>
        <p:spPr>
          <a:xfrm>
            <a:off x="176213" y="601663"/>
            <a:ext cx="8818562" cy="170180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lnSpc>
                <a:spcPct val="150000"/>
              </a:lnSpc>
              <a:spcBef>
                <a:spcPct val="0"/>
              </a:spcBef>
              <a:buClrTx/>
              <a:buNone/>
            </a:pPr>
            <a:r>
              <a:rPr lang="zh-CN" altLang="en-US" sz="1800" b="1" dirty="0">
                <a:latin typeface="黑体" panose="02010609060101010101" pitchFamily="49" charset="-122"/>
                <a:ea typeface="黑体" panose="02010609060101010101" pitchFamily="49" charset="-122"/>
              </a:rPr>
              <a:t>2、原子时钟</a:t>
            </a:r>
            <a:r>
              <a:rPr lang="en-US" altLang="zh-CN" sz="1800" b="1" dirty="0">
                <a:latin typeface="黑体" panose="02010609060101010101" pitchFamily="49" charset="-122"/>
                <a:ea typeface="黑体" panose="02010609060101010101" pitchFamily="49" charset="-122"/>
              </a:rPr>
              <a:t>: </a:t>
            </a:r>
            <a:r>
              <a:rPr lang="zh-CN" altLang="en-US" sz="1800" dirty="0">
                <a:ea typeface="宋体" panose="02010600030101010101" pitchFamily="2" charset="-122"/>
              </a:rPr>
              <a:t>定义秒是铯133原子做9,192,631,770（约</a:t>
            </a:r>
            <a:r>
              <a:rPr lang="en-US" altLang="zh-CN" sz="1800" dirty="0">
                <a:ea typeface="宋体" panose="02010600030101010101" pitchFamily="2" charset="-122"/>
              </a:rPr>
              <a:t>90</a:t>
            </a:r>
            <a:r>
              <a:rPr lang="zh-CN" altLang="en-US" sz="1800" dirty="0">
                <a:ea typeface="宋体" panose="02010600030101010101" pitchFamily="2" charset="-122"/>
              </a:rPr>
              <a:t>亿）次跃迁所用的时间（与地球摆动和振动无关），与平均太阳秒相等。全球约有50个实验室拥有铯133时钟，定时向巴黎</a:t>
            </a:r>
            <a:r>
              <a:rPr lang="en-US" altLang="zh-CN" sz="1800" dirty="0">
                <a:ea typeface="宋体" panose="02010600030101010101" pitchFamily="2" charset="-122"/>
              </a:rPr>
              <a:t>BIH*</a:t>
            </a:r>
            <a:r>
              <a:rPr lang="zh-CN" altLang="en-US" sz="1800" dirty="0">
                <a:ea typeface="宋体" panose="02010600030101010101" pitchFamily="2" charset="-122"/>
              </a:rPr>
              <a:t>（国际时间局）报告，其平均值称</a:t>
            </a:r>
            <a:r>
              <a:rPr lang="zh-CN" altLang="en-US" sz="1800" dirty="0">
                <a:solidFill>
                  <a:srgbClr val="FF0000"/>
                </a:solidFill>
                <a:ea typeface="宋体" panose="02010600030101010101" pitchFamily="2" charset="-122"/>
              </a:rPr>
              <a:t>国际原子时间</a:t>
            </a:r>
            <a:r>
              <a:rPr lang="zh-CN" altLang="en-US" sz="1800" dirty="0">
                <a:ea typeface="宋体" panose="02010600030101010101" pitchFamily="2" charset="-122"/>
              </a:rPr>
              <a:t>(</a:t>
            </a:r>
            <a:r>
              <a:rPr lang="en-US" altLang="zh-CN" sz="1800" dirty="0">
                <a:ea typeface="宋体" panose="02010600030101010101" pitchFamily="2" charset="-122"/>
              </a:rPr>
              <a:t>International Atomic Time)，</a:t>
            </a:r>
            <a:r>
              <a:rPr lang="zh-CN" altLang="en-US" sz="1800" dirty="0">
                <a:ea typeface="宋体" panose="02010600030101010101" pitchFamily="2" charset="-122"/>
              </a:rPr>
              <a:t>简称为</a:t>
            </a:r>
            <a:r>
              <a:rPr lang="en-US" altLang="zh-CN" sz="1800" dirty="0">
                <a:solidFill>
                  <a:srgbClr val="FF0000"/>
                </a:solidFill>
                <a:ea typeface="宋体" panose="02010600030101010101" pitchFamily="2" charset="-122"/>
              </a:rPr>
              <a:t>TAI</a:t>
            </a:r>
            <a:r>
              <a:rPr lang="en-US" altLang="zh-CN" sz="1400" dirty="0">
                <a:ea typeface="宋体" panose="02010600030101010101" pitchFamily="2" charset="-122"/>
              </a:rPr>
              <a:t>。</a:t>
            </a:r>
            <a:r>
              <a:rPr lang="zh-CN" altLang="en-US" sz="1400" dirty="0">
                <a:solidFill>
                  <a:srgbClr val="333333"/>
                </a:solidFill>
                <a:latin typeface="Helvetica Neue"/>
                <a:ea typeface="宋体" panose="02010600030101010101" pitchFamily="2" charset="-122"/>
              </a:rPr>
              <a:t>其他的还有氢（</a:t>
            </a:r>
            <a:r>
              <a:rPr lang="en-US" altLang="zh-CN" sz="1400" dirty="0">
                <a:solidFill>
                  <a:srgbClr val="333333"/>
                </a:solidFill>
                <a:latin typeface="Helvetica Neue"/>
                <a:ea typeface="宋体" panose="02010600030101010101" pitchFamily="2" charset="-122"/>
              </a:rPr>
              <a:t>Hydrogen</a:t>
            </a:r>
            <a:r>
              <a:rPr lang="zh-CN" altLang="en-US" sz="1400" dirty="0">
                <a:solidFill>
                  <a:srgbClr val="333333"/>
                </a:solidFill>
                <a:latin typeface="Helvetica Neue"/>
                <a:ea typeface="宋体" panose="02010600030101010101" pitchFamily="2" charset="-122"/>
              </a:rPr>
              <a:t>）、铷（</a:t>
            </a:r>
            <a:r>
              <a:rPr lang="en-US" altLang="zh-CN" sz="1400" dirty="0">
                <a:solidFill>
                  <a:srgbClr val="333333"/>
                </a:solidFill>
                <a:latin typeface="Helvetica Neue"/>
                <a:ea typeface="宋体" panose="02010600030101010101" pitchFamily="2" charset="-122"/>
              </a:rPr>
              <a:t>Rubidium</a:t>
            </a:r>
            <a:r>
              <a:rPr lang="zh-CN" altLang="en-US" sz="1400" dirty="0">
                <a:solidFill>
                  <a:srgbClr val="333333"/>
                </a:solidFill>
                <a:latin typeface="Helvetica Neue"/>
                <a:ea typeface="宋体" panose="02010600030101010101" pitchFamily="2" charset="-122"/>
              </a:rPr>
              <a:t>）原子钟，精度为</a:t>
            </a:r>
            <a:r>
              <a:rPr lang="en-US" altLang="zh-CN" sz="1400" dirty="0">
                <a:solidFill>
                  <a:srgbClr val="333333"/>
                </a:solidFill>
                <a:latin typeface="Helvetica Neue"/>
                <a:ea typeface="宋体" panose="02010600030101010101" pitchFamily="2" charset="-122"/>
              </a:rPr>
              <a:t>2000</a:t>
            </a:r>
            <a:r>
              <a:rPr lang="zh-CN" altLang="en-US" sz="1400" dirty="0">
                <a:solidFill>
                  <a:srgbClr val="333333"/>
                </a:solidFill>
                <a:latin typeface="Helvetica Neue"/>
                <a:ea typeface="宋体" panose="02010600030101010101" pitchFamily="2" charset="-122"/>
              </a:rPr>
              <a:t>万年误差</a:t>
            </a:r>
            <a:r>
              <a:rPr lang="en-US" altLang="zh-CN" sz="1400" dirty="0">
                <a:solidFill>
                  <a:srgbClr val="333333"/>
                </a:solidFill>
                <a:latin typeface="Helvetica Neue"/>
                <a:ea typeface="宋体" panose="02010600030101010101" pitchFamily="2" charset="-122"/>
              </a:rPr>
              <a:t>1</a:t>
            </a:r>
            <a:r>
              <a:rPr lang="zh-CN" altLang="en-US" sz="1400" dirty="0">
                <a:solidFill>
                  <a:srgbClr val="333333"/>
                </a:solidFill>
                <a:latin typeface="Helvetica Neue"/>
                <a:ea typeface="宋体" panose="02010600030101010101" pitchFamily="2" charset="-122"/>
              </a:rPr>
              <a:t>秒。</a:t>
            </a:r>
            <a:endParaRPr lang="zh-CN" altLang="en-US" sz="1400" dirty="0">
              <a:ea typeface="宋体" panose="02010600030101010101" pitchFamily="2" charset="-122"/>
            </a:endParaRPr>
          </a:p>
        </p:txBody>
      </p:sp>
      <p:pic>
        <p:nvPicPr>
          <p:cNvPr id="9220" name="Picture 4"/>
          <p:cNvPicPr>
            <a:picLocks noChangeAspect="1"/>
          </p:cNvPicPr>
          <p:nvPr/>
        </p:nvPicPr>
        <p:blipFill>
          <a:blip r:embed="rId1"/>
          <a:srcRect l="18600" t="45921" r="16034" b="41389"/>
          <a:stretch>
            <a:fillRect/>
          </a:stretch>
        </p:blipFill>
        <p:spPr>
          <a:xfrm>
            <a:off x="176213" y="3430588"/>
            <a:ext cx="8677275" cy="2171700"/>
          </a:xfrm>
          <a:prstGeom prst="rect">
            <a:avLst/>
          </a:prstGeom>
          <a:noFill/>
          <a:ln w="9525">
            <a:noFill/>
          </a:ln>
        </p:spPr>
      </p:pic>
      <p:sp>
        <p:nvSpPr>
          <p:cNvPr id="9221" name="Rectangle 3"/>
          <p:cNvSpPr/>
          <p:nvPr/>
        </p:nvSpPr>
        <p:spPr>
          <a:xfrm>
            <a:off x="176213" y="2479675"/>
            <a:ext cx="8818562" cy="773113"/>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lnSpc>
                <a:spcPct val="150000"/>
              </a:lnSpc>
              <a:spcBef>
                <a:spcPct val="0"/>
              </a:spcBef>
              <a:buClrTx/>
              <a:buNone/>
            </a:pPr>
            <a:r>
              <a:rPr lang="zh-CN" altLang="en-US" sz="1600" b="1" dirty="0">
                <a:latin typeface="宋体" panose="02010600030101010101" pitchFamily="2" charset="-122"/>
                <a:ea typeface="宋体" panose="02010600030101010101" pitchFamily="2" charset="-122"/>
              </a:rPr>
              <a:t>问题：</a:t>
            </a:r>
            <a:r>
              <a:rPr lang="en-US" altLang="zh-CN" sz="1600" dirty="0">
                <a:latin typeface="宋体" panose="02010600030101010101" pitchFamily="2" charset="-122"/>
                <a:ea typeface="宋体" panose="02010600030101010101" pitchFamily="2" charset="-122"/>
              </a:rPr>
              <a:t>BIH</a:t>
            </a:r>
            <a:r>
              <a:rPr lang="zh-CN" altLang="en-US" sz="1600" dirty="0">
                <a:latin typeface="宋体" panose="02010600030101010101" pitchFamily="2" charset="-122"/>
                <a:ea typeface="宋体" panose="02010600030101010101" pitchFamily="2" charset="-122"/>
              </a:rPr>
              <a:t>通过闰秒(</a:t>
            </a:r>
            <a:r>
              <a:rPr lang="en-US" altLang="zh-CN" sz="1600" dirty="0">
                <a:latin typeface="宋体" panose="02010600030101010101" pitchFamily="2" charset="-122"/>
                <a:ea typeface="宋体" panose="02010600030101010101" pitchFamily="2" charset="-122"/>
              </a:rPr>
              <a:t>leap second)</a:t>
            </a:r>
            <a:r>
              <a:rPr lang="zh-CN" altLang="en-US" sz="1600" dirty="0">
                <a:latin typeface="宋体" panose="02010600030101010101" pitchFamily="2" charset="-122"/>
                <a:ea typeface="宋体" panose="02010600030101010101" pitchFamily="2" charset="-122"/>
              </a:rPr>
              <a:t>解决地球自转速度减慢的问题，86,400个</a:t>
            </a:r>
            <a:r>
              <a:rPr lang="en-US" altLang="zh-CN" sz="1600" dirty="0">
                <a:latin typeface="宋体" panose="02010600030101010101" pitchFamily="2" charset="-122"/>
                <a:ea typeface="宋体" panose="02010600030101010101" pitchFamily="2" charset="-122"/>
              </a:rPr>
              <a:t>TAI</a:t>
            </a:r>
            <a:r>
              <a:rPr lang="zh-CN" altLang="en-US" sz="1600" dirty="0">
                <a:latin typeface="宋体" panose="02010600030101010101" pitchFamily="2" charset="-122"/>
                <a:ea typeface="宋体" panose="02010600030101010101" pitchFamily="2" charset="-122"/>
              </a:rPr>
              <a:t>秒比一个平均太阳日少3微秒</a:t>
            </a:r>
            <a:r>
              <a:rPr lang="en-US" altLang="zh-CN" sz="1600" dirty="0">
                <a:latin typeface="宋体" panose="02010600030101010101" pitchFamily="2" charset="-122"/>
                <a:ea typeface="宋体" panose="02010600030101010101" pitchFamily="2" charset="-122"/>
              </a:rPr>
              <a:t>,</a:t>
            </a:r>
            <a:r>
              <a:rPr lang="zh-CN" altLang="en-US" sz="1600" dirty="0">
                <a:latin typeface="宋体" panose="02010600030101010101" pitchFamily="2" charset="-122"/>
                <a:ea typeface="宋体" panose="02010600030101010101" pitchFamily="2" charset="-122"/>
              </a:rPr>
              <a:t>当原子秒计时和用太阳秒计时差到800微秒时，使用闰秒矫正平均太阳秒</a:t>
            </a:r>
            <a:r>
              <a:rPr lang="en-US" altLang="zh-CN" sz="1600" dirty="0">
                <a:latin typeface="宋体" panose="02010600030101010101" pitchFamily="2" charset="-122"/>
                <a:ea typeface="宋体" panose="02010600030101010101" pitchFamily="2" charset="-122"/>
              </a:rPr>
              <a:t>:</a:t>
            </a:r>
            <a:r>
              <a:rPr lang="zh-CN" altLang="en-US" sz="1600" dirty="0">
                <a:latin typeface="宋体" panose="02010600030101010101" pitchFamily="2" charset="-122"/>
                <a:ea typeface="宋体" panose="02010600030101010101" pitchFamily="2" charset="-122"/>
              </a:rPr>
              <a:t> </a:t>
            </a:r>
            <a:endParaRPr lang="zh-CN" altLang="en-US" sz="1600" dirty="0">
              <a:latin typeface="宋体" panose="02010600030101010101" pitchFamily="2" charset="-122"/>
              <a:ea typeface="宋体" panose="02010600030101010101" pitchFamily="2" charset="-122"/>
            </a:endParaRPr>
          </a:p>
        </p:txBody>
      </p:sp>
      <p:sp>
        <p:nvSpPr>
          <p:cNvPr id="9222" name="Rectangle 5"/>
          <p:cNvSpPr/>
          <p:nvPr/>
        </p:nvSpPr>
        <p:spPr>
          <a:xfrm>
            <a:off x="84138" y="5840413"/>
            <a:ext cx="8910637" cy="950912"/>
          </a:xfrm>
          <a:prstGeom prst="rect">
            <a:avLst/>
          </a:prstGeom>
          <a:no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342900" lvl="0" indent="-342900" algn="just" eaLnBrk="1" hangingPunct="1">
              <a:lnSpc>
                <a:spcPct val="150000"/>
              </a:lnSpc>
              <a:buFont typeface="Wingdings" panose="05000000000000000000" pitchFamily="2" charset="2"/>
              <a:buChar char="u"/>
            </a:pPr>
            <a:r>
              <a:rPr lang="zh-CN" altLang="en-US" sz="1600" b="1" dirty="0">
                <a:ea typeface="宋体" panose="02010600030101010101" pitchFamily="2" charset="-122"/>
              </a:rPr>
              <a:t>通过</a:t>
            </a:r>
            <a:r>
              <a:rPr lang="en-US" altLang="zh-CN" sz="1600" b="1" dirty="0">
                <a:ea typeface="宋体" panose="02010600030101010101" pitchFamily="2" charset="-122"/>
              </a:rPr>
              <a:t>TAI</a:t>
            </a:r>
            <a:r>
              <a:rPr lang="zh-CN" altLang="en-US" sz="1600" b="1" dirty="0">
                <a:ea typeface="宋体" panose="02010600030101010101" pitchFamily="2" charset="-122"/>
              </a:rPr>
              <a:t>调整时间并保持太阳时钟和原子时钟的一致性：称作国际通用标准时间</a:t>
            </a:r>
            <a:r>
              <a:rPr lang="en-US" altLang="zh-CN" sz="1600" b="1" dirty="0">
                <a:ea typeface="宋体" panose="02010600030101010101" pitchFamily="2" charset="-122"/>
              </a:rPr>
              <a:t>——</a:t>
            </a:r>
            <a:r>
              <a:rPr lang="zh-CN" altLang="en-US" sz="1600" b="1" dirty="0">
                <a:ea typeface="宋体" panose="02010600030101010101" pitchFamily="2" charset="-122"/>
              </a:rPr>
              <a:t>协调世界时（</a:t>
            </a:r>
            <a:r>
              <a:rPr lang="en-US" altLang="zh-CN" sz="1600" b="1" dirty="0">
                <a:ea typeface="宋体" panose="02010600030101010101" pitchFamily="2" charset="-122"/>
              </a:rPr>
              <a:t>Universal Time Coordinated，UTC）——</a:t>
            </a:r>
            <a:r>
              <a:rPr lang="zh-CN" altLang="en-US" sz="1600" b="1" dirty="0">
                <a:ea typeface="宋体" panose="02010600030101010101" pitchFamily="2" charset="-122"/>
              </a:rPr>
              <a:t>是现代使用的时间。</a:t>
            </a:r>
            <a:endParaRPr lang="en-US" altLang="zh-CN" sz="1600" b="1" dirty="0">
              <a:ea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2"/>
          <p:cNvSpPr>
            <a:spLocks noGrp="1"/>
          </p:cNvSpPr>
          <p:nvPr>
            <p:ph type="title"/>
          </p:nvPr>
        </p:nvSpPr>
        <p:spPr>
          <a:xfrm>
            <a:off x="0" y="0"/>
            <a:ext cx="9144000" cy="673100"/>
          </a:xfrm>
          <a:ln/>
        </p:spPr>
        <p:txBody>
          <a:bodyPr vert="horz" wrap="square" lIns="91440" tIns="45720" rIns="91440" bIns="45720" anchor="ctr" anchorCtr="0"/>
          <a:p>
            <a:pPr eaLnBrk="1" hangingPunct="1"/>
            <a:r>
              <a:rPr lang="en-US" altLang="zh-CN" dirty="0">
                <a:ea typeface="宋体" panose="02010600030101010101" pitchFamily="2" charset="-122"/>
              </a:rPr>
              <a:t>Clock Synchronization</a:t>
            </a:r>
            <a:endParaRPr lang="en-US" altLang="zh-CN" dirty="0">
              <a:ea typeface="宋体" panose="02010600030101010101" pitchFamily="2" charset="-122"/>
            </a:endParaRPr>
          </a:p>
        </p:txBody>
      </p:sp>
      <p:sp>
        <p:nvSpPr>
          <p:cNvPr id="11267" name="Rectangle 3"/>
          <p:cNvSpPr>
            <a:spLocks noGrp="1"/>
          </p:cNvSpPr>
          <p:nvPr>
            <p:ph idx="1"/>
          </p:nvPr>
        </p:nvSpPr>
        <p:spPr>
          <a:xfrm>
            <a:off x="233363" y="819150"/>
            <a:ext cx="8535987" cy="1365250"/>
          </a:xfrm>
          <a:ln/>
        </p:spPr>
        <p:txBody>
          <a:bodyPr vert="horz" wrap="square" lIns="91440" tIns="45720" rIns="91440" bIns="45720" anchor="t" anchorCtr="0"/>
          <a:p>
            <a:pPr algn="l" eaLnBrk="1" hangingPunct="1">
              <a:lnSpc>
                <a:spcPct val="150000"/>
              </a:lnSpc>
              <a:buFont typeface="Wingdings" panose="05000000000000000000" pitchFamily="2" charset="2"/>
              <a:buChar char="u"/>
            </a:pPr>
            <a:r>
              <a:rPr lang="zh-CN" altLang="en-US" sz="1800" b="1" dirty="0">
                <a:ea typeface="宋体" panose="02010600030101010101" pitchFamily="2" charset="-122"/>
              </a:rPr>
              <a:t>集中式系统通过一个物理时钟确定两个及以上事件的顺序</a:t>
            </a:r>
            <a:r>
              <a:rPr lang="en-US" altLang="zh-CN" sz="1800" b="1" dirty="0">
                <a:ea typeface="宋体" panose="02010600030101010101" pitchFamily="2" charset="-122"/>
              </a:rPr>
              <a:t>; </a:t>
            </a:r>
            <a:r>
              <a:rPr lang="zh-CN" altLang="en-US" sz="1800" b="1" dirty="0">
                <a:ea typeface="宋体" panose="02010600030101010101" pitchFamily="2" charset="-122"/>
              </a:rPr>
              <a:t>例如：进程</a:t>
            </a:r>
            <a:r>
              <a:rPr lang="en-US" altLang="zh-CN" sz="1800" b="1" dirty="0">
                <a:ea typeface="宋体" panose="02010600030101010101" pitchFamily="2" charset="-122"/>
              </a:rPr>
              <a:t>A</a:t>
            </a:r>
            <a:r>
              <a:rPr lang="zh-CN" altLang="en-US" sz="1800" b="1" dirty="0">
                <a:ea typeface="宋体" panose="02010600030101010101" pitchFamily="2" charset="-122"/>
              </a:rPr>
              <a:t>询问时间，之后进程</a:t>
            </a:r>
            <a:r>
              <a:rPr lang="en-US" altLang="zh-CN" sz="1800" b="1" dirty="0">
                <a:ea typeface="宋体" panose="02010600030101010101" pitchFamily="2" charset="-122"/>
              </a:rPr>
              <a:t>B</a:t>
            </a:r>
            <a:r>
              <a:rPr lang="zh-CN" altLang="en-US" sz="1800" b="1" dirty="0">
                <a:ea typeface="宋体" panose="02010600030101010101" pitchFamily="2" charset="-122"/>
              </a:rPr>
              <a:t>也询问时间，</a:t>
            </a:r>
            <a:r>
              <a:rPr lang="en-US" altLang="zh-CN" sz="1800" b="1" dirty="0">
                <a:ea typeface="宋体" panose="02010600030101010101" pitchFamily="2" charset="-122"/>
              </a:rPr>
              <a:t>B</a:t>
            </a:r>
            <a:r>
              <a:rPr lang="zh-CN" altLang="en-US" sz="1800" b="1" dirty="0">
                <a:ea typeface="宋体" panose="02010600030101010101" pitchFamily="2" charset="-122"/>
              </a:rPr>
              <a:t>得到的时间值应该大于或等于</a:t>
            </a:r>
            <a:r>
              <a:rPr lang="en-US" altLang="zh-CN" sz="1800" b="1" dirty="0">
                <a:ea typeface="宋体" panose="02010600030101010101" pitchFamily="2" charset="-122"/>
              </a:rPr>
              <a:t>A</a:t>
            </a:r>
            <a:r>
              <a:rPr lang="zh-CN" altLang="en-US" sz="1800" b="1" dirty="0">
                <a:ea typeface="宋体" panose="02010600030101010101" pitchFamily="2" charset="-122"/>
              </a:rPr>
              <a:t>所得到的时间值，但一定不会小于</a:t>
            </a:r>
            <a:r>
              <a:rPr lang="en-US" altLang="zh-CN" sz="1800" b="1" dirty="0">
                <a:ea typeface="宋体" panose="02010600030101010101" pitchFamily="2" charset="-122"/>
              </a:rPr>
              <a:t>A</a:t>
            </a:r>
            <a:r>
              <a:rPr lang="zh-CN" altLang="en-US" sz="1800" b="1" dirty="0">
                <a:ea typeface="宋体" panose="02010600030101010101" pitchFamily="2" charset="-122"/>
              </a:rPr>
              <a:t>得到的时间值。</a:t>
            </a:r>
            <a:endParaRPr lang="zh-CN" altLang="en-US" sz="1800" b="1" dirty="0">
              <a:ea typeface="宋体" panose="02010600030101010101" pitchFamily="2" charset="-122"/>
            </a:endParaRPr>
          </a:p>
        </p:txBody>
      </p:sp>
      <p:sp>
        <p:nvSpPr>
          <p:cNvPr id="4" name="Rectangle 3"/>
          <p:cNvSpPr txBox="1">
            <a:spLocks noChangeArrowheads="1"/>
          </p:cNvSpPr>
          <p:nvPr/>
        </p:nvSpPr>
        <p:spPr bwMode="auto">
          <a:xfrm>
            <a:off x="233363" y="2184400"/>
            <a:ext cx="8469313" cy="1398588"/>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just"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分布式系统每个结点都有自己时钟，如何在时间上达到一致性</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例如</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:UNIX</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make</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程序：一个大程序可分割成多个源文件，当某个源文件修改后只需将其重新编译；</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make</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检查所有源文件，</a:t>
            </a:r>
            <a:r>
              <a:rPr kumimoji="0" lang="zh-CN" altLang="en-US" sz="1800" b="1"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找出时间大于目标文件的</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那个文件重新编译它</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11269" name="Picture 4"/>
          <p:cNvPicPr>
            <a:picLocks noChangeAspect="1"/>
          </p:cNvPicPr>
          <p:nvPr/>
        </p:nvPicPr>
        <p:blipFill>
          <a:blip r:embed="rId1"/>
          <a:srcRect l="24345" t="46375" r="20924" b="41692"/>
          <a:stretch>
            <a:fillRect/>
          </a:stretch>
        </p:blipFill>
        <p:spPr>
          <a:xfrm>
            <a:off x="428625" y="3582988"/>
            <a:ext cx="8466138" cy="2085975"/>
          </a:xfrm>
          <a:prstGeom prst="rect">
            <a:avLst/>
          </a:prstGeom>
          <a:noFill/>
          <a:ln w="9525">
            <a:noFill/>
          </a:ln>
        </p:spPr>
      </p:pic>
      <p:sp>
        <p:nvSpPr>
          <p:cNvPr id="11270" name="矩形 1"/>
          <p:cNvSpPr/>
          <p:nvPr/>
        </p:nvSpPr>
        <p:spPr>
          <a:xfrm>
            <a:off x="361950" y="5773738"/>
            <a:ext cx="8532813" cy="871537"/>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lnSpc>
                <a:spcPct val="150000"/>
              </a:lnSpc>
              <a:spcBef>
                <a:spcPct val="0"/>
              </a:spcBef>
              <a:buClrTx/>
              <a:buFont typeface="Wingdings" panose="05000000000000000000" pitchFamily="2" charset="2"/>
              <a:buChar char="u"/>
            </a:pPr>
            <a:r>
              <a:rPr lang="zh-CN" altLang="en-US" sz="1800" b="1" dirty="0">
                <a:solidFill>
                  <a:srgbClr val="FF0000"/>
                </a:solidFill>
                <a:ea typeface="宋体" panose="02010600030101010101" pitchFamily="2" charset="-122"/>
              </a:rPr>
              <a:t>如图中</a:t>
            </a:r>
            <a:r>
              <a:rPr lang="en-US" altLang="zh-CN" sz="1800" b="1" dirty="0">
                <a:solidFill>
                  <a:srgbClr val="FF0000"/>
                </a:solidFill>
                <a:ea typeface="宋体" panose="02010600030101010101" pitchFamily="2" charset="-122"/>
              </a:rPr>
              <a:t>2</a:t>
            </a:r>
            <a:r>
              <a:rPr lang="zh-CN" altLang="en-US" sz="1800" b="1" dirty="0">
                <a:solidFill>
                  <a:srgbClr val="FF0000"/>
                </a:solidFill>
                <a:ea typeface="宋体" panose="02010600030101010101" pitchFamily="2" charset="-122"/>
              </a:rPr>
              <a:t>个文件在不同的机器上没有统一时钟，就可能发生修改后的时间小于原先编译过的时间不一致问题。 </a:t>
            </a:r>
            <a:endParaRPr lang="en-US" altLang="zh-CN" sz="1800" b="1" dirty="0">
              <a:solidFill>
                <a:srgbClr val="FF0000"/>
              </a:solidFill>
              <a:ea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2"/>
          <p:cNvSpPr>
            <a:spLocks noGrp="1"/>
          </p:cNvSpPr>
          <p:nvPr>
            <p:ph type="title"/>
          </p:nvPr>
        </p:nvSpPr>
        <p:spPr>
          <a:xfrm>
            <a:off x="404813" y="53975"/>
            <a:ext cx="8556625" cy="382588"/>
          </a:xfrm>
          <a:ln/>
        </p:spPr>
        <p:txBody>
          <a:bodyPr vert="horz" wrap="square" lIns="91440" tIns="45720" rIns="91440" bIns="45720" anchor="ctr" anchorCtr="0"/>
          <a:p>
            <a:pPr eaLnBrk="1" hangingPunct="1"/>
            <a:r>
              <a:rPr lang="en-US" altLang="zh-CN" dirty="0">
                <a:ea typeface="宋体" panose="02010600030101010101" pitchFamily="2" charset="-122"/>
              </a:rPr>
              <a:t>Clock Synchronization Algorithms</a:t>
            </a:r>
            <a:endParaRPr lang="en-US" altLang="zh-CN" dirty="0">
              <a:ea typeface="宋体" panose="02010600030101010101" pitchFamily="2" charset="-122"/>
            </a:endParaRPr>
          </a:p>
        </p:txBody>
      </p:sp>
      <p:sp>
        <p:nvSpPr>
          <p:cNvPr id="13315" name="Rectangle 7"/>
          <p:cNvSpPr/>
          <p:nvPr/>
        </p:nvSpPr>
        <p:spPr>
          <a:xfrm>
            <a:off x="165100" y="515938"/>
            <a:ext cx="8796338" cy="1865312"/>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342900" lvl="0" indent="-342900" algn="just" eaLnBrk="1" hangingPunct="1">
              <a:lnSpc>
                <a:spcPct val="150000"/>
              </a:lnSpc>
              <a:buNone/>
            </a:pPr>
            <a:r>
              <a:rPr lang="zh-CN" altLang="en-US" sz="1800" b="1" u="sng" dirty="0">
                <a:ea typeface="黑体" panose="02010609060101010101" pitchFamily="49" charset="-122"/>
              </a:rPr>
              <a:t>物理时钟校准:</a:t>
            </a:r>
            <a:endParaRPr lang="en-US" altLang="zh-CN" sz="1800" b="1" u="sng" dirty="0">
              <a:ea typeface="黑体" panose="02010609060101010101" pitchFamily="49" charset="-122"/>
            </a:endParaRPr>
          </a:p>
          <a:p>
            <a:pPr marL="342900" lvl="0" indent="-342900" algn="just" eaLnBrk="1" hangingPunct="1">
              <a:lnSpc>
                <a:spcPct val="150000"/>
              </a:lnSpc>
              <a:buFont typeface="Wingdings" panose="05000000000000000000" pitchFamily="2" charset="2"/>
              <a:buChar char="u"/>
            </a:pPr>
            <a:r>
              <a:rPr lang="zh-CN" altLang="en-US" sz="1800" b="1" dirty="0">
                <a:ea typeface="宋体" panose="02010600030101010101" pitchFamily="2" charset="-122"/>
              </a:rPr>
              <a:t>设每台机器通过计时器产生的软时钟为</a:t>
            </a:r>
            <a:r>
              <a:rPr lang="en-US" altLang="zh-CN" sz="1800" b="1" dirty="0">
                <a:ea typeface="宋体" panose="02010600030101010101" pitchFamily="2" charset="-122"/>
              </a:rPr>
              <a:t>C(</a:t>
            </a:r>
            <a:r>
              <a:rPr lang="zh-CN" altLang="en-US" sz="1800" b="1" dirty="0">
                <a:ea typeface="宋体" panose="02010600030101010101" pitchFamily="2" charset="-122"/>
              </a:rPr>
              <a:t>计时器每秒产生</a:t>
            </a:r>
            <a:r>
              <a:rPr lang="en-US" altLang="zh-CN" sz="1800" b="1" dirty="0">
                <a:ea typeface="宋体" panose="02010600030101010101" pitchFamily="2" charset="-122"/>
              </a:rPr>
              <a:t>H</a:t>
            </a:r>
            <a:r>
              <a:rPr lang="zh-CN" altLang="en-US" sz="1800" b="1" dirty="0">
                <a:ea typeface="宋体" panose="02010600030101010101" pitchFamily="2" charset="-122"/>
              </a:rPr>
              <a:t>次中断</a:t>
            </a:r>
            <a:r>
              <a:rPr lang="en-US" altLang="zh-CN" sz="1800" b="1" dirty="0">
                <a:ea typeface="宋体" panose="02010600030101010101" pitchFamily="2" charset="-122"/>
              </a:rPr>
              <a:t>,</a:t>
            </a:r>
            <a:r>
              <a:rPr lang="zh-CN" altLang="en-US" sz="1800" b="1" dirty="0">
                <a:ea typeface="宋体" panose="02010600030101010101" pitchFamily="2" charset="-122"/>
              </a:rPr>
              <a:t>当时间到时，中断处理程序将软时钟加1</a:t>
            </a:r>
            <a:r>
              <a:rPr lang="en-US" altLang="zh-CN" sz="1800" b="1" dirty="0">
                <a:ea typeface="宋体" panose="02010600030101010101" pitchFamily="2" charset="-122"/>
              </a:rPr>
              <a:t>)。</a:t>
            </a:r>
            <a:endParaRPr lang="en-US" altLang="zh-CN" sz="1800" b="1" dirty="0">
              <a:ea typeface="宋体" panose="02010600030101010101" pitchFamily="2" charset="-122"/>
            </a:endParaRPr>
          </a:p>
          <a:p>
            <a:pPr marL="342900" lvl="0" indent="-342900" algn="just" eaLnBrk="1" hangingPunct="1">
              <a:lnSpc>
                <a:spcPct val="150000"/>
              </a:lnSpc>
              <a:buFont typeface="Wingdings" panose="05000000000000000000" pitchFamily="2" charset="2"/>
              <a:buChar char="u"/>
            </a:pPr>
            <a:r>
              <a:rPr lang="zh-CN" altLang="en-US" sz="1800" b="1" dirty="0">
                <a:ea typeface="宋体" panose="02010600030101010101" pitchFamily="2" charset="-122"/>
              </a:rPr>
              <a:t>当</a:t>
            </a:r>
            <a:r>
              <a:rPr lang="en-US" altLang="zh-CN" sz="1800" b="1" dirty="0">
                <a:ea typeface="宋体" panose="02010600030101010101" pitchFamily="2" charset="-122"/>
              </a:rPr>
              <a:t>UTC</a:t>
            </a:r>
            <a:r>
              <a:rPr lang="zh-CN" altLang="en-US" sz="1800" b="1" dirty="0">
                <a:ea typeface="宋体" panose="02010600030101010101" pitchFamily="2" charset="-122"/>
              </a:rPr>
              <a:t>时间为</a:t>
            </a:r>
            <a:r>
              <a:rPr lang="en-US" altLang="zh-CN" sz="1800" b="1" dirty="0">
                <a:ea typeface="宋体" panose="02010600030101010101" pitchFamily="2" charset="-122"/>
              </a:rPr>
              <a:t>t</a:t>
            </a:r>
            <a:r>
              <a:rPr lang="zh-CN" altLang="en-US" sz="1800" b="1" dirty="0">
                <a:ea typeface="宋体" panose="02010600030101010101" pitchFamily="2" charset="-122"/>
              </a:rPr>
              <a:t>时，机器</a:t>
            </a:r>
            <a:r>
              <a:rPr lang="en-US" altLang="zh-CN" sz="1800" b="1" dirty="0">
                <a:ea typeface="宋体" panose="02010600030101010101" pitchFamily="2" charset="-122"/>
              </a:rPr>
              <a:t>P</a:t>
            </a:r>
            <a:r>
              <a:rPr lang="zh-CN" altLang="en-US" sz="1800" b="1" dirty="0">
                <a:ea typeface="宋体" panose="02010600030101010101" pitchFamily="2" charset="-122"/>
              </a:rPr>
              <a:t>的时间值是</a:t>
            </a:r>
            <a:r>
              <a:rPr lang="en-US" altLang="zh-CN" sz="1800" b="1" dirty="0">
                <a:ea typeface="宋体" panose="02010600030101010101" pitchFamily="2" charset="-122"/>
              </a:rPr>
              <a:t>C</a:t>
            </a:r>
            <a:r>
              <a:rPr lang="en-US" altLang="zh-CN" sz="1800" b="1" baseline="-30000" dirty="0">
                <a:ea typeface="宋体" panose="02010600030101010101" pitchFamily="2" charset="-122"/>
              </a:rPr>
              <a:t>p</a:t>
            </a:r>
            <a:r>
              <a:rPr lang="en-US" altLang="zh-CN" sz="1800" b="1" dirty="0">
                <a:ea typeface="宋体" panose="02010600030101010101" pitchFamily="2" charset="-122"/>
              </a:rPr>
              <a:t>(t)，</a:t>
            </a:r>
            <a:r>
              <a:rPr lang="zh-CN" altLang="en-US" sz="1800" b="1" dirty="0">
                <a:ea typeface="宋体" panose="02010600030101010101" pitchFamily="2" charset="-122"/>
              </a:rPr>
              <a:t>理想情况是对所有的</a:t>
            </a:r>
            <a:r>
              <a:rPr lang="en-US" altLang="zh-CN" sz="1800" b="1" dirty="0">
                <a:ea typeface="宋体" panose="02010600030101010101" pitchFamily="2" charset="-122"/>
              </a:rPr>
              <a:t>p</a:t>
            </a:r>
            <a:r>
              <a:rPr lang="zh-CN" altLang="en-US" sz="1800" b="1" dirty="0">
                <a:ea typeface="宋体" panose="02010600030101010101" pitchFamily="2" charset="-122"/>
              </a:rPr>
              <a:t>和</a:t>
            </a:r>
            <a:r>
              <a:rPr lang="en-US" altLang="zh-CN" sz="1800" b="1" dirty="0">
                <a:ea typeface="宋体" panose="02010600030101010101" pitchFamily="2" charset="-122"/>
              </a:rPr>
              <a:t>t，dC/dt = </a:t>
            </a:r>
            <a:r>
              <a:rPr lang="zh-CN" altLang="en-US" sz="1800" b="1" dirty="0">
                <a:ea typeface="宋体" panose="02010600030101010101" pitchFamily="2" charset="-122"/>
              </a:rPr>
              <a:t>1。</a:t>
            </a:r>
            <a:endParaRPr lang="zh-CN" altLang="en-US" sz="1800" b="1" dirty="0">
              <a:ea typeface="宋体" panose="02010600030101010101" pitchFamily="2" charset="-122"/>
            </a:endParaRPr>
          </a:p>
        </p:txBody>
      </p:sp>
      <p:sp>
        <p:nvSpPr>
          <p:cNvPr id="4" name="Rectangle 3"/>
          <p:cNvSpPr txBox="1">
            <a:spLocks noChangeArrowheads="1"/>
          </p:cNvSpPr>
          <p:nvPr/>
        </p:nvSpPr>
        <p:spPr bwMode="auto">
          <a:xfrm>
            <a:off x="655638" y="6275388"/>
            <a:ext cx="8175625" cy="434975"/>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ctr" defTabSz="914400" rtl="0" eaLnBrk="1" fontAlgn="base" latinLnBrk="0" hangingPunct="1">
              <a:lnSpc>
                <a:spcPct val="100000"/>
              </a:lnSpc>
              <a:spcBef>
                <a:spcPct val="20000"/>
              </a:spcBef>
              <a:spcAft>
                <a:spcPct val="0"/>
              </a:spcAft>
              <a:buClr>
                <a:schemeClr val="accent2"/>
              </a:buClr>
              <a:buSzTx/>
              <a:buFontTx/>
              <a:buNone/>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The relation between clock time and UTC when clocks tick at different rates.</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13317" name="Picture 4"/>
          <p:cNvPicPr>
            <a:picLocks noChangeAspect="1"/>
          </p:cNvPicPr>
          <p:nvPr/>
        </p:nvPicPr>
        <p:blipFill>
          <a:blip r:embed="rId1"/>
          <a:srcRect l="35703" t="43958" r="33565" b="38670"/>
          <a:stretch>
            <a:fillRect/>
          </a:stretch>
        </p:blipFill>
        <p:spPr>
          <a:xfrm>
            <a:off x="3706813" y="2249488"/>
            <a:ext cx="5002212" cy="3387725"/>
          </a:xfrm>
          <a:prstGeom prst="rect">
            <a:avLst/>
          </a:prstGeom>
          <a:noFill/>
          <a:ln w="9525">
            <a:noFill/>
          </a:ln>
        </p:spPr>
      </p:pic>
      <p:pic>
        <p:nvPicPr>
          <p:cNvPr id="13318" name="图片 2"/>
          <p:cNvPicPr>
            <a:picLocks noChangeAspect="1"/>
          </p:cNvPicPr>
          <p:nvPr/>
        </p:nvPicPr>
        <p:blipFill>
          <a:blip r:embed="rId2"/>
          <a:stretch>
            <a:fillRect/>
          </a:stretch>
        </p:blipFill>
        <p:spPr>
          <a:xfrm>
            <a:off x="271463" y="3344863"/>
            <a:ext cx="4775200" cy="1865312"/>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2"/>
          <p:cNvSpPr>
            <a:spLocks noGrp="1"/>
          </p:cNvSpPr>
          <p:nvPr>
            <p:ph type="title"/>
          </p:nvPr>
        </p:nvSpPr>
        <p:spPr>
          <a:xfrm>
            <a:off x="593725" y="17463"/>
            <a:ext cx="7772400" cy="393700"/>
          </a:xfrm>
          <a:ln/>
        </p:spPr>
        <p:txBody>
          <a:bodyPr vert="horz" wrap="square" lIns="91440" tIns="45720" rIns="91440" bIns="45720" anchor="ctr" anchorCtr="0"/>
          <a:p>
            <a:pPr eaLnBrk="1" hangingPunct="1"/>
            <a:r>
              <a:rPr lang="en-US" altLang="zh-CN" dirty="0">
                <a:ea typeface="宋体" panose="02010600030101010101" pitchFamily="2" charset="-122"/>
              </a:rPr>
              <a:t>Cristian's Algorithm</a:t>
            </a:r>
            <a:endParaRPr lang="en-US" altLang="zh-CN" dirty="0">
              <a:ea typeface="宋体" panose="02010600030101010101" pitchFamily="2" charset="-122"/>
            </a:endParaRPr>
          </a:p>
        </p:txBody>
      </p:sp>
      <p:pic>
        <p:nvPicPr>
          <p:cNvPr id="2" name="图片 1"/>
          <p:cNvPicPr>
            <a:picLocks noChangeAspect="1"/>
          </p:cNvPicPr>
          <p:nvPr/>
        </p:nvPicPr>
        <p:blipFill>
          <a:blip r:embed="rId1"/>
          <a:stretch>
            <a:fillRect/>
          </a:stretch>
        </p:blipFill>
        <p:spPr>
          <a:xfrm>
            <a:off x="8890" y="1332865"/>
            <a:ext cx="9062720" cy="405257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a:spLocks noGrp="1"/>
          </p:cNvSpPr>
          <p:nvPr>
            <p:ph type="title"/>
          </p:nvPr>
        </p:nvSpPr>
        <p:spPr>
          <a:xfrm>
            <a:off x="0" y="0"/>
            <a:ext cx="9144000" cy="573088"/>
          </a:xfrm>
          <a:ln/>
        </p:spPr>
        <p:txBody>
          <a:bodyPr vert="horz" wrap="square" lIns="91440" tIns="45720" rIns="91440" bIns="45720" anchor="ctr" anchorCtr="0"/>
          <a:p>
            <a:pPr eaLnBrk="1" hangingPunct="1"/>
            <a:r>
              <a:rPr lang="en-US" altLang="zh-CN" dirty="0">
                <a:ea typeface="宋体" panose="02010600030101010101" pitchFamily="2" charset="-122"/>
              </a:rPr>
              <a:t>The Berkeley Algorithm</a:t>
            </a:r>
            <a:endParaRPr lang="en-US" altLang="zh-CN" dirty="0">
              <a:ea typeface="宋体" panose="02010600030101010101" pitchFamily="2" charset="-122"/>
            </a:endParaRPr>
          </a:p>
        </p:txBody>
      </p:sp>
      <p:sp>
        <p:nvSpPr>
          <p:cNvPr id="17411" name="Rectangle 5"/>
          <p:cNvSpPr/>
          <p:nvPr/>
        </p:nvSpPr>
        <p:spPr>
          <a:xfrm>
            <a:off x="452438" y="746125"/>
            <a:ext cx="8412162" cy="101600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lnSpc>
                <a:spcPct val="150000"/>
              </a:lnSpc>
              <a:spcBef>
                <a:spcPct val="0"/>
              </a:spcBef>
              <a:buClrTx/>
              <a:buNone/>
            </a:pPr>
            <a:r>
              <a:rPr lang="en-US" altLang="zh-CN" sz="2000" b="1" dirty="0">
                <a:ea typeface="宋体" panose="02010600030101010101" pitchFamily="2" charset="-122"/>
              </a:rPr>
              <a:t>Berkeley UNIX</a:t>
            </a:r>
            <a:r>
              <a:rPr lang="zh-CN" altLang="en-US" sz="2000" b="1" dirty="0">
                <a:ea typeface="宋体" panose="02010600030101010101" pitchFamily="2" charset="-122"/>
              </a:rPr>
              <a:t>采取服务器定期询问方式，根据每台机器的回答，计算出平均值并告诉所有机器将它们的时钟拨快或拨慢到一个新值。</a:t>
            </a:r>
            <a:endParaRPr lang="en-US" altLang="zh-CN" sz="2000" b="1" dirty="0">
              <a:ea typeface="宋体" panose="02010600030101010101" pitchFamily="2" charset="-122"/>
            </a:endParaRPr>
          </a:p>
        </p:txBody>
      </p:sp>
      <p:sp>
        <p:nvSpPr>
          <p:cNvPr id="4" name="Rectangle 3"/>
          <p:cNvSpPr txBox="1">
            <a:spLocks noChangeArrowheads="1"/>
          </p:cNvSpPr>
          <p:nvPr/>
        </p:nvSpPr>
        <p:spPr bwMode="auto">
          <a:xfrm>
            <a:off x="671513" y="5611813"/>
            <a:ext cx="7974013" cy="1066800"/>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609600" marR="0" lvl="0" indent="-609600" algn="l" defTabSz="914400" rtl="0" eaLnBrk="1" fontAlgn="base" latinLnBrk="0" hangingPunct="1">
              <a:lnSpc>
                <a:spcPct val="100000"/>
              </a:lnSpc>
              <a:spcBef>
                <a:spcPct val="20000"/>
              </a:spcBef>
              <a:spcAft>
                <a:spcPct val="0"/>
              </a:spcAft>
              <a:buClr>
                <a:schemeClr val="accent2"/>
              </a:buClr>
              <a:buSzTx/>
              <a:buFontTx/>
              <a:buAutoNum type="alphaLcParenR"/>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The time daemon asks all the other machines for their clock values</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609600" marR="0" lvl="0" indent="-609600" algn="l" defTabSz="914400" rtl="0" eaLnBrk="1" fontAlgn="base" latinLnBrk="0" hangingPunct="1">
              <a:lnSpc>
                <a:spcPct val="100000"/>
              </a:lnSpc>
              <a:spcBef>
                <a:spcPct val="20000"/>
              </a:spcBef>
              <a:spcAft>
                <a:spcPct val="0"/>
              </a:spcAft>
              <a:buClr>
                <a:schemeClr val="accent2"/>
              </a:buClr>
              <a:buSzTx/>
              <a:buFontTx/>
              <a:buAutoNum type="alphaLcParenR"/>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The machines answer</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609600" marR="0" lvl="0" indent="-609600" algn="l" defTabSz="914400" rtl="0" eaLnBrk="1" fontAlgn="base" latinLnBrk="0" hangingPunct="1">
              <a:lnSpc>
                <a:spcPct val="100000"/>
              </a:lnSpc>
              <a:spcBef>
                <a:spcPct val="20000"/>
              </a:spcBef>
              <a:spcAft>
                <a:spcPct val="0"/>
              </a:spcAft>
              <a:buClr>
                <a:schemeClr val="accent2"/>
              </a:buClr>
              <a:buSzTx/>
              <a:buFontTx/>
              <a:buAutoNum type="alphaLcParenR"/>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The time daemon tells everyone how to adjust their clock</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17413" name="Picture 4"/>
          <p:cNvPicPr>
            <a:picLocks noChangeAspect="1"/>
          </p:cNvPicPr>
          <p:nvPr/>
        </p:nvPicPr>
        <p:blipFill>
          <a:blip r:embed="rId1"/>
          <a:srcRect l="24345" t="43806" r="21165" b="38519"/>
          <a:stretch>
            <a:fillRect/>
          </a:stretch>
        </p:blipFill>
        <p:spPr>
          <a:xfrm>
            <a:off x="452438" y="1933575"/>
            <a:ext cx="7974012" cy="3221038"/>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2"/>
          <p:cNvSpPr>
            <a:spLocks noGrp="1"/>
          </p:cNvSpPr>
          <p:nvPr>
            <p:ph type="title"/>
          </p:nvPr>
        </p:nvSpPr>
        <p:spPr>
          <a:xfrm>
            <a:off x="0" y="0"/>
            <a:ext cx="9144000" cy="889000"/>
          </a:xfrm>
          <a:ln/>
        </p:spPr>
        <p:txBody>
          <a:bodyPr vert="horz" wrap="square" lIns="91440" tIns="45720" rIns="91440" bIns="45720" anchor="ctr" anchorCtr="0"/>
          <a:p>
            <a:pPr eaLnBrk="1" hangingPunct="1"/>
            <a:r>
              <a:rPr lang="en-US" altLang="zh-CN" dirty="0">
                <a:ea typeface="宋体" panose="02010600030101010101" pitchFamily="2" charset="-122"/>
              </a:rPr>
              <a:t>Averaging Algorithms</a:t>
            </a:r>
            <a:endParaRPr lang="en-US" altLang="zh-CN" dirty="0">
              <a:ea typeface="宋体" panose="02010600030101010101" pitchFamily="2" charset="-122"/>
            </a:endParaRPr>
          </a:p>
        </p:txBody>
      </p:sp>
      <p:sp>
        <p:nvSpPr>
          <p:cNvPr id="19459" name="Rectangle 3"/>
          <p:cNvSpPr>
            <a:spLocks noGrp="1"/>
          </p:cNvSpPr>
          <p:nvPr>
            <p:ph idx="1"/>
          </p:nvPr>
        </p:nvSpPr>
        <p:spPr>
          <a:xfrm>
            <a:off x="390525" y="1150938"/>
            <a:ext cx="8421688" cy="4351337"/>
          </a:xfrm>
          <a:ln/>
        </p:spPr>
        <p:txBody>
          <a:bodyPr vert="horz" wrap="square" lIns="91440" tIns="45720" rIns="91440" bIns="45720" anchor="t" anchorCtr="0"/>
          <a:p>
            <a:pPr marL="0" indent="0" algn="l" eaLnBrk="1" hangingPunct="1">
              <a:lnSpc>
                <a:spcPct val="200000"/>
              </a:lnSpc>
              <a:buFont typeface="Wingdings" panose="05000000000000000000" pitchFamily="2" charset="2"/>
              <a:buChar char="u"/>
            </a:pPr>
            <a:r>
              <a:rPr lang="zh-CN" altLang="en-US" sz="2400" b="1" dirty="0">
                <a:ea typeface="宋体" panose="02010600030101010101" pitchFamily="2" charset="-122"/>
              </a:rPr>
              <a:t>非集中式时钟同步算法</a:t>
            </a:r>
            <a:r>
              <a:rPr lang="en-US" altLang="zh-CN" sz="2400" b="1" dirty="0">
                <a:ea typeface="宋体" panose="02010600030101010101" pitchFamily="2" charset="-122"/>
              </a:rPr>
              <a:t>:</a:t>
            </a:r>
            <a:endParaRPr lang="en-US" altLang="zh-CN" sz="2400" b="1" dirty="0">
              <a:ea typeface="宋体" panose="02010600030101010101" pitchFamily="2" charset="-122"/>
            </a:endParaRPr>
          </a:p>
          <a:p>
            <a:pPr marL="0" indent="0" algn="l" eaLnBrk="1" hangingPunct="1">
              <a:lnSpc>
                <a:spcPct val="200000"/>
              </a:lnSpc>
              <a:buNone/>
            </a:pPr>
            <a:r>
              <a:rPr lang="en-US" altLang="zh-CN" sz="2400" b="1" dirty="0">
                <a:ea typeface="宋体" panose="02010600030101010101" pitchFamily="2" charset="-122"/>
              </a:rPr>
              <a:t>        </a:t>
            </a:r>
            <a:r>
              <a:rPr lang="zh-CN" altLang="en-US" sz="2400" b="1" dirty="0">
                <a:ea typeface="宋体" panose="02010600030101010101" pitchFamily="2" charset="-122"/>
              </a:rPr>
              <a:t>将时间划分为固定长度的再同步间隔</a:t>
            </a:r>
            <a:r>
              <a:rPr lang="en-US" altLang="zh-CN" sz="2400" b="1" dirty="0">
                <a:ea typeface="宋体" panose="02010600030101010101" pitchFamily="2" charset="-122"/>
              </a:rPr>
              <a:t>:</a:t>
            </a:r>
            <a:endParaRPr lang="en-US" altLang="zh-CN" sz="2400" b="1" dirty="0">
              <a:ea typeface="宋体" panose="02010600030101010101" pitchFamily="2" charset="-122"/>
            </a:endParaRPr>
          </a:p>
          <a:p>
            <a:pPr marL="0" indent="0" algn="l" eaLnBrk="1" hangingPunct="1">
              <a:lnSpc>
                <a:spcPct val="200000"/>
              </a:lnSpc>
              <a:buNone/>
            </a:pPr>
            <a:r>
              <a:rPr lang="en-US" altLang="zh-CN" sz="2400" b="1" dirty="0">
                <a:ea typeface="宋体" panose="02010600030101010101" pitchFamily="2" charset="-122"/>
              </a:rPr>
              <a:t>                          (T0+iR, T0+(i+1)R)</a:t>
            </a:r>
            <a:endParaRPr lang="en-US" altLang="zh-CN" sz="2400" b="1" dirty="0">
              <a:ea typeface="宋体" panose="02010600030101010101" pitchFamily="2" charset="-122"/>
            </a:endParaRPr>
          </a:p>
          <a:p>
            <a:pPr marL="0" indent="0" algn="l" eaLnBrk="1" hangingPunct="1">
              <a:lnSpc>
                <a:spcPct val="200000"/>
              </a:lnSpc>
              <a:buNone/>
            </a:pPr>
            <a:r>
              <a:rPr lang="zh-CN" altLang="en-US" sz="2400" b="1" dirty="0">
                <a:ea typeface="宋体" panose="02010600030101010101" pitchFamily="2" charset="-122"/>
              </a:rPr>
              <a:t>        在每次间隔开始处，每台机器广播当前时钟，并在时间间隔</a:t>
            </a:r>
            <a:r>
              <a:rPr lang="en-US" altLang="zh-CN" sz="2400" b="1" dirty="0">
                <a:ea typeface="宋体" panose="02010600030101010101" pitchFamily="2" charset="-122"/>
              </a:rPr>
              <a:t>S</a:t>
            </a:r>
            <a:r>
              <a:rPr lang="zh-CN" altLang="en-US" sz="2400" b="1" dirty="0">
                <a:ea typeface="宋体" panose="02010600030101010101" pitchFamily="2" charset="-122"/>
              </a:rPr>
              <a:t>内接收到达的其他广播，计算平均值作为当前时间</a:t>
            </a:r>
            <a:r>
              <a:rPr lang="en-US" altLang="zh-CN" sz="2400" b="1" dirty="0">
                <a:ea typeface="宋体" panose="02010600030101010101" pitchFamily="2" charset="-122"/>
              </a:rPr>
              <a:t>.</a:t>
            </a:r>
            <a:endParaRPr lang="en-US" altLang="zh-CN" sz="2400" b="1" dirty="0">
              <a:ea typeface="宋体" panose="0201060003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2"/>
          <p:cNvSpPr>
            <a:spLocks noGrp="1"/>
          </p:cNvSpPr>
          <p:nvPr>
            <p:ph type="title"/>
          </p:nvPr>
        </p:nvSpPr>
        <p:spPr>
          <a:xfrm>
            <a:off x="0" y="0"/>
            <a:ext cx="9144000" cy="531813"/>
          </a:xfrm>
          <a:ln/>
        </p:spPr>
        <p:txBody>
          <a:bodyPr vert="horz" wrap="square" lIns="91440" tIns="45720" rIns="91440" bIns="45720" anchor="ctr" anchorCtr="0"/>
          <a:p>
            <a:pPr eaLnBrk="1" hangingPunct="1"/>
            <a:r>
              <a:rPr lang="en-US" altLang="zh-CN" dirty="0">
                <a:ea typeface="宋体" panose="02010600030101010101" pitchFamily="2" charset="-122"/>
              </a:rPr>
              <a:t>Logical Clock</a:t>
            </a:r>
            <a:endParaRPr lang="en-US" altLang="zh-CN" dirty="0">
              <a:ea typeface="宋体" panose="02010600030101010101" pitchFamily="2" charset="-122"/>
            </a:endParaRPr>
          </a:p>
        </p:txBody>
      </p:sp>
      <p:sp>
        <p:nvSpPr>
          <p:cNvPr id="21507" name="Rectangle 6"/>
          <p:cNvSpPr/>
          <p:nvPr/>
        </p:nvSpPr>
        <p:spPr>
          <a:xfrm>
            <a:off x="349250" y="728663"/>
            <a:ext cx="8632825" cy="1285875"/>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lnSpc>
                <a:spcPct val="150000"/>
              </a:lnSpc>
              <a:spcBef>
                <a:spcPct val="0"/>
              </a:spcBef>
              <a:buClrTx/>
              <a:buFont typeface="Wingdings" panose="05000000000000000000" pitchFamily="2" charset="2"/>
              <a:buChar char="u"/>
            </a:pPr>
            <a:r>
              <a:rPr lang="zh-CN" altLang="en-US" sz="1800" b="1" dirty="0">
                <a:ea typeface="宋体" panose="02010600030101010101" pitchFamily="2" charset="-122"/>
              </a:rPr>
              <a:t>逻辑时钟：对多数应用只要所有机器在同一时间上达到一致就足够了，是否一定要与物理时间一致不重要。比如对</a:t>
            </a:r>
            <a:r>
              <a:rPr lang="en-US" altLang="zh-CN" sz="1800" b="1" dirty="0">
                <a:ea typeface="宋体" panose="02010600030101010101" pitchFamily="2" charset="-122"/>
              </a:rPr>
              <a:t>make</a:t>
            </a:r>
            <a:r>
              <a:rPr lang="zh-CN" altLang="en-US" sz="1800" b="1" dirty="0">
                <a:ea typeface="宋体" panose="02010600030101010101" pitchFamily="2" charset="-122"/>
              </a:rPr>
              <a:t>程序的运行，只要所有的机器都认为当前是10:00就可，而尽管当前的实际时间是10:02。为此，引入逻辑时钟（</a:t>
            </a:r>
            <a:r>
              <a:rPr lang="en-US" altLang="zh-CN" sz="1800" b="1" dirty="0">
                <a:ea typeface="宋体" panose="02010600030101010101" pitchFamily="2" charset="-122"/>
              </a:rPr>
              <a:t>logical clock）。</a:t>
            </a:r>
            <a:endParaRPr lang="zh-CN" altLang="en-US" sz="1800" b="1" dirty="0">
              <a:ea typeface="宋体" panose="02010600030101010101" pitchFamily="2" charset="-122"/>
            </a:endParaRPr>
          </a:p>
        </p:txBody>
      </p:sp>
      <p:sp>
        <p:nvSpPr>
          <p:cNvPr id="4" name="Rectangle 3"/>
          <p:cNvSpPr txBox="1">
            <a:spLocks noChangeArrowheads="1"/>
          </p:cNvSpPr>
          <p:nvPr/>
        </p:nvSpPr>
        <p:spPr bwMode="auto">
          <a:xfrm>
            <a:off x="0" y="2211388"/>
            <a:ext cx="8940800" cy="3749675"/>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77825" marR="0" lvl="0" indent="0" algn="just" defTabSz="914400" rtl="0" eaLnBrk="1" fontAlgn="base" latinLnBrk="0" hangingPunct="1">
              <a:lnSpc>
                <a:spcPct val="150000"/>
              </a:lnSpc>
              <a:spcBef>
                <a:spcPct val="20000"/>
              </a:spcBef>
              <a:spcAft>
                <a:spcPct val="0"/>
              </a:spcAft>
              <a:buClr>
                <a:schemeClr val="accent2"/>
              </a:buClr>
              <a:buSzTx/>
              <a:buFontTx/>
              <a:buNone/>
              <a:defRPr/>
            </a:pPr>
            <a:r>
              <a:rPr kumimoji="0" lang="en-US" altLang="zh-CN" sz="1800" b="0"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Lamport</a:t>
            </a: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1978年提出了基于逻辑时钟的时间戳算法，用于分布式系统。其思想是用因果关系来描述进程事件发生的顺序。</a:t>
            </a:r>
            <a:endPar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77825" marR="0" lvl="0" indent="0" algn="just" defTabSz="914400" rtl="0" eaLnBrk="1" fontAlgn="base" latinLnBrk="0" hangingPunct="1">
              <a:lnSpc>
                <a:spcPct val="150000"/>
              </a:lnSpc>
              <a:spcBef>
                <a:spcPct val="20000"/>
              </a:spcBef>
              <a:spcAft>
                <a:spcPct val="0"/>
              </a:spcAft>
              <a:buClr>
                <a:schemeClr val="accent2"/>
              </a:buClr>
              <a:buSzTx/>
              <a:buFontTx/>
              <a:buNone/>
              <a:defRPr/>
            </a:pPr>
            <a:r>
              <a:rPr kumimoji="0" lang="zh-CN" altLang="en-US" sz="18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1、事件定序关系</a:t>
            </a:r>
            <a:endPar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77825" marR="0" lvl="0" indent="0" algn="just" defTabSz="914400" rtl="0" eaLnBrk="1" fontAlgn="base" latinLnBrk="0" hangingPunct="1">
              <a:lnSpc>
                <a:spcPct val="150000"/>
              </a:lnSpc>
              <a:spcBef>
                <a:spcPct val="20000"/>
              </a:spcBef>
              <a:spcAft>
                <a:spcPct val="0"/>
              </a:spcAft>
              <a:buClr>
                <a:schemeClr val="accent2"/>
              </a:buClr>
              <a:buSzTx/>
              <a:buFontTx/>
              <a:buNone/>
              <a:defRPr/>
            </a:pPr>
            <a:r>
              <a:rPr kumimoji="0" lang="en-US" altLang="zh-CN" sz="1800" b="0"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Lamport</a:t>
            </a: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提出了</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HB(Happen-Before)</a:t>
            </a: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关系。对于事件</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en-US" altLang="zh-CN" sz="1800" b="0" i="0" u="none" strike="noStrike" kern="0" cap="none" spc="0" normalizeH="0" baseline="-30000" noProof="0" dirty="0">
                <a:ln>
                  <a:noFill/>
                </a:ln>
                <a:solidFill>
                  <a:schemeClr val="tx1"/>
                </a:solidFill>
                <a:effectLst/>
                <a:uLnTx/>
                <a:uFillTx/>
                <a:latin typeface="+mn-lt"/>
                <a:ea typeface="宋体" panose="02010600030101010101" pitchFamily="2" charset="-122"/>
                <a:cs typeface="+mn-cs"/>
              </a:rPr>
              <a:t>1</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en-US" altLang="zh-CN" sz="1800" b="0" i="0" u="none" strike="noStrike" kern="0" cap="none" spc="0" normalizeH="0" baseline="-30000" noProof="0" dirty="0">
                <a:ln>
                  <a:noFill/>
                </a:ln>
                <a:solidFill>
                  <a:schemeClr val="tx1"/>
                </a:solidFill>
                <a:effectLst/>
                <a:uLnTx/>
                <a:uFillTx/>
                <a:latin typeface="+mn-lt"/>
                <a:ea typeface="宋体" panose="02010600030101010101" pitchFamily="2" charset="-122"/>
                <a:cs typeface="+mn-cs"/>
              </a:rPr>
              <a:t>2</a:t>
            </a:r>
            <a:endPar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77825" marR="0" lvl="0" indent="0" algn="just" defTabSz="914400" rtl="0" eaLnBrk="1" fontAlgn="base" latinLnBrk="0" hangingPunct="1">
              <a:lnSpc>
                <a:spcPct val="150000"/>
              </a:lnSpc>
              <a:spcBef>
                <a:spcPct val="20000"/>
              </a:spcBef>
              <a:spcAft>
                <a:spcPct val="0"/>
              </a:spcAft>
              <a:buClr>
                <a:schemeClr val="accent2"/>
              </a:buClr>
              <a:buSzTx/>
              <a:buFontTx/>
              <a:buNone/>
              <a:defRPr/>
            </a:pP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① </a:t>
            </a: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如果存在进程</a:t>
            </a:r>
            <a:r>
              <a:rPr kumimoji="0" lang="en-US" altLang="zh-CN" sz="1800" b="0"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p，p</a:t>
            </a: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包含</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en-US" altLang="zh-CN" sz="1800" b="0" i="0" u="none" strike="noStrike" kern="0" cap="none" spc="0" normalizeH="0" baseline="-30000" noProof="0" dirty="0">
                <a:ln>
                  <a:noFill/>
                </a:ln>
                <a:solidFill>
                  <a:schemeClr val="tx1"/>
                </a:solidFill>
                <a:effectLst/>
                <a:uLnTx/>
                <a:uFillTx/>
                <a:latin typeface="+mn-lt"/>
                <a:ea typeface="宋体" panose="02010600030101010101" pitchFamily="2" charset="-122"/>
                <a:cs typeface="+mn-cs"/>
              </a:rPr>
              <a:t>1</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en-US" altLang="zh-CN" sz="1800" b="0" i="0" u="none" strike="noStrike" kern="0" cap="none" spc="0" normalizeH="0" baseline="-30000" noProof="0" dirty="0">
                <a:ln>
                  <a:noFill/>
                </a:ln>
                <a:solidFill>
                  <a:schemeClr val="tx1"/>
                </a:solidFill>
                <a:effectLst/>
                <a:uLnTx/>
                <a:uFillTx/>
                <a:latin typeface="+mn-lt"/>
                <a:ea typeface="宋体" panose="02010600030101010101" pitchFamily="2" charset="-122"/>
                <a:cs typeface="+mn-cs"/>
              </a:rPr>
              <a:t>2</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且</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en-US" altLang="zh-CN" sz="1800" b="0" i="0" u="none" strike="noStrike" kern="0" cap="none" spc="0" normalizeH="0" baseline="-30000" noProof="0" dirty="0">
                <a:ln>
                  <a:noFill/>
                </a:ln>
                <a:solidFill>
                  <a:schemeClr val="tx1"/>
                </a:solidFill>
                <a:effectLst/>
                <a:uLnTx/>
                <a:uFillTx/>
                <a:latin typeface="+mn-lt"/>
                <a:ea typeface="宋体" panose="02010600030101010101" pitchFamily="2" charset="-122"/>
                <a:cs typeface="+mn-cs"/>
              </a:rPr>
              <a:t>1</a:t>
            </a: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在</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en-US" altLang="zh-CN" sz="1800" b="0" i="0" u="none" strike="noStrike" kern="0" cap="none" spc="0" normalizeH="0" baseline="-30000" noProof="0" dirty="0">
                <a:ln>
                  <a:noFill/>
                </a:ln>
                <a:solidFill>
                  <a:schemeClr val="tx1"/>
                </a:solidFill>
                <a:effectLst/>
                <a:uLnTx/>
                <a:uFillTx/>
                <a:latin typeface="+mn-lt"/>
                <a:ea typeface="宋体" panose="02010600030101010101" pitchFamily="2" charset="-122"/>
                <a:cs typeface="+mn-cs"/>
              </a:rPr>
              <a:t>2</a:t>
            </a: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前发生，则 </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en-US" altLang="zh-CN" sz="1800" b="0" i="0" u="none" strike="noStrike" kern="0" cap="none" spc="0" normalizeH="0" baseline="-30000" noProof="0" dirty="0">
                <a:ln>
                  <a:noFill/>
                </a:ln>
                <a:solidFill>
                  <a:schemeClr val="tx1"/>
                </a:solidFill>
                <a:effectLst/>
                <a:uLnTx/>
                <a:uFillTx/>
                <a:latin typeface="+mn-lt"/>
                <a:ea typeface="宋体" panose="02010600030101010101" pitchFamily="2" charset="-122"/>
                <a:cs typeface="+mn-cs"/>
              </a:rPr>
              <a:t>1</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sym typeface="Symbol" panose="05050102010706020507" pitchFamily="18" charset="2"/>
              </a:rPr>
              <a:t></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e</a:t>
            </a:r>
            <a:r>
              <a:rPr kumimoji="0" lang="en-US" altLang="zh-CN" sz="1800" b="0" i="0" u="none" strike="noStrike" kern="0" cap="none" spc="0" normalizeH="0" baseline="-30000" noProof="0" dirty="0">
                <a:ln>
                  <a:noFill/>
                </a:ln>
                <a:solidFill>
                  <a:schemeClr val="tx1"/>
                </a:solidFill>
                <a:effectLst/>
                <a:uLnTx/>
                <a:uFillTx/>
                <a:latin typeface="+mn-lt"/>
                <a:ea typeface="宋体" panose="02010600030101010101" pitchFamily="2" charset="-122"/>
                <a:cs typeface="+mn-cs"/>
              </a:rPr>
              <a:t>2</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77825" marR="0" lvl="0" indent="0" algn="just" defTabSz="914400" rtl="0" eaLnBrk="1" fontAlgn="base" latinLnBrk="0" hangingPunct="1">
              <a:lnSpc>
                <a:spcPct val="150000"/>
              </a:lnSpc>
              <a:spcBef>
                <a:spcPct val="20000"/>
              </a:spcBef>
              <a:spcAft>
                <a:spcPct val="0"/>
              </a:spcAft>
              <a:buClr>
                <a:schemeClr val="accent2"/>
              </a:buClr>
              <a:buSzTx/>
              <a:buFontTx/>
              <a:buNone/>
              <a:defRPr/>
            </a:pP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② </a:t>
            </a: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如果存在消息</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m，e</a:t>
            </a:r>
            <a:r>
              <a:rPr kumimoji="0" lang="en-US" altLang="zh-CN" sz="1800" b="0" i="0" u="none" strike="noStrike" kern="0" cap="none" spc="0" normalizeH="0" baseline="-30000" noProof="0" dirty="0">
                <a:ln>
                  <a:noFill/>
                </a:ln>
                <a:solidFill>
                  <a:schemeClr val="tx1"/>
                </a:solidFill>
                <a:effectLst/>
                <a:uLnTx/>
                <a:uFillTx/>
                <a:latin typeface="+mn-lt"/>
                <a:ea typeface="宋体" panose="02010600030101010101" pitchFamily="2" charset="-122"/>
                <a:cs typeface="+mn-cs"/>
              </a:rPr>
              <a:t>1</a:t>
            </a: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为</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Send(m)，e</a:t>
            </a:r>
            <a:r>
              <a:rPr kumimoji="0" lang="en-US" altLang="zh-CN" sz="1800" b="0" i="0" u="none" strike="noStrike" kern="0" cap="none" spc="0" normalizeH="0" baseline="-30000" noProof="0" dirty="0">
                <a:ln>
                  <a:noFill/>
                </a:ln>
                <a:solidFill>
                  <a:schemeClr val="tx1"/>
                </a:solidFill>
                <a:effectLst/>
                <a:uLnTx/>
                <a:uFillTx/>
                <a:latin typeface="+mn-lt"/>
                <a:ea typeface="宋体" panose="02010600030101010101" pitchFamily="2" charset="-122"/>
                <a:cs typeface="+mn-cs"/>
              </a:rPr>
              <a:t>2</a:t>
            </a: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为</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Receive(m)，</a:t>
            </a: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则</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en-US" altLang="zh-CN" sz="1800" b="0" i="0" u="none" strike="noStrike" kern="0" cap="none" spc="0" normalizeH="0" baseline="-30000" noProof="0" dirty="0">
                <a:ln>
                  <a:noFill/>
                </a:ln>
                <a:solidFill>
                  <a:schemeClr val="tx1"/>
                </a:solidFill>
                <a:effectLst/>
                <a:uLnTx/>
                <a:uFillTx/>
                <a:latin typeface="+mn-lt"/>
                <a:ea typeface="宋体" panose="02010600030101010101" pitchFamily="2" charset="-122"/>
                <a:cs typeface="+mn-cs"/>
              </a:rPr>
              <a:t>1</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sym typeface="Symbol" panose="05050102010706020507" pitchFamily="18" charset="2"/>
              </a:rPr>
              <a:t></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e</a:t>
            </a:r>
            <a:r>
              <a:rPr kumimoji="0" lang="en-US" altLang="zh-CN" sz="1800" b="0" i="0" u="none" strike="noStrike" kern="0" cap="none" spc="0" normalizeH="0" baseline="-30000" noProof="0" dirty="0">
                <a:ln>
                  <a:noFill/>
                </a:ln>
                <a:solidFill>
                  <a:schemeClr val="tx1"/>
                </a:solidFill>
                <a:effectLst/>
                <a:uLnTx/>
                <a:uFillTx/>
                <a:latin typeface="+mn-lt"/>
                <a:ea typeface="宋体" panose="02010600030101010101" pitchFamily="2" charset="-122"/>
                <a:cs typeface="+mn-cs"/>
              </a:rPr>
              <a:t>2</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77825" marR="0" lvl="0" indent="0" algn="just" defTabSz="914400" rtl="0" eaLnBrk="1" fontAlgn="base" latinLnBrk="0" hangingPunct="1">
              <a:lnSpc>
                <a:spcPct val="150000"/>
              </a:lnSpc>
              <a:spcBef>
                <a:spcPct val="20000"/>
              </a:spcBef>
              <a:spcAft>
                <a:spcPct val="0"/>
              </a:spcAft>
              <a:buClr>
                <a:schemeClr val="accent2"/>
              </a:buClr>
              <a:buSzTx/>
              <a:buFontTx/>
              <a:buNone/>
              <a:defRPr/>
            </a:pP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③ </a:t>
            </a: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如果</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en-US" altLang="zh-CN" sz="1800" b="0" i="0" u="none" strike="noStrike" kern="0" cap="none" spc="0" normalizeH="0" baseline="-30000" noProof="0" dirty="0">
                <a:ln>
                  <a:noFill/>
                </a:ln>
                <a:solidFill>
                  <a:schemeClr val="tx1"/>
                </a:solidFill>
                <a:effectLst/>
                <a:uLnTx/>
                <a:uFillTx/>
                <a:latin typeface="+mn-lt"/>
                <a:ea typeface="宋体" panose="02010600030101010101" pitchFamily="2" charset="-122"/>
                <a:cs typeface="+mn-cs"/>
              </a:rPr>
              <a:t>1</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sym typeface="Symbol" panose="05050102010706020507" pitchFamily="18" charset="2"/>
              </a:rPr>
              <a:t></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e</a:t>
            </a:r>
            <a:r>
              <a:rPr kumimoji="0" lang="en-US" altLang="zh-CN" sz="1800" b="0" i="0" u="none" strike="noStrike" kern="0" cap="none" spc="0" normalizeH="0" baseline="-30000" noProof="0" dirty="0">
                <a:ln>
                  <a:noFill/>
                </a:ln>
                <a:solidFill>
                  <a:schemeClr val="tx1"/>
                </a:solidFill>
                <a:effectLst/>
                <a:uLnTx/>
                <a:uFillTx/>
                <a:latin typeface="+mn-lt"/>
                <a:ea typeface="宋体" panose="02010600030101010101" pitchFamily="2" charset="-122"/>
                <a:cs typeface="+mn-cs"/>
              </a:rPr>
              <a:t>2</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&amp;e</a:t>
            </a:r>
            <a:r>
              <a:rPr kumimoji="0" lang="en-US" altLang="zh-CN" sz="1800" b="0" i="0" u="none" strike="noStrike" kern="0" cap="none" spc="0" normalizeH="0" baseline="-30000" noProof="0" dirty="0">
                <a:ln>
                  <a:noFill/>
                </a:ln>
                <a:solidFill>
                  <a:schemeClr val="tx1"/>
                </a:solidFill>
                <a:effectLst/>
                <a:uLnTx/>
                <a:uFillTx/>
                <a:latin typeface="+mn-lt"/>
                <a:ea typeface="宋体" panose="02010600030101010101" pitchFamily="2" charset="-122"/>
                <a:cs typeface="+mn-cs"/>
              </a:rPr>
              <a:t>2</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sym typeface="Symbol" panose="05050102010706020507" pitchFamily="18" charset="2"/>
              </a:rPr>
              <a:t></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e</a:t>
            </a:r>
            <a:r>
              <a:rPr kumimoji="0" lang="en-US" altLang="zh-CN" sz="1800" b="0" i="0" u="none" strike="noStrike" kern="0" cap="none" spc="0" normalizeH="0" baseline="-30000" noProof="0" dirty="0">
                <a:ln>
                  <a:noFill/>
                </a:ln>
                <a:solidFill>
                  <a:schemeClr val="tx1"/>
                </a:solidFill>
                <a:effectLst/>
                <a:uLnTx/>
                <a:uFillTx/>
                <a:latin typeface="+mn-lt"/>
                <a:ea typeface="宋体" panose="02010600030101010101" pitchFamily="2" charset="-122"/>
                <a:cs typeface="+mn-cs"/>
              </a:rPr>
              <a:t>3</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则</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en-US" altLang="zh-CN" sz="1800" b="0" i="0" u="none" strike="noStrike" kern="0" cap="none" spc="0" normalizeH="0" baseline="-30000" noProof="0" dirty="0">
                <a:ln>
                  <a:noFill/>
                </a:ln>
                <a:solidFill>
                  <a:schemeClr val="tx1"/>
                </a:solidFill>
                <a:effectLst/>
                <a:uLnTx/>
                <a:uFillTx/>
                <a:latin typeface="+mn-lt"/>
                <a:ea typeface="宋体" panose="02010600030101010101" pitchFamily="2" charset="-122"/>
                <a:cs typeface="+mn-cs"/>
              </a:rPr>
              <a:t>1</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sym typeface="Symbol" panose="05050102010706020507" pitchFamily="18" charset="2"/>
              </a:rPr>
              <a:t></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e</a:t>
            </a:r>
            <a:r>
              <a:rPr kumimoji="0" lang="en-US" altLang="zh-CN" sz="1800" b="0" i="0" u="none" strike="noStrike" kern="0" cap="none" spc="0" normalizeH="0" baseline="-30000" noProof="0" dirty="0">
                <a:ln>
                  <a:noFill/>
                </a:ln>
                <a:solidFill>
                  <a:schemeClr val="tx1"/>
                </a:solidFill>
                <a:effectLst/>
                <a:uLnTx/>
                <a:uFillTx/>
                <a:latin typeface="+mn-lt"/>
                <a:ea typeface="宋体" panose="02010600030101010101" pitchFamily="2" charset="-122"/>
                <a:cs typeface="+mn-cs"/>
              </a:rPr>
              <a:t>3</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77825" marR="0" lvl="0" indent="0" algn="just" defTabSz="914400" rtl="0" eaLnBrk="1" fontAlgn="base" latinLnBrk="0" hangingPunct="1">
              <a:lnSpc>
                <a:spcPct val="150000"/>
              </a:lnSpc>
              <a:spcBef>
                <a:spcPct val="20000"/>
              </a:spcBef>
              <a:spcAft>
                <a:spcPct val="0"/>
              </a:spcAft>
              <a:buClr>
                <a:schemeClr val="accent2"/>
              </a:buClr>
              <a:buSzTx/>
              <a:buFontTx/>
              <a:buNone/>
              <a:defRPr/>
            </a:pP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④ </a:t>
            </a: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如果</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en-US" altLang="zh-CN" sz="1800" b="0" i="0" u="none" strike="noStrike" kern="0" cap="none" spc="0" normalizeH="0" baseline="-30000" noProof="0" dirty="0">
                <a:ln>
                  <a:noFill/>
                </a:ln>
                <a:solidFill>
                  <a:schemeClr val="tx1"/>
                </a:solidFill>
                <a:effectLst/>
                <a:uLnTx/>
                <a:uFillTx/>
                <a:latin typeface="+mn-lt"/>
                <a:ea typeface="宋体" panose="02010600030101010101" pitchFamily="2" charset="-122"/>
                <a:cs typeface="+mn-cs"/>
              </a:rPr>
              <a:t>1</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sym typeface="Symbol" panose="05050102010706020507" pitchFamily="18" charset="2"/>
              </a:rPr>
              <a:t></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e</a:t>
            </a:r>
            <a:r>
              <a:rPr kumimoji="0" lang="en-US" altLang="zh-CN" sz="1800" b="0" i="0" u="none" strike="noStrike" kern="0" cap="none" spc="0" normalizeH="0" baseline="-30000" noProof="0" dirty="0">
                <a:ln>
                  <a:noFill/>
                </a:ln>
                <a:solidFill>
                  <a:schemeClr val="tx1"/>
                </a:solidFill>
                <a:effectLst/>
                <a:uLnTx/>
                <a:uFillTx/>
                <a:latin typeface="+mn-lt"/>
                <a:ea typeface="宋体" panose="02010600030101010101" pitchFamily="2" charset="-122"/>
                <a:cs typeface="+mn-cs"/>
              </a:rPr>
              <a:t>2</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en-US" altLang="zh-CN" sz="1800" b="0" i="0" u="none" strike="noStrike" kern="0" cap="none" spc="0" normalizeH="0" baseline="-30000" noProof="0" dirty="0">
                <a:ln>
                  <a:noFill/>
                </a:ln>
                <a:solidFill>
                  <a:schemeClr val="tx1"/>
                </a:solidFill>
                <a:effectLst/>
                <a:uLnTx/>
                <a:uFillTx/>
                <a:latin typeface="+mn-lt"/>
                <a:ea typeface="宋体" panose="02010600030101010101" pitchFamily="2" charset="-122"/>
                <a:cs typeface="+mn-cs"/>
              </a:rPr>
              <a:t>2</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sym typeface="Symbol" panose="05050102010706020507" pitchFamily="18" charset="2"/>
              </a:rPr>
              <a:t></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e</a:t>
            </a:r>
            <a:r>
              <a:rPr kumimoji="0" lang="en-US" altLang="zh-CN" sz="1800" b="0" i="0" u="none" strike="noStrike" kern="0" cap="none" spc="0" normalizeH="0" baseline="-30000" noProof="0" dirty="0">
                <a:ln>
                  <a:noFill/>
                </a:ln>
                <a:solidFill>
                  <a:schemeClr val="tx1"/>
                </a:solidFill>
                <a:effectLst/>
                <a:uLnTx/>
                <a:uFillTx/>
                <a:latin typeface="+mn-lt"/>
                <a:ea typeface="宋体" panose="02010600030101010101" pitchFamily="2" charset="-122"/>
                <a:cs typeface="+mn-cs"/>
              </a:rPr>
              <a:t>1</a:t>
            </a: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均不成立，则</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en-US" altLang="zh-CN" sz="1800" b="0" i="0" u="none" strike="noStrike" kern="0" cap="none" spc="0" normalizeH="0" baseline="-30000" noProof="0" dirty="0">
                <a:ln>
                  <a:noFill/>
                </a:ln>
                <a:solidFill>
                  <a:schemeClr val="tx1"/>
                </a:solidFill>
                <a:effectLst/>
                <a:uLnTx/>
                <a:uFillTx/>
                <a:latin typeface="+mn-lt"/>
                <a:ea typeface="宋体" panose="02010600030101010101" pitchFamily="2" charset="-122"/>
                <a:cs typeface="+mn-cs"/>
              </a:rPr>
              <a:t>1</a:t>
            </a: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和</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en-US" altLang="zh-CN" sz="1800" b="0" i="0" u="none" strike="noStrike" kern="0" cap="none" spc="0" normalizeH="0" baseline="-30000" noProof="0" dirty="0">
                <a:ln>
                  <a:noFill/>
                </a:ln>
                <a:solidFill>
                  <a:schemeClr val="tx1"/>
                </a:solidFill>
                <a:effectLst/>
                <a:uLnTx/>
                <a:uFillTx/>
                <a:latin typeface="+mn-lt"/>
                <a:ea typeface="宋体" panose="02010600030101010101" pitchFamily="2" charset="-122"/>
                <a:cs typeface="+mn-cs"/>
              </a:rPr>
              <a:t>2</a:t>
            </a: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可以并发：</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en-US" altLang="zh-CN" sz="1800" b="0" i="0" u="none" strike="noStrike" kern="0" cap="none" spc="0" normalizeH="0" baseline="-30000" noProof="0" dirty="0">
                <a:ln>
                  <a:noFill/>
                </a:ln>
                <a:solidFill>
                  <a:schemeClr val="tx1"/>
                </a:solidFill>
                <a:effectLst/>
                <a:uLnTx/>
                <a:uFillTx/>
                <a:latin typeface="+mn-lt"/>
                <a:ea typeface="宋体" panose="02010600030101010101" pitchFamily="2" charset="-122"/>
                <a:cs typeface="+mn-cs"/>
              </a:rPr>
              <a:t>1</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en-US" altLang="zh-CN" sz="1800" b="0" i="0" u="none" strike="noStrike" kern="0" cap="none" spc="0" normalizeH="0" baseline="-30000" noProof="0" dirty="0">
                <a:ln>
                  <a:noFill/>
                </a:ln>
                <a:solidFill>
                  <a:schemeClr val="tx1"/>
                </a:solidFill>
                <a:effectLst/>
                <a:uLnTx/>
                <a:uFillTx/>
                <a:latin typeface="+mn-lt"/>
                <a:ea typeface="宋体" panose="02010600030101010101" pitchFamily="2" charset="-122"/>
                <a:cs typeface="+mn-cs"/>
              </a:rPr>
              <a:t>2</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endPar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2"/>
          <p:cNvSpPr>
            <a:spLocks noGrp="1"/>
          </p:cNvSpPr>
          <p:nvPr>
            <p:ph type="title"/>
          </p:nvPr>
        </p:nvSpPr>
        <p:spPr>
          <a:xfrm>
            <a:off x="0" y="0"/>
            <a:ext cx="9144000" cy="623888"/>
          </a:xfrm>
          <a:ln/>
        </p:spPr>
        <p:txBody>
          <a:bodyPr vert="horz" wrap="square" lIns="91440" tIns="45720" rIns="91440" bIns="45720" anchor="ctr" anchorCtr="0"/>
          <a:p>
            <a:pPr eaLnBrk="1" hangingPunct="1"/>
            <a:r>
              <a:rPr lang="en-US" altLang="zh-CN" dirty="0">
                <a:ea typeface="宋体" panose="02010600030101010101" pitchFamily="2" charset="-122"/>
              </a:rPr>
              <a:t>Lamport Timestamps</a:t>
            </a:r>
            <a:endParaRPr lang="en-US" altLang="zh-CN" dirty="0">
              <a:ea typeface="宋体" panose="02010600030101010101" pitchFamily="2" charset="-122"/>
            </a:endParaRPr>
          </a:p>
        </p:txBody>
      </p:sp>
      <p:sp>
        <p:nvSpPr>
          <p:cNvPr id="23555" name="Rectangle 3"/>
          <p:cNvSpPr>
            <a:spLocks noGrp="1"/>
          </p:cNvSpPr>
          <p:nvPr>
            <p:ph idx="1"/>
          </p:nvPr>
        </p:nvSpPr>
        <p:spPr>
          <a:xfrm>
            <a:off x="379413" y="623888"/>
            <a:ext cx="8202612" cy="2517775"/>
          </a:xfrm>
          <a:ln/>
        </p:spPr>
        <p:txBody>
          <a:bodyPr vert="horz" wrap="square" lIns="91440" tIns="45720" rIns="91440" bIns="45720" anchor="t" anchorCtr="0"/>
          <a:p>
            <a:pPr marL="377825" indent="-285750" algn="just" eaLnBrk="1" hangingPunct="1">
              <a:lnSpc>
                <a:spcPct val="150000"/>
              </a:lnSpc>
              <a:buNone/>
            </a:pPr>
            <a:r>
              <a:rPr lang="en-US" altLang="zh-CN" sz="1800" b="1" dirty="0">
                <a:ea typeface="宋体" panose="02010600030101010101" pitchFamily="2" charset="-122"/>
              </a:rPr>
              <a:t>2</a:t>
            </a:r>
            <a:r>
              <a:rPr lang="zh-CN" altLang="en-US" sz="1800" b="1" dirty="0">
                <a:ea typeface="宋体" panose="02010600030101010101" pitchFamily="2" charset="-122"/>
              </a:rPr>
              <a:t>、定义逻辑时钟的一种方法：</a:t>
            </a:r>
            <a:endParaRPr lang="zh-CN" altLang="en-US" sz="1800" b="1" dirty="0">
              <a:ea typeface="宋体" panose="02010600030101010101" pitchFamily="2" charset="-122"/>
            </a:endParaRPr>
          </a:p>
          <a:p>
            <a:pPr marL="377825" indent="-285750" algn="just" eaLnBrk="1" hangingPunct="1">
              <a:lnSpc>
                <a:spcPct val="150000"/>
              </a:lnSpc>
              <a:buNone/>
            </a:pPr>
            <a:r>
              <a:rPr lang="zh-CN" altLang="en-US" sz="1800" b="1" dirty="0">
                <a:ea typeface="宋体" panose="02010600030101010101" pitchFamily="2" charset="-122"/>
              </a:rPr>
              <a:t>     设每个进程</a:t>
            </a:r>
            <a:r>
              <a:rPr lang="en-US" altLang="zh-CN" sz="1800" b="1" dirty="0">
                <a:ea typeface="宋体" panose="02010600030101010101" pitchFamily="2" charset="-122"/>
              </a:rPr>
              <a:t>p</a:t>
            </a:r>
            <a:r>
              <a:rPr lang="zh-CN" altLang="en-US" sz="1800" b="1" dirty="0">
                <a:ea typeface="宋体" panose="02010600030101010101" pitchFamily="2" charset="-122"/>
              </a:rPr>
              <a:t>有一个逻辑时钟计数</a:t>
            </a:r>
            <a:r>
              <a:rPr lang="en-US" altLang="zh-CN" sz="1800" b="1" dirty="0">
                <a:ea typeface="宋体" panose="02010600030101010101" pitchFamily="2" charset="-122"/>
              </a:rPr>
              <a:t>T</a:t>
            </a:r>
            <a:r>
              <a:rPr lang="en-US" altLang="zh-CN" sz="1800" b="1" baseline="-30000" dirty="0">
                <a:ea typeface="宋体" panose="02010600030101010101" pitchFamily="2" charset="-122"/>
              </a:rPr>
              <a:t>p</a:t>
            </a:r>
            <a:r>
              <a:rPr lang="en-US" altLang="zh-CN" sz="1800" b="1" dirty="0">
                <a:ea typeface="宋体" panose="02010600030101010101" pitchFamily="2" charset="-122"/>
              </a:rPr>
              <a:t>，</a:t>
            </a:r>
            <a:r>
              <a:rPr lang="zh-CN" altLang="en-US" sz="1800" b="1" dirty="0">
                <a:ea typeface="宋体" panose="02010600030101010101" pitchFamily="2" charset="-122"/>
              </a:rPr>
              <a:t>则：</a:t>
            </a:r>
            <a:endParaRPr lang="zh-CN" altLang="en-US" sz="1800" b="1" dirty="0">
              <a:ea typeface="宋体" panose="02010600030101010101" pitchFamily="2" charset="-122"/>
            </a:endParaRPr>
          </a:p>
          <a:p>
            <a:pPr marL="377825" indent="-285750" algn="just" eaLnBrk="1" hangingPunct="1">
              <a:lnSpc>
                <a:spcPct val="150000"/>
              </a:lnSpc>
              <a:buNone/>
            </a:pPr>
            <a:r>
              <a:rPr lang="zh-CN" altLang="en-US" sz="1800" b="1" dirty="0">
                <a:ea typeface="宋体" panose="02010600030101010101" pitchFamily="2" charset="-122"/>
              </a:rPr>
              <a:t>     ①在进程</a:t>
            </a:r>
            <a:r>
              <a:rPr lang="en-US" altLang="zh-CN" sz="1800" b="1" dirty="0">
                <a:ea typeface="宋体" panose="02010600030101010101" pitchFamily="2" charset="-122"/>
              </a:rPr>
              <a:t>p</a:t>
            </a:r>
            <a:r>
              <a:rPr lang="zh-CN" altLang="en-US" sz="1800" b="1" dirty="0">
                <a:ea typeface="宋体" panose="02010600030101010101" pitchFamily="2" charset="-122"/>
              </a:rPr>
              <a:t>的一个事件发生前，执行</a:t>
            </a:r>
            <a:r>
              <a:rPr lang="en-US" altLang="zh-CN" sz="1800" b="1" dirty="0">
                <a:ea typeface="宋体" panose="02010600030101010101" pitchFamily="2" charset="-122"/>
              </a:rPr>
              <a:t>T</a:t>
            </a:r>
            <a:r>
              <a:rPr lang="en-US" altLang="zh-CN" sz="1800" b="1" baseline="-30000" dirty="0">
                <a:ea typeface="宋体" panose="02010600030101010101" pitchFamily="2" charset="-122"/>
              </a:rPr>
              <a:t>p</a:t>
            </a:r>
            <a:r>
              <a:rPr lang="en-US" altLang="zh-CN" sz="1800" b="1" dirty="0">
                <a:ea typeface="宋体" panose="02010600030101010101" pitchFamily="2" charset="-122"/>
              </a:rPr>
              <a:t>=T</a:t>
            </a:r>
            <a:r>
              <a:rPr lang="en-US" altLang="zh-CN" sz="1800" b="1" baseline="-30000" dirty="0">
                <a:ea typeface="宋体" panose="02010600030101010101" pitchFamily="2" charset="-122"/>
              </a:rPr>
              <a:t>p</a:t>
            </a:r>
            <a:r>
              <a:rPr lang="en-US" altLang="zh-CN" sz="1800" b="1" dirty="0">
                <a:ea typeface="宋体" panose="02010600030101010101" pitchFamily="2" charset="-122"/>
              </a:rPr>
              <a:t>+1；</a:t>
            </a:r>
            <a:endParaRPr lang="en-US" altLang="zh-CN" sz="1800" b="1" dirty="0">
              <a:ea typeface="宋体" panose="02010600030101010101" pitchFamily="2" charset="-122"/>
            </a:endParaRPr>
          </a:p>
          <a:p>
            <a:pPr marL="377825" indent="-285750" algn="just" eaLnBrk="1" hangingPunct="1">
              <a:lnSpc>
                <a:spcPct val="150000"/>
              </a:lnSpc>
              <a:buNone/>
            </a:pPr>
            <a:r>
              <a:rPr lang="en-US" altLang="zh-CN" sz="1800" b="1" dirty="0">
                <a:ea typeface="宋体" panose="02010600030101010101" pitchFamily="2" charset="-122"/>
              </a:rPr>
              <a:t>     ②</a:t>
            </a:r>
            <a:r>
              <a:rPr lang="zh-CN" altLang="en-US" sz="1800" b="1" dirty="0">
                <a:ea typeface="宋体" panose="02010600030101010101" pitchFamily="2" charset="-122"/>
              </a:rPr>
              <a:t>当进程</a:t>
            </a:r>
            <a:r>
              <a:rPr lang="en-US" altLang="zh-CN" sz="1800" b="1" dirty="0">
                <a:ea typeface="宋体" panose="02010600030101010101" pitchFamily="2" charset="-122"/>
              </a:rPr>
              <a:t>p</a:t>
            </a:r>
            <a:r>
              <a:rPr lang="zh-CN" altLang="en-US" sz="1800" b="1" dirty="0">
                <a:ea typeface="宋体" panose="02010600030101010101" pitchFamily="2" charset="-122"/>
              </a:rPr>
              <a:t>发送消息</a:t>
            </a:r>
            <a:r>
              <a:rPr lang="en-US" altLang="zh-CN" sz="1800" b="1" dirty="0">
                <a:ea typeface="宋体" panose="02010600030101010101" pitchFamily="2" charset="-122"/>
              </a:rPr>
              <a:t>m</a:t>
            </a:r>
            <a:r>
              <a:rPr lang="zh-CN" altLang="en-US" sz="1800" b="1" dirty="0">
                <a:ea typeface="宋体" panose="02010600030101010101" pitchFamily="2" charset="-122"/>
              </a:rPr>
              <a:t>时，在</a:t>
            </a:r>
            <a:r>
              <a:rPr lang="en-US" altLang="zh-CN" sz="1800" b="1" dirty="0">
                <a:ea typeface="宋体" panose="02010600030101010101" pitchFamily="2" charset="-122"/>
              </a:rPr>
              <a:t>m</a:t>
            </a:r>
            <a:r>
              <a:rPr lang="zh-CN" altLang="en-US" sz="1800" b="1" dirty="0">
                <a:ea typeface="宋体" panose="02010600030101010101" pitchFamily="2" charset="-122"/>
              </a:rPr>
              <a:t>上携带时钟值：(</a:t>
            </a:r>
            <a:r>
              <a:rPr lang="en-US" altLang="zh-CN" sz="1800" b="1" dirty="0">
                <a:ea typeface="宋体" panose="02010600030101010101" pitchFamily="2" charset="-122"/>
              </a:rPr>
              <a:t>m, T</a:t>
            </a:r>
            <a:r>
              <a:rPr lang="en-US" altLang="zh-CN" sz="1800" b="1" baseline="-30000" dirty="0">
                <a:ea typeface="宋体" panose="02010600030101010101" pitchFamily="2" charset="-122"/>
              </a:rPr>
              <a:t>p</a:t>
            </a:r>
            <a:r>
              <a:rPr lang="en-US" altLang="zh-CN" sz="1800" b="1" dirty="0">
                <a:ea typeface="宋体" panose="02010600030101010101" pitchFamily="2" charset="-122"/>
              </a:rPr>
              <a:t>)；</a:t>
            </a:r>
            <a:endParaRPr lang="en-US" altLang="zh-CN" sz="1800" b="1" dirty="0">
              <a:ea typeface="宋体" panose="02010600030101010101" pitchFamily="2" charset="-122"/>
            </a:endParaRPr>
          </a:p>
          <a:p>
            <a:pPr marL="377825" indent="-285750" algn="just" eaLnBrk="1" hangingPunct="1">
              <a:lnSpc>
                <a:spcPct val="150000"/>
              </a:lnSpc>
              <a:buNone/>
            </a:pPr>
            <a:r>
              <a:rPr lang="en-US" altLang="zh-CN" sz="1800" b="1" dirty="0">
                <a:ea typeface="宋体" panose="02010600030101010101" pitchFamily="2" charset="-122"/>
              </a:rPr>
              <a:t>     ③</a:t>
            </a:r>
            <a:r>
              <a:rPr lang="zh-CN" altLang="en-US" sz="1800" b="1" dirty="0">
                <a:ea typeface="宋体" panose="02010600030101010101" pitchFamily="2" charset="-122"/>
              </a:rPr>
              <a:t>当进程</a:t>
            </a:r>
            <a:r>
              <a:rPr lang="en-US" altLang="zh-CN" sz="1800" b="1" dirty="0">
                <a:ea typeface="宋体" panose="02010600030101010101" pitchFamily="2" charset="-122"/>
              </a:rPr>
              <a:t>q</a:t>
            </a:r>
            <a:r>
              <a:rPr lang="zh-CN" altLang="en-US" sz="1800" b="1" dirty="0">
                <a:ea typeface="宋体" panose="02010600030101010101" pitchFamily="2" charset="-122"/>
              </a:rPr>
              <a:t>接收消息(</a:t>
            </a:r>
            <a:r>
              <a:rPr lang="en-US" altLang="zh-CN" sz="1800" b="1" dirty="0">
                <a:ea typeface="宋体" panose="02010600030101010101" pitchFamily="2" charset="-122"/>
              </a:rPr>
              <a:t>m, T</a:t>
            </a:r>
            <a:r>
              <a:rPr lang="en-US" altLang="zh-CN" sz="1800" b="1" baseline="-30000" dirty="0">
                <a:ea typeface="宋体" panose="02010600030101010101" pitchFamily="2" charset="-122"/>
              </a:rPr>
              <a:t>p</a:t>
            </a:r>
            <a:r>
              <a:rPr lang="en-US" altLang="zh-CN" sz="1800" b="1" dirty="0">
                <a:ea typeface="宋体" panose="02010600030101010101" pitchFamily="2" charset="-122"/>
              </a:rPr>
              <a:t>)</a:t>
            </a:r>
            <a:r>
              <a:rPr lang="zh-CN" altLang="en-US" sz="1800" b="1" dirty="0">
                <a:ea typeface="宋体" panose="02010600030101010101" pitchFamily="2" charset="-122"/>
              </a:rPr>
              <a:t>时，取</a:t>
            </a:r>
            <a:r>
              <a:rPr lang="en-US" altLang="zh-CN" sz="1800" b="1" dirty="0">
                <a:ea typeface="宋体" panose="02010600030101010101" pitchFamily="2" charset="-122"/>
              </a:rPr>
              <a:t>T</a:t>
            </a:r>
            <a:r>
              <a:rPr lang="en-US" altLang="zh-CN" sz="1800" b="1" baseline="-30000" dirty="0">
                <a:ea typeface="宋体" panose="02010600030101010101" pitchFamily="2" charset="-122"/>
              </a:rPr>
              <a:t>q</a:t>
            </a:r>
            <a:r>
              <a:rPr lang="en-US" altLang="zh-CN" sz="1800" b="1" dirty="0">
                <a:ea typeface="宋体" panose="02010600030101010101" pitchFamily="2" charset="-122"/>
              </a:rPr>
              <a:t>=max{T</a:t>
            </a:r>
            <a:r>
              <a:rPr lang="en-US" altLang="zh-CN" sz="1800" b="1" baseline="-30000" dirty="0">
                <a:ea typeface="宋体" panose="02010600030101010101" pitchFamily="2" charset="-122"/>
              </a:rPr>
              <a:t>q</a:t>
            </a:r>
            <a:r>
              <a:rPr lang="en-US" altLang="zh-CN" sz="1800" b="1" dirty="0">
                <a:ea typeface="宋体" panose="02010600030101010101" pitchFamily="2" charset="-122"/>
              </a:rPr>
              <a:t>，T</a:t>
            </a:r>
            <a:r>
              <a:rPr lang="en-US" altLang="zh-CN" sz="1800" b="1" baseline="-30000" dirty="0">
                <a:ea typeface="宋体" panose="02010600030101010101" pitchFamily="2" charset="-122"/>
              </a:rPr>
              <a:t>p</a:t>
            </a:r>
            <a:r>
              <a:rPr lang="en-US" altLang="zh-CN" sz="1800" b="1" dirty="0">
                <a:ea typeface="宋体" panose="02010600030101010101" pitchFamily="2" charset="-122"/>
              </a:rPr>
              <a:t>}+1</a:t>
            </a:r>
            <a:endParaRPr lang="en-US" altLang="zh-CN" sz="1800" b="1" dirty="0">
              <a:ea typeface="宋体" panose="02010600030101010101" pitchFamily="2" charset="-122"/>
            </a:endParaRPr>
          </a:p>
        </p:txBody>
      </p:sp>
      <p:sp>
        <p:nvSpPr>
          <p:cNvPr id="4" name="Rectangle 3"/>
          <p:cNvSpPr txBox="1">
            <a:spLocks noChangeArrowheads="1"/>
          </p:cNvSpPr>
          <p:nvPr/>
        </p:nvSpPr>
        <p:spPr bwMode="auto">
          <a:xfrm>
            <a:off x="379413" y="3117850"/>
            <a:ext cx="8586788" cy="3363913"/>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77825" marR="0" lvl="0" indent="-285750" algn="just" defTabSz="914400" rtl="0" eaLnBrk="1" fontAlgn="base" latinLnBrk="0" hangingPunct="1">
              <a:lnSpc>
                <a:spcPct val="150000"/>
              </a:lnSpc>
              <a:spcBef>
                <a:spcPct val="20000"/>
              </a:spcBef>
              <a:spcAft>
                <a:spcPct val="0"/>
              </a:spcAft>
              <a:buClr>
                <a:schemeClr val="accent2"/>
              </a:buClr>
              <a:buSzTx/>
              <a:buFontTx/>
              <a:buNone/>
              <a:defRPr/>
            </a:pPr>
            <a:r>
              <a:rPr kumimoji="0" lang="zh-CN" altLang="en-US" sz="18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3、逻辑时钟排序与</a:t>
            </a:r>
            <a:r>
              <a:rPr kumimoji="0" lang="en-US" altLang="zh-CN" sz="1800" b="1" i="0" u="none" strike="noStrike" kern="0" cap="none" spc="0" normalizeH="0" baseline="0" noProof="0" dirty="0" err="1">
                <a:ln>
                  <a:noFill/>
                </a:ln>
                <a:solidFill>
                  <a:schemeClr val="tx1"/>
                </a:solidFill>
                <a:effectLst/>
                <a:uLnTx/>
                <a:uFillTx/>
                <a:latin typeface="+mn-lt"/>
                <a:ea typeface="黑体" panose="02010609060101010101" pitchFamily="49" charset="-122"/>
                <a:cs typeface="+mn-cs"/>
              </a:rPr>
              <a:t>HB（Happen</a:t>
            </a:r>
            <a:r>
              <a:rPr kumimoji="0" lang="en-US" altLang="zh-CN" sz="18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 Before）</a:t>
            </a:r>
            <a:r>
              <a:rPr kumimoji="0" lang="zh-CN" altLang="en-US" sz="18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的关系</a:t>
            </a:r>
            <a:endParaRPr kumimoji="0" lang="zh-CN" altLang="en-US" sz="1800" b="1" i="0" u="none" strike="noStrike" kern="0" cap="none" spc="0" normalizeH="0" baseline="0" noProof="0" dirty="0">
              <a:ln>
                <a:noFill/>
              </a:ln>
              <a:solidFill>
                <a:schemeClr val="tx1"/>
              </a:solidFill>
              <a:effectLst/>
              <a:uLnTx/>
              <a:uFillTx/>
              <a:latin typeface="+mn-lt"/>
              <a:ea typeface="黑体" panose="02010609060101010101" pitchFamily="49" charset="-122"/>
              <a:cs typeface="+mn-cs"/>
            </a:endParaRPr>
          </a:p>
          <a:p>
            <a:pPr marL="377825" marR="0" lvl="0" indent="-285750" algn="just" defTabSz="914400" rtl="0" eaLnBrk="1" fontAlgn="base" latinLnBrk="0" hangingPunct="1">
              <a:lnSpc>
                <a:spcPct val="150000"/>
              </a:lnSpc>
              <a:spcBef>
                <a:spcPct val="20000"/>
              </a:spcBef>
              <a:spcAft>
                <a:spcPct val="0"/>
              </a:spcAft>
              <a:buClr>
                <a:schemeClr val="accent2"/>
              </a:buClr>
              <a:buSzTx/>
              <a:buFontTx/>
              <a:buNone/>
              <a:defRPr/>
            </a:pP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①</a:t>
            </a: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Times New Roman" panose="02020603050405020304" pitchFamily="18" charset="0"/>
              </a:rPr>
              <a:t>  </a:t>
            </a: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如果</a:t>
            </a:r>
            <a:r>
              <a:rPr kumimoji="0" lang="en-US" altLang="zh-CN" sz="1800" b="0"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p</a:t>
            </a:r>
            <a:r>
              <a:rPr kumimoji="0" lang="en-US" altLang="zh-CN" sz="1800" b="0" i="0" u="none" strike="noStrike" kern="0" cap="none" spc="0" normalizeH="0" baseline="0" noProof="0" dirty="0" err="1">
                <a:ln>
                  <a:noFill/>
                </a:ln>
                <a:solidFill>
                  <a:schemeClr val="tx1"/>
                </a:solidFill>
                <a:effectLst/>
                <a:uLnTx/>
                <a:uFillTx/>
                <a:latin typeface="+mn-lt"/>
                <a:ea typeface="宋体" panose="02010600030101010101" pitchFamily="2" charset="-122"/>
                <a:cs typeface="+mn-cs"/>
                <a:sym typeface="Symbol" panose="05050102010706020507" pitchFamily="18" charset="2"/>
              </a:rPr>
              <a:t></a:t>
            </a:r>
            <a:r>
              <a:rPr kumimoji="0" lang="en-US" altLang="zh-CN" sz="1800" b="0"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q</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则</a:t>
            </a:r>
            <a:r>
              <a:rPr kumimoji="0" lang="en-US" altLang="zh-CN" sz="1800" b="0"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T</a:t>
            </a:r>
            <a:r>
              <a:rPr kumimoji="0" lang="en-US" altLang="zh-CN" sz="1800" b="0" i="0" u="none" strike="noStrike" kern="0" cap="none" spc="0" normalizeH="0" baseline="-30000" noProof="0" dirty="0" err="1">
                <a:ln>
                  <a:noFill/>
                </a:ln>
                <a:solidFill>
                  <a:schemeClr val="tx1"/>
                </a:solidFill>
                <a:effectLst/>
                <a:uLnTx/>
                <a:uFillTx/>
                <a:latin typeface="+mn-lt"/>
                <a:ea typeface="宋体" panose="02010600030101010101" pitchFamily="2" charset="-122"/>
                <a:cs typeface="+mn-cs"/>
              </a:rPr>
              <a:t>p</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&lt;</a:t>
            </a:r>
            <a:r>
              <a:rPr kumimoji="0" lang="en-US" altLang="zh-CN" sz="1800" b="0"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T</a:t>
            </a:r>
            <a:r>
              <a:rPr kumimoji="0" lang="en-US" altLang="zh-CN" sz="1800" b="0" i="0" u="none" strike="noStrike" kern="0" cap="none" spc="0" normalizeH="0" baseline="-30000" noProof="0" dirty="0" err="1">
                <a:ln>
                  <a:noFill/>
                </a:ln>
                <a:solidFill>
                  <a:schemeClr val="tx1"/>
                </a:solidFill>
                <a:effectLst/>
                <a:uLnTx/>
                <a:uFillTx/>
                <a:latin typeface="+mn-lt"/>
                <a:ea typeface="宋体" panose="02010600030101010101" pitchFamily="2" charset="-122"/>
                <a:cs typeface="+mn-cs"/>
              </a:rPr>
              <a:t>q</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77825" marR="0" lvl="0" indent="-285750" algn="just" defTabSz="914400" rtl="0" eaLnBrk="1" fontAlgn="base" latinLnBrk="0" hangingPunct="1">
              <a:lnSpc>
                <a:spcPct val="150000"/>
              </a:lnSpc>
              <a:spcBef>
                <a:spcPct val="20000"/>
              </a:spcBef>
              <a:spcAft>
                <a:spcPct val="0"/>
              </a:spcAft>
              <a:buClr>
                <a:schemeClr val="accent2"/>
              </a:buClr>
              <a:buSzTx/>
              <a:buFontTx/>
              <a:buNone/>
              <a:defRPr/>
            </a:pP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② </a:t>
            </a: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如果</a:t>
            </a:r>
            <a:r>
              <a:rPr kumimoji="0" lang="en-US" altLang="zh-CN" sz="1800" b="0"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T</a:t>
            </a:r>
            <a:r>
              <a:rPr kumimoji="0" lang="en-US" altLang="zh-CN" sz="1800" b="0" i="0" u="none" strike="noStrike" kern="0" cap="none" spc="0" normalizeH="0" baseline="-30000" noProof="0" dirty="0" err="1">
                <a:ln>
                  <a:noFill/>
                </a:ln>
                <a:solidFill>
                  <a:schemeClr val="tx1"/>
                </a:solidFill>
                <a:effectLst/>
                <a:uLnTx/>
                <a:uFillTx/>
                <a:latin typeface="+mn-lt"/>
                <a:ea typeface="宋体" panose="02010600030101010101" pitchFamily="2" charset="-122"/>
                <a:cs typeface="+mn-cs"/>
              </a:rPr>
              <a:t>p</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&lt;</a:t>
            </a:r>
            <a:r>
              <a:rPr kumimoji="0" lang="en-US" altLang="zh-CN" sz="1800" b="0"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T</a:t>
            </a:r>
            <a:r>
              <a:rPr kumimoji="0" lang="en-US" altLang="zh-CN" sz="1800" b="0" i="0" u="none" strike="noStrike" kern="0" cap="none" spc="0" normalizeH="0" baseline="-30000" noProof="0" dirty="0" err="1">
                <a:ln>
                  <a:noFill/>
                </a:ln>
                <a:solidFill>
                  <a:schemeClr val="tx1"/>
                </a:solidFill>
                <a:effectLst/>
                <a:uLnTx/>
                <a:uFillTx/>
                <a:latin typeface="+mn-lt"/>
                <a:ea typeface="宋体" panose="02010600030101010101" pitchFamily="2" charset="-122"/>
                <a:cs typeface="+mn-cs"/>
              </a:rPr>
              <a:t>q</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则</a:t>
            </a:r>
            <a:r>
              <a:rPr kumimoji="0" lang="en-US" altLang="zh-CN" sz="1800" b="0"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p</a:t>
            </a:r>
            <a:r>
              <a:rPr kumimoji="0" lang="en-US" altLang="zh-CN" sz="1800" b="0" i="0" u="none" strike="noStrike" kern="0" cap="none" spc="0" normalizeH="0" baseline="0" noProof="0" dirty="0" err="1">
                <a:ln>
                  <a:noFill/>
                </a:ln>
                <a:solidFill>
                  <a:schemeClr val="tx1"/>
                </a:solidFill>
                <a:effectLst/>
                <a:uLnTx/>
                <a:uFillTx/>
                <a:latin typeface="+mn-lt"/>
                <a:ea typeface="宋体" panose="02010600030101010101" pitchFamily="2" charset="-122"/>
                <a:cs typeface="+mn-cs"/>
                <a:sym typeface="Symbol" panose="05050102010706020507" pitchFamily="18" charset="2"/>
              </a:rPr>
              <a:t></a:t>
            </a:r>
            <a:r>
              <a:rPr kumimoji="0" lang="en-US" altLang="zh-CN" sz="1800" b="0"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q</a:t>
            </a: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不一定成立；可能有</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p||q。</a:t>
            </a:r>
            <a:endPar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77825" marR="0" lvl="0" indent="-285750" algn="just" defTabSz="914400" rtl="0" eaLnBrk="1" fontAlgn="base" latinLnBrk="0" hangingPunct="1">
              <a:lnSpc>
                <a:spcPct val="150000"/>
              </a:lnSpc>
              <a:spcBef>
                <a:spcPct val="20000"/>
              </a:spcBef>
              <a:spcAft>
                <a:spcPct val="0"/>
              </a:spcAft>
              <a:buClr>
                <a:schemeClr val="accent2"/>
              </a:buClr>
              <a:buSzTx/>
              <a:buFontTx/>
              <a:buNone/>
              <a:defRPr/>
            </a:pPr>
            <a:r>
              <a:rPr kumimoji="0" lang="en-US" altLang="zh-CN" sz="18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4、</a:t>
            </a:r>
            <a:r>
              <a:rPr kumimoji="0" lang="zh-CN" altLang="en-US" sz="18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逻辑时钟与事件全排序</a:t>
            </a:r>
            <a:endPar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77825" marR="0" lvl="0" indent="-285750" algn="just" defTabSz="914400" rtl="0" eaLnBrk="1" fontAlgn="base" latinLnBrk="0" hangingPunct="1">
              <a:lnSpc>
                <a:spcPct val="150000"/>
              </a:lnSpc>
              <a:spcBef>
                <a:spcPct val="20000"/>
              </a:spcBef>
              <a:spcAft>
                <a:spcPct val="0"/>
              </a:spcAft>
              <a:buClr>
                <a:schemeClr val="accent2"/>
              </a:buClr>
              <a:buSzTx/>
              <a:buFontTx/>
              <a:buNone/>
              <a:defRPr/>
            </a:pP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按照定义系统中不同的事件可能有相同的逻辑时间。为了获得全排序，考虑将进程</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p</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的优先级</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p</a:t>
            </a:r>
            <a:r>
              <a:rPr kumimoji="0" lang="en-US" altLang="zh-CN" sz="1800" b="1" i="0" u="none" strike="noStrike" kern="0" cap="none" spc="0" normalizeH="0" baseline="-30000" noProof="0" dirty="0">
                <a:ln>
                  <a:noFill/>
                </a:ln>
                <a:solidFill>
                  <a:schemeClr val="tx1"/>
                </a:solidFill>
                <a:effectLst/>
                <a:uLnTx/>
                <a:uFillTx/>
                <a:latin typeface="+mn-lt"/>
                <a:ea typeface="宋体" panose="02010600030101010101" pitchFamily="2" charset="-122"/>
                <a:cs typeface="+mn-cs"/>
              </a:rPr>
              <a:t>a</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作为判定依据，用序对（</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T</a:t>
            </a:r>
            <a:r>
              <a:rPr kumimoji="0" lang="en-US" altLang="zh-CN" sz="1800" b="1" i="0" u="none" strike="noStrike" kern="0" cap="none" spc="0" normalizeH="0" baseline="-30000" noProof="0" dirty="0" err="1">
                <a:ln>
                  <a:noFill/>
                </a:ln>
                <a:solidFill>
                  <a:schemeClr val="tx1"/>
                </a:solidFill>
                <a:effectLst/>
                <a:uLnTx/>
                <a:uFillTx/>
                <a:latin typeface="+mn-lt"/>
                <a:ea typeface="宋体" panose="02010600030101010101" pitchFamily="2" charset="-122"/>
                <a:cs typeface="+mn-cs"/>
              </a:rPr>
              <a:t>p</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，p</a:t>
            </a:r>
            <a:r>
              <a:rPr kumimoji="0" lang="en-US" altLang="zh-CN" sz="1800" b="1" i="0" u="none" strike="noStrike" kern="0" cap="none" spc="0" normalizeH="0" baseline="-30000" noProof="0" dirty="0" err="1">
                <a:ln>
                  <a:noFill/>
                </a:ln>
                <a:solidFill>
                  <a:schemeClr val="tx1"/>
                </a:solidFill>
                <a:effectLst/>
                <a:uLnTx/>
                <a:uFillTx/>
                <a:latin typeface="+mn-lt"/>
                <a:ea typeface="宋体" panose="02010600030101010101" pitchFamily="2" charset="-122"/>
                <a:cs typeface="+mn-cs"/>
              </a:rPr>
              <a:t>a</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来进行定序，</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T</a:t>
            </a:r>
            <a:r>
              <a:rPr kumimoji="0" lang="en-US" altLang="zh-CN" sz="1800" b="1" i="0" u="none" strike="noStrike" kern="0" cap="none" spc="0" normalizeH="0" baseline="-30000" noProof="0" dirty="0" err="1">
                <a:ln>
                  <a:noFill/>
                </a:ln>
                <a:solidFill>
                  <a:schemeClr val="tx1"/>
                </a:solidFill>
                <a:effectLst/>
                <a:uLnTx/>
                <a:uFillTx/>
                <a:latin typeface="+mn-lt"/>
                <a:ea typeface="宋体" panose="02010600030101010101" pitchFamily="2" charset="-122"/>
                <a:cs typeface="+mn-cs"/>
              </a:rPr>
              <a:t>p</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为逻辑时钟值，当逻辑时钟值相同时，优先级高者优先。</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77825" marR="0" lvl="0" indent="-285750" algn="just" defTabSz="914400" rtl="0" eaLnBrk="1" fontAlgn="base" latinLnBrk="0" hangingPunct="1">
              <a:lnSpc>
                <a:spcPct val="150000"/>
              </a:lnSpc>
              <a:spcBef>
                <a:spcPct val="20000"/>
              </a:spcBef>
              <a:spcAft>
                <a:spcPct val="0"/>
              </a:spcAft>
              <a:buClr>
                <a:schemeClr val="accent2"/>
              </a:buClr>
              <a:buSzTx/>
              <a:buFontTx/>
              <a:buNone/>
              <a:defRPr/>
            </a:pPr>
            <a:endPar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77825" marR="0" lvl="0" indent="-285750" algn="just" defTabSz="914400" rtl="0" eaLnBrk="1" fontAlgn="base" latinLnBrk="0" hangingPunct="1">
              <a:lnSpc>
                <a:spcPct val="150000"/>
              </a:lnSpc>
              <a:spcBef>
                <a:spcPct val="20000"/>
              </a:spcBef>
              <a:spcAft>
                <a:spcPct val="0"/>
              </a:spcAft>
              <a:buClr>
                <a:schemeClr val="accent2"/>
              </a:buClr>
              <a:buSzTx/>
              <a:buFontTx/>
              <a:buNone/>
              <a:defRPr/>
            </a:pP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endPar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77825" marR="0" lvl="0" indent="-285750" algn="just" defTabSz="914400" rtl="0" eaLnBrk="1" fontAlgn="base" latinLnBrk="0" hangingPunct="1">
              <a:lnSpc>
                <a:spcPct val="150000"/>
              </a:lnSpc>
              <a:spcBef>
                <a:spcPct val="20000"/>
              </a:spcBef>
              <a:spcAft>
                <a:spcPct val="0"/>
              </a:spcAft>
              <a:buClr>
                <a:schemeClr val="accent2"/>
              </a:buClr>
              <a:buSzTx/>
              <a:buFontTx/>
              <a:buNone/>
              <a:defRPr/>
            </a:pPr>
            <a:endPar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2"/>
          <p:cNvSpPr>
            <a:spLocks noGrp="1"/>
          </p:cNvSpPr>
          <p:nvPr>
            <p:ph type="title"/>
          </p:nvPr>
        </p:nvSpPr>
        <p:spPr>
          <a:xfrm>
            <a:off x="0" y="0"/>
            <a:ext cx="9144000" cy="495300"/>
          </a:xfrm>
          <a:ln/>
        </p:spPr>
        <p:txBody>
          <a:bodyPr vert="horz" wrap="square" lIns="91440" tIns="45720" rIns="91440" bIns="45720" anchor="ctr" anchorCtr="0"/>
          <a:p>
            <a:pPr eaLnBrk="1" hangingPunct="1"/>
            <a:r>
              <a:rPr lang="en-US" altLang="zh-CN" dirty="0">
                <a:ea typeface="宋体" panose="02010600030101010101" pitchFamily="2" charset="-122"/>
              </a:rPr>
              <a:t>Lamport Timestamps</a:t>
            </a:r>
            <a:endParaRPr lang="en-US" altLang="zh-CN" dirty="0">
              <a:ea typeface="宋体" panose="02010600030101010101" pitchFamily="2" charset="-122"/>
            </a:endParaRPr>
          </a:p>
        </p:txBody>
      </p:sp>
      <p:sp>
        <p:nvSpPr>
          <p:cNvPr id="25603" name="Rectangle 13"/>
          <p:cNvSpPr>
            <a:spLocks noGrp="1"/>
          </p:cNvSpPr>
          <p:nvPr>
            <p:ph idx="1"/>
          </p:nvPr>
        </p:nvSpPr>
        <p:spPr>
          <a:xfrm>
            <a:off x="1158875" y="5741988"/>
            <a:ext cx="6961188" cy="603250"/>
          </a:xfrm>
          <a:ln/>
        </p:spPr>
        <p:txBody>
          <a:bodyPr vert="horz" wrap="square" lIns="91440" tIns="45720" rIns="91440" bIns="45720" anchor="t" anchorCtr="0"/>
          <a:p>
            <a:pPr marL="609600" indent="-609600" algn="l" eaLnBrk="1" hangingPunct="1">
              <a:lnSpc>
                <a:spcPct val="90000"/>
              </a:lnSpc>
              <a:buFontTx/>
              <a:buAutoNum type="alphaLcParenR"/>
            </a:pPr>
            <a:r>
              <a:rPr lang="en-US" altLang="zh-CN" sz="1600" dirty="0">
                <a:ea typeface="宋体" panose="02010600030101010101" pitchFamily="2" charset="-122"/>
              </a:rPr>
              <a:t>Three processes, each with its own clock.  The clocks run at different rates.</a:t>
            </a:r>
            <a:endParaRPr lang="en-US" altLang="zh-CN" sz="1600" dirty="0">
              <a:ea typeface="宋体" panose="02010600030101010101" pitchFamily="2" charset="-122"/>
            </a:endParaRPr>
          </a:p>
          <a:p>
            <a:pPr marL="609600" indent="-609600" algn="l" eaLnBrk="1" hangingPunct="1">
              <a:lnSpc>
                <a:spcPct val="90000"/>
              </a:lnSpc>
              <a:buFontTx/>
              <a:buAutoNum type="alphaLcParenR"/>
            </a:pPr>
            <a:r>
              <a:rPr lang="en-US" altLang="zh-CN" sz="1600" dirty="0">
                <a:ea typeface="宋体" panose="02010600030101010101" pitchFamily="2" charset="-122"/>
              </a:rPr>
              <a:t>Lamport's algorithm corrects the clocks.</a:t>
            </a:r>
            <a:endParaRPr lang="en-US" altLang="zh-CN" sz="1600" dirty="0">
              <a:ea typeface="宋体" panose="02010600030101010101" pitchFamily="2" charset="-122"/>
            </a:endParaRPr>
          </a:p>
        </p:txBody>
      </p:sp>
      <p:grpSp>
        <p:nvGrpSpPr>
          <p:cNvPr id="25604" name="Group 15"/>
          <p:cNvGrpSpPr>
            <a:grpSpLocks noChangeAspect="1"/>
          </p:cNvGrpSpPr>
          <p:nvPr/>
        </p:nvGrpSpPr>
        <p:grpSpPr>
          <a:xfrm>
            <a:off x="214313" y="1919288"/>
            <a:ext cx="8715375" cy="3567112"/>
            <a:chOff x="158" y="624"/>
            <a:chExt cx="5465" cy="2767"/>
          </a:xfrm>
        </p:grpSpPr>
        <p:sp>
          <p:nvSpPr>
            <p:cNvPr id="25606" name="AutoShape 14"/>
            <p:cNvSpPr>
              <a:spLocks noChangeAspect="1" noTextEdit="1"/>
            </p:cNvSpPr>
            <p:nvPr/>
          </p:nvSpPr>
          <p:spPr>
            <a:xfrm>
              <a:off x="158" y="624"/>
              <a:ext cx="5465" cy="2767"/>
            </a:xfrm>
            <a:prstGeom prst="rect">
              <a:avLst/>
            </a:prstGeom>
            <a:noFill/>
            <a:ln w="9525">
              <a:noFill/>
            </a:ln>
          </p:spPr>
          <p:txBody>
            <a:bodyPr/>
            <a:p>
              <a:endParaRPr lang="zh-CN" altLang="en-US"/>
            </a:p>
          </p:txBody>
        </p:sp>
        <p:sp>
          <p:nvSpPr>
            <p:cNvPr id="25607" name="Rectangle 16"/>
            <p:cNvSpPr/>
            <p:nvPr/>
          </p:nvSpPr>
          <p:spPr>
            <a:xfrm>
              <a:off x="975" y="2833"/>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60</a:t>
              </a:r>
              <a:endParaRPr lang="en-US" altLang="zh-CN" sz="1200" dirty="0">
                <a:ea typeface="宋体" panose="02010600030101010101" pitchFamily="2" charset="-122"/>
              </a:endParaRPr>
            </a:p>
          </p:txBody>
        </p:sp>
        <p:sp>
          <p:nvSpPr>
            <p:cNvPr id="25608" name="Rectangle 17"/>
            <p:cNvSpPr/>
            <p:nvPr/>
          </p:nvSpPr>
          <p:spPr>
            <a:xfrm>
              <a:off x="899" y="884"/>
              <a:ext cx="182" cy="2117"/>
            </a:xfrm>
            <a:prstGeom prst="rect">
              <a:avLst/>
            </a:prstGeom>
            <a:noFill/>
            <a:ln w="7938" cap="flat" cmpd="sng">
              <a:solidFill>
                <a:srgbClr val="000000"/>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1200" dirty="0">
                <a:ea typeface="宋体" panose="02010600030101010101" pitchFamily="2" charset="-122"/>
              </a:endParaRPr>
            </a:p>
          </p:txBody>
        </p:sp>
        <p:sp>
          <p:nvSpPr>
            <p:cNvPr id="25609" name="Rectangle 18"/>
            <p:cNvSpPr/>
            <p:nvPr/>
          </p:nvSpPr>
          <p:spPr>
            <a:xfrm>
              <a:off x="975" y="2640"/>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54</a:t>
              </a:r>
              <a:endParaRPr lang="en-US" altLang="zh-CN" sz="1200" dirty="0">
                <a:ea typeface="宋体" panose="02010600030101010101" pitchFamily="2" charset="-122"/>
              </a:endParaRPr>
            </a:p>
          </p:txBody>
        </p:sp>
        <p:sp>
          <p:nvSpPr>
            <p:cNvPr id="25610" name="Rectangle 19"/>
            <p:cNvSpPr/>
            <p:nvPr/>
          </p:nvSpPr>
          <p:spPr>
            <a:xfrm>
              <a:off x="975" y="2453"/>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48</a:t>
              </a:r>
              <a:endParaRPr lang="en-US" altLang="zh-CN" sz="1200" dirty="0">
                <a:ea typeface="宋体" panose="02010600030101010101" pitchFamily="2" charset="-122"/>
              </a:endParaRPr>
            </a:p>
          </p:txBody>
        </p:sp>
        <p:sp>
          <p:nvSpPr>
            <p:cNvPr id="25611" name="Rectangle 20"/>
            <p:cNvSpPr/>
            <p:nvPr/>
          </p:nvSpPr>
          <p:spPr>
            <a:xfrm>
              <a:off x="975" y="2260"/>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42</a:t>
              </a:r>
              <a:endParaRPr lang="en-US" altLang="zh-CN" sz="1200" dirty="0">
                <a:ea typeface="宋体" panose="02010600030101010101" pitchFamily="2" charset="-122"/>
              </a:endParaRPr>
            </a:p>
          </p:txBody>
        </p:sp>
        <p:sp>
          <p:nvSpPr>
            <p:cNvPr id="25612" name="Rectangle 21"/>
            <p:cNvSpPr/>
            <p:nvPr/>
          </p:nvSpPr>
          <p:spPr>
            <a:xfrm>
              <a:off x="975" y="2068"/>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36</a:t>
              </a:r>
              <a:endParaRPr lang="en-US" altLang="zh-CN" sz="1200" dirty="0">
                <a:ea typeface="宋体" panose="02010600030101010101" pitchFamily="2" charset="-122"/>
              </a:endParaRPr>
            </a:p>
          </p:txBody>
        </p:sp>
        <p:sp>
          <p:nvSpPr>
            <p:cNvPr id="25613" name="Rectangle 22"/>
            <p:cNvSpPr/>
            <p:nvPr/>
          </p:nvSpPr>
          <p:spPr>
            <a:xfrm>
              <a:off x="975" y="1875"/>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30</a:t>
              </a:r>
              <a:endParaRPr lang="en-US" altLang="zh-CN" sz="1200" dirty="0">
                <a:ea typeface="宋体" panose="02010600030101010101" pitchFamily="2" charset="-122"/>
              </a:endParaRPr>
            </a:p>
          </p:txBody>
        </p:sp>
        <p:sp>
          <p:nvSpPr>
            <p:cNvPr id="25614" name="Rectangle 23"/>
            <p:cNvSpPr/>
            <p:nvPr/>
          </p:nvSpPr>
          <p:spPr>
            <a:xfrm>
              <a:off x="975" y="1683"/>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24</a:t>
              </a:r>
              <a:endParaRPr lang="en-US" altLang="zh-CN" sz="1200" dirty="0">
                <a:ea typeface="宋体" panose="02010600030101010101" pitchFamily="2" charset="-122"/>
              </a:endParaRPr>
            </a:p>
          </p:txBody>
        </p:sp>
        <p:sp>
          <p:nvSpPr>
            <p:cNvPr id="25615" name="Rectangle 24"/>
            <p:cNvSpPr/>
            <p:nvPr/>
          </p:nvSpPr>
          <p:spPr>
            <a:xfrm>
              <a:off x="975" y="1490"/>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18</a:t>
              </a:r>
              <a:endParaRPr lang="en-US" altLang="zh-CN" sz="1200" dirty="0">
                <a:ea typeface="宋体" panose="02010600030101010101" pitchFamily="2" charset="-122"/>
              </a:endParaRPr>
            </a:p>
          </p:txBody>
        </p:sp>
        <p:sp>
          <p:nvSpPr>
            <p:cNvPr id="25616" name="Rectangle 25"/>
            <p:cNvSpPr/>
            <p:nvPr/>
          </p:nvSpPr>
          <p:spPr>
            <a:xfrm>
              <a:off x="975" y="1298"/>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12</a:t>
              </a:r>
              <a:endParaRPr lang="en-US" altLang="zh-CN" sz="1200" dirty="0">
                <a:ea typeface="宋体" panose="02010600030101010101" pitchFamily="2" charset="-122"/>
              </a:endParaRPr>
            </a:p>
          </p:txBody>
        </p:sp>
        <p:sp>
          <p:nvSpPr>
            <p:cNvPr id="25617" name="Rectangle 26"/>
            <p:cNvSpPr/>
            <p:nvPr/>
          </p:nvSpPr>
          <p:spPr>
            <a:xfrm>
              <a:off x="998" y="1105"/>
              <a:ext cx="53"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6</a:t>
              </a:r>
              <a:endParaRPr lang="en-US" altLang="zh-CN" sz="1200" dirty="0">
                <a:ea typeface="宋体" panose="02010600030101010101" pitchFamily="2" charset="-122"/>
              </a:endParaRPr>
            </a:p>
          </p:txBody>
        </p:sp>
        <p:sp>
          <p:nvSpPr>
            <p:cNvPr id="25618" name="Rectangle 27"/>
            <p:cNvSpPr/>
            <p:nvPr/>
          </p:nvSpPr>
          <p:spPr>
            <a:xfrm>
              <a:off x="998" y="913"/>
              <a:ext cx="53"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0</a:t>
              </a:r>
              <a:endParaRPr lang="en-US" altLang="zh-CN" sz="1200" dirty="0">
                <a:ea typeface="宋体" panose="02010600030101010101" pitchFamily="2" charset="-122"/>
              </a:endParaRPr>
            </a:p>
          </p:txBody>
        </p:sp>
        <p:sp>
          <p:nvSpPr>
            <p:cNvPr id="25619" name="Rectangle 28"/>
            <p:cNvSpPr/>
            <p:nvPr/>
          </p:nvSpPr>
          <p:spPr>
            <a:xfrm>
              <a:off x="1702" y="2833"/>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80</a:t>
              </a:r>
              <a:endParaRPr lang="en-US" altLang="zh-CN" sz="1200" dirty="0">
                <a:ea typeface="宋体" panose="02010600030101010101" pitchFamily="2" charset="-122"/>
              </a:endParaRPr>
            </a:p>
          </p:txBody>
        </p:sp>
        <p:sp>
          <p:nvSpPr>
            <p:cNvPr id="25620" name="Rectangle 29"/>
            <p:cNvSpPr/>
            <p:nvPr/>
          </p:nvSpPr>
          <p:spPr>
            <a:xfrm>
              <a:off x="1627" y="884"/>
              <a:ext cx="181" cy="2117"/>
            </a:xfrm>
            <a:prstGeom prst="rect">
              <a:avLst/>
            </a:prstGeom>
            <a:noFill/>
            <a:ln w="7938" cap="flat" cmpd="sng">
              <a:solidFill>
                <a:srgbClr val="000000"/>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1200" dirty="0">
                <a:ea typeface="宋体" panose="02010600030101010101" pitchFamily="2" charset="-122"/>
              </a:endParaRPr>
            </a:p>
          </p:txBody>
        </p:sp>
        <p:sp>
          <p:nvSpPr>
            <p:cNvPr id="25621" name="Rectangle 30"/>
            <p:cNvSpPr/>
            <p:nvPr/>
          </p:nvSpPr>
          <p:spPr>
            <a:xfrm>
              <a:off x="1702" y="2640"/>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72</a:t>
              </a:r>
              <a:endParaRPr lang="en-US" altLang="zh-CN" sz="1200" dirty="0">
                <a:ea typeface="宋体" panose="02010600030101010101" pitchFamily="2" charset="-122"/>
              </a:endParaRPr>
            </a:p>
          </p:txBody>
        </p:sp>
        <p:sp>
          <p:nvSpPr>
            <p:cNvPr id="25622" name="Rectangle 31"/>
            <p:cNvSpPr/>
            <p:nvPr/>
          </p:nvSpPr>
          <p:spPr>
            <a:xfrm>
              <a:off x="1702" y="2453"/>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64</a:t>
              </a:r>
              <a:endParaRPr lang="en-US" altLang="zh-CN" sz="1200" dirty="0">
                <a:ea typeface="宋体" panose="02010600030101010101" pitchFamily="2" charset="-122"/>
              </a:endParaRPr>
            </a:p>
          </p:txBody>
        </p:sp>
        <p:sp>
          <p:nvSpPr>
            <p:cNvPr id="25623" name="Rectangle 32"/>
            <p:cNvSpPr/>
            <p:nvPr/>
          </p:nvSpPr>
          <p:spPr>
            <a:xfrm>
              <a:off x="1702" y="2260"/>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56</a:t>
              </a:r>
              <a:endParaRPr lang="en-US" altLang="zh-CN" sz="1200" dirty="0">
                <a:ea typeface="宋体" panose="02010600030101010101" pitchFamily="2" charset="-122"/>
              </a:endParaRPr>
            </a:p>
          </p:txBody>
        </p:sp>
        <p:sp>
          <p:nvSpPr>
            <p:cNvPr id="25624" name="Rectangle 33"/>
            <p:cNvSpPr/>
            <p:nvPr/>
          </p:nvSpPr>
          <p:spPr>
            <a:xfrm>
              <a:off x="1702" y="2068"/>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48</a:t>
              </a:r>
              <a:endParaRPr lang="en-US" altLang="zh-CN" sz="1200" dirty="0">
                <a:ea typeface="宋体" panose="02010600030101010101" pitchFamily="2" charset="-122"/>
              </a:endParaRPr>
            </a:p>
          </p:txBody>
        </p:sp>
        <p:sp>
          <p:nvSpPr>
            <p:cNvPr id="25625" name="Rectangle 34"/>
            <p:cNvSpPr/>
            <p:nvPr/>
          </p:nvSpPr>
          <p:spPr>
            <a:xfrm>
              <a:off x="1702" y="1875"/>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40</a:t>
              </a:r>
              <a:endParaRPr lang="en-US" altLang="zh-CN" sz="1200" dirty="0">
                <a:ea typeface="宋体" panose="02010600030101010101" pitchFamily="2" charset="-122"/>
              </a:endParaRPr>
            </a:p>
          </p:txBody>
        </p:sp>
        <p:sp>
          <p:nvSpPr>
            <p:cNvPr id="25626" name="Rectangle 35"/>
            <p:cNvSpPr/>
            <p:nvPr/>
          </p:nvSpPr>
          <p:spPr>
            <a:xfrm>
              <a:off x="1702" y="1683"/>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32</a:t>
              </a:r>
              <a:endParaRPr lang="en-US" altLang="zh-CN" sz="1200" dirty="0">
                <a:ea typeface="宋体" panose="02010600030101010101" pitchFamily="2" charset="-122"/>
              </a:endParaRPr>
            </a:p>
          </p:txBody>
        </p:sp>
        <p:sp>
          <p:nvSpPr>
            <p:cNvPr id="25627" name="Rectangle 36"/>
            <p:cNvSpPr/>
            <p:nvPr/>
          </p:nvSpPr>
          <p:spPr>
            <a:xfrm>
              <a:off x="1702" y="1490"/>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24</a:t>
              </a:r>
              <a:endParaRPr lang="en-US" altLang="zh-CN" sz="1200" dirty="0">
                <a:ea typeface="宋体" panose="02010600030101010101" pitchFamily="2" charset="-122"/>
              </a:endParaRPr>
            </a:p>
          </p:txBody>
        </p:sp>
        <p:sp>
          <p:nvSpPr>
            <p:cNvPr id="25628" name="Rectangle 37"/>
            <p:cNvSpPr/>
            <p:nvPr/>
          </p:nvSpPr>
          <p:spPr>
            <a:xfrm>
              <a:off x="1702" y="1298"/>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16</a:t>
              </a:r>
              <a:endParaRPr lang="en-US" altLang="zh-CN" sz="1200" dirty="0">
                <a:ea typeface="宋体" panose="02010600030101010101" pitchFamily="2" charset="-122"/>
              </a:endParaRPr>
            </a:p>
          </p:txBody>
        </p:sp>
        <p:sp>
          <p:nvSpPr>
            <p:cNvPr id="25629" name="Rectangle 38"/>
            <p:cNvSpPr/>
            <p:nvPr/>
          </p:nvSpPr>
          <p:spPr>
            <a:xfrm>
              <a:off x="1721" y="1105"/>
              <a:ext cx="53"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8</a:t>
              </a:r>
              <a:endParaRPr lang="en-US" altLang="zh-CN" sz="1200" dirty="0">
                <a:ea typeface="宋体" panose="02010600030101010101" pitchFamily="2" charset="-122"/>
              </a:endParaRPr>
            </a:p>
          </p:txBody>
        </p:sp>
        <p:sp>
          <p:nvSpPr>
            <p:cNvPr id="25630" name="Rectangle 39"/>
            <p:cNvSpPr/>
            <p:nvPr/>
          </p:nvSpPr>
          <p:spPr>
            <a:xfrm>
              <a:off x="1721" y="913"/>
              <a:ext cx="53"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0</a:t>
              </a:r>
              <a:endParaRPr lang="en-US" altLang="zh-CN" sz="1200" dirty="0">
                <a:ea typeface="宋体" panose="02010600030101010101" pitchFamily="2" charset="-122"/>
              </a:endParaRPr>
            </a:p>
          </p:txBody>
        </p:sp>
        <p:sp>
          <p:nvSpPr>
            <p:cNvPr id="25631" name="Rectangle 40"/>
            <p:cNvSpPr/>
            <p:nvPr/>
          </p:nvSpPr>
          <p:spPr>
            <a:xfrm>
              <a:off x="2397" y="2857"/>
              <a:ext cx="160"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100</a:t>
              </a:r>
              <a:endParaRPr lang="en-US" altLang="zh-CN" sz="1200" dirty="0">
                <a:ea typeface="宋体" panose="02010600030101010101" pitchFamily="2" charset="-122"/>
              </a:endParaRPr>
            </a:p>
          </p:txBody>
        </p:sp>
        <p:sp>
          <p:nvSpPr>
            <p:cNvPr id="25632" name="Rectangle 41"/>
            <p:cNvSpPr/>
            <p:nvPr/>
          </p:nvSpPr>
          <p:spPr>
            <a:xfrm>
              <a:off x="2354" y="884"/>
              <a:ext cx="182" cy="2117"/>
            </a:xfrm>
            <a:prstGeom prst="rect">
              <a:avLst/>
            </a:prstGeom>
            <a:noFill/>
            <a:ln w="7938" cap="flat" cmpd="sng">
              <a:solidFill>
                <a:srgbClr val="000000"/>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1200" dirty="0">
                <a:ea typeface="宋体" panose="02010600030101010101" pitchFamily="2" charset="-122"/>
              </a:endParaRPr>
            </a:p>
          </p:txBody>
        </p:sp>
        <p:sp>
          <p:nvSpPr>
            <p:cNvPr id="25633" name="Rectangle 42"/>
            <p:cNvSpPr/>
            <p:nvPr/>
          </p:nvSpPr>
          <p:spPr>
            <a:xfrm>
              <a:off x="2430" y="2640"/>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90</a:t>
              </a:r>
              <a:endParaRPr lang="en-US" altLang="zh-CN" sz="1200" dirty="0">
                <a:ea typeface="宋体" panose="02010600030101010101" pitchFamily="2" charset="-122"/>
              </a:endParaRPr>
            </a:p>
          </p:txBody>
        </p:sp>
        <p:sp>
          <p:nvSpPr>
            <p:cNvPr id="25634" name="Rectangle 43"/>
            <p:cNvSpPr/>
            <p:nvPr/>
          </p:nvSpPr>
          <p:spPr>
            <a:xfrm>
              <a:off x="2430" y="2453"/>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80</a:t>
              </a:r>
              <a:endParaRPr lang="en-US" altLang="zh-CN" sz="1200" dirty="0">
                <a:ea typeface="宋体" panose="02010600030101010101" pitchFamily="2" charset="-122"/>
              </a:endParaRPr>
            </a:p>
          </p:txBody>
        </p:sp>
        <p:sp>
          <p:nvSpPr>
            <p:cNvPr id="25635" name="Rectangle 44"/>
            <p:cNvSpPr/>
            <p:nvPr/>
          </p:nvSpPr>
          <p:spPr>
            <a:xfrm>
              <a:off x="2430" y="2260"/>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70</a:t>
              </a:r>
              <a:endParaRPr lang="en-US" altLang="zh-CN" sz="1200" dirty="0">
                <a:ea typeface="宋体" panose="02010600030101010101" pitchFamily="2" charset="-122"/>
              </a:endParaRPr>
            </a:p>
          </p:txBody>
        </p:sp>
        <p:sp>
          <p:nvSpPr>
            <p:cNvPr id="25636" name="Rectangle 45"/>
            <p:cNvSpPr/>
            <p:nvPr/>
          </p:nvSpPr>
          <p:spPr>
            <a:xfrm>
              <a:off x="2430" y="2068"/>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60</a:t>
              </a:r>
              <a:endParaRPr lang="en-US" altLang="zh-CN" sz="1200" dirty="0">
                <a:ea typeface="宋体" panose="02010600030101010101" pitchFamily="2" charset="-122"/>
              </a:endParaRPr>
            </a:p>
          </p:txBody>
        </p:sp>
        <p:sp>
          <p:nvSpPr>
            <p:cNvPr id="25637" name="Rectangle 46"/>
            <p:cNvSpPr/>
            <p:nvPr/>
          </p:nvSpPr>
          <p:spPr>
            <a:xfrm>
              <a:off x="2430" y="1875"/>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50</a:t>
              </a:r>
              <a:endParaRPr lang="en-US" altLang="zh-CN" sz="1200" dirty="0">
                <a:ea typeface="宋体" panose="02010600030101010101" pitchFamily="2" charset="-122"/>
              </a:endParaRPr>
            </a:p>
          </p:txBody>
        </p:sp>
        <p:sp>
          <p:nvSpPr>
            <p:cNvPr id="25638" name="Rectangle 47"/>
            <p:cNvSpPr/>
            <p:nvPr/>
          </p:nvSpPr>
          <p:spPr>
            <a:xfrm>
              <a:off x="2430" y="1683"/>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40</a:t>
              </a:r>
              <a:endParaRPr lang="en-US" altLang="zh-CN" sz="1200" dirty="0">
                <a:ea typeface="宋体" panose="02010600030101010101" pitchFamily="2" charset="-122"/>
              </a:endParaRPr>
            </a:p>
          </p:txBody>
        </p:sp>
        <p:sp>
          <p:nvSpPr>
            <p:cNvPr id="25639" name="Rectangle 48"/>
            <p:cNvSpPr/>
            <p:nvPr/>
          </p:nvSpPr>
          <p:spPr>
            <a:xfrm>
              <a:off x="2430" y="1490"/>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30</a:t>
              </a:r>
              <a:endParaRPr lang="en-US" altLang="zh-CN" sz="1200" dirty="0">
                <a:ea typeface="宋体" panose="02010600030101010101" pitchFamily="2" charset="-122"/>
              </a:endParaRPr>
            </a:p>
          </p:txBody>
        </p:sp>
        <p:sp>
          <p:nvSpPr>
            <p:cNvPr id="25640" name="Rectangle 49"/>
            <p:cNvSpPr/>
            <p:nvPr/>
          </p:nvSpPr>
          <p:spPr>
            <a:xfrm>
              <a:off x="2430" y="1298"/>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20</a:t>
              </a:r>
              <a:endParaRPr lang="en-US" altLang="zh-CN" sz="1200" dirty="0">
                <a:ea typeface="宋体" panose="02010600030101010101" pitchFamily="2" charset="-122"/>
              </a:endParaRPr>
            </a:p>
          </p:txBody>
        </p:sp>
        <p:sp>
          <p:nvSpPr>
            <p:cNvPr id="25641" name="Rectangle 50"/>
            <p:cNvSpPr/>
            <p:nvPr/>
          </p:nvSpPr>
          <p:spPr>
            <a:xfrm>
              <a:off x="2430" y="1105"/>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10</a:t>
              </a:r>
              <a:endParaRPr lang="en-US" altLang="zh-CN" sz="1200" dirty="0">
                <a:ea typeface="宋体" panose="02010600030101010101" pitchFamily="2" charset="-122"/>
              </a:endParaRPr>
            </a:p>
          </p:txBody>
        </p:sp>
        <p:sp>
          <p:nvSpPr>
            <p:cNvPr id="25642" name="Rectangle 51"/>
            <p:cNvSpPr/>
            <p:nvPr/>
          </p:nvSpPr>
          <p:spPr>
            <a:xfrm>
              <a:off x="2449" y="913"/>
              <a:ext cx="53"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0</a:t>
              </a:r>
              <a:endParaRPr lang="en-US" altLang="zh-CN" sz="1200" dirty="0">
                <a:ea typeface="宋体" panose="02010600030101010101" pitchFamily="2" charset="-122"/>
              </a:endParaRPr>
            </a:p>
          </p:txBody>
        </p:sp>
        <p:sp>
          <p:nvSpPr>
            <p:cNvPr id="25643" name="Line 52"/>
            <p:cNvSpPr/>
            <p:nvPr/>
          </p:nvSpPr>
          <p:spPr>
            <a:xfrm flipH="1">
              <a:off x="899" y="1076"/>
              <a:ext cx="1637" cy="1"/>
            </a:xfrm>
            <a:prstGeom prst="line">
              <a:avLst/>
            </a:prstGeom>
            <a:ln w="7938" cap="flat" cmpd="sng">
              <a:solidFill>
                <a:srgbClr val="000000"/>
              </a:solidFill>
              <a:prstDash val="sysDot"/>
              <a:headEnd type="none" w="med" len="med"/>
              <a:tailEnd type="none" w="med" len="med"/>
            </a:ln>
          </p:spPr>
        </p:sp>
        <p:sp>
          <p:nvSpPr>
            <p:cNvPr id="25644" name="Line 53"/>
            <p:cNvSpPr/>
            <p:nvPr/>
          </p:nvSpPr>
          <p:spPr>
            <a:xfrm flipH="1">
              <a:off x="899" y="1269"/>
              <a:ext cx="1637" cy="1"/>
            </a:xfrm>
            <a:prstGeom prst="line">
              <a:avLst/>
            </a:prstGeom>
            <a:ln w="7938" cap="flat" cmpd="sng">
              <a:solidFill>
                <a:srgbClr val="000000"/>
              </a:solidFill>
              <a:prstDash val="sysDot"/>
              <a:headEnd type="none" w="med" len="med"/>
              <a:tailEnd type="none" w="med" len="med"/>
            </a:ln>
          </p:spPr>
        </p:sp>
        <p:sp>
          <p:nvSpPr>
            <p:cNvPr id="25645" name="Line 54"/>
            <p:cNvSpPr/>
            <p:nvPr/>
          </p:nvSpPr>
          <p:spPr>
            <a:xfrm flipH="1">
              <a:off x="899" y="1461"/>
              <a:ext cx="1637" cy="1"/>
            </a:xfrm>
            <a:prstGeom prst="line">
              <a:avLst/>
            </a:prstGeom>
            <a:ln w="7938" cap="flat" cmpd="sng">
              <a:solidFill>
                <a:srgbClr val="000000"/>
              </a:solidFill>
              <a:prstDash val="sysDot"/>
              <a:headEnd type="none" w="med" len="med"/>
              <a:tailEnd type="none" w="med" len="med"/>
            </a:ln>
          </p:spPr>
        </p:sp>
        <p:sp>
          <p:nvSpPr>
            <p:cNvPr id="25646" name="Line 55"/>
            <p:cNvSpPr/>
            <p:nvPr/>
          </p:nvSpPr>
          <p:spPr>
            <a:xfrm flipH="1">
              <a:off x="899" y="1654"/>
              <a:ext cx="1637" cy="1"/>
            </a:xfrm>
            <a:prstGeom prst="line">
              <a:avLst/>
            </a:prstGeom>
            <a:ln w="7938" cap="flat" cmpd="sng">
              <a:solidFill>
                <a:srgbClr val="000000"/>
              </a:solidFill>
              <a:prstDash val="sysDot"/>
              <a:headEnd type="none" w="med" len="med"/>
              <a:tailEnd type="none" w="med" len="med"/>
            </a:ln>
          </p:spPr>
        </p:sp>
        <p:sp>
          <p:nvSpPr>
            <p:cNvPr id="25647" name="Line 56"/>
            <p:cNvSpPr/>
            <p:nvPr/>
          </p:nvSpPr>
          <p:spPr>
            <a:xfrm flipH="1">
              <a:off x="899" y="1846"/>
              <a:ext cx="1637" cy="1"/>
            </a:xfrm>
            <a:prstGeom prst="line">
              <a:avLst/>
            </a:prstGeom>
            <a:ln w="7938" cap="flat" cmpd="sng">
              <a:solidFill>
                <a:srgbClr val="000000"/>
              </a:solidFill>
              <a:prstDash val="sysDot"/>
              <a:headEnd type="none" w="med" len="med"/>
              <a:tailEnd type="none" w="med" len="med"/>
            </a:ln>
          </p:spPr>
        </p:sp>
        <p:sp>
          <p:nvSpPr>
            <p:cNvPr id="25648" name="Line 57"/>
            <p:cNvSpPr/>
            <p:nvPr/>
          </p:nvSpPr>
          <p:spPr>
            <a:xfrm flipH="1">
              <a:off x="899" y="2039"/>
              <a:ext cx="1637" cy="1"/>
            </a:xfrm>
            <a:prstGeom prst="line">
              <a:avLst/>
            </a:prstGeom>
            <a:ln w="7938" cap="flat" cmpd="sng">
              <a:solidFill>
                <a:srgbClr val="000000"/>
              </a:solidFill>
              <a:prstDash val="sysDot"/>
              <a:headEnd type="none" w="med" len="med"/>
              <a:tailEnd type="none" w="med" len="med"/>
            </a:ln>
          </p:spPr>
        </p:sp>
        <p:sp>
          <p:nvSpPr>
            <p:cNvPr id="25649" name="Line 58"/>
            <p:cNvSpPr/>
            <p:nvPr/>
          </p:nvSpPr>
          <p:spPr>
            <a:xfrm flipH="1">
              <a:off x="899" y="2231"/>
              <a:ext cx="1637" cy="1"/>
            </a:xfrm>
            <a:prstGeom prst="line">
              <a:avLst/>
            </a:prstGeom>
            <a:ln w="7938" cap="flat" cmpd="sng">
              <a:solidFill>
                <a:srgbClr val="000000"/>
              </a:solidFill>
              <a:prstDash val="sysDot"/>
              <a:headEnd type="none" w="med" len="med"/>
              <a:tailEnd type="none" w="med" len="med"/>
            </a:ln>
          </p:spPr>
        </p:sp>
        <p:sp>
          <p:nvSpPr>
            <p:cNvPr id="25650" name="Line 59"/>
            <p:cNvSpPr/>
            <p:nvPr/>
          </p:nvSpPr>
          <p:spPr>
            <a:xfrm flipH="1">
              <a:off x="899" y="2424"/>
              <a:ext cx="1637" cy="1"/>
            </a:xfrm>
            <a:prstGeom prst="line">
              <a:avLst/>
            </a:prstGeom>
            <a:ln w="7938" cap="flat" cmpd="sng">
              <a:solidFill>
                <a:srgbClr val="000000"/>
              </a:solidFill>
              <a:prstDash val="sysDot"/>
              <a:headEnd type="none" w="med" len="med"/>
              <a:tailEnd type="none" w="med" len="med"/>
            </a:ln>
          </p:spPr>
        </p:sp>
        <p:sp>
          <p:nvSpPr>
            <p:cNvPr id="25651" name="Line 60"/>
            <p:cNvSpPr/>
            <p:nvPr/>
          </p:nvSpPr>
          <p:spPr>
            <a:xfrm flipH="1">
              <a:off x="899" y="2616"/>
              <a:ext cx="1637" cy="1"/>
            </a:xfrm>
            <a:prstGeom prst="line">
              <a:avLst/>
            </a:prstGeom>
            <a:ln w="7938" cap="flat" cmpd="sng">
              <a:solidFill>
                <a:srgbClr val="000000"/>
              </a:solidFill>
              <a:prstDash val="sysDot"/>
              <a:headEnd type="none" w="med" len="med"/>
              <a:tailEnd type="none" w="med" len="med"/>
            </a:ln>
          </p:spPr>
        </p:sp>
        <p:sp>
          <p:nvSpPr>
            <p:cNvPr id="25652" name="Line 61"/>
            <p:cNvSpPr/>
            <p:nvPr/>
          </p:nvSpPr>
          <p:spPr>
            <a:xfrm flipH="1">
              <a:off x="899" y="2809"/>
              <a:ext cx="1637" cy="1"/>
            </a:xfrm>
            <a:prstGeom prst="line">
              <a:avLst/>
            </a:prstGeom>
            <a:ln w="7938" cap="flat" cmpd="sng">
              <a:solidFill>
                <a:srgbClr val="000000"/>
              </a:solidFill>
              <a:prstDash val="sysDot"/>
              <a:headEnd type="none" w="med" len="med"/>
              <a:tailEnd type="none" w="med" len="med"/>
            </a:ln>
          </p:spPr>
        </p:sp>
        <p:sp>
          <p:nvSpPr>
            <p:cNvPr id="25653" name="Line 62"/>
            <p:cNvSpPr/>
            <p:nvPr/>
          </p:nvSpPr>
          <p:spPr>
            <a:xfrm>
              <a:off x="1081" y="1173"/>
              <a:ext cx="486" cy="173"/>
            </a:xfrm>
            <a:prstGeom prst="line">
              <a:avLst/>
            </a:prstGeom>
            <a:ln w="7938" cap="flat" cmpd="sng">
              <a:solidFill>
                <a:srgbClr val="000000"/>
              </a:solidFill>
              <a:prstDash val="solid"/>
              <a:headEnd type="none" w="med" len="med"/>
              <a:tailEnd type="none" w="med" len="med"/>
            </a:ln>
          </p:spPr>
        </p:sp>
        <p:sp>
          <p:nvSpPr>
            <p:cNvPr id="25654" name="Freeform 63"/>
            <p:cNvSpPr/>
            <p:nvPr/>
          </p:nvSpPr>
          <p:spPr>
            <a:xfrm>
              <a:off x="1545" y="1307"/>
              <a:ext cx="82" cy="68"/>
            </a:xfrm>
            <a:custGeom>
              <a:avLst/>
              <a:gdLst>
                <a:gd name="txL" fmla="*/ 0 w 82"/>
                <a:gd name="txT" fmla="*/ 0 h 68"/>
                <a:gd name="txR" fmla="*/ 82 w 82"/>
                <a:gd name="txB" fmla="*/ 68 h 68"/>
              </a:gdLst>
              <a:ahLst/>
              <a:cxnLst>
                <a:cxn ang="0">
                  <a:pos x="22" y="0"/>
                </a:cxn>
                <a:cxn ang="0">
                  <a:pos x="82" y="58"/>
                </a:cxn>
                <a:cxn ang="0">
                  <a:pos x="0" y="68"/>
                </a:cxn>
                <a:cxn ang="0">
                  <a:pos x="22" y="0"/>
                </a:cxn>
              </a:cxnLst>
              <a:rect l="txL" t="txT" r="txR" b="txB"/>
              <a:pathLst>
                <a:path w="82" h="68">
                  <a:moveTo>
                    <a:pt x="22" y="0"/>
                  </a:moveTo>
                  <a:lnTo>
                    <a:pt x="82" y="58"/>
                  </a:lnTo>
                  <a:lnTo>
                    <a:pt x="0" y="68"/>
                  </a:lnTo>
                  <a:lnTo>
                    <a:pt x="22" y="0"/>
                  </a:lnTo>
                  <a:close/>
                </a:path>
              </a:pathLst>
            </a:custGeom>
            <a:solidFill>
              <a:srgbClr val="000000">
                <a:alpha val="100000"/>
              </a:srgbClr>
            </a:solidFill>
            <a:ln w="9525">
              <a:noFill/>
            </a:ln>
          </p:spPr>
          <p:txBody>
            <a:bodyPr/>
            <a:p>
              <a:endParaRPr lang="zh-CN" altLang="en-US"/>
            </a:p>
          </p:txBody>
        </p:sp>
        <p:sp>
          <p:nvSpPr>
            <p:cNvPr id="25655" name="Line 64"/>
            <p:cNvSpPr/>
            <p:nvPr/>
          </p:nvSpPr>
          <p:spPr>
            <a:xfrm>
              <a:off x="1808" y="1558"/>
              <a:ext cx="487" cy="173"/>
            </a:xfrm>
            <a:prstGeom prst="line">
              <a:avLst/>
            </a:prstGeom>
            <a:ln w="7938" cap="flat" cmpd="sng">
              <a:solidFill>
                <a:srgbClr val="000000"/>
              </a:solidFill>
              <a:prstDash val="solid"/>
              <a:headEnd type="none" w="med" len="med"/>
              <a:tailEnd type="none" w="med" len="med"/>
            </a:ln>
          </p:spPr>
        </p:sp>
        <p:sp>
          <p:nvSpPr>
            <p:cNvPr id="25656" name="Freeform 65"/>
            <p:cNvSpPr/>
            <p:nvPr/>
          </p:nvSpPr>
          <p:spPr>
            <a:xfrm>
              <a:off x="2272" y="1692"/>
              <a:ext cx="82" cy="68"/>
            </a:xfrm>
            <a:custGeom>
              <a:avLst/>
              <a:gdLst>
                <a:gd name="txL" fmla="*/ 0 w 82"/>
                <a:gd name="txT" fmla="*/ 0 h 68"/>
                <a:gd name="txR" fmla="*/ 82 w 82"/>
                <a:gd name="txB" fmla="*/ 68 h 68"/>
              </a:gdLst>
              <a:ahLst/>
              <a:cxnLst>
                <a:cxn ang="0">
                  <a:pos x="23" y="0"/>
                </a:cxn>
                <a:cxn ang="0">
                  <a:pos x="82" y="58"/>
                </a:cxn>
                <a:cxn ang="0">
                  <a:pos x="0" y="68"/>
                </a:cxn>
                <a:cxn ang="0">
                  <a:pos x="23" y="0"/>
                </a:cxn>
              </a:cxnLst>
              <a:rect l="txL" t="txT" r="txR" b="txB"/>
              <a:pathLst>
                <a:path w="82" h="68">
                  <a:moveTo>
                    <a:pt x="23" y="0"/>
                  </a:moveTo>
                  <a:lnTo>
                    <a:pt x="82" y="58"/>
                  </a:lnTo>
                  <a:lnTo>
                    <a:pt x="0" y="68"/>
                  </a:lnTo>
                  <a:lnTo>
                    <a:pt x="23" y="0"/>
                  </a:lnTo>
                  <a:close/>
                </a:path>
              </a:pathLst>
            </a:custGeom>
            <a:solidFill>
              <a:srgbClr val="000000">
                <a:alpha val="100000"/>
              </a:srgbClr>
            </a:solidFill>
            <a:ln w="9525">
              <a:noFill/>
            </a:ln>
          </p:spPr>
          <p:txBody>
            <a:bodyPr/>
            <a:p>
              <a:endParaRPr lang="zh-CN" altLang="en-US"/>
            </a:p>
          </p:txBody>
        </p:sp>
        <p:sp>
          <p:nvSpPr>
            <p:cNvPr id="25657" name="Line 66"/>
            <p:cNvSpPr/>
            <p:nvPr/>
          </p:nvSpPr>
          <p:spPr>
            <a:xfrm flipH="1">
              <a:off x="1868" y="2135"/>
              <a:ext cx="486" cy="168"/>
            </a:xfrm>
            <a:prstGeom prst="line">
              <a:avLst/>
            </a:prstGeom>
            <a:ln w="7938" cap="flat" cmpd="sng">
              <a:solidFill>
                <a:srgbClr val="000000"/>
              </a:solidFill>
              <a:prstDash val="solid"/>
              <a:headEnd type="none" w="med" len="med"/>
              <a:tailEnd type="none" w="med" len="med"/>
            </a:ln>
          </p:spPr>
        </p:sp>
        <p:sp>
          <p:nvSpPr>
            <p:cNvPr id="25658" name="Freeform 67"/>
            <p:cNvSpPr/>
            <p:nvPr/>
          </p:nvSpPr>
          <p:spPr>
            <a:xfrm>
              <a:off x="1808" y="2265"/>
              <a:ext cx="78" cy="72"/>
            </a:xfrm>
            <a:custGeom>
              <a:avLst/>
              <a:gdLst>
                <a:gd name="txL" fmla="*/ 0 w 78"/>
                <a:gd name="txT" fmla="*/ 0 h 72"/>
                <a:gd name="txR" fmla="*/ 78 w 78"/>
                <a:gd name="txB" fmla="*/ 72 h 72"/>
              </a:gdLst>
              <a:ahLst/>
              <a:cxnLst>
                <a:cxn ang="0">
                  <a:pos x="55" y="0"/>
                </a:cxn>
                <a:cxn ang="0">
                  <a:pos x="0" y="63"/>
                </a:cxn>
                <a:cxn ang="0">
                  <a:pos x="78" y="72"/>
                </a:cxn>
                <a:cxn ang="0">
                  <a:pos x="55" y="0"/>
                </a:cxn>
              </a:cxnLst>
              <a:rect l="txL" t="txT" r="txR" b="txB"/>
              <a:pathLst>
                <a:path w="78" h="72">
                  <a:moveTo>
                    <a:pt x="55" y="0"/>
                  </a:moveTo>
                  <a:lnTo>
                    <a:pt x="0" y="63"/>
                  </a:lnTo>
                  <a:lnTo>
                    <a:pt x="78" y="72"/>
                  </a:lnTo>
                  <a:lnTo>
                    <a:pt x="55" y="0"/>
                  </a:lnTo>
                  <a:close/>
                </a:path>
              </a:pathLst>
            </a:custGeom>
            <a:solidFill>
              <a:srgbClr val="000000">
                <a:alpha val="100000"/>
              </a:srgbClr>
            </a:solidFill>
            <a:ln w="9525">
              <a:noFill/>
            </a:ln>
          </p:spPr>
          <p:txBody>
            <a:bodyPr/>
            <a:p>
              <a:endParaRPr lang="zh-CN" altLang="en-US"/>
            </a:p>
          </p:txBody>
        </p:sp>
        <p:sp>
          <p:nvSpPr>
            <p:cNvPr id="25659" name="Line 68"/>
            <p:cNvSpPr/>
            <p:nvPr/>
          </p:nvSpPr>
          <p:spPr>
            <a:xfrm flipH="1">
              <a:off x="1140" y="2520"/>
              <a:ext cx="487" cy="168"/>
            </a:xfrm>
            <a:prstGeom prst="line">
              <a:avLst/>
            </a:prstGeom>
            <a:ln w="7938" cap="flat" cmpd="sng">
              <a:solidFill>
                <a:srgbClr val="000000"/>
              </a:solidFill>
              <a:prstDash val="solid"/>
              <a:headEnd type="none" w="med" len="med"/>
              <a:tailEnd type="none" w="med" len="med"/>
            </a:ln>
          </p:spPr>
        </p:sp>
        <p:sp>
          <p:nvSpPr>
            <p:cNvPr id="25660" name="Freeform 69"/>
            <p:cNvSpPr/>
            <p:nvPr/>
          </p:nvSpPr>
          <p:spPr>
            <a:xfrm>
              <a:off x="1081" y="2650"/>
              <a:ext cx="77" cy="72"/>
            </a:xfrm>
            <a:custGeom>
              <a:avLst/>
              <a:gdLst>
                <a:gd name="txL" fmla="*/ 0 w 77"/>
                <a:gd name="txT" fmla="*/ 0 h 72"/>
                <a:gd name="txR" fmla="*/ 77 w 77"/>
                <a:gd name="txB" fmla="*/ 72 h 72"/>
              </a:gdLst>
              <a:ahLst/>
              <a:cxnLst>
                <a:cxn ang="0">
                  <a:pos x="55" y="0"/>
                </a:cxn>
                <a:cxn ang="0">
                  <a:pos x="0" y="62"/>
                </a:cxn>
                <a:cxn ang="0">
                  <a:pos x="77" y="72"/>
                </a:cxn>
                <a:cxn ang="0">
                  <a:pos x="55" y="0"/>
                </a:cxn>
              </a:cxnLst>
              <a:rect l="txL" t="txT" r="txR" b="txB"/>
              <a:pathLst>
                <a:path w="77" h="72">
                  <a:moveTo>
                    <a:pt x="55" y="0"/>
                  </a:moveTo>
                  <a:lnTo>
                    <a:pt x="0" y="62"/>
                  </a:lnTo>
                  <a:lnTo>
                    <a:pt x="77" y="72"/>
                  </a:lnTo>
                  <a:lnTo>
                    <a:pt x="55" y="0"/>
                  </a:lnTo>
                  <a:close/>
                </a:path>
              </a:pathLst>
            </a:custGeom>
            <a:solidFill>
              <a:srgbClr val="000000">
                <a:alpha val="100000"/>
              </a:srgbClr>
            </a:solidFill>
            <a:ln w="9525">
              <a:noFill/>
            </a:ln>
          </p:spPr>
          <p:txBody>
            <a:bodyPr/>
            <a:p>
              <a:endParaRPr lang="zh-CN" altLang="en-US"/>
            </a:p>
          </p:txBody>
        </p:sp>
        <p:sp>
          <p:nvSpPr>
            <p:cNvPr id="25661" name="Rectangle 70"/>
            <p:cNvSpPr/>
            <p:nvPr/>
          </p:nvSpPr>
          <p:spPr>
            <a:xfrm>
              <a:off x="1357" y="1105"/>
              <a:ext cx="64"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A</a:t>
              </a:r>
              <a:endParaRPr lang="en-US" altLang="zh-CN" sz="1200" dirty="0">
                <a:ea typeface="宋体" panose="02010600030101010101" pitchFamily="2" charset="-122"/>
              </a:endParaRPr>
            </a:p>
          </p:txBody>
        </p:sp>
        <p:sp>
          <p:nvSpPr>
            <p:cNvPr id="25662" name="Rectangle 71"/>
            <p:cNvSpPr/>
            <p:nvPr/>
          </p:nvSpPr>
          <p:spPr>
            <a:xfrm>
              <a:off x="2085" y="1490"/>
              <a:ext cx="64"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B</a:t>
              </a:r>
              <a:endParaRPr lang="en-US" altLang="zh-CN" sz="1200" dirty="0">
                <a:ea typeface="宋体" panose="02010600030101010101" pitchFamily="2" charset="-122"/>
              </a:endParaRPr>
            </a:p>
          </p:txBody>
        </p:sp>
        <p:sp>
          <p:nvSpPr>
            <p:cNvPr id="25663" name="Rectangle 72"/>
            <p:cNvSpPr/>
            <p:nvPr/>
          </p:nvSpPr>
          <p:spPr>
            <a:xfrm>
              <a:off x="2085" y="2068"/>
              <a:ext cx="69"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C</a:t>
              </a:r>
              <a:endParaRPr lang="en-US" altLang="zh-CN" sz="1200" dirty="0">
                <a:ea typeface="宋体" panose="02010600030101010101" pitchFamily="2" charset="-122"/>
              </a:endParaRPr>
            </a:p>
          </p:txBody>
        </p:sp>
        <p:sp>
          <p:nvSpPr>
            <p:cNvPr id="25664" name="Rectangle 73"/>
            <p:cNvSpPr/>
            <p:nvPr/>
          </p:nvSpPr>
          <p:spPr>
            <a:xfrm>
              <a:off x="1357" y="2453"/>
              <a:ext cx="69"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D</a:t>
              </a:r>
              <a:endParaRPr lang="en-US" altLang="zh-CN" sz="1200" dirty="0">
                <a:ea typeface="宋体" panose="02010600030101010101" pitchFamily="2" charset="-122"/>
              </a:endParaRPr>
            </a:p>
          </p:txBody>
        </p:sp>
        <p:sp>
          <p:nvSpPr>
            <p:cNvPr id="25665" name="Rectangle 74"/>
            <p:cNvSpPr/>
            <p:nvPr/>
          </p:nvSpPr>
          <p:spPr>
            <a:xfrm>
              <a:off x="1704" y="3203"/>
              <a:ext cx="118"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(a)</a:t>
              </a:r>
              <a:endParaRPr lang="en-US" altLang="zh-CN" sz="1200" dirty="0">
                <a:ea typeface="宋体" panose="02010600030101010101" pitchFamily="2" charset="-122"/>
              </a:endParaRPr>
            </a:p>
          </p:txBody>
        </p:sp>
        <p:sp>
          <p:nvSpPr>
            <p:cNvPr id="25666" name="Rectangle 75"/>
            <p:cNvSpPr/>
            <p:nvPr/>
          </p:nvSpPr>
          <p:spPr>
            <a:xfrm>
              <a:off x="3339" y="2833"/>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76</a:t>
              </a:r>
              <a:endParaRPr lang="en-US" altLang="zh-CN" sz="1200" dirty="0">
                <a:ea typeface="宋体" panose="02010600030101010101" pitchFamily="2" charset="-122"/>
              </a:endParaRPr>
            </a:p>
          </p:txBody>
        </p:sp>
        <p:sp>
          <p:nvSpPr>
            <p:cNvPr id="25667" name="Rectangle 76"/>
            <p:cNvSpPr/>
            <p:nvPr/>
          </p:nvSpPr>
          <p:spPr>
            <a:xfrm>
              <a:off x="3259" y="884"/>
              <a:ext cx="182" cy="2117"/>
            </a:xfrm>
            <a:prstGeom prst="rect">
              <a:avLst/>
            </a:prstGeom>
            <a:noFill/>
            <a:ln w="7938" cap="flat" cmpd="sng">
              <a:solidFill>
                <a:srgbClr val="000000"/>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1200" dirty="0">
                <a:ea typeface="宋体" panose="02010600030101010101" pitchFamily="2" charset="-122"/>
              </a:endParaRPr>
            </a:p>
          </p:txBody>
        </p:sp>
        <p:sp>
          <p:nvSpPr>
            <p:cNvPr id="25668" name="Rectangle 77"/>
            <p:cNvSpPr/>
            <p:nvPr/>
          </p:nvSpPr>
          <p:spPr>
            <a:xfrm>
              <a:off x="3339" y="2640"/>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70</a:t>
              </a:r>
              <a:endParaRPr lang="en-US" altLang="zh-CN" sz="1200" dirty="0">
                <a:ea typeface="宋体" panose="02010600030101010101" pitchFamily="2" charset="-122"/>
              </a:endParaRPr>
            </a:p>
          </p:txBody>
        </p:sp>
        <p:sp>
          <p:nvSpPr>
            <p:cNvPr id="25669" name="Rectangle 78"/>
            <p:cNvSpPr/>
            <p:nvPr/>
          </p:nvSpPr>
          <p:spPr>
            <a:xfrm>
              <a:off x="3339" y="2453"/>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48</a:t>
              </a:r>
              <a:endParaRPr lang="en-US" altLang="zh-CN" sz="1200" dirty="0">
                <a:ea typeface="宋体" panose="02010600030101010101" pitchFamily="2" charset="-122"/>
              </a:endParaRPr>
            </a:p>
          </p:txBody>
        </p:sp>
        <p:sp>
          <p:nvSpPr>
            <p:cNvPr id="25670" name="Rectangle 79"/>
            <p:cNvSpPr/>
            <p:nvPr/>
          </p:nvSpPr>
          <p:spPr>
            <a:xfrm>
              <a:off x="3339" y="2260"/>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42</a:t>
              </a:r>
              <a:endParaRPr lang="en-US" altLang="zh-CN" sz="1200" dirty="0">
                <a:ea typeface="宋体" panose="02010600030101010101" pitchFamily="2" charset="-122"/>
              </a:endParaRPr>
            </a:p>
          </p:txBody>
        </p:sp>
        <p:sp>
          <p:nvSpPr>
            <p:cNvPr id="25671" name="Rectangle 80"/>
            <p:cNvSpPr/>
            <p:nvPr/>
          </p:nvSpPr>
          <p:spPr>
            <a:xfrm>
              <a:off x="3339" y="2068"/>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36</a:t>
              </a:r>
              <a:endParaRPr lang="en-US" altLang="zh-CN" sz="1200" dirty="0">
                <a:ea typeface="宋体" panose="02010600030101010101" pitchFamily="2" charset="-122"/>
              </a:endParaRPr>
            </a:p>
          </p:txBody>
        </p:sp>
        <p:sp>
          <p:nvSpPr>
            <p:cNvPr id="25672" name="Rectangle 81"/>
            <p:cNvSpPr/>
            <p:nvPr/>
          </p:nvSpPr>
          <p:spPr>
            <a:xfrm>
              <a:off x="3339" y="1875"/>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30</a:t>
              </a:r>
              <a:endParaRPr lang="en-US" altLang="zh-CN" sz="1200" dirty="0">
                <a:ea typeface="宋体" panose="02010600030101010101" pitchFamily="2" charset="-122"/>
              </a:endParaRPr>
            </a:p>
          </p:txBody>
        </p:sp>
        <p:sp>
          <p:nvSpPr>
            <p:cNvPr id="25673" name="Rectangle 82"/>
            <p:cNvSpPr/>
            <p:nvPr/>
          </p:nvSpPr>
          <p:spPr>
            <a:xfrm>
              <a:off x="3339" y="1683"/>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24</a:t>
              </a:r>
              <a:endParaRPr lang="en-US" altLang="zh-CN" sz="1200" dirty="0">
                <a:ea typeface="宋体" panose="02010600030101010101" pitchFamily="2" charset="-122"/>
              </a:endParaRPr>
            </a:p>
          </p:txBody>
        </p:sp>
        <p:sp>
          <p:nvSpPr>
            <p:cNvPr id="25674" name="Rectangle 83"/>
            <p:cNvSpPr/>
            <p:nvPr/>
          </p:nvSpPr>
          <p:spPr>
            <a:xfrm>
              <a:off x="3339" y="1490"/>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18</a:t>
              </a:r>
              <a:endParaRPr lang="en-US" altLang="zh-CN" sz="1200" dirty="0">
                <a:ea typeface="宋体" panose="02010600030101010101" pitchFamily="2" charset="-122"/>
              </a:endParaRPr>
            </a:p>
          </p:txBody>
        </p:sp>
        <p:sp>
          <p:nvSpPr>
            <p:cNvPr id="25675" name="Rectangle 84"/>
            <p:cNvSpPr/>
            <p:nvPr/>
          </p:nvSpPr>
          <p:spPr>
            <a:xfrm>
              <a:off x="3339" y="1298"/>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12</a:t>
              </a:r>
              <a:endParaRPr lang="en-US" altLang="zh-CN" sz="1200" dirty="0">
                <a:ea typeface="宋体" panose="02010600030101010101" pitchFamily="2" charset="-122"/>
              </a:endParaRPr>
            </a:p>
          </p:txBody>
        </p:sp>
        <p:sp>
          <p:nvSpPr>
            <p:cNvPr id="25676" name="Rectangle 85"/>
            <p:cNvSpPr/>
            <p:nvPr/>
          </p:nvSpPr>
          <p:spPr>
            <a:xfrm>
              <a:off x="3358" y="1105"/>
              <a:ext cx="53"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6</a:t>
              </a:r>
              <a:endParaRPr lang="en-US" altLang="zh-CN" sz="1200" dirty="0">
                <a:ea typeface="宋体" panose="02010600030101010101" pitchFamily="2" charset="-122"/>
              </a:endParaRPr>
            </a:p>
          </p:txBody>
        </p:sp>
        <p:sp>
          <p:nvSpPr>
            <p:cNvPr id="25677" name="Rectangle 86"/>
            <p:cNvSpPr/>
            <p:nvPr/>
          </p:nvSpPr>
          <p:spPr>
            <a:xfrm>
              <a:off x="3358" y="913"/>
              <a:ext cx="53"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0</a:t>
              </a:r>
              <a:endParaRPr lang="en-US" altLang="zh-CN" sz="1200" dirty="0">
                <a:ea typeface="宋体" panose="02010600030101010101" pitchFamily="2" charset="-122"/>
              </a:endParaRPr>
            </a:p>
          </p:txBody>
        </p:sp>
        <p:sp>
          <p:nvSpPr>
            <p:cNvPr id="25678" name="Rectangle 87"/>
            <p:cNvSpPr/>
            <p:nvPr/>
          </p:nvSpPr>
          <p:spPr>
            <a:xfrm>
              <a:off x="4062" y="2833"/>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85</a:t>
              </a:r>
              <a:endParaRPr lang="en-US" altLang="zh-CN" sz="1200" dirty="0">
                <a:ea typeface="宋体" panose="02010600030101010101" pitchFamily="2" charset="-122"/>
              </a:endParaRPr>
            </a:p>
          </p:txBody>
        </p:sp>
        <p:sp>
          <p:nvSpPr>
            <p:cNvPr id="25679" name="Rectangle 88"/>
            <p:cNvSpPr/>
            <p:nvPr/>
          </p:nvSpPr>
          <p:spPr>
            <a:xfrm>
              <a:off x="3986" y="884"/>
              <a:ext cx="182" cy="2117"/>
            </a:xfrm>
            <a:prstGeom prst="rect">
              <a:avLst/>
            </a:prstGeom>
            <a:noFill/>
            <a:ln w="7938" cap="flat" cmpd="sng">
              <a:solidFill>
                <a:srgbClr val="000000"/>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1200" dirty="0">
                <a:ea typeface="宋体" panose="02010600030101010101" pitchFamily="2" charset="-122"/>
              </a:endParaRPr>
            </a:p>
          </p:txBody>
        </p:sp>
        <p:sp>
          <p:nvSpPr>
            <p:cNvPr id="25680" name="Rectangle 89"/>
            <p:cNvSpPr/>
            <p:nvPr/>
          </p:nvSpPr>
          <p:spPr>
            <a:xfrm>
              <a:off x="4062" y="2640"/>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77</a:t>
              </a:r>
              <a:endParaRPr lang="en-US" altLang="zh-CN" sz="1200" dirty="0">
                <a:ea typeface="宋体" panose="02010600030101010101" pitchFamily="2" charset="-122"/>
              </a:endParaRPr>
            </a:p>
          </p:txBody>
        </p:sp>
        <p:sp>
          <p:nvSpPr>
            <p:cNvPr id="25681" name="Rectangle 90"/>
            <p:cNvSpPr/>
            <p:nvPr/>
          </p:nvSpPr>
          <p:spPr>
            <a:xfrm>
              <a:off x="4062" y="2453"/>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69</a:t>
              </a:r>
              <a:endParaRPr lang="en-US" altLang="zh-CN" sz="1200" dirty="0">
                <a:ea typeface="宋体" panose="02010600030101010101" pitchFamily="2" charset="-122"/>
              </a:endParaRPr>
            </a:p>
          </p:txBody>
        </p:sp>
        <p:sp>
          <p:nvSpPr>
            <p:cNvPr id="25682" name="Rectangle 91"/>
            <p:cNvSpPr/>
            <p:nvPr/>
          </p:nvSpPr>
          <p:spPr>
            <a:xfrm>
              <a:off x="4062" y="2260"/>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61</a:t>
              </a:r>
              <a:endParaRPr lang="en-US" altLang="zh-CN" sz="1200" dirty="0">
                <a:ea typeface="宋体" panose="02010600030101010101" pitchFamily="2" charset="-122"/>
              </a:endParaRPr>
            </a:p>
          </p:txBody>
        </p:sp>
        <p:sp>
          <p:nvSpPr>
            <p:cNvPr id="25683" name="Rectangle 92"/>
            <p:cNvSpPr/>
            <p:nvPr/>
          </p:nvSpPr>
          <p:spPr>
            <a:xfrm>
              <a:off x="4062" y="2068"/>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48</a:t>
              </a:r>
              <a:endParaRPr lang="en-US" altLang="zh-CN" sz="1200" dirty="0">
                <a:ea typeface="宋体" panose="02010600030101010101" pitchFamily="2" charset="-122"/>
              </a:endParaRPr>
            </a:p>
          </p:txBody>
        </p:sp>
        <p:sp>
          <p:nvSpPr>
            <p:cNvPr id="25684" name="Rectangle 93"/>
            <p:cNvSpPr/>
            <p:nvPr/>
          </p:nvSpPr>
          <p:spPr>
            <a:xfrm>
              <a:off x="4062" y="1875"/>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40</a:t>
              </a:r>
              <a:endParaRPr lang="en-US" altLang="zh-CN" sz="1200" dirty="0">
                <a:ea typeface="宋体" panose="02010600030101010101" pitchFamily="2" charset="-122"/>
              </a:endParaRPr>
            </a:p>
          </p:txBody>
        </p:sp>
        <p:sp>
          <p:nvSpPr>
            <p:cNvPr id="25685" name="Rectangle 94"/>
            <p:cNvSpPr/>
            <p:nvPr/>
          </p:nvSpPr>
          <p:spPr>
            <a:xfrm>
              <a:off x="4062" y="1683"/>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32</a:t>
              </a:r>
              <a:endParaRPr lang="en-US" altLang="zh-CN" sz="1200" dirty="0">
                <a:ea typeface="宋体" panose="02010600030101010101" pitchFamily="2" charset="-122"/>
              </a:endParaRPr>
            </a:p>
          </p:txBody>
        </p:sp>
        <p:sp>
          <p:nvSpPr>
            <p:cNvPr id="25686" name="Rectangle 95"/>
            <p:cNvSpPr/>
            <p:nvPr/>
          </p:nvSpPr>
          <p:spPr>
            <a:xfrm>
              <a:off x="4062" y="1490"/>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24</a:t>
              </a:r>
              <a:endParaRPr lang="en-US" altLang="zh-CN" sz="1200" dirty="0">
                <a:ea typeface="宋体" panose="02010600030101010101" pitchFamily="2" charset="-122"/>
              </a:endParaRPr>
            </a:p>
          </p:txBody>
        </p:sp>
        <p:sp>
          <p:nvSpPr>
            <p:cNvPr id="25687" name="Rectangle 96"/>
            <p:cNvSpPr/>
            <p:nvPr/>
          </p:nvSpPr>
          <p:spPr>
            <a:xfrm>
              <a:off x="4062" y="1298"/>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16</a:t>
              </a:r>
              <a:endParaRPr lang="en-US" altLang="zh-CN" sz="1200" dirty="0">
                <a:ea typeface="宋体" panose="02010600030101010101" pitchFamily="2" charset="-122"/>
              </a:endParaRPr>
            </a:p>
          </p:txBody>
        </p:sp>
        <p:sp>
          <p:nvSpPr>
            <p:cNvPr id="25688" name="Rectangle 97"/>
            <p:cNvSpPr/>
            <p:nvPr/>
          </p:nvSpPr>
          <p:spPr>
            <a:xfrm>
              <a:off x="4085" y="1105"/>
              <a:ext cx="53"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8</a:t>
              </a:r>
              <a:endParaRPr lang="en-US" altLang="zh-CN" sz="1200" dirty="0">
                <a:ea typeface="宋体" panose="02010600030101010101" pitchFamily="2" charset="-122"/>
              </a:endParaRPr>
            </a:p>
          </p:txBody>
        </p:sp>
        <p:sp>
          <p:nvSpPr>
            <p:cNvPr id="25689" name="Rectangle 98"/>
            <p:cNvSpPr/>
            <p:nvPr/>
          </p:nvSpPr>
          <p:spPr>
            <a:xfrm>
              <a:off x="4085" y="913"/>
              <a:ext cx="53"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0</a:t>
              </a:r>
              <a:endParaRPr lang="en-US" altLang="zh-CN" sz="1200" dirty="0">
                <a:ea typeface="宋体" panose="02010600030101010101" pitchFamily="2" charset="-122"/>
              </a:endParaRPr>
            </a:p>
          </p:txBody>
        </p:sp>
        <p:sp>
          <p:nvSpPr>
            <p:cNvPr id="25690" name="Rectangle 99"/>
            <p:cNvSpPr/>
            <p:nvPr/>
          </p:nvSpPr>
          <p:spPr>
            <a:xfrm>
              <a:off x="4757" y="2857"/>
              <a:ext cx="160"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100</a:t>
              </a:r>
              <a:endParaRPr lang="en-US" altLang="zh-CN" sz="1200" dirty="0">
                <a:ea typeface="宋体" panose="02010600030101010101" pitchFamily="2" charset="-122"/>
              </a:endParaRPr>
            </a:p>
          </p:txBody>
        </p:sp>
        <p:sp>
          <p:nvSpPr>
            <p:cNvPr id="25691" name="Rectangle 100"/>
            <p:cNvSpPr/>
            <p:nvPr/>
          </p:nvSpPr>
          <p:spPr>
            <a:xfrm>
              <a:off x="4714" y="884"/>
              <a:ext cx="182" cy="2117"/>
            </a:xfrm>
            <a:prstGeom prst="rect">
              <a:avLst/>
            </a:prstGeom>
            <a:noFill/>
            <a:ln w="7938" cap="flat" cmpd="sng">
              <a:solidFill>
                <a:srgbClr val="000000"/>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1200" dirty="0">
                <a:ea typeface="宋体" panose="02010600030101010101" pitchFamily="2" charset="-122"/>
              </a:endParaRPr>
            </a:p>
          </p:txBody>
        </p:sp>
        <p:sp>
          <p:nvSpPr>
            <p:cNvPr id="25692" name="Rectangle 101"/>
            <p:cNvSpPr/>
            <p:nvPr/>
          </p:nvSpPr>
          <p:spPr>
            <a:xfrm>
              <a:off x="4790" y="2640"/>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90</a:t>
              </a:r>
              <a:endParaRPr lang="en-US" altLang="zh-CN" sz="1200" dirty="0">
                <a:ea typeface="宋体" panose="02010600030101010101" pitchFamily="2" charset="-122"/>
              </a:endParaRPr>
            </a:p>
          </p:txBody>
        </p:sp>
        <p:sp>
          <p:nvSpPr>
            <p:cNvPr id="25693" name="Rectangle 102"/>
            <p:cNvSpPr/>
            <p:nvPr/>
          </p:nvSpPr>
          <p:spPr>
            <a:xfrm>
              <a:off x="4790" y="2453"/>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80</a:t>
              </a:r>
              <a:endParaRPr lang="en-US" altLang="zh-CN" sz="1200" dirty="0">
                <a:ea typeface="宋体" panose="02010600030101010101" pitchFamily="2" charset="-122"/>
              </a:endParaRPr>
            </a:p>
          </p:txBody>
        </p:sp>
        <p:sp>
          <p:nvSpPr>
            <p:cNvPr id="25694" name="Rectangle 103"/>
            <p:cNvSpPr/>
            <p:nvPr/>
          </p:nvSpPr>
          <p:spPr>
            <a:xfrm>
              <a:off x="4790" y="2260"/>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70</a:t>
              </a:r>
              <a:endParaRPr lang="en-US" altLang="zh-CN" sz="1200" dirty="0">
                <a:ea typeface="宋体" panose="02010600030101010101" pitchFamily="2" charset="-122"/>
              </a:endParaRPr>
            </a:p>
          </p:txBody>
        </p:sp>
        <p:sp>
          <p:nvSpPr>
            <p:cNvPr id="25695" name="Rectangle 104"/>
            <p:cNvSpPr/>
            <p:nvPr/>
          </p:nvSpPr>
          <p:spPr>
            <a:xfrm>
              <a:off x="4790" y="2068"/>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60</a:t>
              </a:r>
              <a:endParaRPr lang="en-US" altLang="zh-CN" sz="1200" dirty="0">
                <a:ea typeface="宋体" panose="02010600030101010101" pitchFamily="2" charset="-122"/>
              </a:endParaRPr>
            </a:p>
          </p:txBody>
        </p:sp>
        <p:sp>
          <p:nvSpPr>
            <p:cNvPr id="25696" name="Rectangle 105"/>
            <p:cNvSpPr/>
            <p:nvPr/>
          </p:nvSpPr>
          <p:spPr>
            <a:xfrm>
              <a:off x="4790" y="1875"/>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50</a:t>
              </a:r>
              <a:endParaRPr lang="en-US" altLang="zh-CN" sz="1200" dirty="0">
                <a:ea typeface="宋体" panose="02010600030101010101" pitchFamily="2" charset="-122"/>
              </a:endParaRPr>
            </a:p>
          </p:txBody>
        </p:sp>
        <p:sp>
          <p:nvSpPr>
            <p:cNvPr id="25697" name="Rectangle 106"/>
            <p:cNvSpPr/>
            <p:nvPr/>
          </p:nvSpPr>
          <p:spPr>
            <a:xfrm>
              <a:off x="4790" y="1683"/>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40</a:t>
              </a:r>
              <a:endParaRPr lang="en-US" altLang="zh-CN" sz="1200" dirty="0">
                <a:ea typeface="宋体" panose="02010600030101010101" pitchFamily="2" charset="-122"/>
              </a:endParaRPr>
            </a:p>
          </p:txBody>
        </p:sp>
        <p:sp>
          <p:nvSpPr>
            <p:cNvPr id="25698" name="Rectangle 107"/>
            <p:cNvSpPr/>
            <p:nvPr/>
          </p:nvSpPr>
          <p:spPr>
            <a:xfrm>
              <a:off x="4790" y="1490"/>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30</a:t>
              </a:r>
              <a:endParaRPr lang="en-US" altLang="zh-CN" sz="1200" dirty="0">
                <a:ea typeface="宋体" panose="02010600030101010101" pitchFamily="2" charset="-122"/>
              </a:endParaRPr>
            </a:p>
          </p:txBody>
        </p:sp>
        <p:sp>
          <p:nvSpPr>
            <p:cNvPr id="25699" name="Rectangle 108"/>
            <p:cNvSpPr/>
            <p:nvPr/>
          </p:nvSpPr>
          <p:spPr>
            <a:xfrm>
              <a:off x="4790" y="1298"/>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20</a:t>
              </a:r>
              <a:endParaRPr lang="en-US" altLang="zh-CN" sz="1200" dirty="0">
                <a:ea typeface="宋体" panose="02010600030101010101" pitchFamily="2" charset="-122"/>
              </a:endParaRPr>
            </a:p>
          </p:txBody>
        </p:sp>
        <p:sp>
          <p:nvSpPr>
            <p:cNvPr id="25700" name="Rectangle 109"/>
            <p:cNvSpPr/>
            <p:nvPr/>
          </p:nvSpPr>
          <p:spPr>
            <a:xfrm>
              <a:off x="4790" y="1105"/>
              <a:ext cx="107"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10</a:t>
              </a:r>
              <a:endParaRPr lang="en-US" altLang="zh-CN" sz="1200" dirty="0">
                <a:ea typeface="宋体" panose="02010600030101010101" pitchFamily="2" charset="-122"/>
              </a:endParaRPr>
            </a:p>
          </p:txBody>
        </p:sp>
        <p:sp>
          <p:nvSpPr>
            <p:cNvPr id="25701" name="Rectangle 110"/>
            <p:cNvSpPr/>
            <p:nvPr/>
          </p:nvSpPr>
          <p:spPr>
            <a:xfrm>
              <a:off x="4813" y="913"/>
              <a:ext cx="53"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0</a:t>
              </a:r>
              <a:endParaRPr lang="en-US" altLang="zh-CN" sz="1200" dirty="0">
                <a:ea typeface="宋体" panose="02010600030101010101" pitchFamily="2" charset="-122"/>
              </a:endParaRPr>
            </a:p>
          </p:txBody>
        </p:sp>
        <p:sp>
          <p:nvSpPr>
            <p:cNvPr id="25702" name="Line 111"/>
            <p:cNvSpPr/>
            <p:nvPr/>
          </p:nvSpPr>
          <p:spPr>
            <a:xfrm flipH="1">
              <a:off x="3259" y="1076"/>
              <a:ext cx="1637" cy="1"/>
            </a:xfrm>
            <a:prstGeom prst="line">
              <a:avLst/>
            </a:prstGeom>
            <a:ln w="7938" cap="flat" cmpd="sng">
              <a:solidFill>
                <a:srgbClr val="000000"/>
              </a:solidFill>
              <a:prstDash val="sysDot"/>
              <a:headEnd type="none" w="med" len="med"/>
              <a:tailEnd type="none" w="med" len="med"/>
            </a:ln>
          </p:spPr>
        </p:sp>
        <p:sp>
          <p:nvSpPr>
            <p:cNvPr id="25703" name="Line 112"/>
            <p:cNvSpPr/>
            <p:nvPr/>
          </p:nvSpPr>
          <p:spPr>
            <a:xfrm flipH="1">
              <a:off x="3259" y="1269"/>
              <a:ext cx="1637" cy="1"/>
            </a:xfrm>
            <a:prstGeom prst="line">
              <a:avLst/>
            </a:prstGeom>
            <a:ln w="7938" cap="flat" cmpd="sng">
              <a:solidFill>
                <a:srgbClr val="000000"/>
              </a:solidFill>
              <a:prstDash val="sysDot"/>
              <a:headEnd type="none" w="med" len="med"/>
              <a:tailEnd type="none" w="med" len="med"/>
            </a:ln>
          </p:spPr>
        </p:sp>
        <p:sp>
          <p:nvSpPr>
            <p:cNvPr id="25704" name="Line 113"/>
            <p:cNvSpPr/>
            <p:nvPr/>
          </p:nvSpPr>
          <p:spPr>
            <a:xfrm flipH="1">
              <a:off x="3259" y="1461"/>
              <a:ext cx="1637" cy="1"/>
            </a:xfrm>
            <a:prstGeom prst="line">
              <a:avLst/>
            </a:prstGeom>
            <a:ln w="7938" cap="flat" cmpd="sng">
              <a:solidFill>
                <a:srgbClr val="000000"/>
              </a:solidFill>
              <a:prstDash val="sysDot"/>
              <a:headEnd type="none" w="med" len="med"/>
              <a:tailEnd type="none" w="med" len="med"/>
            </a:ln>
          </p:spPr>
        </p:sp>
        <p:sp>
          <p:nvSpPr>
            <p:cNvPr id="25705" name="Line 114"/>
            <p:cNvSpPr/>
            <p:nvPr/>
          </p:nvSpPr>
          <p:spPr>
            <a:xfrm flipH="1">
              <a:off x="3259" y="1654"/>
              <a:ext cx="1637" cy="1"/>
            </a:xfrm>
            <a:prstGeom prst="line">
              <a:avLst/>
            </a:prstGeom>
            <a:ln w="7938" cap="flat" cmpd="sng">
              <a:solidFill>
                <a:srgbClr val="000000"/>
              </a:solidFill>
              <a:prstDash val="sysDot"/>
              <a:headEnd type="none" w="med" len="med"/>
              <a:tailEnd type="none" w="med" len="med"/>
            </a:ln>
          </p:spPr>
        </p:sp>
        <p:sp>
          <p:nvSpPr>
            <p:cNvPr id="25706" name="Line 115"/>
            <p:cNvSpPr/>
            <p:nvPr/>
          </p:nvSpPr>
          <p:spPr>
            <a:xfrm flipH="1">
              <a:off x="3259" y="1846"/>
              <a:ext cx="1637" cy="1"/>
            </a:xfrm>
            <a:prstGeom prst="line">
              <a:avLst/>
            </a:prstGeom>
            <a:ln w="7938" cap="flat" cmpd="sng">
              <a:solidFill>
                <a:srgbClr val="000000"/>
              </a:solidFill>
              <a:prstDash val="sysDot"/>
              <a:headEnd type="none" w="med" len="med"/>
              <a:tailEnd type="none" w="med" len="med"/>
            </a:ln>
          </p:spPr>
        </p:sp>
        <p:sp>
          <p:nvSpPr>
            <p:cNvPr id="25707" name="Line 116"/>
            <p:cNvSpPr/>
            <p:nvPr/>
          </p:nvSpPr>
          <p:spPr>
            <a:xfrm flipH="1">
              <a:off x="3259" y="2039"/>
              <a:ext cx="1637" cy="1"/>
            </a:xfrm>
            <a:prstGeom prst="line">
              <a:avLst/>
            </a:prstGeom>
            <a:ln w="7938" cap="flat" cmpd="sng">
              <a:solidFill>
                <a:srgbClr val="000000"/>
              </a:solidFill>
              <a:prstDash val="sysDot"/>
              <a:headEnd type="none" w="med" len="med"/>
              <a:tailEnd type="none" w="med" len="med"/>
            </a:ln>
          </p:spPr>
        </p:sp>
        <p:sp>
          <p:nvSpPr>
            <p:cNvPr id="25708" name="Line 117"/>
            <p:cNvSpPr/>
            <p:nvPr/>
          </p:nvSpPr>
          <p:spPr>
            <a:xfrm flipH="1">
              <a:off x="3259" y="2231"/>
              <a:ext cx="1637" cy="1"/>
            </a:xfrm>
            <a:prstGeom prst="line">
              <a:avLst/>
            </a:prstGeom>
            <a:ln w="7938" cap="flat" cmpd="sng">
              <a:solidFill>
                <a:srgbClr val="000000"/>
              </a:solidFill>
              <a:prstDash val="sysDot"/>
              <a:headEnd type="none" w="med" len="med"/>
              <a:tailEnd type="none" w="med" len="med"/>
            </a:ln>
          </p:spPr>
        </p:sp>
        <p:sp>
          <p:nvSpPr>
            <p:cNvPr id="25709" name="Line 118"/>
            <p:cNvSpPr/>
            <p:nvPr/>
          </p:nvSpPr>
          <p:spPr>
            <a:xfrm flipH="1">
              <a:off x="3259" y="2424"/>
              <a:ext cx="1637" cy="1"/>
            </a:xfrm>
            <a:prstGeom prst="line">
              <a:avLst/>
            </a:prstGeom>
            <a:ln w="7938" cap="flat" cmpd="sng">
              <a:solidFill>
                <a:srgbClr val="000000"/>
              </a:solidFill>
              <a:prstDash val="sysDot"/>
              <a:headEnd type="none" w="med" len="med"/>
              <a:tailEnd type="none" w="med" len="med"/>
            </a:ln>
          </p:spPr>
        </p:sp>
        <p:sp>
          <p:nvSpPr>
            <p:cNvPr id="25710" name="Line 119"/>
            <p:cNvSpPr/>
            <p:nvPr/>
          </p:nvSpPr>
          <p:spPr>
            <a:xfrm flipH="1">
              <a:off x="3259" y="2616"/>
              <a:ext cx="1637" cy="1"/>
            </a:xfrm>
            <a:prstGeom prst="line">
              <a:avLst/>
            </a:prstGeom>
            <a:ln w="7938" cap="flat" cmpd="sng">
              <a:solidFill>
                <a:srgbClr val="000000"/>
              </a:solidFill>
              <a:prstDash val="sysDot"/>
              <a:headEnd type="none" w="med" len="med"/>
              <a:tailEnd type="none" w="med" len="med"/>
            </a:ln>
          </p:spPr>
        </p:sp>
        <p:sp>
          <p:nvSpPr>
            <p:cNvPr id="25711" name="Line 120"/>
            <p:cNvSpPr/>
            <p:nvPr/>
          </p:nvSpPr>
          <p:spPr>
            <a:xfrm flipH="1">
              <a:off x="3259" y="2809"/>
              <a:ext cx="1637" cy="1"/>
            </a:xfrm>
            <a:prstGeom prst="line">
              <a:avLst/>
            </a:prstGeom>
            <a:ln w="7938" cap="flat" cmpd="sng">
              <a:solidFill>
                <a:srgbClr val="000000"/>
              </a:solidFill>
              <a:prstDash val="sysDot"/>
              <a:headEnd type="none" w="med" len="med"/>
              <a:tailEnd type="none" w="med" len="med"/>
            </a:ln>
          </p:spPr>
        </p:sp>
        <p:sp>
          <p:nvSpPr>
            <p:cNvPr id="25712" name="Line 121"/>
            <p:cNvSpPr/>
            <p:nvPr/>
          </p:nvSpPr>
          <p:spPr>
            <a:xfrm>
              <a:off x="3441" y="1173"/>
              <a:ext cx="486" cy="173"/>
            </a:xfrm>
            <a:prstGeom prst="line">
              <a:avLst/>
            </a:prstGeom>
            <a:ln w="7938" cap="flat" cmpd="sng">
              <a:solidFill>
                <a:srgbClr val="000000"/>
              </a:solidFill>
              <a:prstDash val="solid"/>
              <a:headEnd type="none" w="med" len="med"/>
              <a:tailEnd type="none" w="med" len="med"/>
            </a:ln>
          </p:spPr>
        </p:sp>
        <p:sp>
          <p:nvSpPr>
            <p:cNvPr id="25713" name="Freeform 122"/>
            <p:cNvSpPr/>
            <p:nvPr/>
          </p:nvSpPr>
          <p:spPr>
            <a:xfrm>
              <a:off x="3909" y="1307"/>
              <a:ext cx="77" cy="68"/>
            </a:xfrm>
            <a:custGeom>
              <a:avLst/>
              <a:gdLst>
                <a:gd name="txL" fmla="*/ 0 w 77"/>
                <a:gd name="txT" fmla="*/ 0 h 68"/>
                <a:gd name="txR" fmla="*/ 77 w 77"/>
                <a:gd name="txB" fmla="*/ 68 h 68"/>
              </a:gdLst>
              <a:ahLst/>
              <a:cxnLst>
                <a:cxn ang="0">
                  <a:pos x="23" y="0"/>
                </a:cxn>
                <a:cxn ang="0">
                  <a:pos x="77" y="58"/>
                </a:cxn>
                <a:cxn ang="0">
                  <a:pos x="0" y="68"/>
                </a:cxn>
                <a:cxn ang="0">
                  <a:pos x="23" y="0"/>
                </a:cxn>
              </a:cxnLst>
              <a:rect l="txL" t="txT" r="txR" b="txB"/>
              <a:pathLst>
                <a:path w="77" h="68">
                  <a:moveTo>
                    <a:pt x="23" y="0"/>
                  </a:moveTo>
                  <a:lnTo>
                    <a:pt x="77" y="58"/>
                  </a:lnTo>
                  <a:lnTo>
                    <a:pt x="0" y="68"/>
                  </a:lnTo>
                  <a:lnTo>
                    <a:pt x="23" y="0"/>
                  </a:lnTo>
                  <a:close/>
                </a:path>
              </a:pathLst>
            </a:custGeom>
            <a:solidFill>
              <a:srgbClr val="000000">
                <a:alpha val="100000"/>
              </a:srgbClr>
            </a:solidFill>
            <a:ln w="9525">
              <a:noFill/>
            </a:ln>
          </p:spPr>
          <p:txBody>
            <a:bodyPr/>
            <a:p>
              <a:endParaRPr lang="zh-CN" altLang="en-US"/>
            </a:p>
          </p:txBody>
        </p:sp>
        <p:sp>
          <p:nvSpPr>
            <p:cNvPr id="25714" name="Line 123"/>
            <p:cNvSpPr/>
            <p:nvPr/>
          </p:nvSpPr>
          <p:spPr>
            <a:xfrm>
              <a:off x="4168" y="1558"/>
              <a:ext cx="487" cy="173"/>
            </a:xfrm>
            <a:prstGeom prst="line">
              <a:avLst/>
            </a:prstGeom>
            <a:ln w="7938" cap="flat" cmpd="sng">
              <a:solidFill>
                <a:srgbClr val="000000"/>
              </a:solidFill>
              <a:prstDash val="solid"/>
              <a:headEnd type="none" w="med" len="med"/>
              <a:tailEnd type="none" w="med" len="med"/>
            </a:ln>
          </p:spPr>
        </p:sp>
        <p:sp>
          <p:nvSpPr>
            <p:cNvPr id="25715" name="Freeform 124"/>
            <p:cNvSpPr/>
            <p:nvPr/>
          </p:nvSpPr>
          <p:spPr>
            <a:xfrm>
              <a:off x="4636" y="1692"/>
              <a:ext cx="78" cy="68"/>
            </a:xfrm>
            <a:custGeom>
              <a:avLst/>
              <a:gdLst>
                <a:gd name="txL" fmla="*/ 0 w 78"/>
                <a:gd name="txT" fmla="*/ 0 h 68"/>
                <a:gd name="txR" fmla="*/ 78 w 78"/>
                <a:gd name="txB" fmla="*/ 68 h 68"/>
              </a:gdLst>
              <a:ahLst/>
              <a:cxnLst>
                <a:cxn ang="0">
                  <a:pos x="23" y="0"/>
                </a:cxn>
                <a:cxn ang="0">
                  <a:pos x="78" y="58"/>
                </a:cxn>
                <a:cxn ang="0">
                  <a:pos x="0" y="68"/>
                </a:cxn>
                <a:cxn ang="0">
                  <a:pos x="23" y="0"/>
                </a:cxn>
              </a:cxnLst>
              <a:rect l="txL" t="txT" r="txR" b="txB"/>
              <a:pathLst>
                <a:path w="78" h="68">
                  <a:moveTo>
                    <a:pt x="23" y="0"/>
                  </a:moveTo>
                  <a:lnTo>
                    <a:pt x="78" y="58"/>
                  </a:lnTo>
                  <a:lnTo>
                    <a:pt x="0" y="68"/>
                  </a:lnTo>
                  <a:lnTo>
                    <a:pt x="23" y="0"/>
                  </a:lnTo>
                  <a:close/>
                </a:path>
              </a:pathLst>
            </a:custGeom>
            <a:solidFill>
              <a:srgbClr val="000000">
                <a:alpha val="100000"/>
              </a:srgbClr>
            </a:solidFill>
            <a:ln w="9525">
              <a:noFill/>
            </a:ln>
          </p:spPr>
          <p:txBody>
            <a:bodyPr/>
            <a:p>
              <a:endParaRPr lang="zh-CN" altLang="en-US"/>
            </a:p>
          </p:txBody>
        </p:sp>
        <p:sp>
          <p:nvSpPr>
            <p:cNvPr id="25716" name="Line 125"/>
            <p:cNvSpPr/>
            <p:nvPr/>
          </p:nvSpPr>
          <p:spPr>
            <a:xfrm flipH="1">
              <a:off x="4227" y="2135"/>
              <a:ext cx="487" cy="168"/>
            </a:xfrm>
            <a:prstGeom prst="line">
              <a:avLst/>
            </a:prstGeom>
            <a:ln w="7938" cap="flat" cmpd="sng">
              <a:solidFill>
                <a:srgbClr val="000000"/>
              </a:solidFill>
              <a:prstDash val="solid"/>
              <a:headEnd type="none" w="med" len="med"/>
              <a:tailEnd type="none" w="med" len="med"/>
            </a:ln>
          </p:spPr>
        </p:sp>
        <p:sp>
          <p:nvSpPr>
            <p:cNvPr id="25717" name="Freeform 126"/>
            <p:cNvSpPr/>
            <p:nvPr/>
          </p:nvSpPr>
          <p:spPr>
            <a:xfrm>
              <a:off x="4168" y="2265"/>
              <a:ext cx="77" cy="72"/>
            </a:xfrm>
            <a:custGeom>
              <a:avLst/>
              <a:gdLst>
                <a:gd name="txL" fmla="*/ 0 w 77"/>
                <a:gd name="txT" fmla="*/ 0 h 72"/>
                <a:gd name="txR" fmla="*/ 77 w 77"/>
                <a:gd name="txB" fmla="*/ 72 h 72"/>
              </a:gdLst>
              <a:ahLst/>
              <a:cxnLst>
                <a:cxn ang="0">
                  <a:pos x="55" y="0"/>
                </a:cxn>
                <a:cxn ang="0">
                  <a:pos x="0" y="63"/>
                </a:cxn>
                <a:cxn ang="0">
                  <a:pos x="77" y="72"/>
                </a:cxn>
                <a:cxn ang="0">
                  <a:pos x="55" y="0"/>
                </a:cxn>
              </a:cxnLst>
              <a:rect l="txL" t="txT" r="txR" b="txB"/>
              <a:pathLst>
                <a:path w="77" h="72">
                  <a:moveTo>
                    <a:pt x="55" y="0"/>
                  </a:moveTo>
                  <a:lnTo>
                    <a:pt x="0" y="63"/>
                  </a:lnTo>
                  <a:lnTo>
                    <a:pt x="77" y="72"/>
                  </a:lnTo>
                  <a:lnTo>
                    <a:pt x="55" y="0"/>
                  </a:lnTo>
                  <a:close/>
                </a:path>
              </a:pathLst>
            </a:custGeom>
            <a:solidFill>
              <a:srgbClr val="000000">
                <a:alpha val="100000"/>
              </a:srgbClr>
            </a:solidFill>
            <a:ln w="9525">
              <a:noFill/>
            </a:ln>
          </p:spPr>
          <p:txBody>
            <a:bodyPr/>
            <a:p>
              <a:endParaRPr lang="zh-CN" altLang="en-US"/>
            </a:p>
          </p:txBody>
        </p:sp>
        <p:sp>
          <p:nvSpPr>
            <p:cNvPr id="25718" name="Line 127"/>
            <p:cNvSpPr/>
            <p:nvPr/>
          </p:nvSpPr>
          <p:spPr>
            <a:xfrm flipH="1">
              <a:off x="3500" y="2520"/>
              <a:ext cx="486" cy="168"/>
            </a:xfrm>
            <a:prstGeom prst="line">
              <a:avLst/>
            </a:prstGeom>
            <a:ln w="7938" cap="flat" cmpd="sng">
              <a:solidFill>
                <a:srgbClr val="000000"/>
              </a:solidFill>
              <a:prstDash val="solid"/>
              <a:headEnd type="none" w="med" len="med"/>
              <a:tailEnd type="none" w="med" len="med"/>
            </a:ln>
          </p:spPr>
        </p:sp>
        <p:sp>
          <p:nvSpPr>
            <p:cNvPr id="25719" name="Freeform 128"/>
            <p:cNvSpPr/>
            <p:nvPr/>
          </p:nvSpPr>
          <p:spPr>
            <a:xfrm>
              <a:off x="3441" y="2650"/>
              <a:ext cx="81" cy="72"/>
            </a:xfrm>
            <a:custGeom>
              <a:avLst/>
              <a:gdLst>
                <a:gd name="txL" fmla="*/ 0 w 81"/>
                <a:gd name="txT" fmla="*/ 0 h 72"/>
                <a:gd name="txR" fmla="*/ 81 w 81"/>
                <a:gd name="txB" fmla="*/ 72 h 72"/>
              </a:gdLst>
              <a:ahLst/>
              <a:cxnLst>
                <a:cxn ang="0">
                  <a:pos x="59" y="0"/>
                </a:cxn>
                <a:cxn ang="0">
                  <a:pos x="0" y="62"/>
                </a:cxn>
                <a:cxn ang="0">
                  <a:pos x="81" y="72"/>
                </a:cxn>
                <a:cxn ang="0">
                  <a:pos x="59" y="0"/>
                </a:cxn>
              </a:cxnLst>
              <a:rect l="txL" t="txT" r="txR" b="txB"/>
              <a:pathLst>
                <a:path w="81" h="72">
                  <a:moveTo>
                    <a:pt x="59" y="0"/>
                  </a:moveTo>
                  <a:lnTo>
                    <a:pt x="0" y="62"/>
                  </a:lnTo>
                  <a:lnTo>
                    <a:pt x="81" y="72"/>
                  </a:lnTo>
                  <a:lnTo>
                    <a:pt x="59" y="0"/>
                  </a:lnTo>
                  <a:close/>
                </a:path>
              </a:pathLst>
            </a:custGeom>
            <a:solidFill>
              <a:srgbClr val="000000">
                <a:alpha val="100000"/>
              </a:srgbClr>
            </a:solidFill>
            <a:ln w="9525">
              <a:noFill/>
            </a:ln>
          </p:spPr>
          <p:txBody>
            <a:bodyPr/>
            <a:p>
              <a:endParaRPr lang="zh-CN" altLang="en-US"/>
            </a:p>
          </p:txBody>
        </p:sp>
        <p:sp>
          <p:nvSpPr>
            <p:cNvPr id="25720" name="Rectangle 129"/>
            <p:cNvSpPr/>
            <p:nvPr/>
          </p:nvSpPr>
          <p:spPr>
            <a:xfrm>
              <a:off x="3722" y="1105"/>
              <a:ext cx="64"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A</a:t>
              </a:r>
              <a:endParaRPr lang="en-US" altLang="zh-CN" sz="1200" dirty="0">
                <a:ea typeface="宋体" panose="02010600030101010101" pitchFamily="2" charset="-122"/>
              </a:endParaRPr>
            </a:p>
          </p:txBody>
        </p:sp>
        <p:sp>
          <p:nvSpPr>
            <p:cNvPr id="25721" name="Rectangle 130"/>
            <p:cNvSpPr/>
            <p:nvPr/>
          </p:nvSpPr>
          <p:spPr>
            <a:xfrm>
              <a:off x="4449" y="1490"/>
              <a:ext cx="64"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B</a:t>
              </a:r>
              <a:endParaRPr lang="en-US" altLang="zh-CN" sz="1200" dirty="0">
                <a:ea typeface="宋体" panose="02010600030101010101" pitchFamily="2" charset="-122"/>
              </a:endParaRPr>
            </a:p>
          </p:txBody>
        </p:sp>
        <p:sp>
          <p:nvSpPr>
            <p:cNvPr id="25722" name="Rectangle 131"/>
            <p:cNvSpPr/>
            <p:nvPr/>
          </p:nvSpPr>
          <p:spPr>
            <a:xfrm>
              <a:off x="4449" y="2068"/>
              <a:ext cx="69"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C</a:t>
              </a:r>
              <a:endParaRPr lang="en-US" altLang="zh-CN" sz="1200" dirty="0">
                <a:ea typeface="宋体" panose="02010600030101010101" pitchFamily="2" charset="-122"/>
              </a:endParaRPr>
            </a:p>
          </p:txBody>
        </p:sp>
        <p:sp>
          <p:nvSpPr>
            <p:cNvPr id="25723" name="Rectangle 132"/>
            <p:cNvSpPr/>
            <p:nvPr/>
          </p:nvSpPr>
          <p:spPr>
            <a:xfrm>
              <a:off x="3722" y="2453"/>
              <a:ext cx="69"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D</a:t>
              </a:r>
              <a:endParaRPr lang="en-US" altLang="zh-CN" sz="1200" dirty="0">
                <a:ea typeface="宋体" panose="02010600030101010101" pitchFamily="2" charset="-122"/>
              </a:endParaRPr>
            </a:p>
          </p:txBody>
        </p:sp>
        <p:sp>
          <p:nvSpPr>
            <p:cNvPr id="25724" name="Rectangle 133"/>
            <p:cNvSpPr/>
            <p:nvPr/>
          </p:nvSpPr>
          <p:spPr>
            <a:xfrm>
              <a:off x="4064" y="3203"/>
              <a:ext cx="118"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(b)</a:t>
              </a:r>
              <a:endParaRPr lang="en-US" altLang="zh-CN" sz="1200" dirty="0">
                <a:ea typeface="宋体" panose="02010600030101010101" pitchFamily="2" charset="-122"/>
              </a:endParaRPr>
            </a:p>
          </p:txBody>
        </p:sp>
        <p:sp>
          <p:nvSpPr>
            <p:cNvPr id="25725" name="Rectangle 134"/>
            <p:cNvSpPr/>
            <p:nvPr/>
          </p:nvSpPr>
          <p:spPr>
            <a:xfrm>
              <a:off x="954" y="696"/>
              <a:ext cx="80"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zh-CN" altLang="en-US" sz="1200" dirty="0">
                  <a:solidFill>
                    <a:srgbClr val="000000"/>
                  </a:solidFill>
                  <a:latin typeface="Arial" panose="020B0604020202020204" pitchFamily="34" charset="0"/>
                  <a:ea typeface="宋体" panose="02010600030101010101" pitchFamily="2" charset="-122"/>
                </a:rPr>
                <a:t> </a:t>
              </a:r>
              <a:r>
                <a:rPr lang="en-US" altLang="zh-CN" sz="1200" dirty="0">
                  <a:solidFill>
                    <a:srgbClr val="000000"/>
                  </a:solidFill>
                  <a:latin typeface="Arial" panose="020B0604020202020204" pitchFamily="34" charset="0"/>
                  <a:ea typeface="宋体" panose="02010600030101010101" pitchFamily="2" charset="-122"/>
                </a:rPr>
                <a:t>0</a:t>
              </a:r>
              <a:endParaRPr lang="en-US" altLang="zh-CN" sz="1200" dirty="0">
                <a:ea typeface="宋体" panose="02010600030101010101" pitchFamily="2" charset="-122"/>
              </a:endParaRPr>
            </a:p>
          </p:txBody>
        </p:sp>
        <p:sp>
          <p:nvSpPr>
            <p:cNvPr id="25726" name="Rectangle 135"/>
            <p:cNvSpPr/>
            <p:nvPr/>
          </p:nvSpPr>
          <p:spPr>
            <a:xfrm>
              <a:off x="1721" y="706"/>
              <a:ext cx="53"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1</a:t>
              </a:r>
              <a:endParaRPr lang="en-US" altLang="zh-CN" sz="1200" dirty="0">
                <a:ea typeface="宋体" panose="02010600030101010101" pitchFamily="2" charset="-122"/>
              </a:endParaRPr>
            </a:p>
          </p:txBody>
        </p:sp>
        <p:sp>
          <p:nvSpPr>
            <p:cNvPr id="25727" name="Rectangle 136"/>
            <p:cNvSpPr/>
            <p:nvPr/>
          </p:nvSpPr>
          <p:spPr>
            <a:xfrm>
              <a:off x="2444" y="706"/>
              <a:ext cx="53"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2</a:t>
              </a:r>
              <a:endParaRPr lang="en-US" altLang="zh-CN" sz="1200" dirty="0">
                <a:ea typeface="宋体" panose="02010600030101010101" pitchFamily="2" charset="-122"/>
              </a:endParaRPr>
            </a:p>
          </p:txBody>
        </p:sp>
        <p:sp>
          <p:nvSpPr>
            <p:cNvPr id="25728" name="Rectangle 137"/>
            <p:cNvSpPr/>
            <p:nvPr/>
          </p:nvSpPr>
          <p:spPr>
            <a:xfrm>
              <a:off x="3363" y="696"/>
              <a:ext cx="53"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0</a:t>
              </a:r>
              <a:endParaRPr lang="en-US" altLang="zh-CN" sz="1200" dirty="0">
                <a:ea typeface="宋体" panose="02010600030101010101" pitchFamily="2" charset="-122"/>
              </a:endParaRPr>
            </a:p>
          </p:txBody>
        </p:sp>
        <p:sp>
          <p:nvSpPr>
            <p:cNvPr id="25729" name="Rectangle 138"/>
            <p:cNvSpPr/>
            <p:nvPr/>
          </p:nvSpPr>
          <p:spPr>
            <a:xfrm>
              <a:off x="4085" y="691"/>
              <a:ext cx="53"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1</a:t>
              </a:r>
              <a:endParaRPr lang="en-US" altLang="zh-CN" sz="1200" dirty="0">
                <a:ea typeface="宋体" panose="02010600030101010101" pitchFamily="2" charset="-122"/>
              </a:endParaRPr>
            </a:p>
          </p:txBody>
        </p:sp>
        <p:sp>
          <p:nvSpPr>
            <p:cNvPr id="25730" name="Rectangle 139"/>
            <p:cNvSpPr/>
            <p:nvPr/>
          </p:nvSpPr>
          <p:spPr>
            <a:xfrm>
              <a:off x="4817" y="696"/>
              <a:ext cx="53" cy="138"/>
            </a:xfrm>
            <a:prstGeom prst="rect">
              <a:avLst/>
            </a:prstGeom>
            <a:noFill/>
            <a:ln w="9525">
              <a:noFill/>
            </a:ln>
          </p:spPr>
          <p:txBody>
            <a:bodyPr wrap="none" lIns="0" tIns="0" rIns="0" bIns="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200" dirty="0">
                  <a:solidFill>
                    <a:srgbClr val="000000"/>
                  </a:solidFill>
                  <a:latin typeface="Arial" panose="020B0604020202020204" pitchFamily="34" charset="0"/>
                  <a:ea typeface="宋体" panose="02010600030101010101" pitchFamily="2" charset="-122"/>
                </a:rPr>
                <a:t>2</a:t>
              </a:r>
              <a:endParaRPr lang="en-US" altLang="zh-CN" sz="1200" dirty="0">
                <a:ea typeface="宋体" panose="02010600030101010101" pitchFamily="2" charset="-122"/>
              </a:endParaRPr>
            </a:p>
          </p:txBody>
        </p:sp>
      </p:grpSp>
      <p:sp>
        <p:nvSpPr>
          <p:cNvPr id="130" name="Rectangle 3"/>
          <p:cNvSpPr txBox="1">
            <a:spLocks noChangeArrowheads="1"/>
          </p:cNvSpPr>
          <p:nvPr/>
        </p:nvSpPr>
        <p:spPr bwMode="auto">
          <a:xfrm>
            <a:off x="307975" y="836613"/>
            <a:ext cx="8528050" cy="828675"/>
          </a:xfrm>
          <a:prstGeom prst="rect">
            <a:avLst/>
          </a:prstGeom>
          <a:noFill/>
          <a:ln w="9525">
            <a:noFill/>
            <a:miter lim="800000"/>
          </a:ln>
        </p:spPr>
        <p:txBody>
          <a:bodyPr/>
          <a:lstStyle/>
          <a:p>
            <a:pPr marR="0" algn="just" defTabSz="914400" eaLnBrk="1" hangingPunct="1">
              <a:lnSpc>
                <a:spcPct val="150000"/>
              </a:lnSpc>
              <a:spcBef>
                <a:spcPct val="20000"/>
              </a:spcBef>
              <a:buClr>
                <a:schemeClr val="accent2"/>
              </a:buClr>
              <a:buSzTx/>
              <a:buFontTx/>
              <a:buNone/>
              <a:defRPr/>
            </a:pPr>
            <a:r>
              <a:rPr kumimoji="0" lang="zh-CN" altLang="en-US" sz="1800" kern="0" cap="none" spc="0" normalizeH="0" baseline="0" noProof="0" dirty="0">
                <a:latin typeface="+mn-lt"/>
                <a:ea typeface="宋体" panose="02010600030101010101" pitchFamily="2" charset="-122"/>
                <a:cs typeface="+mn-cs"/>
              </a:rPr>
              <a:t>例如：三个进程0、1、2，各进程运行在不同的机器上，每个机器有自己的时钟并以不同的速率工作（图</a:t>
            </a:r>
            <a:r>
              <a:rPr kumimoji="0" lang="en-US" altLang="zh-CN" sz="1800" kern="0" cap="none" spc="0" normalizeH="0" baseline="0" noProof="0" dirty="0">
                <a:latin typeface="+mn-lt"/>
                <a:ea typeface="宋体" panose="02010600030101010101" pitchFamily="2" charset="-122"/>
                <a:cs typeface="+mn-cs"/>
              </a:rPr>
              <a:t>a）, </a:t>
            </a:r>
            <a:r>
              <a:rPr kumimoji="0" lang="zh-CN" altLang="en-US" sz="1800" kern="0" cap="none" spc="0" normalizeH="0" baseline="0" noProof="0" dirty="0">
                <a:latin typeface="+mn-lt"/>
                <a:ea typeface="宋体" panose="02010600030101010101" pitchFamily="2" charset="-122"/>
                <a:cs typeface="+mn-cs"/>
              </a:rPr>
              <a:t>通过</a:t>
            </a:r>
            <a:r>
              <a:rPr kumimoji="0" lang="en-US" altLang="zh-CN" sz="1800" kern="0" cap="none" spc="0" normalizeH="0" baseline="0" noProof="0" dirty="0" err="1">
                <a:latin typeface="+mn-lt"/>
                <a:ea typeface="宋体" panose="02010600030101010101" pitchFamily="2" charset="-122"/>
                <a:cs typeface="+mn-cs"/>
              </a:rPr>
              <a:t>Lamport</a:t>
            </a:r>
            <a:r>
              <a:rPr kumimoji="0" lang="zh-CN" altLang="en-US" sz="1800" kern="0" cap="none" spc="0" normalizeH="0" baseline="0" noProof="0" dirty="0">
                <a:latin typeface="+mn-lt"/>
                <a:ea typeface="宋体" panose="02010600030101010101" pitchFamily="2" charset="-122"/>
                <a:cs typeface="+mn-cs"/>
              </a:rPr>
              <a:t>的逻辑时钟算法矫正如图</a:t>
            </a:r>
            <a:r>
              <a:rPr kumimoji="0" lang="en-US" altLang="zh-CN" sz="1800" kern="0" cap="none" spc="0" normalizeH="0" baseline="0" noProof="0" dirty="0">
                <a:latin typeface="+mn-lt"/>
                <a:ea typeface="宋体" panose="02010600030101010101" pitchFamily="2" charset="-122"/>
                <a:cs typeface="+mn-cs"/>
              </a:rPr>
              <a:t>b。</a:t>
            </a:r>
            <a:endParaRPr kumimoji="0" lang="en-US" altLang="zh-CN" sz="1800" kern="0" cap="none" spc="0" normalizeH="0" baseline="0" noProof="0" dirty="0">
              <a:solidFill>
                <a:srgbClr val="FF0000"/>
              </a:solidFill>
              <a:latin typeface="+mn-lt"/>
              <a:ea typeface="宋体" panose="02010600030101010101" pitchFamily="2" charset="-122"/>
              <a:cs typeface="+mn-cs"/>
            </a:endParaRPr>
          </a:p>
          <a:p>
            <a:pPr marR="0" algn="just" defTabSz="914400" eaLnBrk="1" hangingPunct="1">
              <a:lnSpc>
                <a:spcPct val="150000"/>
              </a:lnSpc>
              <a:spcBef>
                <a:spcPct val="20000"/>
              </a:spcBef>
              <a:buClr>
                <a:schemeClr val="accent2"/>
              </a:buClr>
              <a:buSzTx/>
              <a:buFontTx/>
              <a:buNone/>
              <a:defRPr/>
            </a:pPr>
            <a:r>
              <a:rPr kumimoji="0" lang="zh-CN" altLang="en-US" sz="1800" kern="0" cap="none" spc="0" normalizeH="0" baseline="0" noProof="0" dirty="0">
                <a:latin typeface="+mn-lt"/>
                <a:ea typeface="宋体" panose="02010600030101010101" pitchFamily="2" charset="-122"/>
                <a:cs typeface="+mn-cs"/>
              </a:rPr>
              <a:t>        </a:t>
            </a:r>
            <a:endParaRPr kumimoji="0" lang="zh-CN" altLang="en-US" sz="1800" kern="0" cap="none" spc="0" normalizeH="0" baseline="0" noProof="0" dirty="0">
              <a:latin typeface="+mn-lt"/>
              <a:ea typeface="宋体" panose="02010600030101010101" pitchFamily="2" charset="-122"/>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2"/>
          <p:cNvSpPr>
            <a:spLocks noGrp="1"/>
          </p:cNvSpPr>
          <p:nvPr>
            <p:ph type="title"/>
          </p:nvPr>
        </p:nvSpPr>
        <p:spPr>
          <a:xfrm>
            <a:off x="0" y="2309813"/>
            <a:ext cx="5648325" cy="481012"/>
          </a:xfrm>
          <a:ln/>
        </p:spPr>
        <p:txBody>
          <a:bodyPr vert="horz" wrap="square" lIns="91440" tIns="45720" rIns="91440" bIns="45720" anchor="ctr" anchorCtr="0"/>
          <a:p>
            <a:pPr eaLnBrk="1" hangingPunct="1"/>
            <a:r>
              <a:rPr lang="en-US" altLang="zh-CN" sz="2400" dirty="0">
                <a:ea typeface="宋体" panose="02010600030101010101" pitchFamily="2" charset="-122"/>
              </a:rPr>
              <a:t>Example: Totally-Ordered Multicasting</a:t>
            </a:r>
            <a:endParaRPr lang="en-US" altLang="zh-CN" sz="2400" dirty="0">
              <a:ea typeface="宋体" panose="02010600030101010101" pitchFamily="2" charset="-122"/>
            </a:endParaRPr>
          </a:p>
        </p:txBody>
      </p:sp>
      <p:sp>
        <p:nvSpPr>
          <p:cNvPr id="26627" name="Rectangle 3"/>
          <p:cNvSpPr>
            <a:spLocks noGrp="1"/>
          </p:cNvSpPr>
          <p:nvPr>
            <p:ph idx="1"/>
          </p:nvPr>
        </p:nvSpPr>
        <p:spPr>
          <a:xfrm>
            <a:off x="354013" y="6294438"/>
            <a:ext cx="7429500" cy="441325"/>
          </a:xfrm>
          <a:ln/>
        </p:spPr>
        <p:txBody>
          <a:bodyPr vert="horz" wrap="square" lIns="91440" tIns="45720" rIns="91440" bIns="45720" anchor="t" anchorCtr="0"/>
          <a:p>
            <a:pPr marL="0" indent="0" algn="l" eaLnBrk="1" hangingPunct="1">
              <a:buNone/>
            </a:pPr>
            <a:r>
              <a:rPr lang="en-US" altLang="zh-CN" sz="2000" dirty="0">
                <a:ea typeface="宋体" panose="02010600030101010101" pitchFamily="2" charset="-122"/>
              </a:rPr>
              <a:t>Updating a replicated database and leaving it in an inconsistent state.</a:t>
            </a:r>
            <a:endParaRPr lang="en-US" altLang="zh-CN" sz="2000" dirty="0">
              <a:ea typeface="宋体" panose="02010600030101010101" pitchFamily="2" charset="-122"/>
            </a:endParaRPr>
          </a:p>
        </p:txBody>
      </p:sp>
      <p:pic>
        <p:nvPicPr>
          <p:cNvPr id="26628" name="Picture 4"/>
          <p:cNvPicPr>
            <a:picLocks noChangeAspect="1"/>
          </p:cNvPicPr>
          <p:nvPr/>
        </p:nvPicPr>
        <p:blipFill>
          <a:blip r:embed="rId1"/>
          <a:srcRect l="27792" t="45770" r="24345" b="40936"/>
          <a:stretch>
            <a:fillRect/>
          </a:stretch>
        </p:blipFill>
        <p:spPr>
          <a:xfrm>
            <a:off x="509588" y="4021138"/>
            <a:ext cx="7470775" cy="2073275"/>
          </a:xfrm>
          <a:prstGeom prst="rect">
            <a:avLst/>
          </a:prstGeom>
          <a:noFill/>
          <a:ln w="9525">
            <a:noFill/>
          </a:ln>
        </p:spPr>
      </p:pic>
      <p:sp>
        <p:nvSpPr>
          <p:cNvPr id="26629" name="矩形 4"/>
          <p:cNvSpPr/>
          <p:nvPr/>
        </p:nvSpPr>
        <p:spPr>
          <a:xfrm>
            <a:off x="354013" y="2820988"/>
            <a:ext cx="8478837" cy="1014412"/>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lnSpc>
                <a:spcPct val="150000"/>
              </a:lnSpc>
              <a:spcBef>
                <a:spcPct val="0"/>
              </a:spcBef>
              <a:buClrTx/>
              <a:buNone/>
            </a:pPr>
            <a:r>
              <a:rPr lang="zh-CN" altLang="en-US" sz="2000" b="1" dirty="0">
                <a:ea typeface="宋体" panose="02010600030101010101" pitchFamily="2" charset="-122"/>
              </a:rPr>
              <a:t>例如：一个银行在两个地方存有数据备份，如果一个地方存款，同时，另一个地方加利息，会出现不一致。用逻辑时钟可以避免这一问题。</a:t>
            </a:r>
            <a:endParaRPr lang="en-US" altLang="zh-CN" sz="2000" b="1" dirty="0">
              <a:ea typeface="宋体" panose="02010600030101010101" pitchFamily="2" charset="-122"/>
            </a:endParaRPr>
          </a:p>
        </p:txBody>
      </p:sp>
      <p:sp>
        <p:nvSpPr>
          <p:cNvPr id="6" name="Rectangle 4"/>
          <p:cNvSpPr txBox="1">
            <a:spLocks noChangeArrowheads="1"/>
          </p:cNvSpPr>
          <p:nvPr/>
        </p:nvSpPr>
        <p:spPr bwMode="auto">
          <a:xfrm>
            <a:off x="354013" y="152400"/>
            <a:ext cx="6038850" cy="2127250"/>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539750" marR="0" lvl="0" indent="-539750" algn="l" defTabSz="914400" rtl="0" eaLnBrk="1" fontAlgn="base" latinLnBrk="0" hangingPunct="1">
              <a:lnSpc>
                <a:spcPct val="130000"/>
              </a:lnSpc>
              <a:spcBef>
                <a:spcPct val="20000"/>
              </a:spcBef>
              <a:spcAft>
                <a:spcPct val="0"/>
              </a:spcAft>
              <a:buClr>
                <a:schemeClr val="accent2"/>
              </a:buClr>
              <a:buSzTx/>
              <a:buFontTx/>
              <a:buNone/>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全排序：</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539750" marR="0" lvl="0" indent="-539750" algn="l" defTabSz="914400" rtl="0" eaLnBrk="1" fontAlgn="base" latinLnBrk="0" hangingPunct="1">
              <a:lnSpc>
                <a:spcPct val="130000"/>
              </a:lnSpc>
              <a:spcBef>
                <a:spcPct val="20000"/>
              </a:spcBef>
              <a:spcAft>
                <a:spcPct val="0"/>
              </a:spcAft>
              <a:buClr>
                <a:schemeClr val="accent2"/>
              </a:buClr>
              <a:buSzTx/>
              <a:buFont typeface="Wingdings" panose="05000000000000000000" pitchFamily="2" charset="2"/>
              <a:buChar char="u"/>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定义系统范围内的前于关系“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=&gt;”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539750" marR="0" lvl="0" indent="-539750" algn="l" defTabSz="914400" rtl="0" eaLnBrk="1" fontAlgn="base" latinLnBrk="0" hangingPunct="1">
              <a:lnSpc>
                <a:spcPct val="130000"/>
              </a:lnSpc>
              <a:spcBef>
                <a:spcPct val="20000"/>
              </a:spcBef>
              <a:spcAft>
                <a:spcPct val="0"/>
              </a:spcAft>
              <a:buClr>
                <a:schemeClr val="accent2"/>
              </a:buClr>
              <a:buSzTx/>
              <a:buFontTx/>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a(in P</a:t>
            </a:r>
            <a:r>
              <a:rPr kumimoji="0" lang="en-US" altLang="zh-CN" sz="2000" b="1" i="0" u="none" strike="noStrike" kern="0" cap="none" spc="0" normalizeH="0" baseline="-25000" noProof="0" dirty="0">
                <a:ln>
                  <a:noFill/>
                </a:ln>
                <a:solidFill>
                  <a:schemeClr val="tx1"/>
                </a:solidFill>
                <a:effectLst/>
                <a:uLnTx/>
                <a:uFillTx/>
                <a:latin typeface="楷体_GB2312" pitchFamily="49" charset="-122"/>
                <a:ea typeface="楷体_GB2312" pitchFamily="49" charset="-122"/>
                <a:cs typeface="+mn-cs"/>
              </a:rPr>
              <a:t>i</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)=&gt;b(in </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P</a:t>
            </a:r>
            <a:r>
              <a:rPr kumimoji="0" lang="en-US" altLang="zh-CN" sz="2000" b="1" i="0" u="none" strike="noStrike" kern="0" cap="none" spc="0" normalizeH="0" baseline="-25000" noProof="0" dirty="0" err="1">
                <a:ln>
                  <a:noFill/>
                </a:ln>
                <a:solidFill>
                  <a:schemeClr val="tx1"/>
                </a:solidFill>
                <a:effectLst/>
                <a:uLnTx/>
                <a:uFillTx/>
                <a:latin typeface="+mn-lt"/>
                <a:ea typeface="宋体" panose="02010600030101010101" pitchFamily="2" charset="-122"/>
                <a:cs typeface="+mn-cs"/>
              </a:rPr>
              <a:t>j</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当且仅当：</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T</a:t>
            </a:r>
            <a:r>
              <a:rPr kumimoji="0" lang="en-US" altLang="zh-CN" sz="2000" b="1" i="0" u="none" strike="noStrike" kern="0" cap="none" spc="0" normalizeH="0" baseline="-25000" noProof="0" dirty="0" err="1">
                <a:ln>
                  <a:noFill/>
                </a:ln>
                <a:solidFill>
                  <a:schemeClr val="tx1"/>
                </a:solidFill>
                <a:effectLst/>
                <a:uLnTx/>
                <a:uFillTx/>
                <a:latin typeface="楷体_GB2312" pitchFamily="49" charset="-122"/>
                <a:ea typeface="楷体_GB2312" pitchFamily="49" charset="-122"/>
                <a:cs typeface="+mn-cs"/>
              </a:rPr>
              <a:t>i</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&lt;</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T</a:t>
            </a:r>
            <a:r>
              <a:rPr kumimoji="0" lang="en-US" altLang="zh-CN" sz="2000" b="1" i="0" u="none" strike="noStrike" kern="0" cap="none" spc="0" normalizeH="0" baseline="-25000" noProof="0" dirty="0" err="1">
                <a:ln>
                  <a:noFill/>
                </a:ln>
                <a:solidFill>
                  <a:schemeClr val="tx1"/>
                </a:solidFill>
                <a:effectLst/>
                <a:uLnTx/>
                <a:uFillTx/>
                <a:latin typeface="+mn-lt"/>
                <a:ea typeface="宋体" panose="02010600030101010101" pitchFamily="2" charset="-122"/>
                <a:cs typeface="+mn-cs"/>
              </a:rPr>
              <a:t>j</a:t>
            </a:r>
            <a:endPar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endParaRPr>
          </a:p>
          <a:p>
            <a:pPr marL="539750" marR="0" lvl="0" indent="-539750" algn="l" defTabSz="914400" rtl="0" eaLnBrk="1" fontAlgn="base" latinLnBrk="0" hangingPunct="1">
              <a:lnSpc>
                <a:spcPct val="130000"/>
              </a:lnSpc>
              <a:spcBef>
                <a:spcPct val="20000"/>
              </a:spcBef>
              <a:spcAft>
                <a:spcPct val="0"/>
              </a:spcAft>
              <a:buClr>
                <a:schemeClr val="accent2"/>
              </a:buClr>
              <a:buSzTx/>
              <a:buFontTx/>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或者       </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T</a:t>
            </a:r>
            <a:r>
              <a:rPr kumimoji="0" lang="en-US" altLang="zh-CN" sz="2000" b="1" i="0" u="none" strike="noStrike" kern="0" cap="none" spc="0" normalizeH="0" baseline="-25000" noProof="0" dirty="0" err="1">
                <a:ln>
                  <a:noFill/>
                </a:ln>
                <a:solidFill>
                  <a:schemeClr val="tx1"/>
                </a:solidFill>
                <a:effectLst/>
                <a:uLnTx/>
                <a:uFillTx/>
                <a:latin typeface="楷体_GB2312" pitchFamily="49" charset="-122"/>
                <a:ea typeface="楷体_GB2312" pitchFamily="49" charset="-122"/>
                <a:cs typeface="+mn-cs"/>
              </a:rPr>
              <a:t>i</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T</a:t>
            </a:r>
            <a:r>
              <a:rPr kumimoji="0" lang="en-US" altLang="zh-CN" sz="2000" b="1" i="0" u="none" strike="noStrike" kern="0" cap="none" spc="0" normalizeH="0" baseline="-25000" noProof="0" dirty="0" err="1">
                <a:ln>
                  <a:noFill/>
                </a:ln>
                <a:solidFill>
                  <a:schemeClr val="tx1"/>
                </a:solidFill>
                <a:effectLst/>
                <a:uLnTx/>
                <a:uFillTx/>
                <a:latin typeface="+mn-lt"/>
                <a:ea typeface="宋体" panose="02010600030101010101" pitchFamily="2" charset="-122"/>
                <a:cs typeface="+mn-cs"/>
              </a:rPr>
              <a:t>j</a:t>
            </a:r>
            <a:r>
              <a:rPr kumimoji="0" lang="en-US" altLang="zh-CN" sz="20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 </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并且</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P</a:t>
            </a:r>
            <a:r>
              <a:rPr kumimoji="0" lang="en-US" altLang="zh-CN" sz="2000" b="1" i="0" u="none" strike="noStrike" kern="0" cap="none" spc="0" normalizeH="0" baseline="-25000" noProof="0" dirty="0">
                <a:ln>
                  <a:noFill/>
                </a:ln>
                <a:solidFill>
                  <a:schemeClr val="tx1"/>
                </a:solidFill>
                <a:effectLst/>
                <a:uLnTx/>
                <a:uFillTx/>
                <a:latin typeface="楷体_GB2312" pitchFamily="49" charset="-122"/>
                <a:ea typeface="楷体_GB2312" pitchFamily="49" charset="-122"/>
                <a:cs typeface="+mn-cs"/>
              </a:rPr>
              <a:t>i</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优先级高于</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P</a:t>
            </a:r>
            <a:r>
              <a:rPr kumimoji="0" lang="en-US" altLang="zh-CN" sz="2000" b="1" i="0" u="none" strike="noStrike" kern="0" cap="none" spc="0" normalizeH="0" baseline="-25000" noProof="0" dirty="0" err="1">
                <a:ln>
                  <a:noFill/>
                </a:ln>
                <a:solidFill>
                  <a:schemeClr val="tx1"/>
                </a:solidFill>
                <a:effectLst/>
                <a:uLnTx/>
                <a:uFillTx/>
                <a:latin typeface="+mn-lt"/>
                <a:ea typeface="宋体" panose="02010600030101010101" pitchFamily="2" charset="-122"/>
                <a:cs typeface="+mn-cs"/>
              </a:rPr>
              <a:t>j</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2"/>
          <p:cNvSpPr>
            <a:spLocks noGrp="1"/>
          </p:cNvSpPr>
          <p:nvPr>
            <p:ph type="title"/>
          </p:nvPr>
        </p:nvSpPr>
        <p:spPr>
          <a:xfrm>
            <a:off x="1379538" y="0"/>
            <a:ext cx="6289675" cy="560388"/>
          </a:xfrm>
          <a:ln/>
        </p:spPr>
        <p:txBody>
          <a:bodyPr vert="horz" wrap="square" lIns="91440" tIns="45720" rIns="91440" bIns="45720" anchor="ctr" anchorCtr="0"/>
          <a:p>
            <a:pPr eaLnBrk="1" hangingPunct="1"/>
            <a:r>
              <a:rPr lang="zh-CN" altLang="en-US" dirty="0">
                <a:ea typeface="宋体" panose="02010600030101010101" pitchFamily="2" charset="-122"/>
              </a:rPr>
              <a:t>向量时钟</a:t>
            </a:r>
            <a:endParaRPr lang="zh-CN" altLang="en-US" dirty="0">
              <a:ea typeface="宋体" panose="02010600030101010101" pitchFamily="2" charset="-122"/>
            </a:endParaRPr>
          </a:p>
        </p:txBody>
      </p:sp>
      <p:sp>
        <p:nvSpPr>
          <p:cNvPr id="28675" name="Rectangle 3"/>
          <p:cNvSpPr>
            <a:spLocks noGrp="1"/>
          </p:cNvSpPr>
          <p:nvPr>
            <p:ph idx="1"/>
          </p:nvPr>
        </p:nvSpPr>
        <p:spPr>
          <a:xfrm>
            <a:off x="311150" y="635000"/>
            <a:ext cx="8378825" cy="2439988"/>
          </a:xfrm>
          <a:ln/>
        </p:spPr>
        <p:txBody>
          <a:bodyPr vert="horz" wrap="square" lIns="91440" tIns="45720" rIns="91440" bIns="45720" anchor="t" anchorCtr="0"/>
          <a:p>
            <a:pPr marL="0" indent="0" algn="l" eaLnBrk="1" hangingPunct="1">
              <a:lnSpc>
                <a:spcPct val="150000"/>
              </a:lnSpc>
              <a:buFont typeface="Wingdings" panose="05000000000000000000" pitchFamily="2" charset="2"/>
              <a:buChar char="u"/>
            </a:pPr>
            <a:r>
              <a:rPr lang="zh-CN" altLang="en-US" sz="1800" b="1" dirty="0">
                <a:latin typeface="宋体" panose="02010600030101010101" pitchFamily="2" charset="-122"/>
                <a:ea typeface="宋体" panose="02010600030101010101" pitchFamily="2" charset="-122"/>
              </a:rPr>
              <a:t>标量时钟无法识别时钟推进的原因，引入向量时钟。</a:t>
            </a:r>
            <a:endParaRPr lang="en-US" altLang="zh-CN" sz="1800" b="1" dirty="0">
              <a:latin typeface="宋体" panose="02010600030101010101" pitchFamily="2" charset="-122"/>
              <a:ea typeface="宋体" panose="02010600030101010101" pitchFamily="2" charset="-122"/>
            </a:endParaRPr>
          </a:p>
          <a:p>
            <a:pPr marL="0" indent="0" algn="l" eaLnBrk="1" hangingPunct="1">
              <a:lnSpc>
                <a:spcPct val="150000"/>
              </a:lnSpc>
              <a:buFont typeface="Wingdings" panose="05000000000000000000" pitchFamily="2" charset="2"/>
              <a:buChar char="u"/>
            </a:pPr>
            <a:r>
              <a:rPr lang="zh-CN" altLang="en-US" sz="1800" b="1" dirty="0">
                <a:latin typeface="宋体" panose="02010600030101010101" pitchFamily="2" charset="-122"/>
                <a:ea typeface="宋体" panose="02010600030101010101" pitchFamily="2" charset="-122"/>
              </a:rPr>
              <a:t>设每个进程</a:t>
            </a:r>
            <a:r>
              <a:rPr lang="en-US" altLang="zh-CN" sz="1800" b="1" dirty="0">
                <a:latin typeface="宋体" panose="02010600030101010101" pitchFamily="2" charset="-122"/>
                <a:ea typeface="宋体" panose="02010600030101010101" pitchFamily="2" charset="-122"/>
              </a:rPr>
              <a:t>P</a:t>
            </a:r>
            <a:r>
              <a:rPr lang="en-US" altLang="zh-CN" sz="1800" b="1" baseline="-25000" dirty="0">
                <a:latin typeface="宋体" panose="02010600030101010101" pitchFamily="2" charset="-122"/>
                <a:ea typeface="宋体" panose="02010600030101010101" pitchFamily="2" charset="-122"/>
              </a:rPr>
              <a:t>i</a:t>
            </a:r>
            <a:r>
              <a:rPr lang="zh-CN" altLang="en-US" sz="1800" b="1" dirty="0">
                <a:latin typeface="宋体" panose="02010600030101010101" pitchFamily="2" charset="-122"/>
                <a:ea typeface="宋体" panose="02010600030101010101" pitchFamily="2" charset="-122"/>
              </a:rPr>
              <a:t>有一个时间向量</a:t>
            </a:r>
            <a:r>
              <a:rPr lang="en-US" altLang="zh-CN" sz="1800" b="1" dirty="0">
                <a:latin typeface="宋体" panose="02010600030101010101" pitchFamily="2" charset="-122"/>
                <a:ea typeface="宋体" panose="02010600030101010101" pitchFamily="2" charset="-122"/>
              </a:rPr>
              <a:t>LC</a:t>
            </a:r>
            <a:r>
              <a:rPr lang="en-US" altLang="zh-CN" sz="1800" b="1" baseline="-25000" dirty="0">
                <a:latin typeface="宋体" panose="02010600030101010101" pitchFamily="2" charset="-122"/>
                <a:ea typeface="宋体" panose="02010600030101010101" pitchFamily="2" charset="-122"/>
              </a:rPr>
              <a:t>i</a:t>
            </a:r>
            <a:r>
              <a:rPr lang="en-US" altLang="zh-CN" sz="1800" b="1" dirty="0">
                <a:latin typeface="宋体" panose="02010600030101010101" pitchFamily="2" charset="-122"/>
                <a:ea typeface="宋体" panose="02010600030101010101" pitchFamily="2" charset="-122"/>
              </a:rPr>
              <a:t>[1,2,...,n],</a:t>
            </a:r>
            <a:r>
              <a:rPr lang="zh-CN" altLang="en-US" sz="1800" b="1" dirty="0">
                <a:latin typeface="宋体" panose="02010600030101010101" pitchFamily="2" charset="-122"/>
                <a:ea typeface="宋体" panose="02010600030101010101" pitchFamily="2" charset="-122"/>
              </a:rPr>
              <a:t>其中</a:t>
            </a:r>
            <a:r>
              <a:rPr lang="en-US" altLang="zh-CN" sz="1800" b="1" dirty="0">
                <a:latin typeface="宋体" panose="02010600030101010101" pitchFamily="2" charset="-122"/>
                <a:ea typeface="宋体" panose="02010600030101010101" pitchFamily="2" charset="-122"/>
              </a:rPr>
              <a:t>:</a:t>
            </a:r>
            <a:endParaRPr lang="en-US" altLang="zh-CN" sz="1800" b="1" dirty="0">
              <a:latin typeface="宋体" panose="02010600030101010101" pitchFamily="2" charset="-122"/>
              <a:ea typeface="宋体" panose="02010600030101010101" pitchFamily="2" charset="-122"/>
            </a:endParaRPr>
          </a:p>
          <a:p>
            <a:pPr marL="0" indent="0" algn="l" eaLnBrk="1" hangingPunct="1">
              <a:lnSpc>
                <a:spcPct val="150000"/>
              </a:lnSpc>
              <a:buNone/>
            </a:pPr>
            <a:r>
              <a:rPr lang="en-US" altLang="zh-CN" sz="1800" b="1" dirty="0">
                <a:latin typeface="宋体" panose="02010600030101010101" pitchFamily="2" charset="-122"/>
                <a:ea typeface="宋体" panose="02010600030101010101" pitchFamily="2" charset="-122"/>
              </a:rPr>
              <a:t>  (1)LC</a:t>
            </a:r>
            <a:r>
              <a:rPr lang="en-US" altLang="zh-CN" sz="1800" b="1" baseline="-25000" dirty="0">
                <a:latin typeface="宋体" panose="02010600030101010101" pitchFamily="2" charset="-122"/>
                <a:ea typeface="宋体" panose="02010600030101010101" pitchFamily="2" charset="-122"/>
              </a:rPr>
              <a:t>i</a:t>
            </a:r>
            <a:r>
              <a:rPr lang="en-US" altLang="zh-CN" sz="1800" b="1" dirty="0">
                <a:latin typeface="宋体" panose="02010600030101010101" pitchFamily="2" charset="-122"/>
                <a:ea typeface="宋体" panose="02010600030101010101" pitchFamily="2" charset="-122"/>
              </a:rPr>
              <a:t>[i]</a:t>
            </a:r>
            <a:r>
              <a:rPr lang="zh-CN" altLang="en-US" sz="1800" b="1" dirty="0">
                <a:latin typeface="宋体" panose="02010600030101010101" pitchFamily="2" charset="-122"/>
                <a:ea typeface="宋体" panose="02010600030101010101" pitchFamily="2" charset="-122"/>
              </a:rPr>
              <a:t>描述进程</a:t>
            </a:r>
            <a:r>
              <a:rPr lang="en-US" altLang="zh-CN" sz="1800" b="1" dirty="0">
                <a:latin typeface="宋体" panose="02010600030101010101" pitchFamily="2" charset="-122"/>
                <a:ea typeface="宋体" panose="02010600030101010101" pitchFamily="2" charset="-122"/>
              </a:rPr>
              <a:t>P</a:t>
            </a:r>
            <a:r>
              <a:rPr lang="en-US" altLang="zh-CN" sz="1800" b="1" baseline="-25000" dirty="0">
                <a:latin typeface="宋体" panose="02010600030101010101" pitchFamily="2" charset="-122"/>
                <a:ea typeface="宋体" panose="02010600030101010101" pitchFamily="2" charset="-122"/>
              </a:rPr>
              <a:t>i</a:t>
            </a:r>
            <a:r>
              <a:rPr lang="zh-CN" altLang="en-US" sz="1800" b="1" dirty="0">
                <a:latin typeface="宋体" panose="02010600030101010101" pitchFamily="2" charset="-122"/>
                <a:ea typeface="宋体" panose="02010600030101010101" pitchFamily="2" charset="-122"/>
              </a:rPr>
              <a:t>自身逻辑时钟的进展情况；</a:t>
            </a:r>
            <a:endParaRPr lang="en-US" altLang="zh-CN" sz="1800" b="1" dirty="0">
              <a:latin typeface="宋体" panose="02010600030101010101" pitchFamily="2" charset="-122"/>
              <a:ea typeface="宋体" panose="02010600030101010101" pitchFamily="2" charset="-122"/>
            </a:endParaRPr>
          </a:p>
          <a:p>
            <a:pPr marL="0" indent="0" algn="l" eaLnBrk="1" hangingPunct="1">
              <a:lnSpc>
                <a:spcPct val="150000"/>
              </a:lnSpc>
              <a:buNone/>
            </a:pPr>
            <a:r>
              <a:rPr lang="en-US" altLang="zh-CN" sz="1800" b="1" dirty="0">
                <a:latin typeface="宋体" panose="02010600030101010101" pitchFamily="2" charset="-122"/>
                <a:ea typeface="宋体" panose="02010600030101010101" pitchFamily="2" charset="-122"/>
              </a:rPr>
              <a:t>  (2)LC</a:t>
            </a:r>
            <a:r>
              <a:rPr lang="en-US" altLang="zh-CN" sz="1800" b="1" baseline="-25000" dirty="0">
                <a:latin typeface="宋体" panose="02010600030101010101" pitchFamily="2" charset="-122"/>
                <a:ea typeface="宋体" panose="02010600030101010101" pitchFamily="2" charset="-122"/>
              </a:rPr>
              <a:t>i</a:t>
            </a:r>
            <a:r>
              <a:rPr lang="en-US" altLang="zh-CN" sz="1800" b="1" dirty="0">
                <a:latin typeface="宋体" panose="02010600030101010101" pitchFamily="2" charset="-122"/>
                <a:ea typeface="宋体" panose="02010600030101010101" pitchFamily="2" charset="-122"/>
              </a:rPr>
              <a:t>[j]</a:t>
            </a:r>
            <a:r>
              <a:rPr lang="zh-CN" altLang="en-US" sz="1800" b="1" dirty="0">
                <a:latin typeface="宋体" panose="02010600030101010101" pitchFamily="2" charset="-122"/>
                <a:ea typeface="宋体" panose="02010600030101010101" pitchFamily="2" charset="-122"/>
              </a:rPr>
              <a:t>表示进程</a:t>
            </a:r>
            <a:r>
              <a:rPr lang="en-US" altLang="zh-CN" sz="1800" b="1" dirty="0">
                <a:latin typeface="宋体" panose="02010600030101010101" pitchFamily="2" charset="-122"/>
                <a:ea typeface="宋体" panose="02010600030101010101" pitchFamily="2" charset="-122"/>
              </a:rPr>
              <a:t>P</a:t>
            </a:r>
            <a:r>
              <a:rPr lang="en-US" altLang="zh-CN" sz="1800" b="1" baseline="-25000" dirty="0">
                <a:latin typeface="宋体" panose="02010600030101010101" pitchFamily="2" charset="-122"/>
                <a:ea typeface="宋体" panose="02010600030101010101" pitchFamily="2" charset="-122"/>
              </a:rPr>
              <a:t>i</a:t>
            </a:r>
            <a:r>
              <a:rPr lang="zh-CN" altLang="en-US" sz="1800" b="1" dirty="0">
                <a:latin typeface="宋体" panose="02010600030101010101" pitchFamily="2" charset="-122"/>
                <a:ea typeface="宋体" panose="02010600030101010101" pitchFamily="2" charset="-122"/>
              </a:rPr>
              <a:t>所知道进程</a:t>
            </a:r>
            <a:r>
              <a:rPr lang="en-US" altLang="zh-CN" sz="1800" b="1" dirty="0">
                <a:latin typeface="宋体" panose="02010600030101010101" pitchFamily="2" charset="-122"/>
                <a:ea typeface="宋体" panose="02010600030101010101" pitchFamily="2" charset="-122"/>
              </a:rPr>
              <a:t>P</a:t>
            </a:r>
            <a:r>
              <a:rPr lang="en-US" altLang="zh-CN" sz="1800" b="1" baseline="-25000" dirty="0">
                <a:latin typeface="宋体" panose="02010600030101010101" pitchFamily="2" charset="-122"/>
                <a:ea typeface="宋体" panose="02010600030101010101" pitchFamily="2" charset="-122"/>
              </a:rPr>
              <a:t>j</a:t>
            </a:r>
            <a:r>
              <a:rPr lang="zh-CN" altLang="en-US" sz="1800" b="1" dirty="0">
                <a:latin typeface="宋体" panose="02010600030101010101" pitchFamily="2" charset="-122"/>
                <a:ea typeface="宋体" panose="02010600030101010101" pitchFamily="2" charset="-122"/>
              </a:rPr>
              <a:t>逻辑时钟的进展情况；</a:t>
            </a:r>
            <a:endParaRPr lang="en-US" altLang="zh-CN" sz="1800" b="1" dirty="0">
              <a:latin typeface="宋体" panose="02010600030101010101" pitchFamily="2" charset="-122"/>
              <a:ea typeface="宋体" panose="02010600030101010101" pitchFamily="2" charset="-122"/>
            </a:endParaRPr>
          </a:p>
          <a:p>
            <a:pPr marL="0" indent="0" algn="l" eaLnBrk="1" hangingPunct="1">
              <a:lnSpc>
                <a:spcPct val="150000"/>
              </a:lnSpc>
              <a:buNone/>
            </a:pPr>
            <a:r>
              <a:rPr lang="en-US" altLang="zh-CN" sz="1800" b="1" dirty="0">
                <a:latin typeface="宋体" panose="02010600030101010101" pitchFamily="2" charset="-122"/>
                <a:ea typeface="宋体" panose="02010600030101010101" pitchFamily="2" charset="-122"/>
              </a:rPr>
              <a:t>  (3)LC</a:t>
            </a:r>
            <a:r>
              <a:rPr lang="en-US" altLang="zh-CN" sz="1800" b="1" baseline="-25000" dirty="0">
                <a:latin typeface="宋体" panose="02010600030101010101" pitchFamily="2" charset="-122"/>
                <a:ea typeface="宋体" panose="02010600030101010101" pitchFamily="2" charset="-122"/>
              </a:rPr>
              <a:t>i</a:t>
            </a:r>
            <a:r>
              <a:rPr lang="en-US" altLang="zh-CN" sz="1800" b="1" dirty="0">
                <a:latin typeface="宋体" panose="02010600030101010101" pitchFamily="2" charset="-122"/>
                <a:ea typeface="宋体" panose="02010600030101010101" pitchFamily="2" charset="-122"/>
              </a:rPr>
              <a:t>[1,2,...,n]</a:t>
            </a:r>
            <a:r>
              <a:rPr lang="zh-CN" altLang="en-US" sz="1800" b="1" dirty="0">
                <a:latin typeface="宋体" panose="02010600030101010101" pitchFamily="2" charset="-122"/>
                <a:ea typeface="宋体" panose="02010600030101010101" pitchFamily="2" charset="-122"/>
              </a:rPr>
              <a:t>表示进程</a:t>
            </a:r>
            <a:r>
              <a:rPr lang="en-US" altLang="zh-CN" sz="1800" b="1" dirty="0">
                <a:latin typeface="宋体" panose="02010600030101010101" pitchFamily="2" charset="-122"/>
                <a:ea typeface="宋体" panose="02010600030101010101" pitchFamily="2" charset="-122"/>
              </a:rPr>
              <a:t>P</a:t>
            </a:r>
            <a:r>
              <a:rPr lang="en-US" altLang="zh-CN" sz="1800" b="1" baseline="-25000" dirty="0">
                <a:latin typeface="宋体" panose="02010600030101010101" pitchFamily="2" charset="-122"/>
                <a:ea typeface="宋体" panose="02010600030101010101" pitchFamily="2" charset="-122"/>
              </a:rPr>
              <a:t>i</a:t>
            </a:r>
            <a:r>
              <a:rPr lang="zh-CN" altLang="en-US" sz="1800" b="1" dirty="0">
                <a:latin typeface="宋体" panose="02010600030101010101" pitchFamily="2" charset="-122"/>
                <a:ea typeface="宋体" panose="02010600030101010101" pitchFamily="2" charset="-122"/>
              </a:rPr>
              <a:t>对逻辑全局时间的局部视图。</a:t>
            </a:r>
            <a:endParaRPr lang="en-US" altLang="zh-CN" sz="1800" b="1" dirty="0">
              <a:latin typeface="宋体" panose="02010600030101010101" pitchFamily="2" charset="-122"/>
              <a:ea typeface="宋体" panose="02010600030101010101" pitchFamily="2" charset="-122"/>
            </a:endParaRPr>
          </a:p>
        </p:txBody>
      </p:sp>
      <p:sp>
        <p:nvSpPr>
          <p:cNvPr id="4" name="Rectangle 3"/>
          <p:cNvSpPr txBox="1">
            <a:spLocks noChangeArrowheads="1"/>
          </p:cNvSpPr>
          <p:nvPr/>
        </p:nvSpPr>
        <p:spPr bwMode="auto">
          <a:xfrm>
            <a:off x="449263" y="3233738"/>
            <a:ext cx="7980363" cy="3375025"/>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609600" marR="0" lvl="0" indent="-609600" algn="l" defTabSz="914400" rtl="0" eaLnBrk="1" fontAlgn="base" latinLnBrk="0" hangingPunct="1">
              <a:lnSpc>
                <a:spcPct val="150000"/>
              </a:lnSpc>
              <a:spcBef>
                <a:spcPct val="20000"/>
              </a:spcBef>
              <a:spcAft>
                <a:spcPct val="0"/>
              </a:spcAft>
              <a:buClr>
                <a:schemeClr val="accent2"/>
              </a:buClr>
              <a:buSzTx/>
              <a:buFontTx/>
              <a:buNone/>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进程</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P</a:t>
            </a:r>
            <a:r>
              <a:rPr kumimoji="0" lang="en-US" altLang="zh-CN" sz="1800" b="1" i="0"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cs typeface="+mn-cs"/>
              </a:rPr>
              <a:t>i</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向量时钟推进规则</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609600" marR="0" lvl="0" indent="-609600" algn="l" defTabSz="914400" rtl="0" eaLnBrk="1" fontAlgn="base" latinLnBrk="0" hangingPunct="1">
              <a:lnSpc>
                <a:spcPct val="150000"/>
              </a:lnSpc>
              <a:spcBef>
                <a:spcPct val="20000"/>
              </a:spcBef>
              <a:spcAft>
                <a:spcPct val="0"/>
              </a:spcAft>
              <a:buClr>
                <a:schemeClr val="accent2"/>
              </a:buClr>
              <a:buSzTx/>
              <a:buFontTx/>
              <a:buNone/>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(1)</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当一个事件发生之前</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,P</a:t>
            </a:r>
            <a:r>
              <a:rPr kumimoji="0" lang="en-US" altLang="zh-CN" sz="1800" b="1" i="0" u="none" strike="noStrike" kern="0" cap="none" spc="0" normalizeH="0" baseline="-25000" noProof="0" dirty="0">
                <a:ln>
                  <a:noFill/>
                </a:ln>
                <a:solidFill>
                  <a:schemeClr val="tx1"/>
                </a:solidFill>
                <a:effectLst/>
                <a:uLnTx/>
                <a:uFillTx/>
                <a:latin typeface="宋体" panose="02010600030101010101" pitchFamily="2" charset="-122"/>
                <a:ea typeface="宋体" panose="02010600030101010101" pitchFamily="2" charset="-122"/>
                <a:cs typeface="+mn-cs"/>
              </a:rPr>
              <a:t>i</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更新</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rPr>
              <a:t>LC</a:t>
            </a:r>
            <a:r>
              <a:rPr kumimoji="0" lang="en-US" altLang="zh-CN" sz="1800" b="1" i="0" u="none" strike="noStrike" kern="0" cap="none" spc="0" normalizeH="0" baseline="-25000" noProof="0" dirty="0" err="1">
                <a:ln>
                  <a:noFill/>
                </a:ln>
                <a:solidFill>
                  <a:schemeClr val="tx1"/>
                </a:solidFill>
                <a:effectLst/>
                <a:uLnTx/>
                <a:uFillTx/>
                <a:latin typeface="宋体" panose="02010600030101010101" pitchFamily="2" charset="-122"/>
                <a:ea typeface="宋体" panose="02010600030101010101" pitchFamily="2" charset="-122"/>
                <a:cs typeface="+mn-cs"/>
              </a:rPr>
              <a:t>i</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rPr>
              <a:t>i</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609600" marR="0" lvl="0" indent="-609600" algn="l" defTabSz="914400" rtl="0" eaLnBrk="1" fontAlgn="base" latinLnBrk="0" hangingPunct="1">
              <a:lnSpc>
                <a:spcPct val="150000"/>
              </a:lnSpc>
              <a:spcBef>
                <a:spcPct val="20000"/>
              </a:spcBef>
              <a:spcAft>
                <a:spcPct val="0"/>
              </a:spcAft>
              <a:buClr>
                <a:schemeClr val="accent2"/>
              </a:buClr>
              <a:buSzTx/>
              <a:buFontTx/>
              <a:buNone/>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rPr>
              <a:t>LC</a:t>
            </a:r>
            <a:r>
              <a:rPr kumimoji="0" lang="en-US" altLang="zh-CN" sz="1800" b="1" i="0" u="none" strike="noStrike" kern="0" cap="none" spc="0" normalizeH="0" baseline="-25000" noProof="0" dirty="0" err="1">
                <a:ln>
                  <a:noFill/>
                </a:ln>
                <a:solidFill>
                  <a:schemeClr val="tx1"/>
                </a:solidFill>
                <a:effectLst/>
                <a:uLnTx/>
                <a:uFillTx/>
                <a:latin typeface="宋体" panose="02010600030101010101" pitchFamily="2" charset="-122"/>
                <a:ea typeface="宋体" panose="02010600030101010101" pitchFamily="2" charset="-122"/>
                <a:cs typeface="+mn-cs"/>
              </a:rPr>
              <a:t>i</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rPr>
              <a:t>i</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rPr>
              <a:t>LC</a:t>
            </a:r>
            <a:r>
              <a:rPr kumimoji="0" lang="en-US" altLang="zh-CN" sz="1800" b="1" i="0" u="none" strike="noStrike" kern="0" cap="none" spc="0" normalizeH="0" baseline="-25000" noProof="0" dirty="0" err="1">
                <a:ln>
                  <a:noFill/>
                </a:ln>
                <a:solidFill>
                  <a:schemeClr val="tx1"/>
                </a:solidFill>
                <a:effectLst/>
                <a:uLnTx/>
                <a:uFillTx/>
                <a:latin typeface="宋体" panose="02010600030101010101" pitchFamily="2" charset="-122"/>
                <a:ea typeface="宋体" panose="02010600030101010101" pitchFamily="2" charset="-122"/>
                <a:cs typeface="+mn-cs"/>
              </a:rPr>
              <a:t>i</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rPr>
              <a:t>i</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 d (d&gt;0)</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endPar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609600" marR="0" lvl="0" indent="-609600" algn="l" defTabSz="914400" rtl="0" eaLnBrk="1" fontAlgn="base" latinLnBrk="0" hangingPunct="1">
              <a:lnSpc>
                <a:spcPct val="150000"/>
              </a:lnSpc>
              <a:spcBef>
                <a:spcPct val="20000"/>
              </a:spcBef>
              <a:spcAft>
                <a:spcPct val="0"/>
              </a:spcAft>
              <a:buClr>
                <a:schemeClr val="accent2"/>
              </a:buClr>
              <a:buSzTx/>
              <a:buFontTx/>
              <a:buNone/>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(2)</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每个报文带有发送时的时钟向量</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当收到一个带时间戳的报文</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rPr>
              <a:t>m,LC</a:t>
            </a:r>
            <a:r>
              <a:rPr kumimoji="0" lang="en-US" altLang="zh-CN" sz="1800" b="1" i="0" u="none" strike="noStrike" kern="0" cap="none" spc="0" normalizeH="0" baseline="-25000" noProof="0" dirty="0" err="1">
                <a:ln>
                  <a:noFill/>
                </a:ln>
                <a:solidFill>
                  <a:schemeClr val="tx1"/>
                </a:solidFill>
                <a:effectLst/>
                <a:uLnTx/>
                <a:uFillTx/>
                <a:latin typeface="宋体" panose="02010600030101010101" pitchFamily="2" charset="-122"/>
                <a:ea typeface="宋体" panose="02010600030101010101" pitchFamily="2" charset="-122"/>
                <a:cs typeface="+mn-cs"/>
              </a:rPr>
              <a:t>j</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rPr>
              <a:t>,j</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时</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,Pi</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更新</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rPr>
              <a:t>LC</a:t>
            </a:r>
            <a:r>
              <a:rPr kumimoji="0" lang="en-US" altLang="zh-CN" sz="1800" b="1" i="0" u="none" strike="noStrike" kern="0" cap="none" spc="0" normalizeH="0" baseline="-25000" noProof="0" dirty="0" err="1">
                <a:ln>
                  <a:noFill/>
                </a:ln>
                <a:solidFill>
                  <a:schemeClr val="tx1"/>
                </a:solidFill>
                <a:effectLst/>
                <a:uLnTx/>
                <a:uFillTx/>
                <a:latin typeface="宋体" panose="02010600030101010101" pitchFamily="2" charset="-122"/>
                <a:ea typeface="宋体" panose="02010600030101010101" pitchFamily="2" charset="-122"/>
                <a:cs typeface="+mn-cs"/>
              </a:rPr>
              <a:t>i</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609600" marR="0" lvl="0" indent="-609600" algn="l" defTabSz="914400" rtl="0" eaLnBrk="1" fontAlgn="base" latinLnBrk="0" hangingPunct="1">
              <a:lnSpc>
                <a:spcPct val="150000"/>
              </a:lnSpc>
              <a:spcBef>
                <a:spcPct val="20000"/>
              </a:spcBef>
              <a:spcAft>
                <a:spcPct val="0"/>
              </a:spcAft>
              <a:buClr>
                <a:schemeClr val="accent2"/>
              </a:buClr>
              <a:buSzTx/>
              <a:buFontTx/>
              <a:buNone/>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rPr>
              <a:t>LC</a:t>
            </a:r>
            <a:r>
              <a:rPr kumimoji="0" lang="en-US" altLang="zh-CN" sz="1800" b="1" i="0" u="none" strike="noStrike" kern="0" cap="none" spc="0" normalizeH="0" baseline="-25000" noProof="0" dirty="0" err="1">
                <a:ln>
                  <a:noFill/>
                </a:ln>
                <a:solidFill>
                  <a:schemeClr val="tx1"/>
                </a:solidFill>
                <a:effectLst/>
                <a:uLnTx/>
                <a:uFillTx/>
                <a:latin typeface="宋体" panose="02010600030101010101" pitchFamily="2" charset="-122"/>
                <a:ea typeface="宋体" panose="02010600030101010101" pitchFamily="2" charset="-122"/>
                <a:cs typeface="+mn-cs"/>
              </a:rPr>
              <a:t>i</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[k]:=max(</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rPr>
              <a:t>LC</a:t>
            </a:r>
            <a:r>
              <a:rPr kumimoji="0" lang="en-US" altLang="zh-CN" sz="1800" b="1" i="0" u="none" strike="noStrike" kern="0" cap="none" spc="0" normalizeH="0" baseline="-25000" noProof="0" dirty="0" err="1">
                <a:ln>
                  <a:noFill/>
                </a:ln>
                <a:solidFill>
                  <a:schemeClr val="tx1"/>
                </a:solidFill>
                <a:effectLst/>
                <a:uLnTx/>
                <a:uFillTx/>
                <a:latin typeface="宋体" panose="02010600030101010101" pitchFamily="2" charset="-122"/>
                <a:ea typeface="宋体" panose="02010600030101010101" pitchFamily="2" charset="-122"/>
                <a:cs typeface="+mn-cs"/>
              </a:rPr>
              <a:t>i</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[k],</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rPr>
              <a:t>LC</a:t>
            </a:r>
            <a:r>
              <a:rPr kumimoji="0" lang="en-US" altLang="zh-CN" sz="1800" b="1" i="0" u="none" strike="noStrike" kern="0" cap="none" spc="0" normalizeH="0" baseline="-25000" noProof="0" dirty="0" err="1">
                <a:ln>
                  <a:noFill/>
                </a:ln>
                <a:solidFill>
                  <a:schemeClr val="tx1"/>
                </a:solidFill>
                <a:effectLst/>
                <a:uLnTx/>
                <a:uFillTx/>
                <a:latin typeface="宋体" panose="02010600030101010101" pitchFamily="2" charset="-122"/>
                <a:ea typeface="宋体" panose="02010600030101010101" pitchFamily="2" charset="-122"/>
                <a:cs typeface="+mn-cs"/>
              </a:rPr>
              <a:t>j</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[k]) 1&lt;= k &lt;=n</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endPar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609600" marR="0" lvl="0" indent="-609600" algn="l" defTabSz="914400" rtl="0" eaLnBrk="1" fontAlgn="base" latinLnBrk="0" hangingPunct="1">
              <a:lnSpc>
                <a:spcPct val="150000"/>
              </a:lnSpc>
              <a:spcBef>
                <a:spcPct val="20000"/>
              </a:spcBef>
              <a:spcAft>
                <a:spcPct val="0"/>
              </a:spcAft>
              <a:buClr>
                <a:schemeClr val="accent2"/>
              </a:buClr>
              <a:buSzTx/>
              <a:buFontTx/>
              <a:buNone/>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rPr>
              <a:t>LC</a:t>
            </a:r>
            <a:r>
              <a:rPr kumimoji="0" lang="en-US" altLang="zh-CN" sz="1800" b="1" i="0" u="none" strike="noStrike" kern="0" cap="none" spc="0" normalizeH="0" baseline="-25000" noProof="0" dirty="0" err="1">
                <a:ln>
                  <a:noFill/>
                </a:ln>
                <a:solidFill>
                  <a:schemeClr val="tx1"/>
                </a:solidFill>
                <a:effectLst/>
                <a:uLnTx/>
                <a:uFillTx/>
                <a:latin typeface="宋体" panose="02010600030101010101" pitchFamily="2" charset="-122"/>
                <a:ea typeface="宋体" panose="02010600030101010101" pitchFamily="2" charset="-122"/>
                <a:cs typeface="+mn-cs"/>
              </a:rPr>
              <a:t>i</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rPr>
              <a:t>i</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rPr>
              <a:t>LC</a:t>
            </a:r>
            <a:r>
              <a:rPr kumimoji="0" lang="en-US" altLang="zh-CN" sz="1800" b="1" i="0" u="none" strike="noStrike" kern="0" cap="none" spc="0" normalizeH="0" baseline="-25000" noProof="0" dirty="0" err="1">
                <a:ln>
                  <a:noFill/>
                </a:ln>
                <a:solidFill>
                  <a:schemeClr val="tx1"/>
                </a:solidFill>
                <a:effectLst/>
                <a:uLnTx/>
                <a:uFillTx/>
                <a:latin typeface="宋体" panose="02010600030101010101" pitchFamily="2" charset="-122"/>
                <a:ea typeface="宋体" panose="02010600030101010101" pitchFamily="2" charset="-122"/>
                <a:cs typeface="+mn-cs"/>
              </a:rPr>
              <a:t>i</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rPr>
              <a:t>i</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 d (d&gt;0)</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endPar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609600" marR="0" lvl="0" indent="-609600" algn="l" defTabSz="914400" rtl="0" eaLnBrk="1" fontAlgn="base" latinLnBrk="0" hangingPunct="1">
              <a:lnSpc>
                <a:spcPct val="150000"/>
              </a:lnSpc>
              <a:spcBef>
                <a:spcPct val="20000"/>
              </a:spcBef>
              <a:spcAft>
                <a:spcPct val="0"/>
              </a:spcAft>
              <a:buClr>
                <a:schemeClr val="accent2"/>
              </a:buClr>
              <a:buSzTx/>
              <a:buFontTx/>
              <a:buNone/>
              <a:defRPr/>
            </a:pPr>
            <a:endParaRPr kumimoji="0" lang="en-US" altLang="zh-CN" sz="1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2"/>
          <p:cNvSpPr>
            <a:spLocks noGrp="1"/>
          </p:cNvSpPr>
          <p:nvPr>
            <p:ph type="title"/>
          </p:nvPr>
        </p:nvSpPr>
        <p:spPr>
          <a:xfrm>
            <a:off x="1955800" y="0"/>
            <a:ext cx="5008563" cy="839788"/>
          </a:xfrm>
          <a:ln/>
        </p:spPr>
        <p:txBody>
          <a:bodyPr vert="horz" wrap="square" lIns="91440" tIns="45720" rIns="91440" bIns="45720" anchor="ctr" anchorCtr="0"/>
          <a:p>
            <a:pPr eaLnBrk="1" hangingPunct="1"/>
            <a:r>
              <a:rPr lang="zh-CN" altLang="en-US" dirty="0">
                <a:ea typeface="宋体" panose="02010600030101010101" pitchFamily="2" charset="-122"/>
              </a:rPr>
              <a:t>向量时钟</a:t>
            </a:r>
            <a:endParaRPr lang="zh-CN" altLang="en-US" dirty="0">
              <a:ea typeface="宋体" panose="02010600030101010101" pitchFamily="2" charset="-122"/>
            </a:endParaRPr>
          </a:p>
        </p:txBody>
      </p:sp>
      <p:sp>
        <p:nvSpPr>
          <p:cNvPr id="30723" name="Rectangle 3"/>
          <p:cNvSpPr>
            <a:spLocks noGrp="1"/>
          </p:cNvSpPr>
          <p:nvPr>
            <p:ph idx="1"/>
          </p:nvPr>
        </p:nvSpPr>
        <p:spPr>
          <a:xfrm>
            <a:off x="339725" y="5934075"/>
            <a:ext cx="8601075" cy="455613"/>
          </a:xfrm>
          <a:ln/>
        </p:spPr>
        <p:txBody>
          <a:bodyPr vert="horz" wrap="square" lIns="91440" tIns="45720" rIns="91440" bIns="45720" anchor="t" anchorCtr="0"/>
          <a:p>
            <a:pPr marL="609600" indent="-609600" algn="l" eaLnBrk="1" hangingPunct="1">
              <a:buNone/>
            </a:pPr>
            <a:r>
              <a:rPr lang="zh-CN" altLang="en-US" sz="2000" dirty="0">
                <a:latin typeface="宋体" panose="02010600030101010101" pitchFamily="2" charset="-122"/>
                <a:ea typeface="宋体" panose="02010600030101010101" pitchFamily="2" charset="-122"/>
              </a:rPr>
              <a:t>使用向量逻辑时钟方法确定的各事件的逻辑时间</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可以知道时间前进的原因</a:t>
            </a:r>
            <a:r>
              <a:rPr lang="en-US" altLang="zh-CN" sz="2000" dirty="0">
                <a:latin typeface="宋体" panose="02010600030101010101" pitchFamily="2" charset="-122"/>
                <a:ea typeface="宋体" panose="02010600030101010101" pitchFamily="2" charset="-122"/>
              </a:rPr>
              <a:t>)</a:t>
            </a:r>
            <a:endParaRPr lang="en-US" altLang="zh-CN" sz="2000" dirty="0">
              <a:latin typeface="宋体" panose="02010600030101010101" pitchFamily="2" charset="-122"/>
              <a:ea typeface="宋体" panose="02010600030101010101" pitchFamily="2" charset="-122"/>
            </a:endParaRPr>
          </a:p>
        </p:txBody>
      </p:sp>
      <p:grpSp>
        <p:nvGrpSpPr>
          <p:cNvPr id="30724" name="Group 50"/>
          <p:cNvGrpSpPr/>
          <p:nvPr/>
        </p:nvGrpSpPr>
        <p:grpSpPr>
          <a:xfrm>
            <a:off x="650875" y="1169988"/>
            <a:ext cx="7454900" cy="4148137"/>
            <a:chOff x="443" y="851"/>
            <a:chExt cx="4696" cy="2613"/>
          </a:xfrm>
        </p:grpSpPr>
        <p:sp>
          <p:nvSpPr>
            <p:cNvPr id="30725" name="Line 4"/>
            <p:cNvSpPr/>
            <p:nvPr/>
          </p:nvSpPr>
          <p:spPr>
            <a:xfrm flipV="1">
              <a:off x="1266" y="1281"/>
              <a:ext cx="0" cy="2183"/>
            </a:xfrm>
            <a:prstGeom prst="line">
              <a:avLst/>
            </a:prstGeom>
            <a:ln w="9525" cap="flat" cmpd="sng">
              <a:solidFill>
                <a:schemeClr val="tx1"/>
              </a:solidFill>
              <a:prstDash val="solid"/>
              <a:headEnd type="none" w="med" len="med"/>
              <a:tailEnd type="triangle" w="med" len="med"/>
            </a:ln>
          </p:spPr>
        </p:sp>
        <p:sp>
          <p:nvSpPr>
            <p:cNvPr id="30726" name="Line 5"/>
            <p:cNvSpPr/>
            <p:nvPr/>
          </p:nvSpPr>
          <p:spPr>
            <a:xfrm flipV="1">
              <a:off x="2804" y="1250"/>
              <a:ext cx="0" cy="2183"/>
            </a:xfrm>
            <a:prstGeom prst="line">
              <a:avLst/>
            </a:prstGeom>
            <a:ln w="9525" cap="flat" cmpd="sng">
              <a:solidFill>
                <a:schemeClr val="tx1"/>
              </a:solidFill>
              <a:prstDash val="solid"/>
              <a:headEnd type="none" w="med" len="med"/>
              <a:tailEnd type="triangle" w="med" len="med"/>
            </a:ln>
          </p:spPr>
        </p:sp>
        <p:sp>
          <p:nvSpPr>
            <p:cNvPr id="30727" name="Line 6"/>
            <p:cNvSpPr/>
            <p:nvPr/>
          </p:nvSpPr>
          <p:spPr>
            <a:xfrm flipV="1">
              <a:off x="4381" y="1246"/>
              <a:ext cx="0" cy="2183"/>
            </a:xfrm>
            <a:prstGeom prst="line">
              <a:avLst/>
            </a:prstGeom>
            <a:ln w="9525" cap="flat" cmpd="sng">
              <a:solidFill>
                <a:schemeClr val="tx1"/>
              </a:solidFill>
              <a:prstDash val="solid"/>
              <a:headEnd type="none" w="med" len="med"/>
              <a:tailEnd type="triangle" w="med" len="med"/>
            </a:ln>
          </p:spPr>
        </p:sp>
        <p:sp>
          <p:nvSpPr>
            <p:cNvPr id="30728" name="AutoShape 11"/>
            <p:cNvSpPr/>
            <p:nvPr/>
          </p:nvSpPr>
          <p:spPr>
            <a:xfrm>
              <a:off x="1235" y="3160"/>
              <a:ext cx="76" cy="91"/>
            </a:xfrm>
            <a:prstGeom prst="flowChartConnector">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1600" dirty="0">
                <a:ea typeface="宋体" panose="02010600030101010101" pitchFamily="2" charset="-122"/>
              </a:endParaRPr>
            </a:p>
          </p:txBody>
        </p:sp>
        <p:sp>
          <p:nvSpPr>
            <p:cNvPr id="30729" name="AutoShape 12"/>
            <p:cNvSpPr/>
            <p:nvPr/>
          </p:nvSpPr>
          <p:spPr>
            <a:xfrm>
              <a:off x="1235" y="2190"/>
              <a:ext cx="76" cy="91"/>
            </a:xfrm>
            <a:prstGeom prst="flowChartConnector">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1600" dirty="0">
                <a:ea typeface="宋体" panose="02010600030101010101" pitchFamily="2" charset="-122"/>
              </a:endParaRPr>
            </a:p>
          </p:txBody>
        </p:sp>
        <p:sp>
          <p:nvSpPr>
            <p:cNvPr id="30730" name="AutoShape 13"/>
            <p:cNvSpPr/>
            <p:nvPr/>
          </p:nvSpPr>
          <p:spPr>
            <a:xfrm>
              <a:off x="1226" y="1712"/>
              <a:ext cx="76" cy="91"/>
            </a:xfrm>
            <a:prstGeom prst="flowChartConnector">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1600" dirty="0">
                <a:ea typeface="宋体" panose="02010600030101010101" pitchFamily="2" charset="-122"/>
              </a:endParaRPr>
            </a:p>
          </p:txBody>
        </p:sp>
        <p:sp>
          <p:nvSpPr>
            <p:cNvPr id="30731" name="AutoShape 14"/>
            <p:cNvSpPr/>
            <p:nvPr/>
          </p:nvSpPr>
          <p:spPr>
            <a:xfrm>
              <a:off x="2757" y="3212"/>
              <a:ext cx="76" cy="91"/>
            </a:xfrm>
            <a:prstGeom prst="flowChartConnector">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1600" dirty="0">
                <a:ea typeface="宋体" panose="02010600030101010101" pitchFamily="2" charset="-122"/>
              </a:endParaRPr>
            </a:p>
          </p:txBody>
        </p:sp>
        <p:sp>
          <p:nvSpPr>
            <p:cNvPr id="30732" name="AutoShape 15"/>
            <p:cNvSpPr/>
            <p:nvPr/>
          </p:nvSpPr>
          <p:spPr>
            <a:xfrm>
              <a:off x="2758" y="2885"/>
              <a:ext cx="76" cy="91"/>
            </a:xfrm>
            <a:prstGeom prst="flowChartConnector">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1600" dirty="0">
                <a:ea typeface="宋体" panose="02010600030101010101" pitchFamily="2" charset="-122"/>
              </a:endParaRPr>
            </a:p>
          </p:txBody>
        </p:sp>
        <p:sp>
          <p:nvSpPr>
            <p:cNvPr id="30733" name="AutoShape 16"/>
            <p:cNvSpPr/>
            <p:nvPr/>
          </p:nvSpPr>
          <p:spPr>
            <a:xfrm>
              <a:off x="2764" y="2589"/>
              <a:ext cx="76" cy="91"/>
            </a:xfrm>
            <a:prstGeom prst="flowChartConnector">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1600" dirty="0">
                <a:ea typeface="宋体" panose="02010600030101010101" pitchFamily="2" charset="-122"/>
              </a:endParaRPr>
            </a:p>
          </p:txBody>
        </p:sp>
        <p:sp>
          <p:nvSpPr>
            <p:cNvPr id="30734" name="AutoShape 17"/>
            <p:cNvSpPr/>
            <p:nvPr/>
          </p:nvSpPr>
          <p:spPr>
            <a:xfrm>
              <a:off x="1231" y="2725"/>
              <a:ext cx="76" cy="91"/>
            </a:xfrm>
            <a:prstGeom prst="flowChartConnector">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1600" dirty="0">
                <a:ea typeface="宋体" panose="02010600030101010101" pitchFamily="2" charset="-122"/>
              </a:endParaRPr>
            </a:p>
          </p:txBody>
        </p:sp>
        <p:sp>
          <p:nvSpPr>
            <p:cNvPr id="30735" name="AutoShape 18"/>
            <p:cNvSpPr/>
            <p:nvPr/>
          </p:nvSpPr>
          <p:spPr>
            <a:xfrm>
              <a:off x="4349" y="3130"/>
              <a:ext cx="76" cy="91"/>
            </a:xfrm>
            <a:prstGeom prst="flowChartConnector">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1600" dirty="0">
                <a:ea typeface="宋体" panose="02010600030101010101" pitchFamily="2" charset="-122"/>
              </a:endParaRPr>
            </a:p>
          </p:txBody>
        </p:sp>
        <p:sp>
          <p:nvSpPr>
            <p:cNvPr id="30736" name="AutoShape 19"/>
            <p:cNvSpPr/>
            <p:nvPr/>
          </p:nvSpPr>
          <p:spPr>
            <a:xfrm>
              <a:off x="2751" y="1434"/>
              <a:ext cx="76" cy="91"/>
            </a:xfrm>
            <a:prstGeom prst="flowChartConnector">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1600" dirty="0">
                <a:ea typeface="宋体" panose="02010600030101010101" pitchFamily="2" charset="-122"/>
              </a:endParaRPr>
            </a:p>
          </p:txBody>
        </p:sp>
        <p:sp>
          <p:nvSpPr>
            <p:cNvPr id="30737" name="AutoShape 20"/>
            <p:cNvSpPr/>
            <p:nvPr/>
          </p:nvSpPr>
          <p:spPr>
            <a:xfrm>
              <a:off x="2757" y="2031"/>
              <a:ext cx="76" cy="91"/>
            </a:xfrm>
            <a:prstGeom prst="flowChartConnector">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1600" dirty="0">
                <a:ea typeface="宋体" panose="02010600030101010101" pitchFamily="2" charset="-122"/>
              </a:endParaRPr>
            </a:p>
          </p:txBody>
        </p:sp>
        <p:sp>
          <p:nvSpPr>
            <p:cNvPr id="30738" name="AutoShape 21"/>
            <p:cNvSpPr/>
            <p:nvPr/>
          </p:nvSpPr>
          <p:spPr>
            <a:xfrm>
              <a:off x="2756" y="2312"/>
              <a:ext cx="76" cy="91"/>
            </a:xfrm>
            <a:prstGeom prst="flowChartConnector">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1600" dirty="0">
                <a:ea typeface="宋体" panose="02010600030101010101" pitchFamily="2" charset="-122"/>
              </a:endParaRPr>
            </a:p>
          </p:txBody>
        </p:sp>
        <p:sp>
          <p:nvSpPr>
            <p:cNvPr id="30739" name="AutoShape 22"/>
            <p:cNvSpPr/>
            <p:nvPr/>
          </p:nvSpPr>
          <p:spPr>
            <a:xfrm>
              <a:off x="4350" y="1576"/>
              <a:ext cx="76" cy="91"/>
            </a:xfrm>
            <a:prstGeom prst="flowChartConnector">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1600" dirty="0">
                <a:ea typeface="宋体" panose="02010600030101010101" pitchFamily="2" charset="-122"/>
              </a:endParaRPr>
            </a:p>
          </p:txBody>
        </p:sp>
        <p:sp>
          <p:nvSpPr>
            <p:cNvPr id="30740" name="AutoShape 23"/>
            <p:cNvSpPr/>
            <p:nvPr/>
          </p:nvSpPr>
          <p:spPr>
            <a:xfrm>
              <a:off x="4342" y="2098"/>
              <a:ext cx="76" cy="91"/>
            </a:xfrm>
            <a:prstGeom prst="flowChartConnector">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1600" dirty="0">
                <a:ea typeface="宋体" panose="02010600030101010101" pitchFamily="2" charset="-122"/>
              </a:endParaRPr>
            </a:p>
          </p:txBody>
        </p:sp>
        <p:sp>
          <p:nvSpPr>
            <p:cNvPr id="30741" name="AutoShape 24"/>
            <p:cNvSpPr/>
            <p:nvPr/>
          </p:nvSpPr>
          <p:spPr>
            <a:xfrm>
              <a:off x="4349" y="2545"/>
              <a:ext cx="76" cy="91"/>
            </a:xfrm>
            <a:prstGeom prst="flowChartConnector">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1600" dirty="0">
                <a:ea typeface="宋体" panose="02010600030101010101" pitchFamily="2" charset="-122"/>
              </a:endParaRPr>
            </a:p>
          </p:txBody>
        </p:sp>
        <p:sp>
          <p:nvSpPr>
            <p:cNvPr id="30742" name="AutoShape 25"/>
            <p:cNvSpPr/>
            <p:nvPr/>
          </p:nvSpPr>
          <p:spPr>
            <a:xfrm>
              <a:off x="2758" y="1761"/>
              <a:ext cx="76" cy="91"/>
            </a:xfrm>
            <a:prstGeom prst="flowChartConnector">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1600" dirty="0">
                <a:ea typeface="宋体" panose="02010600030101010101" pitchFamily="2" charset="-122"/>
              </a:endParaRPr>
            </a:p>
          </p:txBody>
        </p:sp>
        <p:sp>
          <p:nvSpPr>
            <p:cNvPr id="30743" name="Line 26"/>
            <p:cNvSpPr/>
            <p:nvPr/>
          </p:nvSpPr>
          <p:spPr>
            <a:xfrm flipV="1">
              <a:off x="1304" y="2941"/>
              <a:ext cx="1470" cy="250"/>
            </a:xfrm>
            <a:prstGeom prst="line">
              <a:avLst/>
            </a:prstGeom>
            <a:ln w="9525" cap="flat" cmpd="sng">
              <a:solidFill>
                <a:schemeClr val="tx1"/>
              </a:solidFill>
              <a:prstDash val="solid"/>
              <a:headEnd type="none" w="med" len="med"/>
              <a:tailEnd type="triangle" w="med" len="med"/>
            </a:ln>
          </p:spPr>
        </p:sp>
        <p:sp>
          <p:nvSpPr>
            <p:cNvPr id="30744" name="Line 27"/>
            <p:cNvSpPr/>
            <p:nvPr/>
          </p:nvSpPr>
          <p:spPr>
            <a:xfrm flipV="1">
              <a:off x="2812" y="2160"/>
              <a:ext cx="1553" cy="182"/>
            </a:xfrm>
            <a:prstGeom prst="line">
              <a:avLst/>
            </a:prstGeom>
            <a:ln w="9525" cap="flat" cmpd="sng">
              <a:solidFill>
                <a:schemeClr val="tx1"/>
              </a:solidFill>
              <a:prstDash val="solid"/>
              <a:headEnd type="none" w="med" len="med"/>
              <a:tailEnd type="triangle" w="med" len="med"/>
            </a:ln>
          </p:spPr>
        </p:sp>
        <p:sp>
          <p:nvSpPr>
            <p:cNvPr id="30745" name="Line 28"/>
            <p:cNvSpPr/>
            <p:nvPr/>
          </p:nvSpPr>
          <p:spPr>
            <a:xfrm flipV="1">
              <a:off x="2804" y="1645"/>
              <a:ext cx="1539" cy="1622"/>
            </a:xfrm>
            <a:prstGeom prst="line">
              <a:avLst/>
            </a:prstGeom>
            <a:ln w="9525" cap="flat" cmpd="sng">
              <a:solidFill>
                <a:schemeClr val="tx1"/>
              </a:solidFill>
              <a:prstDash val="solid"/>
              <a:headEnd type="none" w="med" len="med"/>
              <a:tailEnd type="triangle" w="med" len="med"/>
            </a:ln>
          </p:spPr>
        </p:sp>
        <p:sp>
          <p:nvSpPr>
            <p:cNvPr id="30746" name="Line 29"/>
            <p:cNvSpPr/>
            <p:nvPr/>
          </p:nvSpPr>
          <p:spPr>
            <a:xfrm flipH="1" flipV="1">
              <a:off x="1288" y="2781"/>
              <a:ext cx="1486" cy="493"/>
            </a:xfrm>
            <a:prstGeom prst="line">
              <a:avLst/>
            </a:prstGeom>
            <a:ln w="9525" cap="flat" cmpd="sng">
              <a:solidFill>
                <a:schemeClr val="tx1"/>
              </a:solidFill>
              <a:prstDash val="solid"/>
              <a:headEnd type="none" w="med" len="med"/>
              <a:tailEnd type="triangle" w="med" len="med"/>
            </a:ln>
          </p:spPr>
        </p:sp>
        <p:sp>
          <p:nvSpPr>
            <p:cNvPr id="30747" name="Line 30"/>
            <p:cNvSpPr/>
            <p:nvPr/>
          </p:nvSpPr>
          <p:spPr>
            <a:xfrm flipH="1" flipV="1">
              <a:off x="1296" y="1766"/>
              <a:ext cx="1493" cy="295"/>
            </a:xfrm>
            <a:prstGeom prst="line">
              <a:avLst/>
            </a:prstGeom>
            <a:ln w="9525" cap="flat" cmpd="sng">
              <a:solidFill>
                <a:schemeClr val="tx1"/>
              </a:solidFill>
              <a:prstDash val="solid"/>
              <a:headEnd type="none" w="med" len="med"/>
              <a:tailEnd type="triangle" w="med" len="med"/>
            </a:ln>
          </p:spPr>
        </p:sp>
        <p:sp>
          <p:nvSpPr>
            <p:cNvPr id="30748" name="Line 31"/>
            <p:cNvSpPr/>
            <p:nvPr/>
          </p:nvSpPr>
          <p:spPr>
            <a:xfrm flipH="1" flipV="1">
              <a:off x="2835" y="1470"/>
              <a:ext cx="1523" cy="1122"/>
            </a:xfrm>
            <a:prstGeom prst="line">
              <a:avLst/>
            </a:prstGeom>
            <a:ln w="9525" cap="flat" cmpd="sng">
              <a:solidFill>
                <a:schemeClr val="tx1"/>
              </a:solidFill>
              <a:prstDash val="solid"/>
              <a:headEnd type="none" w="med" len="med"/>
              <a:tailEnd type="triangle" w="med" len="med"/>
            </a:ln>
          </p:spPr>
        </p:sp>
        <p:sp>
          <p:nvSpPr>
            <p:cNvPr id="30749" name="Text Box 32"/>
            <p:cNvSpPr txBox="1"/>
            <p:nvPr/>
          </p:nvSpPr>
          <p:spPr>
            <a:xfrm>
              <a:off x="794" y="877"/>
              <a:ext cx="894" cy="288"/>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zh-CN" altLang="en-US" sz="2400" dirty="0">
                  <a:ea typeface="宋体" panose="02010600030101010101" pitchFamily="2" charset="-122"/>
                </a:rPr>
                <a:t>进程</a:t>
              </a:r>
              <a:r>
                <a:rPr lang="en-US" altLang="zh-CN" sz="2400" dirty="0">
                  <a:ea typeface="宋体" panose="02010600030101010101" pitchFamily="2" charset="-122"/>
                </a:rPr>
                <a:t>P</a:t>
              </a:r>
              <a:endParaRPr lang="en-US" altLang="zh-CN" sz="2400" dirty="0">
                <a:ea typeface="宋体" panose="02010600030101010101" pitchFamily="2" charset="-122"/>
              </a:endParaRPr>
            </a:p>
          </p:txBody>
        </p:sp>
        <p:sp>
          <p:nvSpPr>
            <p:cNvPr id="30750" name="Text Box 33"/>
            <p:cNvSpPr txBox="1"/>
            <p:nvPr/>
          </p:nvSpPr>
          <p:spPr>
            <a:xfrm>
              <a:off x="3956" y="874"/>
              <a:ext cx="894" cy="288"/>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zh-CN" altLang="en-US" sz="2400" dirty="0">
                  <a:ea typeface="宋体" panose="02010600030101010101" pitchFamily="2" charset="-122"/>
                </a:rPr>
                <a:t>进程</a:t>
              </a:r>
              <a:r>
                <a:rPr lang="en-US" altLang="zh-CN" sz="2400" dirty="0">
                  <a:ea typeface="宋体" panose="02010600030101010101" pitchFamily="2" charset="-122"/>
                </a:rPr>
                <a:t>R</a:t>
              </a:r>
              <a:endParaRPr lang="en-US" altLang="zh-CN" sz="2400" dirty="0">
                <a:ea typeface="宋体" panose="02010600030101010101" pitchFamily="2" charset="-122"/>
              </a:endParaRPr>
            </a:p>
          </p:txBody>
        </p:sp>
        <p:sp>
          <p:nvSpPr>
            <p:cNvPr id="30751" name="Text Box 34"/>
            <p:cNvSpPr txBox="1"/>
            <p:nvPr/>
          </p:nvSpPr>
          <p:spPr>
            <a:xfrm>
              <a:off x="2305" y="851"/>
              <a:ext cx="894" cy="288"/>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zh-CN" altLang="en-US" sz="2400" dirty="0">
                  <a:ea typeface="宋体" panose="02010600030101010101" pitchFamily="2" charset="-122"/>
                </a:rPr>
                <a:t>进程</a:t>
              </a:r>
              <a:r>
                <a:rPr lang="en-US" altLang="zh-CN" sz="2400" dirty="0">
                  <a:ea typeface="宋体" panose="02010600030101010101" pitchFamily="2" charset="-122"/>
                </a:rPr>
                <a:t>Q</a:t>
              </a:r>
              <a:endParaRPr lang="en-US" altLang="zh-CN" sz="2400" dirty="0">
                <a:ea typeface="宋体" panose="02010600030101010101" pitchFamily="2" charset="-122"/>
              </a:endParaRPr>
            </a:p>
          </p:txBody>
        </p:sp>
        <p:sp>
          <p:nvSpPr>
            <p:cNvPr id="30752" name="Text Box 35"/>
            <p:cNvSpPr txBox="1"/>
            <p:nvPr/>
          </p:nvSpPr>
          <p:spPr>
            <a:xfrm>
              <a:off x="443" y="3109"/>
              <a:ext cx="667" cy="212"/>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600" dirty="0">
                  <a:ea typeface="宋体" panose="02010600030101010101" pitchFamily="2" charset="-122"/>
                </a:rPr>
                <a:t>p1(1,0,0)</a:t>
              </a:r>
              <a:endParaRPr lang="en-US" altLang="zh-CN" sz="1600" dirty="0">
                <a:ea typeface="宋体" panose="02010600030101010101" pitchFamily="2" charset="-122"/>
              </a:endParaRPr>
            </a:p>
          </p:txBody>
        </p:sp>
        <p:sp>
          <p:nvSpPr>
            <p:cNvPr id="30753" name="Text Box 36"/>
            <p:cNvSpPr txBox="1"/>
            <p:nvPr/>
          </p:nvSpPr>
          <p:spPr>
            <a:xfrm>
              <a:off x="452" y="2654"/>
              <a:ext cx="667" cy="212"/>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600" dirty="0">
                  <a:ea typeface="宋体" panose="02010600030101010101" pitchFamily="2" charset="-122"/>
                </a:rPr>
                <a:t>p2(2,1,0)</a:t>
              </a:r>
              <a:endParaRPr lang="en-US" altLang="zh-CN" sz="1600" dirty="0">
                <a:ea typeface="宋体" panose="02010600030101010101" pitchFamily="2" charset="-122"/>
              </a:endParaRPr>
            </a:p>
          </p:txBody>
        </p:sp>
        <p:sp>
          <p:nvSpPr>
            <p:cNvPr id="30754" name="Text Box 37"/>
            <p:cNvSpPr txBox="1"/>
            <p:nvPr/>
          </p:nvSpPr>
          <p:spPr>
            <a:xfrm>
              <a:off x="486" y="2131"/>
              <a:ext cx="667" cy="212"/>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600" dirty="0">
                  <a:ea typeface="宋体" panose="02010600030101010101" pitchFamily="2" charset="-122"/>
                </a:rPr>
                <a:t>p3(3,1,0)</a:t>
              </a:r>
              <a:endParaRPr lang="en-US" altLang="zh-CN" sz="1600" dirty="0">
                <a:ea typeface="宋体" panose="02010600030101010101" pitchFamily="2" charset="-122"/>
              </a:endParaRPr>
            </a:p>
          </p:txBody>
        </p:sp>
        <p:sp>
          <p:nvSpPr>
            <p:cNvPr id="30755" name="Text Box 38"/>
            <p:cNvSpPr txBox="1"/>
            <p:nvPr/>
          </p:nvSpPr>
          <p:spPr>
            <a:xfrm>
              <a:off x="493" y="1645"/>
              <a:ext cx="667" cy="212"/>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600" dirty="0">
                  <a:ea typeface="宋体" panose="02010600030101010101" pitchFamily="2" charset="-122"/>
                </a:rPr>
                <a:t>p4(4,5,0)</a:t>
              </a:r>
              <a:endParaRPr lang="en-US" altLang="zh-CN" sz="1600" dirty="0">
                <a:ea typeface="宋体" panose="02010600030101010101" pitchFamily="2" charset="-122"/>
              </a:endParaRPr>
            </a:p>
          </p:txBody>
        </p:sp>
        <p:sp>
          <p:nvSpPr>
            <p:cNvPr id="30756" name="Text Box 39"/>
            <p:cNvSpPr txBox="1"/>
            <p:nvPr/>
          </p:nvSpPr>
          <p:spPr>
            <a:xfrm>
              <a:off x="2855" y="3130"/>
              <a:ext cx="667" cy="212"/>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600" dirty="0">
                  <a:ea typeface="宋体" panose="02010600030101010101" pitchFamily="2" charset="-122"/>
                </a:rPr>
                <a:t>q1(0,1,0)</a:t>
              </a:r>
              <a:endParaRPr lang="en-US" altLang="zh-CN" sz="1600" dirty="0">
                <a:ea typeface="宋体" panose="02010600030101010101" pitchFamily="2" charset="-122"/>
              </a:endParaRPr>
            </a:p>
          </p:txBody>
        </p:sp>
        <p:sp>
          <p:nvSpPr>
            <p:cNvPr id="30757" name="Text Box 40"/>
            <p:cNvSpPr txBox="1"/>
            <p:nvPr/>
          </p:nvSpPr>
          <p:spPr>
            <a:xfrm>
              <a:off x="2848" y="2826"/>
              <a:ext cx="667" cy="212"/>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600" dirty="0">
                  <a:ea typeface="宋体" panose="02010600030101010101" pitchFamily="2" charset="-122"/>
                </a:rPr>
                <a:t>q2(1,2,0)</a:t>
              </a:r>
              <a:endParaRPr lang="en-US" altLang="zh-CN" sz="1600" dirty="0">
                <a:ea typeface="宋体" panose="02010600030101010101" pitchFamily="2" charset="-122"/>
              </a:endParaRPr>
            </a:p>
          </p:txBody>
        </p:sp>
        <p:sp>
          <p:nvSpPr>
            <p:cNvPr id="30758" name="Text Box 41"/>
            <p:cNvSpPr txBox="1"/>
            <p:nvPr/>
          </p:nvSpPr>
          <p:spPr>
            <a:xfrm>
              <a:off x="2855" y="2531"/>
              <a:ext cx="667" cy="212"/>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600" dirty="0">
                  <a:ea typeface="宋体" panose="02010600030101010101" pitchFamily="2" charset="-122"/>
                </a:rPr>
                <a:t>q3(1,3,0)</a:t>
              </a:r>
              <a:endParaRPr lang="en-US" altLang="zh-CN" sz="1600" dirty="0">
                <a:ea typeface="宋体" panose="02010600030101010101" pitchFamily="2" charset="-122"/>
              </a:endParaRPr>
            </a:p>
          </p:txBody>
        </p:sp>
        <p:sp>
          <p:nvSpPr>
            <p:cNvPr id="30759" name="Text Box 42"/>
            <p:cNvSpPr txBox="1"/>
            <p:nvPr/>
          </p:nvSpPr>
          <p:spPr>
            <a:xfrm>
              <a:off x="2075" y="2250"/>
              <a:ext cx="667" cy="212"/>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600" dirty="0">
                  <a:ea typeface="宋体" panose="02010600030101010101" pitchFamily="2" charset="-122"/>
                </a:rPr>
                <a:t>q4(1,4,0)</a:t>
              </a:r>
              <a:endParaRPr lang="en-US" altLang="zh-CN" sz="1600" dirty="0">
                <a:ea typeface="宋体" panose="02010600030101010101" pitchFamily="2" charset="-122"/>
              </a:endParaRPr>
            </a:p>
          </p:txBody>
        </p:sp>
        <p:sp>
          <p:nvSpPr>
            <p:cNvPr id="30760" name="Text Box 43"/>
            <p:cNvSpPr txBox="1"/>
            <p:nvPr/>
          </p:nvSpPr>
          <p:spPr>
            <a:xfrm>
              <a:off x="2847" y="1976"/>
              <a:ext cx="667" cy="212"/>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600" dirty="0">
                  <a:ea typeface="宋体" panose="02010600030101010101" pitchFamily="2" charset="-122"/>
                </a:rPr>
                <a:t>q5(1,5,0)</a:t>
              </a:r>
              <a:endParaRPr lang="en-US" altLang="zh-CN" sz="1600" dirty="0">
                <a:ea typeface="宋体" panose="02010600030101010101" pitchFamily="2" charset="-122"/>
              </a:endParaRPr>
            </a:p>
          </p:txBody>
        </p:sp>
        <p:sp>
          <p:nvSpPr>
            <p:cNvPr id="30761" name="Text Box 44"/>
            <p:cNvSpPr txBox="1"/>
            <p:nvPr/>
          </p:nvSpPr>
          <p:spPr>
            <a:xfrm>
              <a:off x="2066" y="1688"/>
              <a:ext cx="667" cy="212"/>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600" dirty="0">
                  <a:ea typeface="宋体" panose="02010600030101010101" pitchFamily="2" charset="-122"/>
                </a:rPr>
                <a:t>q6(1,6,0)</a:t>
              </a:r>
              <a:endParaRPr lang="en-US" altLang="zh-CN" sz="1600" dirty="0">
                <a:ea typeface="宋体" panose="02010600030101010101" pitchFamily="2" charset="-122"/>
              </a:endParaRPr>
            </a:p>
          </p:txBody>
        </p:sp>
        <p:sp>
          <p:nvSpPr>
            <p:cNvPr id="30762" name="Text Box 45"/>
            <p:cNvSpPr txBox="1"/>
            <p:nvPr/>
          </p:nvSpPr>
          <p:spPr>
            <a:xfrm>
              <a:off x="2066" y="1361"/>
              <a:ext cx="667" cy="212"/>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600" dirty="0">
                  <a:ea typeface="宋体" panose="02010600030101010101" pitchFamily="2" charset="-122"/>
                </a:rPr>
                <a:t>q7(1,7,2)</a:t>
              </a:r>
              <a:endParaRPr lang="en-US" altLang="zh-CN" sz="1600" dirty="0">
                <a:ea typeface="宋体" panose="02010600030101010101" pitchFamily="2" charset="-122"/>
              </a:endParaRPr>
            </a:p>
          </p:txBody>
        </p:sp>
        <p:sp>
          <p:nvSpPr>
            <p:cNvPr id="30763" name="Text Box 46"/>
            <p:cNvSpPr txBox="1"/>
            <p:nvPr/>
          </p:nvSpPr>
          <p:spPr>
            <a:xfrm>
              <a:off x="4453" y="3069"/>
              <a:ext cx="667" cy="212"/>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600" dirty="0">
                  <a:ea typeface="宋体" panose="02010600030101010101" pitchFamily="2" charset="-122"/>
                </a:rPr>
                <a:t>r1(0,0,1)</a:t>
              </a:r>
              <a:endParaRPr lang="en-US" altLang="zh-CN" sz="1600" dirty="0">
                <a:ea typeface="宋体" panose="02010600030101010101" pitchFamily="2" charset="-122"/>
              </a:endParaRPr>
            </a:p>
          </p:txBody>
        </p:sp>
        <p:sp>
          <p:nvSpPr>
            <p:cNvPr id="30764" name="Text Box 47"/>
            <p:cNvSpPr txBox="1"/>
            <p:nvPr/>
          </p:nvSpPr>
          <p:spPr>
            <a:xfrm>
              <a:off x="4453" y="2037"/>
              <a:ext cx="667" cy="212"/>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600" dirty="0">
                  <a:ea typeface="宋体" panose="02010600030101010101" pitchFamily="2" charset="-122"/>
                </a:rPr>
                <a:t>r3(1,4,3)</a:t>
              </a:r>
              <a:endParaRPr lang="en-US" altLang="zh-CN" sz="1600" dirty="0">
                <a:ea typeface="宋体" panose="02010600030101010101" pitchFamily="2" charset="-122"/>
              </a:endParaRPr>
            </a:p>
          </p:txBody>
        </p:sp>
        <p:sp>
          <p:nvSpPr>
            <p:cNvPr id="30765" name="Text Box 48"/>
            <p:cNvSpPr txBox="1"/>
            <p:nvPr/>
          </p:nvSpPr>
          <p:spPr>
            <a:xfrm>
              <a:off x="4472" y="2514"/>
              <a:ext cx="667" cy="212"/>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600" dirty="0">
                  <a:ea typeface="宋体" panose="02010600030101010101" pitchFamily="2" charset="-122"/>
                </a:rPr>
                <a:t>r2(0,0,2)</a:t>
              </a:r>
              <a:endParaRPr lang="en-US" altLang="zh-CN" sz="1600" dirty="0">
                <a:ea typeface="宋体" panose="02010600030101010101" pitchFamily="2" charset="-122"/>
              </a:endParaRPr>
            </a:p>
          </p:txBody>
        </p:sp>
        <p:sp>
          <p:nvSpPr>
            <p:cNvPr id="30766" name="Text Box 49"/>
            <p:cNvSpPr txBox="1"/>
            <p:nvPr/>
          </p:nvSpPr>
          <p:spPr>
            <a:xfrm>
              <a:off x="4457" y="1507"/>
              <a:ext cx="667" cy="212"/>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600" dirty="0">
                  <a:ea typeface="宋体" panose="02010600030101010101" pitchFamily="2" charset="-122"/>
                </a:rPr>
                <a:t>r4(1,4,4)</a:t>
              </a:r>
              <a:endParaRPr lang="en-US" altLang="zh-CN" sz="1600" dirty="0">
                <a:ea typeface="宋体" panose="02010600030101010101" pitchFamily="2" charset="-122"/>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2"/>
          <p:cNvSpPr>
            <a:spLocks noGrp="1"/>
          </p:cNvSpPr>
          <p:nvPr>
            <p:ph type="title"/>
          </p:nvPr>
        </p:nvSpPr>
        <p:spPr>
          <a:xfrm>
            <a:off x="1955800" y="0"/>
            <a:ext cx="5008563" cy="839788"/>
          </a:xfrm>
        </p:spPr>
        <p:txBody>
          <a:bodyPr vert="horz" wrap="square" lIns="91440" tIns="45720" rIns="91440" bIns="45720" anchor="ctr" anchorCtr="0"/>
          <a:p>
            <a:pPr eaLnBrk="1" hangingPunct="1"/>
            <a:r>
              <a:rPr lang="zh-CN" altLang="en-US" dirty="0">
                <a:ea typeface="宋体" panose="02010600030101010101" pitchFamily="2" charset="-122"/>
              </a:rPr>
              <a:t>向量时钟</a:t>
            </a:r>
            <a:endParaRPr lang="zh-CN" altLang="en-US" dirty="0">
              <a:ea typeface="宋体" panose="02010600030101010101" pitchFamily="2" charset="-122"/>
            </a:endParaRPr>
          </a:p>
        </p:txBody>
      </p:sp>
      <p:sp>
        <p:nvSpPr>
          <p:cNvPr id="30723" name="Rectangle 3"/>
          <p:cNvSpPr>
            <a:spLocks noGrp="1"/>
          </p:cNvSpPr>
          <p:nvPr>
            <p:ph idx="1"/>
          </p:nvPr>
        </p:nvSpPr>
        <p:spPr>
          <a:xfrm>
            <a:off x="339725" y="5934075"/>
            <a:ext cx="8601075" cy="455613"/>
          </a:xfrm>
        </p:spPr>
        <p:txBody>
          <a:bodyPr vert="horz" wrap="square" lIns="91440" tIns="45720" rIns="91440" bIns="45720" anchor="t" anchorCtr="0"/>
          <a:p>
            <a:pPr marL="609600" indent="-609600" algn="l" eaLnBrk="1" hangingPunct="1">
              <a:buNone/>
            </a:pPr>
            <a:r>
              <a:rPr lang="zh-CN" altLang="en-US" sz="2000" dirty="0">
                <a:latin typeface="宋体" panose="02010600030101010101" pitchFamily="2" charset="-122"/>
                <a:ea typeface="宋体" panose="02010600030101010101" pitchFamily="2" charset="-122"/>
              </a:rPr>
              <a:t>使用向量逻辑时钟方法确定的各事件的逻辑时间</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可以知道时间前进的原因</a:t>
            </a:r>
            <a:r>
              <a:rPr lang="en-US" altLang="zh-CN" sz="2000" dirty="0">
                <a:latin typeface="宋体" panose="02010600030101010101" pitchFamily="2" charset="-122"/>
                <a:ea typeface="宋体" panose="02010600030101010101" pitchFamily="2" charset="-122"/>
              </a:rPr>
              <a:t>)</a:t>
            </a:r>
            <a:endParaRPr lang="en-US" altLang="zh-CN" sz="2000" dirty="0">
              <a:latin typeface="宋体" panose="02010600030101010101" pitchFamily="2" charset="-122"/>
              <a:ea typeface="宋体" panose="02010600030101010101" pitchFamily="2" charset="-122"/>
            </a:endParaRPr>
          </a:p>
        </p:txBody>
      </p:sp>
      <p:pic>
        <p:nvPicPr>
          <p:cNvPr id="2" name="图片 1"/>
          <p:cNvPicPr>
            <a:picLocks noChangeAspect="1"/>
          </p:cNvPicPr>
          <p:nvPr/>
        </p:nvPicPr>
        <p:blipFill>
          <a:blip r:embed="rId1"/>
          <a:stretch>
            <a:fillRect/>
          </a:stretch>
        </p:blipFill>
        <p:spPr>
          <a:xfrm>
            <a:off x="162560" y="1643380"/>
            <a:ext cx="8595995" cy="357124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2"/>
          <p:cNvSpPr>
            <a:spLocks noGrp="1"/>
          </p:cNvSpPr>
          <p:nvPr>
            <p:ph type="title"/>
          </p:nvPr>
        </p:nvSpPr>
        <p:spPr>
          <a:ln/>
        </p:spPr>
        <p:txBody>
          <a:bodyPr vert="horz" wrap="square" lIns="91440" tIns="45720" rIns="91440" bIns="45720" anchor="ctr" anchorCtr="0"/>
          <a:p>
            <a:pPr eaLnBrk="1" hangingPunct="1"/>
            <a:r>
              <a:rPr lang="zh-CN" altLang="en-US" sz="4800" b="1" dirty="0">
                <a:ea typeface="黑体" panose="02010609060101010101" pitchFamily="49" charset="-122"/>
              </a:rPr>
              <a:t>分布式系统互斥问题</a:t>
            </a:r>
            <a:endParaRPr lang="en-US" altLang="zh-CN" sz="4800" dirty="0">
              <a:ea typeface="宋体" panose="02010600030101010101" pitchFamily="2" charset="-122"/>
            </a:endParaRPr>
          </a:p>
        </p:txBody>
      </p:sp>
      <p:sp>
        <p:nvSpPr>
          <p:cNvPr id="31747" name="Rectangle 3"/>
          <p:cNvSpPr/>
          <p:nvPr/>
        </p:nvSpPr>
        <p:spPr>
          <a:xfrm>
            <a:off x="346075" y="1354138"/>
            <a:ext cx="8464550" cy="3900487"/>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228600" algn="just" defTabSz="914400">
              <a:lnSpc>
                <a:spcPct val="150000"/>
              </a:lnSpc>
              <a:spcBef>
                <a:spcPct val="0"/>
              </a:spcBef>
              <a:buClrTx/>
              <a:buNone/>
              <a:tabLst>
                <a:tab pos="228600" algn="l"/>
              </a:tabLst>
            </a:pPr>
            <a:r>
              <a:rPr lang="zh-CN" altLang="en-US" sz="2400" b="1" dirty="0">
                <a:ea typeface="黑体" panose="02010609060101010101" pitchFamily="49" charset="-122"/>
              </a:rPr>
              <a:t>一、基本假设</a:t>
            </a:r>
            <a:endParaRPr lang="zh-CN" altLang="en-US" sz="2400" b="1" dirty="0">
              <a:ea typeface="宋体" panose="02010600030101010101" pitchFamily="2" charset="-122"/>
            </a:endParaRPr>
          </a:p>
          <a:p>
            <a:pPr marL="0" lvl="0" indent="-228600" algn="just" defTabSz="914400">
              <a:lnSpc>
                <a:spcPct val="150000"/>
              </a:lnSpc>
              <a:spcBef>
                <a:spcPct val="0"/>
              </a:spcBef>
              <a:buClrTx/>
              <a:buNone/>
              <a:tabLst>
                <a:tab pos="228600" algn="l"/>
              </a:tabLst>
            </a:pPr>
            <a:r>
              <a:rPr lang="zh-CN" altLang="en-US" sz="2400" b="1" dirty="0">
                <a:ea typeface="宋体" panose="02010600030101010101" pitchFamily="2" charset="-122"/>
              </a:rPr>
              <a:t>   ① 分布式系统中每个进程是平等的。它们都拥有申请和“审批”资源的权利；</a:t>
            </a:r>
            <a:endParaRPr lang="zh-CN" altLang="en-US" sz="2400" b="1" dirty="0">
              <a:ea typeface="宋体" panose="02010600030101010101" pitchFamily="2" charset="-122"/>
            </a:endParaRPr>
          </a:p>
          <a:p>
            <a:pPr marL="0" lvl="0" indent="-228600" algn="just" defTabSz="914400">
              <a:lnSpc>
                <a:spcPct val="150000"/>
              </a:lnSpc>
              <a:spcBef>
                <a:spcPct val="0"/>
              </a:spcBef>
              <a:buClrTx/>
              <a:buNone/>
              <a:tabLst>
                <a:tab pos="228600" algn="l"/>
              </a:tabLst>
            </a:pPr>
            <a:r>
              <a:rPr lang="zh-CN" altLang="en-US" sz="2400" b="1" dirty="0">
                <a:ea typeface="宋体" panose="02010600030101010101" pitchFamily="2" charset="-122"/>
              </a:rPr>
              <a:t>   ② 系统有</a:t>
            </a:r>
            <a:r>
              <a:rPr lang="en-US" altLang="zh-CN" sz="2400" b="1" dirty="0">
                <a:ea typeface="宋体" panose="02010600030101010101" pitchFamily="2" charset="-122"/>
              </a:rPr>
              <a:t>n</a:t>
            </a:r>
            <a:r>
              <a:rPr lang="zh-CN" altLang="en-US" sz="2400" b="1" dirty="0">
                <a:ea typeface="宋体" panose="02010600030101010101" pitchFamily="2" charset="-122"/>
              </a:rPr>
              <a:t>个结点，结点和进程一一对应；</a:t>
            </a:r>
            <a:endParaRPr lang="zh-CN" altLang="en-US" sz="2400" b="1" dirty="0">
              <a:ea typeface="宋体" panose="02010600030101010101" pitchFamily="2" charset="-122"/>
            </a:endParaRPr>
          </a:p>
          <a:p>
            <a:pPr marL="0" lvl="0" indent="-228600" algn="just" defTabSz="914400">
              <a:lnSpc>
                <a:spcPct val="150000"/>
              </a:lnSpc>
              <a:spcBef>
                <a:spcPct val="0"/>
              </a:spcBef>
              <a:buClrTx/>
              <a:buNone/>
              <a:tabLst>
                <a:tab pos="228600" algn="l"/>
              </a:tabLst>
            </a:pPr>
            <a:r>
              <a:rPr lang="zh-CN" altLang="en-US" sz="2400" b="1" dirty="0">
                <a:ea typeface="宋体" panose="02010600030101010101" pitchFamily="2" charset="-122"/>
              </a:rPr>
              <a:t>   ③ 进程按照发送者发送消息的顺序接收消息；</a:t>
            </a:r>
            <a:endParaRPr lang="zh-CN" altLang="en-US" sz="2400" b="1" dirty="0">
              <a:ea typeface="宋体" panose="02010600030101010101" pitchFamily="2" charset="-122"/>
            </a:endParaRPr>
          </a:p>
          <a:p>
            <a:pPr marL="0" lvl="0" indent="-228600" algn="just" defTabSz="914400">
              <a:lnSpc>
                <a:spcPct val="150000"/>
              </a:lnSpc>
              <a:spcBef>
                <a:spcPct val="0"/>
              </a:spcBef>
              <a:buClrTx/>
              <a:buNone/>
              <a:tabLst>
                <a:tab pos="228600" algn="l"/>
              </a:tabLst>
            </a:pPr>
            <a:r>
              <a:rPr lang="zh-CN" altLang="en-US" sz="2400" b="1" dirty="0">
                <a:ea typeface="宋体" panose="02010600030101010101" pitchFamily="2" charset="-122"/>
              </a:rPr>
              <a:t>   ④ 每条消息在有限时间内是可送达的；</a:t>
            </a:r>
            <a:endParaRPr lang="zh-CN" altLang="en-US" sz="2400" b="1" dirty="0">
              <a:ea typeface="宋体" panose="02010600030101010101" pitchFamily="2" charset="-122"/>
            </a:endParaRPr>
          </a:p>
          <a:p>
            <a:pPr marL="0" lvl="0" indent="-228600" algn="just" defTabSz="914400">
              <a:lnSpc>
                <a:spcPct val="150000"/>
              </a:lnSpc>
              <a:spcBef>
                <a:spcPct val="0"/>
              </a:spcBef>
              <a:buClrTx/>
              <a:buNone/>
              <a:tabLst>
                <a:tab pos="228600" algn="l"/>
              </a:tabLst>
            </a:pPr>
            <a:r>
              <a:rPr lang="zh-CN" altLang="en-US" sz="2400" b="1" dirty="0">
                <a:ea typeface="宋体" panose="02010600030101010101" pitchFamily="2" charset="-122"/>
              </a:rPr>
              <a:t>   ⑤ 每个进程可以给其它任意进程发消息。</a:t>
            </a:r>
            <a:endParaRPr lang="zh-CN" altLang="en-US" sz="2400" b="1" dirty="0">
              <a:ea typeface="宋体"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5"/>
          <p:cNvSpPr>
            <a:spLocks noGrp="1"/>
          </p:cNvSpPr>
          <p:nvPr>
            <p:ph type="title"/>
          </p:nvPr>
        </p:nvSpPr>
        <p:spPr>
          <a:xfrm>
            <a:off x="0" y="0"/>
            <a:ext cx="9144000" cy="947738"/>
          </a:xfrm>
          <a:ln/>
        </p:spPr>
        <p:txBody>
          <a:bodyPr vert="horz" wrap="square" lIns="91440" tIns="45720" rIns="91440" bIns="45720" anchor="ctr" anchorCtr="0"/>
          <a:p>
            <a:pPr eaLnBrk="1" hangingPunct="1"/>
            <a:r>
              <a:rPr lang="en-US" altLang="zh-CN" sz="4000" dirty="0">
                <a:ea typeface="宋体" panose="02010600030101010101" pitchFamily="2" charset="-122"/>
              </a:rPr>
              <a:t>Mutual Exclusion: </a:t>
            </a:r>
            <a:br>
              <a:rPr lang="en-US" altLang="zh-CN" sz="4000" dirty="0">
                <a:ea typeface="宋体" panose="02010600030101010101" pitchFamily="2" charset="-122"/>
              </a:rPr>
            </a:br>
            <a:r>
              <a:rPr lang="en-US" altLang="zh-CN" sz="4000" dirty="0">
                <a:ea typeface="宋体" panose="02010600030101010101" pitchFamily="2" charset="-122"/>
              </a:rPr>
              <a:t>A Centralized Algorithm</a:t>
            </a:r>
            <a:endParaRPr lang="en-US" altLang="zh-CN" sz="4000" dirty="0">
              <a:ea typeface="宋体" panose="02010600030101010101" pitchFamily="2" charset="-122"/>
            </a:endParaRPr>
          </a:p>
        </p:txBody>
      </p:sp>
      <p:pic>
        <p:nvPicPr>
          <p:cNvPr id="33795" name="Picture 6"/>
          <p:cNvPicPr>
            <a:picLocks noChangeAspect="1"/>
          </p:cNvPicPr>
          <p:nvPr/>
        </p:nvPicPr>
        <p:blipFill>
          <a:blip r:embed="rId1"/>
          <a:srcRect l="24345" t="45921" r="21567" b="40634"/>
          <a:stretch>
            <a:fillRect/>
          </a:stretch>
        </p:blipFill>
        <p:spPr>
          <a:xfrm>
            <a:off x="582613" y="1189038"/>
            <a:ext cx="7813675" cy="2819400"/>
          </a:xfrm>
          <a:prstGeom prst="rect">
            <a:avLst/>
          </a:prstGeom>
          <a:noFill/>
          <a:ln w="9525">
            <a:noFill/>
          </a:ln>
        </p:spPr>
      </p:pic>
      <p:sp>
        <p:nvSpPr>
          <p:cNvPr id="33796" name="Rectangle 7"/>
          <p:cNvSpPr>
            <a:spLocks noGrp="1"/>
          </p:cNvSpPr>
          <p:nvPr>
            <p:ph idx="1"/>
          </p:nvPr>
        </p:nvSpPr>
        <p:spPr>
          <a:xfrm>
            <a:off x="187325" y="4089400"/>
            <a:ext cx="8769350" cy="944563"/>
          </a:xfrm>
          <a:ln/>
        </p:spPr>
        <p:txBody>
          <a:bodyPr vert="horz" wrap="square" lIns="91440" tIns="45720" rIns="91440" bIns="45720" anchor="t" anchorCtr="0"/>
          <a:p>
            <a:pPr marL="609600" indent="-609600" algn="l" eaLnBrk="1" hangingPunct="1">
              <a:buFontTx/>
              <a:buAutoNum type="alphaLcParenR"/>
            </a:pPr>
            <a:r>
              <a:rPr lang="en-US" altLang="zh-CN" sz="1600" dirty="0">
                <a:ea typeface="宋体" panose="02010600030101010101" pitchFamily="2" charset="-122"/>
              </a:rPr>
              <a:t>Process 1 asks the coordinator for permission to enter a critical region.  Permission is granted</a:t>
            </a:r>
            <a:endParaRPr lang="en-US" altLang="zh-CN" sz="1600" dirty="0">
              <a:ea typeface="宋体" panose="02010600030101010101" pitchFamily="2" charset="-122"/>
            </a:endParaRPr>
          </a:p>
          <a:p>
            <a:pPr marL="609600" indent="-609600" algn="l" eaLnBrk="1" hangingPunct="1">
              <a:buFontTx/>
              <a:buAutoNum type="alphaLcParenR"/>
            </a:pPr>
            <a:r>
              <a:rPr lang="en-US" altLang="zh-CN" sz="1600" dirty="0">
                <a:ea typeface="宋体" panose="02010600030101010101" pitchFamily="2" charset="-122"/>
              </a:rPr>
              <a:t>Process 2 then asks permission to enter the same critical region.  The coordinator does not reply.</a:t>
            </a:r>
            <a:endParaRPr lang="en-US" altLang="zh-CN" sz="1600" dirty="0">
              <a:ea typeface="宋体" panose="02010600030101010101" pitchFamily="2" charset="-122"/>
            </a:endParaRPr>
          </a:p>
          <a:p>
            <a:pPr marL="609600" indent="-609600" algn="l" eaLnBrk="1" hangingPunct="1">
              <a:buFontTx/>
              <a:buAutoNum type="alphaLcParenR"/>
            </a:pPr>
            <a:r>
              <a:rPr lang="en-US" altLang="zh-CN" sz="1600" dirty="0">
                <a:ea typeface="宋体" panose="02010600030101010101" pitchFamily="2" charset="-122"/>
              </a:rPr>
              <a:t>When process 1 exits the critical region, it tells the coordinator, when then replies to 2</a:t>
            </a:r>
            <a:endParaRPr lang="en-US" altLang="zh-CN" sz="1600" dirty="0">
              <a:ea typeface="宋体" panose="02010600030101010101" pitchFamily="2" charset="-122"/>
            </a:endParaRPr>
          </a:p>
        </p:txBody>
      </p:sp>
      <p:sp>
        <p:nvSpPr>
          <p:cNvPr id="33797" name="Rectangle 3"/>
          <p:cNvSpPr/>
          <p:nvPr/>
        </p:nvSpPr>
        <p:spPr>
          <a:xfrm>
            <a:off x="93663" y="5184775"/>
            <a:ext cx="8789987" cy="152400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228600" algn="just" defTabSz="914400">
              <a:lnSpc>
                <a:spcPct val="150000"/>
              </a:lnSpc>
              <a:spcBef>
                <a:spcPct val="0"/>
              </a:spcBef>
              <a:buClrTx/>
              <a:buNone/>
              <a:tabLst>
                <a:tab pos="228600" algn="l"/>
              </a:tabLst>
            </a:pPr>
            <a:r>
              <a:rPr lang="zh-CN" altLang="en-US" sz="1600" b="1" dirty="0">
                <a:ea typeface="黑体" panose="02010609060101010101" pitchFamily="49" charset="-122"/>
              </a:rPr>
              <a:t>    讨论：</a:t>
            </a:r>
            <a:endParaRPr lang="zh-CN" altLang="en-US" sz="1600" dirty="0">
              <a:ea typeface="宋体" panose="02010600030101010101" pitchFamily="2" charset="-122"/>
            </a:endParaRPr>
          </a:p>
          <a:p>
            <a:pPr marL="0" lvl="0" indent="-228600" algn="just" defTabSz="914400">
              <a:lnSpc>
                <a:spcPct val="150000"/>
              </a:lnSpc>
              <a:spcBef>
                <a:spcPct val="0"/>
              </a:spcBef>
              <a:buClrTx/>
              <a:buNone/>
              <a:tabLst>
                <a:tab pos="228600" algn="l"/>
              </a:tabLst>
            </a:pPr>
            <a:r>
              <a:rPr lang="zh-CN" altLang="en-US" sz="1600" dirty="0">
                <a:ea typeface="宋体" panose="02010600030101010101" pitchFamily="2" charset="-122"/>
              </a:rPr>
              <a:t>     ①每完成一次临界区操作，要发</a:t>
            </a:r>
            <a:r>
              <a:rPr lang="en-US" altLang="zh-CN" sz="1600" dirty="0">
                <a:ea typeface="宋体" panose="02010600030101010101" pitchFamily="2" charset="-122"/>
              </a:rPr>
              <a:t>Request、Reply、Release</a:t>
            </a:r>
            <a:r>
              <a:rPr lang="zh-CN" altLang="en-US" sz="1600" dirty="0">
                <a:ea typeface="宋体" panose="02010600030101010101" pitchFamily="2" charset="-122"/>
              </a:rPr>
              <a:t>三个消息；</a:t>
            </a:r>
            <a:endParaRPr lang="zh-CN" altLang="en-US" sz="1600" dirty="0">
              <a:ea typeface="宋体" panose="02010600030101010101" pitchFamily="2" charset="-122"/>
            </a:endParaRPr>
          </a:p>
          <a:p>
            <a:pPr marL="0" lvl="0" indent="-228600" algn="just" defTabSz="914400">
              <a:lnSpc>
                <a:spcPct val="150000"/>
              </a:lnSpc>
              <a:spcBef>
                <a:spcPct val="0"/>
              </a:spcBef>
              <a:buClrTx/>
              <a:buNone/>
              <a:tabLst>
                <a:tab pos="228600" algn="l"/>
              </a:tabLst>
            </a:pPr>
            <a:r>
              <a:rPr lang="zh-CN" altLang="en-US" sz="1600" dirty="0">
                <a:ea typeface="宋体" panose="02010600030101010101" pitchFamily="2" charset="-122"/>
              </a:rPr>
              <a:t>     ②当协调者进程故障时，需要安排新进程代替它：选一个进程；通知其它进程；建立相应队列；恢复工作。</a:t>
            </a:r>
            <a:endParaRPr lang="zh-CN" altLang="en-US" sz="1600" dirty="0">
              <a:ea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7"/>
          <p:cNvSpPr>
            <a:spLocks noGrp="1"/>
          </p:cNvSpPr>
          <p:nvPr>
            <p:ph type="title"/>
          </p:nvPr>
        </p:nvSpPr>
        <p:spPr>
          <a:xfrm>
            <a:off x="0" y="0"/>
            <a:ext cx="9144000" cy="606425"/>
          </a:xfrm>
          <a:ln/>
        </p:spPr>
        <p:txBody>
          <a:bodyPr vert="horz" wrap="square" lIns="91440" tIns="45720" rIns="91440" bIns="45720" anchor="ctr" anchorCtr="0"/>
          <a:p>
            <a:pPr eaLnBrk="1" hangingPunct="1"/>
            <a:r>
              <a:rPr lang="en-US" altLang="zh-CN" dirty="0">
                <a:ea typeface="宋体" panose="02010600030101010101" pitchFamily="2" charset="-122"/>
              </a:rPr>
              <a:t>A Distributed Algorithm</a:t>
            </a:r>
            <a:endParaRPr lang="en-US" altLang="zh-CN" dirty="0">
              <a:ea typeface="宋体" panose="02010600030101010101" pitchFamily="2" charset="-122"/>
            </a:endParaRPr>
          </a:p>
        </p:txBody>
      </p:sp>
      <p:sp>
        <p:nvSpPr>
          <p:cNvPr id="35843" name="Rectangle 8"/>
          <p:cNvSpPr>
            <a:spLocks noGrp="1"/>
          </p:cNvSpPr>
          <p:nvPr>
            <p:ph idx="1"/>
          </p:nvPr>
        </p:nvSpPr>
        <p:spPr>
          <a:xfrm>
            <a:off x="485775" y="3327400"/>
            <a:ext cx="8540750" cy="803275"/>
          </a:xfrm>
          <a:ln/>
        </p:spPr>
        <p:txBody>
          <a:bodyPr vert="horz" wrap="square" lIns="91440" tIns="45720" rIns="91440" bIns="45720" anchor="t" anchorCtr="0"/>
          <a:p>
            <a:pPr marL="609600" indent="-609600" algn="l" eaLnBrk="1" hangingPunct="1">
              <a:lnSpc>
                <a:spcPct val="90000"/>
              </a:lnSpc>
              <a:buFontTx/>
              <a:buAutoNum type="alphaLcParenR"/>
            </a:pPr>
            <a:r>
              <a:rPr lang="en-US" altLang="zh-CN" sz="1600" dirty="0">
                <a:ea typeface="宋体" panose="02010600030101010101" pitchFamily="2" charset="-122"/>
              </a:rPr>
              <a:t>Two processes(0 and 2) want to enter the same critical region at the same moment.</a:t>
            </a:r>
            <a:endParaRPr lang="en-US" altLang="zh-CN" sz="1600" dirty="0">
              <a:ea typeface="宋体" panose="02010600030101010101" pitchFamily="2" charset="-122"/>
            </a:endParaRPr>
          </a:p>
          <a:p>
            <a:pPr marL="609600" indent="-609600" algn="l" eaLnBrk="1" hangingPunct="1">
              <a:lnSpc>
                <a:spcPct val="90000"/>
              </a:lnSpc>
              <a:buFontTx/>
              <a:buAutoNum type="alphaLcParenR"/>
            </a:pPr>
            <a:r>
              <a:rPr lang="en-US" altLang="zh-CN" sz="1600" dirty="0">
                <a:ea typeface="宋体" panose="02010600030101010101" pitchFamily="2" charset="-122"/>
              </a:rPr>
              <a:t>Process 0 has the lowest timestamp, so it wins.</a:t>
            </a:r>
            <a:endParaRPr lang="en-US" altLang="zh-CN" sz="1600" dirty="0">
              <a:ea typeface="宋体" panose="02010600030101010101" pitchFamily="2" charset="-122"/>
            </a:endParaRPr>
          </a:p>
          <a:p>
            <a:pPr marL="609600" indent="-609600" algn="l" eaLnBrk="1" hangingPunct="1">
              <a:lnSpc>
                <a:spcPct val="90000"/>
              </a:lnSpc>
              <a:buFontTx/>
              <a:buAutoNum type="alphaLcParenR"/>
            </a:pPr>
            <a:r>
              <a:rPr lang="en-US" altLang="zh-CN" sz="1600" dirty="0">
                <a:ea typeface="宋体" panose="02010600030101010101" pitchFamily="2" charset="-122"/>
              </a:rPr>
              <a:t>When process 0 is done, it sends an OK also, so 2 can now enter the critical region.</a:t>
            </a:r>
            <a:endParaRPr lang="en-US" altLang="zh-CN" sz="1600" dirty="0">
              <a:ea typeface="宋体" panose="02010600030101010101" pitchFamily="2" charset="-122"/>
            </a:endParaRPr>
          </a:p>
        </p:txBody>
      </p:sp>
      <p:pic>
        <p:nvPicPr>
          <p:cNvPr id="35844" name="Picture 9"/>
          <p:cNvPicPr>
            <a:picLocks noChangeAspect="1"/>
          </p:cNvPicPr>
          <p:nvPr/>
        </p:nvPicPr>
        <p:blipFill>
          <a:blip r:embed="rId1"/>
          <a:srcRect l="20952" t="45166" r="20738" b="38670"/>
          <a:stretch>
            <a:fillRect/>
          </a:stretch>
        </p:blipFill>
        <p:spPr>
          <a:xfrm>
            <a:off x="260350" y="623888"/>
            <a:ext cx="8623300" cy="2686050"/>
          </a:xfrm>
          <a:prstGeom prst="rect">
            <a:avLst/>
          </a:prstGeom>
          <a:noFill/>
          <a:ln w="9525">
            <a:noFill/>
          </a:ln>
        </p:spPr>
      </p:pic>
      <p:sp>
        <p:nvSpPr>
          <p:cNvPr id="35845" name="Rectangle 2"/>
          <p:cNvSpPr/>
          <p:nvPr/>
        </p:nvSpPr>
        <p:spPr>
          <a:xfrm>
            <a:off x="485775" y="4314825"/>
            <a:ext cx="8213725" cy="2308225"/>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defTabSz="914400">
              <a:lnSpc>
                <a:spcPct val="200000"/>
              </a:lnSpc>
              <a:spcBef>
                <a:spcPct val="0"/>
              </a:spcBef>
              <a:buClrTx/>
              <a:buNone/>
              <a:tabLst>
                <a:tab pos="287655" algn="l"/>
              </a:tabLst>
            </a:pPr>
            <a:r>
              <a:rPr lang="zh-CN" altLang="en-US" sz="1800" b="1" dirty="0">
                <a:ea typeface="黑体" panose="02010609060101010101" pitchFamily="49" charset="-122"/>
              </a:rPr>
              <a:t> 三、</a:t>
            </a:r>
            <a:r>
              <a:rPr lang="en-US" altLang="zh-CN" sz="1800" b="1" dirty="0">
                <a:ea typeface="黑体" panose="02010609060101010101" pitchFamily="49" charset="-122"/>
              </a:rPr>
              <a:t>Lamport</a:t>
            </a:r>
            <a:r>
              <a:rPr lang="zh-CN" altLang="en-US" sz="1800" b="1" dirty="0">
                <a:ea typeface="黑体" panose="02010609060101010101" pitchFamily="49" charset="-122"/>
              </a:rPr>
              <a:t>算法</a:t>
            </a:r>
            <a:endParaRPr lang="zh-CN" altLang="en-US" sz="1800" dirty="0">
              <a:ea typeface="宋体" panose="02010600030101010101" pitchFamily="2" charset="-122"/>
            </a:endParaRPr>
          </a:p>
          <a:p>
            <a:pPr marL="0" lvl="0" indent="0" algn="just" defTabSz="914400">
              <a:lnSpc>
                <a:spcPct val="200000"/>
              </a:lnSpc>
              <a:spcBef>
                <a:spcPct val="0"/>
              </a:spcBef>
              <a:buClrTx/>
              <a:buNone/>
              <a:tabLst>
                <a:tab pos="287655" algn="l"/>
              </a:tabLst>
            </a:pPr>
            <a:r>
              <a:rPr lang="zh-CN" altLang="en-US" sz="1800" b="1" dirty="0">
                <a:ea typeface="黑体" panose="02010609060101010101" pitchFamily="49" charset="-122"/>
              </a:rPr>
              <a:t>基本思想</a:t>
            </a:r>
            <a:r>
              <a:rPr lang="zh-CN" altLang="en-US" sz="1800" dirty="0">
                <a:ea typeface="宋体" panose="02010600030101010101" pitchFamily="2" charset="-122"/>
              </a:rPr>
              <a:t>：要想获得某一资源的使用权，必须征得所有结点同意，时钟最小的可以使用资源；冲突时，按“定序”进行处理。</a:t>
            </a:r>
            <a:endParaRPr lang="zh-CN" altLang="en-US" sz="1800" dirty="0">
              <a:ea typeface="宋体" panose="02010600030101010101" pitchFamily="2" charset="-122"/>
            </a:endParaRPr>
          </a:p>
          <a:p>
            <a:pPr marL="0" lvl="0" indent="0" algn="just" defTabSz="914400">
              <a:lnSpc>
                <a:spcPct val="200000"/>
              </a:lnSpc>
              <a:spcBef>
                <a:spcPct val="0"/>
              </a:spcBef>
              <a:buClrTx/>
              <a:buNone/>
              <a:tabLst>
                <a:tab pos="287655" algn="l"/>
              </a:tabLst>
            </a:pPr>
            <a:r>
              <a:rPr lang="zh-CN" altLang="en-US" sz="1800" b="1" dirty="0">
                <a:ea typeface="黑体" panose="02010609060101010101" pitchFamily="49" charset="-122"/>
              </a:rPr>
              <a:t>数据结构</a:t>
            </a:r>
            <a:r>
              <a:rPr lang="zh-CN" altLang="en-US" sz="1800" dirty="0">
                <a:ea typeface="宋体" panose="02010600030101010101" pitchFamily="2" charset="-122"/>
              </a:rPr>
              <a:t>：每个进程拥有一个全局请求队列。</a:t>
            </a:r>
            <a:endParaRPr lang="zh-CN" altLang="en-US" sz="1800" dirty="0">
              <a:ea typeface="宋体" panose="0201060003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3"/>
          <p:cNvSpPr/>
          <p:nvPr/>
        </p:nvSpPr>
        <p:spPr>
          <a:xfrm>
            <a:off x="66675" y="682625"/>
            <a:ext cx="9010650" cy="424815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457200" lvl="0" indent="-457200" algn="just" defTabSz="914400">
              <a:lnSpc>
                <a:spcPct val="150000"/>
              </a:lnSpc>
              <a:spcBef>
                <a:spcPct val="0"/>
              </a:spcBef>
              <a:buClrTx/>
              <a:buFont typeface="Times New Roman" panose="02020603050405020304" pitchFamily="18" charset="0"/>
              <a:buAutoNum type="arabicPeriod"/>
              <a:tabLst>
                <a:tab pos="228600" algn="l"/>
              </a:tabLst>
            </a:pPr>
            <a:r>
              <a:rPr lang="zh-CN" altLang="en-US" sz="1800" dirty="0">
                <a:ea typeface="宋体" panose="02010600030101010101" pitchFamily="2" charset="-122"/>
              </a:rPr>
              <a:t>进程</a:t>
            </a:r>
            <a:r>
              <a:rPr lang="en-US" altLang="zh-CN" sz="1800" dirty="0">
                <a:ea typeface="宋体" panose="02010600030101010101" pitchFamily="2" charset="-122"/>
              </a:rPr>
              <a:t>p</a:t>
            </a:r>
            <a:r>
              <a:rPr lang="zh-CN" altLang="en-US" sz="1800" dirty="0">
                <a:ea typeface="宋体" panose="02010600030101010101" pitchFamily="2" charset="-122"/>
              </a:rPr>
              <a:t>进入临界区前向所有进程发送</a:t>
            </a:r>
            <a:r>
              <a:rPr lang="en-US" altLang="zh-CN" sz="1800" dirty="0">
                <a:ea typeface="宋体" panose="02010600030101010101" pitchFamily="2" charset="-122"/>
              </a:rPr>
              <a:t>Request(T</a:t>
            </a:r>
            <a:r>
              <a:rPr lang="en-US" altLang="zh-CN" sz="1800" baseline="-30000" dirty="0">
                <a:ea typeface="宋体" panose="02010600030101010101" pitchFamily="2" charset="-122"/>
              </a:rPr>
              <a:t>p</a:t>
            </a:r>
            <a:r>
              <a:rPr lang="en-US" altLang="zh-CN" sz="1800" dirty="0">
                <a:ea typeface="宋体" panose="02010600030101010101" pitchFamily="2" charset="-122"/>
              </a:rPr>
              <a:t>, p)，</a:t>
            </a:r>
            <a:r>
              <a:rPr lang="zh-CN" altLang="en-US" sz="1800" dirty="0">
                <a:ea typeface="宋体" panose="02010600030101010101" pitchFamily="2" charset="-122"/>
              </a:rPr>
              <a:t>并将请求放入自己的请求队列；</a:t>
            </a:r>
            <a:endParaRPr lang="zh-CN" altLang="en-US" sz="1800" dirty="0">
              <a:ea typeface="宋体" panose="02010600030101010101" pitchFamily="2" charset="-122"/>
            </a:endParaRPr>
          </a:p>
          <a:p>
            <a:pPr marL="457200" lvl="0" indent="-457200" algn="just" defTabSz="914400">
              <a:lnSpc>
                <a:spcPct val="150000"/>
              </a:lnSpc>
              <a:spcBef>
                <a:spcPct val="0"/>
              </a:spcBef>
              <a:buClrTx/>
              <a:buFont typeface="Times New Roman" panose="02020603050405020304" pitchFamily="18" charset="0"/>
              <a:buAutoNum type="arabicPeriod"/>
              <a:tabLst>
                <a:tab pos="228600" algn="l"/>
              </a:tabLst>
            </a:pPr>
            <a:r>
              <a:rPr lang="zh-CN" altLang="en-US" sz="1800" dirty="0">
                <a:ea typeface="宋体" panose="02010600030101010101" pitchFamily="2" charset="-122"/>
              </a:rPr>
              <a:t>当进程</a:t>
            </a:r>
            <a:r>
              <a:rPr lang="en-US" altLang="zh-CN" sz="1800" dirty="0">
                <a:ea typeface="宋体" panose="02010600030101010101" pitchFamily="2" charset="-122"/>
              </a:rPr>
              <a:t>q</a:t>
            </a:r>
            <a:r>
              <a:rPr lang="zh-CN" altLang="en-US" sz="1800" dirty="0">
                <a:ea typeface="宋体" panose="02010600030101010101" pitchFamily="2" charset="-122"/>
              </a:rPr>
              <a:t>接到此消息，将其放入自己的请求队列，并返回一个带有时间戳的</a:t>
            </a:r>
            <a:r>
              <a:rPr lang="en-US" altLang="zh-CN" sz="1800" dirty="0">
                <a:ea typeface="宋体" panose="02010600030101010101" pitchFamily="2" charset="-122"/>
              </a:rPr>
              <a:t>Reply(T</a:t>
            </a:r>
            <a:r>
              <a:rPr lang="en-US" altLang="zh-CN" sz="1800" baseline="-30000" dirty="0">
                <a:ea typeface="宋体" panose="02010600030101010101" pitchFamily="2" charset="-122"/>
              </a:rPr>
              <a:t>q</a:t>
            </a:r>
            <a:r>
              <a:rPr lang="en-US" altLang="zh-CN" sz="1800" dirty="0">
                <a:ea typeface="宋体" panose="02010600030101010101" pitchFamily="2" charset="-122"/>
              </a:rPr>
              <a:t>)；[T</a:t>
            </a:r>
            <a:r>
              <a:rPr lang="en-US" altLang="zh-CN" sz="1800" baseline="-30000" dirty="0">
                <a:ea typeface="宋体" panose="02010600030101010101" pitchFamily="2" charset="-122"/>
              </a:rPr>
              <a:t>q</a:t>
            </a:r>
            <a:r>
              <a:rPr lang="en-US" altLang="zh-CN" sz="1800" dirty="0">
                <a:ea typeface="宋体" panose="02010600030101010101" pitchFamily="2" charset="-122"/>
              </a:rPr>
              <a:t>&gt;=T</a:t>
            </a:r>
            <a:r>
              <a:rPr lang="en-US" altLang="zh-CN" sz="1800" baseline="-30000" dirty="0">
                <a:ea typeface="宋体" panose="02010600030101010101" pitchFamily="2" charset="-122"/>
              </a:rPr>
              <a:t>p+1</a:t>
            </a:r>
            <a:r>
              <a:rPr lang="en-US" altLang="zh-CN" sz="1800" dirty="0">
                <a:ea typeface="宋体" panose="02010600030101010101" pitchFamily="2" charset="-122"/>
              </a:rPr>
              <a:t>]; </a:t>
            </a:r>
            <a:endParaRPr lang="en-US" altLang="zh-CN" sz="1800" dirty="0">
              <a:ea typeface="宋体" panose="02010600030101010101" pitchFamily="2" charset="-122"/>
            </a:endParaRPr>
          </a:p>
          <a:p>
            <a:pPr marL="457200" lvl="0" indent="-457200" algn="just" defTabSz="914400">
              <a:lnSpc>
                <a:spcPct val="150000"/>
              </a:lnSpc>
              <a:spcBef>
                <a:spcPct val="0"/>
              </a:spcBef>
              <a:buClrTx/>
              <a:buFont typeface="Times New Roman" panose="02020603050405020304" pitchFamily="18" charset="0"/>
              <a:buAutoNum type="arabicPeriod"/>
              <a:tabLst>
                <a:tab pos="228600" algn="l"/>
              </a:tabLst>
            </a:pPr>
            <a:r>
              <a:rPr lang="zh-CN" altLang="en-US" sz="1800" dirty="0">
                <a:ea typeface="宋体" panose="02010600030101010101" pitchFamily="2" charset="-122"/>
              </a:rPr>
              <a:t>当</a:t>
            </a:r>
            <a:r>
              <a:rPr lang="en-US" altLang="zh-CN" sz="1800" dirty="0">
                <a:ea typeface="宋体" panose="02010600030101010101" pitchFamily="2" charset="-122"/>
              </a:rPr>
              <a:t>Request(T</a:t>
            </a:r>
            <a:r>
              <a:rPr lang="en-US" altLang="zh-CN" sz="1800" baseline="-30000" dirty="0">
                <a:ea typeface="宋体" panose="02010600030101010101" pitchFamily="2" charset="-122"/>
              </a:rPr>
              <a:t>p</a:t>
            </a:r>
            <a:r>
              <a:rPr lang="en-US" altLang="zh-CN" sz="1800" dirty="0">
                <a:ea typeface="宋体" panose="02010600030101010101" pitchFamily="2" charset="-122"/>
              </a:rPr>
              <a:t>, p)</a:t>
            </a:r>
            <a:r>
              <a:rPr lang="zh-CN" altLang="en-US" sz="1800" dirty="0">
                <a:ea typeface="宋体" panose="02010600030101010101" pitchFamily="2" charset="-122"/>
              </a:rPr>
              <a:t>收到全部响应后</a:t>
            </a:r>
            <a:r>
              <a:rPr lang="en-US" altLang="zh-CN" sz="1800" dirty="0">
                <a:ea typeface="宋体" panose="02010600030101010101" pitchFamily="2" charset="-122"/>
              </a:rPr>
              <a:t>(Reply)</a:t>
            </a:r>
            <a:r>
              <a:rPr lang="zh-CN" altLang="en-US" sz="1800" dirty="0">
                <a:ea typeface="宋体" panose="02010600030101010101" pitchFamily="2" charset="-122"/>
              </a:rPr>
              <a:t>，如果按“全排序”规则排在</a:t>
            </a:r>
            <a:r>
              <a:rPr lang="en-US" altLang="zh-CN" sz="1800" dirty="0">
                <a:ea typeface="宋体" panose="02010600030101010101" pitchFamily="2" charset="-122"/>
              </a:rPr>
              <a:t>p</a:t>
            </a:r>
            <a:r>
              <a:rPr lang="zh-CN" altLang="en-US" sz="1800" dirty="0">
                <a:ea typeface="宋体" panose="02010600030101010101" pitchFamily="2" charset="-122"/>
              </a:rPr>
              <a:t>队首时，</a:t>
            </a:r>
            <a:r>
              <a:rPr lang="en-US" altLang="zh-CN" sz="1800" dirty="0">
                <a:ea typeface="宋体" panose="02010600030101010101" pitchFamily="2" charset="-122"/>
              </a:rPr>
              <a:t>p</a:t>
            </a:r>
            <a:r>
              <a:rPr lang="zh-CN" altLang="en-US" sz="1800" dirty="0">
                <a:ea typeface="宋体" panose="02010600030101010101" pitchFamily="2" charset="-122"/>
              </a:rPr>
              <a:t>进入临界区，否则等待；</a:t>
            </a:r>
            <a:endParaRPr lang="en-US" altLang="zh-CN" sz="1800" dirty="0">
              <a:ea typeface="宋体" panose="02010600030101010101" pitchFamily="2" charset="-122"/>
            </a:endParaRPr>
          </a:p>
          <a:p>
            <a:pPr marL="457200" lvl="0" indent="-457200" algn="just" defTabSz="914400">
              <a:lnSpc>
                <a:spcPct val="150000"/>
              </a:lnSpc>
              <a:spcBef>
                <a:spcPct val="0"/>
              </a:spcBef>
              <a:buClrTx/>
              <a:buFont typeface="Times New Roman" panose="02020603050405020304" pitchFamily="18" charset="0"/>
              <a:buAutoNum type="arabicPeriod"/>
              <a:tabLst>
                <a:tab pos="228600" algn="l"/>
              </a:tabLst>
            </a:pPr>
            <a:r>
              <a:rPr lang="zh-CN" altLang="en-US" sz="1800" dirty="0">
                <a:ea typeface="宋体" panose="02010600030101010101" pitchFamily="2" charset="-122"/>
              </a:rPr>
              <a:t>当</a:t>
            </a:r>
            <a:r>
              <a:rPr lang="en-US" altLang="zh-CN" sz="1800" dirty="0">
                <a:ea typeface="宋体" panose="02010600030101010101" pitchFamily="2" charset="-122"/>
              </a:rPr>
              <a:t>p</a:t>
            </a:r>
            <a:r>
              <a:rPr lang="zh-CN" altLang="en-US" sz="1800" dirty="0">
                <a:ea typeface="宋体" panose="02010600030101010101" pitchFamily="2" charset="-122"/>
              </a:rPr>
              <a:t>退出临界区时，从自己的队列中去掉</a:t>
            </a:r>
            <a:r>
              <a:rPr lang="en-US" altLang="zh-CN" sz="1800" dirty="0">
                <a:ea typeface="宋体" panose="02010600030101010101" pitchFamily="2" charset="-122"/>
              </a:rPr>
              <a:t>Request(T</a:t>
            </a:r>
            <a:r>
              <a:rPr lang="en-US" altLang="zh-CN" sz="1800" baseline="-30000" dirty="0">
                <a:ea typeface="宋体" panose="02010600030101010101" pitchFamily="2" charset="-122"/>
              </a:rPr>
              <a:t>p</a:t>
            </a:r>
            <a:r>
              <a:rPr lang="en-US" altLang="zh-CN" sz="1800" dirty="0">
                <a:ea typeface="宋体" panose="02010600030101010101" pitchFamily="2" charset="-122"/>
              </a:rPr>
              <a:t>, p)，</a:t>
            </a:r>
            <a:r>
              <a:rPr lang="zh-CN" altLang="en-US" sz="1800" dirty="0">
                <a:ea typeface="宋体" panose="02010600030101010101" pitchFamily="2" charset="-122"/>
              </a:rPr>
              <a:t>并向其它进程发出</a:t>
            </a:r>
            <a:r>
              <a:rPr lang="en-US" altLang="zh-CN" sz="1800" dirty="0">
                <a:ea typeface="宋体" panose="02010600030101010101" pitchFamily="2" charset="-122"/>
              </a:rPr>
              <a:t>Release；</a:t>
            </a:r>
            <a:endParaRPr lang="en-US" altLang="zh-CN" sz="1800" dirty="0">
              <a:ea typeface="宋体" panose="02010600030101010101" pitchFamily="2" charset="-122"/>
            </a:endParaRPr>
          </a:p>
          <a:p>
            <a:pPr marL="457200" lvl="0" indent="-457200" algn="just" defTabSz="914400">
              <a:lnSpc>
                <a:spcPct val="150000"/>
              </a:lnSpc>
              <a:spcBef>
                <a:spcPct val="0"/>
              </a:spcBef>
              <a:buClrTx/>
              <a:buFont typeface="Times New Roman" panose="02020603050405020304" pitchFamily="18" charset="0"/>
              <a:buAutoNum type="arabicPeriod"/>
              <a:tabLst>
                <a:tab pos="228600" algn="l"/>
              </a:tabLst>
            </a:pPr>
            <a:r>
              <a:rPr lang="zh-CN" altLang="en-US" sz="1800" dirty="0">
                <a:ea typeface="宋体" panose="02010600030101010101" pitchFamily="2" charset="-122"/>
              </a:rPr>
              <a:t>当</a:t>
            </a:r>
            <a:r>
              <a:rPr lang="en-US" altLang="zh-CN" sz="1800" dirty="0">
                <a:ea typeface="宋体" panose="02010600030101010101" pitchFamily="2" charset="-122"/>
              </a:rPr>
              <a:t>q</a:t>
            </a:r>
            <a:r>
              <a:rPr lang="zh-CN" altLang="en-US" sz="1800" dirty="0">
                <a:ea typeface="宋体" panose="02010600030101010101" pitchFamily="2" charset="-122"/>
              </a:rPr>
              <a:t>接到</a:t>
            </a:r>
            <a:r>
              <a:rPr lang="en-US" altLang="zh-CN" sz="1800" dirty="0">
                <a:ea typeface="宋体" panose="02010600030101010101" pitchFamily="2" charset="-122"/>
              </a:rPr>
              <a:t>Release</a:t>
            </a:r>
            <a:r>
              <a:rPr lang="zh-CN" altLang="en-US" sz="1800" dirty="0">
                <a:ea typeface="宋体" panose="02010600030101010101" pitchFamily="2" charset="-122"/>
              </a:rPr>
              <a:t>后，将相应的</a:t>
            </a:r>
            <a:r>
              <a:rPr lang="en-US" altLang="zh-CN" sz="1800" dirty="0">
                <a:ea typeface="宋体" panose="02010600030101010101" pitchFamily="2" charset="-122"/>
              </a:rPr>
              <a:t>Request(T</a:t>
            </a:r>
            <a:r>
              <a:rPr lang="en-US" altLang="zh-CN" sz="1800" baseline="-30000" dirty="0">
                <a:ea typeface="宋体" panose="02010600030101010101" pitchFamily="2" charset="-122"/>
              </a:rPr>
              <a:t>p</a:t>
            </a:r>
            <a:r>
              <a:rPr lang="en-US" altLang="zh-CN" sz="1800" dirty="0">
                <a:ea typeface="宋体" panose="02010600030101010101" pitchFamily="2" charset="-122"/>
              </a:rPr>
              <a:t>, p)</a:t>
            </a:r>
            <a:r>
              <a:rPr lang="zh-CN" altLang="en-US" sz="1800" dirty="0">
                <a:ea typeface="宋体" panose="02010600030101010101" pitchFamily="2" charset="-122"/>
              </a:rPr>
              <a:t>从自己的队列中删除。然后看自己是否正在等待此临界区：</a:t>
            </a:r>
            <a:endParaRPr lang="zh-CN" altLang="en-US" sz="1800" dirty="0">
              <a:ea typeface="宋体" panose="02010600030101010101" pitchFamily="2" charset="-122"/>
            </a:endParaRPr>
          </a:p>
          <a:p>
            <a:pPr marL="914400" lvl="2" indent="0" algn="just" defTabSz="914400">
              <a:lnSpc>
                <a:spcPct val="150000"/>
              </a:lnSpc>
              <a:spcBef>
                <a:spcPct val="0"/>
              </a:spcBef>
              <a:buClrTx/>
              <a:buFont typeface="Wingdings" panose="05000000000000000000" pitchFamily="2" charset="2"/>
              <a:buChar char="u"/>
              <a:tabLst>
                <a:tab pos="228600" algn="l"/>
              </a:tabLst>
            </a:pPr>
            <a:r>
              <a:rPr lang="en-US" altLang="zh-CN" sz="1800" dirty="0">
                <a:ea typeface="宋体" panose="02010600030101010101" pitchFamily="2" charset="-122"/>
              </a:rPr>
              <a:t> </a:t>
            </a:r>
            <a:r>
              <a:rPr lang="zh-CN" altLang="en-US" sz="1800" dirty="0">
                <a:ea typeface="宋体" panose="02010600030101010101" pitchFamily="2" charset="-122"/>
              </a:rPr>
              <a:t>如果是，则转3；</a:t>
            </a:r>
            <a:endParaRPr lang="zh-CN" altLang="en-US" sz="1800" dirty="0">
              <a:ea typeface="宋体" panose="02010600030101010101" pitchFamily="2" charset="-122"/>
            </a:endParaRPr>
          </a:p>
          <a:p>
            <a:pPr marL="914400" lvl="2" indent="0" algn="just" defTabSz="914400">
              <a:lnSpc>
                <a:spcPct val="150000"/>
              </a:lnSpc>
              <a:spcBef>
                <a:spcPct val="0"/>
              </a:spcBef>
              <a:buClrTx/>
              <a:buFont typeface="Wingdings" panose="05000000000000000000" pitchFamily="2" charset="2"/>
              <a:buChar char="u"/>
              <a:tabLst>
                <a:tab pos="228600" algn="l"/>
              </a:tabLst>
            </a:pPr>
            <a:r>
              <a:rPr lang="en-US" altLang="zh-CN" sz="1800" dirty="0">
                <a:ea typeface="宋体" panose="02010600030101010101" pitchFamily="2" charset="-122"/>
              </a:rPr>
              <a:t> </a:t>
            </a:r>
            <a:r>
              <a:rPr lang="zh-CN" altLang="en-US" sz="1800" dirty="0">
                <a:ea typeface="宋体" panose="02010600030101010101" pitchFamily="2" charset="-122"/>
              </a:rPr>
              <a:t>如果不是，不做任何进一步的工作。</a:t>
            </a:r>
            <a:endParaRPr lang="zh-CN" altLang="en-US" sz="1800" dirty="0">
              <a:ea typeface="宋体" panose="02010600030101010101" pitchFamily="2" charset="-122"/>
            </a:endParaRPr>
          </a:p>
        </p:txBody>
      </p:sp>
      <p:sp>
        <p:nvSpPr>
          <p:cNvPr id="37891" name="Rectangle 7"/>
          <p:cNvSpPr>
            <a:spLocks noGrp="1"/>
          </p:cNvSpPr>
          <p:nvPr>
            <p:ph type="title"/>
          </p:nvPr>
        </p:nvSpPr>
        <p:spPr>
          <a:xfrm>
            <a:off x="0" y="0"/>
            <a:ext cx="9144000" cy="582613"/>
          </a:xfrm>
          <a:ln/>
        </p:spPr>
        <p:txBody>
          <a:bodyPr vert="horz" wrap="square" lIns="91440" tIns="45720" rIns="91440" bIns="45720" anchor="ctr" anchorCtr="0"/>
          <a:p>
            <a:pPr eaLnBrk="1" hangingPunct="1"/>
            <a:r>
              <a:rPr lang="en-US" altLang="zh-CN" dirty="0">
                <a:ea typeface="宋体" panose="02010600030101010101" pitchFamily="2" charset="-122"/>
              </a:rPr>
              <a:t>A Distributed Algorithm</a:t>
            </a:r>
            <a:endParaRPr lang="en-US" altLang="zh-CN" dirty="0">
              <a:ea typeface="宋体" panose="02010600030101010101" pitchFamily="2" charset="-122"/>
            </a:endParaRPr>
          </a:p>
        </p:txBody>
      </p:sp>
      <p:sp>
        <p:nvSpPr>
          <p:cNvPr id="37892" name="Rectangle 3"/>
          <p:cNvSpPr/>
          <p:nvPr/>
        </p:nvSpPr>
        <p:spPr>
          <a:xfrm>
            <a:off x="66675" y="5265738"/>
            <a:ext cx="8943975" cy="1247775"/>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defTabSz="914400">
              <a:lnSpc>
                <a:spcPct val="145000"/>
              </a:lnSpc>
              <a:spcBef>
                <a:spcPct val="0"/>
              </a:spcBef>
              <a:buClrTx/>
              <a:buNone/>
              <a:tabLst>
                <a:tab pos="228600" algn="l"/>
              </a:tabLst>
            </a:pPr>
            <a:r>
              <a:rPr lang="zh-CN" altLang="en-US" sz="1800" b="1" dirty="0">
                <a:ea typeface="黑体" panose="02010609060101010101" pitchFamily="49" charset="-122"/>
              </a:rPr>
              <a:t>讨论：</a:t>
            </a:r>
            <a:endParaRPr lang="zh-CN" altLang="en-US" sz="1800" dirty="0">
              <a:ea typeface="宋体" panose="02010600030101010101" pitchFamily="2" charset="-122"/>
            </a:endParaRPr>
          </a:p>
          <a:p>
            <a:pPr marL="0" lvl="0" indent="0" algn="just" defTabSz="914400">
              <a:lnSpc>
                <a:spcPct val="145000"/>
              </a:lnSpc>
              <a:spcBef>
                <a:spcPct val="0"/>
              </a:spcBef>
              <a:buClrTx/>
              <a:buNone/>
              <a:tabLst>
                <a:tab pos="228600" algn="l"/>
              </a:tabLst>
            </a:pPr>
            <a:r>
              <a:rPr lang="zh-CN" altLang="en-US" sz="1800" dirty="0">
                <a:ea typeface="宋体" panose="02010600030101010101" pitchFamily="2" charset="-122"/>
              </a:rPr>
              <a:t>     ①每完成一次临界区操作，要发</a:t>
            </a:r>
            <a:r>
              <a:rPr lang="en-US" altLang="zh-CN" sz="1800" dirty="0">
                <a:ea typeface="宋体" panose="02010600030101010101" pitchFamily="2" charset="-122"/>
              </a:rPr>
              <a:t>Request、Reply、Release</a:t>
            </a:r>
            <a:r>
              <a:rPr lang="zh-CN" altLang="en-US" sz="1800" dirty="0">
                <a:ea typeface="宋体" panose="02010600030101010101" pitchFamily="2" charset="-122"/>
              </a:rPr>
              <a:t>消息各</a:t>
            </a:r>
            <a:r>
              <a:rPr lang="en-US" altLang="zh-CN" sz="1800" dirty="0">
                <a:ea typeface="宋体" panose="02010600030101010101" pitchFamily="2" charset="-122"/>
              </a:rPr>
              <a:t>n-1</a:t>
            </a:r>
            <a:r>
              <a:rPr lang="zh-CN" altLang="en-US" sz="1800" dirty="0">
                <a:ea typeface="宋体" panose="02010600030101010101" pitchFamily="2" charset="-122"/>
              </a:rPr>
              <a:t>个；</a:t>
            </a:r>
            <a:endParaRPr lang="zh-CN" altLang="en-US" sz="1800" dirty="0">
              <a:ea typeface="宋体" panose="02010600030101010101" pitchFamily="2" charset="-122"/>
            </a:endParaRPr>
          </a:p>
          <a:p>
            <a:pPr marL="0" lvl="0" indent="0" algn="just" defTabSz="914400">
              <a:lnSpc>
                <a:spcPct val="145000"/>
              </a:lnSpc>
              <a:spcBef>
                <a:spcPct val="0"/>
              </a:spcBef>
              <a:buClrTx/>
              <a:buNone/>
              <a:tabLst>
                <a:tab pos="228600" algn="l"/>
              </a:tabLst>
            </a:pPr>
            <a:r>
              <a:rPr lang="zh-CN" altLang="en-US" sz="1800" dirty="0">
                <a:ea typeface="宋体" panose="02010600030101010101" pitchFamily="2" charset="-122"/>
              </a:rPr>
              <a:t>     ②时间戳及全排序保证不死锁。</a:t>
            </a:r>
            <a:endParaRPr lang="zh-CN" altLang="en-US" sz="1800" dirty="0">
              <a:ea typeface="宋体"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4"/>
          <p:cNvSpPr/>
          <p:nvPr/>
        </p:nvSpPr>
        <p:spPr>
          <a:xfrm>
            <a:off x="201613" y="838200"/>
            <a:ext cx="8750300" cy="5494338"/>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defTabSz="914400" eaLnBrk="1" hangingPunct="1">
              <a:lnSpc>
                <a:spcPct val="150000"/>
              </a:lnSpc>
              <a:spcBef>
                <a:spcPct val="0"/>
              </a:spcBef>
              <a:buClrTx/>
              <a:buNone/>
              <a:tabLst>
                <a:tab pos="762000" algn="l"/>
              </a:tabLst>
            </a:pPr>
            <a:r>
              <a:rPr lang="zh-CN" altLang="en-US" sz="1800" b="1" dirty="0">
                <a:latin typeface="宋体" panose="02010600030101010101" pitchFamily="2" charset="-122"/>
                <a:ea typeface="宋体" panose="02010600030101010101" pitchFamily="2" charset="-122"/>
              </a:rPr>
              <a:t>四、</a:t>
            </a:r>
            <a:r>
              <a:rPr lang="en-US" altLang="zh-CN" sz="1800" b="1" dirty="0">
                <a:latin typeface="宋体" panose="02010600030101010101" pitchFamily="2" charset="-122"/>
                <a:ea typeface="宋体" panose="02010600030101010101" pitchFamily="2" charset="-122"/>
              </a:rPr>
              <a:t>Lamport</a:t>
            </a:r>
            <a:r>
              <a:rPr lang="zh-CN" altLang="en-US" sz="1800" b="1" dirty="0">
                <a:latin typeface="宋体" panose="02010600030101010101" pitchFamily="2" charset="-122"/>
                <a:ea typeface="宋体" panose="02010600030101010101" pitchFamily="2" charset="-122"/>
              </a:rPr>
              <a:t>改进算法（</a:t>
            </a:r>
            <a:r>
              <a:rPr lang="en-US" altLang="zh-CN" sz="1800" b="1" dirty="0">
                <a:latin typeface="宋体" panose="02010600030101010101" pitchFamily="2" charset="-122"/>
                <a:ea typeface="宋体" panose="02010600030101010101" pitchFamily="2" charset="-122"/>
              </a:rPr>
              <a:t>Ricart, Agrawala 1981）</a:t>
            </a:r>
            <a:endParaRPr lang="en-US" altLang="zh-CN" sz="1800" b="1" dirty="0">
              <a:latin typeface="宋体" panose="02010600030101010101" pitchFamily="2" charset="-122"/>
              <a:ea typeface="宋体" panose="02010600030101010101" pitchFamily="2" charset="-122"/>
            </a:endParaRPr>
          </a:p>
          <a:p>
            <a:pPr marL="0" lvl="0" indent="0" algn="just" defTabSz="914400">
              <a:lnSpc>
                <a:spcPct val="150000"/>
              </a:lnSpc>
              <a:spcBef>
                <a:spcPct val="0"/>
              </a:spcBef>
              <a:buClrTx/>
              <a:buNone/>
              <a:tabLst>
                <a:tab pos="762000" algn="l"/>
              </a:tabLst>
            </a:pPr>
            <a:r>
              <a:rPr lang="en-US" altLang="zh-CN" sz="1800" b="1" dirty="0">
                <a:latin typeface="宋体" panose="02010600030101010101" pitchFamily="2" charset="-122"/>
                <a:ea typeface="宋体" panose="02010600030101010101" pitchFamily="2" charset="-122"/>
              </a:rPr>
              <a:t>1.Request</a:t>
            </a:r>
            <a:r>
              <a:rPr lang="zh-CN" altLang="en-US" sz="1800" b="1" dirty="0">
                <a:latin typeface="宋体" panose="02010600030101010101" pitchFamily="2" charset="-122"/>
                <a:ea typeface="宋体" panose="02010600030101010101" pitchFamily="2" charset="-122"/>
              </a:rPr>
              <a:t>消息：</a:t>
            </a:r>
            <a:r>
              <a:rPr lang="en-US" altLang="zh-CN" sz="1800" b="1" dirty="0">
                <a:latin typeface="宋体" panose="02010600030101010101" pitchFamily="2" charset="-122"/>
                <a:ea typeface="宋体" panose="02010600030101010101" pitchFamily="2" charset="-122"/>
              </a:rPr>
              <a:t>p</a:t>
            </a:r>
            <a:r>
              <a:rPr lang="zh-CN" altLang="en-US" sz="1800" b="1" dirty="0">
                <a:latin typeface="宋体" panose="02010600030101010101" pitchFamily="2" charset="-122"/>
                <a:ea typeface="宋体" panose="02010600030101010101" pitchFamily="2" charset="-122"/>
              </a:rPr>
              <a:t>必须让系统中的其它</a:t>
            </a:r>
            <a:r>
              <a:rPr lang="en-US" altLang="zh-CN" sz="1800" b="1" dirty="0">
                <a:latin typeface="宋体" panose="02010600030101010101" pitchFamily="2" charset="-122"/>
                <a:ea typeface="宋体" panose="02010600030101010101" pitchFamily="2" charset="-122"/>
              </a:rPr>
              <a:t>n-1</a:t>
            </a:r>
            <a:r>
              <a:rPr lang="zh-CN" altLang="en-US" sz="1800" b="1" dirty="0">
                <a:latin typeface="宋体" panose="02010600030101010101" pitchFamily="2" charset="-122"/>
                <a:ea typeface="宋体" panose="02010600030101010101" pitchFamily="2" charset="-122"/>
              </a:rPr>
              <a:t>个进程知道它的需求；</a:t>
            </a:r>
            <a:endParaRPr lang="zh-CN" altLang="en-US" sz="1800" b="1" dirty="0">
              <a:latin typeface="宋体" panose="02010600030101010101" pitchFamily="2" charset="-122"/>
              <a:ea typeface="宋体" panose="02010600030101010101" pitchFamily="2" charset="-122"/>
            </a:endParaRPr>
          </a:p>
          <a:p>
            <a:pPr marL="0" lvl="0" indent="0" algn="just" defTabSz="914400">
              <a:lnSpc>
                <a:spcPct val="150000"/>
              </a:lnSpc>
              <a:spcBef>
                <a:spcPct val="0"/>
              </a:spcBef>
              <a:buClrTx/>
              <a:buNone/>
              <a:tabLst>
                <a:tab pos="762000" algn="l"/>
              </a:tabLst>
            </a:pPr>
            <a:r>
              <a:rPr lang="en-US" altLang="zh-CN" sz="1800" b="1" dirty="0">
                <a:latin typeface="宋体" panose="02010600030101010101" pitchFamily="2" charset="-122"/>
                <a:ea typeface="宋体" panose="02010600030101010101" pitchFamily="2" charset="-122"/>
              </a:rPr>
              <a:t>2.Reply</a:t>
            </a:r>
            <a:r>
              <a:rPr lang="zh-CN" altLang="en-US" sz="1800" b="1" dirty="0">
                <a:latin typeface="宋体" panose="02010600030101010101" pitchFamily="2" charset="-122"/>
                <a:ea typeface="宋体" panose="02010600030101010101" pitchFamily="2" charset="-122"/>
              </a:rPr>
              <a:t>消息</a:t>
            </a:r>
            <a:r>
              <a:rPr lang="en-US" altLang="zh-CN" sz="1800" b="1" dirty="0">
                <a:latin typeface="宋体" panose="02010600030101010101" pitchFamily="2" charset="-122"/>
                <a:ea typeface="宋体" panose="02010600030101010101" pitchFamily="2" charset="-122"/>
              </a:rPr>
              <a:t>,</a:t>
            </a:r>
            <a:endParaRPr lang="zh-CN" altLang="en-US" sz="1800" b="1" dirty="0">
              <a:latin typeface="宋体" panose="02010600030101010101" pitchFamily="2" charset="-122"/>
              <a:ea typeface="宋体" panose="02010600030101010101" pitchFamily="2" charset="-122"/>
            </a:endParaRPr>
          </a:p>
          <a:p>
            <a:pPr marL="0" lvl="0" indent="0" algn="just" defTabSz="914400">
              <a:lnSpc>
                <a:spcPct val="150000"/>
              </a:lnSpc>
              <a:spcBef>
                <a:spcPct val="0"/>
              </a:spcBef>
              <a:buClrTx/>
              <a:buNone/>
              <a:tabLst>
                <a:tab pos="762000" algn="l"/>
              </a:tabLst>
            </a:pPr>
            <a:r>
              <a:rPr lang="en-US" altLang="zh-CN" sz="1800" b="1" dirty="0">
                <a:latin typeface="宋体" panose="02010600030101010101" pitchFamily="2" charset="-122"/>
                <a:ea typeface="宋体" panose="02010600030101010101" pitchFamily="2" charset="-122"/>
              </a:rPr>
              <a:t>   </a:t>
            </a:r>
            <a:r>
              <a:rPr lang="zh-CN" altLang="en-US" sz="1800" b="1" dirty="0">
                <a:latin typeface="宋体" panose="02010600030101010101" pitchFamily="2" charset="-122"/>
                <a:ea typeface="宋体" panose="02010600030101010101" pitchFamily="2" charset="-122"/>
              </a:rPr>
              <a:t>①如果进程</a:t>
            </a:r>
            <a:r>
              <a:rPr lang="en-US" altLang="zh-CN" sz="1800" b="1" dirty="0">
                <a:latin typeface="宋体" panose="02010600030101010101" pitchFamily="2" charset="-122"/>
                <a:ea typeface="宋体" panose="02010600030101010101" pitchFamily="2" charset="-122"/>
              </a:rPr>
              <a:t>q</a:t>
            </a:r>
            <a:r>
              <a:rPr lang="zh-CN" altLang="en-US" sz="1800" b="1" dirty="0">
                <a:latin typeface="宋体" panose="02010600030101010101" pitchFamily="2" charset="-122"/>
                <a:ea typeface="宋体" panose="02010600030101010101" pitchFamily="2" charset="-122"/>
              </a:rPr>
              <a:t>未在临界区内，且也不打算进入，则同意</a:t>
            </a:r>
            <a:r>
              <a:rPr lang="en-US" altLang="zh-CN" sz="1800" b="1" dirty="0">
                <a:latin typeface="宋体" panose="02010600030101010101" pitchFamily="2" charset="-122"/>
                <a:ea typeface="宋体" panose="02010600030101010101" pitchFamily="2" charset="-122"/>
              </a:rPr>
              <a:t>p</a:t>
            </a:r>
            <a:r>
              <a:rPr lang="zh-CN" altLang="en-US" sz="1800" b="1" dirty="0">
                <a:latin typeface="宋体" panose="02010600030101010101" pitchFamily="2" charset="-122"/>
                <a:ea typeface="宋体" panose="02010600030101010101" pitchFamily="2" charset="-122"/>
              </a:rPr>
              <a:t>的请求，向</a:t>
            </a:r>
            <a:r>
              <a:rPr lang="en-US" altLang="zh-CN" sz="1800" b="1" dirty="0">
                <a:latin typeface="宋体" panose="02010600030101010101" pitchFamily="2" charset="-122"/>
                <a:ea typeface="宋体" panose="02010600030101010101" pitchFamily="2" charset="-122"/>
              </a:rPr>
              <a:t>p</a:t>
            </a:r>
            <a:r>
              <a:rPr lang="zh-CN" altLang="en-US" sz="1800" b="1" dirty="0">
                <a:latin typeface="宋体" panose="02010600030101010101" pitchFamily="2" charset="-122"/>
                <a:ea typeface="宋体" panose="02010600030101010101" pitchFamily="2" charset="-122"/>
              </a:rPr>
              <a:t>发</a:t>
            </a:r>
            <a:r>
              <a:rPr lang="en-US" altLang="zh-CN" sz="1800" b="1" dirty="0">
                <a:latin typeface="宋体" panose="02010600030101010101" pitchFamily="2" charset="-122"/>
                <a:ea typeface="宋体" panose="02010600030101010101" pitchFamily="2" charset="-122"/>
              </a:rPr>
              <a:t>Reply；</a:t>
            </a:r>
            <a:endParaRPr lang="en-US" altLang="zh-CN" sz="1800" b="1" dirty="0">
              <a:latin typeface="宋体" panose="02010600030101010101" pitchFamily="2" charset="-122"/>
              <a:ea typeface="宋体" panose="02010600030101010101" pitchFamily="2" charset="-122"/>
            </a:endParaRPr>
          </a:p>
          <a:p>
            <a:pPr marL="0" lvl="0" indent="0" algn="just" defTabSz="914400">
              <a:lnSpc>
                <a:spcPct val="150000"/>
              </a:lnSpc>
              <a:spcBef>
                <a:spcPct val="0"/>
              </a:spcBef>
              <a:buClrTx/>
              <a:buNone/>
              <a:tabLst>
                <a:tab pos="762000" algn="l"/>
              </a:tabLst>
            </a:pPr>
            <a:r>
              <a:rPr lang="zh-CN" altLang="en-US" sz="1800" b="1" dirty="0">
                <a:latin typeface="宋体" panose="02010600030101010101" pitchFamily="2" charset="-122"/>
                <a:ea typeface="宋体" panose="02010600030101010101" pitchFamily="2" charset="-122"/>
              </a:rPr>
              <a:t>   ②如果进程</a:t>
            </a:r>
            <a:r>
              <a:rPr lang="en-US" altLang="zh-CN" sz="1800" b="1" dirty="0">
                <a:latin typeface="宋体" panose="02010600030101010101" pitchFamily="2" charset="-122"/>
                <a:ea typeface="宋体" panose="02010600030101010101" pitchFamily="2" charset="-122"/>
              </a:rPr>
              <a:t>q</a:t>
            </a:r>
            <a:r>
              <a:rPr lang="zh-CN" altLang="en-US" sz="1800" b="1" dirty="0">
                <a:latin typeface="宋体" panose="02010600030101010101" pitchFamily="2" charset="-122"/>
                <a:ea typeface="宋体" panose="02010600030101010101" pitchFamily="2" charset="-122"/>
              </a:rPr>
              <a:t>在临界区内，则不向</a:t>
            </a:r>
            <a:r>
              <a:rPr lang="en-US" altLang="zh-CN" sz="1800" b="1" dirty="0">
                <a:latin typeface="宋体" panose="02010600030101010101" pitchFamily="2" charset="-122"/>
                <a:ea typeface="宋体" panose="02010600030101010101" pitchFamily="2" charset="-122"/>
              </a:rPr>
              <a:t>p</a:t>
            </a:r>
            <a:r>
              <a:rPr lang="zh-CN" altLang="en-US" sz="1800" b="1" dirty="0">
                <a:latin typeface="宋体" panose="02010600030101010101" pitchFamily="2" charset="-122"/>
                <a:ea typeface="宋体" panose="02010600030101010101" pitchFamily="2" charset="-122"/>
              </a:rPr>
              <a:t>发</a:t>
            </a:r>
            <a:r>
              <a:rPr lang="en-US" altLang="zh-CN" sz="1800" b="1" dirty="0">
                <a:latin typeface="宋体" panose="02010600030101010101" pitchFamily="2" charset="-122"/>
                <a:ea typeface="宋体" panose="02010600030101010101" pitchFamily="2" charset="-122"/>
              </a:rPr>
              <a:t>Reply，</a:t>
            </a:r>
            <a:r>
              <a:rPr lang="zh-CN" altLang="en-US" sz="1800" b="1" dirty="0">
                <a:latin typeface="宋体" panose="02010600030101010101" pitchFamily="2" charset="-122"/>
                <a:ea typeface="宋体" panose="02010600030101010101" pitchFamily="2" charset="-122"/>
              </a:rPr>
              <a:t>并将此</a:t>
            </a:r>
            <a:r>
              <a:rPr lang="en-US" altLang="zh-CN" sz="1800" b="1" dirty="0">
                <a:latin typeface="宋体" panose="02010600030101010101" pitchFamily="2" charset="-122"/>
                <a:ea typeface="宋体" panose="02010600030101010101" pitchFamily="2" charset="-122"/>
              </a:rPr>
              <a:t>Request</a:t>
            </a:r>
            <a:r>
              <a:rPr lang="zh-CN" altLang="en-US" sz="1800" b="1" dirty="0">
                <a:latin typeface="宋体" panose="02010600030101010101" pitchFamily="2" charset="-122"/>
                <a:ea typeface="宋体" panose="02010600030101010101" pitchFamily="2" charset="-122"/>
              </a:rPr>
              <a:t>挂入请求队列；</a:t>
            </a:r>
            <a:endParaRPr lang="zh-CN" altLang="en-US" sz="1800" b="1" dirty="0">
              <a:latin typeface="宋体" panose="02010600030101010101" pitchFamily="2" charset="-122"/>
              <a:ea typeface="宋体" panose="02010600030101010101" pitchFamily="2" charset="-122"/>
            </a:endParaRPr>
          </a:p>
          <a:p>
            <a:pPr marL="0" lvl="0" indent="0" algn="just" defTabSz="914400">
              <a:lnSpc>
                <a:spcPct val="150000"/>
              </a:lnSpc>
              <a:spcBef>
                <a:spcPct val="0"/>
              </a:spcBef>
              <a:buClrTx/>
              <a:buNone/>
              <a:tabLst>
                <a:tab pos="762000" algn="l"/>
              </a:tabLst>
            </a:pPr>
            <a:r>
              <a:rPr lang="en-US" altLang="zh-CN" sz="1800" b="1" dirty="0">
                <a:latin typeface="宋体" panose="02010600030101010101" pitchFamily="2" charset="-122"/>
                <a:ea typeface="宋体" panose="02010600030101010101" pitchFamily="2" charset="-122"/>
              </a:rPr>
              <a:t>   ③</a:t>
            </a:r>
            <a:r>
              <a:rPr lang="zh-CN" altLang="en-US" sz="1800" b="1" dirty="0">
                <a:latin typeface="宋体" panose="02010600030101010101" pitchFamily="2" charset="-122"/>
                <a:ea typeface="宋体" panose="02010600030101010101" pitchFamily="2" charset="-122"/>
              </a:rPr>
              <a:t>如果进程</a:t>
            </a:r>
            <a:r>
              <a:rPr lang="en-US" altLang="zh-CN" sz="1800" b="1" dirty="0">
                <a:latin typeface="宋体" panose="02010600030101010101" pitchFamily="2" charset="-122"/>
                <a:ea typeface="宋体" panose="02010600030101010101" pitchFamily="2" charset="-122"/>
              </a:rPr>
              <a:t>q</a:t>
            </a:r>
            <a:r>
              <a:rPr lang="zh-CN" altLang="en-US" sz="1800" b="1" dirty="0">
                <a:latin typeface="宋体" panose="02010600030101010101" pitchFamily="2" charset="-122"/>
                <a:ea typeface="宋体" panose="02010600030101010101" pitchFamily="2" charset="-122"/>
              </a:rPr>
              <a:t>正打算进入临界区，则看</a:t>
            </a:r>
            <a:r>
              <a:rPr lang="en-US" altLang="zh-CN" sz="1800" b="1" dirty="0">
                <a:latin typeface="宋体" panose="02010600030101010101" pitchFamily="2" charset="-122"/>
                <a:ea typeface="宋体" panose="02010600030101010101" pitchFamily="2" charset="-122"/>
              </a:rPr>
              <a:t>T</a:t>
            </a:r>
            <a:r>
              <a:rPr lang="en-US" altLang="zh-CN" sz="1800" b="1" baseline="-30000" dirty="0">
                <a:latin typeface="宋体" panose="02010600030101010101" pitchFamily="2" charset="-122"/>
                <a:ea typeface="宋体" panose="02010600030101010101" pitchFamily="2" charset="-122"/>
              </a:rPr>
              <a:t>p</a:t>
            </a:r>
            <a:r>
              <a:rPr lang="en-US" altLang="zh-CN" sz="1800" b="1" dirty="0">
                <a:latin typeface="宋体" panose="02010600030101010101" pitchFamily="2" charset="-122"/>
                <a:ea typeface="宋体" panose="02010600030101010101" pitchFamily="2" charset="-122"/>
              </a:rPr>
              <a:t>&lt;T</a:t>
            </a:r>
            <a:r>
              <a:rPr lang="en-US" altLang="zh-CN" sz="1800" b="1" baseline="-30000" dirty="0">
                <a:latin typeface="宋体" panose="02010600030101010101" pitchFamily="2" charset="-122"/>
                <a:ea typeface="宋体" panose="02010600030101010101" pitchFamily="2" charset="-122"/>
              </a:rPr>
              <a:t>q</a:t>
            </a:r>
            <a:r>
              <a:rPr lang="zh-CN" altLang="en-US" sz="1800" b="1" dirty="0">
                <a:latin typeface="宋体" panose="02010600030101010101" pitchFamily="2" charset="-122"/>
                <a:ea typeface="宋体" panose="02010600030101010101" pitchFamily="2" charset="-122"/>
              </a:rPr>
              <a:t>是否成立，</a:t>
            </a:r>
            <a:endParaRPr lang="zh-CN" altLang="en-US" sz="1800" b="1" dirty="0">
              <a:latin typeface="宋体" panose="02010600030101010101" pitchFamily="2" charset="-122"/>
              <a:ea typeface="宋体" panose="02010600030101010101" pitchFamily="2" charset="-122"/>
            </a:endParaRPr>
          </a:p>
          <a:p>
            <a:pPr marL="914400" lvl="2" indent="0" algn="just" defTabSz="914400">
              <a:lnSpc>
                <a:spcPct val="150000"/>
              </a:lnSpc>
              <a:spcBef>
                <a:spcPct val="0"/>
              </a:spcBef>
              <a:buClrTx/>
              <a:buFont typeface="Wingdings" panose="05000000000000000000" pitchFamily="2" charset="2"/>
              <a:buChar char="u"/>
              <a:tabLst>
                <a:tab pos="762000" algn="l"/>
              </a:tabLst>
            </a:pPr>
            <a:r>
              <a:rPr lang="zh-CN" altLang="en-US" sz="1800" b="1" dirty="0">
                <a:latin typeface="宋体" panose="02010600030101010101" pitchFamily="2" charset="-122"/>
                <a:ea typeface="宋体" panose="02010600030101010101" pitchFamily="2" charset="-122"/>
              </a:rPr>
              <a:t>成立，同意</a:t>
            </a:r>
            <a:r>
              <a:rPr lang="en-US" altLang="zh-CN" sz="1800" b="1" dirty="0">
                <a:latin typeface="宋体" panose="02010600030101010101" pitchFamily="2" charset="-122"/>
                <a:ea typeface="宋体" panose="02010600030101010101" pitchFamily="2" charset="-122"/>
              </a:rPr>
              <a:t>p</a:t>
            </a:r>
            <a:r>
              <a:rPr lang="zh-CN" altLang="en-US" sz="1800" b="1" dirty="0">
                <a:latin typeface="宋体" panose="02010600030101010101" pitchFamily="2" charset="-122"/>
                <a:ea typeface="宋体" panose="02010600030101010101" pitchFamily="2" charset="-122"/>
              </a:rPr>
              <a:t>的进入请求，向</a:t>
            </a:r>
            <a:r>
              <a:rPr lang="en-US" altLang="zh-CN" sz="1800" b="1" dirty="0">
                <a:latin typeface="宋体" panose="02010600030101010101" pitchFamily="2" charset="-122"/>
                <a:ea typeface="宋体" panose="02010600030101010101" pitchFamily="2" charset="-122"/>
              </a:rPr>
              <a:t>p</a:t>
            </a:r>
            <a:r>
              <a:rPr lang="zh-CN" altLang="en-US" sz="1800" b="1" dirty="0">
                <a:latin typeface="宋体" panose="02010600030101010101" pitchFamily="2" charset="-122"/>
                <a:ea typeface="宋体" panose="02010600030101010101" pitchFamily="2" charset="-122"/>
              </a:rPr>
              <a:t>发</a:t>
            </a:r>
            <a:r>
              <a:rPr lang="en-US" altLang="zh-CN" sz="1800" b="1" dirty="0">
                <a:latin typeface="宋体" panose="02010600030101010101" pitchFamily="2" charset="-122"/>
                <a:ea typeface="宋体" panose="02010600030101010101" pitchFamily="2" charset="-122"/>
              </a:rPr>
              <a:t>Reply；</a:t>
            </a:r>
            <a:endParaRPr lang="en-US" altLang="zh-CN" sz="1800" b="1" dirty="0">
              <a:latin typeface="宋体" panose="02010600030101010101" pitchFamily="2" charset="-122"/>
              <a:ea typeface="宋体" panose="02010600030101010101" pitchFamily="2" charset="-122"/>
            </a:endParaRPr>
          </a:p>
          <a:p>
            <a:pPr marL="914400" lvl="2" indent="0" algn="just" defTabSz="914400">
              <a:lnSpc>
                <a:spcPct val="150000"/>
              </a:lnSpc>
              <a:spcBef>
                <a:spcPct val="0"/>
              </a:spcBef>
              <a:buClrTx/>
              <a:buFont typeface="Wingdings" panose="05000000000000000000" pitchFamily="2" charset="2"/>
              <a:buChar char="u"/>
              <a:tabLst>
                <a:tab pos="762000" algn="l"/>
              </a:tabLst>
            </a:pPr>
            <a:r>
              <a:rPr lang="zh-CN" altLang="en-US" sz="1800" b="1" dirty="0">
                <a:latin typeface="宋体" panose="02010600030101010101" pitchFamily="2" charset="-122"/>
                <a:ea typeface="宋体" panose="02010600030101010101" pitchFamily="2" charset="-122"/>
              </a:rPr>
              <a:t>不成立，则将此</a:t>
            </a:r>
            <a:r>
              <a:rPr lang="en-US" altLang="zh-CN" sz="1800" b="1" dirty="0">
                <a:latin typeface="宋体" panose="02010600030101010101" pitchFamily="2" charset="-122"/>
                <a:ea typeface="宋体" panose="02010600030101010101" pitchFamily="2" charset="-122"/>
              </a:rPr>
              <a:t>Request</a:t>
            </a:r>
            <a:r>
              <a:rPr lang="zh-CN" altLang="en-US" sz="1800" b="1" dirty="0">
                <a:latin typeface="宋体" panose="02010600030101010101" pitchFamily="2" charset="-122"/>
                <a:ea typeface="宋体" panose="02010600030101010101" pitchFamily="2" charset="-122"/>
              </a:rPr>
              <a:t>挂入相应队列，此时不发</a:t>
            </a:r>
            <a:r>
              <a:rPr lang="en-US" altLang="zh-CN" sz="1800" b="1" dirty="0">
                <a:latin typeface="宋体" panose="02010600030101010101" pitchFamily="2" charset="-122"/>
                <a:ea typeface="宋体" panose="02010600030101010101" pitchFamily="2" charset="-122"/>
              </a:rPr>
              <a:t>Reply；</a:t>
            </a:r>
            <a:endParaRPr lang="en-US" altLang="zh-CN" sz="1800" b="1" dirty="0">
              <a:latin typeface="宋体" panose="02010600030101010101" pitchFamily="2" charset="-122"/>
              <a:ea typeface="宋体" panose="02010600030101010101" pitchFamily="2" charset="-122"/>
            </a:endParaRPr>
          </a:p>
          <a:p>
            <a:pPr marL="0" lvl="0" indent="0" algn="just" defTabSz="914400">
              <a:lnSpc>
                <a:spcPct val="150000"/>
              </a:lnSpc>
              <a:spcBef>
                <a:spcPct val="0"/>
              </a:spcBef>
              <a:buClrTx/>
              <a:buNone/>
              <a:tabLst>
                <a:tab pos="762000" algn="l"/>
              </a:tabLst>
            </a:pPr>
            <a:r>
              <a:rPr lang="en-US" altLang="zh-CN" sz="1800" b="1" dirty="0">
                <a:latin typeface="宋体" panose="02010600030101010101" pitchFamily="2" charset="-122"/>
                <a:ea typeface="宋体" panose="02010600030101010101" pitchFamily="2" charset="-122"/>
              </a:rPr>
              <a:t>3.</a:t>
            </a:r>
            <a:r>
              <a:rPr lang="zh-CN" altLang="en-US" sz="1800" b="1" dirty="0">
                <a:latin typeface="宋体" panose="02010600030101010101" pitchFamily="2" charset="-122"/>
                <a:ea typeface="宋体" panose="02010600030101010101" pitchFamily="2" charset="-122"/>
              </a:rPr>
              <a:t>按照发</a:t>
            </a:r>
            <a:r>
              <a:rPr lang="en-US" altLang="zh-CN" sz="1800" b="1" dirty="0">
                <a:latin typeface="宋体" panose="02010600030101010101" pitchFamily="2" charset="-122"/>
                <a:ea typeface="宋体" panose="02010600030101010101" pitchFamily="2" charset="-122"/>
              </a:rPr>
              <a:t>Reply</a:t>
            </a:r>
            <a:r>
              <a:rPr lang="zh-CN" altLang="en-US" sz="1800" b="1" dirty="0">
                <a:latin typeface="宋体" panose="02010600030101010101" pitchFamily="2" charset="-122"/>
                <a:ea typeface="宋体" panose="02010600030101010101" pitchFamily="2" charset="-122"/>
              </a:rPr>
              <a:t>消息的原则，当未发</a:t>
            </a:r>
            <a:r>
              <a:rPr lang="en-US" altLang="zh-CN" sz="1800" b="1" dirty="0">
                <a:latin typeface="宋体" panose="02010600030101010101" pitchFamily="2" charset="-122"/>
                <a:ea typeface="宋体" panose="02010600030101010101" pitchFamily="2" charset="-122"/>
              </a:rPr>
              <a:t>Reply</a:t>
            </a:r>
            <a:r>
              <a:rPr lang="zh-CN" altLang="en-US" sz="1800" b="1" dirty="0">
                <a:latin typeface="宋体" panose="02010600030101010101" pitchFamily="2" charset="-122"/>
                <a:ea typeface="宋体" panose="02010600030101010101" pitchFamily="2" charset="-122"/>
              </a:rPr>
              <a:t>的进程使用完临界区后，再向原来发</a:t>
            </a:r>
            <a:r>
              <a:rPr lang="en-US" altLang="zh-CN" sz="1800" b="1" dirty="0">
                <a:latin typeface="宋体" panose="02010600030101010101" pitchFamily="2" charset="-122"/>
                <a:ea typeface="宋体" panose="02010600030101010101" pitchFamily="2" charset="-122"/>
              </a:rPr>
              <a:t>Request</a:t>
            </a:r>
            <a:r>
              <a:rPr lang="zh-CN" altLang="en-US" sz="1800" b="1" dirty="0">
                <a:latin typeface="宋体" panose="02010600030101010101" pitchFamily="2" charset="-122"/>
                <a:ea typeface="宋体" panose="02010600030101010101" pitchFamily="2" charset="-122"/>
              </a:rPr>
              <a:t>的进程发送</a:t>
            </a:r>
            <a:r>
              <a:rPr lang="en-US" altLang="zh-CN" sz="1800" b="1" dirty="0">
                <a:latin typeface="宋体" panose="02010600030101010101" pitchFamily="2" charset="-122"/>
                <a:ea typeface="宋体" panose="02010600030101010101" pitchFamily="2" charset="-122"/>
              </a:rPr>
              <a:t>Release</a:t>
            </a:r>
            <a:r>
              <a:rPr lang="zh-CN" altLang="en-US" sz="1800" b="1" dirty="0">
                <a:latin typeface="宋体" panose="02010600030101010101" pitchFamily="2" charset="-122"/>
                <a:ea typeface="宋体" panose="02010600030101010101" pitchFamily="2" charset="-122"/>
              </a:rPr>
              <a:t>消息。</a:t>
            </a:r>
            <a:endParaRPr lang="zh-CN" altLang="en-US" sz="1800" b="1" dirty="0">
              <a:latin typeface="宋体" panose="02010600030101010101" pitchFamily="2" charset="-122"/>
              <a:ea typeface="宋体" panose="02010600030101010101" pitchFamily="2" charset="-122"/>
            </a:endParaRPr>
          </a:p>
          <a:p>
            <a:pPr marL="0" lvl="0" indent="0" algn="just" defTabSz="914400">
              <a:lnSpc>
                <a:spcPct val="150000"/>
              </a:lnSpc>
              <a:spcBef>
                <a:spcPct val="0"/>
              </a:spcBef>
              <a:buClrTx/>
              <a:buNone/>
              <a:tabLst>
                <a:tab pos="762000" algn="l"/>
              </a:tabLst>
            </a:pPr>
            <a:r>
              <a:rPr lang="en-US" altLang="zh-CN" sz="1800" b="1" dirty="0">
                <a:latin typeface="宋体" panose="02010600030101010101" pitchFamily="2" charset="-122"/>
                <a:ea typeface="宋体" panose="02010600030101010101" pitchFamily="2" charset="-122"/>
              </a:rPr>
              <a:t>4.</a:t>
            </a:r>
            <a:r>
              <a:rPr lang="zh-CN" altLang="en-US" sz="1800" b="1" dirty="0">
                <a:latin typeface="宋体" panose="02010600030101010101" pitchFamily="2" charset="-122"/>
                <a:ea typeface="宋体" panose="02010600030101010101" pitchFamily="2" charset="-122"/>
              </a:rPr>
              <a:t>当</a:t>
            </a:r>
            <a:r>
              <a:rPr lang="en-US" altLang="zh-CN" sz="1800" b="1" dirty="0">
                <a:latin typeface="宋体" panose="02010600030101010101" pitchFamily="2" charset="-122"/>
                <a:ea typeface="宋体" panose="02010600030101010101" pitchFamily="2" charset="-122"/>
              </a:rPr>
              <a:t>Request</a:t>
            </a:r>
            <a:r>
              <a:rPr lang="zh-CN" altLang="en-US" sz="1800" b="1" dirty="0">
                <a:latin typeface="宋体" panose="02010600030101010101" pitchFamily="2" charset="-122"/>
                <a:ea typeface="宋体" panose="02010600030101010101" pitchFamily="2" charset="-122"/>
              </a:rPr>
              <a:t>收到全部响应</a:t>
            </a:r>
            <a:r>
              <a:rPr lang="en-US" altLang="zh-CN" sz="1800" b="1" dirty="0">
                <a:latin typeface="宋体" panose="02010600030101010101" pitchFamily="2" charset="-122"/>
                <a:ea typeface="宋体" panose="02010600030101010101" pitchFamily="2" charset="-122"/>
              </a:rPr>
              <a:t>(Reply</a:t>
            </a:r>
            <a:r>
              <a:rPr lang="zh-CN" altLang="en-US" sz="1800" b="1" dirty="0">
                <a:latin typeface="宋体" panose="02010600030101010101" pitchFamily="2" charset="-122"/>
                <a:ea typeface="宋体" panose="02010600030101010101" pitchFamily="2" charset="-122"/>
              </a:rPr>
              <a:t>和</a:t>
            </a:r>
            <a:r>
              <a:rPr lang="en-US" altLang="zh-CN" sz="1800" b="1" dirty="0">
                <a:latin typeface="宋体" panose="02010600030101010101" pitchFamily="2" charset="-122"/>
                <a:ea typeface="宋体" panose="02010600030101010101" pitchFamily="2" charset="-122"/>
              </a:rPr>
              <a:t>Release)</a:t>
            </a:r>
            <a:r>
              <a:rPr lang="zh-CN" altLang="en-US" sz="1800" b="1" dirty="0">
                <a:latin typeface="宋体" panose="02010600030101010101" pitchFamily="2" charset="-122"/>
                <a:ea typeface="宋体" panose="02010600030101010101" pitchFamily="2" charset="-122"/>
              </a:rPr>
              <a:t>后进入临界区</a:t>
            </a:r>
            <a:r>
              <a:rPr lang="en-US" altLang="zh-CN" sz="1800" b="1" dirty="0">
                <a:latin typeface="宋体" panose="02010600030101010101" pitchFamily="2" charset="-122"/>
                <a:ea typeface="宋体" panose="02010600030101010101" pitchFamily="2" charset="-122"/>
              </a:rPr>
              <a:t>.</a:t>
            </a:r>
            <a:endParaRPr lang="zh-CN" altLang="en-US" sz="1800" b="1" dirty="0">
              <a:latin typeface="宋体" panose="02010600030101010101" pitchFamily="2" charset="-122"/>
              <a:ea typeface="宋体" panose="02010600030101010101" pitchFamily="2" charset="-122"/>
            </a:endParaRPr>
          </a:p>
          <a:p>
            <a:pPr marL="0" lvl="0" indent="0" algn="just" defTabSz="914400">
              <a:lnSpc>
                <a:spcPct val="150000"/>
              </a:lnSpc>
              <a:spcBef>
                <a:spcPct val="0"/>
              </a:spcBef>
              <a:buClrTx/>
              <a:buNone/>
              <a:tabLst>
                <a:tab pos="762000" algn="l"/>
              </a:tabLst>
            </a:pPr>
            <a:r>
              <a:rPr lang="zh-CN" altLang="en-US" sz="1800" b="1" dirty="0">
                <a:latin typeface="宋体" panose="02010600030101010101" pitchFamily="2" charset="-122"/>
                <a:ea typeface="宋体" panose="02010600030101010101" pitchFamily="2" charset="-122"/>
              </a:rPr>
              <a:t>该算法所发送的</a:t>
            </a:r>
            <a:r>
              <a:rPr lang="en-US" altLang="zh-CN" sz="1800" b="1" dirty="0">
                <a:latin typeface="宋体" panose="02010600030101010101" pitchFamily="2" charset="-122"/>
                <a:ea typeface="宋体" panose="02010600030101010101" pitchFamily="2" charset="-122"/>
              </a:rPr>
              <a:t>Reply</a:t>
            </a:r>
            <a:r>
              <a:rPr lang="zh-CN" altLang="en-US" sz="1800" b="1" dirty="0">
                <a:latin typeface="宋体" panose="02010600030101010101" pitchFamily="2" charset="-122"/>
                <a:ea typeface="宋体" panose="02010600030101010101" pitchFamily="2" charset="-122"/>
              </a:rPr>
              <a:t>和</a:t>
            </a:r>
            <a:r>
              <a:rPr lang="en-US" altLang="zh-CN" sz="1800" b="1" dirty="0">
                <a:latin typeface="宋体" panose="02010600030101010101" pitchFamily="2" charset="-122"/>
                <a:ea typeface="宋体" panose="02010600030101010101" pitchFamily="2" charset="-122"/>
              </a:rPr>
              <a:t>Release</a:t>
            </a:r>
            <a:r>
              <a:rPr lang="zh-CN" altLang="en-US" sz="1800" b="1" dirty="0">
                <a:latin typeface="宋体" panose="02010600030101010101" pitchFamily="2" charset="-122"/>
                <a:ea typeface="宋体" panose="02010600030101010101" pitchFamily="2" charset="-122"/>
              </a:rPr>
              <a:t>消息的总数为</a:t>
            </a:r>
            <a:r>
              <a:rPr lang="en-US" altLang="zh-CN" sz="1800" b="1" dirty="0">
                <a:latin typeface="宋体" panose="02010600030101010101" pitchFamily="2" charset="-122"/>
                <a:ea typeface="宋体" panose="02010600030101010101" pitchFamily="2" charset="-122"/>
              </a:rPr>
              <a:t>n-1。</a:t>
            </a:r>
            <a:r>
              <a:rPr lang="zh-CN" altLang="en-US" sz="1800" b="1" dirty="0">
                <a:latin typeface="宋体" panose="02010600030101010101" pitchFamily="2" charset="-122"/>
                <a:ea typeface="宋体" panose="02010600030101010101" pitchFamily="2" charset="-122"/>
              </a:rPr>
              <a:t>只用2(</a:t>
            </a:r>
            <a:r>
              <a:rPr lang="en-US" altLang="zh-CN" sz="1800" b="1" dirty="0">
                <a:latin typeface="宋体" panose="02010600030101010101" pitchFamily="2" charset="-122"/>
                <a:ea typeface="宋体" panose="02010600030101010101" pitchFamily="2" charset="-122"/>
              </a:rPr>
              <a:t>n-1)</a:t>
            </a:r>
            <a:r>
              <a:rPr lang="zh-CN" altLang="en-US" sz="1800" b="1" dirty="0">
                <a:latin typeface="宋体" panose="02010600030101010101" pitchFamily="2" charset="-122"/>
                <a:ea typeface="宋体" panose="02010600030101010101" pitchFamily="2" charset="-122"/>
              </a:rPr>
              <a:t>条消息就可以完成一次对临界区的操作。</a:t>
            </a:r>
            <a:endParaRPr lang="zh-CN" altLang="en-US" sz="1800" b="1" dirty="0">
              <a:latin typeface="宋体" panose="02010600030101010101" pitchFamily="2" charset="-122"/>
              <a:ea typeface="宋体" panose="02010600030101010101" pitchFamily="2" charset="-122"/>
            </a:endParaRPr>
          </a:p>
        </p:txBody>
      </p:sp>
      <p:sp>
        <p:nvSpPr>
          <p:cNvPr id="39939" name="Rectangle 7"/>
          <p:cNvSpPr>
            <a:spLocks noGrp="1"/>
          </p:cNvSpPr>
          <p:nvPr>
            <p:ph type="title"/>
          </p:nvPr>
        </p:nvSpPr>
        <p:spPr>
          <a:xfrm>
            <a:off x="0" y="0"/>
            <a:ext cx="9144000" cy="871538"/>
          </a:xfrm>
          <a:ln/>
        </p:spPr>
        <p:txBody>
          <a:bodyPr vert="horz" wrap="square" lIns="91440" tIns="45720" rIns="91440" bIns="45720" anchor="ctr" anchorCtr="0"/>
          <a:p>
            <a:pPr eaLnBrk="1" hangingPunct="1"/>
            <a:r>
              <a:rPr lang="en-US" altLang="zh-CN" dirty="0">
                <a:ea typeface="宋体" panose="02010600030101010101" pitchFamily="2" charset="-122"/>
              </a:rPr>
              <a:t>A Distributed Algorithm</a:t>
            </a:r>
            <a:endParaRPr lang="en-US" altLang="zh-CN" dirty="0">
              <a:ea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1986" name="Picture 7" descr="mutex.jpg (17315 bytes)"/>
          <p:cNvPicPr>
            <a:picLocks noChangeAspect="1"/>
          </p:cNvPicPr>
          <p:nvPr/>
        </p:nvPicPr>
        <p:blipFill>
          <a:blip r:embed="rId1"/>
          <a:stretch>
            <a:fillRect/>
          </a:stretch>
        </p:blipFill>
        <p:spPr>
          <a:xfrm>
            <a:off x="3060700" y="414338"/>
            <a:ext cx="5518150" cy="4065587"/>
          </a:xfrm>
          <a:prstGeom prst="rect">
            <a:avLst/>
          </a:prstGeom>
          <a:noFill/>
          <a:ln w="9525">
            <a:noFill/>
          </a:ln>
        </p:spPr>
      </p:pic>
      <p:sp>
        <p:nvSpPr>
          <p:cNvPr id="41987" name="Rectangle 8"/>
          <p:cNvSpPr/>
          <p:nvPr/>
        </p:nvSpPr>
        <p:spPr>
          <a:xfrm>
            <a:off x="400050" y="1001713"/>
            <a:ext cx="3257550" cy="36830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0"/>
              </a:spcBef>
              <a:buClrTx/>
              <a:buNone/>
            </a:pPr>
            <a:r>
              <a:rPr lang="en-US" altLang="zh-CN" sz="1800" b="1" dirty="0">
                <a:ea typeface="宋体" panose="02010600030101010101" pitchFamily="2" charset="-122"/>
              </a:rPr>
              <a:t> Ricart</a:t>
            </a:r>
            <a:r>
              <a:rPr lang="zh-CN" altLang="en-US" sz="1800" b="1" dirty="0">
                <a:ea typeface="宋体" panose="02010600030101010101" pitchFamily="2" charset="-122"/>
              </a:rPr>
              <a:t>改进算法的状态转换图</a:t>
            </a:r>
            <a:endParaRPr lang="en-US" altLang="zh-CN" sz="1800" b="1" dirty="0">
              <a:ea typeface="宋体" panose="02010600030101010101" pitchFamily="2" charset="-122"/>
            </a:endParaRPr>
          </a:p>
        </p:txBody>
      </p:sp>
      <p:sp>
        <p:nvSpPr>
          <p:cNvPr id="41988" name="Rectangle 7"/>
          <p:cNvSpPr>
            <a:spLocks noGrp="1"/>
          </p:cNvSpPr>
          <p:nvPr>
            <p:ph type="title"/>
          </p:nvPr>
        </p:nvSpPr>
        <p:spPr>
          <a:xfrm>
            <a:off x="0" y="0"/>
            <a:ext cx="9144000" cy="515938"/>
          </a:xfrm>
          <a:ln/>
        </p:spPr>
        <p:txBody>
          <a:bodyPr vert="horz" wrap="square" lIns="91440" tIns="45720" rIns="91440" bIns="45720" anchor="ctr" anchorCtr="0"/>
          <a:p>
            <a:pPr eaLnBrk="1" hangingPunct="1"/>
            <a:r>
              <a:rPr lang="en-US" altLang="zh-CN" dirty="0">
                <a:ea typeface="宋体" panose="02010600030101010101" pitchFamily="2" charset="-122"/>
              </a:rPr>
              <a:t>A Distributed Algorithm</a:t>
            </a:r>
            <a:endParaRPr lang="en-US" altLang="zh-CN" dirty="0">
              <a:ea typeface="宋体" panose="02010600030101010101" pitchFamily="2" charset="-122"/>
            </a:endParaRPr>
          </a:p>
        </p:txBody>
      </p:sp>
      <p:sp>
        <p:nvSpPr>
          <p:cNvPr id="41989" name="Rectangle 2"/>
          <p:cNvSpPr/>
          <p:nvPr/>
        </p:nvSpPr>
        <p:spPr>
          <a:xfrm>
            <a:off x="249238" y="4381500"/>
            <a:ext cx="8420100" cy="187960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276225" algn="just" defTabSz="914400" eaLnBrk="1" hangingPunct="1">
              <a:lnSpc>
                <a:spcPct val="150000"/>
              </a:lnSpc>
              <a:spcBef>
                <a:spcPct val="0"/>
              </a:spcBef>
              <a:buClrTx/>
              <a:buNone/>
              <a:tabLst>
                <a:tab pos="762000" algn="l"/>
              </a:tabLst>
            </a:pPr>
            <a:r>
              <a:rPr lang="zh-CN" altLang="en-US" sz="2000" b="1" dirty="0">
                <a:ea typeface="黑体" panose="02010609060101010101" pitchFamily="49" charset="-122"/>
              </a:rPr>
              <a:t>讨  论：</a:t>
            </a:r>
            <a:endParaRPr lang="zh-CN" altLang="en-US" sz="2000" dirty="0">
              <a:ea typeface="宋体" panose="02010600030101010101" pitchFamily="2" charset="-122"/>
            </a:endParaRPr>
          </a:p>
          <a:p>
            <a:pPr marL="0" lvl="0" indent="276225" algn="just" defTabSz="914400" eaLnBrk="1" hangingPunct="1">
              <a:lnSpc>
                <a:spcPct val="150000"/>
              </a:lnSpc>
              <a:spcBef>
                <a:spcPct val="0"/>
              </a:spcBef>
              <a:buClrTx/>
              <a:buNone/>
              <a:tabLst>
                <a:tab pos="762000" algn="l"/>
              </a:tabLst>
            </a:pPr>
            <a:r>
              <a:rPr lang="en-US" altLang="zh-CN" sz="2000" dirty="0">
                <a:ea typeface="宋体" panose="02010600030101010101" pitchFamily="2" charset="-122"/>
              </a:rPr>
              <a:t>1.</a:t>
            </a:r>
            <a:r>
              <a:rPr lang="zh-CN" altLang="en-US" sz="2000" dirty="0">
                <a:ea typeface="宋体" panose="02010600030101010101" pitchFamily="2" charset="-122"/>
              </a:rPr>
              <a:t>新来者问题——参与此活动的进程都需要知道彼此的名字，当一进程新参与时，要完成相应的工作；</a:t>
            </a:r>
            <a:endParaRPr lang="zh-CN" altLang="en-US" sz="2000" dirty="0">
              <a:ea typeface="宋体" panose="02010600030101010101" pitchFamily="2" charset="-122"/>
            </a:endParaRPr>
          </a:p>
          <a:p>
            <a:pPr marL="0" lvl="0" indent="276225" algn="just" defTabSz="914400" eaLnBrk="1" hangingPunct="1">
              <a:lnSpc>
                <a:spcPct val="150000"/>
              </a:lnSpc>
              <a:spcBef>
                <a:spcPct val="0"/>
              </a:spcBef>
              <a:buClrTx/>
              <a:buNone/>
              <a:tabLst>
                <a:tab pos="762000" algn="l"/>
              </a:tabLst>
            </a:pPr>
            <a:r>
              <a:rPr lang="en-US" altLang="zh-CN" sz="2000" dirty="0">
                <a:ea typeface="宋体" panose="02010600030101010101" pitchFamily="2" charset="-122"/>
              </a:rPr>
              <a:t>2.</a:t>
            </a:r>
            <a:r>
              <a:rPr lang="zh-CN" altLang="en-US" sz="2000" dirty="0">
                <a:ea typeface="宋体" panose="02010600030101010101" pitchFamily="2" charset="-122"/>
              </a:rPr>
              <a:t>故障问题——某参与者故障时，会使算法失效，这可用监测方法解决。</a:t>
            </a:r>
            <a:endParaRPr lang="zh-CN" altLang="en-US" sz="2000" dirty="0">
              <a:ea typeface="宋体" panose="02010600030101010101"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9"/>
          <p:cNvSpPr>
            <a:spLocks noGrp="1"/>
          </p:cNvSpPr>
          <p:nvPr>
            <p:ph type="title"/>
          </p:nvPr>
        </p:nvSpPr>
        <p:spPr>
          <a:xfrm>
            <a:off x="-71437" y="0"/>
            <a:ext cx="9144000" cy="1143000"/>
          </a:xfrm>
          <a:ln/>
        </p:spPr>
        <p:txBody>
          <a:bodyPr vert="horz" wrap="square" lIns="91440" tIns="45720" rIns="91440" bIns="45720" anchor="ctr" anchorCtr="0"/>
          <a:p>
            <a:pPr eaLnBrk="1" hangingPunct="1"/>
            <a:r>
              <a:rPr lang="en-US" altLang="zh-CN" dirty="0">
                <a:ea typeface="宋体" panose="02010600030101010101" pitchFamily="2" charset="-122"/>
              </a:rPr>
              <a:t>A Token Ring Algorithm</a:t>
            </a:r>
            <a:endParaRPr lang="en-US" altLang="zh-CN" dirty="0">
              <a:ea typeface="宋体" panose="02010600030101010101" pitchFamily="2" charset="-122"/>
            </a:endParaRPr>
          </a:p>
        </p:txBody>
      </p:sp>
      <p:sp>
        <p:nvSpPr>
          <p:cNvPr id="44035" name="Rectangle 10"/>
          <p:cNvSpPr>
            <a:spLocks noGrp="1"/>
          </p:cNvSpPr>
          <p:nvPr>
            <p:ph idx="1"/>
          </p:nvPr>
        </p:nvSpPr>
        <p:spPr>
          <a:xfrm>
            <a:off x="796925" y="5138738"/>
            <a:ext cx="7889875" cy="1044575"/>
          </a:xfrm>
          <a:ln/>
        </p:spPr>
        <p:txBody>
          <a:bodyPr vert="horz" wrap="square" lIns="91440" tIns="45720" rIns="91440" bIns="45720" anchor="t" anchorCtr="0"/>
          <a:p>
            <a:pPr marL="609600" indent="-609600" algn="l" eaLnBrk="1" hangingPunct="1">
              <a:buFontTx/>
              <a:buAutoNum type="alphaLcParenR"/>
            </a:pPr>
            <a:r>
              <a:rPr lang="en-US" altLang="zh-CN" sz="2400" dirty="0">
                <a:ea typeface="宋体" panose="02010600030101010101" pitchFamily="2" charset="-122"/>
              </a:rPr>
              <a:t>An unordered group of processes on a network.  </a:t>
            </a:r>
            <a:endParaRPr lang="en-US" altLang="zh-CN" sz="2400" dirty="0">
              <a:ea typeface="宋体" panose="02010600030101010101" pitchFamily="2" charset="-122"/>
            </a:endParaRPr>
          </a:p>
          <a:p>
            <a:pPr marL="609600" indent="-609600" algn="l" eaLnBrk="1" hangingPunct="1">
              <a:buFontTx/>
              <a:buAutoNum type="alphaLcParenR"/>
            </a:pPr>
            <a:r>
              <a:rPr lang="en-US" altLang="zh-CN" sz="2400" dirty="0">
                <a:ea typeface="宋体" panose="02010600030101010101" pitchFamily="2" charset="-122"/>
              </a:rPr>
              <a:t>A logical ring constructed in software.</a:t>
            </a:r>
            <a:endParaRPr lang="en-US" altLang="zh-CN" sz="2400" dirty="0">
              <a:ea typeface="宋体" panose="02010600030101010101" pitchFamily="2" charset="-122"/>
            </a:endParaRPr>
          </a:p>
        </p:txBody>
      </p:sp>
      <p:pic>
        <p:nvPicPr>
          <p:cNvPr id="44036" name="Picture 11"/>
          <p:cNvPicPr>
            <a:picLocks noChangeAspect="1"/>
          </p:cNvPicPr>
          <p:nvPr/>
        </p:nvPicPr>
        <p:blipFill>
          <a:blip r:embed="rId1"/>
          <a:srcRect l="24345" t="45921" r="21780" b="39426"/>
          <a:stretch>
            <a:fillRect/>
          </a:stretch>
        </p:blipFill>
        <p:spPr>
          <a:xfrm>
            <a:off x="273050" y="1384300"/>
            <a:ext cx="8572500" cy="3300413"/>
          </a:xfrm>
          <a:prstGeom prst="rect">
            <a:avLst/>
          </a:prstGeom>
          <a:noFill/>
          <a:ln w="9525">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2"/>
          <p:cNvSpPr>
            <a:spLocks noGrp="1"/>
          </p:cNvSpPr>
          <p:nvPr>
            <p:ph type="title"/>
          </p:nvPr>
        </p:nvSpPr>
        <p:spPr>
          <a:ln/>
        </p:spPr>
        <p:txBody>
          <a:bodyPr vert="horz" wrap="square" lIns="91440" tIns="45720" rIns="91440" bIns="45720" anchor="ctr" anchorCtr="0"/>
          <a:p>
            <a:pPr eaLnBrk="1" hangingPunct="1"/>
            <a:r>
              <a:rPr lang="en-US" altLang="zh-CN" dirty="0">
                <a:ea typeface="宋体" panose="02010600030101010101" pitchFamily="2" charset="-122"/>
              </a:rPr>
              <a:t>A Token Ring Algorithm</a:t>
            </a:r>
            <a:endParaRPr lang="en-US" altLang="zh-CN" dirty="0">
              <a:ea typeface="宋体" panose="02010600030101010101" pitchFamily="2" charset="-122"/>
            </a:endParaRPr>
          </a:p>
        </p:txBody>
      </p:sp>
      <p:sp>
        <p:nvSpPr>
          <p:cNvPr id="45059" name="Rectangle 3"/>
          <p:cNvSpPr/>
          <p:nvPr/>
        </p:nvSpPr>
        <p:spPr>
          <a:xfrm>
            <a:off x="331788" y="1016000"/>
            <a:ext cx="6102350" cy="3786188"/>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defTabSz="914400" eaLnBrk="1" hangingPunct="1">
              <a:lnSpc>
                <a:spcPct val="150000"/>
              </a:lnSpc>
              <a:spcBef>
                <a:spcPct val="0"/>
              </a:spcBef>
              <a:buClrTx/>
              <a:buNone/>
              <a:tabLst>
                <a:tab pos="800100" algn="l"/>
              </a:tabLst>
            </a:pPr>
            <a:r>
              <a:rPr lang="zh-CN" altLang="en-US" sz="2000" b="1" dirty="0">
                <a:ea typeface="黑体" panose="02010609060101010101" pitchFamily="49" charset="-122"/>
              </a:rPr>
              <a:t>五、令牌传递算法</a:t>
            </a:r>
            <a:endParaRPr lang="zh-CN" altLang="en-US" sz="2000" dirty="0">
              <a:ea typeface="宋体" panose="02010600030101010101" pitchFamily="2" charset="-122"/>
            </a:endParaRPr>
          </a:p>
          <a:p>
            <a:pPr marL="0" lvl="0" indent="0" algn="just" defTabSz="914400">
              <a:lnSpc>
                <a:spcPct val="150000"/>
              </a:lnSpc>
              <a:spcBef>
                <a:spcPct val="0"/>
              </a:spcBef>
              <a:buClrTx/>
              <a:buNone/>
              <a:tabLst>
                <a:tab pos="800100" algn="l"/>
              </a:tabLst>
            </a:pPr>
            <a:r>
              <a:rPr lang="zh-CN" altLang="en-US" sz="2000" b="1" dirty="0">
                <a:ea typeface="黑体" panose="02010609060101010101" pitchFamily="49" charset="-122"/>
              </a:rPr>
              <a:t>    1.  基于环结构的令牌传递算法</a:t>
            </a:r>
            <a:endParaRPr lang="en-US" altLang="zh-CN" sz="2000" b="1" dirty="0">
              <a:ea typeface="黑体" panose="02010609060101010101" pitchFamily="49" charset="-122"/>
            </a:endParaRPr>
          </a:p>
          <a:p>
            <a:pPr marL="457200" lvl="1" indent="0" algn="just" defTabSz="914400">
              <a:lnSpc>
                <a:spcPct val="150000"/>
              </a:lnSpc>
              <a:spcBef>
                <a:spcPct val="0"/>
              </a:spcBef>
              <a:buClrTx/>
              <a:buFont typeface="Wingdings" panose="05000000000000000000" pitchFamily="2" charset="2"/>
              <a:buChar char="Ø"/>
              <a:tabLst>
                <a:tab pos="800100" algn="l"/>
              </a:tabLst>
            </a:pPr>
            <a:r>
              <a:rPr lang="zh-CN" altLang="en-US" sz="2000" b="1" dirty="0">
                <a:ea typeface="黑体" panose="02010609060101010101" pitchFamily="49" charset="-122"/>
              </a:rPr>
              <a:t> 单向环</a:t>
            </a:r>
            <a:r>
              <a:rPr lang="en-US" altLang="zh-CN" sz="2000" b="1" dirty="0">
                <a:ea typeface="黑体" panose="02010609060101010101" pitchFamily="49" charset="-122"/>
              </a:rPr>
              <a:t>——</a:t>
            </a:r>
            <a:r>
              <a:rPr lang="zh-CN" altLang="en-US" sz="2000" b="1" dirty="0">
                <a:ea typeface="黑体" panose="02010609060101010101" pitchFamily="49" charset="-122"/>
              </a:rPr>
              <a:t>被动等待</a:t>
            </a:r>
            <a:r>
              <a:rPr lang="en-US" altLang="zh-CN" sz="2000" b="1" dirty="0">
                <a:ea typeface="黑体" panose="02010609060101010101" pitchFamily="49" charset="-122"/>
              </a:rPr>
              <a:t>[ Le Lam，1977]</a:t>
            </a:r>
            <a:endParaRPr lang="en-US" altLang="zh-CN" sz="2000" dirty="0">
              <a:ea typeface="宋体" panose="02010600030101010101" pitchFamily="2" charset="-122"/>
            </a:endParaRPr>
          </a:p>
          <a:p>
            <a:pPr marL="0" lvl="0" indent="0" algn="just" defTabSz="914400">
              <a:lnSpc>
                <a:spcPct val="150000"/>
              </a:lnSpc>
              <a:spcBef>
                <a:spcPct val="0"/>
              </a:spcBef>
              <a:buClrTx/>
              <a:buNone/>
              <a:tabLst>
                <a:tab pos="800100" algn="l"/>
              </a:tabLst>
            </a:pPr>
            <a:r>
              <a:rPr lang="en-US" altLang="zh-CN" sz="2000" dirty="0">
                <a:ea typeface="宋体" panose="02010600030101010101" pitchFamily="2" charset="-122"/>
              </a:rPr>
              <a:t>          1).  p</a:t>
            </a:r>
            <a:r>
              <a:rPr lang="zh-CN" altLang="en-US" sz="2000" dirty="0">
                <a:ea typeface="宋体" panose="02010600030101010101" pitchFamily="2" charset="-122"/>
              </a:rPr>
              <a:t>接到左边传来的令牌，如果自己想进入</a:t>
            </a:r>
            <a:endParaRPr lang="zh-CN" altLang="en-US" sz="2000" dirty="0">
              <a:ea typeface="宋体" panose="02010600030101010101" pitchFamily="2" charset="-122"/>
            </a:endParaRPr>
          </a:p>
          <a:p>
            <a:pPr marL="1885950" lvl="3" indent="-514350" algn="just" defTabSz="914400">
              <a:lnSpc>
                <a:spcPct val="150000"/>
              </a:lnSpc>
              <a:spcBef>
                <a:spcPct val="0"/>
              </a:spcBef>
              <a:buClrTx/>
              <a:buAutoNum type="circleNumDbPlain"/>
              <a:tabLst>
                <a:tab pos="800100" algn="l"/>
              </a:tabLst>
            </a:pPr>
            <a:r>
              <a:rPr lang="zh-CN" altLang="en-US" dirty="0">
                <a:ea typeface="宋体" panose="02010600030101010101" pitchFamily="2" charset="-122"/>
              </a:rPr>
              <a:t>则持令牌进入临界区；</a:t>
            </a:r>
            <a:endParaRPr lang="zh-CN" altLang="en-US" dirty="0">
              <a:ea typeface="宋体" panose="02010600030101010101" pitchFamily="2" charset="-122"/>
            </a:endParaRPr>
          </a:p>
          <a:p>
            <a:pPr marL="1885950" lvl="3" indent="-514350" algn="just" defTabSz="914400">
              <a:lnSpc>
                <a:spcPct val="150000"/>
              </a:lnSpc>
              <a:spcBef>
                <a:spcPct val="0"/>
              </a:spcBef>
              <a:buClrTx/>
              <a:buAutoNum type="circleNumDbPlain"/>
              <a:tabLst>
                <a:tab pos="800100" algn="l"/>
              </a:tabLst>
            </a:pPr>
            <a:r>
              <a:rPr lang="zh-CN" altLang="en-US" dirty="0">
                <a:ea typeface="宋体" panose="02010600030101010101" pitchFamily="2" charset="-122"/>
              </a:rPr>
              <a:t>完成临界区操作；</a:t>
            </a:r>
            <a:endParaRPr lang="zh-CN" altLang="en-US" dirty="0">
              <a:ea typeface="宋体" panose="02010600030101010101" pitchFamily="2" charset="-122"/>
            </a:endParaRPr>
          </a:p>
          <a:p>
            <a:pPr marL="1885950" lvl="3" indent="-514350" algn="just" defTabSz="914400">
              <a:lnSpc>
                <a:spcPct val="150000"/>
              </a:lnSpc>
              <a:spcBef>
                <a:spcPct val="0"/>
              </a:spcBef>
              <a:buClrTx/>
              <a:buAutoNum type="circleNumDbPlain"/>
              <a:tabLst>
                <a:tab pos="800100" algn="l"/>
              </a:tabLst>
            </a:pPr>
            <a:r>
              <a:rPr lang="zh-CN" altLang="en-US" dirty="0">
                <a:ea typeface="宋体" panose="02010600030101010101" pitchFamily="2" charset="-122"/>
              </a:rPr>
              <a:t>退出临界区；</a:t>
            </a:r>
            <a:endParaRPr lang="zh-CN" altLang="en-US" dirty="0">
              <a:ea typeface="宋体" panose="02010600030101010101" pitchFamily="2" charset="-122"/>
            </a:endParaRPr>
          </a:p>
          <a:p>
            <a:pPr marL="0" lvl="0" indent="0" algn="just" defTabSz="914400">
              <a:lnSpc>
                <a:spcPct val="150000"/>
              </a:lnSpc>
              <a:spcBef>
                <a:spcPct val="0"/>
              </a:spcBef>
              <a:buClrTx/>
              <a:buNone/>
              <a:tabLst>
                <a:tab pos="800100" algn="l"/>
              </a:tabLst>
            </a:pPr>
            <a:r>
              <a:rPr lang="zh-CN" altLang="en-US" sz="2000" dirty="0">
                <a:ea typeface="宋体" panose="02010600030101010101" pitchFamily="2" charset="-122"/>
              </a:rPr>
              <a:t>          </a:t>
            </a:r>
            <a:r>
              <a:rPr lang="en-US" altLang="zh-CN" sz="2000" dirty="0">
                <a:ea typeface="宋体" panose="02010600030101010101" pitchFamily="2" charset="-122"/>
              </a:rPr>
              <a:t>2).  </a:t>
            </a:r>
            <a:r>
              <a:rPr lang="zh-CN" altLang="en-US" sz="2000" dirty="0">
                <a:ea typeface="宋体" panose="02010600030101010101" pitchFamily="2" charset="-122"/>
              </a:rPr>
              <a:t>将令牌右传；</a:t>
            </a:r>
            <a:endParaRPr lang="zh-CN" altLang="en-US" sz="2000" dirty="0">
              <a:ea typeface="宋体" panose="02010600030101010101" pitchFamily="2" charset="-122"/>
            </a:endParaRPr>
          </a:p>
        </p:txBody>
      </p:sp>
      <p:grpSp>
        <p:nvGrpSpPr>
          <p:cNvPr id="45060" name="组合 2"/>
          <p:cNvGrpSpPr/>
          <p:nvPr/>
        </p:nvGrpSpPr>
        <p:grpSpPr>
          <a:xfrm>
            <a:off x="5337175" y="3167063"/>
            <a:ext cx="3309938" cy="3268662"/>
            <a:chOff x="5328745" y="3283006"/>
            <a:chExt cx="3310758" cy="3268662"/>
          </a:xfrm>
        </p:grpSpPr>
        <p:pic>
          <p:nvPicPr>
            <p:cNvPr id="45062" name="图片 4" descr="令牌环图.PNG"/>
            <p:cNvPicPr>
              <a:picLocks noChangeAspect="1"/>
            </p:cNvPicPr>
            <p:nvPr/>
          </p:nvPicPr>
          <p:blipFill>
            <a:blip r:embed="rId1"/>
            <a:stretch>
              <a:fillRect/>
            </a:stretch>
          </p:blipFill>
          <p:spPr>
            <a:xfrm>
              <a:off x="5367886" y="3283006"/>
              <a:ext cx="3171825" cy="3268662"/>
            </a:xfrm>
            <a:prstGeom prst="rect">
              <a:avLst/>
            </a:prstGeom>
            <a:noFill/>
            <a:ln w="9525">
              <a:noFill/>
            </a:ln>
          </p:spPr>
        </p:pic>
        <p:sp>
          <p:nvSpPr>
            <p:cNvPr id="45063" name="矩形 1"/>
            <p:cNvSpPr/>
            <p:nvPr/>
          </p:nvSpPr>
          <p:spPr>
            <a:xfrm>
              <a:off x="5328745" y="3436882"/>
              <a:ext cx="3310758" cy="63063"/>
            </a:xfrm>
            <a:prstGeom prst="rect">
              <a:avLst/>
            </a:prstGeom>
            <a:solidFill>
              <a:schemeClr val="bg1"/>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1600" dirty="0">
                <a:ea typeface="宋体" panose="02010600030101010101" pitchFamily="2" charset="-122"/>
              </a:endParaRPr>
            </a:p>
          </p:txBody>
        </p:sp>
      </p:grpSp>
      <p:sp>
        <p:nvSpPr>
          <p:cNvPr id="2" name="矩形 1"/>
          <p:cNvSpPr/>
          <p:nvPr/>
        </p:nvSpPr>
        <p:spPr>
          <a:xfrm>
            <a:off x="130175" y="5665788"/>
            <a:ext cx="5645150" cy="923925"/>
          </a:xfrm>
          <a:prstGeom prst="rect">
            <a:avLst/>
          </a:prstGeom>
        </p:spPr>
        <p:txBody>
          <a:bodyPr>
            <a:spAutoFit/>
          </a:bodyPr>
          <a:lstStyle/>
          <a:p>
            <a:pPr marL="609600" marR="0" lvl="0" indent="-609600" algn="just" defTabSz="914400" rtl="0" eaLnBrk="1" fontAlgn="base" latinLnBrk="0" hangingPunct="1">
              <a:lnSpc>
                <a:spcPct val="150000"/>
              </a:lnSpc>
              <a:spcBef>
                <a:spcPct val="0"/>
              </a:spcBef>
              <a:spcAft>
                <a:spcPct val="0"/>
              </a:spcAft>
              <a:buClrTx/>
              <a:buSzTx/>
              <a:buFontTx/>
              <a:buNone/>
              <a:defRPr/>
            </a:pPr>
            <a:r>
              <a:rPr kumimoji="0" lang="zh-CN" altLang="en-US" sz="1800" b="1" i="0" u="none" strike="noStrike" kern="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mn-cs"/>
              </a:rPr>
              <a:t>问题：</a:t>
            </a:r>
            <a:endParaRPr kumimoji="0" lang="zh-CN" altLang="en-US" sz="1800" b="0"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endParaRPr>
          </a:p>
          <a:p>
            <a:pPr marL="609600" marR="0" lvl="0" indent="-609600" algn="just" defTabSz="914400" rtl="0" eaLnBrk="1" fontAlgn="base" latinLnBrk="0" hangingPunct="1">
              <a:lnSpc>
                <a:spcPct val="150000"/>
              </a:lnSpc>
              <a:spcBef>
                <a:spcPct val="0"/>
              </a:spcBef>
              <a:spcAft>
                <a:spcPct val="0"/>
              </a:spcAft>
              <a:buClrTx/>
              <a:buSzTx/>
              <a:buFontTx/>
              <a:buNone/>
              <a:defRPr/>
            </a:pPr>
            <a:r>
              <a:rPr kumimoji="0" lang="zh-CN" altLang="en-US" sz="18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可能出现“令牌追请求”和“请求追令牌”</a:t>
            </a:r>
            <a:r>
              <a:rPr kumimoji="0" lang="en-US" altLang="zh-CN" sz="18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 </a:t>
            </a:r>
            <a:r>
              <a:rPr kumimoji="0" lang="zh-CN" altLang="en-US" sz="18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的现象；</a:t>
            </a:r>
            <a:endParaRPr kumimoji="0" lang="zh-CN" altLang="en-US" sz="18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2"/>
          <p:cNvSpPr>
            <a:spLocks noGrp="1"/>
          </p:cNvSpPr>
          <p:nvPr>
            <p:ph type="title"/>
          </p:nvPr>
        </p:nvSpPr>
        <p:spPr>
          <a:xfrm>
            <a:off x="0" y="0"/>
            <a:ext cx="9144000" cy="549275"/>
          </a:xfrm>
          <a:ln/>
        </p:spPr>
        <p:txBody>
          <a:bodyPr vert="horz" wrap="square" lIns="91440" tIns="45720" rIns="91440" bIns="45720" anchor="ctr" anchorCtr="0"/>
          <a:p>
            <a:pPr eaLnBrk="1" hangingPunct="1"/>
            <a:r>
              <a:rPr lang="en-US" altLang="zh-CN" dirty="0">
                <a:ea typeface="宋体" panose="02010600030101010101" pitchFamily="2" charset="-122"/>
              </a:rPr>
              <a:t>A Token Ring Algorithm</a:t>
            </a:r>
            <a:endParaRPr lang="en-US" altLang="zh-CN" dirty="0">
              <a:ea typeface="宋体" panose="02010600030101010101" pitchFamily="2" charset="-122"/>
            </a:endParaRPr>
          </a:p>
        </p:txBody>
      </p:sp>
      <p:sp>
        <p:nvSpPr>
          <p:cNvPr id="47107" name="Rectangle 3"/>
          <p:cNvSpPr/>
          <p:nvPr/>
        </p:nvSpPr>
        <p:spPr>
          <a:xfrm>
            <a:off x="133350" y="781050"/>
            <a:ext cx="6015038" cy="341630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defTabSz="914400" eaLnBrk="1" hangingPunct="1">
              <a:lnSpc>
                <a:spcPct val="150000"/>
              </a:lnSpc>
              <a:spcBef>
                <a:spcPct val="0"/>
              </a:spcBef>
              <a:buClrTx/>
              <a:buFont typeface="Wingdings" panose="05000000000000000000" pitchFamily="2" charset="2"/>
              <a:buChar char="Ø"/>
              <a:tabLst>
                <a:tab pos="800100" algn="l"/>
              </a:tabLst>
            </a:pPr>
            <a:r>
              <a:rPr lang="zh-CN" altLang="en-US" sz="1800" b="1" dirty="0">
                <a:ea typeface="黑体" panose="02010609060101010101" pitchFamily="49" charset="-122"/>
              </a:rPr>
              <a:t>双向环</a:t>
            </a:r>
            <a:r>
              <a:rPr lang="en-US" altLang="zh-CN" sz="1800" b="1" dirty="0">
                <a:ea typeface="黑体" panose="02010609060101010101" pitchFamily="49" charset="-122"/>
              </a:rPr>
              <a:t>—</a:t>
            </a:r>
            <a:r>
              <a:rPr lang="zh-CN" altLang="en-US" sz="1800" b="1" dirty="0">
                <a:ea typeface="黑体" panose="02010609060101010101" pitchFamily="49" charset="-122"/>
              </a:rPr>
              <a:t>请求驱动</a:t>
            </a:r>
            <a:r>
              <a:rPr lang="en-US" altLang="zh-CN" sz="1800" b="1" dirty="0">
                <a:ea typeface="黑体" panose="02010609060101010101" pitchFamily="49" charset="-122"/>
              </a:rPr>
              <a:t>[ Dijkstra,1984]</a:t>
            </a:r>
            <a:r>
              <a:rPr lang="en-US" altLang="zh-CN" sz="1800" dirty="0">
                <a:ea typeface="宋体" panose="02010600030101010101" pitchFamily="2" charset="-122"/>
              </a:rPr>
              <a:t>,</a:t>
            </a:r>
            <a:r>
              <a:rPr lang="en-US" altLang="zh-CN" sz="1800" b="1" dirty="0">
                <a:ea typeface="宋体" panose="02010600030101010101" pitchFamily="2" charset="-122"/>
              </a:rPr>
              <a:t> </a:t>
            </a:r>
            <a:r>
              <a:rPr lang="zh-CN" altLang="en-US" sz="1800" b="1" dirty="0">
                <a:ea typeface="宋体" panose="02010600030101010101" pitchFamily="2" charset="-122"/>
              </a:rPr>
              <a:t>假设进程</a:t>
            </a:r>
            <a:r>
              <a:rPr lang="en-US" altLang="zh-CN" sz="1800" b="1" dirty="0">
                <a:ea typeface="宋体" panose="02010600030101010101" pitchFamily="2" charset="-122"/>
              </a:rPr>
              <a:t>p</a:t>
            </a:r>
            <a:r>
              <a:rPr lang="zh-CN" altLang="en-US" sz="1800" b="1" dirty="0">
                <a:ea typeface="宋体" panose="02010600030101010101" pitchFamily="2" charset="-122"/>
              </a:rPr>
              <a:t>申请令牌：</a:t>
            </a:r>
            <a:endParaRPr lang="en-US" altLang="zh-CN" sz="1800" b="1" dirty="0">
              <a:ea typeface="宋体" panose="02010600030101010101" pitchFamily="2" charset="-122"/>
            </a:endParaRPr>
          </a:p>
          <a:p>
            <a:pPr marL="0" lvl="0" indent="0" algn="just" defTabSz="914400">
              <a:lnSpc>
                <a:spcPct val="150000"/>
              </a:lnSpc>
              <a:spcBef>
                <a:spcPct val="0"/>
              </a:spcBef>
              <a:buClrTx/>
              <a:buNone/>
              <a:tabLst>
                <a:tab pos="800100" algn="l"/>
              </a:tabLst>
            </a:pPr>
            <a:r>
              <a:rPr lang="en-US" altLang="zh-CN" sz="1800" b="1" dirty="0">
                <a:ea typeface="宋体" panose="02010600030101010101" pitchFamily="2" charset="-122"/>
              </a:rPr>
              <a:t>     1).  </a:t>
            </a:r>
            <a:r>
              <a:rPr lang="zh-CN" altLang="en-US" sz="1800" b="1" dirty="0">
                <a:ea typeface="宋体" panose="02010600030101010101" pitchFamily="2" charset="-122"/>
              </a:rPr>
              <a:t>向其右临</a:t>
            </a:r>
            <a:r>
              <a:rPr lang="en-US" altLang="zh-CN" sz="1800" b="1" dirty="0">
                <a:ea typeface="宋体" panose="02010600030101010101" pitchFamily="2" charset="-122"/>
              </a:rPr>
              <a:t>q</a:t>
            </a:r>
            <a:r>
              <a:rPr lang="zh-CN" altLang="en-US" sz="1800" b="1" dirty="0">
                <a:ea typeface="宋体" panose="02010600030101010101" pitchFamily="2" charset="-122"/>
              </a:rPr>
              <a:t>发</a:t>
            </a:r>
            <a:r>
              <a:rPr lang="en-US" altLang="zh-CN" sz="1800" b="1" dirty="0">
                <a:ea typeface="宋体" panose="02010600030101010101" pitchFamily="2" charset="-122"/>
              </a:rPr>
              <a:t>Request;</a:t>
            </a:r>
            <a:endParaRPr lang="en-US" altLang="zh-CN" sz="1800" b="1" dirty="0">
              <a:ea typeface="宋体" panose="02010600030101010101" pitchFamily="2" charset="-122"/>
            </a:endParaRPr>
          </a:p>
          <a:p>
            <a:pPr marL="0" lvl="3" indent="0" algn="just" defTabSz="914400">
              <a:lnSpc>
                <a:spcPct val="150000"/>
              </a:lnSpc>
              <a:spcBef>
                <a:spcPct val="0"/>
              </a:spcBef>
              <a:buClrTx/>
              <a:buNone/>
              <a:tabLst>
                <a:tab pos="800100" algn="l"/>
              </a:tabLst>
            </a:pPr>
            <a:r>
              <a:rPr lang="zh-CN" altLang="en-US" sz="1800" b="1" dirty="0">
                <a:ea typeface="宋体" panose="02010600030101010101" pitchFamily="2" charset="-122"/>
              </a:rPr>
              <a:t>     </a:t>
            </a:r>
            <a:r>
              <a:rPr lang="en-US" altLang="zh-CN" sz="1800" b="1" dirty="0">
                <a:ea typeface="宋体" panose="02010600030101010101" pitchFamily="2" charset="-122"/>
              </a:rPr>
              <a:t>2). </a:t>
            </a:r>
            <a:r>
              <a:rPr lang="zh-CN" altLang="en-US" sz="1800" b="1" dirty="0">
                <a:ea typeface="宋体" panose="02010600030101010101" pitchFamily="2" charset="-122"/>
              </a:rPr>
              <a:t>若</a:t>
            </a:r>
            <a:r>
              <a:rPr lang="en-US" altLang="zh-CN" sz="1800" b="1" dirty="0">
                <a:ea typeface="宋体" panose="02010600030101010101" pitchFamily="2" charset="-122"/>
              </a:rPr>
              <a:t>q</a:t>
            </a:r>
            <a:r>
              <a:rPr lang="zh-CN" altLang="en-US" sz="1800" b="1" dirty="0">
                <a:ea typeface="宋体" panose="02010600030101010101" pitchFamily="2" charset="-122"/>
              </a:rPr>
              <a:t>有令牌，且正要进入临界区，则持令牌进入临界区完成相应操作；否则，将令牌左传，算法结束；</a:t>
            </a:r>
            <a:endParaRPr lang="zh-CN" altLang="en-US" sz="1800" b="1" dirty="0">
              <a:ea typeface="宋体" panose="02010600030101010101" pitchFamily="2" charset="-122"/>
            </a:endParaRPr>
          </a:p>
          <a:p>
            <a:pPr marL="0" lvl="0" indent="0" algn="just" defTabSz="914400">
              <a:lnSpc>
                <a:spcPct val="150000"/>
              </a:lnSpc>
              <a:spcBef>
                <a:spcPct val="0"/>
              </a:spcBef>
              <a:buClrTx/>
              <a:buNone/>
              <a:tabLst>
                <a:tab pos="800100" algn="l"/>
              </a:tabLst>
            </a:pPr>
            <a:r>
              <a:rPr lang="en-US" altLang="zh-CN" sz="1800" b="1" dirty="0">
                <a:ea typeface="宋体" panose="02010600030101010101" pitchFamily="2" charset="-122"/>
              </a:rPr>
              <a:t>     3).  </a:t>
            </a:r>
            <a:r>
              <a:rPr lang="zh-CN" altLang="en-US" sz="1800" b="1" dirty="0">
                <a:ea typeface="宋体" panose="02010600030101010101" pitchFamily="2" charset="-122"/>
              </a:rPr>
              <a:t>若</a:t>
            </a:r>
            <a:r>
              <a:rPr lang="en-US" altLang="zh-CN" sz="1800" b="1" dirty="0">
                <a:ea typeface="宋体" panose="02010600030101010101" pitchFamily="2" charset="-122"/>
              </a:rPr>
              <a:t>q</a:t>
            </a:r>
            <a:r>
              <a:rPr lang="zh-CN" altLang="en-US" sz="1800" b="1" dirty="0">
                <a:ea typeface="宋体" panose="02010600030101010101" pitchFamily="2" charset="-122"/>
              </a:rPr>
              <a:t>无令牌，则看自己是否已发出</a:t>
            </a:r>
            <a:r>
              <a:rPr lang="en-US" altLang="zh-CN" sz="1800" b="1" dirty="0">
                <a:ea typeface="宋体" panose="02010600030101010101" pitchFamily="2" charset="-122"/>
              </a:rPr>
              <a:t>Request,</a:t>
            </a:r>
            <a:endParaRPr lang="zh-CN" altLang="en-US" sz="1800" b="1" dirty="0">
              <a:ea typeface="宋体" panose="02010600030101010101" pitchFamily="2" charset="-122"/>
            </a:endParaRPr>
          </a:p>
          <a:p>
            <a:pPr marL="742950" lvl="1" indent="-285750" algn="just" defTabSz="914400">
              <a:lnSpc>
                <a:spcPct val="150000"/>
              </a:lnSpc>
              <a:spcBef>
                <a:spcPct val="0"/>
              </a:spcBef>
              <a:buClrTx/>
              <a:buAutoNum type="circleNumDbPlain"/>
              <a:tabLst>
                <a:tab pos="800100" algn="l"/>
              </a:tabLst>
            </a:pPr>
            <a:r>
              <a:rPr lang="zh-CN" altLang="en-US" sz="1800" b="1" dirty="0">
                <a:ea typeface="宋体" panose="02010600030101010101" pitchFamily="2" charset="-122"/>
              </a:rPr>
              <a:t>已发出</a:t>
            </a:r>
            <a:r>
              <a:rPr lang="en-US" altLang="zh-CN" sz="1800" b="1" dirty="0">
                <a:ea typeface="宋体" panose="02010600030101010101" pitchFamily="2" charset="-122"/>
              </a:rPr>
              <a:t>, </a:t>
            </a:r>
            <a:r>
              <a:rPr lang="zh-CN" altLang="en-US" sz="1800" b="1" dirty="0">
                <a:ea typeface="宋体" panose="02010600030101010101" pitchFamily="2" charset="-122"/>
              </a:rPr>
              <a:t>则记下左边</a:t>
            </a:r>
            <a:r>
              <a:rPr lang="en-US" altLang="zh-CN" sz="1800" b="1" dirty="0">
                <a:ea typeface="宋体" panose="02010600030101010101" pitchFamily="2" charset="-122"/>
              </a:rPr>
              <a:t>p</a:t>
            </a:r>
            <a:r>
              <a:rPr lang="zh-CN" altLang="en-US" sz="1800" b="1" dirty="0">
                <a:ea typeface="宋体" panose="02010600030101010101" pitchFamily="2" charset="-122"/>
              </a:rPr>
              <a:t>发来的</a:t>
            </a:r>
            <a:r>
              <a:rPr lang="en-US" altLang="zh-CN" sz="1800" b="1" dirty="0">
                <a:ea typeface="宋体" panose="02010600030101010101" pitchFamily="2" charset="-122"/>
              </a:rPr>
              <a:t>Request</a:t>
            </a:r>
            <a:r>
              <a:rPr lang="zh-CN" altLang="en-US" sz="1800" b="1" dirty="0">
                <a:ea typeface="宋体" panose="02010600030101010101" pitchFamily="2" charset="-122"/>
              </a:rPr>
              <a:t>，等待获得令牌</a:t>
            </a:r>
            <a:r>
              <a:rPr lang="en-US" altLang="zh-CN" sz="1800" b="1" dirty="0">
                <a:ea typeface="宋体" panose="02010600030101010101" pitchFamily="2" charset="-122"/>
              </a:rPr>
              <a:t>, </a:t>
            </a:r>
            <a:r>
              <a:rPr lang="zh-CN" altLang="en-US" sz="1800" b="1" dirty="0">
                <a:ea typeface="宋体" panose="02010600030101010101" pitchFamily="2" charset="-122"/>
              </a:rPr>
              <a:t>获得后完成临界区操作，令牌左传；</a:t>
            </a:r>
            <a:endParaRPr lang="zh-CN" altLang="en-US" sz="1800" b="1" dirty="0">
              <a:ea typeface="宋体" panose="02010600030101010101" pitchFamily="2" charset="-122"/>
            </a:endParaRPr>
          </a:p>
          <a:p>
            <a:pPr marL="742950" lvl="1" indent="-285750" algn="just" defTabSz="914400">
              <a:lnSpc>
                <a:spcPct val="150000"/>
              </a:lnSpc>
              <a:spcBef>
                <a:spcPct val="0"/>
              </a:spcBef>
              <a:buClrTx/>
              <a:buAutoNum type="circleNumDbPlain"/>
              <a:tabLst>
                <a:tab pos="800100" algn="l"/>
              </a:tabLst>
            </a:pPr>
            <a:r>
              <a:rPr lang="zh-CN" altLang="en-US" sz="1800" b="1" dirty="0">
                <a:ea typeface="宋体" panose="02010600030101010101" pitchFamily="2" charset="-122"/>
              </a:rPr>
              <a:t>未发出</a:t>
            </a:r>
            <a:r>
              <a:rPr lang="en-US" altLang="zh-CN" sz="1800" b="1" dirty="0">
                <a:ea typeface="宋体" panose="02010600030101010101" pitchFamily="2" charset="-122"/>
              </a:rPr>
              <a:t>, </a:t>
            </a:r>
            <a:r>
              <a:rPr lang="zh-CN" altLang="en-US" sz="1800" b="1" dirty="0">
                <a:ea typeface="宋体" panose="02010600030101010101" pitchFamily="2" charset="-122"/>
              </a:rPr>
              <a:t>则将该</a:t>
            </a:r>
            <a:r>
              <a:rPr lang="en-US" altLang="zh-CN" sz="1800" b="1" dirty="0">
                <a:ea typeface="宋体" panose="02010600030101010101" pitchFamily="2" charset="-122"/>
              </a:rPr>
              <a:t>Request</a:t>
            </a:r>
            <a:r>
              <a:rPr lang="zh-CN" altLang="en-US" sz="1800" b="1" dirty="0">
                <a:ea typeface="宋体" panose="02010600030101010101" pitchFamily="2" charset="-122"/>
              </a:rPr>
              <a:t>继续右传；</a:t>
            </a:r>
            <a:endParaRPr lang="en-US" altLang="zh-CN" sz="1800" b="1" dirty="0">
              <a:ea typeface="宋体" panose="02010600030101010101" pitchFamily="2" charset="-122"/>
            </a:endParaRPr>
          </a:p>
        </p:txBody>
      </p:sp>
      <p:grpSp>
        <p:nvGrpSpPr>
          <p:cNvPr id="47108" name="组合 8"/>
          <p:cNvGrpSpPr/>
          <p:nvPr/>
        </p:nvGrpSpPr>
        <p:grpSpPr>
          <a:xfrm>
            <a:off x="6205538" y="1471613"/>
            <a:ext cx="2881312" cy="2725737"/>
            <a:chOff x="5712309" y="3861995"/>
            <a:chExt cx="3065929" cy="2996005"/>
          </a:xfrm>
        </p:grpSpPr>
        <p:pic>
          <p:nvPicPr>
            <p:cNvPr id="47110" name="图片 5" descr="令牌环图.PNG"/>
            <p:cNvPicPr>
              <a:picLocks noChangeAspect="1"/>
            </p:cNvPicPr>
            <p:nvPr/>
          </p:nvPicPr>
          <p:blipFill>
            <a:blip r:embed="rId1"/>
            <a:stretch>
              <a:fillRect/>
            </a:stretch>
          </p:blipFill>
          <p:spPr>
            <a:xfrm>
              <a:off x="5712309" y="3861995"/>
              <a:ext cx="3065929" cy="2996005"/>
            </a:xfrm>
            <a:prstGeom prst="rect">
              <a:avLst/>
            </a:prstGeom>
            <a:noFill/>
            <a:ln w="9525">
              <a:noFill/>
            </a:ln>
          </p:spPr>
        </p:pic>
        <p:sp>
          <p:nvSpPr>
            <p:cNvPr id="47111" name="右弧形箭头 3"/>
            <p:cNvSpPr/>
            <p:nvPr/>
          </p:nvSpPr>
          <p:spPr>
            <a:xfrm>
              <a:off x="7670202" y="4797909"/>
              <a:ext cx="484093" cy="1323191"/>
            </a:xfrm>
            <a:prstGeom prst="curvedLeftArrow">
              <a:avLst>
                <a:gd name="adj1" fmla="val 24993"/>
                <a:gd name="adj2" fmla="val 49998"/>
                <a:gd name="adj3" fmla="val 25000"/>
              </a:avLst>
            </a:prstGeom>
            <a:solidFill>
              <a:schemeClr val="accent1"/>
            </a:solidFill>
            <a:ln w="9525" cap="flat" cmpd="sng">
              <a:solidFill>
                <a:schemeClr val="tx1"/>
              </a:solidFill>
              <a:prstDash val="solid"/>
              <a:roun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1600" dirty="0">
                <a:ea typeface="宋体" panose="02010600030101010101" pitchFamily="2" charset="-122"/>
              </a:endParaRPr>
            </a:p>
          </p:txBody>
        </p:sp>
        <p:sp>
          <p:nvSpPr>
            <p:cNvPr id="47112" name="左弧形箭头 4"/>
            <p:cNvSpPr/>
            <p:nvPr/>
          </p:nvSpPr>
          <p:spPr>
            <a:xfrm>
              <a:off x="6282466" y="4808668"/>
              <a:ext cx="484094" cy="1290918"/>
            </a:xfrm>
            <a:prstGeom prst="curvedRightArrow">
              <a:avLst>
                <a:gd name="adj1" fmla="val 24986"/>
                <a:gd name="adj2" fmla="val 50000"/>
                <a:gd name="adj3" fmla="val 25000"/>
              </a:avLst>
            </a:prstGeom>
            <a:solidFill>
              <a:schemeClr val="accent1"/>
            </a:solidFill>
            <a:ln w="9525" cap="flat" cmpd="sng">
              <a:solidFill>
                <a:schemeClr val="tx1"/>
              </a:solidFill>
              <a:prstDash val="solid"/>
              <a:roun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1600" dirty="0">
                <a:ea typeface="宋体" panose="02010600030101010101" pitchFamily="2" charset="-122"/>
              </a:endParaRPr>
            </a:p>
          </p:txBody>
        </p:sp>
        <p:sp>
          <p:nvSpPr>
            <p:cNvPr id="47113" name="矩形 6"/>
            <p:cNvSpPr/>
            <p:nvPr/>
          </p:nvSpPr>
          <p:spPr>
            <a:xfrm>
              <a:off x="7555565" y="5292919"/>
              <a:ext cx="595035" cy="338554"/>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zh-CN" altLang="en-US" sz="1600" dirty="0">
                  <a:ea typeface="宋体" panose="02010600030101010101" pitchFamily="2" charset="-122"/>
                </a:rPr>
                <a:t>请求</a:t>
              </a:r>
              <a:endParaRPr lang="zh-CN" altLang="en-US" sz="1600" dirty="0">
                <a:ea typeface="宋体" panose="02010600030101010101" pitchFamily="2" charset="-122"/>
              </a:endParaRPr>
            </a:p>
          </p:txBody>
        </p:sp>
        <p:sp>
          <p:nvSpPr>
            <p:cNvPr id="47114" name="矩形 7"/>
            <p:cNvSpPr/>
            <p:nvPr/>
          </p:nvSpPr>
          <p:spPr>
            <a:xfrm>
              <a:off x="6382981" y="5292918"/>
              <a:ext cx="595035" cy="338554"/>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zh-CN" altLang="en-US" sz="1600" dirty="0">
                  <a:ea typeface="宋体" panose="02010600030101010101" pitchFamily="2" charset="-122"/>
                </a:rPr>
                <a:t>令牌</a:t>
              </a:r>
              <a:endParaRPr lang="zh-CN" altLang="en-US" sz="1600" dirty="0">
                <a:ea typeface="宋体" panose="02010600030101010101" pitchFamily="2" charset="-122"/>
              </a:endParaRPr>
            </a:p>
          </p:txBody>
        </p:sp>
      </p:grpSp>
      <p:sp>
        <p:nvSpPr>
          <p:cNvPr id="10" name="Rectangle 3"/>
          <p:cNvSpPr txBox="1">
            <a:spLocks noChangeArrowheads="1"/>
          </p:cNvSpPr>
          <p:nvPr/>
        </p:nvSpPr>
        <p:spPr bwMode="auto">
          <a:xfrm>
            <a:off x="133350" y="4648200"/>
            <a:ext cx="8686800" cy="1841500"/>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609600" marR="0" lvl="0" indent="-609600" algn="just" defTabSz="914400" rtl="0" eaLnBrk="1" fontAlgn="base" latinLnBrk="0" hangingPunct="1">
              <a:lnSpc>
                <a:spcPct val="150000"/>
              </a:lnSpc>
              <a:spcBef>
                <a:spcPct val="20000"/>
              </a:spcBef>
              <a:spcAft>
                <a:spcPct val="0"/>
              </a:spcAft>
              <a:buClr>
                <a:schemeClr val="accent2"/>
              </a:buClr>
              <a:buSzTx/>
              <a:buFontTx/>
              <a:buNone/>
              <a:defRPr/>
            </a:pPr>
            <a:r>
              <a:rPr kumimoji="0" lang="zh-CN" altLang="en-US" sz="18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讨论：</a:t>
            </a:r>
            <a:endPar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609600" marR="0" lvl="0" indent="-609600" algn="just" defTabSz="914400" rtl="0" eaLnBrk="1" fontAlgn="base" latinLnBrk="0" hangingPunct="1">
              <a:lnSpc>
                <a:spcPct val="150000"/>
              </a:lnSpc>
              <a:spcBef>
                <a:spcPct val="20000"/>
              </a:spcBef>
              <a:spcAft>
                <a:spcPct val="0"/>
              </a:spcAft>
              <a:buClr>
                <a:schemeClr val="accent2"/>
              </a:buClr>
              <a:buSzTx/>
              <a:buFontTx/>
              <a:buNone/>
              <a:defRPr/>
            </a:pP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①双向环：在拥有令牌者处相遇，拥有者将令牌向左传，</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直到有请求者处；</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609600" marR="0" lvl="0" indent="-609600" algn="just" defTabSz="914400" rtl="0" eaLnBrk="1" fontAlgn="base" latinLnBrk="0" hangingPunct="1">
              <a:lnSpc>
                <a:spcPct val="150000"/>
              </a:lnSpc>
              <a:spcBef>
                <a:spcPct val="20000"/>
              </a:spcBef>
              <a:spcAft>
                <a:spcPct val="0"/>
              </a:spcAft>
              <a:buClr>
                <a:schemeClr val="accent2"/>
              </a:buClr>
              <a:buSzTx/>
              <a:buFontTx/>
              <a:buNone/>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②令牌和请求的相向传递</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避免了“令牌追请求”和“请求追令牌”</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的现象；</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609600" marR="0" lvl="0" indent="-609600" algn="just" defTabSz="914400" rtl="0" eaLnBrk="1" fontAlgn="base" latinLnBrk="0" hangingPunct="1">
              <a:lnSpc>
                <a:spcPct val="150000"/>
              </a:lnSpc>
              <a:spcBef>
                <a:spcPct val="20000"/>
              </a:spcBef>
              <a:spcAft>
                <a:spcPct val="0"/>
              </a:spcAft>
              <a:buClr>
                <a:schemeClr val="accent2"/>
              </a:buClr>
              <a:buSzTx/>
              <a:buFontTx/>
              <a:buNone/>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③可以通过增加时间戳，防止回应的不及时（令牌丢失，令牌者故障等）；</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2"/>
          <p:cNvSpPr>
            <a:spLocks noGrp="1"/>
          </p:cNvSpPr>
          <p:nvPr>
            <p:ph type="title"/>
          </p:nvPr>
        </p:nvSpPr>
        <p:spPr>
          <a:xfrm>
            <a:off x="723900" y="0"/>
            <a:ext cx="7405688" cy="415925"/>
          </a:xfrm>
          <a:ln/>
        </p:spPr>
        <p:txBody>
          <a:bodyPr vert="horz" wrap="square" lIns="91440" tIns="45720" rIns="91440" bIns="45720" anchor="ctr" anchorCtr="0"/>
          <a:p>
            <a:pPr eaLnBrk="1" hangingPunct="1"/>
            <a:r>
              <a:rPr lang="en-US" altLang="zh-CN" dirty="0">
                <a:ea typeface="宋体" panose="02010600030101010101" pitchFamily="2" charset="-122"/>
              </a:rPr>
              <a:t>A Token Ring Algorithm</a:t>
            </a:r>
            <a:endParaRPr lang="en-US" altLang="zh-CN" dirty="0">
              <a:ea typeface="宋体" panose="02010600030101010101" pitchFamily="2" charset="-122"/>
            </a:endParaRPr>
          </a:p>
        </p:txBody>
      </p:sp>
      <p:sp>
        <p:nvSpPr>
          <p:cNvPr id="51203" name="Rectangle 3"/>
          <p:cNvSpPr>
            <a:spLocks noGrp="1" noChangeArrowheads="1"/>
          </p:cNvSpPr>
          <p:nvPr>
            <p:ph idx="1"/>
          </p:nvPr>
        </p:nvSpPr>
        <p:spPr>
          <a:xfrm>
            <a:off x="58738" y="547688"/>
            <a:ext cx="9002713" cy="1481138"/>
          </a:xfrm>
        </p:spPr>
        <p:txBody>
          <a:bodyPr vert="horz" wrap="square" lIns="91440" tIns="45720" rIns="91440" bIns="45720" numCol="1" anchor="t" anchorCtr="0" compatLnSpc="1"/>
          <a:lstStyle/>
          <a:p>
            <a:pPr marL="609600" marR="0" lvl="0" indent="-609600" algn="just" defTabSz="914400" rtl="0" eaLnBrk="1" fontAlgn="base" latinLnBrk="0" hangingPunct="1">
              <a:lnSpc>
                <a:spcPct val="150000"/>
              </a:lnSpc>
              <a:spcBef>
                <a:spcPct val="20000"/>
              </a:spcBef>
              <a:spcAft>
                <a:spcPct val="0"/>
              </a:spcAft>
              <a:buClr>
                <a:schemeClr val="accent2"/>
              </a:buClr>
              <a:buSzTx/>
              <a:buFontTx/>
              <a:buNone/>
              <a:defRPr/>
            </a:pPr>
            <a:r>
              <a:rPr kumimoji="0" lang="zh-CN" altLang="en-US" sz="18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2.</a:t>
            </a:r>
            <a:r>
              <a:rPr kumimoji="0" lang="zh-CN" altLang="en-US" sz="1800" b="1" i="0" u="none" strike="noStrike" kern="1200" cap="none" spc="0" normalizeH="0" baseline="0" noProof="0" dirty="0">
                <a:ln>
                  <a:noFill/>
                </a:ln>
                <a:solidFill>
                  <a:schemeClr val="tx1"/>
                </a:solidFill>
                <a:effectLst/>
                <a:uLnTx/>
                <a:uFillTx/>
                <a:latin typeface="+mn-lt"/>
                <a:ea typeface="黑体" panose="02010609060101010101" pitchFamily="49" charset="-122"/>
                <a:cs typeface="+mn-cs"/>
              </a:rPr>
              <a:t>基于非环结构的令牌传递算法[</a:t>
            </a:r>
            <a:r>
              <a:rPr kumimoji="0" lang="en-US" altLang="zh-CN" sz="1800" b="1" i="0" u="none" strike="noStrike" kern="1200" cap="none" spc="0" normalizeH="0" baseline="0" noProof="0" dirty="0" err="1">
                <a:ln>
                  <a:noFill/>
                </a:ln>
                <a:solidFill>
                  <a:schemeClr val="tx1"/>
                </a:solidFill>
                <a:effectLst/>
                <a:uLnTx/>
                <a:uFillTx/>
                <a:latin typeface="+mn-lt"/>
                <a:ea typeface="黑体" panose="02010609060101010101" pitchFamily="49" charset="-122"/>
                <a:cs typeface="+mn-cs"/>
              </a:rPr>
              <a:t>K.M.Chandy</a:t>
            </a:r>
            <a:r>
              <a:rPr kumimoji="0" lang="en-US" altLang="zh-CN" sz="1800" b="1" i="0" u="none" strike="noStrike" kern="1200" cap="none" spc="0" normalizeH="0" baseline="0" noProof="0" dirty="0">
                <a:ln>
                  <a:noFill/>
                </a:ln>
                <a:solidFill>
                  <a:schemeClr val="tx1"/>
                </a:solidFill>
                <a:effectLst/>
                <a:uLnTx/>
                <a:uFillTx/>
                <a:latin typeface="+mn-lt"/>
                <a:ea typeface="黑体" panose="02010609060101010101" pitchFamily="49" charset="-122"/>
                <a:cs typeface="+mn-cs"/>
              </a:rPr>
              <a:t> 1982]. </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数据结构：</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just"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Ø"/>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设系统有</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n</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个进程</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P=(p</a:t>
            </a:r>
            <a:r>
              <a:rPr kumimoji="0" lang="en-US" altLang="zh-CN" sz="18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,p</a:t>
            </a:r>
            <a:r>
              <a:rPr kumimoji="0" lang="en-US" altLang="zh-CN" sz="18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2</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p</a:t>
            </a:r>
            <a:r>
              <a:rPr kumimoji="0" lang="en-US" altLang="zh-CN" sz="1800" b="1" i="0" u="none" strike="noStrike" kern="0" cap="none" spc="0" normalizeH="0" baseline="-25000" noProof="0" dirty="0" err="1">
                <a:ln>
                  <a:noFill/>
                </a:ln>
                <a:solidFill>
                  <a:schemeClr val="tx1"/>
                </a:solidFill>
                <a:effectLst/>
                <a:uLnTx/>
                <a:uFillTx/>
                <a:latin typeface="+mn-lt"/>
                <a:ea typeface="宋体" panose="02010600030101010101" pitchFamily="2" charset="-122"/>
                <a:cs typeface="+mn-cs"/>
              </a:rPr>
              <a:t>n</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，每个进程维持一个请求队列</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just"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Ø"/>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一个</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n</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维令牌向量</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VT=(vt</a:t>
            </a:r>
            <a:r>
              <a:rPr kumimoji="0" lang="en-US" altLang="zh-CN" sz="18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,vt</a:t>
            </a:r>
            <a:r>
              <a:rPr kumimoji="0" lang="en-US" altLang="zh-CN" sz="18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2</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vt</a:t>
            </a:r>
            <a:r>
              <a:rPr kumimoji="0" lang="en-US" altLang="zh-CN" sz="1800" b="1" i="0" u="none" strike="noStrike" kern="0" cap="none" spc="0" normalizeH="0" baseline="-25000" noProof="0" dirty="0" err="1">
                <a:ln>
                  <a:noFill/>
                </a:ln>
                <a:solidFill>
                  <a:schemeClr val="tx1"/>
                </a:solidFill>
                <a:effectLst/>
                <a:uLnTx/>
                <a:uFillTx/>
                <a:latin typeface="+mn-lt"/>
                <a:ea typeface="宋体" panose="02010600030101010101" pitchFamily="2" charset="-122"/>
                <a:cs typeface="+mn-cs"/>
              </a:rPr>
              <a:t>n</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vt</a:t>
            </a:r>
            <a:r>
              <a:rPr kumimoji="0" lang="en-US" altLang="zh-CN" sz="1800" b="1" i="0" u="none" strike="noStrike" kern="0" cap="none" spc="0" normalizeH="0" baseline="-25000" noProof="0" dirty="0" err="1">
                <a:ln>
                  <a:noFill/>
                </a:ln>
                <a:solidFill>
                  <a:schemeClr val="tx1"/>
                </a:solidFill>
                <a:effectLst/>
                <a:uLnTx/>
                <a:uFillTx/>
                <a:latin typeface="+mn-lt"/>
                <a:ea typeface="宋体" panose="02010600030101010101" pitchFamily="2" charset="-122"/>
                <a:cs typeface="+mn-cs"/>
              </a:rPr>
              <a:t>i</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表示对应进程</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p</a:t>
            </a:r>
            <a:r>
              <a:rPr kumimoji="0" lang="en-US" altLang="zh-CN" sz="18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i</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已获得服务的</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Request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次数。</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4" name="Rectangle 3"/>
          <p:cNvSpPr txBox="1">
            <a:spLocks noChangeArrowheads="1"/>
          </p:cNvSpPr>
          <p:nvPr/>
        </p:nvSpPr>
        <p:spPr bwMode="auto">
          <a:xfrm>
            <a:off x="0" y="2279650"/>
            <a:ext cx="9061450" cy="4254500"/>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609600" marR="0" lvl="0" indent="-609600" algn="l" defTabSz="914400" rtl="0" eaLnBrk="1" fontAlgn="base" latinLnBrk="0" hangingPunct="1">
              <a:lnSpc>
                <a:spcPct val="150000"/>
              </a:lnSpc>
              <a:spcBef>
                <a:spcPct val="20000"/>
              </a:spcBef>
              <a:spcAft>
                <a:spcPct val="0"/>
              </a:spcAft>
              <a:buClr>
                <a:schemeClr val="accent2"/>
              </a:buClr>
              <a:buSzTx/>
              <a:buFontTx/>
              <a:buNone/>
              <a:defRPr/>
            </a:pPr>
            <a:r>
              <a:rPr kumimoji="0" lang="zh-CN" altLang="en-US" sz="1800" b="1" i="0" u="none" strike="noStrike" kern="0" cap="none" spc="0" normalizeH="0" baseline="0" noProof="0" dirty="0">
                <a:ln>
                  <a:noFill/>
                </a:ln>
                <a:solidFill>
                  <a:schemeClr val="tx1"/>
                </a:solidFill>
                <a:effectLst/>
                <a:uLnTx/>
                <a:uFillTx/>
                <a:latin typeface="+mn-lt"/>
                <a:ea typeface="黑体" panose="02010609060101010101" pitchFamily="49" charset="-122"/>
                <a:cs typeface="+mn-cs"/>
              </a:rPr>
              <a:t>算法描述：</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609600" marR="0" lvl="0" indent="-609600" algn="l" defTabSz="914400" rtl="0" eaLnBrk="1" fontAlgn="base" latinLnBrk="0" hangingPunct="1">
              <a:lnSpc>
                <a:spcPct val="150000"/>
              </a:lnSpc>
              <a:spcBef>
                <a:spcPct val="20000"/>
              </a:spcBef>
              <a:spcAft>
                <a:spcPct val="0"/>
              </a:spcAft>
              <a:buClr>
                <a:schemeClr val="accent2"/>
              </a:buClr>
              <a:buSzTx/>
              <a:buFontTx/>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1. p</a:t>
            </a:r>
            <a:r>
              <a:rPr kumimoji="0" lang="en-US" altLang="zh-CN" sz="18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i</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为第</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m</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次进入临界区，广播</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Request(p, m)</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后进入等待状态；</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609600" marR="0" lvl="0" indent="-609600" algn="l" defTabSz="914400" rtl="0" eaLnBrk="1" fontAlgn="base" latinLnBrk="0" hangingPunct="1">
              <a:lnSpc>
                <a:spcPct val="150000"/>
              </a:lnSpc>
              <a:spcBef>
                <a:spcPct val="20000"/>
              </a:spcBef>
              <a:spcAft>
                <a:spcPct val="0"/>
              </a:spcAft>
              <a:buClr>
                <a:schemeClr val="accent2"/>
              </a:buClr>
              <a:buSzTx/>
              <a:buFontTx/>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2.</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获得令牌后：</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009650" marR="0" lvl="1" indent="-609600" algn="l" defTabSz="914400" rtl="0" eaLnBrk="1" fontAlgn="base" latinLnBrk="0" hangingPunct="1">
              <a:lnSpc>
                <a:spcPct val="150000"/>
              </a:lnSpc>
              <a:spcBef>
                <a:spcPct val="20000"/>
              </a:spcBef>
              <a:spcAft>
                <a:spcPct val="0"/>
              </a:spcAft>
              <a:buClr>
                <a:schemeClr val="accent2"/>
              </a:buClr>
              <a:buSzTx/>
              <a:buFontTx/>
              <a:buAutoNum type="circleNumDbPlain"/>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将对应令牌向量中的元素</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vt</a:t>
            </a:r>
            <a:r>
              <a:rPr kumimoji="0" lang="en-US" altLang="zh-CN" sz="1800" b="1" i="0" u="none" strike="noStrike" kern="0" cap="none" spc="0" normalizeH="0" baseline="-25000" noProof="0" dirty="0" err="1">
                <a:ln>
                  <a:noFill/>
                </a:ln>
                <a:solidFill>
                  <a:schemeClr val="tx1"/>
                </a:solidFill>
                <a:effectLst/>
                <a:uLnTx/>
                <a:uFillTx/>
                <a:latin typeface="+mn-lt"/>
                <a:ea typeface="宋体" panose="02010600030101010101" pitchFamily="2" charset="-122"/>
                <a:cs typeface="+mn-cs"/>
              </a:rPr>
              <a:t>i</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置为</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m；</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009650" marR="0" lvl="1" indent="-609600" algn="l" defTabSz="914400" rtl="0" eaLnBrk="1" fontAlgn="base" latinLnBrk="0" hangingPunct="1">
              <a:lnSpc>
                <a:spcPct val="150000"/>
              </a:lnSpc>
              <a:spcBef>
                <a:spcPct val="20000"/>
              </a:spcBef>
              <a:spcAft>
                <a:spcPct val="0"/>
              </a:spcAft>
              <a:buClr>
                <a:schemeClr val="accent2"/>
              </a:buClr>
              <a:buSzTx/>
              <a:buFontTx/>
              <a:buAutoNum type="circleNumDbPlain"/>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进入临界区工作；</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009650" marR="0" lvl="1" indent="-609600" algn="l" defTabSz="914400" rtl="0" eaLnBrk="1" fontAlgn="base" latinLnBrk="0" hangingPunct="1">
              <a:lnSpc>
                <a:spcPct val="150000"/>
              </a:lnSpc>
              <a:spcBef>
                <a:spcPct val="20000"/>
              </a:spcBef>
              <a:spcAft>
                <a:spcPct val="0"/>
              </a:spcAft>
              <a:buClr>
                <a:schemeClr val="accent2"/>
              </a:buClr>
              <a:buSzTx/>
              <a:buFontTx/>
              <a:buAutoNum type="circleNumDbPlain"/>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退出临界区时，查看请求队列</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009650" marR="0" lvl="1" indent="-6096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ü"/>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队列空，则执行自己的工作，直到收到某个请求；</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009650" marR="0" lvl="1" indent="-6096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ü"/>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队列非空，取一个请求</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Request(</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p</a:t>
            </a:r>
            <a:r>
              <a:rPr kumimoji="0" lang="en-US" altLang="zh-CN" sz="1800" b="1" i="0" u="none" strike="noStrike" kern="0" cap="none" spc="0" normalizeH="0" baseline="-25000" noProof="0" dirty="0" err="1">
                <a:ln>
                  <a:noFill/>
                </a:ln>
                <a:solidFill>
                  <a:schemeClr val="tx1"/>
                </a:solidFill>
                <a:effectLst/>
                <a:uLnTx/>
                <a:uFillTx/>
                <a:latin typeface="+mn-lt"/>
                <a:ea typeface="宋体" panose="02010600030101010101" pitchFamily="2" charset="-122"/>
                <a:cs typeface="+mn-cs"/>
              </a:rPr>
              <a:t>j</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h)，</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如果</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h</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比</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p</a:t>
            </a:r>
            <a:r>
              <a:rPr kumimoji="0" lang="en-US" altLang="zh-CN" sz="1800" b="1" i="0" u="none" strike="noStrike" kern="0" cap="none" spc="0" normalizeH="0" baseline="-25000" noProof="0" dirty="0" err="1">
                <a:ln>
                  <a:noFill/>
                </a:ln>
                <a:solidFill>
                  <a:schemeClr val="tx1"/>
                </a:solidFill>
                <a:effectLst/>
                <a:uLnTx/>
                <a:uFillTx/>
                <a:latin typeface="+mn-lt"/>
                <a:ea typeface="宋体" panose="02010600030101010101" pitchFamily="2" charset="-122"/>
                <a:cs typeface="+mn-cs"/>
              </a:rPr>
              <a:t>j</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对应令牌向量中的元素</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vt</a:t>
            </a:r>
            <a:r>
              <a:rPr kumimoji="0" lang="en-US" altLang="zh-CN" sz="1800" b="1" i="0" u="none" strike="noStrike" kern="0" cap="none" spc="0" normalizeH="0" baseline="-25000" noProof="0" dirty="0" err="1">
                <a:ln>
                  <a:noFill/>
                </a:ln>
                <a:solidFill>
                  <a:schemeClr val="tx1"/>
                </a:solidFill>
                <a:effectLst/>
                <a:uLnTx/>
                <a:uFillTx/>
                <a:latin typeface="+mn-lt"/>
                <a:ea typeface="宋体" panose="02010600030101010101" pitchFamily="2" charset="-122"/>
                <a:cs typeface="+mn-cs"/>
              </a:rPr>
              <a:t>j</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小</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请求已执行</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，将其删除，取下一个</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Request；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否则（新请求），将令牌传给</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p</a:t>
            </a:r>
            <a:r>
              <a:rPr kumimoji="0" lang="en-US" altLang="zh-CN" sz="1800" b="1" i="0" u="none" strike="noStrike" kern="0" cap="none" spc="0" normalizeH="0" baseline="-25000" noProof="0" dirty="0" err="1">
                <a:ln>
                  <a:noFill/>
                </a:ln>
                <a:solidFill>
                  <a:schemeClr val="tx1"/>
                </a:solidFill>
                <a:effectLst/>
                <a:uLnTx/>
                <a:uFillTx/>
                <a:latin typeface="+mn-lt"/>
                <a:ea typeface="宋体" panose="02010600030101010101" pitchFamily="2" charset="-122"/>
                <a:cs typeface="+mn-cs"/>
              </a:rPr>
              <a:t>j</a:t>
            </a:r>
            <a:r>
              <a:rPr kumimoji="0" lang="en-US" altLang="zh-CN" sz="1800" b="1"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2"/>
          <p:cNvSpPr>
            <a:spLocks noGrp="1"/>
          </p:cNvSpPr>
          <p:nvPr>
            <p:ph type="title"/>
          </p:nvPr>
        </p:nvSpPr>
        <p:spPr>
          <a:xfrm>
            <a:off x="0" y="0"/>
            <a:ext cx="9144000" cy="657225"/>
          </a:xfrm>
          <a:ln/>
        </p:spPr>
        <p:txBody>
          <a:bodyPr vert="horz" wrap="square" lIns="91440" tIns="45720" rIns="91440" bIns="45720" anchor="ctr" anchorCtr="0"/>
          <a:p>
            <a:pPr eaLnBrk="1" hangingPunct="1"/>
            <a:r>
              <a:rPr lang="en-US" altLang="zh-CN" dirty="0">
                <a:ea typeface="宋体" panose="02010600030101010101" pitchFamily="2" charset="-122"/>
              </a:rPr>
              <a:t>A Token Ring Algorithm</a:t>
            </a:r>
            <a:endParaRPr lang="en-US" altLang="zh-CN" dirty="0">
              <a:ea typeface="宋体" panose="02010600030101010101" pitchFamily="2" charset="-122"/>
            </a:endParaRPr>
          </a:p>
        </p:txBody>
      </p:sp>
      <p:sp>
        <p:nvSpPr>
          <p:cNvPr id="50179" name="Rectangle 3"/>
          <p:cNvSpPr>
            <a:spLocks noGrp="1"/>
          </p:cNvSpPr>
          <p:nvPr>
            <p:ph idx="1"/>
          </p:nvPr>
        </p:nvSpPr>
        <p:spPr>
          <a:xfrm>
            <a:off x="385763" y="657225"/>
            <a:ext cx="8210550" cy="2482850"/>
          </a:xfrm>
          <a:ln/>
        </p:spPr>
        <p:txBody>
          <a:bodyPr vert="horz" wrap="square" lIns="91440" tIns="45720" rIns="91440" bIns="45720" anchor="t" anchorCtr="0"/>
          <a:p>
            <a:pPr marL="609600" indent="-609600" algn="just" eaLnBrk="1" hangingPunct="1">
              <a:lnSpc>
                <a:spcPct val="150000"/>
              </a:lnSpc>
              <a:buNone/>
            </a:pPr>
            <a:r>
              <a:rPr lang="zh-CN" altLang="en-US" sz="1800" b="1" dirty="0">
                <a:ea typeface="黑体" panose="02010609060101010101" pitchFamily="49" charset="-122"/>
              </a:rPr>
              <a:t>讨论：</a:t>
            </a:r>
            <a:endParaRPr lang="zh-CN" altLang="en-US" sz="1800" dirty="0">
              <a:ea typeface="宋体" panose="02010600030101010101" pitchFamily="2" charset="-122"/>
            </a:endParaRPr>
          </a:p>
          <a:p>
            <a:pPr marL="609600" indent="-609600" algn="just" eaLnBrk="1" hangingPunct="1">
              <a:lnSpc>
                <a:spcPct val="150000"/>
              </a:lnSpc>
              <a:buNone/>
            </a:pPr>
            <a:r>
              <a:rPr lang="zh-CN" altLang="en-US" sz="1800" b="1" dirty="0">
                <a:ea typeface="宋体" panose="02010600030101010101" pitchFamily="2" charset="-122"/>
              </a:rPr>
              <a:t>        ①令牌直接传送；</a:t>
            </a:r>
            <a:endParaRPr lang="zh-CN" altLang="en-US" sz="1800" b="1" dirty="0">
              <a:ea typeface="宋体" panose="02010600030101010101" pitchFamily="2" charset="-122"/>
            </a:endParaRPr>
          </a:p>
          <a:p>
            <a:pPr marL="609600" indent="-609600" algn="just" eaLnBrk="1" hangingPunct="1">
              <a:lnSpc>
                <a:spcPct val="150000"/>
              </a:lnSpc>
              <a:buNone/>
            </a:pPr>
            <a:r>
              <a:rPr lang="zh-CN" altLang="en-US" sz="1800" b="1" dirty="0">
                <a:ea typeface="宋体" panose="02010600030101010101" pitchFamily="2" charset="-122"/>
              </a:rPr>
              <a:t>        ②令牌不用时，不需要循环传送；只在申请时才向申请者发送；</a:t>
            </a:r>
            <a:endParaRPr lang="zh-CN" altLang="en-US" sz="1800" b="1" dirty="0">
              <a:ea typeface="宋体" panose="02010600030101010101" pitchFamily="2" charset="-122"/>
            </a:endParaRPr>
          </a:p>
          <a:p>
            <a:pPr marL="609600" indent="-609600" algn="just" eaLnBrk="1" hangingPunct="1">
              <a:lnSpc>
                <a:spcPct val="150000"/>
              </a:lnSpc>
              <a:buNone/>
            </a:pPr>
            <a:r>
              <a:rPr lang="zh-CN" altLang="en-US" sz="1800" b="1" dirty="0">
                <a:ea typeface="宋体" panose="02010600030101010101" pitchFamily="2" charset="-122"/>
              </a:rPr>
              <a:t>        ③需要解决令牌丢失问题；</a:t>
            </a:r>
            <a:endParaRPr lang="zh-CN" altLang="en-US" sz="1800" b="1" dirty="0">
              <a:ea typeface="宋体" panose="02010600030101010101" pitchFamily="2" charset="-122"/>
            </a:endParaRPr>
          </a:p>
          <a:p>
            <a:pPr marL="609600" indent="-609600" algn="just" eaLnBrk="1" hangingPunct="1">
              <a:lnSpc>
                <a:spcPct val="150000"/>
              </a:lnSpc>
              <a:buNone/>
            </a:pPr>
            <a:r>
              <a:rPr lang="zh-CN" altLang="en-US" sz="1800" b="1" dirty="0">
                <a:ea typeface="宋体" panose="02010600030101010101" pitchFamily="2" charset="-122"/>
              </a:rPr>
              <a:t>        ④需要进行队列的维护和令牌向量的协调工作。</a:t>
            </a:r>
            <a:endParaRPr lang="zh-CN" altLang="en-US" sz="1800" b="1" dirty="0">
              <a:ea typeface="宋体" panose="02010600030101010101" pitchFamily="2" charset="-122"/>
            </a:endParaRPr>
          </a:p>
        </p:txBody>
      </p:sp>
      <p:sp>
        <p:nvSpPr>
          <p:cNvPr id="4" name="Rectangle 6"/>
          <p:cNvSpPr txBox="1">
            <a:spLocks noChangeArrowheads="1"/>
          </p:cNvSpPr>
          <p:nvPr/>
        </p:nvSpPr>
        <p:spPr bwMode="auto">
          <a:xfrm>
            <a:off x="215900" y="3259138"/>
            <a:ext cx="2901950" cy="539750"/>
          </a:xfrm>
          <a:prstGeom prst="rect">
            <a:avLst/>
          </a:prstGeom>
          <a:noFill/>
          <a:ln>
            <a:noFill/>
          </a:ln>
        </p:spPr>
        <p:txBody>
          <a:bodyPr anchor="ctr"/>
          <a:lstStyle>
            <a:lvl1pPr algn="ctr" rtl="0" eaLnBrk="0" fontAlgn="base" hangingPunct="0">
              <a:spcBef>
                <a:spcPct val="0"/>
              </a:spcBef>
              <a:spcAft>
                <a:spcPct val="0"/>
              </a:spcAft>
              <a:defRPr sz="4400">
                <a:solidFill>
                  <a:srgbClr val="FF0000"/>
                </a:solidFill>
                <a:latin typeface="+mj-lt"/>
                <a:ea typeface="+mj-ea"/>
                <a:cs typeface="+mj-cs"/>
              </a:defRPr>
            </a:lvl1pPr>
            <a:lvl2pPr algn="ctr" rtl="0" eaLnBrk="0" fontAlgn="base" hangingPunct="0">
              <a:spcBef>
                <a:spcPct val="0"/>
              </a:spcBef>
              <a:spcAft>
                <a:spcPct val="0"/>
              </a:spcAft>
              <a:defRPr sz="4400">
                <a:solidFill>
                  <a:srgbClr val="FF0000"/>
                </a:solidFill>
                <a:latin typeface="Times New Roman" panose="02020603050405020304" pitchFamily="18" charset="0"/>
              </a:defRPr>
            </a:lvl2pPr>
            <a:lvl3pPr algn="ctr" rtl="0" eaLnBrk="0" fontAlgn="base" hangingPunct="0">
              <a:spcBef>
                <a:spcPct val="0"/>
              </a:spcBef>
              <a:spcAft>
                <a:spcPct val="0"/>
              </a:spcAft>
              <a:defRPr sz="4400">
                <a:solidFill>
                  <a:srgbClr val="FF0000"/>
                </a:solidFill>
                <a:latin typeface="Times New Roman" panose="02020603050405020304" pitchFamily="18" charset="0"/>
              </a:defRPr>
            </a:lvl3pPr>
            <a:lvl4pPr algn="ctr" rtl="0" eaLnBrk="0" fontAlgn="base" hangingPunct="0">
              <a:spcBef>
                <a:spcPct val="0"/>
              </a:spcBef>
              <a:spcAft>
                <a:spcPct val="0"/>
              </a:spcAft>
              <a:defRPr sz="4400">
                <a:solidFill>
                  <a:srgbClr val="FF0000"/>
                </a:solidFill>
                <a:latin typeface="Times New Roman" panose="02020603050405020304" pitchFamily="18" charset="0"/>
              </a:defRPr>
            </a:lvl4pPr>
            <a:lvl5pPr algn="ctr" rtl="0" eaLnBrk="0" fontAlgn="base" hangingPunct="0">
              <a:spcBef>
                <a:spcPct val="0"/>
              </a:spcBef>
              <a:spcAft>
                <a:spcPct val="0"/>
              </a:spcAft>
              <a:defRPr sz="4400">
                <a:solidFill>
                  <a:srgbClr val="FF0000"/>
                </a:solidFill>
                <a:latin typeface="Times New Roman" panose="02020603050405020304" pitchFamily="18" charset="0"/>
              </a:defRPr>
            </a:lvl5pPr>
            <a:lvl6pPr marL="457200" algn="ctr" rtl="0" fontAlgn="base">
              <a:spcBef>
                <a:spcPct val="0"/>
              </a:spcBef>
              <a:spcAft>
                <a:spcPct val="0"/>
              </a:spcAft>
              <a:defRPr sz="4400">
                <a:solidFill>
                  <a:srgbClr val="FF0000"/>
                </a:solidFill>
                <a:latin typeface="Times New Roman" panose="02020603050405020304" pitchFamily="18" charset="0"/>
              </a:defRPr>
            </a:lvl6pPr>
            <a:lvl7pPr marL="914400" algn="ctr" rtl="0" fontAlgn="base">
              <a:spcBef>
                <a:spcPct val="0"/>
              </a:spcBef>
              <a:spcAft>
                <a:spcPct val="0"/>
              </a:spcAft>
              <a:defRPr sz="4400">
                <a:solidFill>
                  <a:srgbClr val="FF0000"/>
                </a:solidFill>
                <a:latin typeface="Times New Roman" panose="02020603050405020304" pitchFamily="18" charset="0"/>
              </a:defRPr>
            </a:lvl7pPr>
            <a:lvl8pPr marL="1371600" algn="ctr" rtl="0" fontAlgn="base">
              <a:spcBef>
                <a:spcPct val="0"/>
              </a:spcBef>
              <a:spcAft>
                <a:spcPct val="0"/>
              </a:spcAft>
              <a:defRPr sz="4400">
                <a:solidFill>
                  <a:srgbClr val="FF0000"/>
                </a:solidFill>
                <a:latin typeface="Times New Roman" panose="02020603050405020304" pitchFamily="18" charset="0"/>
              </a:defRPr>
            </a:lvl8pPr>
            <a:lvl9pPr marL="1828800" algn="ctr" rtl="0" fontAlgn="base">
              <a:spcBef>
                <a:spcPct val="0"/>
              </a:spcBef>
              <a:spcAft>
                <a:spcPct val="0"/>
              </a:spcAft>
              <a:defRPr sz="4400">
                <a:solidFill>
                  <a:srgbClr val="FF0000"/>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000" b="0" i="0" u="none" strike="noStrike" kern="0" cap="none" spc="0" normalizeH="0" baseline="0" noProof="0" dirty="0">
                <a:ln>
                  <a:noFill/>
                </a:ln>
                <a:solidFill>
                  <a:srgbClr val="FF0000"/>
                </a:solidFill>
                <a:effectLst/>
                <a:uLnTx/>
                <a:uFillTx/>
                <a:latin typeface="+mj-lt"/>
                <a:ea typeface="宋体" panose="02010600030101010101" pitchFamily="2" charset="-122"/>
                <a:cs typeface="+mj-cs"/>
              </a:rPr>
              <a:t>Comparison</a:t>
            </a:r>
            <a:endParaRPr kumimoji="0" lang="en-US" altLang="zh-CN" sz="4000" b="0" i="0" u="none" strike="noStrike" kern="0" cap="none" spc="0" normalizeH="0" baseline="0" noProof="0" dirty="0">
              <a:ln>
                <a:noFill/>
              </a:ln>
              <a:solidFill>
                <a:srgbClr val="FF0000"/>
              </a:solidFill>
              <a:effectLst/>
              <a:uLnTx/>
              <a:uFillTx/>
              <a:latin typeface="+mj-lt"/>
              <a:ea typeface="宋体" panose="02010600030101010101" pitchFamily="2" charset="-122"/>
              <a:cs typeface="+mj-cs"/>
            </a:endParaRPr>
          </a:p>
        </p:txBody>
      </p:sp>
      <p:sp>
        <p:nvSpPr>
          <p:cNvPr id="5" name="Rectangle 7"/>
          <p:cNvSpPr txBox="1">
            <a:spLocks noChangeArrowheads="1"/>
          </p:cNvSpPr>
          <p:nvPr/>
        </p:nvSpPr>
        <p:spPr bwMode="auto">
          <a:xfrm>
            <a:off x="215900" y="6232525"/>
            <a:ext cx="5867400" cy="336550"/>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ctr" defTabSz="914400" rtl="0" eaLnBrk="1" fontAlgn="base" latinLnBrk="0" hangingPunct="1">
              <a:lnSpc>
                <a:spcPct val="100000"/>
              </a:lnSpc>
              <a:spcBef>
                <a:spcPct val="20000"/>
              </a:spcBef>
              <a:spcAft>
                <a:spcPct val="0"/>
              </a:spcAft>
              <a:buClr>
                <a:schemeClr val="accent2"/>
              </a:buClr>
              <a:buSzTx/>
              <a:buFontTx/>
              <a:buNone/>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 comparison of three mutual exclusion algorithms.</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graphicFrame>
        <p:nvGraphicFramePr>
          <p:cNvPr id="6" name="Group 8"/>
          <p:cNvGraphicFramePr>
            <a:graphicFrameLocks noGrp="1"/>
          </p:cNvGraphicFramePr>
          <p:nvPr/>
        </p:nvGraphicFramePr>
        <p:xfrm>
          <a:off x="444500" y="4059238"/>
          <a:ext cx="8391525" cy="2025650"/>
        </p:xfrm>
        <a:graphic>
          <a:graphicData uri="http://schemas.openxmlformats.org/drawingml/2006/table">
            <a:tbl>
              <a:tblPr/>
              <a:tblGrid>
                <a:gridCol w="1677314"/>
                <a:gridCol w="1681697"/>
                <a:gridCol w="2347724"/>
                <a:gridCol w="2684790"/>
              </a:tblGrid>
              <a:tr h="579305">
                <a:tc>
                  <a:txBody>
                    <a:bodyPr/>
                    <a:lstStyle>
                      <a:lvl1pPr eaLnBrk="0" hangingPunct="0">
                        <a:spcBef>
                          <a:spcPct val="20000"/>
                        </a:spcBef>
                        <a:buClr>
                          <a:schemeClr val="accent2"/>
                        </a:buClr>
                        <a:defRPr sz="2800">
                          <a:solidFill>
                            <a:schemeClr val="tx1"/>
                          </a:solidFill>
                          <a:latin typeface="Times New Roman" panose="02020603050405020304" pitchFamily="18" charset="0"/>
                        </a:defRPr>
                      </a:lvl1pPr>
                      <a:lvl2pPr marL="742950" indent="-285750" algn="l" eaLnBrk="0" hangingPunct="0">
                        <a:spcBef>
                          <a:spcPct val="20000"/>
                        </a:spcBef>
                        <a:buClr>
                          <a:schemeClr val="accent2"/>
                        </a:buClr>
                        <a:defRPr sz="2400">
                          <a:solidFill>
                            <a:schemeClr val="tx1"/>
                          </a:solidFill>
                          <a:latin typeface="Times New Roman" panose="02020603050405020304" pitchFamily="18" charset="0"/>
                        </a:defRPr>
                      </a:lvl2pPr>
                      <a:lvl3pPr marL="1143000" indent="-228600" algn="l" eaLnBrk="0" hangingPunct="0">
                        <a:spcBef>
                          <a:spcPct val="20000"/>
                        </a:spcBef>
                        <a:buClr>
                          <a:schemeClr val="accent2"/>
                        </a:buClr>
                        <a:defRPr sz="2000">
                          <a:solidFill>
                            <a:schemeClr val="tx1"/>
                          </a:solidFill>
                          <a:latin typeface="Times New Roman" panose="02020603050405020304" pitchFamily="18" charset="0"/>
                        </a:defRPr>
                      </a:lvl3pPr>
                      <a:lvl4pPr marL="1600200" indent="-228600" algn="l" eaLnBrk="0" hangingPunct="0">
                        <a:spcBef>
                          <a:spcPct val="20000"/>
                        </a:spcBef>
                        <a:buClr>
                          <a:schemeClr val="accent2"/>
                        </a:buClr>
                        <a:defRPr>
                          <a:solidFill>
                            <a:schemeClr val="tx1"/>
                          </a:solidFill>
                          <a:latin typeface="Times New Roman" panose="02020603050405020304" pitchFamily="18" charset="0"/>
                        </a:defRPr>
                      </a:lvl4pPr>
                      <a:lvl5pPr marL="2057400" indent="-228600" algn="l" eaLnBrk="0" hangingPunct="0">
                        <a:spcBef>
                          <a:spcPct val="20000"/>
                        </a:spcBef>
                        <a:buClr>
                          <a:schemeClr val="accent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Algorithm</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2" marR="91432" marT="45735" marB="4573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defRPr sz="2800">
                          <a:solidFill>
                            <a:schemeClr val="tx1"/>
                          </a:solidFill>
                          <a:latin typeface="Times New Roman" panose="02020603050405020304" pitchFamily="18" charset="0"/>
                        </a:defRPr>
                      </a:lvl1pPr>
                      <a:lvl2pPr marL="742950" indent="-285750" algn="l" eaLnBrk="0" hangingPunct="0">
                        <a:spcBef>
                          <a:spcPct val="20000"/>
                        </a:spcBef>
                        <a:buClr>
                          <a:schemeClr val="accent2"/>
                        </a:buClr>
                        <a:defRPr sz="2400">
                          <a:solidFill>
                            <a:schemeClr val="tx1"/>
                          </a:solidFill>
                          <a:latin typeface="Times New Roman" panose="02020603050405020304" pitchFamily="18" charset="0"/>
                        </a:defRPr>
                      </a:lvl2pPr>
                      <a:lvl3pPr marL="1143000" indent="-228600" algn="l" eaLnBrk="0" hangingPunct="0">
                        <a:spcBef>
                          <a:spcPct val="20000"/>
                        </a:spcBef>
                        <a:buClr>
                          <a:schemeClr val="accent2"/>
                        </a:buClr>
                        <a:defRPr sz="2000">
                          <a:solidFill>
                            <a:schemeClr val="tx1"/>
                          </a:solidFill>
                          <a:latin typeface="Times New Roman" panose="02020603050405020304" pitchFamily="18" charset="0"/>
                        </a:defRPr>
                      </a:lvl3pPr>
                      <a:lvl4pPr marL="1600200" indent="-228600" algn="l" eaLnBrk="0" hangingPunct="0">
                        <a:spcBef>
                          <a:spcPct val="20000"/>
                        </a:spcBef>
                        <a:buClr>
                          <a:schemeClr val="accent2"/>
                        </a:buClr>
                        <a:defRPr>
                          <a:solidFill>
                            <a:schemeClr val="tx1"/>
                          </a:solidFill>
                          <a:latin typeface="Times New Roman" panose="02020603050405020304" pitchFamily="18" charset="0"/>
                        </a:defRPr>
                      </a:lvl4pPr>
                      <a:lvl5pPr marL="2057400" indent="-228600" algn="l" eaLnBrk="0" hangingPunct="0">
                        <a:spcBef>
                          <a:spcPct val="20000"/>
                        </a:spcBef>
                        <a:buClr>
                          <a:schemeClr val="accent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Messages per entry/exit</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2" marR="91432" marT="45735" marB="4573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defRPr sz="2800">
                          <a:solidFill>
                            <a:schemeClr val="tx1"/>
                          </a:solidFill>
                          <a:latin typeface="Times New Roman" panose="02020603050405020304" pitchFamily="18" charset="0"/>
                        </a:defRPr>
                      </a:lvl1pPr>
                      <a:lvl2pPr marL="742950" indent="-285750" algn="l" eaLnBrk="0" hangingPunct="0">
                        <a:spcBef>
                          <a:spcPct val="20000"/>
                        </a:spcBef>
                        <a:buClr>
                          <a:schemeClr val="accent2"/>
                        </a:buClr>
                        <a:defRPr sz="2400">
                          <a:solidFill>
                            <a:schemeClr val="tx1"/>
                          </a:solidFill>
                          <a:latin typeface="Times New Roman" panose="02020603050405020304" pitchFamily="18" charset="0"/>
                        </a:defRPr>
                      </a:lvl2pPr>
                      <a:lvl3pPr marL="1143000" indent="-228600" algn="l" eaLnBrk="0" hangingPunct="0">
                        <a:spcBef>
                          <a:spcPct val="20000"/>
                        </a:spcBef>
                        <a:buClr>
                          <a:schemeClr val="accent2"/>
                        </a:buClr>
                        <a:defRPr sz="2000">
                          <a:solidFill>
                            <a:schemeClr val="tx1"/>
                          </a:solidFill>
                          <a:latin typeface="Times New Roman" panose="02020603050405020304" pitchFamily="18" charset="0"/>
                        </a:defRPr>
                      </a:lvl3pPr>
                      <a:lvl4pPr marL="1600200" indent="-228600" algn="l" eaLnBrk="0" hangingPunct="0">
                        <a:spcBef>
                          <a:spcPct val="20000"/>
                        </a:spcBef>
                        <a:buClr>
                          <a:schemeClr val="accent2"/>
                        </a:buClr>
                        <a:defRPr>
                          <a:solidFill>
                            <a:schemeClr val="tx1"/>
                          </a:solidFill>
                          <a:latin typeface="Times New Roman" panose="02020603050405020304" pitchFamily="18" charset="0"/>
                        </a:defRPr>
                      </a:lvl4pPr>
                      <a:lvl5pPr marL="2057400" indent="-228600" algn="l" eaLnBrk="0" hangingPunct="0">
                        <a:spcBef>
                          <a:spcPct val="20000"/>
                        </a:spcBef>
                        <a:buClr>
                          <a:schemeClr val="accent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Delay before entry (in message times)</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2" marR="91432" marT="45735" marB="4573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defRPr sz="2800">
                          <a:solidFill>
                            <a:schemeClr val="tx1"/>
                          </a:solidFill>
                          <a:latin typeface="Times New Roman" panose="02020603050405020304" pitchFamily="18" charset="0"/>
                        </a:defRPr>
                      </a:lvl1pPr>
                      <a:lvl2pPr marL="742950" indent="-285750" algn="l" eaLnBrk="0" hangingPunct="0">
                        <a:spcBef>
                          <a:spcPct val="20000"/>
                        </a:spcBef>
                        <a:buClr>
                          <a:schemeClr val="accent2"/>
                        </a:buClr>
                        <a:defRPr sz="2400">
                          <a:solidFill>
                            <a:schemeClr val="tx1"/>
                          </a:solidFill>
                          <a:latin typeface="Times New Roman" panose="02020603050405020304" pitchFamily="18" charset="0"/>
                        </a:defRPr>
                      </a:lvl2pPr>
                      <a:lvl3pPr marL="1143000" indent="-228600" algn="l" eaLnBrk="0" hangingPunct="0">
                        <a:spcBef>
                          <a:spcPct val="20000"/>
                        </a:spcBef>
                        <a:buClr>
                          <a:schemeClr val="accent2"/>
                        </a:buClr>
                        <a:defRPr sz="2000">
                          <a:solidFill>
                            <a:schemeClr val="tx1"/>
                          </a:solidFill>
                          <a:latin typeface="Times New Roman" panose="02020603050405020304" pitchFamily="18" charset="0"/>
                        </a:defRPr>
                      </a:lvl3pPr>
                      <a:lvl4pPr marL="1600200" indent="-228600" algn="l" eaLnBrk="0" hangingPunct="0">
                        <a:spcBef>
                          <a:spcPct val="20000"/>
                        </a:spcBef>
                        <a:buClr>
                          <a:schemeClr val="accent2"/>
                        </a:buClr>
                        <a:defRPr>
                          <a:solidFill>
                            <a:schemeClr val="tx1"/>
                          </a:solidFill>
                          <a:latin typeface="Times New Roman" panose="02020603050405020304" pitchFamily="18" charset="0"/>
                        </a:defRPr>
                      </a:lvl4pPr>
                      <a:lvl5pPr marL="2057400" indent="-228600" algn="l" eaLnBrk="0" hangingPunct="0">
                        <a:spcBef>
                          <a:spcPct val="20000"/>
                        </a:spcBef>
                        <a:buClr>
                          <a:schemeClr val="accent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Problems</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2" marR="91432" marT="45735" marB="4573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6964">
                <a:tc>
                  <a:txBody>
                    <a:bodyPr/>
                    <a:lstStyle>
                      <a:lvl1pPr eaLnBrk="0" hangingPunct="0">
                        <a:spcBef>
                          <a:spcPct val="20000"/>
                        </a:spcBef>
                        <a:buClr>
                          <a:schemeClr val="accent2"/>
                        </a:buClr>
                        <a:defRPr sz="2800">
                          <a:solidFill>
                            <a:schemeClr val="tx1"/>
                          </a:solidFill>
                          <a:latin typeface="Times New Roman" panose="02020603050405020304" pitchFamily="18" charset="0"/>
                        </a:defRPr>
                      </a:lvl1pPr>
                      <a:lvl2pPr marL="742950" indent="-285750" algn="l" eaLnBrk="0" hangingPunct="0">
                        <a:spcBef>
                          <a:spcPct val="20000"/>
                        </a:spcBef>
                        <a:buClr>
                          <a:schemeClr val="accent2"/>
                        </a:buClr>
                        <a:defRPr sz="2400">
                          <a:solidFill>
                            <a:schemeClr val="tx1"/>
                          </a:solidFill>
                          <a:latin typeface="Times New Roman" panose="02020603050405020304" pitchFamily="18" charset="0"/>
                        </a:defRPr>
                      </a:lvl2pPr>
                      <a:lvl3pPr marL="1143000" indent="-228600" algn="l" eaLnBrk="0" hangingPunct="0">
                        <a:spcBef>
                          <a:spcPct val="20000"/>
                        </a:spcBef>
                        <a:buClr>
                          <a:schemeClr val="accent2"/>
                        </a:buClr>
                        <a:defRPr sz="2000">
                          <a:solidFill>
                            <a:schemeClr val="tx1"/>
                          </a:solidFill>
                          <a:latin typeface="Times New Roman" panose="02020603050405020304" pitchFamily="18" charset="0"/>
                        </a:defRPr>
                      </a:lvl3pPr>
                      <a:lvl4pPr marL="1600200" indent="-228600" algn="l" eaLnBrk="0" hangingPunct="0">
                        <a:spcBef>
                          <a:spcPct val="20000"/>
                        </a:spcBef>
                        <a:buClr>
                          <a:schemeClr val="accent2"/>
                        </a:buClr>
                        <a:defRPr>
                          <a:solidFill>
                            <a:schemeClr val="tx1"/>
                          </a:solidFill>
                          <a:latin typeface="Times New Roman" panose="02020603050405020304" pitchFamily="18" charset="0"/>
                        </a:defRPr>
                      </a:lvl4pPr>
                      <a:lvl5pPr marL="2057400" indent="-228600" algn="l" eaLnBrk="0" hangingPunct="0">
                        <a:spcBef>
                          <a:spcPct val="20000"/>
                        </a:spcBef>
                        <a:buClr>
                          <a:schemeClr val="accent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Centralized</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2" marR="91432" marT="45735" marB="4573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defRPr sz="2800">
                          <a:solidFill>
                            <a:schemeClr val="tx1"/>
                          </a:solidFill>
                          <a:latin typeface="Times New Roman" panose="02020603050405020304" pitchFamily="18" charset="0"/>
                        </a:defRPr>
                      </a:lvl1pPr>
                      <a:lvl2pPr marL="742950" indent="-285750" algn="l" eaLnBrk="0" hangingPunct="0">
                        <a:spcBef>
                          <a:spcPct val="20000"/>
                        </a:spcBef>
                        <a:buClr>
                          <a:schemeClr val="accent2"/>
                        </a:buClr>
                        <a:defRPr sz="2400">
                          <a:solidFill>
                            <a:schemeClr val="tx1"/>
                          </a:solidFill>
                          <a:latin typeface="Times New Roman" panose="02020603050405020304" pitchFamily="18" charset="0"/>
                        </a:defRPr>
                      </a:lvl2pPr>
                      <a:lvl3pPr marL="1143000" indent="-228600" algn="l" eaLnBrk="0" hangingPunct="0">
                        <a:spcBef>
                          <a:spcPct val="20000"/>
                        </a:spcBef>
                        <a:buClr>
                          <a:schemeClr val="accent2"/>
                        </a:buClr>
                        <a:defRPr sz="2000">
                          <a:solidFill>
                            <a:schemeClr val="tx1"/>
                          </a:solidFill>
                          <a:latin typeface="Times New Roman" panose="02020603050405020304" pitchFamily="18" charset="0"/>
                        </a:defRPr>
                      </a:lvl3pPr>
                      <a:lvl4pPr marL="1600200" indent="-228600" algn="l" eaLnBrk="0" hangingPunct="0">
                        <a:spcBef>
                          <a:spcPct val="20000"/>
                        </a:spcBef>
                        <a:buClr>
                          <a:schemeClr val="accent2"/>
                        </a:buClr>
                        <a:defRPr>
                          <a:solidFill>
                            <a:schemeClr val="tx1"/>
                          </a:solidFill>
                          <a:latin typeface="Times New Roman" panose="02020603050405020304" pitchFamily="18" charset="0"/>
                        </a:defRPr>
                      </a:lvl4pPr>
                      <a:lvl5pPr marL="2057400" indent="-228600" algn="l" eaLnBrk="0" hangingPunct="0">
                        <a:spcBef>
                          <a:spcPct val="20000"/>
                        </a:spcBef>
                        <a:buClr>
                          <a:schemeClr val="accent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3</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2" marR="91432" marT="45735" marB="4573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defRPr sz="2800">
                          <a:solidFill>
                            <a:schemeClr val="tx1"/>
                          </a:solidFill>
                          <a:latin typeface="Times New Roman" panose="02020603050405020304" pitchFamily="18" charset="0"/>
                        </a:defRPr>
                      </a:lvl1pPr>
                      <a:lvl2pPr marL="742950" indent="-285750" algn="l" eaLnBrk="0" hangingPunct="0">
                        <a:spcBef>
                          <a:spcPct val="20000"/>
                        </a:spcBef>
                        <a:buClr>
                          <a:schemeClr val="accent2"/>
                        </a:buClr>
                        <a:defRPr sz="2400">
                          <a:solidFill>
                            <a:schemeClr val="tx1"/>
                          </a:solidFill>
                          <a:latin typeface="Times New Roman" panose="02020603050405020304" pitchFamily="18" charset="0"/>
                        </a:defRPr>
                      </a:lvl2pPr>
                      <a:lvl3pPr marL="1143000" indent="-228600" algn="l" eaLnBrk="0" hangingPunct="0">
                        <a:spcBef>
                          <a:spcPct val="20000"/>
                        </a:spcBef>
                        <a:buClr>
                          <a:schemeClr val="accent2"/>
                        </a:buClr>
                        <a:defRPr sz="2000">
                          <a:solidFill>
                            <a:schemeClr val="tx1"/>
                          </a:solidFill>
                          <a:latin typeface="Times New Roman" panose="02020603050405020304" pitchFamily="18" charset="0"/>
                        </a:defRPr>
                      </a:lvl3pPr>
                      <a:lvl4pPr marL="1600200" indent="-228600" algn="l" eaLnBrk="0" hangingPunct="0">
                        <a:spcBef>
                          <a:spcPct val="20000"/>
                        </a:spcBef>
                        <a:buClr>
                          <a:schemeClr val="accent2"/>
                        </a:buClr>
                        <a:defRPr>
                          <a:solidFill>
                            <a:schemeClr val="tx1"/>
                          </a:solidFill>
                          <a:latin typeface="Times New Roman" panose="02020603050405020304" pitchFamily="18" charset="0"/>
                        </a:defRPr>
                      </a:lvl4pPr>
                      <a:lvl5pPr marL="2057400" indent="-228600" algn="l" eaLnBrk="0" hangingPunct="0">
                        <a:spcBef>
                          <a:spcPct val="20000"/>
                        </a:spcBef>
                        <a:buClr>
                          <a:schemeClr val="accent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2" marR="91432" marT="45735" marB="4573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defRPr sz="2800">
                          <a:solidFill>
                            <a:schemeClr val="tx1"/>
                          </a:solidFill>
                          <a:latin typeface="Times New Roman" panose="02020603050405020304" pitchFamily="18" charset="0"/>
                        </a:defRPr>
                      </a:lvl1pPr>
                      <a:lvl2pPr marL="742950" indent="-285750" algn="l" eaLnBrk="0" hangingPunct="0">
                        <a:spcBef>
                          <a:spcPct val="20000"/>
                        </a:spcBef>
                        <a:buClr>
                          <a:schemeClr val="accent2"/>
                        </a:buClr>
                        <a:defRPr sz="2400">
                          <a:solidFill>
                            <a:schemeClr val="tx1"/>
                          </a:solidFill>
                          <a:latin typeface="Times New Roman" panose="02020603050405020304" pitchFamily="18" charset="0"/>
                        </a:defRPr>
                      </a:lvl2pPr>
                      <a:lvl3pPr marL="1143000" indent="-228600" algn="l" eaLnBrk="0" hangingPunct="0">
                        <a:spcBef>
                          <a:spcPct val="20000"/>
                        </a:spcBef>
                        <a:buClr>
                          <a:schemeClr val="accent2"/>
                        </a:buClr>
                        <a:defRPr sz="2000">
                          <a:solidFill>
                            <a:schemeClr val="tx1"/>
                          </a:solidFill>
                          <a:latin typeface="Times New Roman" panose="02020603050405020304" pitchFamily="18" charset="0"/>
                        </a:defRPr>
                      </a:lvl3pPr>
                      <a:lvl4pPr marL="1600200" indent="-228600" algn="l" eaLnBrk="0" hangingPunct="0">
                        <a:spcBef>
                          <a:spcPct val="20000"/>
                        </a:spcBef>
                        <a:buClr>
                          <a:schemeClr val="accent2"/>
                        </a:buClr>
                        <a:defRPr>
                          <a:solidFill>
                            <a:schemeClr val="tx1"/>
                          </a:solidFill>
                          <a:latin typeface="Times New Roman" panose="02020603050405020304" pitchFamily="18" charset="0"/>
                        </a:defRPr>
                      </a:lvl4pPr>
                      <a:lvl5pPr marL="2057400" indent="-228600" algn="l" eaLnBrk="0" hangingPunct="0">
                        <a:spcBef>
                          <a:spcPct val="20000"/>
                        </a:spcBef>
                        <a:buClr>
                          <a:schemeClr val="accent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Coordinator crash</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2" marR="91432" marT="45735" marB="4573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9690">
                <a:tc>
                  <a:txBody>
                    <a:bodyPr/>
                    <a:lstStyle>
                      <a:lvl1pPr eaLnBrk="0" hangingPunct="0">
                        <a:spcBef>
                          <a:spcPct val="20000"/>
                        </a:spcBef>
                        <a:buClr>
                          <a:schemeClr val="accent2"/>
                        </a:buClr>
                        <a:defRPr sz="2800">
                          <a:solidFill>
                            <a:schemeClr val="tx1"/>
                          </a:solidFill>
                          <a:latin typeface="Times New Roman" panose="02020603050405020304" pitchFamily="18" charset="0"/>
                        </a:defRPr>
                      </a:lvl1pPr>
                      <a:lvl2pPr marL="742950" indent="-285750" algn="l" eaLnBrk="0" hangingPunct="0">
                        <a:spcBef>
                          <a:spcPct val="20000"/>
                        </a:spcBef>
                        <a:buClr>
                          <a:schemeClr val="accent2"/>
                        </a:buClr>
                        <a:defRPr sz="2400">
                          <a:solidFill>
                            <a:schemeClr val="tx1"/>
                          </a:solidFill>
                          <a:latin typeface="Times New Roman" panose="02020603050405020304" pitchFamily="18" charset="0"/>
                        </a:defRPr>
                      </a:lvl2pPr>
                      <a:lvl3pPr marL="1143000" indent="-228600" algn="l" eaLnBrk="0" hangingPunct="0">
                        <a:spcBef>
                          <a:spcPct val="20000"/>
                        </a:spcBef>
                        <a:buClr>
                          <a:schemeClr val="accent2"/>
                        </a:buClr>
                        <a:defRPr sz="2000">
                          <a:solidFill>
                            <a:schemeClr val="tx1"/>
                          </a:solidFill>
                          <a:latin typeface="Times New Roman" panose="02020603050405020304" pitchFamily="18" charset="0"/>
                        </a:defRPr>
                      </a:lvl3pPr>
                      <a:lvl4pPr marL="1600200" indent="-228600" algn="l" eaLnBrk="0" hangingPunct="0">
                        <a:spcBef>
                          <a:spcPct val="20000"/>
                        </a:spcBef>
                        <a:buClr>
                          <a:schemeClr val="accent2"/>
                        </a:buClr>
                        <a:defRPr>
                          <a:solidFill>
                            <a:schemeClr val="tx1"/>
                          </a:solidFill>
                          <a:latin typeface="Times New Roman" panose="02020603050405020304" pitchFamily="18" charset="0"/>
                        </a:defRPr>
                      </a:lvl4pPr>
                      <a:lvl5pPr marL="2057400" indent="-228600" algn="l" eaLnBrk="0" hangingPunct="0">
                        <a:spcBef>
                          <a:spcPct val="20000"/>
                        </a:spcBef>
                        <a:buClr>
                          <a:schemeClr val="accent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Distributed</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2" marR="91432" marT="45735" marB="4573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defRPr sz="2800">
                          <a:solidFill>
                            <a:schemeClr val="tx1"/>
                          </a:solidFill>
                          <a:latin typeface="Times New Roman" panose="02020603050405020304" pitchFamily="18" charset="0"/>
                        </a:defRPr>
                      </a:lvl1pPr>
                      <a:lvl2pPr marL="742950" indent="-285750" algn="l" eaLnBrk="0" hangingPunct="0">
                        <a:spcBef>
                          <a:spcPct val="20000"/>
                        </a:spcBef>
                        <a:buClr>
                          <a:schemeClr val="accent2"/>
                        </a:buClr>
                        <a:defRPr sz="2400">
                          <a:solidFill>
                            <a:schemeClr val="tx1"/>
                          </a:solidFill>
                          <a:latin typeface="Times New Roman" panose="02020603050405020304" pitchFamily="18" charset="0"/>
                        </a:defRPr>
                      </a:lvl2pPr>
                      <a:lvl3pPr marL="1143000" indent="-228600" algn="l" eaLnBrk="0" hangingPunct="0">
                        <a:spcBef>
                          <a:spcPct val="20000"/>
                        </a:spcBef>
                        <a:buClr>
                          <a:schemeClr val="accent2"/>
                        </a:buClr>
                        <a:defRPr sz="2000">
                          <a:solidFill>
                            <a:schemeClr val="tx1"/>
                          </a:solidFill>
                          <a:latin typeface="Times New Roman" panose="02020603050405020304" pitchFamily="18" charset="0"/>
                        </a:defRPr>
                      </a:lvl3pPr>
                      <a:lvl4pPr marL="1600200" indent="-228600" algn="l" eaLnBrk="0" hangingPunct="0">
                        <a:spcBef>
                          <a:spcPct val="20000"/>
                        </a:spcBef>
                        <a:buClr>
                          <a:schemeClr val="accent2"/>
                        </a:buClr>
                        <a:defRPr>
                          <a:solidFill>
                            <a:schemeClr val="tx1"/>
                          </a:solidFill>
                          <a:latin typeface="Times New Roman" panose="02020603050405020304" pitchFamily="18" charset="0"/>
                        </a:defRPr>
                      </a:lvl4pPr>
                      <a:lvl5pPr marL="2057400" indent="-228600" algn="l" eaLnBrk="0" hangingPunct="0">
                        <a:spcBef>
                          <a:spcPct val="20000"/>
                        </a:spcBef>
                        <a:buClr>
                          <a:schemeClr val="accent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2 ( </a:t>
                      </a: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n – 1 )</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2" marR="91432" marT="45735" marB="4573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defRPr sz="2800">
                          <a:solidFill>
                            <a:schemeClr val="tx1"/>
                          </a:solidFill>
                          <a:latin typeface="Times New Roman" panose="02020603050405020304" pitchFamily="18" charset="0"/>
                        </a:defRPr>
                      </a:lvl1pPr>
                      <a:lvl2pPr marL="742950" indent="-285750" algn="l" eaLnBrk="0" hangingPunct="0">
                        <a:spcBef>
                          <a:spcPct val="20000"/>
                        </a:spcBef>
                        <a:buClr>
                          <a:schemeClr val="accent2"/>
                        </a:buClr>
                        <a:defRPr sz="2400">
                          <a:solidFill>
                            <a:schemeClr val="tx1"/>
                          </a:solidFill>
                          <a:latin typeface="Times New Roman" panose="02020603050405020304" pitchFamily="18" charset="0"/>
                        </a:defRPr>
                      </a:lvl2pPr>
                      <a:lvl3pPr marL="1143000" indent="-228600" algn="l" eaLnBrk="0" hangingPunct="0">
                        <a:spcBef>
                          <a:spcPct val="20000"/>
                        </a:spcBef>
                        <a:buClr>
                          <a:schemeClr val="accent2"/>
                        </a:buClr>
                        <a:defRPr sz="2000">
                          <a:solidFill>
                            <a:schemeClr val="tx1"/>
                          </a:solidFill>
                          <a:latin typeface="Times New Roman" panose="02020603050405020304" pitchFamily="18" charset="0"/>
                        </a:defRPr>
                      </a:lvl3pPr>
                      <a:lvl4pPr marL="1600200" indent="-228600" algn="l" eaLnBrk="0" hangingPunct="0">
                        <a:spcBef>
                          <a:spcPct val="20000"/>
                        </a:spcBef>
                        <a:buClr>
                          <a:schemeClr val="accent2"/>
                        </a:buClr>
                        <a:defRPr>
                          <a:solidFill>
                            <a:schemeClr val="tx1"/>
                          </a:solidFill>
                          <a:latin typeface="Times New Roman" panose="02020603050405020304" pitchFamily="18" charset="0"/>
                        </a:defRPr>
                      </a:lvl4pPr>
                      <a:lvl5pPr marL="2057400" indent="-228600" algn="l" eaLnBrk="0" hangingPunct="0">
                        <a:spcBef>
                          <a:spcPct val="20000"/>
                        </a:spcBef>
                        <a:buClr>
                          <a:schemeClr val="accent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2 ( </a:t>
                      </a: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n – 1 )</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2" marR="91432" marT="45735" marB="4573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defRPr sz="2800">
                          <a:solidFill>
                            <a:schemeClr val="tx1"/>
                          </a:solidFill>
                          <a:latin typeface="Times New Roman" panose="02020603050405020304" pitchFamily="18" charset="0"/>
                        </a:defRPr>
                      </a:lvl1pPr>
                      <a:lvl2pPr marL="742950" indent="-285750" algn="l" eaLnBrk="0" hangingPunct="0">
                        <a:spcBef>
                          <a:spcPct val="20000"/>
                        </a:spcBef>
                        <a:buClr>
                          <a:schemeClr val="accent2"/>
                        </a:buClr>
                        <a:defRPr sz="2400">
                          <a:solidFill>
                            <a:schemeClr val="tx1"/>
                          </a:solidFill>
                          <a:latin typeface="Times New Roman" panose="02020603050405020304" pitchFamily="18" charset="0"/>
                        </a:defRPr>
                      </a:lvl2pPr>
                      <a:lvl3pPr marL="1143000" indent="-228600" algn="l" eaLnBrk="0" hangingPunct="0">
                        <a:spcBef>
                          <a:spcPct val="20000"/>
                        </a:spcBef>
                        <a:buClr>
                          <a:schemeClr val="accent2"/>
                        </a:buClr>
                        <a:defRPr sz="2000">
                          <a:solidFill>
                            <a:schemeClr val="tx1"/>
                          </a:solidFill>
                          <a:latin typeface="Times New Roman" panose="02020603050405020304" pitchFamily="18" charset="0"/>
                        </a:defRPr>
                      </a:lvl3pPr>
                      <a:lvl4pPr marL="1600200" indent="-228600" algn="l" eaLnBrk="0" hangingPunct="0">
                        <a:spcBef>
                          <a:spcPct val="20000"/>
                        </a:spcBef>
                        <a:buClr>
                          <a:schemeClr val="accent2"/>
                        </a:buClr>
                        <a:defRPr>
                          <a:solidFill>
                            <a:schemeClr val="tx1"/>
                          </a:solidFill>
                          <a:latin typeface="Times New Roman" panose="02020603050405020304" pitchFamily="18" charset="0"/>
                        </a:defRPr>
                      </a:lvl4pPr>
                      <a:lvl5pPr marL="2057400" indent="-228600" algn="l" eaLnBrk="0" hangingPunct="0">
                        <a:spcBef>
                          <a:spcPct val="20000"/>
                        </a:spcBef>
                        <a:buClr>
                          <a:schemeClr val="accent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Crash of any process</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2" marR="91432" marT="45735" marB="4573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9690">
                <a:tc>
                  <a:txBody>
                    <a:bodyPr/>
                    <a:lstStyle>
                      <a:lvl1pPr eaLnBrk="0" hangingPunct="0">
                        <a:spcBef>
                          <a:spcPct val="20000"/>
                        </a:spcBef>
                        <a:buClr>
                          <a:schemeClr val="accent2"/>
                        </a:buClr>
                        <a:defRPr sz="2800">
                          <a:solidFill>
                            <a:schemeClr val="tx1"/>
                          </a:solidFill>
                          <a:latin typeface="Times New Roman" panose="02020603050405020304" pitchFamily="18" charset="0"/>
                        </a:defRPr>
                      </a:lvl1pPr>
                      <a:lvl2pPr marL="742950" indent="-285750" algn="l" eaLnBrk="0" hangingPunct="0">
                        <a:spcBef>
                          <a:spcPct val="20000"/>
                        </a:spcBef>
                        <a:buClr>
                          <a:schemeClr val="accent2"/>
                        </a:buClr>
                        <a:defRPr sz="2400">
                          <a:solidFill>
                            <a:schemeClr val="tx1"/>
                          </a:solidFill>
                          <a:latin typeface="Times New Roman" panose="02020603050405020304" pitchFamily="18" charset="0"/>
                        </a:defRPr>
                      </a:lvl2pPr>
                      <a:lvl3pPr marL="1143000" indent="-228600" algn="l" eaLnBrk="0" hangingPunct="0">
                        <a:spcBef>
                          <a:spcPct val="20000"/>
                        </a:spcBef>
                        <a:buClr>
                          <a:schemeClr val="accent2"/>
                        </a:buClr>
                        <a:defRPr sz="2000">
                          <a:solidFill>
                            <a:schemeClr val="tx1"/>
                          </a:solidFill>
                          <a:latin typeface="Times New Roman" panose="02020603050405020304" pitchFamily="18" charset="0"/>
                        </a:defRPr>
                      </a:lvl3pPr>
                      <a:lvl4pPr marL="1600200" indent="-228600" algn="l" eaLnBrk="0" hangingPunct="0">
                        <a:spcBef>
                          <a:spcPct val="20000"/>
                        </a:spcBef>
                        <a:buClr>
                          <a:schemeClr val="accent2"/>
                        </a:buClr>
                        <a:defRPr>
                          <a:solidFill>
                            <a:schemeClr val="tx1"/>
                          </a:solidFill>
                          <a:latin typeface="Times New Roman" panose="02020603050405020304" pitchFamily="18" charset="0"/>
                        </a:defRPr>
                      </a:lvl4pPr>
                      <a:lvl5pPr marL="2057400" indent="-228600" algn="l" eaLnBrk="0" hangingPunct="0">
                        <a:spcBef>
                          <a:spcPct val="20000"/>
                        </a:spcBef>
                        <a:buClr>
                          <a:schemeClr val="accent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Token ring</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2" marR="91432" marT="45735" marB="4573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defRPr sz="2800">
                          <a:solidFill>
                            <a:schemeClr val="tx1"/>
                          </a:solidFill>
                          <a:latin typeface="Times New Roman" panose="02020603050405020304" pitchFamily="18" charset="0"/>
                        </a:defRPr>
                      </a:lvl1pPr>
                      <a:lvl2pPr marL="742950" indent="-285750" algn="l" eaLnBrk="0" hangingPunct="0">
                        <a:spcBef>
                          <a:spcPct val="20000"/>
                        </a:spcBef>
                        <a:buClr>
                          <a:schemeClr val="accent2"/>
                        </a:buClr>
                        <a:defRPr sz="2400">
                          <a:solidFill>
                            <a:schemeClr val="tx1"/>
                          </a:solidFill>
                          <a:latin typeface="Times New Roman" panose="02020603050405020304" pitchFamily="18" charset="0"/>
                        </a:defRPr>
                      </a:lvl2pPr>
                      <a:lvl3pPr marL="1143000" indent="-228600" algn="l" eaLnBrk="0" hangingPunct="0">
                        <a:spcBef>
                          <a:spcPct val="20000"/>
                        </a:spcBef>
                        <a:buClr>
                          <a:schemeClr val="accent2"/>
                        </a:buClr>
                        <a:defRPr sz="2000">
                          <a:solidFill>
                            <a:schemeClr val="tx1"/>
                          </a:solidFill>
                          <a:latin typeface="Times New Roman" panose="02020603050405020304" pitchFamily="18" charset="0"/>
                        </a:defRPr>
                      </a:lvl3pPr>
                      <a:lvl4pPr marL="1600200" indent="-228600" algn="l" eaLnBrk="0" hangingPunct="0">
                        <a:spcBef>
                          <a:spcPct val="20000"/>
                        </a:spcBef>
                        <a:buClr>
                          <a:schemeClr val="accent2"/>
                        </a:buClr>
                        <a:defRPr>
                          <a:solidFill>
                            <a:schemeClr val="tx1"/>
                          </a:solidFill>
                          <a:latin typeface="Times New Roman" panose="02020603050405020304" pitchFamily="18" charset="0"/>
                        </a:defRPr>
                      </a:lvl4pPr>
                      <a:lvl5pPr marL="2057400" indent="-228600" algn="l" eaLnBrk="0" hangingPunct="0">
                        <a:spcBef>
                          <a:spcPct val="20000"/>
                        </a:spcBef>
                        <a:buClr>
                          <a:schemeClr val="accent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1 </a:t>
                      </a: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to </a:t>
                      </a: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rPr>
                        <a:t></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2" marR="91432" marT="45735" marB="4573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defRPr sz="2800">
                          <a:solidFill>
                            <a:schemeClr val="tx1"/>
                          </a:solidFill>
                          <a:latin typeface="Times New Roman" panose="02020603050405020304" pitchFamily="18" charset="0"/>
                        </a:defRPr>
                      </a:lvl1pPr>
                      <a:lvl2pPr marL="742950" indent="-285750" algn="l" eaLnBrk="0" hangingPunct="0">
                        <a:spcBef>
                          <a:spcPct val="20000"/>
                        </a:spcBef>
                        <a:buClr>
                          <a:schemeClr val="accent2"/>
                        </a:buClr>
                        <a:defRPr sz="2400">
                          <a:solidFill>
                            <a:schemeClr val="tx1"/>
                          </a:solidFill>
                          <a:latin typeface="Times New Roman" panose="02020603050405020304" pitchFamily="18" charset="0"/>
                        </a:defRPr>
                      </a:lvl2pPr>
                      <a:lvl3pPr marL="1143000" indent="-228600" algn="l" eaLnBrk="0" hangingPunct="0">
                        <a:spcBef>
                          <a:spcPct val="20000"/>
                        </a:spcBef>
                        <a:buClr>
                          <a:schemeClr val="accent2"/>
                        </a:buClr>
                        <a:defRPr sz="2000">
                          <a:solidFill>
                            <a:schemeClr val="tx1"/>
                          </a:solidFill>
                          <a:latin typeface="Times New Roman" panose="02020603050405020304" pitchFamily="18" charset="0"/>
                        </a:defRPr>
                      </a:lvl3pPr>
                      <a:lvl4pPr marL="1600200" indent="-228600" algn="l" eaLnBrk="0" hangingPunct="0">
                        <a:spcBef>
                          <a:spcPct val="20000"/>
                        </a:spcBef>
                        <a:buClr>
                          <a:schemeClr val="accent2"/>
                        </a:buClr>
                        <a:defRPr>
                          <a:solidFill>
                            <a:schemeClr val="tx1"/>
                          </a:solidFill>
                          <a:latin typeface="Times New Roman" panose="02020603050405020304" pitchFamily="18" charset="0"/>
                        </a:defRPr>
                      </a:lvl4pPr>
                      <a:lvl5pPr marL="2057400" indent="-228600" algn="l" eaLnBrk="0" hangingPunct="0">
                        <a:spcBef>
                          <a:spcPct val="20000"/>
                        </a:spcBef>
                        <a:buClr>
                          <a:schemeClr val="accent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0 </a:t>
                      </a: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to n – 1</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2" marR="91432" marT="45735" marB="4573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defRPr sz="2800">
                          <a:solidFill>
                            <a:schemeClr val="tx1"/>
                          </a:solidFill>
                          <a:latin typeface="Times New Roman" panose="02020603050405020304" pitchFamily="18" charset="0"/>
                        </a:defRPr>
                      </a:lvl1pPr>
                      <a:lvl2pPr marL="742950" indent="-285750" algn="l" eaLnBrk="0" hangingPunct="0">
                        <a:spcBef>
                          <a:spcPct val="20000"/>
                        </a:spcBef>
                        <a:buClr>
                          <a:schemeClr val="accent2"/>
                        </a:buClr>
                        <a:defRPr sz="2400">
                          <a:solidFill>
                            <a:schemeClr val="tx1"/>
                          </a:solidFill>
                          <a:latin typeface="Times New Roman" panose="02020603050405020304" pitchFamily="18" charset="0"/>
                        </a:defRPr>
                      </a:lvl2pPr>
                      <a:lvl3pPr marL="1143000" indent="-228600" algn="l" eaLnBrk="0" hangingPunct="0">
                        <a:spcBef>
                          <a:spcPct val="20000"/>
                        </a:spcBef>
                        <a:buClr>
                          <a:schemeClr val="accent2"/>
                        </a:buClr>
                        <a:defRPr sz="2000">
                          <a:solidFill>
                            <a:schemeClr val="tx1"/>
                          </a:solidFill>
                          <a:latin typeface="Times New Roman" panose="02020603050405020304" pitchFamily="18" charset="0"/>
                        </a:defRPr>
                      </a:lvl3pPr>
                      <a:lvl4pPr marL="1600200" indent="-228600" algn="l" eaLnBrk="0" hangingPunct="0">
                        <a:spcBef>
                          <a:spcPct val="20000"/>
                        </a:spcBef>
                        <a:buClr>
                          <a:schemeClr val="accent2"/>
                        </a:buClr>
                        <a:defRPr>
                          <a:solidFill>
                            <a:schemeClr val="tx1"/>
                          </a:solidFill>
                          <a:latin typeface="Times New Roman" panose="02020603050405020304" pitchFamily="18" charset="0"/>
                        </a:defRPr>
                      </a:lvl4pPr>
                      <a:lvl5pPr marL="2057400" indent="-228600" algn="l" eaLnBrk="0" hangingPunct="0">
                        <a:spcBef>
                          <a:spcPct val="20000"/>
                        </a:spcBef>
                        <a:buClr>
                          <a:schemeClr val="accent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Lost token, process crash</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2" marR="91432" marT="45735" marB="4573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2"/>
          <p:cNvSpPr>
            <a:spLocks noGrp="1"/>
          </p:cNvSpPr>
          <p:nvPr>
            <p:ph type="title"/>
          </p:nvPr>
        </p:nvSpPr>
        <p:spPr>
          <a:xfrm>
            <a:off x="2413000" y="158750"/>
            <a:ext cx="4083050" cy="676275"/>
          </a:xfrm>
          <a:ln/>
        </p:spPr>
        <p:txBody>
          <a:bodyPr vert="horz" wrap="square" lIns="91440" tIns="45720" rIns="91440" bIns="45720" anchor="ctr" anchorCtr="0"/>
          <a:p>
            <a:pPr eaLnBrk="1" hangingPunct="1"/>
            <a:r>
              <a:rPr lang="zh-CN" altLang="en-US" sz="4000" b="1" dirty="0">
                <a:ea typeface="宋体" panose="02010600030101010101" pitchFamily="2" charset="-122"/>
              </a:rPr>
              <a:t>选举算法</a:t>
            </a:r>
            <a:endParaRPr lang="en-US" altLang="zh-CN" sz="4000" b="1" dirty="0">
              <a:ea typeface="宋体" panose="02010600030101010101" pitchFamily="2" charset="-122"/>
            </a:endParaRPr>
          </a:p>
        </p:txBody>
      </p:sp>
      <p:sp>
        <p:nvSpPr>
          <p:cNvPr id="51203" name="Rectangle 4"/>
          <p:cNvSpPr>
            <a:spLocks noGrp="1"/>
          </p:cNvSpPr>
          <p:nvPr>
            <p:ph idx="1"/>
          </p:nvPr>
        </p:nvSpPr>
        <p:spPr>
          <a:xfrm>
            <a:off x="277813" y="895350"/>
            <a:ext cx="8659812" cy="2487613"/>
          </a:xfrm>
          <a:ln/>
        </p:spPr>
        <p:txBody>
          <a:bodyPr vert="horz" wrap="square" lIns="91440" tIns="45720" rIns="91440" bIns="45720" anchor="t" anchorCtr="0"/>
          <a:p>
            <a:pPr algn="l" eaLnBrk="1" hangingPunct="1">
              <a:lnSpc>
                <a:spcPct val="200000"/>
              </a:lnSpc>
              <a:buFont typeface="Wingdings" panose="05000000000000000000" pitchFamily="2" charset="2"/>
              <a:buChar char="u"/>
            </a:pPr>
            <a:r>
              <a:rPr lang="zh-CN" altLang="en-US" sz="1800" b="1" dirty="0">
                <a:latin typeface="宋体" panose="02010600030101010101" pitchFamily="2" charset="-122"/>
                <a:ea typeface="宋体" panose="02010600030101010101" pitchFamily="2" charset="-122"/>
              </a:rPr>
              <a:t>许多分布式算法需要一个进程充当协调者、发起者、排序者等。如果协调者发生故障，则必须选择另一个副本代替其运行</a:t>
            </a:r>
            <a:r>
              <a:rPr lang="en-US" altLang="zh-CN" sz="1800" b="1" dirty="0">
                <a:latin typeface="宋体" panose="02010600030101010101" pitchFamily="2" charset="-122"/>
                <a:ea typeface="宋体" panose="02010600030101010101" pitchFamily="2" charset="-122"/>
              </a:rPr>
              <a:t>(</a:t>
            </a:r>
            <a:r>
              <a:rPr lang="zh-CN" altLang="en-US" sz="1800" b="1" dirty="0">
                <a:latin typeface="宋体" panose="02010600030101010101" pitchFamily="2" charset="-122"/>
                <a:ea typeface="宋体" panose="02010600030101010101" pitchFamily="2" charset="-122"/>
              </a:rPr>
              <a:t>选择算法</a:t>
            </a:r>
            <a:r>
              <a:rPr lang="en-US" altLang="zh-CN" sz="1800" b="1" dirty="0">
                <a:latin typeface="宋体" panose="02010600030101010101" pitchFamily="2" charset="-122"/>
                <a:ea typeface="宋体" panose="02010600030101010101" pitchFamily="2" charset="-122"/>
              </a:rPr>
              <a:t>)</a:t>
            </a:r>
            <a:r>
              <a:rPr lang="zh-CN" altLang="en-US" sz="1800" b="1" dirty="0">
                <a:latin typeface="宋体" panose="02010600030101010101" pitchFamily="2" charset="-122"/>
                <a:ea typeface="宋体" panose="02010600030101010101" pitchFamily="2" charset="-122"/>
              </a:rPr>
              <a:t>。</a:t>
            </a:r>
            <a:endParaRPr lang="en-US" altLang="zh-CN" sz="1800" b="1" dirty="0">
              <a:latin typeface="宋体" panose="02010600030101010101" pitchFamily="2" charset="-122"/>
              <a:ea typeface="宋体" panose="02010600030101010101" pitchFamily="2" charset="-122"/>
            </a:endParaRPr>
          </a:p>
          <a:p>
            <a:pPr algn="l">
              <a:lnSpc>
                <a:spcPct val="200000"/>
              </a:lnSpc>
              <a:buFont typeface="Wingdings" panose="05000000000000000000" pitchFamily="2" charset="2"/>
              <a:buChar char="u"/>
            </a:pPr>
            <a:r>
              <a:rPr lang="zh-CN" altLang="en-US" sz="1800" b="1" dirty="0">
                <a:latin typeface="宋体" panose="02010600030101010101" pitchFamily="2" charset="-122"/>
                <a:ea typeface="宋体" panose="02010600030101010101" pitchFamily="2" charset="-122"/>
              </a:rPr>
              <a:t>选举算法的目的是在选举开始后，确保在所有进程都同意的基础上选出协调者</a:t>
            </a:r>
            <a:r>
              <a:rPr lang="en-US" altLang="zh-CN" sz="1800" b="1" dirty="0">
                <a:latin typeface="宋体" panose="02010600030101010101" pitchFamily="2" charset="-122"/>
                <a:ea typeface="宋体" panose="02010600030101010101" pitchFamily="2" charset="-122"/>
              </a:rPr>
              <a:t>;</a:t>
            </a:r>
            <a:endParaRPr lang="zh-CN" altLang="en-US" sz="1800" b="1" dirty="0">
              <a:latin typeface="宋体" panose="02010600030101010101" pitchFamily="2" charset="-122"/>
              <a:ea typeface="宋体" panose="02010600030101010101" pitchFamily="2" charset="-122"/>
            </a:endParaRPr>
          </a:p>
          <a:p>
            <a:pPr algn="l">
              <a:lnSpc>
                <a:spcPct val="200000"/>
              </a:lnSpc>
              <a:buClr>
                <a:schemeClr val="tx2"/>
              </a:buClr>
              <a:buFont typeface="Wingdings" panose="05000000000000000000" pitchFamily="2" charset="2"/>
              <a:buChar char="u"/>
            </a:pPr>
            <a:r>
              <a:rPr lang="zh-CN" altLang="en-US" sz="1800" b="1" dirty="0">
                <a:latin typeface="宋体" panose="02010600030101010101" pitchFamily="2" charset="-122"/>
                <a:ea typeface="宋体" panose="02010600030101010101" pitchFamily="2" charset="-122"/>
              </a:rPr>
              <a:t>选举算法总是找编号（优先级等）最大的进程作为协调者；</a:t>
            </a:r>
            <a:endParaRPr lang="en-US" altLang="zh-CN" sz="1800" b="1" dirty="0">
              <a:latin typeface="宋体" panose="02010600030101010101" pitchFamily="2" charset="-122"/>
              <a:ea typeface="宋体" panose="02010600030101010101" pitchFamily="2" charset="-122"/>
            </a:endParaRPr>
          </a:p>
        </p:txBody>
      </p:sp>
      <p:sp>
        <p:nvSpPr>
          <p:cNvPr id="4" name="Rectangle 3"/>
          <p:cNvSpPr txBox="1">
            <a:spLocks noChangeArrowheads="1"/>
          </p:cNvSpPr>
          <p:nvPr/>
        </p:nvSpPr>
        <p:spPr bwMode="auto">
          <a:xfrm>
            <a:off x="277813" y="3641725"/>
            <a:ext cx="6954838" cy="2625725"/>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0" marR="0" lvl="0" indent="0" algn="just" defTabSz="914400" rtl="0" eaLnBrk="1" fontAlgn="base" latinLnBrk="0" hangingPunct="1">
              <a:lnSpc>
                <a:spcPct val="150000"/>
              </a:lnSpc>
              <a:spcBef>
                <a:spcPct val="20000"/>
              </a:spcBef>
              <a:spcAft>
                <a:spcPct val="0"/>
              </a:spcAft>
              <a:buClr>
                <a:schemeClr val="accent2"/>
              </a:buClr>
              <a:buSzTx/>
              <a:buFontTx/>
              <a:buNone/>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假定： ①</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Times New Roman" panose="02020603050405020304" pitchFamily="18" charset="0"/>
              </a:rPr>
              <a:t> </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进程与结点机一一对应；</a:t>
            </a:r>
            <a:endPar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1" fontAlgn="base" latinLnBrk="0" hangingPunct="1">
              <a:lnSpc>
                <a:spcPct val="150000"/>
              </a:lnSpc>
              <a:spcBef>
                <a:spcPct val="20000"/>
              </a:spcBef>
              <a:spcAft>
                <a:spcPct val="0"/>
              </a:spcAft>
              <a:buClr>
                <a:schemeClr val="accent2"/>
              </a:buClr>
              <a:buSzTx/>
              <a:buFontTx/>
              <a:buNone/>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② 进程</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p</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具有唯一优先级，并用</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p</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表示；</a:t>
            </a:r>
            <a:endPar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1" fontAlgn="base" latinLnBrk="0" hangingPunct="1">
              <a:lnSpc>
                <a:spcPct val="150000"/>
              </a:lnSpc>
              <a:spcBef>
                <a:spcPct val="20000"/>
              </a:spcBef>
              <a:spcAft>
                <a:spcPct val="0"/>
              </a:spcAft>
              <a:buClr>
                <a:schemeClr val="accent2"/>
              </a:buClr>
              <a:buSzTx/>
              <a:buFontTx/>
              <a:buNone/>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③ 系统中具有最高优先级者为协调进程；</a:t>
            </a:r>
            <a:endPar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1" fontAlgn="base" latinLnBrk="0" hangingPunct="1">
              <a:lnSpc>
                <a:spcPct val="150000"/>
              </a:lnSpc>
              <a:spcBef>
                <a:spcPct val="20000"/>
              </a:spcBef>
              <a:spcAft>
                <a:spcPct val="0"/>
              </a:spcAft>
              <a:buClr>
                <a:schemeClr val="accent2"/>
              </a:buClr>
              <a:buSzTx/>
              <a:buFontTx/>
              <a:buNone/>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④ 每个进程知道系统中当前的各个进程及其优先级。</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1" fontAlgn="base" latinLnBrk="0" hangingPunct="1">
              <a:lnSpc>
                <a:spcPct val="150000"/>
              </a:lnSpc>
              <a:spcBef>
                <a:spcPct val="20000"/>
              </a:spcBef>
              <a:spcAft>
                <a:spcPct val="0"/>
              </a:spcAft>
              <a:buClr>
                <a:schemeClr val="accent2"/>
              </a:buClr>
              <a:buSzTx/>
              <a:buFontTx/>
              <a:buNone/>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两种常用算法：</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Bully</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（欺负）算法和环算法。</a:t>
            </a:r>
            <a:endPar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2"/>
          <p:cNvSpPr>
            <a:spLocks noGrp="1"/>
          </p:cNvSpPr>
          <p:nvPr>
            <p:ph type="title"/>
          </p:nvPr>
        </p:nvSpPr>
        <p:spPr>
          <a:xfrm>
            <a:off x="0" y="0"/>
            <a:ext cx="9144000" cy="660400"/>
          </a:xfrm>
          <a:ln/>
        </p:spPr>
        <p:txBody>
          <a:bodyPr vert="horz" wrap="square" lIns="91440" tIns="45720" rIns="91440" bIns="45720" anchor="ctr" anchorCtr="0"/>
          <a:p>
            <a:pPr eaLnBrk="1" hangingPunct="1"/>
            <a:r>
              <a:rPr lang="en-US" altLang="zh-CN" sz="4000" b="1" dirty="0">
                <a:latin typeface="仿宋_GB2312" pitchFamily="49" charset="-122"/>
                <a:ea typeface="仿宋_GB2312" pitchFamily="49" charset="-122"/>
              </a:rPr>
              <a:t>Bully</a:t>
            </a:r>
            <a:r>
              <a:rPr lang="zh-CN" altLang="en-US" sz="4000" b="1" dirty="0">
                <a:latin typeface="仿宋_GB2312" pitchFamily="49" charset="-122"/>
                <a:ea typeface="仿宋_GB2312" pitchFamily="49" charset="-122"/>
              </a:rPr>
              <a:t>算法</a:t>
            </a:r>
            <a:endParaRPr lang="en-US" altLang="zh-CN" sz="4000" b="1" dirty="0">
              <a:latin typeface="仿宋_GB2312" pitchFamily="49" charset="-122"/>
              <a:ea typeface="仿宋_GB2312" pitchFamily="49" charset="-122"/>
            </a:endParaRPr>
          </a:p>
        </p:txBody>
      </p:sp>
      <p:sp>
        <p:nvSpPr>
          <p:cNvPr id="62467" name="Rectangle 3"/>
          <p:cNvSpPr>
            <a:spLocks noGrp="1" noChangeArrowheads="1"/>
          </p:cNvSpPr>
          <p:nvPr>
            <p:ph idx="1"/>
          </p:nvPr>
        </p:nvSpPr>
        <p:spPr>
          <a:xfrm>
            <a:off x="223838" y="758825"/>
            <a:ext cx="8601075" cy="5686425"/>
          </a:xfrm>
        </p:spPr>
        <p:txBody>
          <a:bodyPr vert="horz" wrap="square" lIns="91440" tIns="45720" rIns="91440" bIns="45720" numCol="1" anchor="t" anchorCtr="0" compatLnSpc="1"/>
          <a:lstStyle/>
          <a:p>
            <a:pPr marL="0" marR="0" lvl="0" indent="0" algn="just" defTabSz="914400" rtl="0" eaLnBrk="1" fontAlgn="base" latinLnBrk="0" hangingPunct="1">
              <a:lnSpc>
                <a:spcPct val="150000"/>
              </a:lnSpc>
              <a:spcBef>
                <a:spcPct val="20000"/>
              </a:spcBef>
              <a:spcAft>
                <a:spcPct val="0"/>
              </a:spcAft>
              <a:buClr>
                <a:schemeClr val="accent2"/>
              </a:buClr>
              <a:buSzTx/>
              <a:buFontTx/>
              <a:buNone/>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1</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当进程</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p</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进入临界区时，向协调者发请求消息，如果在</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时间内得到回复，则进入临界区工作；否则，开始竞争协调者；</a:t>
            </a:r>
            <a:endPar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1" fontAlgn="base" latinLnBrk="0" hangingPunct="1">
              <a:lnSpc>
                <a:spcPct val="150000"/>
              </a:lnSpc>
              <a:spcBef>
                <a:spcPct val="20000"/>
              </a:spcBef>
              <a:spcAft>
                <a:spcPct val="0"/>
              </a:spcAft>
              <a:buClr>
                <a:schemeClr val="accent2"/>
              </a:buClr>
              <a:buSzTx/>
              <a:buFontTx/>
              <a:buNone/>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2</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.p</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向所有比它优先级高的进程发送消息：“要当协调者”。</a:t>
            </a:r>
            <a:endPar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857250" marR="0" lvl="1" indent="-457200" algn="just" defTabSz="914400" rtl="0" eaLnBrk="1" fontAlgn="base" latinLnBrk="0" hangingPunct="1">
              <a:lnSpc>
                <a:spcPct val="150000"/>
              </a:lnSpc>
              <a:spcBef>
                <a:spcPct val="20000"/>
              </a:spcBef>
              <a:spcAft>
                <a:spcPct val="0"/>
              </a:spcAft>
              <a:buClr>
                <a:schemeClr val="accent2"/>
              </a:buClr>
              <a:buSzTx/>
              <a:buFont typeface="+mj-ea"/>
              <a:buAutoNum type="circleNumDbPlain"/>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时间</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内没接到回复，</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p</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则启动一个协调者副本，并发出“</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p</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为当前的协调者”消息给其它进程；</a:t>
            </a:r>
            <a:endPar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857250" marR="0" lvl="1" indent="-457200" algn="just" defTabSz="914400" rtl="0" eaLnBrk="1" fontAlgn="base" latinLnBrk="0" hangingPunct="1">
              <a:lnSpc>
                <a:spcPct val="150000"/>
              </a:lnSpc>
              <a:spcBef>
                <a:spcPct val="20000"/>
              </a:spcBef>
              <a:spcAft>
                <a:spcPct val="0"/>
              </a:spcAft>
              <a:buClr>
                <a:schemeClr val="accent2"/>
              </a:buClr>
              <a:buSzTx/>
              <a:buFont typeface="+mj-ea"/>
              <a:buAutoNum type="circleNumDbPlain"/>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时间</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内收到回复（反对者），则再等一个时间</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T′。</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206500" marR="0" lvl="1" indent="-533400" algn="just"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Ø"/>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内没有收到消息，则认为刚才的回复者故障，</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p</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重新开始该算法；</a:t>
            </a:r>
            <a:endPar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206500" marR="0" lvl="1" indent="-533400" algn="just"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Ø"/>
              <a:defRPr/>
            </a:pP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收到消息“</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q</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是新的协调者”，则</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p</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记下</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q，</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并向</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q</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申请进入临界区；</a:t>
            </a:r>
            <a:endPar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0" marR="0" lvl="0" indent="0" algn="just" defTabSz="914400" rtl="0" eaLnBrk="1" fontAlgn="base" latinLnBrk="0" hangingPunct="1">
              <a:lnSpc>
                <a:spcPct val="150000"/>
              </a:lnSpc>
              <a:spcBef>
                <a:spcPct val="20000"/>
              </a:spcBef>
              <a:spcAft>
                <a:spcPct val="0"/>
              </a:spcAft>
              <a:buClr>
                <a:schemeClr val="accent2"/>
              </a:buClr>
              <a:buSzTx/>
              <a:buFontTx/>
              <a:buNone/>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3</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如果</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p</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接到一个比它优先级低的进程竞争协调者的消息，则给对方一个适当的回复；自己开始执行竞争者算法。</a:t>
            </a:r>
            <a:endPar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1" fontAlgn="base" latinLnBrk="0" hangingPunct="1">
              <a:lnSpc>
                <a:spcPct val="150000"/>
              </a:lnSpc>
              <a:spcBef>
                <a:spcPct val="20000"/>
              </a:spcBef>
              <a:spcAft>
                <a:spcPct val="0"/>
              </a:spcAft>
              <a:buClr>
                <a:schemeClr val="accent2"/>
              </a:buClr>
              <a:buSzTx/>
              <a:buFontTx/>
              <a:buNone/>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4</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当一个高优先级的进程因故障排除恢复运行时，它重新执行竞争者算法，以剥夺较低优先级进程的协调者资格，自己重新行使此权利。</a:t>
            </a:r>
            <a:endPar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6"/>
          <p:cNvSpPr>
            <a:spLocks noGrp="1"/>
          </p:cNvSpPr>
          <p:nvPr>
            <p:ph type="title"/>
          </p:nvPr>
        </p:nvSpPr>
        <p:spPr>
          <a:xfrm>
            <a:off x="0" y="0"/>
            <a:ext cx="9144000" cy="647700"/>
          </a:xfrm>
          <a:ln/>
        </p:spPr>
        <p:txBody>
          <a:bodyPr vert="horz" wrap="square" lIns="91440" tIns="45720" rIns="91440" bIns="45720" anchor="ctr" anchorCtr="0"/>
          <a:p>
            <a:pPr eaLnBrk="1" hangingPunct="1"/>
            <a:r>
              <a:rPr lang="en-US" altLang="zh-CN" dirty="0">
                <a:ea typeface="宋体" panose="02010600030101010101" pitchFamily="2" charset="-122"/>
              </a:rPr>
              <a:t>The Bully Algorithm (1)</a:t>
            </a:r>
            <a:endParaRPr lang="en-US" altLang="zh-CN" dirty="0">
              <a:ea typeface="宋体" panose="02010600030101010101" pitchFamily="2" charset="-122"/>
            </a:endParaRPr>
          </a:p>
        </p:txBody>
      </p:sp>
      <p:sp>
        <p:nvSpPr>
          <p:cNvPr id="50179" name="Rectangle 7"/>
          <p:cNvSpPr>
            <a:spLocks noGrp="1" noChangeArrowheads="1"/>
          </p:cNvSpPr>
          <p:nvPr>
            <p:ph idx="1"/>
          </p:nvPr>
        </p:nvSpPr>
        <p:spPr>
          <a:xfrm>
            <a:off x="0" y="3382963"/>
            <a:ext cx="4491038" cy="3024188"/>
          </a:xfrm>
        </p:spPr>
        <p:txBody>
          <a:bodyPr vert="horz" wrap="square" lIns="91440" tIns="45720" rIns="91440" bIns="45720" numCol="1" anchor="t" anchorCtr="0" compatLnSpc="1"/>
          <a:lstStyle/>
          <a:p>
            <a:pPr marL="609600" marR="0" lvl="0" indent="-609600" algn="l" defTabSz="914400" rtl="0" eaLnBrk="1" fontAlgn="base" latinLnBrk="0" hangingPunct="1">
              <a:lnSpc>
                <a:spcPct val="150000"/>
              </a:lnSpc>
              <a:spcBef>
                <a:spcPct val="20000"/>
              </a:spcBef>
              <a:spcAft>
                <a:spcPct val="0"/>
              </a:spcAft>
              <a:buClr>
                <a:schemeClr val="accent2"/>
              </a:buClr>
              <a:buSzTx/>
              <a:buFontTx/>
              <a:buNone/>
              <a:defRPr/>
            </a:pP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The bully election algorithm</a:t>
            </a: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1" fontAlgn="base" latinLnBrk="0" hangingPunct="1">
              <a:lnSpc>
                <a:spcPct val="150000"/>
              </a:lnSpc>
              <a:spcBef>
                <a:spcPct val="20000"/>
              </a:spcBef>
              <a:spcAft>
                <a:spcPct val="0"/>
              </a:spcAft>
              <a:buClr>
                <a:schemeClr val="accent2"/>
              </a:buClr>
              <a:buSzTx/>
              <a:buFont typeface="+mj-lt"/>
              <a:buAutoNum type="alphaLcPeriod"/>
              <a:defRPr/>
            </a:pP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Process 4 holds an election</a:t>
            </a:r>
            <a:endPar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1" fontAlgn="base" latinLnBrk="0" hangingPunct="1">
              <a:lnSpc>
                <a:spcPct val="150000"/>
              </a:lnSpc>
              <a:spcBef>
                <a:spcPct val="20000"/>
              </a:spcBef>
              <a:spcAft>
                <a:spcPct val="0"/>
              </a:spcAft>
              <a:buClr>
                <a:schemeClr val="accent2"/>
              </a:buClr>
              <a:buSzTx/>
              <a:buFont typeface="+mj-lt"/>
              <a:buAutoNum type="alphaLcPeriod"/>
              <a:defRPr/>
            </a:pP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Process 5 and 6 respond, telling 4 to stop</a:t>
            </a:r>
            <a:endPar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1" fontAlgn="base" latinLnBrk="0" hangingPunct="1">
              <a:lnSpc>
                <a:spcPct val="150000"/>
              </a:lnSpc>
              <a:spcBef>
                <a:spcPct val="20000"/>
              </a:spcBef>
              <a:spcAft>
                <a:spcPct val="0"/>
              </a:spcAft>
              <a:buClr>
                <a:schemeClr val="accent2"/>
              </a:buClr>
              <a:buSzTx/>
              <a:buFont typeface="+mj-lt"/>
              <a:buAutoNum type="alphaLcPeriod"/>
              <a:defRPr/>
            </a:pP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Now 5 and 6 each hold an election</a:t>
            </a:r>
            <a:endPar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1" fontAlgn="base" latinLnBrk="0" hangingPunct="1">
              <a:lnSpc>
                <a:spcPct val="150000"/>
              </a:lnSpc>
              <a:spcBef>
                <a:spcPct val="20000"/>
              </a:spcBef>
              <a:spcAft>
                <a:spcPct val="0"/>
              </a:spcAft>
              <a:buClr>
                <a:schemeClr val="accent2"/>
              </a:buClr>
              <a:buSzTx/>
              <a:buFont typeface="+mj-lt"/>
              <a:buAutoNum type="alphaLcPeriod"/>
              <a:defRPr/>
            </a:pP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Process 6 tells 5 to stop</a:t>
            </a:r>
            <a:endPar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1" fontAlgn="base" latinLnBrk="0" hangingPunct="1">
              <a:lnSpc>
                <a:spcPct val="150000"/>
              </a:lnSpc>
              <a:spcBef>
                <a:spcPct val="20000"/>
              </a:spcBef>
              <a:spcAft>
                <a:spcPct val="0"/>
              </a:spcAft>
              <a:buClr>
                <a:schemeClr val="accent2"/>
              </a:buClr>
              <a:buSzTx/>
              <a:buFont typeface="+mj-lt"/>
              <a:buAutoNum type="alphaLcPeriod"/>
              <a:defRPr/>
            </a:pP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Process 6 wins and tells everyone</a:t>
            </a:r>
            <a:endPar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1" fontAlgn="base" latinLnBrk="0" hangingPunct="1">
              <a:lnSpc>
                <a:spcPct val="150000"/>
              </a:lnSpc>
              <a:spcBef>
                <a:spcPct val="20000"/>
              </a:spcBef>
              <a:spcAft>
                <a:spcPct val="0"/>
              </a:spcAft>
              <a:buClr>
                <a:schemeClr val="accent2"/>
              </a:buClr>
              <a:buSzTx/>
              <a:buFont typeface="+mj-lt"/>
              <a:buAutoNum type="alphaLcPeriod"/>
              <a:defRPr/>
            </a:pPr>
            <a:endPar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55300" name="Picture 8"/>
          <p:cNvPicPr>
            <a:picLocks noChangeAspect="1"/>
          </p:cNvPicPr>
          <p:nvPr/>
        </p:nvPicPr>
        <p:blipFill>
          <a:blip r:embed="rId1"/>
          <a:srcRect l="20523" t="35347" r="17531" b="47281"/>
          <a:stretch>
            <a:fillRect/>
          </a:stretch>
        </p:blipFill>
        <p:spPr>
          <a:xfrm>
            <a:off x="117475" y="793750"/>
            <a:ext cx="6823075" cy="2528888"/>
          </a:xfrm>
          <a:prstGeom prst="rect">
            <a:avLst/>
          </a:prstGeom>
          <a:noFill/>
          <a:ln w="9525">
            <a:noFill/>
          </a:ln>
        </p:spPr>
      </p:pic>
      <p:pic>
        <p:nvPicPr>
          <p:cNvPr id="55301" name="Picture 9"/>
          <p:cNvPicPr>
            <a:picLocks noChangeAspect="1"/>
          </p:cNvPicPr>
          <p:nvPr/>
        </p:nvPicPr>
        <p:blipFill>
          <a:blip r:embed="rId1"/>
          <a:srcRect l="29930" t="53323" r="28648" b="29758"/>
          <a:stretch>
            <a:fillRect/>
          </a:stretch>
        </p:blipFill>
        <p:spPr>
          <a:xfrm>
            <a:off x="4187825" y="3527425"/>
            <a:ext cx="4856163" cy="3017838"/>
          </a:xfrm>
          <a:prstGeom prst="rect">
            <a:avLst/>
          </a:prstGeom>
          <a:noFill/>
          <a:ln w="9525">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5"/>
          <p:cNvSpPr>
            <a:spLocks noGrp="1"/>
          </p:cNvSpPr>
          <p:nvPr>
            <p:ph idx="1"/>
          </p:nvPr>
        </p:nvSpPr>
        <p:spPr>
          <a:xfrm>
            <a:off x="0" y="515938"/>
            <a:ext cx="9077325" cy="2817812"/>
          </a:xfrm>
          <a:ln/>
        </p:spPr>
        <p:txBody>
          <a:bodyPr vert="horz" wrap="square" lIns="91440" tIns="45720" rIns="91440" bIns="45720" anchor="t" anchorCtr="0"/>
          <a:p>
            <a:pPr algn="l" eaLnBrk="1" hangingPunct="1">
              <a:lnSpc>
                <a:spcPct val="150000"/>
              </a:lnSpc>
              <a:buNone/>
            </a:pPr>
            <a:r>
              <a:rPr lang="zh-CN" altLang="en-US" sz="1800" b="1" dirty="0">
                <a:latin typeface="宋体" panose="02010600030101010101" pitchFamily="2" charset="-122"/>
                <a:ea typeface="宋体" panose="02010600030101010101" pitchFamily="2" charset="-122"/>
              </a:rPr>
              <a:t>基于环结构的选举思想</a:t>
            </a:r>
            <a:r>
              <a:rPr lang="en-US" altLang="zh-CN" sz="1800" b="1" dirty="0">
                <a:latin typeface="宋体" panose="02010600030101010101" pitchFamily="2" charset="-122"/>
                <a:ea typeface="宋体" panose="02010600030101010101" pitchFamily="2" charset="-122"/>
              </a:rPr>
              <a:t>:</a:t>
            </a:r>
            <a:endParaRPr lang="en-US" altLang="zh-CN" sz="1800" b="1" dirty="0">
              <a:latin typeface="宋体" panose="02010600030101010101" pitchFamily="2" charset="-122"/>
              <a:ea typeface="宋体" panose="02010600030101010101" pitchFamily="2" charset="-122"/>
            </a:endParaRPr>
          </a:p>
          <a:p>
            <a:pPr lvl="1" eaLnBrk="1" hangingPunct="1">
              <a:lnSpc>
                <a:spcPct val="150000"/>
              </a:lnSpc>
              <a:buFont typeface="Wingdings" panose="05000000000000000000" pitchFamily="2" charset="2"/>
              <a:buChar char="u"/>
            </a:pPr>
            <a:r>
              <a:rPr lang="zh-CN" altLang="en-US" sz="1800" b="1" dirty="0">
                <a:ea typeface="宋体" panose="02010600030101010101" pitchFamily="2" charset="-122"/>
              </a:rPr>
              <a:t>假设进程是按物理或逻辑排序，进程知道后继者；</a:t>
            </a:r>
            <a:endParaRPr lang="zh-CN" altLang="en-US" sz="1800" b="1" dirty="0">
              <a:ea typeface="宋体" panose="02010600030101010101" pitchFamily="2" charset="-122"/>
            </a:endParaRPr>
          </a:p>
          <a:p>
            <a:pPr lvl="1" eaLnBrk="1" hangingPunct="1">
              <a:lnSpc>
                <a:spcPct val="150000"/>
              </a:lnSpc>
              <a:buFont typeface="Wingdings" panose="05000000000000000000" pitchFamily="2" charset="2"/>
              <a:buChar char="u"/>
            </a:pPr>
            <a:r>
              <a:rPr lang="zh-CN" altLang="en-US" sz="1800" b="1" dirty="0">
                <a:ea typeface="宋体" panose="02010600030101010101" pitchFamily="2" charset="-122"/>
              </a:rPr>
              <a:t>当任一进程发现协调者不再起作用时，它构造一个包含它自身进程号的选举消息发送给后继者；</a:t>
            </a:r>
            <a:endParaRPr lang="zh-CN" altLang="en-US" sz="1800" b="1" dirty="0">
              <a:ea typeface="宋体" panose="02010600030101010101" pitchFamily="2" charset="-122"/>
            </a:endParaRPr>
          </a:p>
          <a:p>
            <a:pPr lvl="1" eaLnBrk="1" hangingPunct="1">
              <a:lnSpc>
                <a:spcPct val="150000"/>
              </a:lnSpc>
              <a:buFont typeface="Wingdings" panose="05000000000000000000" pitchFamily="2" charset="2"/>
              <a:buChar char="u"/>
            </a:pPr>
            <a:r>
              <a:rPr lang="zh-CN" altLang="en-US" sz="1800" b="1" dirty="0">
                <a:ea typeface="宋体" panose="02010600030101010101" pitchFamily="2" charset="-122"/>
              </a:rPr>
              <a:t>如果后继者失效，消息将绕过后继者到达下一个后继者，直到找到一个运行进程；</a:t>
            </a:r>
            <a:endParaRPr lang="zh-CN" altLang="en-US" sz="1800" b="1" dirty="0">
              <a:ea typeface="宋体" panose="02010600030101010101" pitchFamily="2" charset="-122"/>
            </a:endParaRPr>
          </a:p>
          <a:p>
            <a:pPr lvl="1" eaLnBrk="1" hangingPunct="1">
              <a:lnSpc>
                <a:spcPct val="150000"/>
              </a:lnSpc>
              <a:buFont typeface="Wingdings" panose="05000000000000000000" pitchFamily="2" charset="2"/>
              <a:buChar char="u"/>
            </a:pPr>
            <a:r>
              <a:rPr lang="zh-CN" altLang="en-US" sz="1800" b="1" dirty="0">
                <a:ea typeface="宋体" panose="02010600030101010101" pitchFamily="2" charset="-122"/>
              </a:rPr>
              <a:t>每次发送者都将自己的进程号加入到消息表中。</a:t>
            </a:r>
            <a:endParaRPr lang="zh-CN" altLang="en-US" sz="1800" b="1" dirty="0">
              <a:ea typeface="宋体" panose="02010600030101010101" pitchFamily="2" charset="-122"/>
            </a:endParaRPr>
          </a:p>
        </p:txBody>
      </p:sp>
      <p:sp>
        <p:nvSpPr>
          <p:cNvPr id="56323" name="Rectangle 7"/>
          <p:cNvSpPr>
            <a:spLocks noGrp="1"/>
          </p:cNvSpPr>
          <p:nvPr>
            <p:ph type="title"/>
          </p:nvPr>
        </p:nvSpPr>
        <p:spPr>
          <a:xfrm>
            <a:off x="317500" y="0"/>
            <a:ext cx="8229600" cy="515938"/>
          </a:xfrm>
          <a:ln/>
        </p:spPr>
        <p:txBody>
          <a:bodyPr vert="horz" wrap="square" lIns="91440" tIns="45720" rIns="91440" bIns="45720" anchor="ctr" anchorCtr="0"/>
          <a:p>
            <a:pPr eaLnBrk="1" hangingPunct="1"/>
            <a:r>
              <a:rPr lang="en-US" altLang="zh-CN" dirty="0">
                <a:ea typeface="宋体" panose="02010600030101010101" pitchFamily="2" charset="-122"/>
              </a:rPr>
              <a:t>A Ring Algorithm</a:t>
            </a:r>
            <a:endParaRPr lang="en-US" altLang="zh-CN" dirty="0">
              <a:ea typeface="宋体" panose="02010600030101010101" pitchFamily="2" charset="-122"/>
            </a:endParaRPr>
          </a:p>
        </p:txBody>
      </p:sp>
      <p:sp>
        <p:nvSpPr>
          <p:cNvPr id="4" name="Rectangle 7"/>
          <p:cNvSpPr txBox="1">
            <a:spLocks noChangeArrowheads="1"/>
          </p:cNvSpPr>
          <p:nvPr/>
        </p:nvSpPr>
        <p:spPr bwMode="auto">
          <a:xfrm>
            <a:off x="2535238" y="6305550"/>
            <a:ext cx="6608763" cy="349250"/>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ctr" defTabSz="914400" rtl="0" eaLnBrk="1" fontAlgn="base" latinLnBrk="0" hangingPunct="1">
              <a:lnSpc>
                <a:spcPct val="90000"/>
              </a:lnSpc>
              <a:spcBef>
                <a:spcPct val="20000"/>
              </a:spcBef>
              <a:spcAft>
                <a:spcPct val="0"/>
              </a:spcAft>
              <a:buClr>
                <a:schemeClr val="accent2"/>
              </a:buClr>
              <a:buSzTx/>
              <a:buFontTx/>
              <a:buNone/>
              <a:defRPr/>
            </a:pPr>
            <a:r>
              <a:rPr kumimoji="0" lang="zh-CN" altLang="en-US" sz="1600" b="0" i="0" u="none" strike="noStrike" kern="0" cap="none" spc="0" normalizeH="0" baseline="0" noProof="0">
                <a:ln>
                  <a:noFill/>
                </a:ln>
                <a:solidFill>
                  <a:schemeClr val="tx1"/>
                </a:solidFill>
                <a:effectLst/>
                <a:uLnTx/>
                <a:uFillTx/>
                <a:latin typeface="+mn-lt"/>
                <a:ea typeface="宋体" panose="02010600030101010101" pitchFamily="2" charset="-122"/>
                <a:cs typeface="+mn-cs"/>
              </a:rPr>
              <a:t>两条消息都将沿环运动，当消息中成员一样时，优先级最高者当选</a:t>
            </a:r>
            <a:r>
              <a:rPr kumimoji="0" lang="en-US" altLang="zh-CN" sz="1600" b="0" i="0" u="none" strike="noStrike" kern="0" cap="none" spc="0" normalizeH="0" baseline="0" noProof="0">
                <a:ln>
                  <a:noFill/>
                </a:ln>
                <a:solidFill>
                  <a:schemeClr val="tx1"/>
                </a:solidFill>
                <a:effectLst/>
                <a:uLnTx/>
                <a:uFillTx/>
                <a:latin typeface="+mn-lt"/>
                <a:ea typeface="宋体" panose="02010600030101010101" pitchFamily="2" charset="-122"/>
                <a:cs typeface="+mn-cs"/>
              </a:rPr>
              <a:t>;</a:t>
            </a:r>
            <a:endParaRPr kumimoji="0" lang="en-US" altLang="zh-CN" sz="1600" b="0" i="0" u="none" strike="noStrike" kern="0" cap="none" spc="0" normalizeH="0" baseline="0" noProof="0">
              <a:ln>
                <a:noFill/>
              </a:ln>
              <a:solidFill>
                <a:schemeClr val="tx1"/>
              </a:solidFill>
              <a:effectLst/>
              <a:uLnTx/>
              <a:uFillTx/>
              <a:latin typeface="+mn-lt"/>
              <a:ea typeface="宋体" panose="02010600030101010101" pitchFamily="2" charset="-122"/>
              <a:cs typeface="+mn-cs"/>
            </a:endParaRPr>
          </a:p>
          <a:p>
            <a:pPr marL="342900" marR="0" lvl="0" indent="-342900" algn="ctr" defTabSz="914400" rtl="0" eaLnBrk="1" fontAlgn="base" latinLnBrk="0" hangingPunct="1">
              <a:lnSpc>
                <a:spcPct val="90000"/>
              </a:lnSpc>
              <a:spcBef>
                <a:spcPct val="20000"/>
              </a:spcBef>
              <a:spcAft>
                <a:spcPct val="0"/>
              </a:spcAft>
              <a:buClr>
                <a:schemeClr val="accent2"/>
              </a:buClr>
              <a:buSzTx/>
              <a:buFontTx/>
              <a:buNone/>
              <a:defRPr/>
            </a:pPr>
            <a:endParaRPr kumimoji="0" lang="en-US" altLang="zh-CN" sz="1600" b="0" i="0" u="none" strike="noStrike" kern="0" cap="none" spc="0" normalizeH="0" baseline="0" noProof="0">
              <a:ln>
                <a:noFill/>
              </a:ln>
              <a:solidFill>
                <a:schemeClr val="tx1"/>
              </a:solidFill>
              <a:effectLst/>
              <a:uLnTx/>
              <a:uFillTx/>
              <a:latin typeface="+mn-lt"/>
              <a:ea typeface="宋体" panose="02010600030101010101" pitchFamily="2" charset="-122"/>
              <a:cs typeface="+mn-cs"/>
            </a:endParaRPr>
          </a:p>
        </p:txBody>
      </p:sp>
      <p:pic>
        <p:nvPicPr>
          <p:cNvPr id="56325" name="Picture 8"/>
          <p:cNvPicPr>
            <a:picLocks noChangeAspect="1"/>
          </p:cNvPicPr>
          <p:nvPr/>
        </p:nvPicPr>
        <p:blipFill>
          <a:blip r:embed="rId1"/>
          <a:srcRect l="27365" t="44109" r="24345" b="38066"/>
          <a:stretch>
            <a:fillRect/>
          </a:stretch>
        </p:blipFill>
        <p:spPr>
          <a:xfrm>
            <a:off x="3219450" y="3251200"/>
            <a:ext cx="5767388" cy="2905125"/>
          </a:xfrm>
          <a:prstGeom prst="rect">
            <a:avLst/>
          </a:prstGeom>
          <a:noFill/>
          <a:ln w="9525">
            <a:noFill/>
          </a:ln>
        </p:spPr>
      </p:pic>
      <p:sp>
        <p:nvSpPr>
          <p:cNvPr id="56326" name="Rectangle 9"/>
          <p:cNvSpPr/>
          <p:nvPr/>
        </p:nvSpPr>
        <p:spPr>
          <a:xfrm>
            <a:off x="114300" y="4116388"/>
            <a:ext cx="3013075" cy="133985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lnSpc>
                <a:spcPct val="150000"/>
              </a:lnSpc>
              <a:spcBef>
                <a:spcPct val="0"/>
              </a:spcBef>
              <a:buClrTx/>
              <a:buNone/>
            </a:pPr>
            <a:r>
              <a:rPr lang="zh-CN" altLang="en-US" sz="1800" b="1" dirty="0">
                <a:ea typeface="宋体" panose="02010600030101010101" pitchFamily="2" charset="-122"/>
              </a:rPr>
              <a:t>进程</a:t>
            </a:r>
            <a:r>
              <a:rPr lang="en-US" altLang="zh-CN" sz="1800" b="1" dirty="0">
                <a:ea typeface="宋体" panose="02010600030101010101" pitchFamily="2" charset="-122"/>
              </a:rPr>
              <a:t>2</a:t>
            </a:r>
            <a:r>
              <a:rPr lang="zh-CN" altLang="en-US" sz="1800" b="1" dirty="0">
                <a:ea typeface="宋体" panose="02010600030101010101" pitchFamily="2" charset="-122"/>
              </a:rPr>
              <a:t>、</a:t>
            </a:r>
            <a:r>
              <a:rPr lang="en-US" altLang="zh-CN" sz="1800" b="1" dirty="0">
                <a:ea typeface="宋体" panose="02010600030101010101" pitchFamily="2" charset="-122"/>
              </a:rPr>
              <a:t>5</a:t>
            </a:r>
            <a:r>
              <a:rPr lang="zh-CN" altLang="en-US" sz="1800" b="1" dirty="0">
                <a:ea typeface="宋体" panose="02010600030101010101" pitchFamily="2" charset="-122"/>
              </a:rPr>
              <a:t>同时发现协调者进程</a:t>
            </a:r>
            <a:r>
              <a:rPr lang="en-US" altLang="zh-CN" sz="1800" b="1" dirty="0">
                <a:ea typeface="宋体" panose="02010600030101010101" pitchFamily="2" charset="-122"/>
              </a:rPr>
              <a:t>7</a:t>
            </a:r>
            <a:r>
              <a:rPr lang="zh-CN" altLang="en-US" sz="1800" b="1" dirty="0">
                <a:ea typeface="宋体" panose="02010600030101010101" pitchFamily="2" charset="-122"/>
              </a:rPr>
              <a:t>失效，它们各自建立一个选举消息沿环发送。</a:t>
            </a:r>
            <a:endParaRPr lang="zh-CN" altLang="en-US" sz="1800" b="1" dirty="0">
              <a:ea typeface="宋体" panose="02010600030101010101"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2"/>
          <p:cNvSpPr>
            <a:spLocks noGrp="1"/>
          </p:cNvSpPr>
          <p:nvPr>
            <p:ph type="title"/>
          </p:nvPr>
        </p:nvSpPr>
        <p:spPr>
          <a:xfrm>
            <a:off x="0" y="0"/>
            <a:ext cx="9144000" cy="506413"/>
          </a:xfrm>
          <a:ln/>
        </p:spPr>
        <p:txBody>
          <a:bodyPr vert="horz" wrap="square" lIns="91440" tIns="45720" rIns="91440" bIns="45720" anchor="ctr" anchorCtr="0"/>
          <a:p>
            <a:pPr eaLnBrk="1" hangingPunct="1"/>
            <a:r>
              <a:rPr lang="zh-CN" altLang="en-US" b="1" dirty="0">
                <a:ea typeface="黑体" panose="02010609060101010101" pitchFamily="49" charset="-122"/>
              </a:rPr>
              <a:t>分布式的同步</a:t>
            </a:r>
            <a:endParaRPr lang="en-US" altLang="zh-CN" dirty="0">
              <a:ea typeface="宋体" panose="02010600030101010101" pitchFamily="2" charset="-122"/>
            </a:endParaRPr>
          </a:p>
        </p:txBody>
      </p:sp>
      <p:sp>
        <p:nvSpPr>
          <p:cNvPr id="58371" name="Rectangle 3"/>
          <p:cNvSpPr>
            <a:spLocks noGrp="1"/>
          </p:cNvSpPr>
          <p:nvPr>
            <p:ph idx="1"/>
          </p:nvPr>
        </p:nvSpPr>
        <p:spPr>
          <a:xfrm>
            <a:off x="493713" y="741363"/>
            <a:ext cx="8156575" cy="2117725"/>
          </a:xfrm>
          <a:ln/>
        </p:spPr>
        <p:txBody>
          <a:bodyPr vert="horz" wrap="square" lIns="91440" tIns="45720" rIns="91440" bIns="45720" anchor="t" anchorCtr="0"/>
          <a:p>
            <a:pPr marL="0" indent="0" algn="just" eaLnBrk="1" hangingPunct="1">
              <a:buNone/>
            </a:pPr>
            <a:r>
              <a:rPr lang="zh-CN" altLang="en-US" sz="2800" b="1" dirty="0">
                <a:ea typeface="黑体" panose="02010609060101010101" pitchFamily="49" charset="-122"/>
              </a:rPr>
              <a:t>进程同步</a:t>
            </a:r>
            <a:r>
              <a:rPr lang="en-US" altLang="zh-CN" sz="2800" b="1" dirty="0">
                <a:ea typeface="黑体" panose="02010609060101010101" pitchFamily="49" charset="-122"/>
              </a:rPr>
              <a:t>----</a:t>
            </a:r>
            <a:r>
              <a:rPr lang="zh-CN" altLang="en-US" sz="2800" b="1" dirty="0">
                <a:ea typeface="黑体" panose="02010609060101010101" pitchFamily="49" charset="-122"/>
              </a:rPr>
              <a:t>基于消息的发送与接收。</a:t>
            </a:r>
            <a:endParaRPr lang="zh-CN" altLang="en-US" sz="2800" b="1" dirty="0">
              <a:ea typeface="黑体" panose="02010609060101010101" pitchFamily="49" charset="-122"/>
            </a:endParaRPr>
          </a:p>
          <a:p>
            <a:pPr marL="0" indent="0" algn="just" eaLnBrk="1" hangingPunct="1">
              <a:buNone/>
            </a:pPr>
            <a:r>
              <a:rPr lang="zh-CN" altLang="en-US" sz="2800" b="1" dirty="0">
                <a:ea typeface="黑体" panose="02010609060101010101" pitchFamily="49" charset="-122"/>
              </a:rPr>
              <a:t>            </a:t>
            </a:r>
            <a:r>
              <a:rPr lang="en-US" altLang="zh-CN" sz="2000" dirty="0">
                <a:ea typeface="黑体" panose="02010609060101010101" pitchFamily="49" charset="-122"/>
              </a:rPr>
              <a:t>P1                                                                           P2</a:t>
            </a:r>
            <a:endParaRPr lang="en-US" altLang="zh-CN" sz="2000" dirty="0">
              <a:ea typeface="黑体" panose="02010609060101010101" pitchFamily="49" charset="-122"/>
            </a:endParaRPr>
          </a:p>
          <a:p>
            <a:pPr marL="0" indent="0" algn="just" eaLnBrk="1" hangingPunct="1">
              <a:buNone/>
            </a:pPr>
            <a:r>
              <a:rPr lang="en-US" altLang="zh-CN" sz="2000" dirty="0">
                <a:ea typeface="黑体" panose="02010609060101010101" pitchFamily="49" charset="-122"/>
              </a:rPr>
              <a:t>             ………                                                                  ………..</a:t>
            </a:r>
            <a:endParaRPr lang="en-US" altLang="zh-CN" sz="2000" dirty="0">
              <a:ea typeface="黑体" panose="02010609060101010101" pitchFamily="49" charset="-122"/>
            </a:endParaRPr>
          </a:p>
          <a:p>
            <a:pPr marL="0" indent="0" algn="just" eaLnBrk="1" hangingPunct="1">
              <a:buNone/>
            </a:pPr>
            <a:r>
              <a:rPr lang="en-US" altLang="zh-CN" sz="2000" dirty="0">
                <a:ea typeface="黑体" panose="02010609060101010101" pitchFamily="49" charset="-122"/>
              </a:rPr>
              <a:t>             send(P2)                                                              receive(P1)</a:t>
            </a:r>
            <a:endParaRPr lang="en-US" altLang="zh-CN" sz="2000" dirty="0">
              <a:ea typeface="黑体" panose="02010609060101010101" pitchFamily="49" charset="-122"/>
            </a:endParaRPr>
          </a:p>
          <a:p>
            <a:pPr marL="0" indent="0" algn="just" eaLnBrk="1" hangingPunct="1">
              <a:buNone/>
            </a:pPr>
            <a:r>
              <a:rPr lang="en-US" altLang="zh-CN" sz="2000" dirty="0">
                <a:ea typeface="黑体" panose="02010609060101010101" pitchFamily="49" charset="-122"/>
              </a:rPr>
              <a:t>             ………                                                                   ……….</a:t>
            </a:r>
            <a:endParaRPr lang="en-US" altLang="zh-CN" sz="2000" dirty="0">
              <a:ea typeface="黑体" panose="02010609060101010101" pitchFamily="49" charset="-122"/>
            </a:endParaRPr>
          </a:p>
          <a:p>
            <a:pPr marL="0" indent="0" algn="just" eaLnBrk="1" hangingPunct="1">
              <a:buNone/>
            </a:pPr>
            <a:endParaRPr lang="en-US" altLang="zh-CN" sz="2000" dirty="0">
              <a:ea typeface="黑体" panose="02010609060101010101" pitchFamily="49" charset="-122"/>
            </a:endParaRPr>
          </a:p>
          <a:p>
            <a:pPr marL="0" indent="0" algn="just" eaLnBrk="1" hangingPunct="1">
              <a:buNone/>
            </a:pPr>
            <a:r>
              <a:rPr lang="zh-CN" altLang="en-US" sz="2000" dirty="0">
                <a:ea typeface="黑体" panose="02010609060101010101" pitchFamily="49" charset="-122"/>
              </a:rPr>
              <a:t>例如前面介绍过的</a:t>
            </a:r>
            <a:r>
              <a:rPr lang="en-US" altLang="zh-CN" sz="2000" dirty="0">
                <a:ea typeface="黑体" panose="02010609060101010101" pitchFamily="49" charset="-122"/>
              </a:rPr>
              <a:t>IPC</a:t>
            </a:r>
            <a:r>
              <a:rPr lang="zh-CN" altLang="en-US" sz="2000" dirty="0">
                <a:ea typeface="黑体" panose="02010609060101010101" pitchFamily="49" charset="-122"/>
              </a:rPr>
              <a:t>中默认的同步语义等：</a:t>
            </a:r>
            <a:endParaRPr lang="en-US" altLang="zh-CN" sz="2000" dirty="0">
              <a:ea typeface="宋体" panose="02010600030101010101" pitchFamily="2" charset="-122"/>
            </a:endParaRPr>
          </a:p>
        </p:txBody>
      </p:sp>
      <p:sp>
        <p:nvSpPr>
          <p:cNvPr id="58372" name="Line 4"/>
          <p:cNvSpPr/>
          <p:nvPr/>
        </p:nvSpPr>
        <p:spPr>
          <a:xfrm>
            <a:off x="2347913" y="2312988"/>
            <a:ext cx="3854450" cy="0"/>
          </a:xfrm>
          <a:prstGeom prst="line">
            <a:avLst/>
          </a:prstGeom>
          <a:ln w="9525" cap="flat" cmpd="sng">
            <a:solidFill>
              <a:schemeClr val="tx1"/>
            </a:solidFill>
            <a:prstDash val="solid"/>
            <a:headEnd type="none" w="med" len="med"/>
            <a:tailEnd type="triangle" w="med" len="med"/>
          </a:ln>
        </p:spPr>
      </p:sp>
      <p:pic>
        <p:nvPicPr>
          <p:cNvPr id="58373" name="图片 4" descr="持久同步通信方式.PNG"/>
          <p:cNvPicPr>
            <a:picLocks noChangeAspect="1"/>
          </p:cNvPicPr>
          <p:nvPr/>
        </p:nvPicPr>
        <p:blipFill>
          <a:blip r:embed="rId1"/>
          <a:stretch>
            <a:fillRect/>
          </a:stretch>
        </p:blipFill>
        <p:spPr>
          <a:xfrm>
            <a:off x="246063" y="3938588"/>
            <a:ext cx="2743200" cy="2489200"/>
          </a:xfrm>
          <a:prstGeom prst="rect">
            <a:avLst/>
          </a:prstGeom>
          <a:noFill/>
          <a:ln w="9525">
            <a:noFill/>
          </a:ln>
        </p:spPr>
      </p:pic>
      <p:pic>
        <p:nvPicPr>
          <p:cNvPr id="58374" name="图片 5" descr="持久同步通信方式2.PNG"/>
          <p:cNvPicPr>
            <a:picLocks noChangeAspect="1"/>
          </p:cNvPicPr>
          <p:nvPr/>
        </p:nvPicPr>
        <p:blipFill>
          <a:blip r:embed="rId2"/>
          <a:stretch>
            <a:fillRect/>
          </a:stretch>
        </p:blipFill>
        <p:spPr>
          <a:xfrm>
            <a:off x="3313113" y="3938588"/>
            <a:ext cx="5778500" cy="2609850"/>
          </a:xfrm>
          <a:prstGeom prst="rect">
            <a:avLst/>
          </a:prstGeom>
          <a:noFill/>
          <a:ln w="9525">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2"/>
          <p:cNvSpPr>
            <a:spLocks noGrp="1"/>
          </p:cNvSpPr>
          <p:nvPr>
            <p:ph type="title"/>
          </p:nvPr>
        </p:nvSpPr>
        <p:spPr>
          <a:xfrm>
            <a:off x="952500" y="0"/>
            <a:ext cx="7000875" cy="404813"/>
          </a:xfrm>
          <a:ln/>
        </p:spPr>
        <p:txBody>
          <a:bodyPr vert="horz" wrap="square" lIns="91440" tIns="45720" rIns="91440" bIns="45720" anchor="ctr" anchorCtr="0"/>
          <a:p>
            <a:pPr eaLnBrk="1" hangingPunct="1"/>
            <a:r>
              <a:rPr lang="en-US" altLang="zh-CN" dirty="0">
                <a:ea typeface="宋体" panose="02010600030101010101" pitchFamily="2" charset="-122"/>
              </a:rPr>
              <a:t>The Transaction Model</a:t>
            </a:r>
            <a:endParaRPr lang="en-US" altLang="zh-CN" dirty="0">
              <a:ea typeface="宋体" panose="02010600030101010101" pitchFamily="2" charset="-122"/>
            </a:endParaRPr>
          </a:p>
        </p:txBody>
      </p:sp>
      <p:sp>
        <p:nvSpPr>
          <p:cNvPr id="57347" name="Rectangle 6"/>
          <p:cNvSpPr>
            <a:spLocks noChangeArrowheads="1"/>
          </p:cNvSpPr>
          <p:nvPr/>
        </p:nvSpPr>
        <p:spPr bwMode="auto">
          <a:xfrm>
            <a:off x="180975" y="479425"/>
            <a:ext cx="8824913" cy="1338263"/>
          </a:xfrm>
          <a:prstGeom prst="rect">
            <a:avLst/>
          </a:prstGeom>
          <a:noFill/>
          <a:ln>
            <a:noFill/>
          </a:ln>
        </p:spPr>
        <p:txBody>
          <a:bodyPr>
            <a:spAutoFit/>
          </a:bodyPr>
          <a:lstStyle>
            <a:lvl1pPr algn="ctr">
              <a:spcBef>
                <a:spcPct val="20000"/>
              </a:spcBef>
              <a:buClr>
                <a:schemeClr val="accent2"/>
              </a:buClr>
              <a:buChar char="•"/>
              <a:defRPr sz="3200">
                <a:solidFill>
                  <a:schemeClr val="tx1"/>
                </a:solidFill>
                <a:latin typeface="Times New Roman" panose="02020603050405020304" pitchFamily="18" charset="0"/>
              </a:defRPr>
            </a:lvl1pPr>
            <a:lvl2pPr marL="742950" indent="-285750">
              <a:spcBef>
                <a:spcPct val="20000"/>
              </a:spcBef>
              <a:buClr>
                <a:schemeClr val="accent2"/>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Char char="•"/>
              <a:defRPr sz="2400">
                <a:solidFill>
                  <a:schemeClr val="tx1"/>
                </a:solidFill>
                <a:latin typeface="Times New Roman" panose="02020603050405020304" pitchFamily="18" charset="0"/>
              </a:defRPr>
            </a:lvl3pPr>
            <a:lvl4pPr marL="1600200" indent="-228600">
              <a:spcBef>
                <a:spcPct val="20000"/>
              </a:spcBef>
              <a:buClr>
                <a:schemeClr val="accent2"/>
              </a:buClr>
              <a:buChar char="–"/>
              <a:defRPr sz="2000">
                <a:solidFill>
                  <a:schemeClr val="tx1"/>
                </a:solidFill>
                <a:latin typeface="Times New Roman" panose="02020603050405020304" pitchFamily="18" charset="0"/>
              </a:defRPr>
            </a:lvl4pPr>
            <a:lvl5pPr marL="2057400" indent="-228600">
              <a:spcBef>
                <a:spcPct val="20000"/>
              </a:spcBef>
              <a:buClr>
                <a:schemeClr val="accent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9pPr>
          </a:lstStyle>
          <a:p>
            <a:pPr marL="342900" marR="0" lvl="0" indent="-342900" algn="l" defTabSz="914400" rtl="0" eaLnBrk="1" fontAlgn="base" latinLnBrk="0" hangingPunct="1">
              <a:lnSpc>
                <a:spcPct val="150000"/>
              </a:lnSpc>
              <a:spcBef>
                <a:spcPct val="0"/>
              </a:spcBef>
              <a:spcAft>
                <a:spcPct val="0"/>
              </a:spcAft>
              <a:buClrTx/>
              <a:buSzTx/>
              <a:buFont typeface="Wingdings" panose="05000000000000000000" pitchFamily="2" charset="2"/>
              <a:buChar char="u"/>
              <a:defRPr/>
            </a:pPr>
            <a:r>
              <a:rPr kumimoji="0" lang="zh-CN" altLang="en-US" sz="1800" b="1" i="0" u="none" strike="noStrike" kern="120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rPr>
              <a:t>商业交易模型（或事务模型）</a:t>
            </a:r>
            <a:endParaRPr kumimoji="0" lang="zh-CN" altLang="en-US" sz="1800" b="1" i="0" u="none" strike="noStrike" kern="120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5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对任何一个商品交易</a:t>
            </a:r>
            <a:r>
              <a:rPr kumimoji="0"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从协商到签定合同成交，都经历了从协商到签约过程，</a:t>
            </a:r>
            <a:r>
              <a:rPr kumimoji="0" lang="zh-CN" altLang="en-US" sz="18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签约前可以更改或中止，签约后必须执行。</a:t>
            </a:r>
            <a:endParaRPr kumimoji="0" lang="zh-CN" altLang="en-US" sz="18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p:txBody>
      </p:sp>
      <p:sp>
        <p:nvSpPr>
          <p:cNvPr id="4" name="Rectangle 7"/>
          <p:cNvSpPr>
            <a:spLocks noChangeArrowheads="1"/>
          </p:cNvSpPr>
          <p:nvPr/>
        </p:nvSpPr>
        <p:spPr bwMode="auto">
          <a:xfrm>
            <a:off x="85725" y="1712913"/>
            <a:ext cx="8963025" cy="2427288"/>
          </a:xfrm>
          <a:prstGeom prst="rect">
            <a:avLst/>
          </a:prstGeom>
          <a:noFill/>
          <a:ln>
            <a:noFill/>
          </a:ln>
        </p:spPr>
        <p:txBody>
          <a:bodyPr/>
          <a:lstStyle>
            <a:lvl1pPr algn="ctr">
              <a:spcBef>
                <a:spcPct val="20000"/>
              </a:spcBef>
              <a:buClr>
                <a:schemeClr val="accent2"/>
              </a:buClr>
              <a:buChar char="•"/>
              <a:defRPr sz="3200">
                <a:solidFill>
                  <a:schemeClr val="tx1"/>
                </a:solidFill>
                <a:latin typeface="Times New Roman" panose="02020603050405020304" pitchFamily="18" charset="0"/>
              </a:defRPr>
            </a:lvl1pPr>
            <a:lvl2pPr marL="742950" indent="-285750">
              <a:spcBef>
                <a:spcPct val="20000"/>
              </a:spcBef>
              <a:buClr>
                <a:schemeClr val="accent2"/>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Char char="•"/>
              <a:defRPr sz="2400">
                <a:solidFill>
                  <a:schemeClr val="tx1"/>
                </a:solidFill>
                <a:latin typeface="Times New Roman" panose="02020603050405020304" pitchFamily="18" charset="0"/>
              </a:defRPr>
            </a:lvl3pPr>
            <a:lvl4pPr marL="1600200" indent="-228600">
              <a:spcBef>
                <a:spcPct val="20000"/>
              </a:spcBef>
              <a:buClr>
                <a:schemeClr val="accent2"/>
              </a:buClr>
              <a:buChar char="–"/>
              <a:defRPr sz="2000">
                <a:solidFill>
                  <a:schemeClr val="tx1"/>
                </a:solidFill>
                <a:latin typeface="Times New Roman" panose="02020603050405020304" pitchFamily="18" charset="0"/>
              </a:defRPr>
            </a:lvl4pPr>
            <a:lvl5pPr marL="2057400" indent="-228600">
              <a:spcBef>
                <a:spcPct val="20000"/>
              </a:spcBef>
              <a:buClr>
                <a:schemeClr val="accent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9pPr>
          </a:lstStyle>
          <a:p>
            <a:pPr marL="285750" marR="0" lvl="0" indent="-28575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zh-CN" altLang="en-US" sz="1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磁带系统模型：早期计算机系统中对事务处理是将文件保存在</a:t>
            </a:r>
            <a:r>
              <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磁带</a:t>
            </a:r>
            <a:r>
              <a:rPr kumimoji="0" lang="zh-CN" altLang="en-US" sz="1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上。</a:t>
            </a:r>
            <a:endParaRPr kumimoji="0" lang="en-US" altLang="zh-CN" sz="1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285750" marR="0" lvl="0" indent="-28575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zh-CN" altLang="en-US" sz="1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例如：一个可自动盘点的超市，计算机每天对两盘输入的磁带进行处理。</a:t>
            </a:r>
            <a:endParaRPr kumimoji="0" lang="zh-CN" altLang="en-US" sz="1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742950" marR="0" lvl="1" indent="-285750" algn="l" defTabSz="914400" rtl="0" eaLnBrk="1" fontAlgn="base" latinLnBrk="0" hangingPunct="1">
              <a:lnSpc>
                <a:spcPct val="150000"/>
              </a:lnSpc>
              <a:spcBef>
                <a:spcPct val="20000"/>
              </a:spcBef>
              <a:spcAft>
                <a:spcPct val="0"/>
              </a:spcAft>
              <a:buClr>
                <a:schemeClr val="accent2"/>
              </a:buClr>
              <a:buSzTx/>
              <a:buFontTx/>
              <a:buChar char="–"/>
              <a:defRPr/>
            </a:pPr>
            <a:r>
              <a:rPr kumimoji="0" lang="zh-CN" altLang="en-US" sz="1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磁带</a:t>
            </a:r>
            <a:r>
              <a:rPr kumimoji="0" lang="en-US" altLang="zh-CN" sz="1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1</a:t>
            </a:r>
            <a:r>
              <a:rPr kumimoji="0" lang="zh-CN" altLang="en-US" sz="1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存以前的所有库存</a:t>
            </a:r>
            <a:r>
              <a:rPr kumimoji="0" lang="en-US" altLang="zh-CN" sz="1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endParaRPr kumimoji="0" lang="zh-CN" altLang="en-US" sz="1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742950" marR="0" lvl="1" indent="-285750" algn="l" defTabSz="914400" rtl="0" eaLnBrk="1" fontAlgn="base" latinLnBrk="0" hangingPunct="1">
              <a:lnSpc>
                <a:spcPct val="150000"/>
              </a:lnSpc>
              <a:spcBef>
                <a:spcPct val="20000"/>
              </a:spcBef>
              <a:spcAft>
                <a:spcPct val="0"/>
              </a:spcAft>
              <a:buClr>
                <a:schemeClr val="accent2"/>
              </a:buClr>
              <a:buSzTx/>
              <a:buFontTx/>
              <a:buChar char="–"/>
              <a:defRPr/>
            </a:pPr>
            <a:r>
              <a:rPr kumimoji="0" lang="zh-CN" altLang="en-US" sz="1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磁带</a:t>
            </a:r>
            <a:r>
              <a:rPr kumimoji="0" lang="en-US" altLang="zh-CN" sz="1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2</a:t>
            </a:r>
            <a:r>
              <a:rPr kumimoji="0" lang="zh-CN" altLang="en-US" sz="1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有当天更新列表</a:t>
            </a:r>
            <a:r>
              <a:rPr kumimoji="0" lang="en-US" altLang="zh-CN" sz="1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endParaRPr kumimoji="0" lang="zh-CN" altLang="en-US" sz="1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Tx/>
              <a:buNone/>
              <a:defRPr/>
            </a:pPr>
            <a:r>
              <a:rPr kumimoji="0" lang="zh-CN" altLang="en-US" sz="1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计算机从两盘磁带上读取数据，并生成新的主库存磁带。</a:t>
            </a:r>
            <a:endParaRPr kumimoji="0" lang="zh-CN" altLang="en-US" sz="1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pic>
        <p:nvPicPr>
          <p:cNvPr id="60421" name="Picture 4"/>
          <p:cNvPicPr>
            <a:picLocks noChangeAspect="1"/>
          </p:cNvPicPr>
          <p:nvPr/>
        </p:nvPicPr>
        <p:blipFill>
          <a:blip r:embed="rId1"/>
          <a:srcRect l="27792" t="45619" r="24345" b="40332"/>
          <a:stretch>
            <a:fillRect/>
          </a:stretch>
        </p:blipFill>
        <p:spPr>
          <a:xfrm>
            <a:off x="319088" y="4016375"/>
            <a:ext cx="4933950" cy="2582863"/>
          </a:xfrm>
          <a:prstGeom prst="rect">
            <a:avLst/>
          </a:prstGeom>
          <a:noFill/>
          <a:ln w="9525">
            <a:noFill/>
          </a:ln>
        </p:spPr>
      </p:pic>
      <p:sp>
        <p:nvSpPr>
          <p:cNvPr id="6" name="Rectangle 3"/>
          <p:cNvSpPr txBox="1">
            <a:spLocks noChangeArrowheads="1"/>
          </p:cNvSpPr>
          <p:nvPr/>
        </p:nvSpPr>
        <p:spPr bwMode="auto">
          <a:xfrm>
            <a:off x="4930775" y="4140200"/>
            <a:ext cx="4117975" cy="2368550"/>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Updating a master tape is fault tolerant.</a:t>
            </a:r>
            <a:endPar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50000"/>
              </a:lnSpc>
              <a:spcBef>
                <a:spcPct val="20000"/>
              </a:spcBef>
              <a:spcAft>
                <a:spcPct val="0"/>
              </a:spcAft>
              <a:buClr>
                <a:schemeClr val="accent2"/>
              </a:buClr>
              <a:buSzTx/>
              <a:buFontTx/>
              <a:buChar char="–"/>
              <a:defRPr/>
            </a:pP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对任何原因引起的运行错误，所有的磁带都可以倒卷</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其工作可以毫无损失地重新开始。</a:t>
            </a:r>
            <a:endPar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50000"/>
              </a:lnSpc>
              <a:spcBef>
                <a:spcPct val="20000"/>
              </a:spcBef>
              <a:spcAft>
                <a:spcPct val="0"/>
              </a:spcAft>
              <a:buClr>
                <a:schemeClr val="accent2"/>
              </a:buClr>
              <a:buSzTx/>
              <a:buFontTx/>
              <a:buChar char="–"/>
              <a:defRPr/>
            </a:pP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老式的磁带系统具有了要么全有要么全无的特性</a:t>
            </a: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1600" b="1"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原子事务</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Rectangle 2"/>
          <p:cNvSpPr>
            <a:spLocks noGrp="1"/>
          </p:cNvSpPr>
          <p:nvPr>
            <p:ph type="title"/>
          </p:nvPr>
        </p:nvSpPr>
        <p:spPr>
          <a:xfrm>
            <a:off x="0" y="0"/>
            <a:ext cx="9144000" cy="614363"/>
          </a:xfrm>
          <a:ln/>
        </p:spPr>
        <p:txBody>
          <a:bodyPr vert="horz" wrap="square" lIns="91440" tIns="45720" rIns="91440" bIns="45720" anchor="ctr" anchorCtr="0"/>
          <a:p>
            <a:pPr eaLnBrk="1" hangingPunct="1"/>
            <a:r>
              <a:rPr lang="en-US" altLang="zh-CN" dirty="0">
                <a:ea typeface="宋体" panose="02010600030101010101" pitchFamily="2" charset="-122"/>
              </a:rPr>
              <a:t>The Transaction Model (1)</a:t>
            </a:r>
            <a:endParaRPr lang="en-US" altLang="zh-CN" dirty="0">
              <a:ea typeface="宋体" panose="02010600030101010101" pitchFamily="2" charset="-122"/>
            </a:endParaRPr>
          </a:p>
        </p:txBody>
      </p:sp>
      <p:sp>
        <p:nvSpPr>
          <p:cNvPr id="62467" name="Rectangle 7"/>
          <p:cNvSpPr>
            <a:spLocks noGrp="1"/>
          </p:cNvSpPr>
          <p:nvPr>
            <p:ph idx="1"/>
          </p:nvPr>
        </p:nvSpPr>
        <p:spPr>
          <a:xfrm>
            <a:off x="174625" y="596900"/>
            <a:ext cx="8550275" cy="2827338"/>
          </a:xfrm>
          <a:ln/>
        </p:spPr>
        <p:txBody>
          <a:bodyPr vert="horz" wrap="square" lIns="91440" tIns="45720" rIns="91440" bIns="45720" anchor="t" anchorCtr="0"/>
          <a:p>
            <a:pPr marL="0" indent="0" algn="l" eaLnBrk="1" hangingPunct="1">
              <a:lnSpc>
                <a:spcPct val="150000"/>
              </a:lnSpc>
              <a:buFont typeface="Wingdings" panose="05000000000000000000" pitchFamily="2" charset="2"/>
              <a:buChar char="u"/>
            </a:pPr>
            <a:r>
              <a:rPr lang="zh-CN" altLang="en-US" sz="1800" b="1" dirty="0">
                <a:ea typeface="宋体" panose="02010600030101010101" pitchFamily="2" charset="-122"/>
              </a:rPr>
              <a:t>银行应用例子</a:t>
            </a:r>
            <a:r>
              <a:rPr lang="en-US" altLang="zh-CN" sz="1800" b="1" dirty="0">
                <a:ea typeface="宋体" panose="02010600030101010101" pitchFamily="2" charset="-122"/>
              </a:rPr>
              <a:t>(</a:t>
            </a:r>
            <a:r>
              <a:rPr lang="zh-CN" altLang="en-US" sz="1800" b="1" dirty="0">
                <a:ea typeface="宋体" panose="02010600030101010101" pitchFamily="2" charset="-122"/>
              </a:rPr>
              <a:t>在线更新</a:t>
            </a:r>
            <a:r>
              <a:rPr lang="en-US" altLang="zh-CN" sz="1800" b="1" dirty="0">
                <a:ea typeface="宋体" panose="02010600030101010101" pitchFamily="2" charset="-122"/>
              </a:rPr>
              <a:t>)</a:t>
            </a:r>
            <a:r>
              <a:rPr lang="zh-CN" altLang="en-US" sz="1800" b="1" dirty="0">
                <a:ea typeface="宋体" panose="02010600030101010101" pitchFamily="2" charset="-122"/>
              </a:rPr>
              <a:t>：</a:t>
            </a:r>
            <a:endParaRPr lang="zh-CN" altLang="en-US" sz="1800" b="1" dirty="0">
              <a:ea typeface="宋体" panose="02010600030101010101" pitchFamily="2" charset="-122"/>
            </a:endParaRPr>
          </a:p>
          <a:p>
            <a:pPr marL="0" indent="0" algn="l" eaLnBrk="1" hangingPunct="1">
              <a:lnSpc>
                <a:spcPct val="150000"/>
              </a:lnSpc>
              <a:buNone/>
            </a:pPr>
            <a:r>
              <a:rPr lang="zh-CN" altLang="en-US" sz="1800" b="1" dirty="0">
                <a:ea typeface="宋体" panose="02010600030101010101" pitchFamily="2" charset="-122"/>
              </a:rPr>
              <a:t>         客户通过</a:t>
            </a:r>
            <a:r>
              <a:rPr lang="en-US" altLang="zh-CN" sz="1800" b="1" dirty="0">
                <a:ea typeface="宋体" panose="02010600030101010101" pitchFamily="2" charset="-122"/>
              </a:rPr>
              <a:t>PC</a:t>
            </a:r>
            <a:r>
              <a:rPr lang="zh-CN" altLang="en-US" sz="1800" b="1" dirty="0">
                <a:ea typeface="宋体" panose="02010600030101010101" pitchFamily="2" charset="-122"/>
              </a:rPr>
              <a:t>机连接到银行，将一个账户的钱取出存入另一账户，操作如下：</a:t>
            </a:r>
            <a:endParaRPr lang="zh-CN" altLang="en-US" sz="1800" b="1" dirty="0">
              <a:ea typeface="宋体" panose="02010600030101010101" pitchFamily="2" charset="-122"/>
            </a:endParaRPr>
          </a:p>
          <a:p>
            <a:pPr marL="817880" lvl="1" eaLnBrk="1" hangingPunct="1">
              <a:lnSpc>
                <a:spcPct val="150000"/>
              </a:lnSpc>
            </a:pPr>
            <a:r>
              <a:rPr lang="zh-CN" altLang="en-US" sz="1800" b="1" dirty="0">
                <a:ea typeface="宋体" panose="02010600030101010101" pitchFamily="2" charset="-122"/>
              </a:rPr>
              <a:t>提取（金额，账户</a:t>
            </a:r>
            <a:r>
              <a:rPr lang="en-US" altLang="zh-CN" sz="1800" b="1" dirty="0">
                <a:ea typeface="宋体" panose="02010600030101010101" pitchFamily="2" charset="-122"/>
              </a:rPr>
              <a:t>1</a:t>
            </a:r>
            <a:r>
              <a:rPr lang="zh-CN" altLang="en-US" sz="1800" b="1" dirty="0">
                <a:ea typeface="宋体" panose="02010600030101010101" pitchFamily="2" charset="-122"/>
              </a:rPr>
              <a:t>）</a:t>
            </a:r>
            <a:endParaRPr lang="zh-CN" altLang="en-US" sz="1800" b="1" dirty="0">
              <a:ea typeface="宋体" panose="02010600030101010101" pitchFamily="2" charset="-122"/>
            </a:endParaRPr>
          </a:p>
          <a:p>
            <a:pPr marL="817880" lvl="1" eaLnBrk="1" hangingPunct="1">
              <a:lnSpc>
                <a:spcPct val="150000"/>
              </a:lnSpc>
            </a:pPr>
            <a:r>
              <a:rPr lang="zh-CN" altLang="en-US" sz="1800" b="1" dirty="0">
                <a:ea typeface="宋体" panose="02010600030101010101" pitchFamily="2" charset="-122"/>
              </a:rPr>
              <a:t>存入（金额，账户</a:t>
            </a:r>
            <a:r>
              <a:rPr lang="en-US" altLang="zh-CN" sz="1800" b="1" dirty="0">
                <a:ea typeface="宋体" panose="02010600030101010101" pitchFamily="2" charset="-122"/>
              </a:rPr>
              <a:t>2</a:t>
            </a:r>
            <a:r>
              <a:rPr lang="zh-CN" altLang="en-US" sz="1800" b="1" dirty="0">
                <a:ea typeface="宋体" panose="02010600030101010101" pitchFamily="2" charset="-122"/>
              </a:rPr>
              <a:t>）</a:t>
            </a:r>
            <a:endParaRPr lang="zh-CN" altLang="en-US" sz="1800" b="1" dirty="0">
              <a:ea typeface="宋体" panose="02010600030101010101" pitchFamily="2" charset="-122"/>
            </a:endParaRPr>
          </a:p>
          <a:p>
            <a:pPr marL="0" indent="0" algn="l" eaLnBrk="1" hangingPunct="1">
              <a:lnSpc>
                <a:spcPct val="150000"/>
              </a:lnSpc>
              <a:buNone/>
            </a:pPr>
            <a:r>
              <a:rPr lang="zh-CN" altLang="en-US" sz="1800" b="1" dirty="0">
                <a:ea typeface="宋体" panose="02010600030101010101" pitchFamily="2" charset="-122"/>
              </a:rPr>
              <a:t>        如果网络在第一步之后第二步之前中断，那么第一个账户已被取出而第二个账户却没有存入</a:t>
            </a:r>
            <a:r>
              <a:rPr lang="en-US" altLang="zh-CN" sz="1800" b="1" dirty="0">
                <a:ea typeface="宋体" panose="02010600030101010101" pitchFamily="2" charset="-122"/>
              </a:rPr>
              <a:t>,  </a:t>
            </a:r>
            <a:r>
              <a:rPr lang="zh-CN" altLang="en-US" sz="1800" b="1" dirty="0">
                <a:ea typeface="宋体" panose="02010600030101010101" pitchFamily="2" charset="-122"/>
              </a:rPr>
              <a:t>钱就消失了。</a:t>
            </a:r>
            <a:endParaRPr lang="zh-CN" altLang="en-US" sz="1800" b="1" dirty="0">
              <a:ea typeface="宋体" panose="02010600030101010101" pitchFamily="2" charset="-122"/>
            </a:endParaRPr>
          </a:p>
        </p:txBody>
      </p:sp>
      <p:sp>
        <p:nvSpPr>
          <p:cNvPr id="4" name="Rectangle 6"/>
          <p:cNvSpPr txBox="1">
            <a:spLocks noChangeArrowheads="1"/>
          </p:cNvSpPr>
          <p:nvPr/>
        </p:nvSpPr>
        <p:spPr bwMode="auto">
          <a:xfrm>
            <a:off x="174625" y="3535363"/>
            <a:ext cx="8640763" cy="1092200"/>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两个操作应该作为一个原子事务：要么都执行，要么一个也不执行；</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17880" marR="0" lvl="1" indent="-285750" algn="l" defTabSz="914400" rtl="0" eaLnBrk="1" fontAlgn="base" latinLnBrk="0" hangingPunct="1">
              <a:lnSpc>
                <a:spcPct val="150000"/>
              </a:lnSpc>
              <a:spcBef>
                <a:spcPct val="20000"/>
              </a:spcBef>
              <a:spcAft>
                <a:spcPct val="0"/>
              </a:spcAft>
              <a:buClr>
                <a:schemeClr val="accent2"/>
              </a:buClr>
              <a:buSzTx/>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问题是事务执行失败后如何使磁带返回到各自的初始状态</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5" name="Rectangle 5"/>
          <p:cNvSpPr txBox="1">
            <a:spLocks noChangeArrowheads="1"/>
          </p:cNvSpPr>
          <p:nvPr/>
        </p:nvSpPr>
        <p:spPr bwMode="auto">
          <a:xfrm>
            <a:off x="174625" y="4541838"/>
            <a:ext cx="7239000" cy="1806575"/>
          </a:xfrm>
          <a:prstGeom prst="rect">
            <a:avLst/>
          </a:prstGeom>
          <a:noFill/>
          <a:ln w="9525">
            <a:noFill/>
            <a:miter lim="800000"/>
          </a:ln>
        </p:spPr>
        <p:txBody>
          <a:bodyPr/>
          <a:lstStyle/>
          <a:p>
            <a:pPr marR="0" defTabSz="914400" eaLnBrk="1" hangingPunct="1">
              <a:lnSpc>
                <a:spcPct val="150000"/>
              </a:lnSpc>
              <a:spcBef>
                <a:spcPct val="20000"/>
              </a:spcBef>
              <a:buClr>
                <a:schemeClr val="accent2"/>
              </a:buClr>
              <a:buSzTx/>
              <a:buFont typeface="Wingdings" panose="05000000000000000000" pitchFamily="2" charset="2"/>
              <a:buChar char="u"/>
              <a:defRPr/>
            </a:pPr>
            <a:r>
              <a:rPr kumimoji="0" lang="zh-CN" altLang="en-US" sz="1800" b="1" kern="0" cap="none" spc="0" normalizeH="0" baseline="0" noProof="0" dirty="0">
                <a:latin typeface="+mn-lt"/>
                <a:ea typeface="宋体" panose="02010600030101010101" pitchFamily="2" charset="-122"/>
                <a:cs typeface="+mn-cs"/>
              </a:rPr>
              <a:t>假设：</a:t>
            </a:r>
            <a:endParaRPr kumimoji="0" lang="en-US" altLang="zh-CN" sz="1800" b="1" kern="0" cap="none" spc="0" normalizeH="0" baseline="0" noProof="0" dirty="0">
              <a:latin typeface="+mn-lt"/>
              <a:ea typeface="宋体" panose="02010600030101010101" pitchFamily="2" charset="-122"/>
              <a:cs typeface="+mn-cs"/>
            </a:endParaRPr>
          </a:p>
          <a:p>
            <a:pPr marL="457200" marR="0" lvl="1"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Ø"/>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系统相互独立的进程组成，每个进程都会随机出错；</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57200" marR="0" lvl="1"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Ø"/>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通信错误已被底层软件透明处理；</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457200" marR="0" lvl="1"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Ø"/>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稳定的存储器；</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2"/>
          <p:cNvSpPr>
            <a:spLocks noGrp="1"/>
          </p:cNvSpPr>
          <p:nvPr>
            <p:ph type="title"/>
          </p:nvPr>
        </p:nvSpPr>
        <p:spPr>
          <a:xfrm>
            <a:off x="0" y="0"/>
            <a:ext cx="9144000" cy="558800"/>
          </a:xfrm>
          <a:ln/>
        </p:spPr>
        <p:txBody>
          <a:bodyPr vert="horz" wrap="square" lIns="91440" tIns="45720" rIns="91440" bIns="45720" anchor="ctr" anchorCtr="0"/>
          <a:p>
            <a:pPr eaLnBrk="1" hangingPunct="1"/>
            <a:r>
              <a:rPr lang="en-US" altLang="zh-CN" dirty="0">
                <a:ea typeface="宋体" panose="02010600030101010101" pitchFamily="2" charset="-122"/>
              </a:rPr>
              <a:t>The Transaction Model (2)</a:t>
            </a:r>
            <a:endParaRPr lang="en-US" altLang="zh-CN" dirty="0">
              <a:ea typeface="宋体" panose="02010600030101010101" pitchFamily="2" charset="-122"/>
            </a:endParaRPr>
          </a:p>
        </p:txBody>
      </p:sp>
      <p:graphicFrame>
        <p:nvGraphicFramePr>
          <p:cNvPr id="112670" name="Group 30"/>
          <p:cNvGraphicFramePr>
            <a:graphicFrameLocks noGrp="1"/>
          </p:cNvGraphicFramePr>
          <p:nvPr/>
        </p:nvGraphicFramePr>
        <p:xfrm>
          <a:off x="312738" y="1192213"/>
          <a:ext cx="8464550" cy="2228850"/>
        </p:xfrm>
        <a:graphic>
          <a:graphicData uri="http://schemas.openxmlformats.org/drawingml/2006/table">
            <a:tbl>
              <a:tblPr/>
              <a:tblGrid>
                <a:gridCol w="3402013"/>
                <a:gridCol w="5062537"/>
              </a:tblGrid>
              <a:tr h="371475">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Primitive</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1" marB="4572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Description</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1" marB="4572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1475">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BEGIN_TRANSACTION</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1" marB="4572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Make the start of a transaction</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1" marB="4572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1475">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END_TRANSACTION</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1" marB="4572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Terminate the transaction and try to commit</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1" marB="4572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1475">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ABORT_TRANSACTION(</a:t>
                      </a: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回滚</a:t>
                      </a: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1" marB="4572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Kill the transaction and restore the old values</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1" marB="4572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1475">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READ</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1" marB="4572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Read data from a file, a table, or otherwise</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1" marB="4572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1475">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WRITE</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1" marB="4572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Write data to a file, a table, or otherwise</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1" marB="4572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4538" name="Rectangle 28"/>
          <p:cNvSpPr/>
          <p:nvPr/>
        </p:nvSpPr>
        <p:spPr>
          <a:xfrm>
            <a:off x="252413" y="568325"/>
            <a:ext cx="6754812" cy="554038"/>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lnSpc>
                <a:spcPct val="150000"/>
              </a:lnSpc>
              <a:spcBef>
                <a:spcPct val="0"/>
              </a:spcBef>
              <a:buClrTx/>
              <a:buNone/>
            </a:pPr>
            <a:r>
              <a:rPr lang="en-US" altLang="zh-CN" sz="2000" b="1" dirty="0">
                <a:ea typeface="宋体" panose="02010600030101010101" pitchFamily="2" charset="-122"/>
              </a:rPr>
              <a:t>1</a:t>
            </a:r>
            <a:r>
              <a:rPr lang="zh-CN" altLang="en-US" sz="2000" b="1" dirty="0">
                <a:ea typeface="宋体" panose="02010600030101010101" pitchFamily="2" charset="-122"/>
              </a:rPr>
              <a:t>、事务原语：需要系统</a:t>
            </a:r>
            <a:r>
              <a:rPr lang="en-US" altLang="zh-CN" sz="2000" b="1" dirty="0">
                <a:ea typeface="宋体" panose="02010600030101010101" pitchFamily="2" charset="-122"/>
              </a:rPr>
              <a:t>(OS or runtime)</a:t>
            </a:r>
            <a:r>
              <a:rPr lang="zh-CN" altLang="en-US" sz="2000" b="1" dirty="0">
                <a:ea typeface="宋体" panose="02010600030101010101" pitchFamily="2" charset="-122"/>
              </a:rPr>
              <a:t> 提供特殊的原语</a:t>
            </a:r>
            <a:r>
              <a:rPr lang="en-US" altLang="zh-CN" sz="2000" b="1" dirty="0">
                <a:ea typeface="宋体" panose="02010600030101010101" pitchFamily="2" charset="-122"/>
              </a:rPr>
              <a:t>.</a:t>
            </a:r>
            <a:endParaRPr lang="zh-CN" altLang="en-US" sz="2000" b="1" dirty="0">
              <a:ea typeface="宋体" panose="02010600030101010101" pitchFamily="2" charset="-122"/>
            </a:endParaRPr>
          </a:p>
        </p:txBody>
      </p:sp>
      <p:sp>
        <p:nvSpPr>
          <p:cNvPr id="8" name="Rectangle 31"/>
          <p:cNvSpPr txBox="1">
            <a:spLocks noChangeArrowheads="1"/>
          </p:cNvSpPr>
          <p:nvPr/>
        </p:nvSpPr>
        <p:spPr bwMode="auto">
          <a:xfrm>
            <a:off x="195263" y="3490913"/>
            <a:ext cx="8516938" cy="1012825"/>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0" marR="0" lvl="0" indent="0" algn="l" defTabSz="914400" rtl="0" eaLnBrk="1" fontAlgn="base" latinLnBrk="0" hangingPunct="1">
              <a:lnSpc>
                <a:spcPct val="150000"/>
              </a:lnSpc>
              <a:spcBef>
                <a:spcPct val="20000"/>
              </a:spcBef>
              <a:spcAft>
                <a:spcPct val="0"/>
              </a:spcAft>
              <a:buClr>
                <a:schemeClr val="accent2"/>
              </a:buClr>
              <a:buSzTx/>
              <a:buFontTx/>
              <a:buNone/>
              <a:defRPr/>
            </a:pPr>
            <a:r>
              <a:rPr kumimoji="0" lang="en-US" altLang="zh-CN" sz="1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2</a:t>
            </a:r>
            <a:r>
              <a:rPr kumimoji="0" lang="zh-CN" altLang="en-US" sz="1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、事务体：</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由</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BEGIN_TRANSACTION</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和</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END_TRANSACTION</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包含起来的程序段，执行具有原子性；事务体中的操作可以是系统调用、库过程、或者程序段；</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12" name="Rectangle 16"/>
          <p:cNvSpPr txBox="1">
            <a:spLocks noChangeArrowheads="1"/>
          </p:cNvSpPr>
          <p:nvPr/>
        </p:nvSpPr>
        <p:spPr bwMode="auto">
          <a:xfrm>
            <a:off x="195263" y="4367213"/>
            <a:ext cx="8712200" cy="2398713"/>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0" marR="0" lvl="0" indent="0" algn="l" defTabSz="914400" rtl="0" eaLnBrk="1" fontAlgn="base" latinLnBrk="0" hangingPunct="1">
              <a:lnSpc>
                <a:spcPct val="150000"/>
              </a:lnSpc>
              <a:spcBef>
                <a:spcPct val="20000"/>
              </a:spcBef>
              <a:spcAft>
                <a:spcPct val="0"/>
              </a:spcAft>
              <a:buClr>
                <a:schemeClr val="accent2"/>
              </a:buClr>
              <a:buSzTx/>
              <a:buFontTx/>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3</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、事务的特性（</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ACID</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40105" marR="0" lvl="1" indent="-4953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原子性（</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Atomic</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）：不可分割的；</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40105" marR="0" lvl="1" indent="-4953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一致性（</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Consistent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）：不会破坏数据的正确性；</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40105" marR="0" lvl="1" indent="-4953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独立性（</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Isolated</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）：并发事务不会互相干扰；</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40105" marR="0" lvl="1" indent="-4953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持久性（</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Durable</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）：事务一旦提交，改变就永远存在。</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Rectangle 2"/>
          <p:cNvSpPr>
            <a:spLocks noGrp="1"/>
          </p:cNvSpPr>
          <p:nvPr>
            <p:ph type="title"/>
          </p:nvPr>
        </p:nvSpPr>
        <p:spPr>
          <a:ln/>
        </p:spPr>
        <p:txBody>
          <a:bodyPr vert="horz" wrap="square" lIns="91440" tIns="45720" rIns="91440" bIns="45720" anchor="ctr" anchorCtr="0"/>
          <a:p>
            <a:pPr eaLnBrk="1" hangingPunct="1"/>
            <a:r>
              <a:rPr lang="en-US" altLang="zh-CN" dirty="0">
                <a:ea typeface="宋体" panose="02010600030101010101" pitchFamily="2" charset="-122"/>
              </a:rPr>
              <a:t>The Transaction Model (3)</a:t>
            </a:r>
            <a:endParaRPr lang="en-US" altLang="zh-CN" dirty="0">
              <a:ea typeface="宋体" panose="02010600030101010101" pitchFamily="2" charset="-122"/>
            </a:endParaRPr>
          </a:p>
        </p:txBody>
      </p:sp>
      <p:sp>
        <p:nvSpPr>
          <p:cNvPr id="66563" name="Rectangle 3"/>
          <p:cNvSpPr>
            <a:spLocks noGrp="1"/>
          </p:cNvSpPr>
          <p:nvPr>
            <p:ph idx="1"/>
          </p:nvPr>
        </p:nvSpPr>
        <p:spPr>
          <a:xfrm>
            <a:off x="1016000" y="5219700"/>
            <a:ext cx="7696200" cy="838200"/>
          </a:xfrm>
          <a:ln/>
        </p:spPr>
        <p:txBody>
          <a:bodyPr vert="horz" wrap="square" lIns="91440" tIns="45720" rIns="91440" bIns="45720" anchor="t" anchorCtr="0"/>
          <a:p>
            <a:pPr marL="609600" indent="-609600" algn="l" eaLnBrk="1" hangingPunct="1">
              <a:lnSpc>
                <a:spcPct val="90000"/>
              </a:lnSpc>
              <a:buFontTx/>
              <a:buAutoNum type="alphaLcParenR"/>
            </a:pPr>
            <a:r>
              <a:rPr lang="en-US" altLang="zh-CN" sz="2400" dirty="0">
                <a:ea typeface="宋体" panose="02010600030101010101" pitchFamily="2" charset="-122"/>
              </a:rPr>
              <a:t>Transaction to reserve three flights commits</a:t>
            </a:r>
            <a:endParaRPr lang="en-US" altLang="zh-CN" sz="2400" dirty="0">
              <a:ea typeface="宋体" panose="02010600030101010101" pitchFamily="2" charset="-122"/>
            </a:endParaRPr>
          </a:p>
          <a:p>
            <a:pPr marL="609600" indent="-609600" algn="l" eaLnBrk="1" hangingPunct="1">
              <a:lnSpc>
                <a:spcPct val="90000"/>
              </a:lnSpc>
              <a:buFontTx/>
              <a:buAutoNum type="alphaLcParenR"/>
            </a:pPr>
            <a:r>
              <a:rPr lang="en-US" altLang="zh-CN" sz="2400" dirty="0">
                <a:ea typeface="宋体" panose="02010600030101010101" pitchFamily="2" charset="-122"/>
              </a:rPr>
              <a:t>Transaction aborts when third flight is unavailable</a:t>
            </a:r>
            <a:endParaRPr lang="en-US" altLang="zh-CN" sz="2400" dirty="0">
              <a:ea typeface="宋体" panose="02010600030101010101" pitchFamily="2" charset="-122"/>
            </a:endParaRPr>
          </a:p>
        </p:txBody>
      </p:sp>
      <p:graphicFrame>
        <p:nvGraphicFramePr>
          <p:cNvPr id="113678" name="Group 14"/>
          <p:cNvGraphicFramePr>
            <a:graphicFrameLocks noGrp="1"/>
          </p:cNvGraphicFramePr>
          <p:nvPr/>
        </p:nvGraphicFramePr>
        <p:xfrm>
          <a:off x="477838" y="1970088"/>
          <a:ext cx="8356600" cy="2895600"/>
        </p:xfrm>
        <a:graphic>
          <a:graphicData uri="http://schemas.openxmlformats.org/drawingml/2006/table">
            <a:tbl>
              <a:tblPr/>
              <a:tblGrid>
                <a:gridCol w="3723659"/>
                <a:gridCol w="4632941"/>
              </a:tblGrid>
              <a:tr h="2895600">
                <a:tc>
                  <a:txBody>
                    <a:bodyPr/>
                    <a:lstStyle/>
                    <a:p>
                      <a:pPr marL="0" marR="0" lvl="0" indent="0" algn="l" defTabSz="914400" rtl="0" eaLnBrk="1" fontAlgn="base" latinLnBrk="0" hangingPunct="1">
                        <a:lnSpc>
                          <a:spcPct val="150000"/>
                        </a:lnSpc>
                        <a:spcBef>
                          <a:spcPct val="20000"/>
                        </a:spcBef>
                        <a:spcAft>
                          <a:spcPct val="0"/>
                        </a:spcAft>
                        <a:buClr>
                          <a:schemeClr val="accent2"/>
                        </a:buClr>
                        <a:buSzTx/>
                        <a:buFontTx/>
                        <a:buNone/>
                      </a:pPr>
                      <a:r>
                        <a:rPr kumimoji="0" lang="en-US" altLang="zh-CN" sz="2000" b="0" i="0" u="none" strike="noStrike" cap="none" normalizeH="0" baseline="0" dirty="0">
                          <a:ln>
                            <a:noFill/>
                          </a:ln>
                          <a:solidFill>
                            <a:schemeClr val="tx1"/>
                          </a:solidFill>
                          <a:effectLst/>
                          <a:latin typeface="+mn-ea"/>
                          <a:ea typeface="+mn-ea"/>
                        </a:rPr>
                        <a:t>BEGIN_TRANSACTION</a:t>
                      </a:r>
                      <a:br>
                        <a:rPr kumimoji="0" lang="en-US" altLang="zh-CN" sz="2000" b="0" i="0" u="none" strike="noStrike" cap="none" normalizeH="0" baseline="0" dirty="0">
                          <a:ln>
                            <a:noFill/>
                          </a:ln>
                          <a:solidFill>
                            <a:schemeClr val="tx1"/>
                          </a:solidFill>
                          <a:effectLst/>
                          <a:latin typeface="+mn-ea"/>
                          <a:ea typeface="+mn-ea"/>
                        </a:rPr>
                      </a:br>
                      <a:r>
                        <a:rPr kumimoji="0" lang="en-US" altLang="zh-CN" sz="2000" b="0" i="0" u="none" strike="noStrike" cap="none" normalizeH="0" baseline="0" dirty="0">
                          <a:ln>
                            <a:noFill/>
                          </a:ln>
                          <a:solidFill>
                            <a:schemeClr val="tx1"/>
                          </a:solidFill>
                          <a:effectLst/>
                          <a:latin typeface="+mn-ea"/>
                          <a:ea typeface="+mn-ea"/>
                        </a:rPr>
                        <a:t>      reserve WP -&gt; JFK;</a:t>
                      </a:r>
                      <a:br>
                        <a:rPr kumimoji="0" lang="en-US" altLang="zh-CN" sz="2000" b="0" i="0" u="none" strike="noStrike" cap="none" normalizeH="0" baseline="0" dirty="0">
                          <a:ln>
                            <a:noFill/>
                          </a:ln>
                          <a:solidFill>
                            <a:schemeClr val="tx1"/>
                          </a:solidFill>
                          <a:effectLst/>
                          <a:latin typeface="+mn-ea"/>
                          <a:ea typeface="+mn-ea"/>
                        </a:rPr>
                      </a:br>
                      <a:r>
                        <a:rPr kumimoji="0" lang="en-US" altLang="zh-CN" sz="2000" b="0" i="0" u="none" strike="noStrike" cap="none" normalizeH="0" baseline="0" dirty="0">
                          <a:ln>
                            <a:noFill/>
                          </a:ln>
                          <a:solidFill>
                            <a:schemeClr val="tx1"/>
                          </a:solidFill>
                          <a:effectLst/>
                          <a:latin typeface="+mn-ea"/>
                          <a:ea typeface="+mn-ea"/>
                        </a:rPr>
                        <a:t>      reserve JFK -&gt; Nairobi;</a:t>
                      </a:r>
                      <a:br>
                        <a:rPr kumimoji="0" lang="en-US" altLang="zh-CN" sz="2000" b="0" i="0" u="none" strike="noStrike" cap="none" normalizeH="0" baseline="0" dirty="0">
                          <a:ln>
                            <a:noFill/>
                          </a:ln>
                          <a:solidFill>
                            <a:schemeClr val="tx1"/>
                          </a:solidFill>
                          <a:effectLst/>
                          <a:latin typeface="+mn-ea"/>
                          <a:ea typeface="+mn-ea"/>
                        </a:rPr>
                      </a:br>
                      <a:r>
                        <a:rPr kumimoji="0" lang="en-US" altLang="zh-CN" sz="2000" b="0" i="0" u="none" strike="noStrike" cap="none" normalizeH="0" baseline="0" dirty="0">
                          <a:ln>
                            <a:noFill/>
                          </a:ln>
                          <a:solidFill>
                            <a:schemeClr val="tx1"/>
                          </a:solidFill>
                          <a:effectLst/>
                          <a:latin typeface="+mn-ea"/>
                          <a:ea typeface="+mn-ea"/>
                        </a:rPr>
                        <a:t>      reserve Nairobi -&gt; </a:t>
                      </a:r>
                      <a:r>
                        <a:rPr kumimoji="0" lang="en-US" altLang="zh-CN" sz="2000" b="0" i="0" u="none" strike="noStrike" cap="none" normalizeH="0" baseline="0" dirty="0" err="1">
                          <a:ln>
                            <a:noFill/>
                          </a:ln>
                          <a:solidFill>
                            <a:schemeClr val="tx1"/>
                          </a:solidFill>
                          <a:effectLst/>
                          <a:latin typeface="+mn-ea"/>
                          <a:ea typeface="+mn-ea"/>
                        </a:rPr>
                        <a:t>Malindi</a:t>
                      </a:r>
                      <a:r>
                        <a:rPr kumimoji="0" lang="en-US" altLang="zh-CN" sz="2000" b="0" i="0" u="none" strike="noStrike" cap="none" normalizeH="0" baseline="0" dirty="0">
                          <a:ln>
                            <a:noFill/>
                          </a:ln>
                          <a:solidFill>
                            <a:schemeClr val="tx1"/>
                          </a:solidFill>
                          <a:effectLst/>
                          <a:latin typeface="+mn-ea"/>
                          <a:ea typeface="+mn-ea"/>
                        </a:rPr>
                        <a:t>;</a:t>
                      </a:r>
                      <a:br>
                        <a:rPr kumimoji="0" lang="en-US" altLang="zh-CN" sz="2000" b="0" i="0" u="none" strike="noStrike" cap="none" normalizeH="0" baseline="0" dirty="0">
                          <a:ln>
                            <a:noFill/>
                          </a:ln>
                          <a:solidFill>
                            <a:schemeClr val="tx1"/>
                          </a:solidFill>
                          <a:effectLst/>
                          <a:latin typeface="+mn-ea"/>
                          <a:ea typeface="+mn-ea"/>
                        </a:rPr>
                      </a:br>
                      <a:r>
                        <a:rPr kumimoji="0" lang="en-US" altLang="zh-CN" sz="2000" b="0" i="0" u="none" strike="noStrike" cap="none" normalizeH="0" baseline="0" dirty="0">
                          <a:ln>
                            <a:noFill/>
                          </a:ln>
                          <a:solidFill>
                            <a:schemeClr val="tx1"/>
                          </a:solidFill>
                          <a:effectLst/>
                          <a:latin typeface="+mn-ea"/>
                          <a:ea typeface="+mn-ea"/>
                        </a:rPr>
                        <a:t>END_TRANSACTION</a:t>
                      </a:r>
                      <a:endParaRPr kumimoji="0" lang="en-US" altLang="zh-CN" sz="2000" b="0" i="0" u="none" strike="noStrike" cap="none" normalizeH="0" baseline="0" dirty="0">
                        <a:ln>
                          <a:noFill/>
                        </a:ln>
                        <a:solidFill>
                          <a:schemeClr val="tx1"/>
                        </a:solidFill>
                        <a:effectLst/>
                        <a:latin typeface="+mn-ea"/>
                        <a:ea typeface="+mn-ea"/>
                      </a:endParaRPr>
                    </a:p>
                    <a:p>
                      <a:pPr marL="0" marR="0" lvl="0" indent="0" algn="l" defTabSz="914400" rtl="0" eaLnBrk="1" fontAlgn="base" latinLnBrk="0" hangingPunct="1">
                        <a:lnSpc>
                          <a:spcPct val="150000"/>
                        </a:lnSpc>
                        <a:spcBef>
                          <a:spcPct val="20000"/>
                        </a:spcBef>
                        <a:spcAft>
                          <a:spcPct val="0"/>
                        </a:spcAft>
                        <a:buClr>
                          <a:schemeClr val="accent2"/>
                        </a:buClr>
                        <a:buSzTx/>
                        <a:buFontTx/>
                        <a:buNone/>
                      </a:pPr>
                      <a:r>
                        <a:rPr kumimoji="0" lang="en-US" altLang="zh-CN" sz="2000" b="0" i="0" u="none" strike="noStrike" cap="none" normalizeH="0" baseline="0" dirty="0">
                          <a:ln>
                            <a:noFill/>
                          </a:ln>
                          <a:solidFill>
                            <a:schemeClr val="tx1"/>
                          </a:solidFill>
                          <a:effectLst/>
                          <a:latin typeface="+mn-ea"/>
                          <a:ea typeface="+mn-ea"/>
                        </a:rPr>
                        <a:t>               (a) </a:t>
                      </a:r>
                      <a:endParaRPr kumimoji="0" lang="en-US" altLang="zh-CN" sz="2000" b="0" i="0" u="none" strike="noStrike" cap="none" normalizeH="0" baseline="0" dirty="0">
                        <a:ln>
                          <a:noFill/>
                        </a:ln>
                        <a:solidFill>
                          <a:schemeClr val="tx1"/>
                        </a:solidFill>
                        <a:effectLst/>
                        <a:latin typeface="+mn-ea"/>
                        <a:ea typeface="+mn-ea"/>
                      </a:endParaRPr>
                    </a:p>
                  </a:txBody>
                  <a:tcPr marL="91434" marR="91434" marT="46629" marB="46629" horzOverflow="overflow">
                    <a:lnL cap="flat">
                      <a:noFill/>
                    </a:lnL>
                    <a:lnR>
                      <a:noFill/>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50000"/>
                        </a:lnSpc>
                        <a:spcBef>
                          <a:spcPct val="20000"/>
                        </a:spcBef>
                        <a:spcAft>
                          <a:spcPct val="0"/>
                        </a:spcAft>
                        <a:buClr>
                          <a:schemeClr val="accent2"/>
                        </a:buClr>
                        <a:buSzTx/>
                        <a:buFontTx/>
                        <a:buNone/>
                      </a:pPr>
                      <a:r>
                        <a:rPr kumimoji="0" lang="en-US" altLang="zh-CN" sz="2000" b="0" i="0" u="none" strike="noStrike" cap="none" normalizeH="0" baseline="0" dirty="0">
                          <a:ln>
                            <a:noFill/>
                          </a:ln>
                          <a:solidFill>
                            <a:schemeClr val="tx1"/>
                          </a:solidFill>
                          <a:effectLst/>
                          <a:latin typeface="+mn-ea"/>
                          <a:ea typeface="+mn-ea"/>
                        </a:rPr>
                        <a:t>BEGIN_TRANSACTION</a:t>
                      </a:r>
                      <a:br>
                        <a:rPr kumimoji="0" lang="en-US" altLang="zh-CN" sz="2000" b="0" i="0" u="none" strike="noStrike" cap="none" normalizeH="0" baseline="0" dirty="0">
                          <a:ln>
                            <a:noFill/>
                          </a:ln>
                          <a:solidFill>
                            <a:schemeClr val="tx1"/>
                          </a:solidFill>
                          <a:effectLst/>
                          <a:latin typeface="+mn-ea"/>
                          <a:ea typeface="+mn-ea"/>
                        </a:rPr>
                      </a:br>
                      <a:r>
                        <a:rPr kumimoji="0" lang="en-US" altLang="zh-CN" sz="2000" b="0" i="0" u="none" strike="noStrike" cap="none" normalizeH="0" baseline="0" dirty="0">
                          <a:ln>
                            <a:noFill/>
                          </a:ln>
                          <a:solidFill>
                            <a:schemeClr val="tx1"/>
                          </a:solidFill>
                          <a:effectLst/>
                          <a:latin typeface="+mn-ea"/>
                          <a:ea typeface="+mn-ea"/>
                        </a:rPr>
                        <a:t>      reserve WP -&gt; JFK;</a:t>
                      </a:r>
                      <a:br>
                        <a:rPr kumimoji="0" lang="en-US" altLang="zh-CN" sz="2000" b="0" i="0" u="none" strike="noStrike" cap="none" normalizeH="0" baseline="0" dirty="0">
                          <a:ln>
                            <a:noFill/>
                          </a:ln>
                          <a:solidFill>
                            <a:schemeClr val="tx1"/>
                          </a:solidFill>
                          <a:effectLst/>
                          <a:latin typeface="+mn-ea"/>
                          <a:ea typeface="+mn-ea"/>
                        </a:rPr>
                      </a:br>
                      <a:r>
                        <a:rPr kumimoji="0" lang="en-US" altLang="zh-CN" sz="2000" b="0" i="0" u="none" strike="noStrike" cap="none" normalizeH="0" baseline="0" dirty="0">
                          <a:ln>
                            <a:noFill/>
                          </a:ln>
                          <a:solidFill>
                            <a:schemeClr val="tx1"/>
                          </a:solidFill>
                          <a:effectLst/>
                          <a:latin typeface="+mn-ea"/>
                          <a:ea typeface="+mn-ea"/>
                        </a:rPr>
                        <a:t>      reserve JFK -&gt; Nairobi;</a:t>
                      </a:r>
                      <a:br>
                        <a:rPr kumimoji="0" lang="en-US" altLang="zh-CN" sz="2000" b="0" i="0" u="none" strike="noStrike" cap="none" normalizeH="0" baseline="0" dirty="0">
                          <a:ln>
                            <a:noFill/>
                          </a:ln>
                          <a:solidFill>
                            <a:schemeClr val="tx1"/>
                          </a:solidFill>
                          <a:effectLst/>
                          <a:latin typeface="+mn-ea"/>
                          <a:ea typeface="+mn-ea"/>
                        </a:rPr>
                      </a:br>
                      <a:r>
                        <a:rPr kumimoji="0" lang="en-US" altLang="zh-CN" sz="2000" b="0" i="0" u="none" strike="noStrike" cap="none" normalizeH="0" baseline="0" dirty="0">
                          <a:ln>
                            <a:noFill/>
                          </a:ln>
                          <a:solidFill>
                            <a:schemeClr val="tx1"/>
                          </a:solidFill>
                          <a:effectLst/>
                          <a:latin typeface="+mn-ea"/>
                          <a:ea typeface="+mn-ea"/>
                        </a:rPr>
                        <a:t>      reserve Nairobi -&gt; </a:t>
                      </a:r>
                      <a:r>
                        <a:rPr kumimoji="0" lang="en-US" altLang="zh-CN" sz="2000" b="0" i="0" u="none" strike="noStrike" cap="none" normalizeH="0" baseline="0" dirty="0" err="1">
                          <a:ln>
                            <a:noFill/>
                          </a:ln>
                          <a:solidFill>
                            <a:schemeClr val="tx1"/>
                          </a:solidFill>
                          <a:effectLst/>
                          <a:latin typeface="+mn-ea"/>
                          <a:ea typeface="+mn-ea"/>
                        </a:rPr>
                        <a:t>Malindi</a:t>
                      </a:r>
                      <a:r>
                        <a:rPr kumimoji="0" lang="en-US" altLang="zh-CN" sz="2000" b="0" i="0" u="none" strike="noStrike" cap="none" normalizeH="0" baseline="0" dirty="0">
                          <a:ln>
                            <a:noFill/>
                          </a:ln>
                          <a:solidFill>
                            <a:schemeClr val="tx1"/>
                          </a:solidFill>
                          <a:effectLst/>
                          <a:latin typeface="+mn-ea"/>
                          <a:ea typeface="+mn-ea"/>
                        </a:rPr>
                        <a:t> full =&gt;</a:t>
                      </a:r>
                      <a:br>
                        <a:rPr kumimoji="0" lang="en-US" altLang="zh-CN" sz="2000" b="0" i="0" u="none" strike="noStrike" cap="none" normalizeH="0" baseline="0" dirty="0">
                          <a:ln>
                            <a:noFill/>
                          </a:ln>
                          <a:solidFill>
                            <a:schemeClr val="tx1"/>
                          </a:solidFill>
                          <a:effectLst/>
                          <a:latin typeface="+mn-ea"/>
                          <a:ea typeface="+mn-ea"/>
                        </a:rPr>
                      </a:br>
                      <a:r>
                        <a:rPr kumimoji="0" lang="en-US" altLang="zh-CN" sz="2000" b="0" i="0" u="none" strike="noStrike" cap="none" normalizeH="0" baseline="0" dirty="0">
                          <a:ln>
                            <a:noFill/>
                          </a:ln>
                          <a:solidFill>
                            <a:schemeClr val="tx1"/>
                          </a:solidFill>
                          <a:effectLst/>
                          <a:latin typeface="+mn-ea"/>
                          <a:ea typeface="+mn-ea"/>
                        </a:rPr>
                        <a:t>                  ABORT_TRANSACTION</a:t>
                      </a:r>
                      <a:endParaRPr kumimoji="0" lang="en-US" altLang="zh-CN" sz="2000" b="0" i="0" u="none" strike="noStrike" cap="none" normalizeH="0" baseline="0" dirty="0">
                        <a:ln>
                          <a:noFill/>
                        </a:ln>
                        <a:solidFill>
                          <a:schemeClr val="tx1"/>
                        </a:solidFill>
                        <a:effectLst/>
                        <a:latin typeface="+mn-ea"/>
                        <a:ea typeface="+mn-ea"/>
                      </a:endParaRPr>
                    </a:p>
                    <a:p>
                      <a:pPr marL="0" marR="0" lvl="0" indent="0" algn="l" defTabSz="914400" rtl="0" eaLnBrk="1" fontAlgn="base" latinLnBrk="0" hangingPunct="1">
                        <a:lnSpc>
                          <a:spcPct val="150000"/>
                        </a:lnSpc>
                        <a:spcBef>
                          <a:spcPct val="20000"/>
                        </a:spcBef>
                        <a:spcAft>
                          <a:spcPct val="0"/>
                        </a:spcAft>
                        <a:buClr>
                          <a:schemeClr val="accent2"/>
                        </a:buClr>
                        <a:buSzTx/>
                        <a:buFontTx/>
                        <a:buNone/>
                      </a:pPr>
                      <a:r>
                        <a:rPr kumimoji="0" lang="en-US" altLang="zh-CN" sz="2000" b="0" i="0" u="none" strike="noStrike" cap="none" normalizeH="0" baseline="0" dirty="0">
                          <a:ln>
                            <a:noFill/>
                          </a:ln>
                          <a:solidFill>
                            <a:schemeClr val="tx1"/>
                          </a:solidFill>
                          <a:effectLst/>
                          <a:latin typeface="+mn-ea"/>
                          <a:ea typeface="+mn-ea"/>
                        </a:rPr>
                        <a:t>                         (b)</a:t>
                      </a:r>
                      <a:endParaRPr kumimoji="0" lang="en-US" altLang="zh-CN" sz="2000" b="0" i="0" u="none" strike="noStrike" cap="none" normalizeH="0" baseline="0" dirty="0">
                        <a:ln>
                          <a:noFill/>
                        </a:ln>
                        <a:solidFill>
                          <a:schemeClr val="tx1"/>
                        </a:solidFill>
                        <a:effectLst/>
                        <a:latin typeface="+mn-ea"/>
                        <a:ea typeface="+mn-ea"/>
                      </a:endParaRPr>
                    </a:p>
                  </a:txBody>
                  <a:tcPr marL="91434" marR="91434" marT="46629" marB="46629" horzOverflow="overflow">
                    <a:lnL>
                      <a:noFill/>
                    </a:lnL>
                    <a:lnR cap="flat">
                      <a:noFill/>
                    </a:lnR>
                    <a:lnT cap="flat">
                      <a:noFill/>
                    </a:lnT>
                    <a:lnB cap="flat">
                      <a:noFill/>
                    </a:lnB>
                    <a:lnTlToBr>
                      <a:noFill/>
                    </a:lnTlToBr>
                    <a:lnBlToTr>
                      <a:noFill/>
                    </a:lnBlToTr>
                    <a:noFill/>
                  </a:tcPr>
                </a:tc>
              </a:tr>
            </a:tbl>
          </a:graphicData>
        </a:graphic>
      </p:graphicFrame>
      <p:sp>
        <p:nvSpPr>
          <p:cNvPr id="66567" name="Rectangle 15"/>
          <p:cNvSpPr/>
          <p:nvPr/>
        </p:nvSpPr>
        <p:spPr>
          <a:xfrm>
            <a:off x="352425" y="1181100"/>
            <a:ext cx="7696200" cy="590550"/>
          </a:xfrm>
          <a:prstGeom prst="rect">
            <a:avLst/>
          </a:prstGeom>
          <a:no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609600" lvl="0" indent="-609600" algn="l" eaLnBrk="1" hangingPunct="1">
              <a:lnSpc>
                <a:spcPct val="90000"/>
              </a:lnSpc>
              <a:buNone/>
            </a:pPr>
            <a:r>
              <a:rPr lang="zh-CN" altLang="en-US" sz="2400" b="1" dirty="0">
                <a:ea typeface="宋体" panose="02010600030101010101" pitchFamily="2" charset="-122"/>
              </a:rPr>
              <a:t>从纽约</a:t>
            </a:r>
            <a:r>
              <a:rPr lang="en-US" altLang="zh-CN" sz="2400" b="1" dirty="0">
                <a:ea typeface="宋体" panose="02010600030101010101" pitchFamily="2" charset="-122"/>
              </a:rPr>
              <a:t>White Plains </a:t>
            </a:r>
            <a:r>
              <a:rPr lang="zh-CN" altLang="en-US" sz="2400" b="1" dirty="0">
                <a:ea typeface="宋体" panose="02010600030101010101" pitchFamily="2" charset="-122"/>
              </a:rPr>
              <a:t>到肯尼亚的</a:t>
            </a:r>
            <a:r>
              <a:rPr lang="en-US" altLang="zh-CN" sz="2400" b="1" dirty="0">
                <a:latin typeface="Arial" panose="020B0604020202020204" pitchFamily="34" charset="0"/>
                <a:ea typeface="宋体" panose="02010600030101010101" pitchFamily="2" charset="-122"/>
              </a:rPr>
              <a:t>Malindi</a:t>
            </a:r>
            <a:r>
              <a:rPr lang="zh-CN" altLang="en-US" sz="2400" b="1" dirty="0">
                <a:latin typeface="Arial" panose="020B0604020202020204" pitchFamily="34" charset="0"/>
                <a:ea typeface="宋体" panose="02010600030101010101" pitchFamily="2" charset="-122"/>
              </a:rPr>
              <a:t>经过</a:t>
            </a:r>
            <a:r>
              <a:rPr lang="en-US" altLang="zh-CN" sz="2400" b="1" dirty="0">
                <a:latin typeface="Arial" panose="020B0604020202020204" pitchFamily="34" charset="0"/>
                <a:ea typeface="宋体" panose="02010600030101010101" pitchFamily="2" charset="-122"/>
              </a:rPr>
              <a:t>3</a:t>
            </a:r>
            <a:r>
              <a:rPr lang="zh-CN" altLang="en-US" sz="2400" b="1" dirty="0">
                <a:latin typeface="Arial" panose="020B0604020202020204" pitchFamily="34" charset="0"/>
                <a:ea typeface="宋体" panose="02010600030101010101" pitchFamily="2" charset="-122"/>
              </a:rPr>
              <a:t>个航班：</a:t>
            </a:r>
            <a:endParaRPr lang="zh-CN" altLang="en-US" sz="2400" b="1" dirty="0">
              <a:latin typeface="Arial" panose="020B0604020202020204" pitchFamily="34" charset="0"/>
              <a:ea typeface="宋体" panose="02010600030101010101" pitchFamily="2"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2"/>
          <p:cNvSpPr>
            <a:spLocks noGrp="1"/>
          </p:cNvSpPr>
          <p:nvPr>
            <p:ph type="title"/>
          </p:nvPr>
        </p:nvSpPr>
        <p:spPr>
          <a:ln/>
        </p:spPr>
        <p:txBody>
          <a:bodyPr vert="horz" wrap="square" lIns="91440" tIns="45720" rIns="91440" bIns="45720" anchor="ctr" anchorCtr="0"/>
          <a:p>
            <a:pPr eaLnBrk="1" hangingPunct="1"/>
            <a:r>
              <a:rPr lang="en-US" altLang="zh-CN" dirty="0">
                <a:ea typeface="宋体" panose="02010600030101010101" pitchFamily="2" charset="-122"/>
              </a:rPr>
              <a:t>Classification of Transactions</a:t>
            </a:r>
            <a:endParaRPr lang="en-US" altLang="zh-CN" dirty="0">
              <a:ea typeface="宋体" panose="02010600030101010101" pitchFamily="2" charset="-122"/>
            </a:endParaRPr>
          </a:p>
        </p:txBody>
      </p:sp>
      <p:sp>
        <p:nvSpPr>
          <p:cNvPr id="67587" name="Rectangle 3"/>
          <p:cNvSpPr>
            <a:spLocks noGrp="1"/>
          </p:cNvSpPr>
          <p:nvPr>
            <p:ph idx="1"/>
          </p:nvPr>
        </p:nvSpPr>
        <p:spPr>
          <a:xfrm>
            <a:off x="769938" y="1479550"/>
            <a:ext cx="7602537" cy="2825750"/>
          </a:xfrm>
          <a:ln/>
        </p:spPr>
        <p:txBody>
          <a:bodyPr vert="horz" wrap="square" lIns="91440" tIns="45720" rIns="91440" bIns="45720" anchor="t" anchorCtr="0"/>
          <a:p>
            <a:pPr marL="609600" indent="-609600" algn="l" eaLnBrk="1" hangingPunct="1">
              <a:lnSpc>
                <a:spcPct val="150000"/>
              </a:lnSpc>
            </a:pPr>
            <a:r>
              <a:rPr lang="en-US" altLang="zh-CN" dirty="0">
                <a:ea typeface="宋体" panose="02010600030101010101" pitchFamily="2" charset="-122"/>
              </a:rPr>
              <a:t>Flat transactions</a:t>
            </a:r>
            <a:endParaRPr lang="en-US" altLang="zh-CN" dirty="0">
              <a:ea typeface="宋体" panose="02010600030101010101" pitchFamily="2" charset="-122"/>
            </a:endParaRPr>
          </a:p>
          <a:p>
            <a:pPr marL="609600" indent="-609600" algn="l" eaLnBrk="1" hangingPunct="1">
              <a:lnSpc>
                <a:spcPct val="150000"/>
              </a:lnSpc>
            </a:pPr>
            <a:r>
              <a:rPr lang="en-US" altLang="zh-CN" dirty="0">
                <a:ea typeface="宋体" panose="02010600030101010101" pitchFamily="2" charset="-122"/>
              </a:rPr>
              <a:t>Nested transactions</a:t>
            </a:r>
            <a:endParaRPr lang="en-US" altLang="zh-CN" dirty="0">
              <a:ea typeface="宋体" panose="02010600030101010101" pitchFamily="2" charset="-122"/>
            </a:endParaRPr>
          </a:p>
          <a:p>
            <a:pPr marL="609600" indent="-609600" algn="l" eaLnBrk="1" hangingPunct="1">
              <a:lnSpc>
                <a:spcPct val="150000"/>
              </a:lnSpc>
            </a:pPr>
            <a:r>
              <a:rPr lang="en-US" altLang="zh-CN" dirty="0">
                <a:ea typeface="宋体" panose="02010600030101010101" pitchFamily="2" charset="-122"/>
              </a:rPr>
              <a:t>Distributed transactions</a:t>
            </a:r>
            <a:endParaRPr lang="en-US" altLang="zh-CN" dirty="0">
              <a:ea typeface="宋体" panose="02010600030101010101" pitchFamily="2"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2"/>
          <p:cNvSpPr>
            <a:spLocks noGrp="1"/>
          </p:cNvSpPr>
          <p:nvPr>
            <p:ph type="title"/>
          </p:nvPr>
        </p:nvSpPr>
        <p:spPr>
          <a:xfrm>
            <a:off x="0" y="0"/>
            <a:ext cx="9144000" cy="614363"/>
          </a:xfrm>
          <a:ln/>
        </p:spPr>
        <p:txBody>
          <a:bodyPr vert="horz" wrap="square" lIns="91440" tIns="45720" rIns="91440" bIns="45720" anchor="ctr" anchorCtr="0"/>
          <a:p>
            <a:pPr eaLnBrk="1" hangingPunct="1"/>
            <a:r>
              <a:rPr lang="en-US" altLang="zh-CN" dirty="0">
                <a:ea typeface="宋体" panose="02010600030101010101" pitchFamily="2" charset="-122"/>
              </a:rPr>
              <a:t>Classification of Transactions</a:t>
            </a:r>
            <a:endParaRPr lang="en-US" altLang="zh-CN" dirty="0">
              <a:ea typeface="宋体" panose="02010600030101010101" pitchFamily="2" charset="-122"/>
            </a:endParaRPr>
          </a:p>
        </p:txBody>
      </p:sp>
      <p:sp>
        <p:nvSpPr>
          <p:cNvPr id="68611" name="Rectangle 3"/>
          <p:cNvSpPr>
            <a:spLocks noGrp="1"/>
          </p:cNvSpPr>
          <p:nvPr>
            <p:ph idx="1"/>
          </p:nvPr>
        </p:nvSpPr>
        <p:spPr>
          <a:xfrm>
            <a:off x="155575" y="533400"/>
            <a:ext cx="8467725" cy="2400300"/>
          </a:xfrm>
          <a:ln/>
        </p:spPr>
        <p:txBody>
          <a:bodyPr vert="horz" wrap="square" lIns="91440" tIns="45720" rIns="91440" bIns="45720" anchor="t" anchorCtr="0"/>
          <a:p>
            <a:pPr algn="l" eaLnBrk="1" hangingPunct="1">
              <a:lnSpc>
                <a:spcPct val="150000"/>
              </a:lnSpc>
              <a:buFont typeface="Wingdings" panose="05000000000000000000" pitchFamily="2" charset="2"/>
              <a:buChar char="Ø"/>
            </a:pPr>
            <a:r>
              <a:rPr lang="en-US" altLang="zh-CN" sz="2000" b="1" dirty="0">
                <a:ea typeface="宋体" panose="02010600030101010101" pitchFamily="2" charset="-122"/>
              </a:rPr>
              <a:t>Nested transactions</a:t>
            </a:r>
            <a:r>
              <a:rPr lang="zh-CN" altLang="en-US" sz="2000" b="1" dirty="0">
                <a:ea typeface="宋体" panose="02010600030101010101" pitchFamily="2" charset="-122"/>
              </a:rPr>
              <a:t>：事务包含子事务，比如：预定</a:t>
            </a:r>
            <a:r>
              <a:rPr lang="en-US" altLang="zh-CN" sz="2000" b="1" dirty="0">
                <a:ea typeface="宋体" panose="02010600030101010101" pitchFamily="2" charset="-122"/>
              </a:rPr>
              <a:t>3</a:t>
            </a:r>
            <a:r>
              <a:rPr lang="zh-CN" altLang="en-US" sz="2000" b="1" dirty="0">
                <a:ea typeface="宋体" panose="02010600030101010101" pitchFamily="2" charset="-122"/>
              </a:rPr>
              <a:t>个不同航班的事务可以在逻辑上分成</a:t>
            </a:r>
            <a:r>
              <a:rPr lang="en-US" altLang="zh-CN" sz="2000" b="1" dirty="0">
                <a:ea typeface="宋体" panose="02010600030101010101" pitchFamily="2" charset="-122"/>
              </a:rPr>
              <a:t>3</a:t>
            </a:r>
            <a:r>
              <a:rPr lang="zh-CN" altLang="en-US" sz="2000" b="1" dirty="0">
                <a:ea typeface="宋体" panose="02010600030101010101" pitchFamily="2" charset="-122"/>
              </a:rPr>
              <a:t>个子事务，他们可以独立管理和运行。</a:t>
            </a:r>
            <a:endParaRPr lang="en-US" altLang="zh-CN" sz="2000" b="1" dirty="0">
              <a:ea typeface="宋体" panose="02010600030101010101" pitchFamily="2" charset="-122"/>
            </a:endParaRPr>
          </a:p>
          <a:p>
            <a:pPr algn="l" eaLnBrk="1" hangingPunct="1">
              <a:lnSpc>
                <a:spcPct val="150000"/>
              </a:lnSpc>
              <a:buFont typeface="Wingdings" panose="05000000000000000000" pitchFamily="2" charset="2"/>
              <a:buChar char="Ø"/>
            </a:pPr>
            <a:r>
              <a:rPr lang="en-US" altLang="zh-CN" sz="2000" b="1" dirty="0">
                <a:ea typeface="宋体" panose="02010600030101010101" pitchFamily="2" charset="-122"/>
              </a:rPr>
              <a:t>Distributed transactions</a:t>
            </a:r>
            <a:r>
              <a:rPr lang="zh-CN" altLang="en-US" sz="2000" b="1" dirty="0">
                <a:ea typeface="宋体" panose="02010600030101010101" pitchFamily="2" charset="-122"/>
              </a:rPr>
              <a:t>：单级事务需要处理分布在多台机器上的数据。例如：预定从纽约到</a:t>
            </a:r>
            <a:r>
              <a:rPr lang="en-US" altLang="zh-CN" sz="2000" b="1" dirty="0">
                <a:ea typeface="宋体" panose="02010600030101010101" pitchFamily="2" charset="-122"/>
              </a:rPr>
              <a:t>Nairobi</a:t>
            </a:r>
            <a:r>
              <a:rPr lang="zh-CN" altLang="en-US" sz="2000" b="1" dirty="0">
                <a:ea typeface="宋体" panose="02010600030101010101" pitchFamily="2" charset="-122"/>
              </a:rPr>
              <a:t>航班座位的子事务涉及分布在两个城市的</a:t>
            </a:r>
            <a:r>
              <a:rPr lang="en-US" altLang="zh-CN" sz="2000" b="1" dirty="0">
                <a:ea typeface="宋体" panose="02010600030101010101" pitchFamily="2" charset="-122"/>
              </a:rPr>
              <a:t>2</a:t>
            </a:r>
            <a:r>
              <a:rPr lang="zh-CN" altLang="en-US" sz="2000" b="1" dirty="0">
                <a:ea typeface="宋体" panose="02010600030101010101" pitchFamily="2" charset="-122"/>
              </a:rPr>
              <a:t>个数据库。</a:t>
            </a:r>
            <a:endParaRPr lang="zh-CN" altLang="en-US" sz="2000" b="1" dirty="0">
              <a:ea typeface="宋体" panose="02010600030101010101" pitchFamily="2" charset="-122"/>
            </a:endParaRPr>
          </a:p>
          <a:p>
            <a:pPr algn="l" eaLnBrk="1" hangingPunct="1">
              <a:lnSpc>
                <a:spcPct val="150000"/>
              </a:lnSpc>
              <a:buFont typeface="Wingdings" panose="05000000000000000000" pitchFamily="2" charset="2"/>
              <a:buChar char="Ø"/>
            </a:pPr>
            <a:endParaRPr lang="en-US" altLang="zh-CN" sz="2000" b="1" dirty="0">
              <a:ea typeface="宋体" panose="02010600030101010101" pitchFamily="2" charset="-122"/>
            </a:endParaRPr>
          </a:p>
        </p:txBody>
      </p:sp>
      <p:sp>
        <p:nvSpPr>
          <p:cNvPr id="4" name="Rectangle 3"/>
          <p:cNvSpPr txBox="1">
            <a:spLocks noChangeArrowheads="1"/>
          </p:cNvSpPr>
          <p:nvPr/>
        </p:nvSpPr>
        <p:spPr bwMode="auto">
          <a:xfrm>
            <a:off x="1300163" y="6051550"/>
            <a:ext cx="7178675" cy="431800"/>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609600" marR="0" lvl="0" indent="-609600" algn="l" defTabSz="914400" rtl="0" eaLnBrk="1" fontAlgn="base" latinLnBrk="0" hangingPunct="1">
              <a:lnSpc>
                <a:spcPct val="90000"/>
              </a:lnSpc>
              <a:spcBef>
                <a:spcPct val="20000"/>
              </a:spcBef>
              <a:spcAft>
                <a:spcPct val="0"/>
              </a:spcAft>
              <a:buClr>
                <a:schemeClr val="accent2"/>
              </a:buClr>
              <a:buSzTx/>
              <a:buFontTx/>
              <a:buAutoNum type="alphaLcParenR"/>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 nested transaction        </a:t>
            </a:r>
            <a:r>
              <a:rPr kumimoji="0" lang="en-US" altLang="zh-CN" sz="2000" b="0" i="0" u="none" strike="noStrike" kern="0" cap="none" spc="0" normalizeH="0" baseline="0" noProof="0" dirty="0">
                <a:ln>
                  <a:noFill/>
                </a:ln>
                <a:solidFill>
                  <a:srgbClr val="0070C0"/>
                </a:solidFill>
                <a:effectLst/>
                <a:uLnTx/>
                <a:uFillTx/>
                <a:latin typeface="+mn-lt"/>
                <a:ea typeface="宋体" panose="02010600030101010101" pitchFamily="2" charset="-122"/>
                <a:cs typeface="+mn-cs"/>
              </a:rPr>
              <a:t> b)   </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 distributed transaction</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68613" name="Picture 4"/>
          <p:cNvPicPr>
            <a:picLocks noChangeAspect="1"/>
          </p:cNvPicPr>
          <p:nvPr/>
        </p:nvPicPr>
        <p:blipFill>
          <a:blip r:embed="rId1"/>
          <a:srcRect l="24345" t="43202" r="21567" b="37613"/>
          <a:stretch>
            <a:fillRect/>
          </a:stretch>
        </p:blipFill>
        <p:spPr>
          <a:xfrm>
            <a:off x="393700" y="2992438"/>
            <a:ext cx="8229600" cy="2971800"/>
          </a:xfrm>
          <a:prstGeom prst="rect">
            <a:avLst/>
          </a:prstGeom>
          <a:noFill/>
          <a:ln w="9525">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2"/>
          <p:cNvSpPr>
            <a:spLocks noGrp="1"/>
          </p:cNvSpPr>
          <p:nvPr>
            <p:ph type="title"/>
          </p:nvPr>
        </p:nvSpPr>
        <p:spPr>
          <a:xfrm>
            <a:off x="352425" y="823913"/>
            <a:ext cx="3421063" cy="719137"/>
          </a:xfrm>
          <a:ln/>
        </p:spPr>
        <p:txBody>
          <a:bodyPr vert="horz" wrap="square" lIns="91440" tIns="45720" rIns="91440" bIns="45720" anchor="ctr" anchorCtr="0"/>
          <a:p>
            <a:pPr eaLnBrk="1" hangingPunct="1"/>
            <a:r>
              <a:rPr lang="en-US" altLang="zh-CN" sz="2800" dirty="0">
                <a:ea typeface="宋体" panose="02010600030101010101" pitchFamily="2" charset="-122"/>
              </a:rPr>
              <a:t>1.Private Workspace</a:t>
            </a:r>
            <a:endParaRPr lang="en-US" altLang="zh-CN" sz="2800" dirty="0">
              <a:ea typeface="宋体" panose="02010600030101010101" pitchFamily="2" charset="-122"/>
            </a:endParaRPr>
          </a:p>
        </p:txBody>
      </p:sp>
      <p:sp>
        <p:nvSpPr>
          <p:cNvPr id="69635" name="Rectangle 3"/>
          <p:cNvSpPr>
            <a:spLocks noGrp="1"/>
          </p:cNvSpPr>
          <p:nvPr>
            <p:ph idx="1"/>
          </p:nvPr>
        </p:nvSpPr>
        <p:spPr>
          <a:xfrm>
            <a:off x="573088" y="5121275"/>
            <a:ext cx="8502650" cy="1109663"/>
          </a:xfrm>
          <a:ln/>
        </p:spPr>
        <p:txBody>
          <a:bodyPr vert="horz" wrap="square" lIns="91440" tIns="45720" rIns="91440" bIns="45720" anchor="t" anchorCtr="0"/>
          <a:p>
            <a:pPr marL="609600" indent="-609600" algn="l" eaLnBrk="1" hangingPunct="1">
              <a:lnSpc>
                <a:spcPct val="90000"/>
              </a:lnSpc>
              <a:buFontTx/>
              <a:buAutoNum type="alphaLcParenR"/>
            </a:pPr>
            <a:r>
              <a:rPr lang="en-US" altLang="zh-CN" sz="2000" dirty="0">
                <a:ea typeface="宋体" panose="02010600030101010101" pitchFamily="2" charset="-122"/>
              </a:rPr>
              <a:t>The file index and disk blocks for a three-block file</a:t>
            </a:r>
            <a:endParaRPr lang="en-US" altLang="zh-CN" sz="2000" dirty="0">
              <a:ea typeface="宋体" panose="02010600030101010101" pitchFamily="2" charset="-122"/>
            </a:endParaRPr>
          </a:p>
          <a:p>
            <a:pPr marL="609600" indent="-609600" algn="l" eaLnBrk="1" hangingPunct="1">
              <a:lnSpc>
                <a:spcPct val="90000"/>
              </a:lnSpc>
              <a:buFontTx/>
              <a:buAutoNum type="alphaLcParenR"/>
            </a:pPr>
            <a:r>
              <a:rPr lang="en-US" altLang="zh-CN" sz="2000" dirty="0">
                <a:ea typeface="宋体" panose="02010600030101010101" pitchFamily="2" charset="-122"/>
              </a:rPr>
              <a:t>The situation after a transaction has modified block 0 and appended block 3</a:t>
            </a:r>
            <a:endParaRPr lang="en-US" altLang="zh-CN" sz="2000" dirty="0">
              <a:ea typeface="宋体" panose="02010600030101010101" pitchFamily="2" charset="-122"/>
            </a:endParaRPr>
          </a:p>
          <a:p>
            <a:pPr marL="609600" indent="-609600" algn="l" eaLnBrk="1" hangingPunct="1">
              <a:lnSpc>
                <a:spcPct val="90000"/>
              </a:lnSpc>
              <a:buFontTx/>
              <a:buAutoNum type="alphaLcParenR"/>
            </a:pPr>
            <a:r>
              <a:rPr lang="en-US" altLang="zh-CN" sz="2000" dirty="0">
                <a:ea typeface="宋体" panose="02010600030101010101" pitchFamily="2" charset="-122"/>
              </a:rPr>
              <a:t>After committing</a:t>
            </a:r>
            <a:endParaRPr lang="en-US" altLang="zh-CN" sz="2000" dirty="0">
              <a:ea typeface="宋体" panose="02010600030101010101" pitchFamily="2" charset="-122"/>
            </a:endParaRPr>
          </a:p>
        </p:txBody>
      </p:sp>
      <p:pic>
        <p:nvPicPr>
          <p:cNvPr id="69636" name="Picture 4"/>
          <p:cNvPicPr>
            <a:picLocks noChangeAspect="1"/>
          </p:cNvPicPr>
          <p:nvPr/>
        </p:nvPicPr>
        <p:blipFill>
          <a:blip r:embed="rId1"/>
          <a:srcRect l="24345" t="40936" r="21593" b="34441"/>
          <a:stretch>
            <a:fillRect/>
          </a:stretch>
        </p:blipFill>
        <p:spPr>
          <a:xfrm>
            <a:off x="573088" y="1543050"/>
            <a:ext cx="7751762" cy="3290888"/>
          </a:xfrm>
          <a:prstGeom prst="rect">
            <a:avLst/>
          </a:prstGeom>
          <a:noFill/>
          <a:ln w="9525">
            <a:noFill/>
          </a:ln>
        </p:spPr>
      </p:pic>
      <p:sp>
        <p:nvSpPr>
          <p:cNvPr id="5" name="Rectangle 2"/>
          <p:cNvSpPr txBox="1">
            <a:spLocks noChangeArrowheads="1"/>
          </p:cNvSpPr>
          <p:nvPr/>
        </p:nvSpPr>
        <p:spPr bwMode="auto">
          <a:xfrm>
            <a:off x="352425" y="141288"/>
            <a:ext cx="8542338" cy="657225"/>
          </a:xfrm>
          <a:prstGeom prst="rect">
            <a:avLst/>
          </a:prstGeom>
          <a:noFill/>
          <a:ln>
            <a:noFill/>
          </a:ln>
        </p:spPr>
        <p:txBody>
          <a:bodyPr anchor="ctr"/>
          <a:lstStyle>
            <a:lvl1pPr algn="ctr" rtl="0" eaLnBrk="0" fontAlgn="base" hangingPunct="0">
              <a:spcBef>
                <a:spcPct val="0"/>
              </a:spcBef>
              <a:spcAft>
                <a:spcPct val="0"/>
              </a:spcAft>
              <a:defRPr sz="4400">
                <a:solidFill>
                  <a:srgbClr val="FF0000"/>
                </a:solidFill>
                <a:latin typeface="+mj-lt"/>
                <a:ea typeface="+mj-ea"/>
                <a:cs typeface="+mj-cs"/>
              </a:defRPr>
            </a:lvl1pPr>
            <a:lvl2pPr algn="ctr" rtl="0" eaLnBrk="0" fontAlgn="base" hangingPunct="0">
              <a:spcBef>
                <a:spcPct val="0"/>
              </a:spcBef>
              <a:spcAft>
                <a:spcPct val="0"/>
              </a:spcAft>
              <a:defRPr sz="4400">
                <a:solidFill>
                  <a:srgbClr val="FF0000"/>
                </a:solidFill>
                <a:latin typeface="Times New Roman" panose="02020603050405020304" pitchFamily="18" charset="0"/>
              </a:defRPr>
            </a:lvl2pPr>
            <a:lvl3pPr algn="ctr" rtl="0" eaLnBrk="0" fontAlgn="base" hangingPunct="0">
              <a:spcBef>
                <a:spcPct val="0"/>
              </a:spcBef>
              <a:spcAft>
                <a:spcPct val="0"/>
              </a:spcAft>
              <a:defRPr sz="4400">
                <a:solidFill>
                  <a:srgbClr val="FF0000"/>
                </a:solidFill>
                <a:latin typeface="Times New Roman" panose="02020603050405020304" pitchFamily="18" charset="0"/>
              </a:defRPr>
            </a:lvl3pPr>
            <a:lvl4pPr algn="ctr" rtl="0" eaLnBrk="0" fontAlgn="base" hangingPunct="0">
              <a:spcBef>
                <a:spcPct val="0"/>
              </a:spcBef>
              <a:spcAft>
                <a:spcPct val="0"/>
              </a:spcAft>
              <a:defRPr sz="4400">
                <a:solidFill>
                  <a:srgbClr val="FF0000"/>
                </a:solidFill>
                <a:latin typeface="Times New Roman" panose="02020603050405020304" pitchFamily="18" charset="0"/>
              </a:defRPr>
            </a:lvl4pPr>
            <a:lvl5pPr algn="ctr" rtl="0" eaLnBrk="0" fontAlgn="base" hangingPunct="0">
              <a:spcBef>
                <a:spcPct val="0"/>
              </a:spcBef>
              <a:spcAft>
                <a:spcPct val="0"/>
              </a:spcAft>
              <a:defRPr sz="4400">
                <a:solidFill>
                  <a:srgbClr val="FF0000"/>
                </a:solidFill>
                <a:latin typeface="Times New Roman" panose="02020603050405020304" pitchFamily="18" charset="0"/>
              </a:defRPr>
            </a:lvl5pPr>
            <a:lvl6pPr marL="457200" algn="ctr" rtl="0" fontAlgn="base">
              <a:spcBef>
                <a:spcPct val="0"/>
              </a:spcBef>
              <a:spcAft>
                <a:spcPct val="0"/>
              </a:spcAft>
              <a:defRPr sz="4400">
                <a:solidFill>
                  <a:srgbClr val="FF0000"/>
                </a:solidFill>
                <a:latin typeface="Times New Roman" panose="02020603050405020304" pitchFamily="18" charset="0"/>
              </a:defRPr>
            </a:lvl6pPr>
            <a:lvl7pPr marL="914400" algn="ctr" rtl="0" fontAlgn="base">
              <a:spcBef>
                <a:spcPct val="0"/>
              </a:spcBef>
              <a:spcAft>
                <a:spcPct val="0"/>
              </a:spcAft>
              <a:defRPr sz="4400">
                <a:solidFill>
                  <a:srgbClr val="FF0000"/>
                </a:solidFill>
                <a:latin typeface="Times New Roman" panose="02020603050405020304" pitchFamily="18" charset="0"/>
              </a:defRPr>
            </a:lvl7pPr>
            <a:lvl8pPr marL="1371600" algn="ctr" rtl="0" fontAlgn="base">
              <a:spcBef>
                <a:spcPct val="0"/>
              </a:spcBef>
              <a:spcAft>
                <a:spcPct val="0"/>
              </a:spcAft>
              <a:defRPr sz="4400">
                <a:solidFill>
                  <a:srgbClr val="FF0000"/>
                </a:solidFill>
                <a:latin typeface="Times New Roman" panose="02020603050405020304" pitchFamily="18" charset="0"/>
              </a:defRPr>
            </a:lvl8pPr>
            <a:lvl9pPr marL="1828800" algn="ctr" rtl="0" fontAlgn="base">
              <a:spcBef>
                <a:spcPct val="0"/>
              </a:spcBef>
              <a:spcAft>
                <a:spcPct val="0"/>
              </a:spcAft>
              <a:defRPr sz="4400">
                <a:solidFill>
                  <a:srgbClr val="FF0000"/>
                </a:solidFill>
                <a:latin typeface="Times New Roman" panose="02020603050405020304" pitchFamily="18" charset="0"/>
              </a:defRPr>
            </a:lvl9p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zh-CN" altLang="en-US" sz="2800" b="1" i="0" u="none" strike="noStrike" kern="0" cap="none" spc="0" normalizeH="0" baseline="0" noProof="0" dirty="0">
                <a:ln>
                  <a:noFill/>
                </a:ln>
                <a:solidFill>
                  <a:srgbClr val="FF0000"/>
                </a:solidFill>
                <a:effectLst/>
                <a:uLnTx/>
                <a:uFillTx/>
                <a:latin typeface="+mj-lt"/>
                <a:ea typeface="宋体" panose="02010600030101010101" pitchFamily="2" charset="-122"/>
                <a:cs typeface="+mj-cs"/>
              </a:rPr>
              <a:t>事务实现原理（</a:t>
            </a:r>
            <a:r>
              <a:rPr kumimoji="0" lang="en-US" altLang="zh-CN" sz="2800" b="1" i="0" u="none" strike="noStrike" kern="0" cap="none" spc="0" normalizeH="0" baseline="0" noProof="0" dirty="0">
                <a:ln>
                  <a:noFill/>
                </a:ln>
                <a:solidFill>
                  <a:srgbClr val="FF0000"/>
                </a:solidFill>
                <a:effectLst/>
                <a:uLnTx/>
                <a:uFillTx/>
                <a:latin typeface="+mj-lt"/>
                <a:ea typeface="宋体" panose="02010600030101010101" pitchFamily="2" charset="-122"/>
                <a:cs typeface="+mj-cs"/>
              </a:rPr>
              <a:t>Private Workspace/ </a:t>
            </a:r>
            <a:r>
              <a:rPr kumimoji="0" lang="en-US" altLang="zh-CN" sz="2800" b="1" i="0" u="none" strike="noStrike" kern="0" cap="none" spc="0" normalizeH="0" baseline="0" noProof="0" dirty="0" err="1">
                <a:ln>
                  <a:noFill/>
                </a:ln>
                <a:solidFill>
                  <a:srgbClr val="FF0000"/>
                </a:solidFill>
                <a:effectLst/>
                <a:uLnTx/>
                <a:uFillTx/>
                <a:latin typeface="+mj-lt"/>
                <a:ea typeface="宋体" panose="02010600030101010101" pitchFamily="2" charset="-122"/>
                <a:cs typeface="+mj-cs"/>
              </a:rPr>
              <a:t>Writeahead</a:t>
            </a:r>
            <a:r>
              <a:rPr kumimoji="0" lang="en-US" altLang="zh-CN" sz="2800" b="1" i="0" u="none" strike="noStrike" kern="0" cap="none" spc="0" normalizeH="0" baseline="0" noProof="0" dirty="0">
                <a:ln>
                  <a:noFill/>
                </a:ln>
                <a:solidFill>
                  <a:srgbClr val="FF0000"/>
                </a:solidFill>
                <a:effectLst/>
                <a:uLnTx/>
                <a:uFillTx/>
                <a:latin typeface="+mj-lt"/>
                <a:ea typeface="宋体" panose="02010600030101010101" pitchFamily="2" charset="-122"/>
                <a:cs typeface="+mj-cs"/>
              </a:rPr>
              <a:t> Log</a:t>
            </a:r>
            <a:r>
              <a:rPr kumimoji="0" lang="zh-CN" altLang="en-US" sz="2800" b="1" i="0" u="none" strike="noStrike" kern="0" cap="none" spc="0" normalizeH="0" baseline="0" noProof="0" dirty="0">
                <a:ln>
                  <a:noFill/>
                </a:ln>
                <a:solidFill>
                  <a:srgbClr val="FF0000"/>
                </a:solidFill>
                <a:effectLst/>
                <a:uLnTx/>
                <a:uFillTx/>
                <a:latin typeface="+mj-lt"/>
                <a:ea typeface="宋体" panose="02010600030101010101" pitchFamily="2" charset="-122"/>
                <a:cs typeface="+mj-cs"/>
              </a:rPr>
              <a:t>）</a:t>
            </a:r>
            <a:r>
              <a:rPr kumimoji="0" lang="en-US" altLang="zh-CN" sz="2800" b="1" i="0" u="none" strike="noStrike" kern="0" cap="none" spc="0" normalizeH="0" baseline="0" noProof="0" dirty="0">
                <a:ln>
                  <a:noFill/>
                </a:ln>
                <a:solidFill>
                  <a:srgbClr val="FF0000"/>
                </a:solidFill>
                <a:effectLst/>
                <a:uLnTx/>
                <a:uFillTx/>
                <a:latin typeface="+mj-lt"/>
                <a:ea typeface="宋体" panose="02010600030101010101" pitchFamily="2" charset="-122"/>
                <a:cs typeface="+mj-cs"/>
              </a:rPr>
              <a:t> </a:t>
            </a:r>
            <a:endParaRPr kumimoji="0" lang="en-US" altLang="zh-CN" sz="2800" b="1" i="0" u="none" strike="noStrike" kern="0" cap="none" spc="0" normalizeH="0" baseline="0" noProof="0" dirty="0">
              <a:ln>
                <a:noFill/>
              </a:ln>
              <a:solidFill>
                <a:srgbClr val="FF0000"/>
              </a:solidFill>
              <a:effectLst/>
              <a:uLnTx/>
              <a:uFillTx/>
              <a:latin typeface="+mj-lt"/>
              <a:ea typeface="宋体" panose="02010600030101010101" pitchFamily="2" charset="-122"/>
              <a:cs typeface="+mj-c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2"/>
          <p:cNvSpPr>
            <a:spLocks noGrp="1"/>
          </p:cNvSpPr>
          <p:nvPr>
            <p:ph type="title"/>
          </p:nvPr>
        </p:nvSpPr>
        <p:spPr>
          <a:xfrm>
            <a:off x="0" y="0"/>
            <a:ext cx="4119563" cy="665163"/>
          </a:xfrm>
          <a:ln/>
        </p:spPr>
        <p:txBody>
          <a:bodyPr vert="horz" wrap="square" lIns="91440" tIns="45720" rIns="91440" bIns="45720" anchor="ctr" anchorCtr="0"/>
          <a:p>
            <a:pPr eaLnBrk="1" hangingPunct="1"/>
            <a:r>
              <a:rPr lang="en-US" altLang="zh-CN" sz="3600" dirty="0">
                <a:ea typeface="宋体" panose="02010600030101010101" pitchFamily="2" charset="-122"/>
              </a:rPr>
              <a:t>2.Writeahead Log</a:t>
            </a:r>
            <a:endParaRPr lang="en-US" altLang="zh-CN" sz="3600" dirty="0">
              <a:ea typeface="宋体" panose="02010600030101010101" pitchFamily="2" charset="-122"/>
            </a:endParaRPr>
          </a:p>
        </p:txBody>
      </p:sp>
      <p:sp>
        <p:nvSpPr>
          <p:cNvPr id="71683" name="Rectangle 3"/>
          <p:cNvSpPr>
            <a:spLocks noGrp="1"/>
          </p:cNvSpPr>
          <p:nvPr>
            <p:ph idx="1"/>
          </p:nvPr>
        </p:nvSpPr>
        <p:spPr>
          <a:xfrm>
            <a:off x="858838" y="5362575"/>
            <a:ext cx="7335837" cy="409575"/>
          </a:xfrm>
          <a:ln/>
        </p:spPr>
        <p:txBody>
          <a:bodyPr vert="horz" wrap="square" lIns="91440" tIns="45720" rIns="91440" bIns="45720" anchor="t" anchorCtr="0"/>
          <a:p>
            <a:pPr marL="609600" indent="-609600" algn="l" eaLnBrk="1" hangingPunct="1">
              <a:lnSpc>
                <a:spcPct val="90000"/>
              </a:lnSpc>
              <a:buNone/>
            </a:pPr>
            <a:r>
              <a:rPr lang="en-US" altLang="zh-CN" sz="1800" dirty="0">
                <a:solidFill>
                  <a:schemeClr val="accent2"/>
                </a:solidFill>
                <a:ea typeface="宋体" panose="02010600030101010101" pitchFamily="2" charset="-122"/>
              </a:rPr>
              <a:t>a)</a:t>
            </a:r>
            <a:r>
              <a:rPr lang="en-US" altLang="zh-CN" sz="1800" dirty="0">
                <a:ea typeface="宋体" panose="02010600030101010101" pitchFamily="2" charset="-122"/>
              </a:rPr>
              <a:t> A transaction   </a:t>
            </a:r>
            <a:r>
              <a:rPr lang="en-US" altLang="zh-CN" sz="1800" dirty="0">
                <a:solidFill>
                  <a:schemeClr val="accent2"/>
                </a:solidFill>
                <a:ea typeface="宋体" panose="02010600030101010101" pitchFamily="2" charset="-122"/>
              </a:rPr>
              <a:t>b) – d)</a:t>
            </a:r>
            <a:r>
              <a:rPr lang="en-US" altLang="zh-CN" sz="1800" dirty="0">
                <a:ea typeface="宋体" panose="02010600030101010101" pitchFamily="2" charset="-122"/>
              </a:rPr>
              <a:t> The log before each statement is executed</a:t>
            </a:r>
            <a:endParaRPr lang="en-US" altLang="zh-CN" sz="1800" dirty="0">
              <a:ea typeface="宋体" panose="02010600030101010101" pitchFamily="2" charset="-122"/>
            </a:endParaRPr>
          </a:p>
        </p:txBody>
      </p:sp>
      <p:graphicFrame>
        <p:nvGraphicFramePr>
          <p:cNvPr id="149508" name="Group 4"/>
          <p:cNvGraphicFramePr>
            <a:graphicFrameLocks noGrp="1"/>
          </p:cNvGraphicFramePr>
          <p:nvPr/>
        </p:nvGraphicFramePr>
        <p:xfrm>
          <a:off x="377825" y="2486025"/>
          <a:ext cx="8296275" cy="2670175"/>
        </p:xfrm>
        <a:graphic>
          <a:graphicData uri="http://schemas.openxmlformats.org/drawingml/2006/table">
            <a:tbl>
              <a:tblPr/>
              <a:tblGrid>
                <a:gridCol w="3670300"/>
                <a:gridCol w="1741487"/>
                <a:gridCol w="1636713"/>
                <a:gridCol w="1247775"/>
              </a:tblGrid>
              <a:tr h="2670175">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x = 0;</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y = 0;</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BEGIN_TRANSACTION;</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x = x + 1;</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y = y + 2</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x = y * y;</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END_TRANSACTION;</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 </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24" marB="45724"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Log</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endPar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endPar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[x = 0 / 1]</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endPar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endPar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endPar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(b)</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24" marB="45724"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Log</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endPar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endPar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[x = 0/1]</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[y = 0/2]</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endPar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endPar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(c)   </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24" marB="45724"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Log</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endPar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endPar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[x = 0/1]</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[y = 0/2]</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[x = 1/4]</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endPar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(d)</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24" marB="45724" horzOverflow="overflow">
                    <a:lnL>
                      <a:noFill/>
                    </a:lnL>
                    <a:lnR>
                      <a:noFill/>
                    </a:lnR>
                    <a:lnT>
                      <a:noFill/>
                    </a:lnT>
                    <a:lnB>
                      <a:noFill/>
                    </a:lnB>
                    <a:lnTlToBr>
                      <a:noFill/>
                    </a:lnTlToBr>
                    <a:lnBlToTr>
                      <a:noFill/>
                    </a:lnBlToTr>
                    <a:noFill/>
                  </a:tcPr>
                </a:tc>
              </a:tr>
            </a:tbl>
          </a:graphicData>
        </a:graphic>
      </p:graphicFrame>
      <p:sp>
        <p:nvSpPr>
          <p:cNvPr id="6" name="Rectangle 6"/>
          <p:cNvSpPr txBox="1">
            <a:spLocks noChangeArrowheads="1"/>
          </p:cNvSpPr>
          <p:nvPr/>
        </p:nvSpPr>
        <p:spPr bwMode="auto">
          <a:xfrm>
            <a:off x="157163" y="5772150"/>
            <a:ext cx="8986838" cy="987425"/>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a:pP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日志作为事务向前（处理事务）和向后（撤销事务）的依据；</a:t>
            </a:r>
            <a:endPar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a:pP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若事务异常中止，可用日志来备份初始状态；</a:t>
            </a:r>
            <a:endPar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a:pP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从日志末尾开始向回读取每条记录，再将记录中描述的改动复原，该操作称之为滚回；</a:t>
            </a:r>
            <a:endPar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71690" name="Rectangle 21"/>
          <p:cNvSpPr/>
          <p:nvPr/>
        </p:nvSpPr>
        <p:spPr>
          <a:xfrm>
            <a:off x="177800" y="614363"/>
            <a:ext cx="8496300" cy="1871662"/>
          </a:xfrm>
          <a:prstGeom prst="rect">
            <a:avLst/>
          </a:prstGeom>
          <a:no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lnSpc>
                <a:spcPct val="150000"/>
              </a:lnSpc>
              <a:buNone/>
            </a:pPr>
            <a:r>
              <a:rPr lang="zh-CN" altLang="en-US" sz="1800" b="1" dirty="0">
                <a:ea typeface="宋体" panose="02010600030101010101" pitchFamily="2" charset="-122"/>
              </a:rPr>
              <a:t>也称为计划列表（</a:t>
            </a:r>
            <a:r>
              <a:rPr lang="en-US" altLang="zh-CN" sz="1800" b="1" dirty="0">
                <a:ea typeface="宋体" panose="02010600030101010101" pitchFamily="2" charset="-122"/>
              </a:rPr>
              <a:t>intentions list</a:t>
            </a:r>
            <a:r>
              <a:rPr lang="zh-CN" altLang="en-US" sz="1800" b="1" dirty="0">
                <a:ea typeface="宋体" panose="02010600030101010101" pitchFamily="2" charset="-122"/>
              </a:rPr>
              <a:t>）：</a:t>
            </a:r>
            <a:endParaRPr lang="zh-CN" altLang="en-US" sz="1800" b="1" dirty="0">
              <a:ea typeface="宋体" panose="02010600030101010101" pitchFamily="2" charset="-122"/>
            </a:endParaRPr>
          </a:p>
          <a:p>
            <a:pPr marL="742950" lvl="1" indent="-285750" eaLnBrk="1" hangingPunct="1">
              <a:lnSpc>
                <a:spcPct val="150000"/>
              </a:lnSpc>
            </a:pPr>
            <a:r>
              <a:rPr lang="zh-CN" altLang="en-US" sz="1800" b="1" dirty="0">
                <a:ea typeface="宋体" panose="02010600030101010101" pitchFamily="2" charset="-122"/>
              </a:rPr>
              <a:t>文件在改动之前，首先在稳定存储器产生一条写前日志记录：哪个事务在做何操作，哪个文件块被修改，旧值和新值分别是什么等？</a:t>
            </a:r>
            <a:endParaRPr lang="zh-CN" altLang="en-US" sz="1800" b="1" dirty="0">
              <a:ea typeface="宋体" panose="02010600030101010101" pitchFamily="2" charset="-122"/>
            </a:endParaRPr>
          </a:p>
          <a:p>
            <a:pPr marL="742950" lvl="1" indent="-285750" eaLnBrk="1" hangingPunct="1">
              <a:lnSpc>
                <a:spcPct val="150000"/>
              </a:lnSpc>
            </a:pPr>
            <a:r>
              <a:rPr lang="zh-CN" altLang="en-US" sz="1800" b="1" dirty="0">
                <a:ea typeface="宋体" panose="02010600030101010101" pitchFamily="2" charset="-122"/>
              </a:rPr>
              <a:t>当日志成功写入之后才可以进行实际文件的修改。</a:t>
            </a:r>
            <a:endParaRPr lang="zh-CN" altLang="en-US" sz="1800" b="1" dirty="0">
              <a:ea typeface="宋体" panose="0201060003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6"/>
          <p:cNvSpPr>
            <a:spLocks noGrp="1"/>
          </p:cNvSpPr>
          <p:nvPr>
            <p:ph type="title"/>
          </p:nvPr>
        </p:nvSpPr>
        <p:spPr>
          <a:xfrm>
            <a:off x="96838" y="85725"/>
            <a:ext cx="6711950" cy="701675"/>
          </a:xfrm>
          <a:ln/>
        </p:spPr>
        <p:txBody>
          <a:bodyPr vert="horz" wrap="square" lIns="91440" tIns="45720" rIns="91440" bIns="45720" anchor="b" anchorCtr="0"/>
          <a:p>
            <a:pPr eaLnBrk="1" hangingPunct="1"/>
            <a:r>
              <a:rPr lang="zh-CN" altLang="en-US" sz="3200" dirty="0">
                <a:ea typeface="宋体" panose="02010600030101010101" pitchFamily="2" charset="-122"/>
              </a:rPr>
              <a:t>日志也可用来进行系统崩溃后的恢复</a:t>
            </a:r>
            <a:endParaRPr lang="zh-CN" altLang="en-US" sz="3200" dirty="0">
              <a:ea typeface="宋体" panose="02010600030101010101" pitchFamily="2" charset="-122"/>
            </a:endParaRPr>
          </a:p>
        </p:txBody>
      </p:sp>
      <p:sp>
        <p:nvSpPr>
          <p:cNvPr id="73731" name="Rectangle 7"/>
          <p:cNvSpPr>
            <a:spLocks noGrp="1"/>
          </p:cNvSpPr>
          <p:nvPr>
            <p:ph idx="1"/>
          </p:nvPr>
        </p:nvSpPr>
        <p:spPr>
          <a:xfrm>
            <a:off x="0" y="3748088"/>
            <a:ext cx="9144000" cy="1912937"/>
          </a:xfrm>
          <a:ln/>
        </p:spPr>
        <p:txBody>
          <a:bodyPr vert="horz" wrap="square" lIns="91440" tIns="45720" rIns="91440" bIns="45720" anchor="t" anchorCtr="0"/>
          <a:p>
            <a:pPr algn="l" eaLnBrk="1" hangingPunct="1">
              <a:lnSpc>
                <a:spcPct val="150000"/>
              </a:lnSpc>
              <a:buFont typeface="Wingdings" panose="05000000000000000000" pitchFamily="2" charset="2"/>
              <a:buChar char="Ø"/>
            </a:pPr>
            <a:r>
              <a:rPr lang="zh-CN" altLang="en-US" sz="2200" b="1" dirty="0">
                <a:ea typeface="宋体" panose="02010600030101010101" pitchFamily="2" charset="-122"/>
              </a:rPr>
              <a:t>假设在写入最后一条记录及改变</a:t>
            </a:r>
            <a:r>
              <a:rPr lang="en-US" altLang="zh-CN" sz="2200" b="1" dirty="0">
                <a:ea typeface="宋体" panose="02010600030101010101" pitchFamily="2" charset="-122"/>
              </a:rPr>
              <a:t>x</a:t>
            </a:r>
            <a:r>
              <a:rPr lang="zh-CN" altLang="en-US" sz="2200" b="1" dirty="0">
                <a:ea typeface="宋体" panose="02010600030101010101" pitchFamily="2" charset="-122"/>
              </a:rPr>
              <a:t>之前崩溃，重启后通过日志进行恢复</a:t>
            </a:r>
            <a:r>
              <a:rPr lang="en-US" altLang="zh-CN" sz="2200" b="1" dirty="0">
                <a:ea typeface="宋体" panose="02010600030101010101" pitchFamily="2" charset="-122"/>
              </a:rPr>
              <a:t>:</a:t>
            </a:r>
            <a:endParaRPr lang="zh-CN" altLang="en-US" sz="2200" b="1" dirty="0">
              <a:ea typeface="宋体" panose="02010600030101010101" pitchFamily="2" charset="-122"/>
            </a:endParaRPr>
          </a:p>
          <a:p>
            <a:pPr lvl="1" eaLnBrk="1" hangingPunct="1">
              <a:lnSpc>
                <a:spcPct val="150000"/>
              </a:lnSpc>
              <a:buFont typeface="Wingdings" panose="05000000000000000000" pitchFamily="2" charset="2"/>
              <a:buChar char="u"/>
            </a:pPr>
            <a:r>
              <a:rPr lang="zh-CN" altLang="en-US" sz="2200" b="1" dirty="0">
                <a:ea typeface="宋体" panose="02010600030101010101" pitchFamily="2" charset="-122"/>
              </a:rPr>
              <a:t>若最后记录显示</a:t>
            </a:r>
            <a:r>
              <a:rPr lang="en-US" altLang="zh-CN" sz="2200" b="1" dirty="0">
                <a:ea typeface="宋体" panose="02010600030101010101" pitchFamily="2" charset="-122"/>
              </a:rPr>
              <a:t>x</a:t>
            </a:r>
            <a:r>
              <a:rPr lang="zh-CN" altLang="en-US" sz="2200" b="1" dirty="0">
                <a:ea typeface="宋体" panose="02010600030101010101" pitchFamily="2" charset="-122"/>
              </a:rPr>
              <a:t>值是</a:t>
            </a:r>
            <a:r>
              <a:rPr lang="en-US" altLang="zh-CN" sz="2200" b="1" dirty="0">
                <a:ea typeface="宋体" panose="02010600030101010101" pitchFamily="2" charset="-122"/>
              </a:rPr>
              <a:t>1</a:t>
            </a:r>
            <a:r>
              <a:rPr lang="zh-CN" altLang="en-US" sz="2200" b="1" dirty="0">
                <a:ea typeface="宋体" panose="02010600030101010101" pitchFamily="2" charset="-122"/>
              </a:rPr>
              <a:t>，说明崩溃在更新之前发生，</a:t>
            </a:r>
            <a:r>
              <a:rPr lang="en-US" altLang="zh-CN" sz="2200" b="1" dirty="0">
                <a:ea typeface="宋体" panose="02010600030101010101" pitchFamily="2" charset="-122"/>
              </a:rPr>
              <a:t>x</a:t>
            </a:r>
            <a:r>
              <a:rPr lang="zh-CN" altLang="en-US" sz="2200" b="1" dirty="0">
                <a:ea typeface="宋体" panose="02010600030101010101" pitchFamily="2" charset="-122"/>
              </a:rPr>
              <a:t>的值被改为</a:t>
            </a:r>
            <a:r>
              <a:rPr lang="en-US" altLang="zh-CN" sz="2200" b="1" dirty="0">
                <a:ea typeface="宋体" panose="02010600030101010101" pitchFamily="2" charset="-122"/>
              </a:rPr>
              <a:t>4</a:t>
            </a:r>
            <a:r>
              <a:rPr lang="zh-CN" altLang="en-US" sz="2200" b="1" dirty="0">
                <a:ea typeface="宋体" panose="02010600030101010101" pitchFamily="2" charset="-122"/>
              </a:rPr>
              <a:t>；</a:t>
            </a:r>
            <a:endParaRPr lang="zh-CN" altLang="en-US" sz="2200" b="1" dirty="0">
              <a:ea typeface="宋体" panose="02010600030101010101" pitchFamily="2" charset="-122"/>
            </a:endParaRPr>
          </a:p>
          <a:p>
            <a:pPr lvl="1" eaLnBrk="1" hangingPunct="1">
              <a:lnSpc>
                <a:spcPct val="150000"/>
              </a:lnSpc>
              <a:buFont typeface="Wingdings" panose="05000000000000000000" pitchFamily="2" charset="2"/>
              <a:buChar char="u"/>
            </a:pPr>
            <a:r>
              <a:rPr lang="zh-CN" altLang="en-US" sz="2200" b="1" dirty="0">
                <a:ea typeface="宋体" panose="02010600030101010101" pitchFamily="2" charset="-122"/>
              </a:rPr>
              <a:t>若</a:t>
            </a:r>
            <a:r>
              <a:rPr lang="en-US" altLang="zh-CN" sz="2200" b="1" dirty="0">
                <a:ea typeface="宋体" panose="02010600030101010101" pitchFamily="2" charset="-122"/>
              </a:rPr>
              <a:t>x</a:t>
            </a:r>
            <a:r>
              <a:rPr lang="zh-CN" altLang="en-US" sz="2200" b="1" dirty="0">
                <a:ea typeface="宋体" panose="02010600030101010101" pitchFamily="2" charset="-122"/>
              </a:rPr>
              <a:t>的值是</a:t>
            </a:r>
            <a:r>
              <a:rPr lang="en-US" altLang="zh-CN" sz="2200" b="1" dirty="0">
                <a:ea typeface="宋体" panose="02010600030101010101" pitchFamily="2" charset="-122"/>
              </a:rPr>
              <a:t>4</a:t>
            </a:r>
            <a:r>
              <a:rPr lang="zh-CN" altLang="en-US" sz="2200" b="1" dirty="0">
                <a:ea typeface="宋体" panose="02010600030101010101" pitchFamily="2" charset="-122"/>
              </a:rPr>
              <a:t>，说明崩溃是在更新后发生，不需要进行任何变动。</a:t>
            </a:r>
            <a:endParaRPr lang="zh-CN" altLang="en-US" sz="2200" b="1" dirty="0">
              <a:ea typeface="宋体" panose="02010600030101010101" pitchFamily="2" charset="-122"/>
            </a:endParaRPr>
          </a:p>
        </p:txBody>
      </p:sp>
      <p:grpSp>
        <p:nvGrpSpPr>
          <p:cNvPr id="73732" name="组合 9"/>
          <p:cNvGrpSpPr/>
          <p:nvPr/>
        </p:nvGrpSpPr>
        <p:grpSpPr>
          <a:xfrm>
            <a:off x="1019175" y="1128713"/>
            <a:ext cx="7421563" cy="2278062"/>
            <a:chOff x="1733107" y="1280409"/>
            <a:chExt cx="6634713" cy="2279528"/>
          </a:xfrm>
        </p:grpSpPr>
        <p:sp>
          <p:nvSpPr>
            <p:cNvPr id="73733" name="矩形 3"/>
            <p:cNvSpPr/>
            <p:nvPr/>
          </p:nvSpPr>
          <p:spPr>
            <a:xfrm>
              <a:off x="1733107" y="1280409"/>
              <a:ext cx="2551813" cy="2279528"/>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lnSpc>
                  <a:spcPct val="120000"/>
                </a:lnSpc>
                <a:buNone/>
              </a:pPr>
              <a:r>
                <a:rPr lang="en-US" altLang="zh-CN" sz="1800" dirty="0">
                  <a:latin typeface="Arial" panose="020B0604020202020204" pitchFamily="34" charset="0"/>
                  <a:ea typeface="宋体" panose="02010600030101010101" pitchFamily="2" charset="-122"/>
                </a:rPr>
                <a:t>BEGIN_TRANSACTION;</a:t>
              </a:r>
              <a:endParaRPr lang="en-US" altLang="zh-CN" sz="1800" dirty="0">
                <a:latin typeface="Arial" panose="020B0604020202020204" pitchFamily="34" charset="0"/>
                <a:ea typeface="宋体" panose="02010600030101010101" pitchFamily="2" charset="-122"/>
              </a:endParaRPr>
            </a:p>
            <a:p>
              <a:pPr marL="0" lvl="0" indent="0" algn="l" eaLnBrk="1" hangingPunct="1">
                <a:lnSpc>
                  <a:spcPct val="120000"/>
                </a:lnSpc>
                <a:buNone/>
              </a:pPr>
              <a:r>
                <a:rPr lang="en-US" altLang="zh-CN" sz="1800" dirty="0">
                  <a:latin typeface="Arial" panose="020B0604020202020204" pitchFamily="34" charset="0"/>
                  <a:ea typeface="宋体" panose="02010600030101010101" pitchFamily="2" charset="-122"/>
                </a:rPr>
                <a:t>      x = x + 1;</a:t>
              </a:r>
              <a:endParaRPr lang="en-US" altLang="zh-CN" sz="1800" dirty="0">
                <a:latin typeface="Arial" panose="020B0604020202020204" pitchFamily="34" charset="0"/>
                <a:ea typeface="宋体" panose="02010600030101010101" pitchFamily="2" charset="-122"/>
              </a:endParaRPr>
            </a:p>
            <a:p>
              <a:pPr marL="0" lvl="0" indent="0" algn="l" eaLnBrk="1" hangingPunct="1">
                <a:lnSpc>
                  <a:spcPct val="120000"/>
                </a:lnSpc>
                <a:buNone/>
              </a:pPr>
              <a:r>
                <a:rPr lang="en-US" altLang="zh-CN" sz="1800" dirty="0">
                  <a:latin typeface="Arial" panose="020B0604020202020204" pitchFamily="34" charset="0"/>
                  <a:ea typeface="宋体" panose="02010600030101010101" pitchFamily="2" charset="-122"/>
                </a:rPr>
                <a:t>      y = y + 2</a:t>
              </a:r>
              <a:endParaRPr lang="en-US" altLang="zh-CN" sz="1800" dirty="0">
                <a:latin typeface="Arial" panose="020B0604020202020204" pitchFamily="34" charset="0"/>
                <a:ea typeface="宋体" panose="02010600030101010101" pitchFamily="2" charset="-122"/>
              </a:endParaRPr>
            </a:p>
            <a:p>
              <a:pPr marL="0" lvl="0" indent="0" algn="l" eaLnBrk="1" hangingPunct="1">
                <a:lnSpc>
                  <a:spcPct val="120000"/>
                </a:lnSpc>
                <a:buNone/>
              </a:pPr>
              <a:r>
                <a:rPr lang="en-US" altLang="zh-CN" sz="1800" dirty="0">
                  <a:latin typeface="Arial" panose="020B0604020202020204" pitchFamily="34" charset="0"/>
                  <a:ea typeface="宋体" panose="02010600030101010101" pitchFamily="2" charset="-122"/>
                </a:rPr>
                <a:t>      x = y * y;</a:t>
              </a:r>
              <a:endParaRPr lang="en-US" altLang="zh-CN" sz="1800" dirty="0">
                <a:latin typeface="Arial" panose="020B0604020202020204" pitchFamily="34" charset="0"/>
                <a:ea typeface="宋体" panose="02010600030101010101" pitchFamily="2" charset="-122"/>
              </a:endParaRPr>
            </a:p>
            <a:p>
              <a:pPr marL="0" lvl="0" indent="0" algn="l" eaLnBrk="1" hangingPunct="1">
                <a:lnSpc>
                  <a:spcPct val="120000"/>
                </a:lnSpc>
                <a:buNone/>
              </a:pPr>
              <a:r>
                <a:rPr lang="en-US" altLang="zh-CN" sz="1800" dirty="0">
                  <a:latin typeface="Arial" panose="020B0604020202020204" pitchFamily="34" charset="0"/>
                  <a:ea typeface="宋体" panose="02010600030101010101" pitchFamily="2" charset="-122"/>
                </a:rPr>
                <a:t>END_TRANSACTION;</a:t>
              </a:r>
              <a:endParaRPr lang="en-US" altLang="zh-CN" sz="1800" dirty="0">
                <a:latin typeface="Arial" panose="020B0604020202020204" pitchFamily="34" charset="0"/>
                <a:ea typeface="宋体" panose="02010600030101010101" pitchFamily="2" charset="-122"/>
              </a:endParaRPr>
            </a:p>
          </p:txBody>
        </p:sp>
        <p:sp>
          <p:nvSpPr>
            <p:cNvPr id="73734" name="矩形 4"/>
            <p:cNvSpPr/>
            <p:nvPr/>
          </p:nvSpPr>
          <p:spPr>
            <a:xfrm>
              <a:off x="4869711" y="1326869"/>
              <a:ext cx="1350335" cy="1558786"/>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lnSpc>
                  <a:spcPct val="120000"/>
                </a:lnSpc>
                <a:buNone/>
              </a:pPr>
              <a:r>
                <a:rPr lang="en-US" altLang="zh-CN" sz="1800" dirty="0">
                  <a:latin typeface="Arial" panose="020B0604020202020204" pitchFamily="34" charset="0"/>
                  <a:ea typeface="宋体" panose="02010600030101010101" pitchFamily="2" charset="-122"/>
                </a:rPr>
                <a:t>Log</a:t>
              </a:r>
              <a:endParaRPr lang="en-US" altLang="zh-CN" sz="1800" dirty="0">
                <a:latin typeface="Arial" panose="020B0604020202020204" pitchFamily="34" charset="0"/>
                <a:ea typeface="宋体" panose="02010600030101010101" pitchFamily="2" charset="-122"/>
              </a:endParaRPr>
            </a:p>
            <a:p>
              <a:pPr marL="0" lvl="0" indent="0" algn="l" eaLnBrk="1" hangingPunct="1">
                <a:lnSpc>
                  <a:spcPct val="120000"/>
                </a:lnSpc>
                <a:buNone/>
              </a:pPr>
              <a:r>
                <a:rPr lang="en-US" altLang="zh-CN" sz="1800" dirty="0">
                  <a:latin typeface="Arial" panose="020B0604020202020204" pitchFamily="34" charset="0"/>
                  <a:ea typeface="宋体" panose="02010600030101010101" pitchFamily="2" charset="-122"/>
                </a:rPr>
                <a:t>[x = 0 / 1]</a:t>
              </a:r>
              <a:endParaRPr lang="en-US" altLang="zh-CN" sz="1800" dirty="0">
                <a:latin typeface="Arial" panose="020B0604020202020204" pitchFamily="34" charset="0"/>
                <a:ea typeface="宋体" panose="02010600030101010101" pitchFamily="2" charset="-122"/>
              </a:endParaRPr>
            </a:p>
            <a:p>
              <a:pPr marL="0" lvl="0" indent="0" algn="l" eaLnBrk="1" hangingPunct="1">
                <a:lnSpc>
                  <a:spcPct val="120000"/>
                </a:lnSpc>
                <a:buNone/>
              </a:pPr>
              <a:r>
                <a:rPr lang="en-US" altLang="zh-CN" sz="1800" dirty="0">
                  <a:latin typeface="Arial" panose="020B0604020202020204" pitchFamily="34" charset="0"/>
                  <a:ea typeface="宋体" panose="02010600030101010101" pitchFamily="2" charset="-122"/>
                </a:rPr>
                <a:t>[y = 0/2]</a:t>
              </a:r>
              <a:endParaRPr lang="en-US" altLang="zh-CN" sz="1800" dirty="0">
                <a:latin typeface="Arial" panose="020B0604020202020204" pitchFamily="34" charset="0"/>
                <a:ea typeface="宋体" panose="02010600030101010101" pitchFamily="2" charset="-122"/>
              </a:endParaRPr>
            </a:p>
            <a:p>
              <a:pPr marL="0" lvl="0" indent="0" algn="l" eaLnBrk="1" hangingPunct="1">
                <a:lnSpc>
                  <a:spcPct val="120000"/>
                </a:lnSpc>
                <a:buNone/>
              </a:pPr>
              <a:r>
                <a:rPr lang="en-US" altLang="zh-CN" sz="1800" dirty="0">
                  <a:latin typeface="Arial" panose="020B0604020202020204" pitchFamily="34" charset="0"/>
                  <a:ea typeface="宋体" panose="02010600030101010101" pitchFamily="2" charset="-122"/>
                </a:rPr>
                <a:t>[x = 1/4]</a:t>
              </a:r>
              <a:endParaRPr lang="en-US" altLang="zh-CN" sz="1800" dirty="0">
                <a:latin typeface="Arial" panose="020B0604020202020204" pitchFamily="34" charset="0"/>
                <a:ea typeface="宋体" panose="02010600030101010101" pitchFamily="2" charset="-122"/>
              </a:endParaRPr>
            </a:p>
          </p:txBody>
        </p:sp>
        <p:grpSp>
          <p:nvGrpSpPr>
            <p:cNvPr id="73735" name="组合 8"/>
            <p:cNvGrpSpPr/>
            <p:nvPr/>
          </p:nvGrpSpPr>
          <p:grpSpPr>
            <a:xfrm>
              <a:off x="5937472" y="2509387"/>
              <a:ext cx="2430348" cy="369612"/>
              <a:chOff x="6001270" y="2488121"/>
              <a:chExt cx="2430348" cy="369612"/>
            </a:xfrm>
          </p:grpSpPr>
          <p:sp>
            <p:nvSpPr>
              <p:cNvPr id="73736" name="左箭头 6"/>
              <p:cNvSpPr/>
              <p:nvPr/>
            </p:nvSpPr>
            <p:spPr>
              <a:xfrm>
                <a:off x="6001270" y="2583832"/>
                <a:ext cx="797442" cy="159488"/>
              </a:xfrm>
              <a:prstGeom prst="leftArrow">
                <a:avLst>
                  <a:gd name="adj1" fmla="val 50000"/>
                  <a:gd name="adj2" fmla="val 50000"/>
                </a:avLst>
              </a:prstGeom>
              <a:solidFill>
                <a:schemeClr val="accent1"/>
              </a:solidFill>
              <a:ln w="9525" cap="flat" cmpd="sng">
                <a:solidFill>
                  <a:schemeClr val="tx1"/>
                </a:solidFill>
                <a:prstDash val="solid"/>
                <a:roun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1800" dirty="0">
                  <a:ea typeface="宋体" panose="02010600030101010101" pitchFamily="2" charset="-122"/>
                </a:endParaRPr>
              </a:p>
            </p:txBody>
          </p:sp>
          <p:sp>
            <p:nvSpPr>
              <p:cNvPr id="73737" name="TextBox 7"/>
              <p:cNvSpPr txBox="1"/>
              <p:nvPr/>
            </p:nvSpPr>
            <p:spPr>
              <a:xfrm>
                <a:off x="6826102" y="2488121"/>
                <a:ext cx="1605516" cy="369612"/>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zh-CN" altLang="en-US" sz="1800" dirty="0">
                    <a:solidFill>
                      <a:srgbClr val="FF0000"/>
                    </a:solidFill>
                    <a:ea typeface="宋体" panose="02010600030101010101" pitchFamily="2" charset="-122"/>
                  </a:rPr>
                  <a:t>写完后系统崩溃</a:t>
                </a:r>
                <a:endParaRPr lang="zh-CN" altLang="en-US" sz="1800" dirty="0">
                  <a:solidFill>
                    <a:srgbClr val="FF0000"/>
                  </a:solidFill>
                  <a:ea typeface="宋体" panose="02010600030101010101" pitchFamily="2" charset="-122"/>
                </a:endParaRPr>
              </a:p>
            </p:txBody>
          </p:sp>
        </p:gr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2"/>
          <p:cNvSpPr>
            <a:spLocks noGrp="1"/>
          </p:cNvSpPr>
          <p:nvPr>
            <p:ph type="title"/>
          </p:nvPr>
        </p:nvSpPr>
        <p:spPr>
          <a:ln/>
        </p:spPr>
        <p:txBody>
          <a:bodyPr vert="horz" wrap="square" lIns="91440" tIns="45720" rIns="91440" bIns="45720" anchor="ctr" anchorCtr="0"/>
          <a:p>
            <a:pPr eaLnBrk="1" hangingPunct="1"/>
            <a:r>
              <a:rPr lang="zh-CN" altLang="en-US" dirty="0">
                <a:ea typeface="宋体" panose="02010600030101010101" pitchFamily="2" charset="-122"/>
              </a:rPr>
              <a:t>事务提交</a:t>
            </a:r>
            <a:endParaRPr lang="zh-CN" altLang="en-US" dirty="0">
              <a:ea typeface="宋体" panose="02010600030101010101" pitchFamily="2" charset="-122"/>
            </a:endParaRPr>
          </a:p>
        </p:txBody>
      </p:sp>
      <p:sp>
        <p:nvSpPr>
          <p:cNvPr id="74755" name="Rectangle 3"/>
          <p:cNvSpPr>
            <a:spLocks noGrp="1"/>
          </p:cNvSpPr>
          <p:nvPr>
            <p:ph idx="1"/>
          </p:nvPr>
        </p:nvSpPr>
        <p:spPr>
          <a:xfrm>
            <a:off x="406400" y="1143000"/>
            <a:ext cx="8331200" cy="4202113"/>
          </a:xfrm>
          <a:ln/>
        </p:spPr>
        <p:txBody>
          <a:bodyPr vert="horz" wrap="square" lIns="91440" tIns="45720" rIns="91440" bIns="45720" anchor="t" anchorCtr="0"/>
          <a:p>
            <a:pPr marL="0" indent="0" algn="l" eaLnBrk="1" hangingPunct="1">
              <a:lnSpc>
                <a:spcPct val="200000"/>
              </a:lnSpc>
              <a:buFont typeface="Wingdings" panose="05000000000000000000" pitchFamily="2" charset="2"/>
              <a:buChar char="Ø"/>
            </a:pPr>
            <a:r>
              <a:rPr lang="zh-CN" altLang="en-US" sz="2400" b="1" dirty="0">
                <a:ea typeface="宋体" panose="02010600030101010101" pitchFamily="2" charset="-122"/>
              </a:rPr>
              <a:t>事务提交操作必须是原子的；</a:t>
            </a:r>
            <a:endParaRPr lang="zh-CN" altLang="en-US" sz="2400" b="1" dirty="0">
              <a:ea typeface="宋体" panose="02010600030101010101" pitchFamily="2" charset="-122"/>
            </a:endParaRPr>
          </a:p>
          <a:p>
            <a:pPr marL="0" indent="0" algn="l" eaLnBrk="1" hangingPunct="1">
              <a:lnSpc>
                <a:spcPct val="200000"/>
              </a:lnSpc>
              <a:buFont typeface="Wingdings" panose="05000000000000000000" pitchFamily="2" charset="2"/>
              <a:buChar char="Ø"/>
            </a:pPr>
            <a:r>
              <a:rPr lang="zh-CN" altLang="en-US" sz="2400" b="1" dirty="0">
                <a:ea typeface="宋体" panose="02010600030101010101" pitchFamily="2" charset="-122"/>
              </a:rPr>
              <a:t>在分布式系统中，提交操作可能需要不同机器上的多个进程协作，每一个进程都有一些被事务改动过的变量、文件、数据库或者其他对象；</a:t>
            </a:r>
            <a:endParaRPr lang="en-US" altLang="zh-CN" sz="2400" b="1" dirty="0">
              <a:ea typeface="宋体" panose="02010600030101010101" pitchFamily="2" charset="-122"/>
            </a:endParaRPr>
          </a:p>
          <a:p>
            <a:pPr marL="0" indent="0" algn="l" eaLnBrk="1" hangingPunct="1">
              <a:lnSpc>
                <a:spcPct val="200000"/>
              </a:lnSpc>
              <a:buFont typeface="Wingdings" panose="05000000000000000000" pitchFamily="2" charset="2"/>
              <a:buChar char="Ø"/>
            </a:pPr>
            <a:r>
              <a:rPr lang="zh-CN" altLang="en-US" sz="2400" b="1" dirty="0">
                <a:ea typeface="宋体" panose="02010600030101010101" pitchFamily="2" charset="-122"/>
              </a:rPr>
              <a:t>因为存在多个进程交互，其原子性是通过两阶段提交完成；</a:t>
            </a:r>
            <a:endParaRPr lang="zh-CN" altLang="en-US" sz="2400" b="1" dirty="0">
              <a:ea typeface="宋体" panose="02010600030101010101" pitchFamily="2"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2"/>
          <p:cNvSpPr>
            <a:spLocks noGrp="1"/>
          </p:cNvSpPr>
          <p:nvPr>
            <p:ph type="title"/>
          </p:nvPr>
        </p:nvSpPr>
        <p:spPr>
          <a:xfrm>
            <a:off x="0" y="0"/>
            <a:ext cx="9144000" cy="539750"/>
          </a:xfrm>
          <a:ln/>
        </p:spPr>
        <p:txBody>
          <a:bodyPr vert="horz" wrap="square" lIns="91440" tIns="45720" rIns="91440" bIns="45720" anchor="ctr" anchorCtr="0"/>
          <a:p>
            <a:pPr eaLnBrk="1" hangingPunct="1"/>
            <a:r>
              <a:rPr lang="en-US" altLang="zh-CN" dirty="0">
                <a:ea typeface="宋体" panose="02010600030101010101" pitchFamily="2" charset="-122"/>
              </a:rPr>
              <a:t>two-phase commit protocol</a:t>
            </a:r>
            <a:endParaRPr lang="zh-CN" altLang="en-US" dirty="0">
              <a:ea typeface="宋体" panose="02010600030101010101" pitchFamily="2" charset="-122"/>
            </a:endParaRPr>
          </a:p>
        </p:txBody>
      </p:sp>
      <p:sp>
        <p:nvSpPr>
          <p:cNvPr id="76803" name="Rectangle 3"/>
          <p:cNvSpPr>
            <a:spLocks noGrp="1"/>
          </p:cNvSpPr>
          <p:nvPr>
            <p:ph idx="1"/>
          </p:nvPr>
        </p:nvSpPr>
        <p:spPr>
          <a:xfrm>
            <a:off x="0" y="539750"/>
            <a:ext cx="9144000" cy="3449638"/>
          </a:xfrm>
          <a:ln/>
        </p:spPr>
        <p:txBody>
          <a:bodyPr vert="horz" wrap="square" lIns="91440" tIns="45720" rIns="91440" bIns="45720" anchor="t" anchorCtr="0"/>
          <a:p>
            <a:pPr algn="l" eaLnBrk="1" hangingPunct="1">
              <a:lnSpc>
                <a:spcPct val="150000"/>
              </a:lnSpc>
              <a:buNone/>
            </a:pPr>
            <a:r>
              <a:rPr lang="zh-CN" altLang="en-US" sz="1600" b="1" dirty="0">
                <a:latin typeface="宋体" panose="02010600030101010101" pitchFamily="2" charset="-122"/>
                <a:ea typeface="宋体" panose="02010600030101010101" pitchFamily="2" charset="-122"/>
              </a:rPr>
              <a:t>基本思想（</a:t>
            </a:r>
            <a:r>
              <a:rPr lang="en-US" altLang="zh-CN" sz="1600" b="1" dirty="0">
                <a:latin typeface="宋体" panose="02010600030101010101" pitchFamily="2" charset="-122"/>
                <a:ea typeface="宋体" panose="02010600030101010101" pitchFamily="2" charset="-122"/>
              </a:rPr>
              <a:t>Gray</a:t>
            </a:r>
            <a:r>
              <a:rPr lang="zh-CN" altLang="en-US" sz="1600" b="1" dirty="0">
                <a:latin typeface="宋体" panose="02010600030101010101" pitchFamily="2" charset="-122"/>
                <a:ea typeface="宋体" panose="02010600030101010101" pitchFamily="2" charset="-122"/>
              </a:rPr>
              <a:t>，</a:t>
            </a:r>
            <a:r>
              <a:rPr lang="en-US" altLang="zh-CN" sz="1600" b="1" dirty="0">
                <a:latin typeface="宋体" panose="02010600030101010101" pitchFamily="2" charset="-122"/>
                <a:ea typeface="宋体" panose="02010600030101010101" pitchFamily="2" charset="-122"/>
              </a:rPr>
              <a:t>1978</a:t>
            </a:r>
            <a:r>
              <a:rPr lang="zh-CN" altLang="en-US" sz="1600" b="1" dirty="0">
                <a:latin typeface="宋体" panose="02010600030101010101" pitchFamily="2" charset="-122"/>
                <a:ea typeface="宋体" panose="02010600030101010101" pitchFamily="2" charset="-122"/>
              </a:rPr>
              <a:t>） ：</a:t>
            </a:r>
            <a:endParaRPr lang="zh-CN" altLang="en-US" sz="1600" b="1" dirty="0">
              <a:latin typeface="宋体" panose="02010600030101010101" pitchFamily="2" charset="-122"/>
              <a:ea typeface="宋体" panose="02010600030101010101" pitchFamily="2" charset="-122"/>
            </a:endParaRPr>
          </a:p>
          <a:p>
            <a:pPr lvl="1" eaLnBrk="1" hangingPunct="1">
              <a:lnSpc>
                <a:spcPct val="150000"/>
              </a:lnSpc>
              <a:buFont typeface="Wingdings" panose="05000000000000000000" pitchFamily="2" charset="2"/>
              <a:buChar char="u"/>
            </a:pPr>
            <a:r>
              <a:rPr lang="zh-CN" altLang="en-US" sz="1600" b="1" dirty="0">
                <a:latin typeface="宋体" panose="02010600030101010101" pitchFamily="2" charset="-122"/>
                <a:ea typeface="宋体" panose="02010600030101010101" pitchFamily="2" charset="-122"/>
              </a:rPr>
              <a:t>选一个进程作为协调者（执行事务的进程）；</a:t>
            </a:r>
            <a:endParaRPr lang="zh-CN" altLang="en-US" sz="1600" b="1" dirty="0">
              <a:latin typeface="宋体" panose="02010600030101010101" pitchFamily="2" charset="-122"/>
              <a:ea typeface="宋体" panose="02010600030101010101" pitchFamily="2" charset="-122"/>
            </a:endParaRPr>
          </a:p>
          <a:p>
            <a:pPr lvl="1" eaLnBrk="1" hangingPunct="1">
              <a:lnSpc>
                <a:spcPct val="150000"/>
              </a:lnSpc>
              <a:buFont typeface="Wingdings" panose="05000000000000000000" pitchFamily="2" charset="2"/>
              <a:buChar char="u"/>
            </a:pPr>
            <a:r>
              <a:rPr lang="zh-CN" altLang="en-US" sz="1600" b="1" dirty="0">
                <a:latin typeface="宋体" panose="02010600030101010101" pitchFamily="2" charset="-122"/>
                <a:ea typeface="宋体" panose="02010600030101010101" pitchFamily="2" charset="-122"/>
              </a:rPr>
              <a:t>提交时，协调者先写一条日志表明它要开始提交，然后向下属进程广播一条消息，通知它们作好提交准备。</a:t>
            </a:r>
            <a:endParaRPr lang="zh-CN" altLang="en-US" sz="1600" b="1" dirty="0">
              <a:latin typeface="宋体" panose="02010600030101010101" pitchFamily="2" charset="-122"/>
              <a:ea typeface="宋体" panose="02010600030101010101" pitchFamily="2" charset="-122"/>
            </a:endParaRPr>
          </a:p>
          <a:p>
            <a:pPr lvl="1" eaLnBrk="1" hangingPunct="1">
              <a:lnSpc>
                <a:spcPct val="150000"/>
              </a:lnSpc>
              <a:buFont typeface="Wingdings" panose="05000000000000000000" pitchFamily="2" charset="2"/>
              <a:buChar char="u"/>
            </a:pPr>
            <a:r>
              <a:rPr lang="zh-CN" altLang="en-US" sz="1600" b="1" dirty="0">
                <a:latin typeface="宋体" panose="02010600030101010101" pitchFamily="2" charset="-122"/>
                <a:ea typeface="宋体" panose="02010600030101010101" pitchFamily="2" charset="-122"/>
              </a:rPr>
              <a:t>当下属收到消息后，先检查自己是否为提交作好准备，然后将它的决定发回给协调者。</a:t>
            </a:r>
            <a:endParaRPr lang="zh-CN" altLang="en-US" sz="1600" b="1" dirty="0">
              <a:latin typeface="宋体" panose="02010600030101010101" pitchFamily="2" charset="-122"/>
              <a:ea typeface="宋体" panose="02010600030101010101" pitchFamily="2" charset="-122"/>
            </a:endParaRPr>
          </a:p>
          <a:p>
            <a:pPr lvl="1" eaLnBrk="1" hangingPunct="1">
              <a:lnSpc>
                <a:spcPct val="150000"/>
              </a:lnSpc>
              <a:buFont typeface="Wingdings" panose="05000000000000000000" pitchFamily="2" charset="2"/>
              <a:buChar char="u"/>
            </a:pPr>
            <a:r>
              <a:rPr lang="zh-CN" altLang="en-US" sz="1600" b="1" dirty="0">
                <a:latin typeface="宋体" panose="02010600030101010101" pitchFamily="2" charset="-122"/>
                <a:ea typeface="宋体" panose="02010600030101010101" pitchFamily="2" charset="-122"/>
              </a:rPr>
              <a:t>当协调者收到了所有的响应后，它就知道是否可以提交或中止。</a:t>
            </a:r>
            <a:endParaRPr lang="zh-CN" altLang="en-US" sz="1600" b="1" dirty="0">
              <a:latin typeface="宋体" panose="02010600030101010101" pitchFamily="2" charset="-122"/>
              <a:ea typeface="宋体" panose="02010600030101010101" pitchFamily="2" charset="-122"/>
            </a:endParaRPr>
          </a:p>
          <a:p>
            <a:pPr lvl="2" eaLnBrk="1" hangingPunct="1">
              <a:lnSpc>
                <a:spcPct val="150000"/>
              </a:lnSpc>
              <a:buFont typeface="Wingdings" panose="05000000000000000000" pitchFamily="2" charset="2"/>
              <a:buChar char="Ø"/>
            </a:pPr>
            <a:r>
              <a:rPr lang="zh-CN" altLang="en-US" sz="1600" b="1" dirty="0">
                <a:latin typeface="宋体" panose="02010600030101010101" pitchFamily="2" charset="-122"/>
                <a:ea typeface="宋体" panose="02010600030101010101" pitchFamily="2" charset="-122"/>
              </a:rPr>
              <a:t>如果所有的进程都准备提交，那么事务就可以提交了。</a:t>
            </a:r>
            <a:endParaRPr lang="zh-CN" altLang="en-US" sz="1600" b="1" dirty="0">
              <a:latin typeface="宋体" panose="02010600030101010101" pitchFamily="2" charset="-122"/>
              <a:ea typeface="宋体" panose="02010600030101010101" pitchFamily="2" charset="-122"/>
            </a:endParaRPr>
          </a:p>
          <a:p>
            <a:pPr lvl="2" eaLnBrk="1" hangingPunct="1">
              <a:lnSpc>
                <a:spcPct val="150000"/>
              </a:lnSpc>
              <a:buFont typeface="Wingdings" panose="05000000000000000000" pitchFamily="2" charset="2"/>
              <a:buChar char="Ø"/>
            </a:pPr>
            <a:r>
              <a:rPr lang="zh-CN" altLang="en-US" sz="1600" b="1" dirty="0">
                <a:latin typeface="宋体" panose="02010600030101010101" pitchFamily="2" charset="-122"/>
                <a:ea typeface="宋体" panose="02010600030101010101" pitchFamily="2" charset="-122"/>
              </a:rPr>
              <a:t>如果一个或几个进程不能提交（或没有响应），事务就中止。</a:t>
            </a:r>
            <a:endParaRPr lang="en-US" altLang="zh-CN" sz="1600" b="1" dirty="0">
              <a:latin typeface="宋体" panose="02010600030101010101" pitchFamily="2" charset="-122"/>
              <a:ea typeface="宋体" panose="02010600030101010101" pitchFamily="2" charset="-122"/>
            </a:endParaRPr>
          </a:p>
          <a:p>
            <a:pPr lvl="2" eaLnBrk="1" hangingPunct="1">
              <a:lnSpc>
                <a:spcPct val="150000"/>
              </a:lnSpc>
              <a:buNone/>
            </a:pPr>
            <a:endParaRPr lang="en-US" altLang="zh-CN" sz="1600" b="1" dirty="0">
              <a:latin typeface="宋体" panose="02010600030101010101" pitchFamily="2" charset="-122"/>
              <a:ea typeface="宋体" panose="02010600030101010101" pitchFamily="2" charset="-122"/>
            </a:endParaRPr>
          </a:p>
        </p:txBody>
      </p:sp>
      <p:pic>
        <p:nvPicPr>
          <p:cNvPr id="4" name="Picture 4"/>
          <p:cNvPicPr>
            <a:picLocks noChangeAspect="1" noChangeArrowheads="1"/>
          </p:cNvPicPr>
          <p:nvPr/>
        </p:nvPicPr>
        <p:blipFill>
          <a:blip r:embed="rId1"/>
          <a:srcRect/>
          <a:stretch>
            <a:fillRect/>
          </a:stretch>
        </p:blipFill>
        <p:spPr bwMode="auto">
          <a:xfrm>
            <a:off x="1812175" y="3865418"/>
            <a:ext cx="5793969" cy="2892829"/>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2"/>
          <p:cNvSpPr>
            <a:spLocks noGrp="1"/>
          </p:cNvSpPr>
          <p:nvPr>
            <p:ph type="title"/>
          </p:nvPr>
        </p:nvSpPr>
        <p:spPr>
          <a:xfrm>
            <a:off x="0" y="133350"/>
            <a:ext cx="3357563" cy="806450"/>
          </a:xfrm>
          <a:ln/>
        </p:spPr>
        <p:txBody>
          <a:bodyPr vert="horz" wrap="square" lIns="91440" tIns="45720" rIns="91440" bIns="45720" anchor="ctr" anchorCtr="0"/>
          <a:p>
            <a:pPr eaLnBrk="1" hangingPunct="1"/>
            <a:r>
              <a:rPr lang="zh-CN" altLang="en-US" sz="4000" dirty="0">
                <a:ea typeface="宋体" panose="02010600030101010101" pitchFamily="2" charset="-122"/>
              </a:rPr>
              <a:t>崩溃和恢复</a:t>
            </a:r>
            <a:endParaRPr lang="zh-CN" altLang="en-US" sz="4000" dirty="0">
              <a:ea typeface="宋体" panose="02010600030101010101" pitchFamily="2" charset="-122"/>
            </a:endParaRPr>
          </a:p>
        </p:txBody>
      </p:sp>
      <p:sp>
        <p:nvSpPr>
          <p:cNvPr id="77827" name="Rectangle 3"/>
          <p:cNvSpPr>
            <a:spLocks noGrp="1"/>
          </p:cNvSpPr>
          <p:nvPr>
            <p:ph idx="1"/>
          </p:nvPr>
        </p:nvSpPr>
        <p:spPr>
          <a:xfrm>
            <a:off x="368300" y="1004888"/>
            <a:ext cx="8497888" cy="4691062"/>
          </a:xfrm>
          <a:ln/>
        </p:spPr>
        <p:txBody>
          <a:bodyPr vert="horz" wrap="square" lIns="91440" tIns="45720" rIns="91440" bIns="45720" anchor="t" anchorCtr="0"/>
          <a:p>
            <a:pPr marL="0" indent="0" algn="l" eaLnBrk="1" hangingPunct="1">
              <a:lnSpc>
                <a:spcPct val="200000"/>
              </a:lnSpc>
              <a:buNone/>
            </a:pPr>
            <a:r>
              <a:rPr lang="zh-CN" altLang="en-US" sz="2000" b="1" dirty="0">
                <a:ea typeface="宋体" panose="02010600030101010101" pitchFamily="2" charset="-122"/>
              </a:rPr>
              <a:t>通过日志记录还可实现崩溃的恢复：</a:t>
            </a:r>
            <a:endParaRPr lang="zh-CN" altLang="en-US" sz="2000" b="1" dirty="0">
              <a:ea typeface="宋体" panose="02010600030101010101" pitchFamily="2" charset="-122"/>
            </a:endParaRPr>
          </a:p>
          <a:p>
            <a:pPr lvl="1" eaLnBrk="1" hangingPunct="1">
              <a:lnSpc>
                <a:spcPct val="200000"/>
              </a:lnSpc>
              <a:buFont typeface="Wingdings" panose="05000000000000000000" pitchFamily="2" charset="2"/>
              <a:buChar char="u"/>
            </a:pPr>
            <a:r>
              <a:rPr lang="zh-CN" altLang="en-US" sz="2000" b="1" dirty="0">
                <a:ea typeface="宋体" panose="02010600030101010101" pitchFamily="2" charset="-122"/>
              </a:rPr>
              <a:t>如果协调者在</a:t>
            </a:r>
            <a:r>
              <a:rPr lang="zh-CN" altLang="en-US" sz="2000" b="1" dirty="0">
                <a:solidFill>
                  <a:srgbClr val="FF0000"/>
                </a:solidFill>
                <a:ea typeface="宋体" panose="02010600030101010101" pitchFamily="2" charset="-122"/>
              </a:rPr>
              <a:t>写入初始化日志后</a:t>
            </a:r>
            <a:r>
              <a:rPr lang="zh-CN" altLang="en-US" sz="2000" b="1" dirty="0">
                <a:ea typeface="宋体" panose="02010600030101010101" pitchFamily="2" charset="-122"/>
              </a:rPr>
              <a:t>崩溃，恢复时从停止处继续就可以了；若需要，还可以重发初始化消息；</a:t>
            </a:r>
            <a:endParaRPr lang="zh-CN" altLang="en-US" sz="2000" b="1" dirty="0">
              <a:ea typeface="宋体" panose="02010600030101010101" pitchFamily="2" charset="-122"/>
            </a:endParaRPr>
          </a:p>
          <a:p>
            <a:pPr lvl="1" eaLnBrk="1" hangingPunct="1">
              <a:lnSpc>
                <a:spcPct val="200000"/>
              </a:lnSpc>
              <a:buFont typeface="Wingdings" panose="05000000000000000000" pitchFamily="2" charset="2"/>
              <a:buChar char="u"/>
            </a:pPr>
            <a:r>
              <a:rPr lang="zh-CN" altLang="en-US" sz="2000" b="1" dirty="0">
                <a:ea typeface="宋体" panose="02010600030101010101" pitchFamily="2" charset="-122"/>
              </a:rPr>
              <a:t>如果在</a:t>
            </a:r>
            <a:r>
              <a:rPr lang="zh-CN" altLang="en-US" sz="2000" b="1" dirty="0">
                <a:solidFill>
                  <a:srgbClr val="FF0000"/>
                </a:solidFill>
                <a:ea typeface="宋体" panose="02010600030101010101" pitchFamily="2" charset="-122"/>
              </a:rPr>
              <a:t>响应第一条消息之前</a:t>
            </a:r>
            <a:r>
              <a:rPr lang="zh-CN" altLang="en-US" sz="2000" b="1" dirty="0">
                <a:ea typeface="宋体" panose="02010600030101010101" pitchFamily="2" charset="-122"/>
              </a:rPr>
              <a:t>某个下属崩溃了，那么协调者在放弃前将会给它不断地发送消息；</a:t>
            </a:r>
            <a:endParaRPr lang="zh-CN" altLang="en-US" sz="2000" b="1" dirty="0">
              <a:ea typeface="宋体" panose="02010600030101010101" pitchFamily="2" charset="-122"/>
            </a:endParaRPr>
          </a:p>
          <a:p>
            <a:pPr lvl="1" eaLnBrk="1" hangingPunct="1">
              <a:lnSpc>
                <a:spcPct val="200000"/>
              </a:lnSpc>
              <a:buFont typeface="Wingdings" panose="05000000000000000000" pitchFamily="2" charset="2"/>
              <a:buChar char="u"/>
            </a:pPr>
            <a:r>
              <a:rPr lang="zh-CN" altLang="en-US" sz="2000" b="1" dirty="0">
                <a:ea typeface="宋体" panose="02010600030101010101" pitchFamily="2" charset="-122"/>
              </a:rPr>
              <a:t>如果</a:t>
            </a:r>
            <a:r>
              <a:rPr lang="zh-CN" altLang="en-US" sz="2000" b="1" dirty="0">
                <a:solidFill>
                  <a:srgbClr val="FF0000"/>
                </a:solidFill>
                <a:ea typeface="宋体" panose="02010600030101010101" pitchFamily="2" charset="-122"/>
              </a:rPr>
              <a:t>协调者后来崩溃了</a:t>
            </a:r>
            <a:r>
              <a:rPr lang="zh-CN" altLang="en-US" sz="2000" b="1" dirty="0">
                <a:ea typeface="宋体" panose="02010600030101010101" pitchFamily="2" charset="-122"/>
              </a:rPr>
              <a:t>，那么它就可以从日志中看出自己所处的位置，并能决定该作些什么。</a:t>
            </a:r>
            <a:endParaRPr lang="zh-CN" altLang="en-US" sz="2000" b="1" dirty="0">
              <a:ea typeface="宋体" panose="02010600030101010101" pitchFamily="2"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Rectangle 2"/>
          <p:cNvSpPr>
            <a:spLocks noGrp="1"/>
          </p:cNvSpPr>
          <p:nvPr>
            <p:ph type="title"/>
          </p:nvPr>
        </p:nvSpPr>
        <p:spPr>
          <a:xfrm>
            <a:off x="0" y="180975"/>
            <a:ext cx="9144000" cy="860425"/>
          </a:xfrm>
          <a:ln/>
        </p:spPr>
        <p:txBody>
          <a:bodyPr vert="horz" wrap="square" lIns="91440" tIns="45720" rIns="91440" bIns="45720" anchor="ctr" anchorCtr="0"/>
          <a:p>
            <a:pPr eaLnBrk="1" hangingPunct="1"/>
            <a:r>
              <a:rPr lang="en-US" altLang="zh-CN" dirty="0">
                <a:ea typeface="宋体" panose="02010600030101010101" pitchFamily="2" charset="-122"/>
              </a:rPr>
              <a:t>Concurrency Control </a:t>
            </a:r>
            <a:endParaRPr lang="en-US" altLang="zh-CN" dirty="0">
              <a:ea typeface="宋体" panose="02010600030101010101" pitchFamily="2" charset="-122"/>
            </a:endParaRPr>
          </a:p>
        </p:txBody>
      </p:sp>
      <p:sp>
        <p:nvSpPr>
          <p:cNvPr id="78851" name="Rectangle 3"/>
          <p:cNvSpPr>
            <a:spLocks noGrp="1"/>
          </p:cNvSpPr>
          <p:nvPr>
            <p:ph idx="1"/>
          </p:nvPr>
        </p:nvSpPr>
        <p:spPr>
          <a:xfrm>
            <a:off x="720725" y="5808663"/>
            <a:ext cx="7578725" cy="533400"/>
          </a:xfrm>
          <a:ln/>
        </p:spPr>
        <p:txBody>
          <a:bodyPr vert="horz" wrap="square" lIns="91440" tIns="45720" rIns="91440" bIns="45720" anchor="t" anchorCtr="0"/>
          <a:p>
            <a:pPr eaLnBrk="1" hangingPunct="1">
              <a:buNone/>
            </a:pPr>
            <a:r>
              <a:rPr lang="en-US" altLang="zh-CN" sz="2400" dirty="0">
                <a:ea typeface="宋体" panose="02010600030101010101" pitchFamily="2" charset="-122"/>
              </a:rPr>
              <a:t>General organization of managers for handling transactions.</a:t>
            </a:r>
            <a:endParaRPr lang="en-US" altLang="zh-CN" sz="2400" dirty="0">
              <a:ea typeface="宋体" panose="02010600030101010101" pitchFamily="2" charset="-122"/>
            </a:endParaRPr>
          </a:p>
        </p:txBody>
      </p:sp>
      <p:pic>
        <p:nvPicPr>
          <p:cNvPr id="78852" name="Picture 4"/>
          <p:cNvPicPr>
            <a:picLocks noChangeAspect="1"/>
          </p:cNvPicPr>
          <p:nvPr/>
        </p:nvPicPr>
        <p:blipFill>
          <a:blip r:embed="rId1"/>
          <a:srcRect l="33351" t="43504" r="30786" b="37613"/>
          <a:stretch>
            <a:fillRect/>
          </a:stretch>
        </p:blipFill>
        <p:spPr>
          <a:xfrm>
            <a:off x="1751013" y="2171700"/>
            <a:ext cx="5967412" cy="3565525"/>
          </a:xfrm>
          <a:prstGeom prst="rect">
            <a:avLst/>
          </a:prstGeom>
          <a:noFill/>
          <a:ln w="9525">
            <a:noFill/>
          </a:ln>
        </p:spPr>
      </p:pic>
      <p:sp>
        <p:nvSpPr>
          <p:cNvPr id="5" name="Rectangle 3"/>
          <p:cNvSpPr txBox="1">
            <a:spLocks noChangeArrowheads="1"/>
          </p:cNvSpPr>
          <p:nvPr/>
        </p:nvSpPr>
        <p:spPr bwMode="auto">
          <a:xfrm>
            <a:off x="184150" y="1046163"/>
            <a:ext cx="8651875" cy="1055688"/>
          </a:xfrm>
          <a:prstGeom prst="rect">
            <a:avLst/>
          </a:prstGeom>
          <a:noFill/>
          <a:ln w="9525">
            <a:noFill/>
            <a:miter lim="800000"/>
          </a:ln>
        </p:spPr>
        <p:txBody>
          <a:bodyPr/>
          <a:lstStyle/>
          <a:p>
            <a:pPr marR="0" defTabSz="914400" eaLnBrk="1" hangingPunct="1">
              <a:lnSpc>
                <a:spcPct val="150000"/>
              </a:lnSpc>
              <a:spcBef>
                <a:spcPct val="20000"/>
              </a:spcBef>
              <a:buClr>
                <a:schemeClr val="accent2"/>
              </a:buClr>
              <a:buSzTx/>
              <a:buFontTx/>
              <a:buNone/>
              <a:defRPr/>
            </a:pPr>
            <a:r>
              <a:rPr kumimoji="0" lang="zh-CN" altLang="en-US" sz="2200" b="1" kern="0" cap="none" spc="0" normalizeH="0" baseline="0" noProof="0" dirty="0">
                <a:latin typeface="+mn-lt"/>
                <a:ea typeface="宋体" panose="02010600030101010101" pitchFamily="2" charset="-122"/>
                <a:cs typeface="+mn-cs"/>
              </a:rPr>
              <a:t>        当多个事务在不同进程（结点）同时执行时，要保证它们互不干扰，这种机制称为并发控制机制。</a:t>
            </a:r>
            <a:endParaRPr kumimoji="0" lang="zh-CN" altLang="en-US" sz="2200" b="1" kern="0" cap="none" spc="0" normalizeH="0" baseline="0" noProof="0" dirty="0">
              <a:latin typeface="+mn-lt"/>
              <a:ea typeface="宋体" panose="02010600030101010101" pitchFamily="2" charset="-122"/>
              <a:cs typeface="+mn-c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Rectangle 2"/>
          <p:cNvSpPr>
            <a:spLocks noGrp="1"/>
          </p:cNvSpPr>
          <p:nvPr>
            <p:ph type="title"/>
          </p:nvPr>
        </p:nvSpPr>
        <p:spPr>
          <a:ln/>
        </p:spPr>
        <p:txBody>
          <a:bodyPr vert="horz" wrap="square" lIns="91440" tIns="45720" rIns="91440" bIns="45720" anchor="ctr" anchorCtr="0"/>
          <a:p>
            <a:pPr eaLnBrk="1" hangingPunct="1"/>
            <a:r>
              <a:rPr lang="en-US" altLang="zh-CN" dirty="0">
                <a:ea typeface="宋体" panose="02010600030101010101" pitchFamily="2" charset="-122"/>
              </a:rPr>
              <a:t>Concurrency Control</a:t>
            </a:r>
            <a:endParaRPr lang="en-US" altLang="zh-CN" dirty="0">
              <a:ea typeface="宋体" panose="02010600030101010101" pitchFamily="2" charset="-122"/>
            </a:endParaRPr>
          </a:p>
        </p:txBody>
      </p:sp>
      <p:pic>
        <p:nvPicPr>
          <p:cNvPr id="80899" name="Picture 3"/>
          <p:cNvPicPr>
            <a:picLocks noChangeAspect="1"/>
          </p:cNvPicPr>
          <p:nvPr/>
        </p:nvPicPr>
        <p:blipFill>
          <a:blip r:embed="rId1"/>
          <a:srcRect l="29930" t="39426" r="27579" b="33987"/>
          <a:stretch>
            <a:fillRect/>
          </a:stretch>
        </p:blipFill>
        <p:spPr>
          <a:xfrm>
            <a:off x="1112838" y="1181100"/>
            <a:ext cx="5783262" cy="5121275"/>
          </a:xfrm>
          <a:prstGeom prst="rect">
            <a:avLst/>
          </a:prstGeom>
          <a:noFill/>
          <a:ln w="9525">
            <a:noFill/>
          </a:ln>
        </p:spPr>
      </p:pic>
      <p:sp>
        <p:nvSpPr>
          <p:cNvPr id="80900" name="Rectangle 4"/>
          <p:cNvSpPr>
            <a:spLocks noGrp="1"/>
          </p:cNvSpPr>
          <p:nvPr>
            <p:ph idx="1"/>
          </p:nvPr>
        </p:nvSpPr>
        <p:spPr>
          <a:xfrm>
            <a:off x="3524250" y="1409700"/>
            <a:ext cx="5395913" cy="1449388"/>
          </a:xfrm>
          <a:ln/>
        </p:spPr>
        <p:txBody>
          <a:bodyPr vert="horz" wrap="square" lIns="91440" tIns="45720" rIns="91440" bIns="45720" anchor="t" anchorCtr="0"/>
          <a:p>
            <a:pPr algn="l" eaLnBrk="1" hangingPunct="1">
              <a:lnSpc>
                <a:spcPct val="150000"/>
              </a:lnSpc>
              <a:buFont typeface="Wingdings" panose="05000000000000000000" pitchFamily="2" charset="2"/>
              <a:buChar char="u"/>
            </a:pPr>
            <a:r>
              <a:rPr lang="en-US" altLang="zh-CN" sz="2400" dirty="0">
                <a:ea typeface="宋体" panose="02010600030101010101" pitchFamily="2" charset="-122"/>
              </a:rPr>
              <a:t>General organization of managers for handling distributed transactions.</a:t>
            </a:r>
            <a:endParaRPr lang="en-US" altLang="zh-CN" sz="2400" dirty="0">
              <a:ea typeface="宋体" panose="02010600030101010101" pitchFamily="2"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2"/>
          <p:cNvSpPr>
            <a:spLocks noGrp="1"/>
          </p:cNvSpPr>
          <p:nvPr>
            <p:ph type="title"/>
          </p:nvPr>
        </p:nvSpPr>
        <p:spPr>
          <a:xfrm>
            <a:off x="0" y="0"/>
            <a:ext cx="9144000" cy="855663"/>
          </a:xfrm>
          <a:ln/>
        </p:spPr>
        <p:txBody>
          <a:bodyPr vert="horz" wrap="square" lIns="91440" tIns="45720" rIns="91440" bIns="45720" anchor="ctr" anchorCtr="0"/>
          <a:p>
            <a:pPr eaLnBrk="1" hangingPunct="1"/>
            <a:r>
              <a:rPr lang="en-US" altLang="zh-CN" dirty="0">
                <a:ea typeface="宋体" panose="02010600030101010101" pitchFamily="2" charset="-122"/>
              </a:rPr>
              <a:t>Concurrency Control</a:t>
            </a:r>
            <a:endParaRPr lang="zh-CN" altLang="en-US" dirty="0">
              <a:ea typeface="宋体" panose="02010600030101010101" pitchFamily="2" charset="-122"/>
            </a:endParaRPr>
          </a:p>
        </p:txBody>
      </p:sp>
      <p:sp>
        <p:nvSpPr>
          <p:cNvPr id="82947" name="Rectangle 3"/>
          <p:cNvSpPr>
            <a:spLocks noGrp="1"/>
          </p:cNvSpPr>
          <p:nvPr>
            <p:ph idx="1"/>
          </p:nvPr>
        </p:nvSpPr>
        <p:spPr>
          <a:xfrm>
            <a:off x="246063" y="925513"/>
            <a:ext cx="8823325" cy="1452562"/>
          </a:xfrm>
          <a:ln/>
        </p:spPr>
        <p:txBody>
          <a:bodyPr vert="horz" wrap="square" lIns="91440" tIns="45720" rIns="91440" bIns="45720" anchor="t" anchorCtr="0"/>
          <a:p>
            <a:pPr marL="0" indent="0" algn="l" eaLnBrk="1" hangingPunct="1">
              <a:lnSpc>
                <a:spcPct val="150000"/>
              </a:lnSpc>
              <a:buFont typeface="Wingdings" panose="05000000000000000000" pitchFamily="2" charset="2"/>
              <a:buChar char="u"/>
            </a:pPr>
            <a:r>
              <a:rPr lang="zh-CN" altLang="en-US" sz="1800" b="1" dirty="0">
                <a:ea typeface="宋体" panose="02010600030101010101" pitchFamily="2" charset="-122"/>
              </a:rPr>
              <a:t>定义：</a:t>
            </a:r>
            <a:r>
              <a:rPr lang="zh-CN" altLang="en-US" sz="1800" b="1" dirty="0">
                <a:solidFill>
                  <a:srgbClr val="FF0000"/>
                </a:solidFill>
                <a:ea typeface="宋体" panose="02010600030101010101" pitchFamily="2" charset="-122"/>
              </a:rPr>
              <a:t>多个事务的并发执行是正确的，当且仅当其结果与按事务某一次序串行执行时的结果相同。称这种调度策略为可串行化（</a:t>
            </a:r>
            <a:r>
              <a:rPr lang="en-US" altLang="zh-CN" sz="1800" b="1" dirty="0">
                <a:solidFill>
                  <a:srgbClr val="FF0000"/>
                </a:solidFill>
                <a:ea typeface="宋体" panose="02010600030101010101" pitchFamily="2" charset="-122"/>
              </a:rPr>
              <a:t>Serializable</a:t>
            </a:r>
            <a:r>
              <a:rPr lang="zh-CN" altLang="en-US" sz="1800" b="1" dirty="0">
                <a:solidFill>
                  <a:srgbClr val="FF0000"/>
                </a:solidFill>
                <a:ea typeface="宋体" panose="02010600030101010101" pitchFamily="2" charset="-122"/>
              </a:rPr>
              <a:t>）的调度。</a:t>
            </a:r>
            <a:endParaRPr lang="en-US" altLang="zh-CN" sz="1800" b="1" dirty="0">
              <a:solidFill>
                <a:srgbClr val="FF0000"/>
              </a:solidFill>
              <a:ea typeface="宋体" panose="02010600030101010101" pitchFamily="2" charset="-122"/>
            </a:endParaRPr>
          </a:p>
          <a:p>
            <a:pPr marL="0" indent="0" algn="l" eaLnBrk="1" hangingPunct="1">
              <a:lnSpc>
                <a:spcPct val="150000"/>
              </a:lnSpc>
              <a:buFont typeface="Wingdings" panose="05000000000000000000" pitchFamily="2" charset="2"/>
              <a:buChar char="u"/>
            </a:pPr>
            <a:r>
              <a:rPr lang="zh-CN" altLang="en-US" sz="1800" b="1" dirty="0">
                <a:ea typeface="宋体" panose="02010600030101010101" pitchFamily="2" charset="-122"/>
              </a:rPr>
              <a:t>可串行化是并发事务正确性的准则。 </a:t>
            </a:r>
            <a:endParaRPr lang="zh-CN" altLang="en-US" sz="1800" b="1" dirty="0">
              <a:ea typeface="宋体" panose="02010600030101010101" pitchFamily="2" charset="-122"/>
            </a:endParaRPr>
          </a:p>
        </p:txBody>
      </p:sp>
      <p:sp>
        <p:nvSpPr>
          <p:cNvPr id="4" name="Rectangle 3"/>
          <p:cNvSpPr txBox="1">
            <a:spLocks noChangeArrowheads="1"/>
          </p:cNvSpPr>
          <p:nvPr/>
        </p:nvSpPr>
        <p:spPr bwMode="auto">
          <a:xfrm>
            <a:off x="693738" y="6375400"/>
            <a:ext cx="8067675" cy="382588"/>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l" defTabSz="914400" rtl="0" eaLnBrk="1" fontAlgn="base" latinLnBrk="0" hangingPunct="1">
              <a:lnSpc>
                <a:spcPct val="90000"/>
              </a:lnSpc>
              <a:spcBef>
                <a:spcPct val="20000"/>
              </a:spcBef>
              <a:spcAft>
                <a:spcPct val="0"/>
              </a:spcAft>
              <a:buClr>
                <a:schemeClr val="accent2"/>
              </a:buClr>
              <a:buSzTx/>
              <a:buFontTx/>
              <a:buNone/>
              <a:defRPr/>
            </a:pPr>
            <a:r>
              <a:rPr kumimoji="0" lang="en-US" altLang="zh-CN" sz="2000" b="0" i="0" u="none" strike="noStrike" kern="0" cap="none" spc="0" normalizeH="0" baseline="0" noProof="0" dirty="0">
                <a:ln>
                  <a:noFill/>
                </a:ln>
                <a:solidFill>
                  <a:schemeClr val="accent2"/>
                </a:solidFill>
                <a:effectLst/>
                <a:uLnTx/>
                <a:uFillTx/>
                <a:latin typeface="+mn-lt"/>
                <a:ea typeface="宋体" panose="02010600030101010101" pitchFamily="2" charset="-122"/>
                <a:cs typeface="+mn-cs"/>
              </a:rPr>
              <a:t>a) – c)</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Three transactions T</a:t>
            </a:r>
            <a:r>
              <a:rPr kumimoji="0" lang="en-US" altLang="zh-CN" sz="2000" b="0"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1</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T</a:t>
            </a:r>
            <a:r>
              <a:rPr kumimoji="0" lang="en-US" altLang="zh-CN" sz="2000" b="0"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2</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and T</a:t>
            </a:r>
            <a:r>
              <a:rPr kumimoji="0" lang="en-US" altLang="zh-CN" sz="2000" b="0" i="0" u="none" strike="noStrike" kern="0" cap="none" spc="0" normalizeH="0" baseline="-25000" noProof="0" dirty="0">
                <a:ln>
                  <a:noFill/>
                </a:ln>
                <a:solidFill>
                  <a:schemeClr val="tx1"/>
                </a:solidFill>
                <a:effectLst/>
                <a:uLnTx/>
                <a:uFillTx/>
                <a:latin typeface="+mn-lt"/>
                <a:ea typeface="宋体" panose="02010600030101010101" pitchFamily="2" charset="-122"/>
                <a:cs typeface="+mn-cs"/>
              </a:rPr>
              <a:t>3 </a:t>
            </a:r>
            <a:r>
              <a:rPr kumimoji="0" lang="en-US" altLang="zh-CN" sz="2000" b="0" i="0" u="none" strike="noStrike" kern="0" cap="none" spc="0" normalizeH="0" baseline="0" noProof="0" dirty="0">
                <a:ln>
                  <a:noFill/>
                </a:ln>
                <a:solidFill>
                  <a:schemeClr val="accent2"/>
                </a:solidFill>
                <a:effectLst/>
                <a:uLnTx/>
                <a:uFillTx/>
                <a:latin typeface="+mn-lt"/>
                <a:ea typeface="宋体" panose="02010600030101010101" pitchFamily="2" charset="-122"/>
                <a:cs typeface="+mn-cs"/>
              </a:rPr>
              <a:t>d)</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Possible schedules</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graphicFrame>
        <p:nvGraphicFramePr>
          <p:cNvPr id="5" name="Group 4"/>
          <p:cNvGraphicFramePr>
            <a:graphicFrameLocks noGrp="1"/>
          </p:cNvGraphicFramePr>
          <p:nvPr/>
        </p:nvGraphicFramePr>
        <p:xfrm>
          <a:off x="328613" y="2466975"/>
          <a:ext cx="8486775" cy="2020888"/>
        </p:xfrm>
        <a:graphic>
          <a:graphicData uri="http://schemas.openxmlformats.org/drawingml/2006/table">
            <a:tbl>
              <a:tblPr/>
              <a:tblGrid>
                <a:gridCol w="2828925"/>
                <a:gridCol w="2828925"/>
                <a:gridCol w="2828925"/>
              </a:tblGrid>
              <a:tr h="2020888">
                <a:tc>
                  <a:txBody>
                    <a:bodyPr/>
                    <a:lstStyle/>
                    <a:p>
                      <a:pPr marL="0" marR="0" lvl="0" indent="0" algn="l" defTabSz="914400" rtl="0" eaLnBrk="1" fontAlgn="base" latinLnBrk="0" hangingPunct="1">
                        <a:lnSpc>
                          <a:spcPct val="120000"/>
                        </a:lnSpc>
                        <a:spcBef>
                          <a:spcPct val="20000"/>
                        </a:spcBef>
                        <a:spcAft>
                          <a:spcPct val="0"/>
                        </a:spcAft>
                        <a:buClr>
                          <a:schemeClr val="accent2"/>
                        </a:buClr>
                        <a:buSzTx/>
                        <a:buFontTx/>
                        <a:buNone/>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BEGIN_TRANSACTION</a:t>
                      </a:r>
                      <a:b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b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      x = 0;</a:t>
                      </a:r>
                      <a:b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b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      x = x + 1;</a:t>
                      </a:r>
                      <a:b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b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END_TRANSACTION</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20000"/>
                        </a:lnSpc>
                        <a:spcBef>
                          <a:spcPct val="20000"/>
                        </a:spcBef>
                        <a:spcAft>
                          <a:spcPct val="0"/>
                        </a:spcAft>
                        <a:buClr>
                          <a:schemeClr val="accent2"/>
                        </a:buClr>
                        <a:buSzTx/>
                        <a:buFontTx/>
                        <a:buNone/>
                      </a:pPr>
                      <a:b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b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              (a)</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8" marB="45728" horzOverflow="overflow">
                    <a:lnL cap="flat">
                      <a:noFill/>
                    </a:lnL>
                    <a:lnR>
                      <a:noFill/>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accent2"/>
                        </a:buClr>
                        <a:buSzTx/>
                        <a:buFontTx/>
                        <a:buNone/>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BEGIN_TRANSACTION</a:t>
                      </a:r>
                      <a:b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b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      x = 0;</a:t>
                      </a:r>
                      <a:b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b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      x = x + 2;</a:t>
                      </a:r>
                      <a:b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b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END_TRANSACTION</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20000"/>
                        </a:lnSpc>
                        <a:spcBef>
                          <a:spcPct val="20000"/>
                        </a:spcBef>
                        <a:spcAft>
                          <a:spcPct val="0"/>
                        </a:spcAft>
                        <a:buClr>
                          <a:schemeClr val="accent2"/>
                        </a:buClr>
                        <a:buSzTx/>
                        <a:buFontTx/>
                        <a:buNone/>
                      </a:pPr>
                      <a:b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b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              (b)</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8" marB="45728" horzOverflow="overflow">
                    <a:lnL>
                      <a:noFill/>
                    </a:lnL>
                    <a:lnR>
                      <a:noFill/>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accent2"/>
                        </a:buClr>
                        <a:buSzTx/>
                        <a:buFontTx/>
                        <a:buNone/>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BEGIN_TRANSACTION</a:t>
                      </a:r>
                      <a:b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b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       x = 0;</a:t>
                      </a:r>
                      <a:b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b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       x = x + 3;</a:t>
                      </a:r>
                      <a:b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b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END_TRANSACTION</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20000"/>
                        </a:lnSpc>
                        <a:spcBef>
                          <a:spcPct val="20000"/>
                        </a:spcBef>
                        <a:spcAft>
                          <a:spcPct val="0"/>
                        </a:spcAft>
                        <a:buClr>
                          <a:schemeClr val="accent2"/>
                        </a:buClr>
                        <a:buSzTx/>
                        <a:buFontTx/>
                        <a:buNone/>
                      </a:pPr>
                      <a:b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b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              (c)</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8" marB="45728" horzOverflow="overflow">
                    <a:lnL>
                      <a:noFill/>
                    </a:lnL>
                    <a:lnR cap="flat">
                      <a:noFill/>
                    </a:lnR>
                    <a:lnT cap="flat">
                      <a:noFill/>
                    </a:lnT>
                    <a:lnB cap="flat">
                      <a:noFill/>
                    </a:lnB>
                    <a:lnTlToBr>
                      <a:noFill/>
                    </a:lnTlToBr>
                    <a:lnBlToTr>
                      <a:noFill/>
                    </a:lnBlToTr>
                    <a:noFill/>
                  </a:tcPr>
                </a:tc>
              </a:tr>
            </a:tbl>
          </a:graphicData>
        </a:graphic>
      </p:graphicFrame>
      <p:graphicFrame>
        <p:nvGraphicFramePr>
          <p:cNvPr id="6" name="Group 36"/>
          <p:cNvGraphicFramePr>
            <a:graphicFrameLocks noGrp="1"/>
          </p:cNvGraphicFramePr>
          <p:nvPr/>
        </p:nvGraphicFramePr>
        <p:xfrm>
          <a:off x="414338" y="4699000"/>
          <a:ext cx="8091488" cy="1254125"/>
        </p:xfrm>
        <a:graphic>
          <a:graphicData uri="http://schemas.openxmlformats.org/drawingml/2006/table">
            <a:tbl>
              <a:tblPr/>
              <a:tblGrid>
                <a:gridCol w="1428750"/>
                <a:gridCol w="5715000"/>
                <a:gridCol w="947737"/>
              </a:tblGrid>
              <a:tr h="417584">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Schedule 1</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85" marB="4578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x = 0;  x = x + 1;  x = 0;  x = x + 2;  x = 0;  x = x + 3</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85" marB="4578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Legal</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85" marB="4578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7969">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Schedule 2</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85" marB="4578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x = 0;   x = 0;  x = x + 1;  x = x + 2;  x = 0;  x = x + 3;</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85" marB="4578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Legal</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85" marB="4578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8572">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Schedule 3</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85" marB="4578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x = 0;  x = 0;  x = x + 1;  x = 0;  x = x + 2;  x = x + 3;</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85" marB="4578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Illegal</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85" marB="4578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2971" name="Text Box 34"/>
          <p:cNvSpPr txBox="1"/>
          <p:nvPr/>
        </p:nvSpPr>
        <p:spPr>
          <a:xfrm>
            <a:off x="3821113" y="5953125"/>
            <a:ext cx="1120775" cy="33655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600" dirty="0">
                <a:latin typeface="Arial" panose="020B0604020202020204" pitchFamily="34" charset="0"/>
                <a:ea typeface="宋体" panose="02010600030101010101" pitchFamily="2" charset="-122"/>
              </a:rPr>
              <a:t>(d)</a:t>
            </a:r>
            <a:endParaRPr lang="en-US" altLang="zh-CN" sz="1600" dirty="0">
              <a:latin typeface="Arial" panose="020B0604020202020204" pitchFamily="34" charset="0"/>
              <a:ea typeface="宋体" panose="02010600030101010101" pitchFamily="2"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Rectangle 2"/>
          <p:cNvSpPr>
            <a:spLocks noGrp="1"/>
          </p:cNvSpPr>
          <p:nvPr>
            <p:ph type="title"/>
          </p:nvPr>
        </p:nvSpPr>
        <p:spPr>
          <a:xfrm>
            <a:off x="0" y="0"/>
            <a:ext cx="9144000" cy="855663"/>
          </a:xfrm>
          <a:ln/>
        </p:spPr>
        <p:txBody>
          <a:bodyPr vert="horz" wrap="square" lIns="91440" tIns="45720" rIns="91440" bIns="45720" anchor="ctr" anchorCtr="0"/>
          <a:p>
            <a:pPr eaLnBrk="1" hangingPunct="1"/>
            <a:r>
              <a:rPr lang="en-US" altLang="zh-CN" dirty="0">
                <a:ea typeface="宋体" panose="02010600030101010101" pitchFamily="2" charset="-122"/>
              </a:rPr>
              <a:t>Concurrency Control</a:t>
            </a:r>
            <a:endParaRPr lang="zh-CN" altLang="en-US" dirty="0">
              <a:ea typeface="宋体" panose="02010600030101010101" pitchFamily="2" charset="-122"/>
            </a:endParaRPr>
          </a:p>
        </p:txBody>
      </p:sp>
      <p:sp>
        <p:nvSpPr>
          <p:cNvPr id="83971" name="Rectangle 3"/>
          <p:cNvSpPr>
            <a:spLocks noGrp="1"/>
          </p:cNvSpPr>
          <p:nvPr>
            <p:ph idx="1"/>
          </p:nvPr>
        </p:nvSpPr>
        <p:spPr>
          <a:xfrm>
            <a:off x="442913" y="935038"/>
            <a:ext cx="7092950" cy="1758950"/>
          </a:xfrm>
          <a:ln/>
        </p:spPr>
        <p:txBody>
          <a:bodyPr vert="horz" wrap="square" lIns="91440" tIns="45720" rIns="91440" bIns="45720" anchor="t" anchorCtr="0"/>
          <a:p>
            <a:pPr algn="l" eaLnBrk="1" hangingPunct="1">
              <a:lnSpc>
                <a:spcPct val="130000"/>
              </a:lnSpc>
              <a:buFont typeface="Wingdings" panose="05000000000000000000" pitchFamily="2" charset="2"/>
              <a:buChar char="u"/>
            </a:pPr>
            <a:r>
              <a:rPr lang="zh-CN" altLang="en-US" sz="2000" b="1" dirty="0">
                <a:ea typeface="宋体" panose="02010600030101010101" pitchFamily="2" charset="-122"/>
              </a:rPr>
              <a:t>并发控制算法：</a:t>
            </a:r>
            <a:endParaRPr lang="zh-CN" altLang="en-US" sz="2000" b="1" dirty="0">
              <a:ea typeface="宋体" panose="02010600030101010101" pitchFamily="2" charset="-122"/>
            </a:endParaRPr>
          </a:p>
          <a:p>
            <a:pPr lvl="1" eaLnBrk="1" hangingPunct="1">
              <a:lnSpc>
                <a:spcPct val="130000"/>
              </a:lnSpc>
              <a:buNone/>
            </a:pPr>
            <a:r>
              <a:rPr lang="en-US" altLang="zh-CN" sz="2000" b="1" dirty="0">
                <a:ea typeface="宋体" panose="02010600030101010101" pitchFamily="2" charset="-122"/>
              </a:rPr>
              <a:t>1</a:t>
            </a:r>
            <a:r>
              <a:rPr lang="zh-CN" altLang="en-US" sz="2000" b="1" dirty="0">
                <a:ea typeface="宋体" panose="02010600030101010101" pitchFamily="2" charset="-122"/>
              </a:rPr>
              <a:t>）加锁法；</a:t>
            </a:r>
            <a:endParaRPr lang="zh-CN" altLang="en-US" sz="2000" b="1" dirty="0">
              <a:ea typeface="宋体" panose="02010600030101010101" pitchFamily="2" charset="-122"/>
            </a:endParaRPr>
          </a:p>
          <a:p>
            <a:pPr lvl="1" eaLnBrk="1" hangingPunct="1">
              <a:lnSpc>
                <a:spcPct val="130000"/>
              </a:lnSpc>
              <a:buNone/>
            </a:pPr>
            <a:r>
              <a:rPr lang="en-US" altLang="zh-CN" sz="2000" b="1" dirty="0">
                <a:ea typeface="宋体" panose="02010600030101010101" pitchFamily="2" charset="-122"/>
              </a:rPr>
              <a:t>2</a:t>
            </a:r>
            <a:r>
              <a:rPr lang="zh-CN" altLang="en-US" sz="2000" b="1" dirty="0">
                <a:ea typeface="宋体" panose="02010600030101010101" pitchFamily="2" charset="-122"/>
              </a:rPr>
              <a:t>）乐观的并发控制；</a:t>
            </a:r>
            <a:endParaRPr lang="zh-CN" altLang="en-US" sz="2000" b="1" dirty="0">
              <a:ea typeface="宋体" panose="02010600030101010101" pitchFamily="2" charset="-122"/>
            </a:endParaRPr>
          </a:p>
          <a:p>
            <a:pPr lvl="1" eaLnBrk="1" hangingPunct="1">
              <a:lnSpc>
                <a:spcPct val="130000"/>
              </a:lnSpc>
              <a:buNone/>
            </a:pPr>
            <a:r>
              <a:rPr lang="en-US" altLang="zh-CN" sz="2000" b="1" dirty="0">
                <a:ea typeface="宋体" panose="02010600030101010101" pitchFamily="2" charset="-122"/>
              </a:rPr>
              <a:t>3</a:t>
            </a:r>
            <a:r>
              <a:rPr lang="zh-CN" altLang="en-US" sz="2000" b="1" dirty="0">
                <a:ea typeface="宋体" panose="02010600030101010101" pitchFamily="2" charset="-122"/>
              </a:rPr>
              <a:t>）时间戳；</a:t>
            </a:r>
            <a:endParaRPr lang="zh-CN" altLang="en-US" sz="2000" b="1" dirty="0">
              <a:ea typeface="宋体" panose="02010600030101010101" pitchFamily="2" charset="-122"/>
            </a:endParaRPr>
          </a:p>
        </p:txBody>
      </p:sp>
      <p:sp>
        <p:nvSpPr>
          <p:cNvPr id="4" name="Rectangle 2"/>
          <p:cNvSpPr txBox="1">
            <a:spLocks noChangeArrowheads="1"/>
          </p:cNvSpPr>
          <p:nvPr/>
        </p:nvSpPr>
        <p:spPr bwMode="auto">
          <a:xfrm>
            <a:off x="0" y="2959100"/>
            <a:ext cx="2992438" cy="744538"/>
          </a:xfrm>
          <a:prstGeom prst="rect">
            <a:avLst/>
          </a:prstGeom>
          <a:noFill/>
          <a:ln>
            <a:noFill/>
          </a:ln>
        </p:spPr>
        <p:txBody>
          <a:bodyPr anchor="ctr"/>
          <a:lstStyle>
            <a:lvl1pPr algn="ctr" rtl="0" eaLnBrk="0" fontAlgn="base" hangingPunct="0">
              <a:spcBef>
                <a:spcPct val="0"/>
              </a:spcBef>
              <a:spcAft>
                <a:spcPct val="0"/>
              </a:spcAft>
              <a:defRPr sz="4400">
                <a:solidFill>
                  <a:srgbClr val="FF0000"/>
                </a:solidFill>
                <a:latin typeface="+mj-lt"/>
                <a:ea typeface="+mj-ea"/>
                <a:cs typeface="+mj-cs"/>
              </a:defRPr>
            </a:lvl1pPr>
            <a:lvl2pPr algn="ctr" rtl="0" eaLnBrk="0" fontAlgn="base" hangingPunct="0">
              <a:spcBef>
                <a:spcPct val="0"/>
              </a:spcBef>
              <a:spcAft>
                <a:spcPct val="0"/>
              </a:spcAft>
              <a:defRPr sz="4400">
                <a:solidFill>
                  <a:srgbClr val="FF0000"/>
                </a:solidFill>
                <a:latin typeface="Times New Roman" panose="02020603050405020304" pitchFamily="18" charset="0"/>
              </a:defRPr>
            </a:lvl2pPr>
            <a:lvl3pPr algn="ctr" rtl="0" eaLnBrk="0" fontAlgn="base" hangingPunct="0">
              <a:spcBef>
                <a:spcPct val="0"/>
              </a:spcBef>
              <a:spcAft>
                <a:spcPct val="0"/>
              </a:spcAft>
              <a:defRPr sz="4400">
                <a:solidFill>
                  <a:srgbClr val="FF0000"/>
                </a:solidFill>
                <a:latin typeface="Times New Roman" panose="02020603050405020304" pitchFamily="18" charset="0"/>
              </a:defRPr>
            </a:lvl3pPr>
            <a:lvl4pPr algn="ctr" rtl="0" eaLnBrk="0" fontAlgn="base" hangingPunct="0">
              <a:spcBef>
                <a:spcPct val="0"/>
              </a:spcBef>
              <a:spcAft>
                <a:spcPct val="0"/>
              </a:spcAft>
              <a:defRPr sz="4400">
                <a:solidFill>
                  <a:srgbClr val="FF0000"/>
                </a:solidFill>
                <a:latin typeface="Times New Roman" panose="02020603050405020304" pitchFamily="18" charset="0"/>
              </a:defRPr>
            </a:lvl4pPr>
            <a:lvl5pPr algn="ctr" rtl="0" eaLnBrk="0" fontAlgn="base" hangingPunct="0">
              <a:spcBef>
                <a:spcPct val="0"/>
              </a:spcBef>
              <a:spcAft>
                <a:spcPct val="0"/>
              </a:spcAft>
              <a:defRPr sz="4400">
                <a:solidFill>
                  <a:srgbClr val="FF0000"/>
                </a:solidFill>
                <a:latin typeface="Times New Roman" panose="02020603050405020304" pitchFamily="18" charset="0"/>
              </a:defRPr>
            </a:lvl5pPr>
            <a:lvl6pPr marL="457200" algn="ctr" rtl="0" fontAlgn="base">
              <a:spcBef>
                <a:spcPct val="0"/>
              </a:spcBef>
              <a:spcAft>
                <a:spcPct val="0"/>
              </a:spcAft>
              <a:defRPr sz="4400">
                <a:solidFill>
                  <a:srgbClr val="FF0000"/>
                </a:solidFill>
                <a:latin typeface="Times New Roman" panose="02020603050405020304" pitchFamily="18" charset="0"/>
              </a:defRPr>
            </a:lvl6pPr>
            <a:lvl7pPr marL="914400" algn="ctr" rtl="0" fontAlgn="base">
              <a:spcBef>
                <a:spcPct val="0"/>
              </a:spcBef>
              <a:spcAft>
                <a:spcPct val="0"/>
              </a:spcAft>
              <a:defRPr sz="4400">
                <a:solidFill>
                  <a:srgbClr val="FF0000"/>
                </a:solidFill>
                <a:latin typeface="Times New Roman" panose="02020603050405020304" pitchFamily="18" charset="0"/>
              </a:defRPr>
            </a:lvl7pPr>
            <a:lvl8pPr marL="1371600" algn="ctr" rtl="0" fontAlgn="base">
              <a:spcBef>
                <a:spcPct val="0"/>
              </a:spcBef>
              <a:spcAft>
                <a:spcPct val="0"/>
              </a:spcAft>
              <a:defRPr sz="4400">
                <a:solidFill>
                  <a:srgbClr val="FF0000"/>
                </a:solidFill>
                <a:latin typeface="Times New Roman" panose="02020603050405020304" pitchFamily="18" charset="0"/>
              </a:defRPr>
            </a:lvl8pPr>
            <a:lvl9pPr marL="1828800" algn="ctr" rtl="0" fontAlgn="base">
              <a:spcBef>
                <a:spcPct val="0"/>
              </a:spcBef>
              <a:spcAft>
                <a:spcPct val="0"/>
              </a:spcAft>
              <a:defRPr sz="4400">
                <a:solidFill>
                  <a:srgbClr val="FF0000"/>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0" cap="none" spc="0" normalizeH="0" baseline="0" noProof="0">
                <a:ln>
                  <a:noFill/>
                </a:ln>
                <a:solidFill>
                  <a:srgbClr val="FF0000"/>
                </a:solidFill>
                <a:effectLst/>
                <a:uLnTx/>
                <a:uFillTx/>
                <a:latin typeface="+mj-lt"/>
                <a:ea typeface="宋体" panose="02010600030101010101" pitchFamily="2" charset="-122"/>
                <a:cs typeface="+mj-cs"/>
              </a:rPr>
              <a:t>1</a:t>
            </a:r>
            <a:r>
              <a:rPr kumimoji="0" lang="zh-CN" altLang="en-US" sz="2800" b="0" i="0" u="none" strike="noStrike" kern="0" cap="none" spc="0" normalizeH="0" baseline="0" noProof="0">
                <a:ln>
                  <a:noFill/>
                </a:ln>
                <a:solidFill>
                  <a:srgbClr val="FF0000"/>
                </a:solidFill>
                <a:effectLst/>
                <a:uLnTx/>
                <a:uFillTx/>
                <a:latin typeface="+mj-lt"/>
                <a:ea typeface="宋体" panose="02010600030101010101" pitchFamily="2" charset="-122"/>
                <a:cs typeface="+mj-cs"/>
              </a:rPr>
              <a:t>、加锁法</a:t>
            </a:r>
            <a:endParaRPr kumimoji="0" lang="zh-CN" altLang="en-US" sz="2800" b="0" i="0" u="none" strike="noStrike" kern="0" cap="none" spc="0" normalizeH="0" baseline="0" noProof="0" dirty="0">
              <a:ln>
                <a:noFill/>
              </a:ln>
              <a:solidFill>
                <a:srgbClr val="FF0000"/>
              </a:solidFill>
              <a:effectLst/>
              <a:uLnTx/>
              <a:uFillTx/>
              <a:latin typeface="+mj-lt"/>
              <a:ea typeface="宋体" panose="02010600030101010101" pitchFamily="2" charset="-122"/>
              <a:cs typeface="+mj-cs"/>
            </a:endParaRPr>
          </a:p>
        </p:txBody>
      </p:sp>
      <p:sp>
        <p:nvSpPr>
          <p:cNvPr id="5" name="Rectangle 3"/>
          <p:cNvSpPr txBox="1">
            <a:spLocks noChangeArrowheads="1"/>
          </p:cNvSpPr>
          <p:nvPr/>
        </p:nvSpPr>
        <p:spPr bwMode="auto">
          <a:xfrm>
            <a:off x="217488" y="3843338"/>
            <a:ext cx="8543925" cy="2673350"/>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l" defTabSz="914400" rtl="0" eaLnBrk="1" fontAlgn="base" latinLnBrk="0" hangingPunct="1">
              <a:lnSpc>
                <a:spcPct val="150000"/>
              </a:lnSpc>
              <a:spcBef>
                <a:spcPct val="20000"/>
              </a:spcBef>
              <a:spcAft>
                <a:spcPct val="0"/>
              </a:spcAft>
              <a:buClr>
                <a:schemeClr val="accent2"/>
              </a:buClr>
              <a:buSzTx/>
              <a:buFontTx/>
              <a:buNone/>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加锁方法实现并发操作调度的可串行性：</a:t>
            </a:r>
            <a:endPar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742950" marR="0" lvl="1" indent="-28575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作为事务的一部分，当一个进程需要读或写一个文件（或其他对象）时，它首先对文件加锁；</a:t>
            </a:r>
            <a:endPar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742950" marR="0" lvl="1" indent="-28575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加锁保证在一个事务生存期内文件不会被改变；</a:t>
            </a:r>
            <a:endPar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742950" marR="0" lvl="1" indent="-28575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zh-CN" altLang="en-US" sz="20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锁一般由事务系统请求和释放</a:t>
            </a: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，不需要编程人员的操作；</a:t>
            </a:r>
            <a:endPar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Rectangle 2"/>
          <p:cNvSpPr>
            <a:spLocks noGrp="1"/>
          </p:cNvSpPr>
          <p:nvPr>
            <p:ph type="title"/>
          </p:nvPr>
        </p:nvSpPr>
        <p:spPr>
          <a:xfrm>
            <a:off x="0" y="0"/>
            <a:ext cx="2136775" cy="657225"/>
          </a:xfrm>
          <a:ln/>
        </p:spPr>
        <p:txBody>
          <a:bodyPr vert="horz" wrap="square" lIns="91440" tIns="45720" rIns="91440" bIns="45720" anchor="ctr" anchorCtr="0"/>
          <a:p>
            <a:pPr eaLnBrk="1" hangingPunct="1"/>
            <a:r>
              <a:rPr lang="zh-CN" altLang="en-US" sz="2800" dirty="0">
                <a:ea typeface="宋体" panose="02010600030101010101" pitchFamily="2" charset="-122"/>
              </a:rPr>
              <a:t>加锁法实现</a:t>
            </a:r>
            <a:endParaRPr lang="zh-CN" altLang="en-US" sz="2800" dirty="0">
              <a:ea typeface="宋体" panose="02010600030101010101" pitchFamily="2" charset="-122"/>
            </a:endParaRPr>
          </a:p>
        </p:txBody>
      </p:sp>
      <p:sp>
        <p:nvSpPr>
          <p:cNvPr id="84995" name="Rectangle 3"/>
          <p:cNvSpPr>
            <a:spLocks noGrp="1"/>
          </p:cNvSpPr>
          <p:nvPr>
            <p:ph idx="1"/>
          </p:nvPr>
        </p:nvSpPr>
        <p:spPr>
          <a:xfrm>
            <a:off x="128588" y="600075"/>
            <a:ext cx="8686800" cy="2117725"/>
          </a:xfrm>
          <a:ln/>
        </p:spPr>
        <p:txBody>
          <a:bodyPr vert="horz" wrap="square" lIns="91440" tIns="45720" rIns="91440" bIns="45720" anchor="t" anchorCtr="0"/>
          <a:p>
            <a:pPr marL="840105" lvl="1" indent="-495300" eaLnBrk="1" hangingPunct="1">
              <a:lnSpc>
                <a:spcPct val="150000"/>
              </a:lnSpc>
              <a:buFont typeface="Wingdings" panose="05000000000000000000" pitchFamily="2" charset="2"/>
              <a:buAutoNum type="arabicPeriod"/>
            </a:pPr>
            <a:r>
              <a:rPr lang="zh-CN" altLang="en-US" sz="2000" b="1" dirty="0">
                <a:ea typeface="宋体" panose="02010600030101010101" pitchFamily="2" charset="-122"/>
              </a:rPr>
              <a:t>系统有一个集中式加锁管理者</a:t>
            </a:r>
            <a:r>
              <a:rPr lang="en-US" altLang="zh-CN" sz="2000" b="1" dirty="0">
                <a:ea typeface="宋体" panose="02010600030101010101" pitchFamily="2" charset="-122"/>
              </a:rPr>
              <a:t>;</a:t>
            </a:r>
            <a:endParaRPr lang="en-US" altLang="zh-CN" sz="2000" b="1" dirty="0">
              <a:ea typeface="宋体" panose="02010600030101010101" pitchFamily="2" charset="-122"/>
            </a:endParaRPr>
          </a:p>
          <a:p>
            <a:pPr marL="840105" lvl="1" indent="-495300" eaLnBrk="1" hangingPunct="1">
              <a:lnSpc>
                <a:spcPct val="150000"/>
              </a:lnSpc>
              <a:buFont typeface="Wingdings" panose="05000000000000000000" pitchFamily="2" charset="2"/>
              <a:buAutoNum type="arabicPeriod"/>
            </a:pPr>
            <a:r>
              <a:rPr lang="zh-CN" altLang="en-US" sz="2000" b="1" dirty="0">
                <a:ea typeface="宋体" panose="02010600030101010101" pitchFamily="2" charset="-122"/>
              </a:rPr>
              <a:t>每个结点有一个本地加锁管理者；</a:t>
            </a:r>
            <a:endParaRPr lang="en-US" altLang="zh-CN" sz="2000" b="1" dirty="0">
              <a:ea typeface="宋体" panose="02010600030101010101" pitchFamily="2" charset="-122"/>
            </a:endParaRPr>
          </a:p>
          <a:p>
            <a:pPr marL="840105" lvl="1" indent="-495300" eaLnBrk="1" hangingPunct="1">
              <a:lnSpc>
                <a:spcPct val="150000"/>
              </a:lnSpc>
              <a:buFont typeface="Wingdings" panose="05000000000000000000" pitchFamily="2" charset="2"/>
              <a:buChar char="Ø"/>
            </a:pPr>
            <a:r>
              <a:rPr lang="zh-CN" altLang="en-US" sz="2000" b="1" dirty="0">
                <a:ea typeface="宋体" panose="02010600030101010101" pitchFamily="2" charset="-122"/>
              </a:rPr>
              <a:t>加锁管理者都拥有一个锁定的文件列表，所有欲对已加锁文件进行的加锁尝试都将被拒绝。</a:t>
            </a:r>
            <a:endParaRPr lang="zh-CN" altLang="en-US" sz="2000" b="1" dirty="0">
              <a:ea typeface="宋体" panose="02010600030101010101" pitchFamily="2" charset="-122"/>
            </a:endParaRPr>
          </a:p>
        </p:txBody>
      </p:sp>
      <p:sp>
        <p:nvSpPr>
          <p:cNvPr id="4" name="Rectangle 2"/>
          <p:cNvSpPr txBox="1">
            <a:spLocks noChangeArrowheads="1"/>
          </p:cNvSpPr>
          <p:nvPr/>
        </p:nvSpPr>
        <p:spPr bwMode="auto">
          <a:xfrm>
            <a:off x="128588" y="2684463"/>
            <a:ext cx="2008188" cy="777875"/>
          </a:xfrm>
          <a:prstGeom prst="rect">
            <a:avLst/>
          </a:prstGeom>
          <a:noFill/>
          <a:ln>
            <a:noFill/>
          </a:ln>
        </p:spPr>
        <p:txBody>
          <a:bodyPr anchor="ctr"/>
          <a:lstStyle>
            <a:lvl1pPr algn="ctr" rtl="0" eaLnBrk="0" fontAlgn="base" hangingPunct="0">
              <a:spcBef>
                <a:spcPct val="0"/>
              </a:spcBef>
              <a:spcAft>
                <a:spcPct val="0"/>
              </a:spcAft>
              <a:defRPr sz="4400">
                <a:solidFill>
                  <a:srgbClr val="FF0000"/>
                </a:solidFill>
                <a:latin typeface="+mj-lt"/>
                <a:ea typeface="+mj-ea"/>
                <a:cs typeface="+mj-cs"/>
              </a:defRPr>
            </a:lvl1pPr>
            <a:lvl2pPr algn="ctr" rtl="0" eaLnBrk="0" fontAlgn="base" hangingPunct="0">
              <a:spcBef>
                <a:spcPct val="0"/>
              </a:spcBef>
              <a:spcAft>
                <a:spcPct val="0"/>
              </a:spcAft>
              <a:defRPr sz="4400">
                <a:solidFill>
                  <a:srgbClr val="FF0000"/>
                </a:solidFill>
                <a:latin typeface="Times New Roman" panose="02020603050405020304" pitchFamily="18" charset="0"/>
              </a:defRPr>
            </a:lvl2pPr>
            <a:lvl3pPr algn="ctr" rtl="0" eaLnBrk="0" fontAlgn="base" hangingPunct="0">
              <a:spcBef>
                <a:spcPct val="0"/>
              </a:spcBef>
              <a:spcAft>
                <a:spcPct val="0"/>
              </a:spcAft>
              <a:defRPr sz="4400">
                <a:solidFill>
                  <a:srgbClr val="FF0000"/>
                </a:solidFill>
                <a:latin typeface="Times New Roman" panose="02020603050405020304" pitchFamily="18" charset="0"/>
              </a:defRPr>
            </a:lvl3pPr>
            <a:lvl4pPr algn="ctr" rtl="0" eaLnBrk="0" fontAlgn="base" hangingPunct="0">
              <a:spcBef>
                <a:spcPct val="0"/>
              </a:spcBef>
              <a:spcAft>
                <a:spcPct val="0"/>
              </a:spcAft>
              <a:defRPr sz="4400">
                <a:solidFill>
                  <a:srgbClr val="FF0000"/>
                </a:solidFill>
                <a:latin typeface="Times New Roman" panose="02020603050405020304" pitchFamily="18" charset="0"/>
              </a:defRPr>
            </a:lvl4pPr>
            <a:lvl5pPr algn="ctr" rtl="0" eaLnBrk="0" fontAlgn="base" hangingPunct="0">
              <a:spcBef>
                <a:spcPct val="0"/>
              </a:spcBef>
              <a:spcAft>
                <a:spcPct val="0"/>
              </a:spcAft>
              <a:defRPr sz="4400">
                <a:solidFill>
                  <a:srgbClr val="FF0000"/>
                </a:solidFill>
                <a:latin typeface="Times New Roman" panose="02020603050405020304" pitchFamily="18" charset="0"/>
              </a:defRPr>
            </a:lvl5pPr>
            <a:lvl6pPr marL="457200" algn="ctr" rtl="0" fontAlgn="base">
              <a:spcBef>
                <a:spcPct val="0"/>
              </a:spcBef>
              <a:spcAft>
                <a:spcPct val="0"/>
              </a:spcAft>
              <a:defRPr sz="4400">
                <a:solidFill>
                  <a:srgbClr val="FF0000"/>
                </a:solidFill>
                <a:latin typeface="Times New Roman" panose="02020603050405020304" pitchFamily="18" charset="0"/>
              </a:defRPr>
            </a:lvl6pPr>
            <a:lvl7pPr marL="914400" algn="ctr" rtl="0" fontAlgn="base">
              <a:spcBef>
                <a:spcPct val="0"/>
              </a:spcBef>
              <a:spcAft>
                <a:spcPct val="0"/>
              </a:spcAft>
              <a:defRPr sz="4400">
                <a:solidFill>
                  <a:srgbClr val="FF0000"/>
                </a:solidFill>
                <a:latin typeface="Times New Roman" panose="02020603050405020304" pitchFamily="18" charset="0"/>
              </a:defRPr>
            </a:lvl7pPr>
            <a:lvl8pPr marL="1371600" algn="ctr" rtl="0" fontAlgn="base">
              <a:spcBef>
                <a:spcPct val="0"/>
              </a:spcBef>
              <a:spcAft>
                <a:spcPct val="0"/>
              </a:spcAft>
              <a:defRPr sz="4400">
                <a:solidFill>
                  <a:srgbClr val="FF0000"/>
                </a:solidFill>
                <a:latin typeface="Times New Roman" panose="02020603050405020304" pitchFamily="18" charset="0"/>
              </a:defRPr>
            </a:lvl8pPr>
            <a:lvl9pPr marL="1828800" algn="ctr" rtl="0" fontAlgn="base">
              <a:spcBef>
                <a:spcPct val="0"/>
              </a:spcBef>
              <a:spcAft>
                <a:spcPct val="0"/>
              </a:spcAft>
              <a:defRPr sz="4400">
                <a:solidFill>
                  <a:srgbClr val="FF0000"/>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800" b="0" i="0" u="none" strike="noStrike" kern="0" cap="none" spc="0" normalizeH="0" baseline="0" noProof="0" dirty="0">
                <a:ln>
                  <a:noFill/>
                </a:ln>
                <a:solidFill>
                  <a:srgbClr val="FF0000"/>
                </a:solidFill>
                <a:effectLst/>
                <a:uLnTx/>
                <a:uFillTx/>
                <a:latin typeface="+mj-lt"/>
                <a:ea typeface="宋体" panose="02010600030101010101" pitchFamily="2" charset="-122"/>
                <a:cs typeface="+mj-cs"/>
              </a:rPr>
              <a:t>读锁和写锁</a:t>
            </a:r>
            <a:endParaRPr kumimoji="0" lang="zh-CN" altLang="en-US" sz="2800" b="0" i="0" u="none" strike="noStrike" kern="0" cap="none" spc="0" normalizeH="0" baseline="0" noProof="0" dirty="0">
              <a:ln>
                <a:noFill/>
              </a:ln>
              <a:solidFill>
                <a:srgbClr val="FF0000"/>
              </a:solidFill>
              <a:effectLst/>
              <a:uLnTx/>
              <a:uFillTx/>
              <a:latin typeface="+mj-lt"/>
              <a:ea typeface="宋体" panose="02010600030101010101" pitchFamily="2" charset="-122"/>
              <a:cs typeface="+mj-cs"/>
            </a:endParaRPr>
          </a:p>
        </p:txBody>
      </p:sp>
      <p:sp>
        <p:nvSpPr>
          <p:cNvPr id="5" name="Rectangle 3"/>
          <p:cNvSpPr txBox="1">
            <a:spLocks noChangeArrowheads="1"/>
          </p:cNvSpPr>
          <p:nvPr/>
        </p:nvSpPr>
        <p:spPr bwMode="auto">
          <a:xfrm>
            <a:off x="277813" y="3462338"/>
            <a:ext cx="8758238" cy="3082925"/>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通过区分锁类型来提高性能：</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50000"/>
              </a:lnSpc>
              <a:spcBef>
                <a:spcPct val="20000"/>
              </a:spcBef>
              <a:spcAft>
                <a:spcPct val="0"/>
              </a:spcAft>
              <a:buClr>
                <a:schemeClr val="accent2"/>
              </a:buClr>
              <a:buSzTx/>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如果在一个文件上设置读锁，那么在它上面设置其他读锁是允许的；</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50000"/>
              </a:lnSpc>
              <a:spcBef>
                <a:spcPct val="20000"/>
              </a:spcBef>
              <a:spcAft>
                <a:spcPct val="0"/>
              </a:spcAft>
              <a:buClr>
                <a:schemeClr val="accent2"/>
              </a:buClr>
              <a:buSzTx/>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读锁用来确保文件不会被改写（也即排斥所有的写入者），但不禁止其他读取文件的事务；</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50000"/>
              </a:lnSpc>
              <a:spcBef>
                <a:spcPct val="20000"/>
              </a:spcBef>
              <a:spcAft>
                <a:spcPct val="0"/>
              </a:spcAft>
              <a:buClr>
                <a:schemeClr val="accent2"/>
              </a:buClr>
              <a:buSzTx/>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当一个文件被设置写锁时，其他任何类型的锁都被禁止。         </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Tx/>
              <a:buNone/>
              <a:defRPr/>
            </a:pPr>
            <a:r>
              <a:rPr kumimoji="0" lang="en-US" altLang="zh-CN" sz="2000" b="1"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         </a:t>
            </a:r>
            <a:r>
              <a:rPr kumimoji="0" lang="zh-CN" altLang="en-US" sz="2000" b="1"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读锁共享，写锁互斥</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Rectangle 2"/>
          <p:cNvSpPr>
            <a:spLocks noGrp="1"/>
          </p:cNvSpPr>
          <p:nvPr>
            <p:ph type="title"/>
          </p:nvPr>
        </p:nvSpPr>
        <p:spPr>
          <a:ln/>
        </p:spPr>
        <p:txBody>
          <a:bodyPr vert="horz" wrap="square" lIns="91440" tIns="45720" rIns="91440" bIns="45720" anchor="ctr" anchorCtr="0"/>
          <a:p>
            <a:pPr eaLnBrk="1" hangingPunct="1"/>
            <a:r>
              <a:rPr lang="zh-CN" altLang="en-US" dirty="0">
                <a:ea typeface="宋体" panose="02010600030101010101" pitchFamily="2" charset="-122"/>
              </a:rPr>
              <a:t>锁的粒度</a:t>
            </a:r>
            <a:endParaRPr lang="zh-CN" altLang="en-US" dirty="0">
              <a:ea typeface="宋体" panose="02010600030101010101" pitchFamily="2" charset="-122"/>
            </a:endParaRPr>
          </a:p>
        </p:txBody>
      </p:sp>
      <p:sp>
        <p:nvSpPr>
          <p:cNvPr id="86019" name="Rectangle 3"/>
          <p:cNvSpPr>
            <a:spLocks noGrp="1"/>
          </p:cNvSpPr>
          <p:nvPr>
            <p:ph idx="1"/>
          </p:nvPr>
        </p:nvSpPr>
        <p:spPr>
          <a:xfrm>
            <a:off x="249238" y="1143000"/>
            <a:ext cx="8645525" cy="4156075"/>
          </a:xfrm>
          <a:ln/>
        </p:spPr>
        <p:txBody>
          <a:bodyPr vert="horz" wrap="square" lIns="91440" tIns="45720" rIns="91440" bIns="45720" anchor="t" anchorCtr="0"/>
          <a:p>
            <a:pPr marL="0" indent="0" algn="l" eaLnBrk="1" hangingPunct="1">
              <a:lnSpc>
                <a:spcPct val="200000"/>
              </a:lnSpc>
              <a:buFont typeface="Wingdings" panose="05000000000000000000" pitchFamily="2" charset="2"/>
              <a:buChar char="u"/>
            </a:pPr>
            <a:r>
              <a:rPr lang="zh-CN" altLang="en-US" sz="2200" b="1" dirty="0">
                <a:latin typeface="宋体" panose="02010600030101010101" pitchFamily="2" charset="-122"/>
                <a:ea typeface="宋体" panose="02010600030101010101" pitchFamily="2" charset="-122"/>
              </a:rPr>
              <a:t>加锁单位的大小称为锁的粒度。</a:t>
            </a:r>
            <a:r>
              <a:rPr lang="zh-CN" altLang="en-US" sz="2200" b="1" dirty="0">
                <a:solidFill>
                  <a:srgbClr val="0070C0"/>
                </a:solidFill>
                <a:latin typeface="宋体" panose="02010600030101010101" pitchFamily="2" charset="-122"/>
                <a:ea typeface="宋体" panose="02010600030101010101" pitchFamily="2" charset="-122"/>
              </a:rPr>
              <a:t>例如：整个文件、记录、页面，或整个数据库；</a:t>
            </a:r>
            <a:endParaRPr lang="en-US" altLang="zh-CN" sz="2200" b="1" dirty="0">
              <a:solidFill>
                <a:srgbClr val="0070C0"/>
              </a:solidFill>
              <a:latin typeface="宋体" panose="02010600030101010101" pitchFamily="2" charset="-122"/>
              <a:ea typeface="宋体" panose="02010600030101010101" pitchFamily="2" charset="-122"/>
            </a:endParaRPr>
          </a:p>
          <a:p>
            <a:pPr marL="0" indent="0" algn="l" eaLnBrk="1" hangingPunct="1">
              <a:lnSpc>
                <a:spcPct val="200000"/>
              </a:lnSpc>
              <a:buFont typeface="Wingdings" panose="05000000000000000000" pitchFamily="2" charset="2"/>
              <a:buChar char="u"/>
            </a:pPr>
            <a:r>
              <a:rPr lang="zh-CN" altLang="en-US" sz="2200" b="1" dirty="0">
                <a:latin typeface="宋体" panose="02010600030101010101" pitchFamily="2" charset="-122"/>
                <a:ea typeface="宋体" panose="02010600030101010101" pitchFamily="2" charset="-122"/>
              </a:rPr>
              <a:t>粒度越合适，加锁就可以越精确，也就能实现更大的并发度；</a:t>
            </a:r>
            <a:r>
              <a:rPr lang="zh-CN" altLang="en-US" sz="2200" b="1" dirty="0">
                <a:solidFill>
                  <a:srgbClr val="0070C0"/>
                </a:solidFill>
                <a:latin typeface="宋体" panose="02010600030101010101" pitchFamily="2" charset="-122"/>
                <a:ea typeface="宋体" panose="02010600030101010101" pitchFamily="2" charset="-122"/>
              </a:rPr>
              <a:t>例如，允许两个进程同时对某个文件的开头和末尾进行操作；</a:t>
            </a:r>
            <a:endParaRPr lang="en-US" altLang="zh-CN" sz="2200" b="1" dirty="0">
              <a:solidFill>
                <a:srgbClr val="0070C0"/>
              </a:solidFill>
              <a:latin typeface="宋体" panose="02010600030101010101" pitchFamily="2" charset="-122"/>
              <a:ea typeface="宋体" panose="02010600030101010101" pitchFamily="2" charset="-122"/>
            </a:endParaRPr>
          </a:p>
          <a:p>
            <a:pPr marL="0" indent="0" algn="l" eaLnBrk="1" hangingPunct="1">
              <a:lnSpc>
                <a:spcPct val="200000"/>
              </a:lnSpc>
              <a:buFont typeface="Wingdings" panose="05000000000000000000" pitchFamily="2" charset="2"/>
              <a:buChar char="u"/>
            </a:pPr>
            <a:r>
              <a:rPr lang="zh-CN" altLang="en-US" sz="2200" b="1" dirty="0">
                <a:latin typeface="宋体" panose="02010600030101010101" pitchFamily="2" charset="-122"/>
                <a:ea typeface="宋体" panose="02010600030101010101" pitchFamily="2" charset="-122"/>
              </a:rPr>
              <a:t>锁分得越细致，并发度就越高，但是需要的锁就更多，开销也越大，且容易导致死锁；</a:t>
            </a:r>
            <a:endParaRPr lang="zh-CN" altLang="en-US" sz="2200" b="1" dirty="0">
              <a:latin typeface="宋体" panose="02010600030101010101" pitchFamily="2" charset="-122"/>
              <a:ea typeface="宋体" panose="02010600030101010101" pitchFamily="2"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Rectangle 7"/>
          <p:cNvSpPr>
            <a:spLocks noGrp="1"/>
          </p:cNvSpPr>
          <p:nvPr>
            <p:ph type="title"/>
          </p:nvPr>
        </p:nvSpPr>
        <p:spPr>
          <a:xfrm>
            <a:off x="0" y="-20637"/>
            <a:ext cx="9144000" cy="752475"/>
          </a:xfrm>
          <a:ln/>
        </p:spPr>
        <p:txBody>
          <a:bodyPr vert="horz" wrap="square" lIns="91440" tIns="45720" rIns="91440" bIns="45720" anchor="ctr" anchorCtr="0"/>
          <a:p>
            <a:pPr eaLnBrk="1" hangingPunct="1"/>
            <a:r>
              <a:rPr lang="en-US" altLang="zh-CN" dirty="0">
                <a:ea typeface="宋体" panose="02010600030101010101" pitchFamily="2" charset="-122"/>
              </a:rPr>
              <a:t>Two-Phase Locking</a:t>
            </a:r>
            <a:endParaRPr lang="en-US" altLang="zh-CN" dirty="0">
              <a:ea typeface="宋体" panose="02010600030101010101" pitchFamily="2" charset="-122"/>
            </a:endParaRPr>
          </a:p>
        </p:txBody>
      </p:sp>
      <p:pic>
        <p:nvPicPr>
          <p:cNvPr id="88067" name="Picture 8"/>
          <p:cNvPicPr>
            <a:picLocks noChangeAspect="1"/>
          </p:cNvPicPr>
          <p:nvPr/>
        </p:nvPicPr>
        <p:blipFill>
          <a:blip r:embed="rId1"/>
          <a:srcRect l="27792" t="43051" r="24345" b="38217"/>
          <a:stretch>
            <a:fillRect/>
          </a:stretch>
        </p:blipFill>
        <p:spPr>
          <a:xfrm>
            <a:off x="1020763" y="1981200"/>
            <a:ext cx="7423150" cy="3643313"/>
          </a:xfrm>
          <a:prstGeom prst="rect">
            <a:avLst/>
          </a:prstGeom>
          <a:noFill/>
          <a:ln w="9525">
            <a:noFill/>
          </a:ln>
        </p:spPr>
      </p:pic>
      <p:sp>
        <p:nvSpPr>
          <p:cNvPr id="88068" name="Rectangle 9"/>
          <p:cNvSpPr/>
          <p:nvPr/>
        </p:nvSpPr>
        <p:spPr>
          <a:xfrm>
            <a:off x="1031875" y="939800"/>
            <a:ext cx="7080250" cy="101600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lnSpc>
                <a:spcPct val="150000"/>
              </a:lnSpc>
              <a:spcBef>
                <a:spcPct val="0"/>
              </a:spcBef>
              <a:buClrTx/>
              <a:buNone/>
            </a:pPr>
            <a:r>
              <a:rPr lang="zh-CN" altLang="en-US" sz="2000" b="1" dirty="0">
                <a:latin typeface="宋体" panose="02010600030101010101" pitchFamily="2" charset="-122"/>
                <a:ea typeface="宋体" panose="02010600030101010101" pitchFamily="2" charset="-122"/>
              </a:rPr>
              <a:t>两阶段锁（</a:t>
            </a:r>
            <a:r>
              <a:rPr lang="en-US" altLang="zh-CN" sz="2000" b="1" dirty="0">
                <a:latin typeface="宋体" panose="02010600030101010101" pitchFamily="2" charset="-122"/>
                <a:ea typeface="宋体" panose="02010600030101010101" pitchFamily="2" charset="-122"/>
              </a:rPr>
              <a:t>Two-Phase Locking</a:t>
            </a:r>
            <a:r>
              <a:rPr lang="zh-CN" altLang="en-US" sz="2000" b="1" dirty="0">
                <a:latin typeface="宋体" panose="02010600030101010101" pitchFamily="2" charset="-122"/>
                <a:ea typeface="宋体" panose="02010600030101010101" pitchFamily="2" charset="-122"/>
              </a:rPr>
              <a:t>，简称</a:t>
            </a:r>
            <a:r>
              <a:rPr lang="en-US" altLang="zh-CN" sz="2000" b="1" dirty="0">
                <a:latin typeface="宋体" panose="02010600030101010101" pitchFamily="2" charset="-122"/>
                <a:ea typeface="宋体" panose="02010600030101010101" pitchFamily="2" charset="-122"/>
              </a:rPr>
              <a:t>2PL</a:t>
            </a:r>
            <a:r>
              <a:rPr lang="zh-CN" altLang="en-US" sz="2000" b="1" dirty="0">
                <a:latin typeface="宋体" panose="02010600030101010101" pitchFamily="2" charset="-122"/>
                <a:ea typeface="宋体" panose="02010600030101010101" pitchFamily="2" charset="-122"/>
              </a:rPr>
              <a:t>）协议是保证并发调度可串行性的封锁协议，它提供了一种可</a:t>
            </a:r>
            <a:r>
              <a:rPr lang="zh-CN" altLang="en-US" sz="2000" b="1" dirty="0">
                <a:solidFill>
                  <a:srgbClr val="FF0000"/>
                </a:solidFill>
                <a:latin typeface="宋体" panose="02010600030101010101" pitchFamily="2" charset="-122"/>
                <a:ea typeface="宋体" panose="02010600030101010101" pitchFamily="2" charset="-122"/>
              </a:rPr>
              <a:t>串行调度</a:t>
            </a:r>
            <a:r>
              <a:rPr lang="zh-CN" altLang="en-US" sz="2000" b="1" dirty="0">
                <a:latin typeface="宋体" panose="02010600030101010101" pitchFamily="2" charset="-122"/>
                <a:ea typeface="宋体" panose="02010600030101010101" pitchFamily="2" charset="-122"/>
              </a:rPr>
              <a:t>的算法。</a:t>
            </a:r>
            <a:endParaRPr lang="en-US" altLang="zh-CN" sz="2000" b="1" dirty="0">
              <a:latin typeface="宋体" panose="02010600030101010101" pitchFamily="2" charset="-122"/>
              <a:ea typeface="宋体" panose="02010600030101010101" pitchFamily="2" charset="-122"/>
            </a:endParaRPr>
          </a:p>
        </p:txBody>
      </p:sp>
      <p:sp>
        <p:nvSpPr>
          <p:cNvPr id="88069" name="Rectangle 10"/>
          <p:cNvSpPr/>
          <p:nvPr/>
        </p:nvSpPr>
        <p:spPr>
          <a:xfrm>
            <a:off x="1208088" y="5799138"/>
            <a:ext cx="7048500" cy="492125"/>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lnSpc>
                <a:spcPct val="130000"/>
              </a:lnSpc>
              <a:buNone/>
            </a:pPr>
            <a:r>
              <a:rPr lang="zh-CN" altLang="en-US" sz="2000" b="1" dirty="0">
                <a:ea typeface="宋体" panose="02010600030101010101" pitchFamily="2" charset="-122"/>
              </a:rPr>
              <a:t>增长阶段先请求它需要的所有锁，然后在收缩阶段释放它们</a:t>
            </a:r>
            <a:endParaRPr lang="en-US" altLang="zh-CN" sz="2000" b="1" dirty="0">
              <a:ea typeface="宋体" panose="02010600030101010101" pitchFamily="2"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Rectangle 2"/>
          <p:cNvSpPr>
            <a:spLocks noGrp="1"/>
          </p:cNvSpPr>
          <p:nvPr>
            <p:ph type="title"/>
          </p:nvPr>
        </p:nvSpPr>
        <p:spPr>
          <a:xfrm>
            <a:off x="0" y="0"/>
            <a:ext cx="9144000" cy="830263"/>
          </a:xfrm>
          <a:ln/>
        </p:spPr>
        <p:txBody>
          <a:bodyPr vert="horz" wrap="square" lIns="91440" tIns="45720" rIns="91440" bIns="45720" anchor="ctr" anchorCtr="0"/>
          <a:p>
            <a:pPr eaLnBrk="1" hangingPunct="1"/>
            <a:r>
              <a:rPr lang="en-US" altLang="zh-CN" sz="4000" dirty="0">
                <a:ea typeface="宋体" panose="02010600030101010101" pitchFamily="2" charset="-122"/>
              </a:rPr>
              <a:t>Two-Phase Locking (1)</a:t>
            </a:r>
            <a:endParaRPr lang="zh-CN" altLang="en-US" sz="4000" dirty="0">
              <a:ea typeface="宋体" panose="02010600030101010101" pitchFamily="2" charset="-122"/>
            </a:endParaRPr>
          </a:p>
        </p:txBody>
      </p:sp>
      <p:sp>
        <p:nvSpPr>
          <p:cNvPr id="57347" name="Rectangle 3"/>
          <p:cNvSpPr>
            <a:spLocks noGrp="1" noChangeArrowheads="1"/>
          </p:cNvSpPr>
          <p:nvPr>
            <p:ph idx="1"/>
          </p:nvPr>
        </p:nvSpPr>
        <p:spPr>
          <a:xfrm>
            <a:off x="49213" y="1106488"/>
            <a:ext cx="5060950" cy="4530725"/>
          </a:xfrm>
        </p:spPr>
        <p:txBody>
          <a:bodyPr vert="horz" wrap="square" lIns="91440" tIns="45720" rIns="91440" bIns="45720" numCol="1" anchor="t" anchorCtr="0" compatLnSpc="1"/>
          <a:lstStyle/>
          <a:p>
            <a:pPr marL="609600" marR="0" lvl="0" indent="-609600" algn="l" defTabSz="914400" rtl="0" eaLnBrk="1" fontAlgn="base" latinLnBrk="0" hangingPunct="1">
              <a:lnSpc>
                <a:spcPct val="150000"/>
              </a:lnSpc>
              <a:spcBef>
                <a:spcPct val="20000"/>
              </a:spcBef>
              <a:spcAft>
                <a:spcPct val="0"/>
              </a:spcAft>
              <a:buClr>
                <a:schemeClr val="accent2"/>
              </a:buClr>
              <a:buSzTx/>
              <a:buFontTx/>
              <a:buNone/>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规则</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1" fontAlgn="base" latinLnBrk="0" hangingPunct="1">
              <a:lnSpc>
                <a:spcPct val="150000"/>
              </a:lnSpc>
              <a:spcBef>
                <a:spcPct val="20000"/>
              </a:spcBef>
              <a:spcAft>
                <a:spcPct val="0"/>
              </a:spcAft>
              <a:buClr>
                <a:schemeClr val="accent2"/>
              </a:buClr>
              <a:buSzTx/>
              <a:buFont typeface="+mj-lt"/>
              <a:buAutoNum type="arabicPeriod"/>
              <a:defRPr/>
            </a:pPr>
            <a:r>
              <a:rPr kumimoji="0" lang="en-US" altLang="zh-CN" sz="1800" b="1"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S</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收到</a:t>
            </a:r>
            <a:r>
              <a:rPr kumimoji="0" lang="en-US" altLang="zh-CN" sz="1800" b="1"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TM</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oper</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x)</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时</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检测是否与允许锁定的其他进程冲突？</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Ø"/>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冲突，</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oper</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被延迟；</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Ø"/>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否则，对数据项</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加锁</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将</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oper</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x)</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传递给</a:t>
            </a:r>
            <a:r>
              <a:rPr kumimoji="0" lang="en-US" altLang="zh-CN" sz="1800" b="1" i="0" u="none" strike="noStrike" kern="0" cap="none" spc="0" normalizeH="0" baseline="0" noProof="0" dirty="0">
                <a:ln>
                  <a:noFill/>
                </a:ln>
                <a:solidFill>
                  <a:srgbClr val="FF0000"/>
                </a:solidFill>
                <a:effectLst/>
                <a:uLnTx/>
                <a:uFillTx/>
                <a:latin typeface="+mn-lt"/>
                <a:ea typeface="宋体" panose="02010600030101010101" pitchFamily="2" charset="-122"/>
              </a:rPr>
              <a:t>DM</a:t>
            </a:r>
            <a:r>
              <a:rPr kumimoji="0" lang="zh-CN" altLang="en-US" sz="1800" b="1" i="0" u="none" strike="noStrike" kern="0" cap="none" spc="0" normalizeH="0" baseline="0" noProof="0" dirty="0">
                <a:ln>
                  <a:noFill/>
                </a:ln>
                <a:solidFill>
                  <a:srgbClr val="FF0000"/>
                </a:solidFill>
                <a:effectLst/>
                <a:uLnTx/>
                <a:uFillTx/>
                <a:latin typeface="+mn-lt"/>
                <a:ea typeface="宋体" panose="02010600030101010101" pitchFamily="2" charset="-122"/>
              </a:rPr>
              <a:t>；</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342900" marR="0" lvl="0" indent="-342900" algn="l" defTabSz="914400" rtl="0" eaLnBrk="1" fontAlgn="base" latinLnBrk="0" hangingPunct="1">
              <a:lnSpc>
                <a:spcPct val="150000"/>
              </a:lnSpc>
              <a:spcBef>
                <a:spcPct val="20000"/>
              </a:spcBef>
              <a:spcAft>
                <a:spcPct val="0"/>
              </a:spcAft>
              <a:buClr>
                <a:schemeClr val="accent2"/>
              </a:buClr>
              <a:buSzTx/>
              <a:buFont typeface="+mj-lt"/>
              <a:buAutoNum type="arabicPeriod"/>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直到</a:t>
            </a:r>
            <a:r>
              <a:rPr kumimoji="0" lang="en-US" altLang="zh-CN" sz="1800" b="1"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DM</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通知它已经完成了对锁定数据项</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x</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的操作，</a:t>
            </a:r>
            <a:r>
              <a:rPr kumimoji="0" lang="en-US" altLang="zh-CN" sz="1800" b="1"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 S</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才会释放数据项</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x</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的锁；</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1" fontAlgn="base" latinLnBrk="0" hangingPunct="1">
              <a:lnSpc>
                <a:spcPct val="150000"/>
              </a:lnSpc>
              <a:spcBef>
                <a:spcPct val="20000"/>
              </a:spcBef>
              <a:spcAft>
                <a:spcPct val="0"/>
              </a:spcAft>
              <a:buClr>
                <a:schemeClr val="accent2"/>
              </a:buClr>
              <a:buSzTx/>
              <a:buFont typeface="+mj-lt"/>
              <a:buAutoNum type="arabicPeriod"/>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一旦</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为事务</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释放了锁，</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都不会允许</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加另外一把锁，进入收缩阶段。</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90116" name="Picture 3"/>
          <p:cNvPicPr>
            <a:picLocks noChangeAspect="1"/>
          </p:cNvPicPr>
          <p:nvPr/>
        </p:nvPicPr>
        <p:blipFill>
          <a:blip r:embed="rId1"/>
          <a:srcRect l="29930" t="39426" r="27579" b="33987"/>
          <a:stretch>
            <a:fillRect/>
          </a:stretch>
        </p:blipFill>
        <p:spPr>
          <a:xfrm>
            <a:off x="5137150" y="1246188"/>
            <a:ext cx="3900488" cy="4252912"/>
          </a:xfrm>
          <a:prstGeom prst="rect">
            <a:avLst/>
          </a:prstGeom>
          <a:noFill/>
          <a:ln w="9525">
            <a:noFill/>
          </a:ln>
        </p:spPr>
      </p:pic>
      <p:sp>
        <p:nvSpPr>
          <p:cNvPr id="90117" name="矩形 4"/>
          <p:cNvSpPr/>
          <p:nvPr/>
        </p:nvSpPr>
        <p:spPr>
          <a:xfrm>
            <a:off x="6707188" y="1246188"/>
            <a:ext cx="2082800" cy="120015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0"/>
              </a:spcBef>
              <a:buClrTx/>
              <a:buNone/>
            </a:pPr>
            <a:endParaRPr lang="en-US" altLang="zh-CN" sz="1800" b="1" dirty="0">
              <a:solidFill>
                <a:srgbClr val="FF0000"/>
              </a:solidFill>
              <a:ea typeface="宋体" panose="02010600030101010101" pitchFamily="2" charset="-122"/>
            </a:endParaRPr>
          </a:p>
          <a:p>
            <a:pPr marL="0" lvl="0" indent="0" algn="l" eaLnBrk="1" hangingPunct="1">
              <a:spcBef>
                <a:spcPct val="0"/>
              </a:spcBef>
              <a:buClrTx/>
              <a:buNone/>
            </a:pPr>
            <a:r>
              <a:rPr lang="en-US" altLang="zh-CN" sz="1800" b="1" dirty="0">
                <a:solidFill>
                  <a:srgbClr val="FF0000"/>
                </a:solidFill>
                <a:ea typeface="宋体" panose="02010600030101010101" pitchFamily="2" charset="-122"/>
              </a:rPr>
              <a:t>TM</a:t>
            </a:r>
            <a:r>
              <a:rPr lang="zh-CN" altLang="en-US" sz="1800" b="1" dirty="0">
                <a:solidFill>
                  <a:srgbClr val="FF0000"/>
                </a:solidFill>
                <a:ea typeface="宋体" panose="02010600030101010101" pitchFamily="2" charset="-122"/>
              </a:rPr>
              <a:t>：事务管理器</a:t>
            </a:r>
            <a:endParaRPr lang="en-US" altLang="zh-CN" sz="1800" b="1" dirty="0">
              <a:solidFill>
                <a:srgbClr val="FF0000"/>
              </a:solidFill>
              <a:ea typeface="宋体" panose="02010600030101010101" pitchFamily="2" charset="-122"/>
            </a:endParaRPr>
          </a:p>
          <a:p>
            <a:pPr marL="0" lvl="0" indent="0" algn="l" eaLnBrk="1" hangingPunct="1">
              <a:spcBef>
                <a:spcPct val="0"/>
              </a:spcBef>
              <a:buClrTx/>
              <a:buNone/>
            </a:pPr>
            <a:r>
              <a:rPr lang="en-US" altLang="zh-CN" sz="1800" b="1" dirty="0">
                <a:solidFill>
                  <a:srgbClr val="FF0000"/>
                </a:solidFill>
                <a:ea typeface="宋体" panose="02010600030101010101" pitchFamily="2" charset="-122"/>
              </a:rPr>
              <a:t>S</a:t>
            </a:r>
            <a:r>
              <a:rPr lang="zh-CN" altLang="en-US" sz="1800" b="1" dirty="0">
                <a:solidFill>
                  <a:srgbClr val="FF0000"/>
                </a:solidFill>
                <a:ea typeface="宋体" panose="02010600030101010101" pitchFamily="2" charset="-122"/>
              </a:rPr>
              <a:t>：调度管理器</a:t>
            </a:r>
            <a:endParaRPr lang="en-US" altLang="zh-CN" sz="1800" b="1" dirty="0">
              <a:solidFill>
                <a:srgbClr val="FF0000"/>
              </a:solidFill>
              <a:ea typeface="宋体" panose="02010600030101010101" pitchFamily="2" charset="-122"/>
            </a:endParaRPr>
          </a:p>
          <a:p>
            <a:pPr marL="0" lvl="0" indent="0" algn="l" eaLnBrk="1" hangingPunct="1">
              <a:spcBef>
                <a:spcPct val="0"/>
              </a:spcBef>
              <a:buClrTx/>
              <a:buNone/>
            </a:pPr>
            <a:r>
              <a:rPr lang="en-US" altLang="zh-CN" sz="1800" b="1" dirty="0">
                <a:solidFill>
                  <a:srgbClr val="FF0000"/>
                </a:solidFill>
                <a:ea typeface="宋体" panose="02010600030101010101" pitchFamily="2" charset="-122"/>
              </a:rPr>
              <a:t>DM</a:t>
            </a:r>
            <a:r>
              <a:rPr lang="zh-CN" altLang="en-US" sz="1800" b="1" dirty="0">
                <a:solidFill>
                  <a:srgbClr val="FF0000"/>
                </a:solidFill>
                <a:ea typeface="宋体" panose="02010600030101010101" pitchFamily="2" charset="-122"/>
              </a:rPr>
              <a:t>：数据管理器</a:t>
            </a:r>
            <a:endParaRPr lang="zh-CN" altLang="en-US" sz="1800" b="1" dirty="0">
              <a:solidFill>
                <a:srgbClr val="FF0000"/>
              </a:solidFill>
              <a:ea typeface="宋体" panose="02010600030101010101" pitchFamily="2"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Rectangle 2"/>
          <p:cNvSpPr>
            <a:spLocks noGrp="1"/>
          </p:cNvSpPr>
          <p:nvPr>
            <p:ph type="title"/>
          </p:nvPr>
        </p:nvSpPr>
        <p:spPr>
          <a:xfrm>
            <a:off x="0" y="0"/>
            <a:ext cx="9144000" cy="731838"/>
          </a:xfrm>
          <a:ln/>
        </p:spPr>
        <p:txBody>
          <a:bodyPr vert="horz" wrap="square" lIns="91440" tIns="45720" rIns="91440" bIns="45720" anchor="ctr" anchorCtr="0"/>
          <a:p>
            <a:pPr eaLnBrk="1" hangingPunct="1"/>
            <a:r>
              <a:rPr lang="en-US" altLang="zh-CN" sz="4000" dirty="0">
                <a:ea typeface="宋体" panose="02010600030101010101" pitchFamily="2" charset="-122"/>
              </a:rPr>
              <a:t>Two-Phase Locking (2)</a:t>
            </a:r>
            <a:endParaRPr lang="zh-CN" altLang="en-US" sz="4000" dirty="0">
              <a:ea typeface="宋体" panose="02010600030101010101" pitchFamily="2" charset="-122"/>
            </a:endParaRPr>
          </a:p>
        </p:txBody>
      </p:sp>
      <p:sp>
        <p:nvSpPr>
          <p:cNvPr id="92163" name="Rectangle 3"/>
          <p:cNvSpPr>
            <a:spLocks noGrp="1"/>
          </p:cNvSpPr>
          <p:nvPr>
            <p:ph idx="1"/>
          </p:nvPr>
        </p:nvSpPr>
        <p:spPr>
          <a:xfrm>
            <a:off x="301625" y="811213"/>
            <a:ext cx="8540750" cy="1358900"/>
          </a:xfrm>
          <a:ln/>
        </p:spPr>
        <p:txBody>
          <a:bodyPr vert="horz" wrap="square" lIns="91440" tIns="45720" rIns="91440" bIns="45720" anchor="t" anchorCtr="0"/>
          <a:p>
            <a:pPr marL="0" indent="0" algn="l" eaLnBrk="1" hangingPunct="1">
              <a:lnSpc>
                <a:spcPct val="200000"/>
              </a:lnSpc>
              <a:buFont typeface="Wingdings" panose="05000000000000000000" pitchFamily="2" charset="2"/>
              <a:buChar char="u"/>
            </a:pPr>
            <a:r>
              <a:rPr lang="zh-CN" altLang="en-US" sz="2000" b="1" dirty="0">
                <a:ea typeface="宋体" panose="02010600030101010101" pitchFamily="2" charset="-122"/>
              </a:rPr>
              <a:t>可以证明（</a:t>
            </a:r>
            <a:r>
              <a:rPr lang="en-US" altLang="zh-CN" sz="2000" b="1" dirty="0">
                <a:ea typeface="宋体" panose="02010600030101010101" pitchFamily="2" charset="-122"/>
              </a:rPr>
              <a:t>Eswaran</a:t>
            </a:r>
            <a:r>
              <a:rPr lang="zh-CN" altLang="en-US" sz="2000" b="1" dirty="0">
                <a:ea typeface="宋体" panose="02010600030101010101" pitchFamily="2" charset="-122"/>
              </a:rPr>
              <a:t>等，</a:t>
            </a:r>
            <a:r>
              <a:rPr lang="en-US" altLang="zh-CN" sz="2000" b="1" dirty="0">
                <a:ea typeface="宋体" panose="02010600030101010101" pitchFamily="2" charset="-122"/>
              </a:rPr>
              <a:t>1976</a:t>
            </a:r>
            <a:r>
              <a:rPr lang="zh-CN" altLang="en-US" sz="2000" b="1" dirty="0">
                <a:ea typeface="宋体" panose="02010600030101010101" pitchFamily="2" charset="-122"/>
              </a:rPr>
              <a:t>）如果所有的事务都使用两阶段加锁法，那么通过交错事务进行的所有调度都是串行的。</a:t>
            </a:r>
            <a:endParaRPr lang="zh-CN" altLang="en-US" sz="2000" b="1" dirty="0">
              <a:ea typeface="宋体" panose="02010600030101010101" pitchFamily="2" charset="-122"/>
            </a:endParaRPr>
          </a:p>
        </p:txBody>
      </p:sp>
      <p:sp>
        <p:nvSpPr>
          <p:cNvPr id="4" name="Rectangle 3"/>
          <p:cNvSpPr txBox="1">
            <a:spLocks noChangeArrowheads="1"/>
          </p:cNvSpPr>
          <p:nvPr/>
        </p:nvSpPr>
        <p:spPr bwMode="auto">
          <a:xfrm>
            <a:off x="301625" y="2170113"/>
            <a:ext cx="8315325" cy="1017588"/>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0" marR="0" lvl="0" indent="0" algn="l" defTabSz="914400" rtl="0" eaLnBrk="1" fontAlgn="base" latinLnBrk="0" hangingPunct="1">
              <a:lnSpc>
                <a:spcPct val="130000"/>
              </a:lnSpc>
              <a:spcBef>
                <a:spcPct val="20000"/>
              </a:spcBef>
              <a:spcAft>
                <a:spcPct val="0"/>
              </a:spcAft>
              <a:buClr>
                <a:schemeClr val="accent2"/>
              </a:buClr>
              <a:buSzTx/>
              <a:buFont typeface="Wingdings" panose="05000000000000000000" pitchFamily="2" charset="2"/>
              <a:buChar char="u"/>
              <a:defRPr/>
            </a:pPr>
            <a:r>
              <a:rPr kumimoji="0" lang="zh-CN" altLang="en-US" sz="2000" b="0"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严格的两阶段加锁法：</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收缩阶段是在事务结束运行之后要么提交，要么中止时出现。</a:t>
            </a:r>
            <a:endPar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5" name="Rectangle 3"/>
          <p:cNvSpPr txBox="1">
            <a:spLocks noChangeArrowheads="1"/>
          </p:cNvSpPr>
          <p:nvPr/>
        </p:nvSpPr>
        <p:spPr bwMode="auto">
          <a:xfrm>
            <a:off x="1795463" y="6416675"/>
            <a:ext cx="6070600" cy="344488"/>
          </a:xfrm>
          <a:prstGeom prst="rect">
            <a:avLst/>
          </a:prstGeom>
          <a:noFill/>
          <a:ln w="9525">
            <a:noFill/>
            <a:miter lim="800000"/>
          </a:ln>
        </p:spPr>
        <p:txBody>
          <a:bodyPr/>
          <a:lstStyle/>
          <a:p>
            <a:pPr marL="342900" marR="0" indent="-342900" algn="ctr" defTabSz="914400" eaLnBrk="1" hangingPunct="1">
              <a:spcBef>
                <a:spcPct val="20000"/>
              </a:spcBef>
              <a:buClr>
                <a:schemeClr val="accent2"/>
              </a:buClr>
              <a:buSzTx/>
              <a:buFontTx/>
              <a:buNone/>
              <a:defRPr/>
            </a:pPr>
            <a:r>
              <a:rPr kumimoji="0" lang="en-US" altLang="zh-CN" sz="2000" kern="0" cap="none" spc="0" normalizeH="0" baseline="0" noProof="0" dirty="0">
                <a:latin typeface="+mn-lt"/>
                <a:ea typeface="宋体" panose="02010600030101010101" pitchFamily="2" charset="-122"/>
                <a:cs typeface="+mn-cs"/>
              </a:rPr>
              <a:t>Strict two-phase locking.</a:t>
            </a:r>
            <a:endParaRPr kumimoji="0" lang="en-US" altLang="zh-CN" sz="2000" kern="0" cap="none" spc="0" normalizeH="0" baseline="0" noProof="0" dirty="0">
              <a:latin typeface="+mn-lt"/>
              <a:ea typeface="宋体" panose="02010600030101010101" pitchFamily="2" charset="-122"/>
              <a:cs typeface="+mn-cs"/>
            </a:endParaRPr>
          </a:p>
        </p:txBody>
      </p:sp>
      <p:pic>
        <p:nvPicPr>
          <p:cNvPr id="92166" name="Picture 4"/>
          <p:cNvPicPr>
            <a:picLocks noChangeAspect="1"/>
          </p:cNvPicPr>
          <p:nvPr/>
        </p:nvPicPr>
        <p:blipFill>
          <a:blip r:embed="rId1"/>
          <a:srcRect l="27579" t="44260" r="24345" b="38670"/>
          <a:stretch>
            <a:fillRect/>
          </a:stretch>
        </p:blipFill>
        <p:spPr>
          <a:xfrm>
            <a:off x="1077913" y="2943225"/>
            <a:ext cx="6988175" cy="3341688"/>
          </a:xfrm>
          <a:prstGeom prst="rect">
            <a:avLst/>
          </a:prstGeom>
          <a:noFill/>
          <a:ln w="9525">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Rectangle 2"/>
          <p:cNvSpPr>
            <a:spLocks noGrp="1"/>
          </p:cNvSpPr>
          <p:nvPr>
            <p:ph type="title"/>
          </p:nvPr>
        </p:nvSpPr>
        <p:spPr>
          <a:xfrm>
            <a:off x="0" y="0"/>
            <a:ext cx="9144000" cy="560388"/>
          </a:xfrm>
          <a:ln/>
        </p:spPr>
        <p:txBody>
          <a:bodyPr vert="horz" wrap="square" lIns="91440" tIns="45720" rIns="91440" bIns="45720" anchor="ctr" anchorCtr="0"/>
          <a:p>
            <a:pPr eaLnBrk="1" hangingPunct="1"/>
            <a:r>
              <a:rPr lang="en-US" altLang="zh-CN" dirty="0">
                <a:ea typeface="宋体" panose="02010600030101010101" pitchFamily="2" charset="-122"/>
              </a:rPr>
              <a:t>Two-Phase Locking (3)</a:t>
            </a:r>
            <a:endParaRPr lang="zh-CN" altLang="en-US" dirty="0">
              <a:ea typeface="宋体" panose="02010600030101010101" pitchFamily="2" charset="-122"/>
            </a:endParaRPr>
          </a:p>
        </p:txBody>
      </p:sp>
      <p:sp>
        <p:nvSpPr>
          <p:cNvPr id="93187" name="Rectangle 3"/>
          <p:cNvSpPr>
            <a:spLocks noGrp="1"/>
          </p:cNvSpPr>
          <p:nvPr>
            <p:ph idx="1"/>
          </p:nvPr>
        </p:nvSpPr>
        <p:spPr>
          <a:xfrm>
            <a:off x="265113" y="560388"/>
            <a:ext cx="8672512" cy="1933575"/>
          </a:xfrm>
          <a:ln/>
        </p:spPr>
        <p:txBody>
          <a:bodyPr vert="horz" wrap="square" lIns="91440" tIns="45720" rIns="91440" bIns="45720" anchor="t" anchorCtr="0"/>
          <a:p>
            <a:pPr marL="0" indent="0" algn="l" eaLnBrk="1" hangingPunct="1">
              <a:lnSpc>
                <a:spcPct val="150000"/>
              </a:lnSpc>
              <a:buFont typeface="Wingdings" panose="05000000000000000000" pitchFamily="2" charset="2"/>
              <a:buChar char="u"/>
            </a:pPr>
            <a:r>
              <a:rPr lang="zh-CN" altLang="en-US" sz="1800" b="1" dirty="0">
                <a:ea typeface="宋体" panose="02010600030101010101" pitchFamily="2" charset="-122"/>
              </a:rPr>
              <a:t>该策略有</a:t>
            </a:r>
            <a:r>
              <a:rPr lang="en-US" altLang="zh-CN" sz="1800" b="1" dirty="0">
                <a:ea typeface="宋体" panose="02010600030101010101" pitchFamily="2" charset="-122"/>
              </a:rPr>
              <a:t>2</a:t>
            </a:r>
            <a:r>
              <a:rPr lang="zh-CN" altLang="en-US" sz="1800" b="1" dirty="0">
                <a:ea typeface="宋体" panose="02010600030101010101" pitchFamily="2" charset="-122"/>
              </a:rPr>
              <a:t>个优点：</a:t>
            </a:r>
            <a:endParaRPr lang="zh-CN" altLang="en-US" sz="1800" b="1" dirty="0">
              <a:ea typeface="宋体" panose="02010600030101010101" pitchFamily="2" charset="-122"/>
            </a:endParaRPr>
          </a:p>
          <a:p>
            <a:pPr marL="914400" lvl="1" indent="-457200" eaLnBrk="1" hangingPunct="1">
              <a:lnSpc>
                <a:spcPct val="150000"/>
              </a:lnSpc>
              <a:buFont typeface="Times New Roman" panose="02020603050405020304" pitchFamily="18" charset="0"/>
              <a:buAutoNum type="arabicPeriod"/>
            </a:pPr>
            <a:r>
              <a:rPr lang="zh-CN" altLang="en-US" sz="1800" b="1" dirty="0">
                <a:ea typeface="宋体" panose="02010600030101010101" pitchFamily="2" charset="-122"/>
              </a:rPr>
              <a:t>一个事务总是读由另一个已提交的事务写入的值；</a:t>
            </a:r>
            <a:endParaRPr lang="zh-CN" altLang="en-US" sz="1800" b="1" dirty="0">
              <a:ea typeface="宋体" panose="02010600030101010101" pitchFamily="2" charset="-122"/>
            </a:endParaRPr>
          </a:p>
          <a:p>
            <a:pPr marL="914400" lvl="1" indent="-457200" eaLnBrk="1" hangingPunct="1">
              <a:lnSpc>
                <a:spcPct val="150000"/>
              </a:lnSpc>
              <a:buFont typeface="Times New Roman" panose="02020603050405020304" pitchFamily="18" charset="0"/>
              <a:buAutoNum type="arabicPeriod"/>
            </a:pPr>
            <a:r>
              <a:rPr lang="zh-CN" altLang="en-US" sz="1800" b="1" dirty="0">
                <a:ea typeface="宋体" panose="02010600030101010101" pitchFamily="2" charset="-122"/>
              </a:rPr>
              <a:t>锁的请求与释放都由系统处理：访问文件就请求一个锁，当事务结束时就释放一个锁。</a:t>
            </a:r>
            <a:endParaRPr lang="en-US" altLang="zh-CN" sz="1800" b="1" dirty="0">
              <a:ea typeface="宋体" panose="02010600030101010101" pitchFamily="2" charset="-122"/>
            </a:endParaRPr>
          </a:p>
        </p:txBody>
      </p:sp>
      <p:sp>
        <p:nvSpPr>
          <p:cNvPr id="4" name="Rectangle 3"/>
          <p:cNvSpPr txBox="1">
            <a:spLocks noChangeArrowheads="1"/>
          </p:cNvSpPr>
          <p:nvPr/>
        </p:nvSpPr>
        <p:spPr bwMode="auto">
          <a:xfrm>
            <a:off x="331788" y="2797175"/>
            <a:ext cx="8605838" cy="2597150"/>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zh-CN" altLang="en-US" sz="1800" b="1"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可能会导致死锁：</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若两个进程都试图以相反的顺序请求同一对锁，则会发生死锁。</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1" fontAlgn="base" latinLnBrk="0" hangingPunct="1">
              <a:lnSpc>
                <a:spcPct val="150000"/>
              </a:lnSpc>
              <a:spcBef>
                <a:spcPct val="20000"/>
              </a:spcBef>
              <a:spcAft>
                <a:spcPct val="0"/>
              </a:spcAft>
              <a:buClr>
                <a:schemeClr val="accent2"/>
              </a:buClr>
              <a:buSzTx/>
              <a:buFontTx/>
              <a:buNone/>
              <a:defRPr/>
            </a:pPr>
            <a:r>
              <a:rPr kumimoji="0" lang="zh-CN" altLang="en-US" sz="1800" b="1" i="1" u="none" strike="noStrike" kern="0" cap="none" spc="0" normalizeH="0" baseline="0" noProof="0" dirty="0">
                <a:ln>
                  <a:noFill/>
                </a:ln>
                <a:solidFill>
                  <a:srgbClr val="FF0000"/>
                </a:solidFill>
                <a:effectLst/>
                <a:uLnTx/>
                <a:uFillTx/>
                <a:latin typeface="+mn-lt"/>
                <a:ea typeface="宋体" panose="02010600030101010101" pitchFamily="2" charset="-122"/>
                <a:cs typeface="+mn-cs"/>
              </a:rPr>
              <a:t>解决方法</a:t>
            </a:r>
            <a:r>
              <a:rPr kumimoji="0" lang="zh-CN" altLang="en-US" sz="1800" b="1"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a:t>
            </a:r>
            <a:endParaRPr kumimoji="0" lang="zh-CN" altLang="en-US" sz="1800" b="1" i="0" u="none" strike="noStrike" kern="0" cap="none" spc="0" normalizeH="0" baseline="0" noProof="0" dirty="0">
              <a:ln>
                <a:noFill/>
              </a:ln>
              <a:solidFill>
                <a:srgbClr val="FF0000"/>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Ø"/>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按约束顺序请求锁防止死锁；</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Ø"/>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通过银行家算法防止死锁；</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Ø"/>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如果事先知道锁的拥有时间不超过</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秒，也可以采用一个超时方案检测死锁；</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Rectangle 2"/>
          <p:cNvSpPr>
            <a:spLocks noGrp="1"/>
          </p:cNvSpPr>
          <p:nvPr>
            <p:ph type="title"/>
          </p:nvPr>
        </p:nvSpPr>
        <p:spPr>
          <a:xfrm>
            <a:off x="0" y="0"/>
            <a:ext cx="9144000" cy="714375"/>
          </a:xfrm>
          <a:ln/>
        </p:spPr>
        <p:txBody>
          <a:bodyPr vert="horz" wrap="square" lIns="91440" tIns="45720" rIns="91440" bIns="45720" anchor="ctr" anchorCtr="0"/>
          <a:p>
            <a:pPr eaLnBrk="1" hangingPunct="1"/>
            <a:r>
              <a:rPr lang="en-US" altLang="zh-CN" dirty="0">
                <a:ea typeface="宋体" panose="02010600030101010101" pitchFamily="2" charset="-122"/>
              </a:rPr>
              <a:t>2</a:t>
            </a:r>
            <a:r>
              <a:rPr lang="zh-CN" altLang="en-US" dirty="0">
                <a:ea typeface="宋体" panose="02010600030101010101" pitchFamily="2" charset="-122"/>
              </a:rPr>
              <a:t>、乐观的并发控制</a:t>
            </a:r>
            <a:endParaRPr lang="zh-CN" altLang="en-US" dirty="0">
              <a:ea typeface="宋体" panose="02010600030101010101" pitchFamily="2" charset="-122"/>
            </a:endParaRPr>
          </a:p>
        </p:txBody>
      </p:sp>
      <p:sp>
        <p:nvSpPr>
          <p:cNvPr id="60419" name="Rectangle 3"/>
          <p:cNvSpPr>
            <a:spLocks noGrp="1" noChangeArrowheads="1"/>
          </p:cNvSpPr>
          <p:nvPr>
            <p:ph idx="1"/>
          </p:nvPr>
        </p:nvSpPr>
        <p:spPr>
          <a:xfrm>
            <a:off x="268288" y="1047750"/>
            <a:ext cx="8742363" cy="2551113"/>
          </a:xfrm>
        </p:spPr>
        <p:txBody>
          <a:bodyPr vert="horz" wrap="square" lIns="91440" tIns="45720" rIns="91440" bIns="45720" numCol="1" anchor="t" anchorCtr="0" compatLnSpc="1"/>
          <a:lstStyle/>
          <a:p>
            <a:pPr marL="342900" marR="0" lvl="0" indent="-3429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乐观并发控制法（</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Kung and Robinson</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1981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思想：</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Tx/>
              <a:buNone/>
              <a:defRPr/>
            </a:pPr>
            <a:r>
              <a:rPr kumimoji="0" lang="en-US" altLang="zh-CN" sz="2000" b="1"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      </a:t>
            </a:r>
            <a:r>
              <a:rPr kumimoji="0" lang="zh-CN" altLang="en-US" sz="2000" b="1"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尽管去做你想做的，不用在意其他人做什么。出现问题再考虑解决</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有效性与任务负载有关，乐观法对轻负载有效，重负载下效果差（</a:t>
            </a:r>
            <a:r>
              <a:rPr kumimoji="0" lang="zh-CN" altLang="en-US" sz="20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加锁法是一种悲观控制法</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5" name="Rectangle 3"/>
          <p:cNvSpPr txBox="1">
            <a:spLocks noChangeArrowheads="1"/>
          </p:cNvSpPr>
          <p:nvPr/>
        </p:nvSpPr>
        <p:spPr bwMode="auto">
          <a:xfrm>
            <a:off x="268288" y="3770313"/>
            <a:ext cx="8307388" cy="2760663"/>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zh-CN" altLang="en-US" sz="2000" b="1"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冲突处理：</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50000"/>
              </a:lnSpc>
              <a:spcBef>
                <a:spcPct val="20000"/>
              </a:spcBef>
              <a:spcAft>
                <a:spcPct val="0"/>
              </a:spcAft>
              <a:buClr>
                <a:schemeClr val="accent2"/>
              </a:buClr>
              <a:buSzTx/>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记录哪些文件曾经被读写过；</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50000"/>
              </a:lnSpc>
              <a:spcBef>
                <a:spcPct val="20000"/>
              </a:spcBef>
              <a:spcAft>
                <a:spcPct val="0"/>
              </a:spcAft>
              <a:buClr>
                <a:schemeClr val="accent2"/>
              </a:buClr>
              <a:buSzTx/>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在提交时，检测本事务开始后其文件是否被其它事务修改过？</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8080" marR="0" lvl="2" indent="-2286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Ø"/>
              <a:defRPr/>
            </a:pPr>
            <a:r>
              <a:rPr kumimoji="0" lang="zh-CN" altLang="en-US" sz="2000" b="1"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修改过，本事务将被中止；</a:t>
            </a:r>
            <a:endParaRPr kumimoji="0" lang="zh-CN" altLang="en-US" sz="2000" b="1" i="0" u="none" strike="noStrike" kern="0" cap="none" spc="0" normalizeH="0" baseline="0" noProof="0" dirty="0">
              <a:ln>
                <a:noFill/>
              </a:ln>
              <a:solidFill>
                <a:srgbClr val="FF0000"/>
              </a:solidFill>
              <a:effectLst/>
              <a:uLnTx/>
              <a:uFillTx/>
              <a:latin typeface="+mn-lt"/>
              <a:ea typeface="宋体" panose="02010600030101010101" pitchFamily="2" charset="-122"/>
              <a:cs typeface="+mn-cs"/>
            </a:endParaRPr>
          </a:p>
          <a:p>
            <a:pPr marL="1148080" marR="0" lvl="2" indent="-2286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Ø"/>
              <a:defRPr/>
            </a:pPr>
            <a:r>
              <a:rPr kumimoji="0" lang="zh-CN" altLang="en-US" sz="2000" b="1"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没有修改过，本事务就可以提交。</a:t>
            </a:r>
            <a:endParaRPr kumimoji="0" lang="zh-CN" altLang="en-US" sz="2000" b="1" i="0" u="none" strike="noStrike" kern="0" cap="none" spc="0" normalizeH="0" baseline="0" noProof="0" dirty="0">
              <a:ln>
                <a:noFill/>
              </a:ln>
              <a:solidFill>
                <a:srgbClr val="FF0000"/>
              </a:solidFill>
              <a:effectLst/>
              <a:uLnTx/>
              <a:uFillTx/>
              <a:latin typeface="+mn-lt"/>
              <a:ea typeface="宋体" panose="02010600030101010101" pitchFamily="2" charset="-122"/>
              <a:cs typeface="+mn-cs"/>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Rectangle 2"/>
          <p:cNvSpPr>
            <a:spLocks noGrp="1"/>
          </p:cNvSpPr>
          <p:nvPr>
            <p:ph type="title"/>
          </p:nvPr>
        </p:nvSpPr>
        <p:spPr>
          <a:xfrm>
            <a:off x="0" y="0"/>
            <a:ext cx="9144000" cy="698500"/>
          </a:xfrm>
          <a:ln/>
        </p:spPr>
        <p:txBody>
          <a:bodyPr vert="horz" wrap="square" lIns="91440" tIns="45720" rIns="91440" bIns="45720" anchor="ctr" anchorCtr="0"/>
          <a:p>
            <a:pPr eaLnBrk="1" hangingPunct="1"/>
            <a:r>
              <a:rPr lang="zh-CN" altLang="en-US" dirty="0">
                <a:ea typeface="宋体" panose="02010600030101010101" pitchFamily="2" charset="-122"/>
              </a:rPr>
              <a:t>乐观的并发控制</a:t>
            </a:r>
            <a:endParaRPr lang="zh-CN" altLang="en-US" dirty="0">
              <a:ea typeface="宋体" panose="02010600030101010101" pitchFamily="2" charset="-122"/>
            </a:endParaRPr>
          </a:p>
        </p:txBody>
      </p:sp>
      <p:sp>
        <p:nvSpPr>
          <p:cNvPr id="95235" name="Rectangle 3"/>
          <p:cNvSpPr>
            <a:spLocks noGrp="1"/>
          </p:cNvSpPr>
          <p:nvPr>
            <p:ph idx="1"/>
          </p:nvPr>
        </p:nvSpPr>
        <p:spPr>
          <a:xfrm>
            <a:off x="330200" y="1027113"/>
            <a:ext cx="8601075" cy="4575175"/>
          </a:xfrm>
          <a:ln/>
        </p:spPr>
        <p:txBody>
          <a:bodyPr vert="horz" wrap="square" lIns="91440" tIns="45720" rIns="91440" bIns="45720" anchor="t" anchorCtr="0"/>
          <a:p>
            <a:pPr algn="l" eaLnBrk="1" hangingPunct="1">
              <a:lnSpc>
                <a:spcPct val="150000"/>
              </a:lnSpc>
              <a:buFont typeface="Wingdings" panose="05000000000000000000" pitchFamily="2" charset="2"/>
              <a:buChar char="u"/>
            </a:pPr>
            <a:r>
              <a:rPr lang="zh-CN" altLang="en-US" sz="2000" b="1" dirty="0">
                <a:ea typeface="宋体" panose="02010600030101010101" pitchFamily="2" charset="-122"/>
              </a:rPr>
              <a:t>适合于基于私有工作空间的实现：</a:t>
            </a:r>
            <a:endParaRPr lang="zh-CN" altLang="en-US" sz="2000" b="1" dirty="0">
              <a:ea typeface="宋体" panose="02010600030101010101" pitchFamily="2" charset="-122"/>
            </a:endParaRPr>
          </a:p>
          <a:p>
            <a:pPr lvl="1" eaLnBrk="1" hangingPunct="1">
              <a:lnSpc>
                <a:spcPct val="150000"/>
              </a:lnSpc>
              <a:buChar char="–"/>
            </a:pPr>
            <a:r>
              <a:rPr lang="zh-CN" altLang="en-US" sz="2000" b="1" dirty="0">
                <a:ea typeface="宋体" panose="02010600030101010101" pitchFamily="2" charset="-122"/>
              </a:rPr>
              <a:t>每个事务都独立修改各自文件，不涉及其他事务；</a:t>
            </a:r>
            <a:endParaRPr lang="zh-CN" altLang="en-US" sz="2000" b="1" dirty="0">
              <a:ea typeface="宋体" panose="02010600030101010101" pitchFamily="2" charset="-122"/>
            </a:endParaRPr>
          </a:p>
          <a:p>
            <a:pPr lvl="1" eaLnBrk="1" hangingPunct="1">
              <a:lnSpc>
                <a:spcPct val="150000"/>
              </a:lnSpc>
              <a:buChar char="–"/>
            </a:pPr>
            <a:r>
              <a:rPr lang="zh-CN" altLang="en-US" sz="2000" b="1" dirty="0">
                <a:ea typeface="宋体" panose="02010600030101010101" pitchFamily="2" charset="-122"/>
              </a:rPr>
              <a:t>在结束的时候，新文件要么提交要么释放。</a:t>
            </a:r>
            <a:endParaRPr lang="zh-CN" altLang="en-US" sz="2000" b="1" dirty="0">
              <a:ea typeface="宋体" panose="02010600030101010101" pitchFamily="2" charset="-122"/>
            </a:endParaRPr>
          </a:p>
          <a:p>
            <a:pPr algn="l" eaLnBrk="1" hangingPunct="1">
              <a:lnSpc>
                <a:spcPct val="150000"/>
              </a:lnSpc>
              <a:buFont typeface="Wingdings" panose="05000000000000000000" pitchFamily="2" charset="2"/>
              <a:buChar char="u"/>
            </a:pPr>
            <a:r>
              <a:rPr lang="zh-CN" altLang="en-US" sz="2000" b="1" dirty="0">
                <a:solidFill>
                  <a:srgbClr val="FF0000"/>
                </a:solidFill>
                <a:ea typeface="宋体" panose="02010600030101010101" pitchFamily="2" charset="-122"/>
              </a:rPr>
              <a:t>优点：</a:t>
            </a:r>
            <a:endParaRPr lang="zh-CN" altLang="en-US" sz="2000" b="1" dirty="0">
              <a:solidFill>
                <a:srgbClr val="FF0000"/>
              </a:solidFill>
              <a:ea typeface="宋体" panose="02010600030101010101" pitchFamily="2" charset="-122"/>
            </a:endParaRPr>
          </a:p>
          <a:p>
            <a:pPr lvl="1" eaLnBrk="1" hangingPunct="1">
              <a:lnSpc>
                <a:spcPct val="150000"/>
              </a:lnSpc>
              <a:buChar char="–"/>
            </a:pPr>
            <a:r>
              <a:rPr lang="zh-CN" altLang="en-US" sz="2000" b="1" dirty="0">
                <a:ea typeface="宋体" panose="02010600030101010101" pitchFamily="2" charset="-122"/>
              </a:rPr>
              <a:t>避免了死锁，允许最大的并行度（不需等待一个锁）；</a:t>
            </a:r>
            <a:endParaRPr lang="zh-CN" altLang="en-US" sz="2000" b="1" dirty="0">
              <a:ea typeface="宋体" panose="02010600030101010101" pitchFamily="2" charset="-122"/>
            </a:endParaRPr>
          </a:p>
          <a:p>
            <a:pPr algn="l" eaLnBrk="1" hangingPunct="1">
              <a:lnSpc>
                <a:spcPct val="150000"/>
              </a:lnSpc>
              <a:buFont typeface="Wingdings" panose="05000000000000000000" pitchFamily="2" charset="2"/>
              <a:buChar char="u"/>
            </a:pPr>
            <a:r>
              <a:rPr lang="zh-CN" altLang="en-US" sz="2000" b="1" dirty="0">
                <a:solidFill>
                  <a:srgbClr val="FF0000"/>
                </a:solidFill>
                <a:ea typeface="宋体" panose="02010600030101010101" pitchFamily="2" charset="-122"/>
              </a:rPr>
              <a:t>缺点：</a:t>
            </a:r>
            <a:endParaRPr lang="zh-CN" altLang="en-US" sz="2000" b="1" dirty="0">
              <a:solidFill>
                <a:srgbClr val="FF0000"/>
              </a:solidFill>
              <a:ea typeface="宋体" panose="02010600030101010101" pitchFamily="2" charset="-122"/>
            </a:endParaRPr>
          </a:p>
          <a:p>
            <a:pPr lvl="1" eaLnBrk="1" hangingPunct="1">
              <a:lnSpc>
                <a:spcPct val="150000"/>
              </a:lnSpc>
            </a:pPr>
            <a:r>
              <a:rPr lang="zh-CN" altLang="en-US" sz="2000" b="1" dirty="0">
                <a:ea typeface="宋体" panose="02010600030101010101" pitchFamily="2" charset="-122"/>
              </a:rPr>
              <a:t>有时可能会失效，这时所有事务都必须退回重新运行；</a:t>
            </a:r>
            <a:endParaRPr lang="zh-CN" altLang="en-US" sz="2000" b="1" dirty="0">
              <a:ea typeface="宋体" panose="02010600030101010101" pitchFamily="2" charset="-122"/>
            </a:endParaRPr>
          </a:p>
          <a:p>
            <a:pPr lvl="1" eaLnBrk="1" hangingPunct="1">
              <a:lnSpc>
                <a:spcPct val="150000"/>
              </a:lnSpc>
            </a:pPr>
            <a:r>
              <a:rPr lang="zh-CN" altLang="en-US" sz="2000" b="1" dirty="0">
                <a:ea typeface="宋体" panose="02010600030101010101" pitchFamily="2" charset="-122"/>
              </a:rPr>
              <a:t>在重负载的情况下，算法失效的可能性将会直线上升，</a:t>
            </a:r>
            <a:r>
              <a:rPr lang="zh-CN" altLang="en-US" sz="2000" b="1" dirty="0">
                <a:solidFill>
                  <a:srgbClr val="FF0000"/>
                </a:solidFill>
                <a:ea typeface="宋体" panose="02010600030101010101" pitchFamily="2" charset="-122"/>
              </a:rPr>
              <a:t>骨牌效应</a:t>
            </a:r>
            <a:r>
              <a:rPr lang="zh-CN" altLang="en-US" sz="2000" b="1" dirty="0">
                <a:ea typeface="宋体" panose="02010600030101010101" pitchFamily="2" charset="-122"/>
              </a:rPr>
              <a:t>。</a:t>
            </a:r>
            <a:endParaRPr lang="zh-CN" altLang="en-US" sz="2000" b="1" dirty="0">
              <a:ea typeface="宋体" panose="02010600030101010101" pitchFamily="2"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Rectangle 2"/>
          <p:cNvSpPr>
            <a:spLocks noGrp="1"/>
          </p:cNvSpPr>
          <p:nvPr>
            <p:ph type="title"/>
          </p:nvPr>
        </p:nvSpPr>
        <p:spPr>
          <a:xfrm>
            <a:off x="819150" y="0"/>
            <a:ext cx="7123113" cy="490538"/>
          </a:xfrm>
          <a:ln/>
        </p:spPr>
        <p:txBody>
          <a:bodyPr vert="horz" wrap="square" lIns="91440" tIns="45720" rIns="91440" bIns="45720" anchor="ctr" anchorCtr="0"/>
          <a:p>
            <a:pPr eaLnBrk="1" hangingPunct="1"/>
            <a:r>
              <a:rPr lang="en-US" altLang="zh-CN" dirty="0">
                <a:ea typeface="宋体" panose="02010600030101010101" pitchFamily="2" charset="-122"/>
              </a:rPr>
              <a:t>3</a:t>
            </a:r>
            <a:r>
              <a:rPr lang="zh-CN" altLang="en-US" dirty="0">
                <a:ea typeface="宋体" panose="02010600030101010101" pitchFamily="2" charset="-122"/>
              </a:rPr>
              <a:t>、时间戳</a:t>
            </a:r>
            <a:endParaRPr lang="zh-CN" altLang="en-US" dirty="0">
              <a:ea typeface="宋体" panose="02010600030101010101" pitchFamily="2" charset="-122"/>
            </a:endParaRPr>
          </a:p>
        </p:txBody>
      </p:sp>
      <p:sp>
        <p:nvSpPr>
          <p:cNvPr id="96259" name="Rectangle 3"/>
          <p:cNvSpPr>
            <a:spLocks noGrp="1"/>
          </p:cNvSpPr>
          <p:nvPr>
            <p:ph idx="1"/>
          </p:nvPr>
        </p:nvSpPr>
        <p:spPr>
          <a:xfrm>
            <a:off x="374650" y="598488"/>
            <a:ext cx="8502650" cy="2576512"/>
          </a:xfrm>
          <a:ln/>
        </p:spPr>
        <p:txBody>
          <a:bodyPr vert="horz" wrap="square" lIns="91440" tIns="45720" rIns="91440" bIns="45720" anchor="t" anchorCtr="0"/>
          <a:p>
            <a:pPr marL="0" indent="0" algn="l" eaLnBrk="1" hangingPunct="1">
              <a:lnSpc>
                <a:spcPct val="200000"/>
              </a:lnSpc>
              <a:buFont typeface="Wingdings" panose="05000000000000000000" pitchFamily="2" charset="2"/>
              <a:buChar char="u"/>
            </a:pPr>
            <a:r>
              <a:rPr lang="zh-CN" altLang="en-US" sz="2000" b="1" dirty="0">
                <a:ea typeface="宋体" panose="02010600030101010101" pitchFamily="2" charset="-122"/>
              </a:rPr>
              <a:t>事务开始时（</a:t>
            </a:r>
            <a:r>
              <a:rPr lang="en-US" altLang="zh-CN" sz="2000" b="1" dirty="0">
                <a:ea typeface="宋体" panose="02010600030101010101" pitchFamily="2" charset="-122"/>
              </a:rPr>
              <a:t>BEGIN_TRANSACTION</a:t>
            </a:r>
            <a:r>
              <a:rPr lang="zh-CN" altLang="en-US" sz="2000" b="1" dirty="0">
                <a:ea typeface="宋体" panose="02010600030101010101" pitchFamily="2" charset="-122"/>
              </a:rPr>
              <a:t>），分配一个时间戳（</a:t>
            </a:r>
            <a:r>
              <a:rPr lang="en-US" altLang="zh-CN" sz="2000" b="1" dirty="0">
                <a:ea typeface="宋体" panose="02010600030101010101" pitchFamily="2" charset="-122"/>
              </a:rPr>
              <a:t>Reed</a:t>
            </a:r>
            <a:r>
              <a:rPr lang="zh-CN" altLang="en-US" sz="2000" b="1" dirty="0">
                <a:ea typeface="宋体" panose="02010600030101010101" pitchFamily="2" charset="-122"/>
              </a:rPr>
              <a:t>，</a:t>
            </a:r>
            <a:r>
              <a:rPr lang="en-US" altLang="zh-CN" sz="2000" b="1" dirty="0">
                <a:ea typeface="宋体" panose="02010600030101010101" pitchFamily="2" charset="-122"/>
              </a:rPr>
              <a:t>1983</a:t>
            </a:r>
            <a:r>
              <a:rPr lang="zh-CN" altLang="en-US" sz="2000" b="1" dirty="0">
                <a:ea typeface="宋体" panose="02010600030101010101" pitchFamily="2" charset="-122"/>
              </a:rPr>
              <a:t>），比如</a:t>
            </a:r>
            <a:r>
              <a:rPr lang="en-US" altLang="zh-CN" sz="2000" b="1" dirty="0">
                <a:ea typeface="宋体" panose="02010600030101010101" pitchFamily="2" charset="-122"/>
              </a:rPr>
              <a:t>Lamport</a:t>
            </a:r>
            <a:r>
              <a:rPr lang="zh-CN" altLang="en-US" sz="2000" b="1" dirty="0">
                <a:ea typeface="宋体" panose="02010600030101010101" pitchFamily="2" charset="-122"/>
              </a:rPr>
              <a:t>算法；</a:t>
            </a:r>
            <a:endParaRPr lang="zh-CN" altLang="en-US" sz="2000" b="1" dirty="0">
              <a:ea typeface="宋体" panose="02010600030101010101" pitchFamily="2" charset="-122"/>
            </a:endParaRPr>
          </a:p>
          <a:p>
            <a:pPr marL="0" indent="0" algn="l" eaLnBrk="1" hangingPunct="1">
              <a:lnSpc>
                <a:spcPct val="200000"/>
              </a:lnSpc>
              <a:buFont typeface="Wingdings" panose="05000000000000000000" pitchFamily="2" charset="2"/>
              <a:buChar char="u"/>
            </a:pPr>
            <a:r>
              <a:rPr lang="zh-CN" altLang="en-US" sz="2000" b="1" dirty="0">
                <a:ea typeface="宋体" panose="02010600030101010101" pitchFamily="2" charset="-122"/>
              </a:rPr>
              <a:t>每个</a:t>
            </a:r>
            <a:r>
              <a:rPr lang="zh-CN" altLang="en-US" sz="2000" b="1" dirty="0">
                <a:solidFill>
                  <a:srgbClr val="FF0000"/>
                </a:solidFill>
                <a:ea typeface="宋体" panose="02010600030101010101" pitchFamily="2" charset="-122"/>
              </a:rPr>
              <a:t>文件（对象）</a:t>
            </a:r>
            <a:r>
              <a:rPr lang="zh-CN" altLang="en-US" sz="2000" b="1" dirty="0">
                <a:ea typeface="宋体" panose="02010600030101010101" pitchFamily="2" charset="-122"/>
              </a:rPr>
              <a:t>拥有一个</a:t>
            </a:r>
            <a:r>
              <a:rPr lang="zh-CN" altLang="en-US" sz="2000" b="1" dirty="0">
                <a:solidFill>
                  <a:srgbClr val="FF0000"/>
                </a:solidFill>
                <a:ea typeface="宋体" panose="02010600030101010101" pitchFamily="2" charset="-122"/>
              </a:rPr>
              <a:t>读取时间戳</a:t>
            </a:r>
            <a:r>
              <a:rPr lang="zh-CN" altLang="en-US" sz="2000" b="1" dirty="0">
                <a:ea typeface="宋体" panose="02010600030101010101" pitchFamily="2" charset="-122"/>
              </a:rPr>
              <a:t>和</a:t>
            </a:r>
            <a:r>
              <a:rPr lang="zh-CN" altLang="en-US" sz="2000" b="1" dirty="0">
                <a:solidFill>
                  <a:srgbClr val="FF0000"/>
                </a:solidFill>
                <a:ea typeface="宋体" panose="02010600030101010101" pitchFamily="2" charset="-122"/>
              </a:rPr>
              <a:t>写入时间戳</a:t>
            </a:r>
            <a:r>
              <a:rPr lang="zh-CN" altLang="en-US" sz="2000" b="1" dirty="0">
                <a:ea typeface="宋体" panose="02010600030101010101" pitchFamily="2" charset="-122"/>
              </a:rPr>
              <a:t>，用以判断谁最近一次读或写入过该文件。</a:t>
            </a:r>
            <a:endParaRPr lang="zh-CN" altLang="en-US" sz="2000" b="1" dirty="0">
              <a:ea typeface="宋体" panose="02010600030101010101" pitchFamily="2" charset="-122"/>
            </a:endParaRPr>
          </a:p>
        </p:txBody>
      </p:sp>
      <p:sp>
        <p:nvSpPr>
          <p:cNvPr id="96260" name="Rectangle 2"/>
          <p:cNvSpPr/>
          <p:nvPr/>
        </p:nvSpPr>
        <p:spPr>
          <a:xfrm>
            <a:off x="977900" y="3282950"/>
            <a:ext cx="6804025" cy="2678113"/>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lnSpc>
                <a:spcPct val="200000"/>
              </a:lnSpc>
              <a:spcBef>
                <a:spcPct val="0"/>
              </a:spcBef>
              <a:buClrTx/>
              <a:buFont typeface="Wingdings" panose="05000000000000000000" pitchFamily="2" charset="2"/>
              <a:buChar char="Ø"/>
            </a:pPr>
            <a:r>
              <a:rPr lang="zh-CN" altLang="en-US" sz="2000" b="1" dirty="0">
                <a:ea typeface="宋体" panose="02010600030101010101" pitchFamily="2" charset="-122"/>
              </a:rPr>
              <a:t>事务的时间标记：</a:t>
            </a:r>
            <a:r>
              <a:rPr lang="en-US" altLang="zh-CN" sz="2000" b="1" dirty="0">
                <a:ea typeface="Arial Unicode MS" pitchFamily="34" charset="-122"/>
              </a:rPr>
              <a:t>ts(T)</a:t>
            </a:r>
            <a:endParaRPr lang="en-US" altLang="zh-CN" sz="2000" b="1" dirty="0">
              <a:ea typeface="Arial Unicode MS" pitchFamily="34" charset="-122"/>
            </a:endParaRPr>
          </a:p>
          <a:p>
            <a:pPr marL="0" lvl="0" indent="0" algn="l" eaLnBrk="1" hangingPunct="1">
              <a:lnSpc>
                <a:spcPct val="200000"/>
              </a:lnSpc>
              <a:spcBef>
                <a:spcPct val="0"/>
              </a:spcBef>
              <a:buClrTx/>
              <a:buFont typeface="Wingdings" panose="05000000000000000000" pitchFamily="2" charset="2"/>
              <a:buChar char="Ø"/>
            </a:pPr>
            <a:r>
              <a:rPr lang="zh-CN" altLang="en-US" sz="2000" b="1" dirty="0">
                <a:ea typeface="宋体" panose="02010600030101010101" pitchFamily="2" charset="-122"/>
              </a:rPr>
              <a:t>数据的时间标记：</a:t>
            </a:r>
            <a:endParaRPr lang="zh-CN" altLang="en-US" sz="2000" b="1" dirty="0">
              <a:ea typeface="宋体" panose="02010600030101010101" pitchFamily="2" charset="-122"/>
            </a:endParaRPr>
          </a:p>
          <a:p>
            <a:pPr marL="914400" lvl="2" indent="0" algn="just" eaLnBrk="1" hangingPunct="1">
              <a:lnSpc>
                <a:spcPct val="200000"/>
              </a:lnSpc>
              <a:spcBef>
                <a:spcPct val="0"/>
              </a:spcBef>
              <a:buClrTx/>
              <a:buFont typeface="Wingdings" panose="05000000000000000000" pitchFamily="2" charset="2"/>
              <a:buChar char="n"/>
            </a:pPr>
            <a:r>
              <a:rPr lang="zh-CN" altLang="en-US" sz="2200" b="1" dirty="0">
                <a:ea typeface="宋体" panose="02010600030101010101" pitchFamily="2" charset="-122"/>
              </a:rPr>
              <a:t>读时间标记</a:t>
            </a:r>
            <a:r>
              <a:rPr lang="en-US" altLang="zh-CN" sz="2200" b="1" dirty="0">
                <a:ea typeface="Arial Unicode MS" pitchFamily="34" charset="-122"/>
              </a:rPr>
              <a:t>tr</a:t>
            </a:r>
            <a:endParaRPr lang="en-US" altLang="zh-CN" sz="2200" b="1" dirty="0">
              <a:ea typeface="Arial Unicode MS" pitchFamily="34" charset="-122"/>
            </a:endParaRPr>
          </a:p>
          <a:p>
            <a:pPr marL="914400" lvl="2" indent="0" algn="just" eaLnBrk="1" hangingPunct="1">
              <a:lnSpc>
                <a:spcPct val="200000"/>
              </a:lnSpc>
              <a:spcBef>
                <a:spcPct val="0"/>
              </a:spcBef>
              <a:buClrTx/>
              <a:buFont typeface="Wingdings" panose="05000000000000000000" pitchFamily="2" charset="2"/>
              <a:buChar char="n"/>
            </a:pPr>
            <a:r>
              <a:rPr lang="zh-CN" altLang="en-US" sz="2200" b="1" dirty="0">
                <a:ea typeface="宋体" panose="02010600030101010101" pitchFamily="2" charset="-122"/>
              </a:rPr>
              <a:t>写时间标记</a:t>
            </a:r>
            <a:r>
              <a:rPr lang="en-US" altLang="zh-CN" sz="2200" b="1" dirty="0">
                <a:ea typeface="Arial Unicode MS" pitchFamily="34" charset="-122"/>
              </a:rPr>
              <a:t>tw</a:t>
            </a:r>
            <a:endParaRPr lang="en-US" altLang="zh-CN" sz="2200" b="1" dirty="0">
              <a:ea typeface="Arial Unicode MS" pitchFamily="34"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2"/>
          <p:cNvSpPr>
            <a:spLocks noChangeArrowheads="1"/>
          </p:cNvSpPr>
          <p:nvPr/>
        </p:nvSpPr>
        <p:spPr bwMode="auto">
          <a:xfrm>
            <a:off x="417513" y="1858963"/>
            <a:ext cx="8645525" cy="2170113"/>
          </a:xfrm>
          <a:prstGeom prst="rect">
            <a:avLst/>
          </a:prstGeom>
          <a:noFill/>
          <a:ln>
            <a:noFill/>
          </a:ln>
        </p:spPr>
        <p:txBody>
          <a:bodyPr>
            <a:spAutoFit/>
          </a:bodyPr>
          <a:lstStyle>
            <a:lvl1pPr algn="ctr">
              <a:spcBef>
                <a:spcPct val="20000"/>
              </a:spcBef>
              <a:buClr>
                <a:schemeClr val="accent2"/>
              </a:buClr>
              <a:buChar char="•"/>
              <a:defRPr sz="3200">
                <a:solidFill>
                  <a:schemeClr val="tx1"/>
                </a:solidFill>
                <a:latin typeface="Times New Roman" panose="02020603050405020304" pitchFamily="18" charset="0"/>
              </a:defRPr>
            </a:lvl1pPr>
            <a:lvl2pPr>
              <a:spcBef>
                <a:spcPct val="20000"/>
              </a:spcBef>
              <a:buClr>
                <a:schemeClr val="accent2"/>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Char char="•"/>
              <a:defRPr sz="2400">
                <a:solidFill>
                  <a:schemeClr val="tx1"/>
                </a:solidFill>
                <a:latin typeface="Times New Roman" panose="02020603050405020304" pitchFamily="18" charset="0"/>
              </a:defRPr>
            </a:lvl3pPr>
            <a:lvl4pPr marL="1600200" indent="-228600">
              <a:spcBef>
                <a:spcPct val="20000"/>
              </a:spcBef>
              <a:buClr>
                <a:schemeClr val="accent2"/>
              </a:buClr>
              <a:buChar char="–"/>
              <a:defRPr sz="2000">
                <a:solidFill>
                  <a:schemeClr val="tx1"/>
                </a:solidFill>
                <a:latin typeface="Times New Roman" panose="02020603050405020304" pitchFamily="18" charset="0"/>
              </a:defRPr>
            </a:lvl4pPr>
            <a:lvl5pPr marL="2057400" indent="-228600">
              <a:spcBef>
                <a:spcPct val="20000"/>
              </a:spcBef>
              <a:buClr>
                <a:schemeClr val="accent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9pPr>
          </a:lstStyle>
          <a:p>
            <a:pPr marL="0" marR="0" lvl="1" indent="0" algn="just" defTabSz="914400" rtl="0" eaLnBrk="1" fontAlgn="base" latinLnBrk="0" hangingPunct="1">
              <a:lnSpc>
                <a:spcPct val="150000"/>
              </a:lnSpc>
              <a:spcBef>
                <a:spcPct val="0"/>
              </a:spcBef>
              <a:spcAft>
                <a:spcPct val="0"/>
              </a:spcAft>
              <a:buClrTx/>
              <a:buSzTx/>
              <a:buFont typeface="Wingdings" panose="05000000000000000000" pitchFamily="2" charset="2"/>
              <a:buChar char="Ø"/>
              <a:defRPr/>
            </a:pPr>
            <a:r>
              <a:rPr kumimoji="1" lang="en-US" altLang="zh-CN" sz="1800" b="1" i="0" u="none" strike="noStrike" kern="1200" cap="none" spc="0" normalizeH="0" baseline="0" noProof="0" dirty="0">
                <a:ln>
                  <a:noFill/>
                </a:ln>
                <a:solidFill>
                  <a:schemeClr val="tx1"/>
                </a:solidFill>
                <a:effectLst/>
                <a:uLnTx/>
                <a:uFillTx/>
                <a:latin typeface="Times New Roman" panose="02020603050405020304" pitchFamily="18" charset="0"/>
                <a:ea typeface="Arial Unicode MS" pitchFamily="34" charset="-122"/>
                <a:cs typeface="+mn-cs"/>
              </a:rPr>
              <a:t> </a:t>
            </a:r>
            <a:r>
              <a:rPr kumimoji="1"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事务</a:t>
            </a:r>
            <a:r>
              <a:rPr kumimoji="1"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Arial Unicode MS" pitchFamily="34" charset="-122"/>
                <a:cs typeface="+mn-cs"/>
              </a:rPr>
              <a:t>T</a:t>
            </a:r>
            <a:r>
              <a:rPr kumimoji="1"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读数据</a:t>
            </a:r>
            <a:r>
              <a:rPr kumimoji="1"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Arial Unicode MS" pitchFamily="34" charset="-122"/>
                <a:cs typeface="+mn-cs"/>
              </a:rPr>
              <a:t>read(D);</a:t>
            </a:r>
            <a:r>
              <a:rPr kumimoji="1" lang="en-US" altLang="zh-CN" sz="1800" b="1" i="0" u="none" strike="noStrike" kern="1200" cap="none" spc="0" normalizeH="0" baseline="0" noProof="0" dirty="0">
                <a:ln>
                  <a:noFill/>
                </a:ln>
                <a:solidFill>
                  <a:schemeClr val="tx1"/>
                </a:solidFill>
                <a:effectLst/>
                <a:uLnTx/>
                <a:uFillTx/>
                <a:latin typeface="Times New Roman" panose="02020603050405020304" pitchFamily="18" charset="0"/>
                <a:ea typeface="Arial Unicode MS" pitchFamily="34" charset="-122"/>
                <a:cs typeface="+mn-cs"/>
              </a:rPr>
              <a:t> /* </a:t>
            </a:r>
            <a:r>
              <a:rPr kumimoji="1" lang="zh-CN" altLang="en-US" sz="1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本事务在其它事务对该数据写之后发生</a:t>
            </a:r>
            <a:r>
              <a:rPr kumimoji="1" lang="zh-CN" altLang="en-US" sz="1800" b="1" i="0" u="none" strike="noStrike" kern="1200" cap="none" spc="0" normalizeH="0" baseline="0" noProof="0" dirty="0">
                <a:ln>
                  <a:noFill/>
                </a:ln>
                <a:solidFill>
                  <a:schemeClr val="tx1"/>
                </a:solidFill>
                <a:effectLst/>
                <a:uLnTx/>
                <a:uFillTx/>
                <a:latin typeface="Times New Roman" panose="02020603050405020304" pitchFamily="18" charset="0"/>
                <a:ea typeface="Arial Unicode MS" pitchFamily="34" charset="-122"/>
                <a:cs typeface="+mn-cs"/>
              </a:rPr>
              <a:t>*</a:t>
            </a:r>
            <a:r>
              <a:rPr kumimoji="1" lang="en-US" altLang="zh-CN" sz="1800" b="1" i="0" u="none" strike="noStrike" kern="1200" cap="none" spc="0" normalizeH="0" baseline="0" noProof="0" dirty="0">
                <a:ln>
                  <a:noFill/>
                </a:ln>
                <a:solidFill>
                  <a:schemeClr val="tx1"/>
                </a:solidFill>
                <a:effectLst/>
                <a:uLnTx/>
                <a:uFillTx/>
                <a:latin typeface="Times New Roman" panose="02020603050405020304" pitchFamily="18" charset="0"/>
                <a:ea typeface="Arial Unicode MS" pitchFamily="34" charset="-122"/>
                <a:cs typeface="+mn-cs"/>
              </a:rPr>
              <a:t>/</a:t>
            </a:r>
            <a:endParaRPr kumimoji="1"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Arial Unicode MS" pitchFamily="34" charset="-122"/>
              <a:cs typeface="+mn-cs"/>
            </a:endParaRPr>
          </a:p>
          <a:p>
            <a:pPr marL="457200" marR="0" lvl="1" indent="0" algn="just" defTabSz="914400" rtl="0" eaLnBrk="1" fontAlgn="base" latinLnBrk="0" hangingPunct="1">
              <a:lnSpc>
                <a:spcPct val="150000"/>
              </a:lnSpc>
              <a:spcBef>
                <a:spcPct val="0"/>
              </a:spcBef>
              <a:spcAft>
                <a:spcPct val="0"/>
              </a:spcAft>
              <a:buClrTx/>
              <a:buSzTx/>
              <a:buFont typeface="Wingdings" panose="05000000000000000000" pitchFamily="2" charset="2"/>
              <a:buNone/>
              <a:defRPr/>
            </a:pPr>
            <a:r>
              <a:rPr kumimoji="1" lang="en-US" altLang="zh-CN" sz="1800" b="1" i="0" u="none" strike="noStrike" kern="1200" cap="none" spc="0" normalizeH="0" baseline="0" noProof="0" dirty="0">
                <a:ln>
                  <a:noFill/>
                </a:ln>
                <a:solidFill>
                  <a:schemeClr val="tx1"/>
                </a:solidFill>
                <a:effectLst/>
                <a:uLnTx/>
                <a:uFillTx/>
                <a:latin typeface="Times New Roman" panose="02020603050405020304" pitchFamily="18" charset="0"/>
                <a:ea typeface="Arial Unicode MS" pitchFamily="34" charset="-122"/>
                <a:cs typeface="+mn-cs"/>
              </a:rPr>
              <a:t>if  </a:t>
            </a:r>
            <a:r>
              <a:rPr kumimoji="1" lang="en-US" altLang="zh-CN" sz="1800" b="1" i="0" u="none" strike="noStrike" kern="1200" cap="none" spc="0" normalizeH="0" baseline="0" noProof="0" dirty="0" err="1">
                <a:ln>
                  <a:noFill/>
                </a:ln>
                <a:solidFill>
                  <a:schemeClr val="tx1"/>
                </a:solidFill>
                <a:effectLst/>
                <a:uLnTx/>
                <a:uFillTx/>
                <a:latin typeface="Times New Roman" panose="02020603050405020304" pitchFamily="18" charset="0"/>
                <a:ea typeface="Arial Unicode MS" pitchFamily="34" charset="-122"/>
                <a:cs typeface="+mn-cs"/>
              </a:rPr>
              <a:t>ts</a:t>
            </a:r>
            <a:r>
              <a:rPr kumimoji="1" lang="en-US" altLang="zh-CN" sz="1800" b="1" i="0" u="none" strike="noStrike" kern="1200" cap="none" spc="0" normalizeH="0" baseline="0" noProof="0" dirty="0">
                <a:ln>
                  <a:noFill/>
                </a:ln>
                <a:solidFill>
                  <a:schemeClr val="tx1"/>
                </a:solidFill>
                <a:effectLst/>
                <a:uLnTx/>
                <a:uFillTx/>
                <a:latin typeface="Times New Roman" panose="02020603050405020304" pitchFamily="18" charset="0"/>
                <a:ea typeface="Arial Unicode MS" pitchFamily="34" charset="-122"/>
                <a:cs typeface="+mn-cs"/>
              </a:rPr>
              <a:t>(T) </a:t>
            </a:r>
            <a:r>
              <a:rPr kumimoji="1" lang="en-US" altLang="zh-CN" sz="1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1" lang="en-US" altLang="zh-CN" sz="1800" b="1" i="0" u="none" strike="noStrike" kern="1200" cap="none" spc="0" normalizeH="0" baseline="0" noProof="0" dirty="0" err="1">
                <a:ln>
                  <a:noFill/>
                </a:ln>
                <a:solidFill>
                  <a:schemeClr val="tx1"/>
                </a:solidFill>
                <a:effectLst/>
                <a:uLnTx/>
                <a:uFillTx/>
                <a:latin typeface="Times New Roman" panose="02020603050405020304" pitchFamily="18" charset="0"/>
                <a:ea typeface="Arial Unicode MS" pitchFamily="34" charset="-122"/>
                <a:cs typeface="+mn-cs"/>
              </a:rPr>
              <a:t>tw</a:t>
            </a:r>
            <a:r>
              <a:rPr kumimoji="1" lang="en-US" altLang="zh-CN" sz="1800" b="1" i="0" u="none" strike="noStrike" kern="1200" cap="none" spc="0" normalizeH="0" baseline="0" noProof="0" dirty="0">
                <a:ln>
                  <a:noFill/>
                </a:ln>
                <a:solidFill>
                  <a:schemeClr val="tx1"/>
                </a:solidFill>
                <a:effectLst/>
                <a:uLnTx/>
                <a:uFillTx/>
                <a:latin typeface="Times New Roman" panose="02020603050405020304" pitchFamily="18" charset="0"/>
                <a:ea typeface="Arial Unicode MS" pitchFamily="34" charset="-122"/>
                <a:cs typeface="+mn-cs"/>
              </a:rPr>
              <a:t>  then /*</a:t>
            </a:r>
            <a:r>
              <a:rPr kumimoji="1" lang="zh-CN" altLang="en-US" sz="1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符合时间标记协议，</a:t>
            </a:r>
            <a:r>
              <a:rPr kumimoji="1" lang="en-US" altLang="zh-CN" sz="1800" b="1" i="0" u="none" strike="noStrike" kern="1200" cap="none" spc="0" normalizeH="0" baseline="0" noProof="0" dirty="0">
                <a:ln>
                  <a:noFill/>
                </a:ln>
                <a:solidFill>
                  <a:schemeClr val="tx1"/>
                </a:solidFill>
                <a:effectLst/>
                <a:uLnTx/>
                <a:uFillTx/>
                <a:latin typeface="Times New Roman" panose="02020603050405020304" pitchFamily="18" charset="0"/>
                <a:ea typeface="Arial Unicode MS" pitchFamily="34" charset="-122"/>
                <a:cs typeface="+mn-cs"/>
              </a:rPr>
              <a:t>read(D)</a:t>
            </a:r>
            <a:r>
              <a:rPr kumimoji="1" lang="zh-CN" altLang="en-US" sz="1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即为读取值</a:t>
            </a:r>
            <a:r>
              <a:rPr kumimoji="1" lang="zh-CN" altLang="en-US" sz="1800" b="1" i="0" u="none" strike="noStrike" kern="1200" cap="none" spc="0" normalizeH="0" baseline="0" noProof="0" dirty="0">
                <a:ln>
                  <a:noFill/>
                </a:ln>
                <a:solidFill>
                  <a:schemeClr val="tx1"/>
                </a:solidFill>
                <a:effectLst/>
                <a:uLnTx/>
                <a:uFillTx/>
                <a:latin typeface="Times New Roman" panose="02020603050405020304" pitchFamily="18" charset="0"/>
                <a:ea typeface="Arial Unicode MS" pitchFamily="34" charset="-122"/>
                <a:cs typeface="+mn-cs"/>
              </a:rPr>
              <a:t>*</a:t>
            </a:r>
            <a:r>
              <a:rPr kumimoji="1" lang="en-US" altLang="zh-CN" sz="1800" b="1" i="0" u="none" strike="noStrike" kern="1200" cap="none" spc="0" normalizeH="0" baseline="0" noProof="0" dirty="0">
                <a:ln>
                  <a:noFill/>
                </a:ln>
                <a:solidFill>
                  <a:schemeClr val="tx1"/>
                </a:solidFill>
                <a:effectLst/>
                <a:uLnTx/>
                <a:uFillTx/>
                <a:latin typeface="Times New Roman" panose="02020603050405020304" pitchFamily="18" charset="0"/>
                <a:ea typeface="Arial Unicode MS" pitchFamily="34" charset="-122"/>
                <a:cs typeface="+mn-cs"/>
              </a:rPr>
              <a:t>/</a:t>
            </a:r>
            <a:endParaRPr kumimoji="1" lang="en-US" altLang="zh-CN" sz="1800" b="1" i="0" u="none" strike="noStrike" kern="1200" cap="none" spc="0" normalizeH="0" baseline="0" noProof="0" dirty="0">
              <a:ln>
                <a:noFill/>
              </a:ln>
              <a:solidFill>
                <a:schemeClr val="tx1"/>
              </a:solidFill>
              <a:effectLst/>
              <a:uLnTx/>
              <a:uFillTx/>
              <a:latin typeface="Times New Roman" panose="02020603050405020304" pitchFamily="18" charset="0"/>
              <a:ea typeface="Arial Unicode MS" pitchFamily="34" charset="-122"/>
              <a:cs typeface="+mn-cs"/>
            </a:endParaRPr>
          </a:p>
          <a:p>
            <a:pPr marL="457200" marR="0" lvl="1" indent="0" algn="just" defTabSz="914400" rtl="0" eaLnBrk="1" fontAlgn="base" latinLnBrk="0" hangingPunct="1">
              <a:lnSpc>
                <a:spcPct val="150000"/>
              </a:lnSpc>
              <a:spcBef>
                <a:spcPct val="0"/>
              </a:spcBef>
              <a:spcAft>
                <a:spcPct val="0"/>
              </a:spcAft>
              <a:buClrTx/>
              <a:buSzTx/>
              <a:buFont typeface="Wingdings" panose="05000000000000000000" pitchFamily="2" charset="2"/>
              <a:buNone/>
              <a:defRPr/>
            </a:pPr>
            <a:r>
              <a:rPr kumimoji="1" lang="en-US" altLang="zh-CN" sz="1800" b="1" i="0" u="none" strike="noStrike" kern="1200" cap="none" spc="0" normalizeH="0" baseline="0" noProof="0" dirty="0">
                <a:ln>
                  <a:noFill/>
                </a:ln>
                <a:solidFill>
                  <a:schemeClr val="tx1"/>
                </a:solidFill>
                <a:effectLst/>
                <a:uLnTx/>
                <a:uFillTx/>
                <a:latin typeface="Times New Roman" panose="02020603050405020304" pitchFamily="18" charset="0"/>
                <a:ea typeface="Arial Unicode MS" pitchFamily="34" charset="-122"/>
                <a:cs typeface="+mn-cs"/>
              </a:rPr>
              <a:t>          </a:t>
            </a:r>
            <a:r>
              <a:rPr kumimoji="1" lang="en-US" altLang="zh-CN" sz="1800" b="1" i="0" u="none" strike="noStrike" kern="1200" cap="none" spc="0" normalizeH="0" baseline="0" noProof="0" dirty="0" err="1">
                <a:ln>
                  <a:noFill/>
                </a:ln>
                <a:solidFill>
                  <a:schemeClr val="tx1"/>
                </a:solidFill>
                <a:effectLst/>
                <a:uLnTx/>
                <a:uFillTx/>
                <a:latin typeface="Times New Roman" panose="02020603050405020304" pitchFamily="18" charset="0"/>
                <a:ea typeface="Arial Unicode MS" pitchFamily="34" charset="-122"/>
                <a:cs typeface="+mn-cs"/>
              </a:rPr>
              <a:t>tr</a:t>
            </a:r>
            <a:r>
              <a:rPr kumimoji="1" lang="en-US" altLang="zh-CN" sz="1800" b="1" i="0" u="none" strike="noStrike" kern="1200" cap="none" spc="0" normalizeH="0" baseline="0" noProof="0" dirty="0">
                <a:ln>
                  <a:noFill/>
                </a:ln>
                <a:solidFill>
                  <a:schemeClr val="tx1"/>
                </a:solidFill>
                <a:effectLst/>
                <a:uLnTx/>
                <a:uFillTx/>
                <a:latin typeface="Times New Roman" panose="02020603050405020304" pitchFamily="18" charset="0"/>
                <a:ea typeface="Arial Unicode MS" pitchFamily="34" charset="-122"/>
                <a:cs typeface="+mn-cs"/>
              </a:rPr>
              <a:t> := max(</a:t>
            </a:r>
            <a:r>
              <a:rPr kumimoji="1" lang="en-US" altLang="zh-CN" sz="1800" b="1" i="0" u="none" strike="noStrike" kern="1200" cap="none" spc="0" normalizeH="0" baseline="0" noProof="0" dirty="0" err="1">
                <a:ln>
                  <a:noFill/>
                </a:ln>
                <a:solidFill>
                  <a:schemeClr val="tx1"/>
                </a:solidFill>
                <a:effectLst/>
                <a:uLnTx/>
                <a:uFillTx/>
                <a:latin typeface="Times New Roman" panose="02020603050405020304" pitchFamily="18" charset="0"/>
                <a:ea typeface="Arial Unicode MS" pitchFamily="34" charset="-122"/>
                <a:cs typeface="+mn-cs"/>
              </a:rPr>
              <a:t>ts</a:t>
            </a:r>
            <a:r>
              <a:rPr kumimoji="1" lang="en-US" altLang="zh-CN" sz="1800" b="1" i="0" u="none" strike="noStrike" kern="1200" cap="none" spc="0" normalizeH="0" baseline="0" noProof="0" dirty="0">
                <a:ln>
                  <a:noFill/>
                </a:ln>
                <a:solidFill>
                  <a:schemeClr val="tx1"/>
                </a:solidFill>
                <a:effectLst/>
                <a:uLnTx/>
                <a:uFillTx/>
                <a:latin typeface="Times New Roman" panose="02020603050405020304" pitchFamily="18" charset="0"/>
                <a:ea typeface="Arial Unicode MS" pitchFamily="34" charset="-122"/>
                <a:cs typeface="+mn-cs"/>
              </a:rPr>
              <a:t>(T), </a:t>
            </a:r>
            <a:r>
              <a:rPr kumimoji="1" lang="en-US" altLang="zh-CN" sz="1800" b="1" i="0" u="none" strike="noStrike" kern="1200" cap="none" spc="0" normalizeH="0" baseline="0" noProof="0" dirty="0" err="1">
                <a:ln>
                  <a:noFill/>
                </a:ln>
                <a:solidFill>
                  <a:schemeClr val="tx1"/>
                </a:solidFill>
                <a:effectLst/>
                <a:uLnTx/>
                <a:uFillTx/>
                <a:latin typeface="Times New Roman" panose="02020603050405020304" pitchFamily="18" charset="0"/>
                <a:ea typeface="Arial Unicode MS" pitchFamily="34" charset="-122"/>
                <a:cs typeface="+mn-cs"/>
              </a:rPr>
              <a:t>tr</a:t>
            </a:r>
            <a:r>
              <a:rPr kumimoji="1" lang="en-US" altLang="zh-CN" sz="1800" b="1" i="0" u="none" strike="noStrike" kern="1200" cap="none" spc="0" normalizeH="0" baseline="0" noProof="0" dirty="0">
                <a:ln>
                  <a:noFill/>
                </a:ln>
                <a:solidFill>
                  <a:schemeClr val="tx1"/>
                </a:solidFill>
                <a:effectLst/>
                <a:uLnTx/>
                <a:uFillTx/>
                <a:latin typeface="Times New Roman" panose="02020603050405020304" pitchFamily="18" charset="0"/>
                <a:ea typeface="Arial Unicode MS" pitchFamily="34" charset="-122"/>
                <a:cs typeface="+mn-cs"/>
              </a:rPr>
              <a:t>);</a:t>
            </a:r>
            <a:endParaRPr kumimoji="1" lang="en-US" altLang="zh-CN" sz="1800" b="1" i="0" u="none" strike="noStrike" kern="1200" cap="none" spc="0" normalizeH="0" baseline="0" noProof="0" dirty="0">
              <a:ln>
                <a:noFill/>
              </a:ln>
              <a:solidFill>
                <a:schemeClr val="tx1"/>
              </a:solidFill>
              <a:effectLst/>
              <a:uLnTx/>
              <a:uFillTx/>
              <a:latin typeface="Times New Roman" panose="02020603050405020304" pitchFamily="18" charset="0"/>
              <a:ea typeface="Arial Unicode MS" pitchFamily="34" charset="-122"/>
              <a:cs typeface="+mn-cs"/>
            </a:endParaRPr>
          </a:p>
          <a:p>
            <a:pPr marL="0" marR="0" lvl="0" indent="0" algn="l" defTabSz="914400" rtl="0" eaLnBrk="1" fontAlgn="base" latinLnBrk="0" hangingPunct="1">
              <a:lnSpc>
                <a:spcPct val="150000"/>
              </a:lnSpc>
              <a:spcBef>
                <a:spcPct val="0"/>
              </a:spcBef>
              <a:spcAft>
                <a:spcPct val="0"/>
              </a:spcAft>
              <a:buClrTx/>
              <a:buSzTx/>
              <a:buFontTx/>
              <a:buNone/>
              <a:defRPr/>
            </a:pPr>
            <a:r>
              <a:rPr kumimoji="1" lang="en-US" altLang="zh-CN" sz="1800" b="1" i="0" u="none" strike="noStrike" kern="1200" cap="none" spc="0" normalizeH="0" baseline="0" noProof="0" dirty="0">
                <a:ln>
                  <a:noFill/>
                </a:ln>
                <a:solidFill>
                  <a:schemeClr val="tx1"/>
                </a:solidFill>
                <a:effectLst/>
                <a:uLnTx/>
                <a:uFillTx/>
                <a:latin typeface="Times New Roman" panose="02020603050405020304" pitchFamily="18" charset="0"/>
                <a:ea typeface="Arial Unicode MS" pitchFamily="34" charset="-122"/>
                <a:cs typeface="+mn-cs"/>
              </a:rPr>
              <a:t>        else  /*</a:t>
            </a:r>
            <a:r>
              <a:rPr kumimoji="1"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有比</a:t>
            </a:r>
            <a:r>
              <a:rPr kumimoji="1"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T</a:t>
            </a:r>
            <a:r>
              <a:rPr kumimoji="1"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年轻的事务写</a:t>
            </a:r>
            <a:r>
              <a:rPr kumimoji="1"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D</a:t>
            </a:r>
            <a:r>
              <a:rPr kumimoji="1"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，违反时间标记协议，</a:t>
            </a:r>
            <a:r>
              <a:rPr kumimoji="1"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T</a:t>
            </a:r>
            <a:r>
              <a:rPr kumimoji="1"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卷回</a:t>
            </a:r>
            <a:r>
              <a:rPr kumimoji="1" lang="zh-CN" altLang="en-US" sz="1800" b="1" i="0" u="none" strike="noStrike" kern="1200" cap="none" spc="0" normalizeH="0" baseline="0" noProof="0" dirty="0">
                <a:ln>
                  <a:noFill/>
                </a:ln>
                <a:solidFill>
                  <a:schemeClr val="tx1"/>
                </a:solidFill>
                <a:effectLst/>
                <a:uLnTx/>
                <a:uFillTx/>
                <a:latin typeface="Times New Roman" panose="02020603050405020304" pitchFamily="18" charset="0"/>
                <a:ea typeface="Arial Unicode MS" pitchFamily="34" charset="-122"/>
                <a:cs typeface="+mn-cs"/>
              </a:rPr>
              <a:t>*</a:t>
            </a:r>
            <a:r>
              <a:rPr kumimoji="1" lang="en-US" altLang="zh-CN" sz="1800" b="1" i="0" u="none" strike="noStrike" kern="1200" cap="none" spc="0" normalizeH="0" baseline="0" noProof="0" dirty="0">
                <a:ln>
                  <a:noFill/>
                </a:ln>
                <a:solidFill>
                  <a:schemeClr val="tx1"/>
                </a:solidFill>
                <a:effectLst/>
                <a:uLnTx/>
                <a:uFillTx/>
                <a:latin typeface="Times New Roman" panose="02020603050405020304" pitchFamily="18" charset="0"/>
                <a:ea typeface="Arial Unicode MS" pitchFamily="34" charset="-122"/>
                <a:cs typeface="+mn-cs"/>
              </a:rPr>
              <a:t>/</a:t>
            </a:r>
            <a:endParaRPr kumimoji="1" lang="en-US" altLang="zh-CN" sz="1800" b="1" i="0" u="none" strike="noStrike" kern="1200" cap="none" spc="0" normalizeH="0" baseline="0" noProof="0" dirty="0">
              <a:ln>
                <a:noFill/>
              </a:ln>
              <a:solidFill>
                <a:schemeClr val="tx1"/>
              </a:solidFill>
              <a:effectLst/>
              <a:uLnTx/>
              <a:uFillTx/>
              <a:latin typeface="Times New Roman" panose="02020603050405020304" pitchFamily="18" charset="0"/>
              <a:ea typeface="Arial Unicode MS" pitchFamily="34" charset="-122"/>
              <a:cs typeface="+mn-cs"/>
            </a:endParaRPr>
          </a:p>
          <a:p>
            <a:pPr marL="0" marR="0" lvl="0" indent="0" algn="l" defTabSz="914400" rtl="0" eaLnBrk="1" fontAlgn="base" latinLnBrk="0" hangingPunct="1">
              <a:lnSpc>
                <a:spcPct val="150000"/>
              </a:lnSpc>
              <a:spcBef>
                <a:spcPct val="0"/>
              </a:spcBef>
              <a:spcAft>
                <a:spcPct val="0"/>
              </a:spcAft>
              <a:buClrTx/>
              <a:buSzTx/>
              <a:buFontTx/>
              <a:buNone/>
              <a:defRPr/>
            </a:pPr>
            <a:r>
              <a:rPr kumimoji="1" lang="en-US" altLang="zh-CN" sz="1800" b="1" i="0" u="none" strike="noStrike" kern="1200" cap="none" spc="0" normalizeH="0" baseline="0" noProof="0" dirty="0">
                <a:ln>
                  <a:noFill/>
                </a:ln>
                <a:solidFill>
                  <a:schemeClr val="tx1"/>
                </a:solidFill>
                <a:effectLst/>
                <a:uLnTx/>
                <a:uFillTx/>
                <a:latin typeface="Times New Roman" panose="02020603050405020304" pitchFamily="18" charset="0"/>
                <a:ea typeface="Arial Unicode MS" pitchFamily="34" charset="-122"/>
                <a:cs typeface="+mn-cs"/>
              </a:rPr>
              <a:t>    </a:t>
            </a:r>
            <a:r>
              <a:rPr kumimoji="1" lang="zh-CN" altLang="en-US" sz="1800" b="1" i="0" u="none" strike="noStrike" kern="1200" cap="none" spc="0" normalizeH="0" baseline="0" noProof="0" dirty="0">
                <a:ln>
                  <a:noFill/>
                </a:ln>
                <a:solidFill>
                  <a:schemeClr val="tx1"/>
                </a:solidFill>
                <a:effectLst/>
                <a:uLnTx/>
                <a:uFillTx/>
                <a:latin typeface="Times New Roman" panose="02020603050405020304" pitchFamily="18" charset="0"/>
                <a:ea typeface="Arial Unicode MS" pitchFamily="34" charset="-122"/>
                <a:cs typeface="+mn-cs"/>
              </a:rPr>
              <a:t>         </a:t>
            </a:r>
            <a:r>
              <a:rPr kumimoji="1" lang="en-US" altLang="zh-CN" sz="1800" b="1" i="0" u="none" strike="noStrike" kern="1200" cap="none" spc="0" normalizeH="0" baseline="0" noProof="0" dirty="0">
                <a:ln>
                  <a:noFill/>
                </a:ln>
                <a:solidFill>
                  <a:schemeClr val="tx1"/>
                </a:solidFill>
                <a:effectLst/>
                <a:uLnTx/>
                <a:uFillTx/>
                <a:latin typeface="Times New Roman" panose="02020603050405020304" pitchFamily="18" charset="0"/>
                <a:ea typeface="Arial Unicode MS" pitchFamily="34" charset="-122"/>
                <a:cs typeface="+mn-cs"/>
              </a:rPr>
              <a:t> rollback T and restart it with a new </a:t>
            </a:r>
            <a:r>
              <a:rPr kumimoji="1" lang="en-US" altLang="zh-CN" sz="1800" b="1" i="0" u="none" strike="noStrike" kern="1200" cap="none" spc="0" normalizeH="0" baseline="0" noProof="0" dirty="0" err="1">
                <a:ln>
                  <a:noFill/>
                </a:ln>
                <a:solidFill>
                  <a:schemeClr val="tx1"/>
                </a:solidFill>
                <a:effectLst/>
                <a:uLnTx/>
                <a:uFillTx/>
                <a:latin typeface="Times New Roman" panose="02020603050405020304" pitchFamily="18" charset="0"/>
                <a:ea typeface="Arial Unicode MS" pitchFamily="34" charset="-122"/>
                <a:cs typeface="+mn-cs"/>
              </a:rPr>
              <a:t>ts</a:t>
            </a:r>
            <a:r>
              <a:rPr kumimoji="1" lang="en-US" altLang="zh-CN" sz="1800" b="1" i="0" u="none" strike="noStrike" kern="1200" cap="none" spc="0" normalizeH="0" baseline="0" noProof="0" dirty="0">
                <a:ln>
                  <a:noFill/>
                </a:ln>
                <a:solidFill>
                  <a:schemeClr val="tx1"/>
                </a:solidFill>
                <a:effectLst/>
                <a:uLnTx/>
                <a:uFillTx/>
                <a:latin typeface="Times New Roman" panose="02020603050405020304" pitchFamily="18" charset="0"/>
                <a:ea typeface="Arial Unicode MS" pitchFamily="34" charset="-122"/>
                <a:cs typeface="+mn-cs"/>
              </a:rPr>
              <a:t>(T);</a:t>
            </a:r>
            <a:endParaRPr kumimoji="1" lang="en-US" altLang="zh-CN" sz="1800" b="1" i="0" u="none" strike="noStrike" kern="1200" cap="none" spc="0" normalizeH="0" baseline="0" noProof="0" dirty="0">
              <a:ln>
                <a:noFill/>
              </a:ln>
              <a:solidFill>
                <a:schemeClr val="tx1"/>
              </a:solidFill>
              <a:effectLst/>
              <a:uLnTx/>
              <a:uFillTx/>
              <a:latin typeface="Times New Roman" panose="02020603050405020304" pitchFamily="18" charset="0"/>
              <a:ea typeface="Arial Unicode MS" pitchFamily="34" charset="-122"/>
              <a:cs typeface="+mn-cs"/>
            </a:endParaRPr>
          </a:p>
        </p:txBody>
      </p:sp>
      <p:sp>
        <p:nvSpPr>
          <p:cNvPr id="98307" name="Rectangle 4"/>
          <p:cNvSpPr/>
          <p:nvPr/>
        </p:nvSpPr>
        <p:spPr>
          <a:xfrm>
            <a:off x="0" y="0"/>
            <a:ext cx="9144000" cy="627063"/>
          </a:xfrm>
          <a:prstGeom prst="rect">
            <a:avLst/>
          </a:prstGeom>
          <a:noFill/>
          <a:ln w="9525">
            <a:noFill/>
          </a:ln>
        </p:spPr>
        <p:txBody>
          <a:bodyPr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zh-CN" altLang="en-US" sz="4000" dirty="0">
                <a:solidFill>
                  <a:srgbClr val="FF0000"/>
                </a:solidFill>
                <a:ea typeface="宋体" panose="02010600030101010101" pitchFamily="2" charset="-122"/>
              </a:rPr>
              <a:t>时间戳（</a:t>
            </a:r>
            <a:r>
              <a:rPr lang="en-US" altLang="zh-CN" sz="4000" dirty="0">
                <a:solidFill>
                  <a:srgbClr val="FF0000"/>
                </a:solidFill>
                <a:ea typeface="宋体" panose="02010600030101010101" pitchFamily="2" charset="-122"/>
              </a:rPr>
              <a:t>cont’d</a:t>
            </a:r>
            <a:r>
              <a:rPr lang="zh-CN" altLang="en-US" sz="4000" dirty="0">
                <a:solidFill>
                  <a:srgbClr val="FF0000"/>
                </a:solidFill>
                <a:ea typeface="宋体" panose="02010600030101010101" pitchFamily="2" charset="-122"/>
              </a:rPr>
              <a:t>）</a:t>
            </a:r>
            <a:endParaRPr lang="zh-CN" altLang="en-US" sz="4000" dirty="0">
              <a:solidFill>
                <a:srgbClr val="FF0000"/>
              </a:solidFill>
              <a:ea typeface="宋体" panose="02010600030101010101" pitchFamily="2" charset="-122"/>
            </a:endParaRPr>
          </a:p>
        </p:txBody>
      </p:sp>
      <p:sp>
        <p:nvSpPr>
          <p:cNvPr id="98308" name="Rectangle 2"/>
          <p:cNvSpPr/>
          <p:nvPr/>
        </p:nvSpPr>
        <p:spPr>
          <a:xfrm>
            <a:off x="417513" y="4092575"/>
            <a:ext cx="7894637" cy="258445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lnSpc>
                <a:spcPct val="150000"/>
              </a:lnSpc>
              <a:spcBef>
                <a:spcPct val="0"/>
              </a:spcBef>
              <a:buClrTx/>
              <a:buFont typeface="Wingdings" panose="05000000000000000000" pitchFamily="2" charset="2"/>
              <a:buChar char="Ø"/>
            </a:pPr>
            <a:r>
              <a:rPr lang="zh-CN" altLang="en-US" sz="1800" b="1" dirty="0">
                <a:solidFill>
                  <a:srgbClr val="FF0000"/>
                </a:solidFill>
                <a:ea typeface="宋体" panose="02010600030101010101" pitchFamily="2" charset="-122"/>
              </a:rPr>
              <a:t>事务</a:t>
            </a:r>
            <a:r>
              <a:rPr lang="en-US" altLang="zh-CN" sz="1800" b="1" dirty="0">
                <a:solidFill>
                  <a:srgbClr val="FF0000"/>
                </a:solidFill>
                <a:ea typeface="Arial Unicode MS" pitchFamily="34" charset="-122"/>
              </a:rPr>
              <a:t>T</a:t>
            </a:r>
            <a:r>
              <a:rPr lang="zh-CN" altLang="en-US" sz="1800" b="1" dirty="0">
                <a:solidFill>
                  <a:srgbClr val="FF0000"/>
                </a:solidFill>
                <a:ea typeface="宋体" panose="02010600030101010101" pitchFamily="2" charset="-122"/>
              </a:rPr>
              <a:t>写数据</a:t>
            </a:r>
            <a:r>
              <a:rPr lang="en-US" altLang="zh-CN" sz="1800" b="1" dirty="0">
                <a:solidFill>
                  <a:srgbClr val="FF0000"/>
                </a:solidFill>
                <a:ea typeface="Arial Unicode MS" pitchFamily="34" charset="-122"/>
              </a:rPr>
              <a:t>write(D)  </a:t>
            </a:r>
            <a:r>
              <a:rPr lang="en-US" altLang="zh-CN" sz="1800" b="1" dirty="0">
                <a:ea typeface="Arial Unicode MS" pitchFamily="34" charset="-122"/>
              </a:rPr>
              <a:t>/* </a:t>
            </a:r>
            <a:r>
              <a:rPr lang="zh-CN" altLang="en-US" sz="1800" b="1" dirty="0">
                <a:ea typeface="宋体" panose="02010600030101010101" pitchFamily="2" charset="-122"/>
              </a:rPr>
              <a:t>本事务在其它事务对该数据读</a:t>
            </a:r>
            <a:r>
              <a:rPr lang="en-US" altLang="zh-CN" sz="1800" b="1" dirty="0">
                <a:ea typeface="宋体" panose="02010600030101010101" pitchFamily="2" charset="-122"/>
              </a:rPr>
              <a:t>/</a:t>
            </a:r>
            <a:r>
              <a:rPr lang="zh-CN" altLang="en-US" sz="1800" b="1" dirty="0">
                <a:ea typeface="宋体" panose="02010600030101010101" pitchFamily="2" charset="-122"/>
              </a:rPr>
              <a:t>写之后发生  </a:t>
            </a:r>
            <a:r>
              <a:rPr lang="zh-CN" altLang="en-US" sz="1800" b="1" dirty="0">
                <a:ea typeface="Arial Unicode MS" pitchFamily="34" charset="-122"/>
              </a:rPr>
              <a:t>*</a:t>
            </a:r>
            <a:r>
              <a:rPr lang="en-US" altLang="zh-CN" sz="1800" b="1" dirty="0">
                <a:ea typeface="Arial Unicode MS" pitchFamily="34" charset="-122"/>
              </a:rPr>
              <a:t>/</a:t>
            </a:r>
            <a:endParaRPr lang="en-US" altLang="zh-CN" sz="1800" b="1" dirty="0">
              <a:ea typeface="Arial Unicode MS" pitchFamily="34" charset="-122"/>
            </a:endParaRPr>
          </a:p>
          <a:p>
            <a:pPr marL="0" lvl="0" indent="0" algn="l" eaLnBrk="1" hangingPunct="1">
              <a:lnSpc>
                <a:spcPct val="150000"/>
              </a:lnSpc>
              <a:spcBef>
                <a:spcPct val="0"/>
              </a:spcBef>
              <a:buClrTx/>
              <a:buNone/>
            </a:pPr>
            <a:r>
              <a:rPr lang="en-US" altLang="zh-CN" sz="1800" b="1" dirty="0">
                <a:ea typeface="Arial Unicode MS" pitchFamily="34" charset="-122"/>
              </a:rPr>
              <a:t>        if ts(T) </a:t>
            </a:r>
            <a:r>
              <a:rPr lang="en-US" altLang="zh-CN" sz="1800" b="1" dirty="0">
                <a:ea typeface="宋体" panose="02010600030101010101" pitchFamily="2" charset="-122"/>
              </a:rPr>
              <a:t>≥ </a:t>
            </a:r>
            <a:r>
              <a:rPr lang="en-US" altLang="zh-CN" sz="1800" b="1" dirty="0">
                <a:ea typeface="Arial Unicode MS" pitchFamily="34" charset="-122"/>
              </a:rPr>
              <a:t>tr AND ts(T) </a:t>
            </a:r>
            <a:r>
              <a:rPr lang="en-US" altLang="zh-CN" sz="1800" b="1" dirty="0">
                <a:ea typeface="宋体" panose="02010600030101010101" pitchFamily="2" charset="-122"/>
              </a:rPr>
              <a:t>≥ </a:t>
            </a:r>
            <a:r>
              <a:rPr lang="en-US" altLang="zh-CN" sz="1800" b="1" dirty="0">
                <a:ea typeface="Arial Unicode MS" pitchFamily="34" charset="-122"/>
              </a:rPr>
              <a:t>tw</a:t>
            </a:r>
            <a:endParaRPr lang="en-US" altLang="zh-CN" sz="1800" b="1" dirty="0">
              <a:ea typeface="Arial Unicode MS" pitchFamily="34" charset="-122"/>
            </a:endParaRPr>
          </a:p>
          <a:p>
            <a:pPr marL="0" lvl="0" indent="0" algn="l" eaLnBrk="1" hangingPunct="1">
              <a:lnSpc>
                <a:spcPct val="150000"/>
              </a:lnSpc>
              <a:spcBef>
                <a:spcPct val="0"/>
              </a:spcBef>
              <a:buClrTx/>
              <a:buNone/>
            </a:pPr>
            <a:r>
              <a:rPr lang="en-US" altLang="zh-CN" sz="1800" b="1" dirty="0">
                <a:ea typeface="Arial Unicode MS" pitchFamily="34" charset="-122"/>
              </a:rPr>
              <a:t>        then   /*</a:t>
            </a:r>
            <a:r>
              <a:rPr lang="zh-CN" altLang="en-US" sz="1800" b="1" dirty="0">
                <a:ea typeface="宋体" panose="02010600030101010101" pitchFamily="2" charset="-122"/>
              </a:rPr>
              <a:t>符合时间标记协议</a:t>
            </a:r>
            <a:r>
              <a:rPr lang="zh-CN" altLang="en-US" sz="1800" b="1" dirty="0">
                <a:ea typeface="Arial Unicode MS" pitchFamily="34" charset="-122"/>
              </a:rPr>
              <a:t>*</a:t>
            </a:r>
            <a:r>
              <a:rPr lang="en-US" altLang="zh-CN" sz="1800" b="1" dirty="0">
                <a:ea typeface="Arial Unicode MS" pitchFamily="34" charset="-122"/>
              </a:rPr>
              <a:t>/</a:t>
            </a:r>
            <a:endParaRPr lang="en-US" altLang="zh-CN" sz="1800" b="1" dirty="0">
              <a:ea typeface="Arial Unicode MS" pitchFamily="34" charset="-122"/>
            </a:endParaRPr>
          </a:p>
          <a:p>
            <a:pPr marL="0" lvl="0" indent="0" algn="l" eaLnBrk="1" hangingPunct="1">
              <a:lnSpc>
                <a:spcPct val="150000"/>
              </a:lnSpc>
              <a:spcBef>
                <a:spcPct val="0"/>
              </a:spcBef>
              <a:buClrTx/>
              <a:buNone/>
            </a:pPr>
            <a:r>
              <a:rPr lang="en-US" altLang="zh-CN" sz="1800" b="1" dirty="0">
                <a:ea typeface="Arial Unicode MS" pitchFamily="34" charset="-122"/>
              </a:rPr>
              <a:t>               { write(D);  tw := ts(T); }</a:t>
            </a:r>
            <a:endParaRPr lang="en-US" altLang="zh-CN" sz="1800" b="1" dirty="0">
              <a:ea typeface="Arial Unicode MS" pitchFamily="34" charset="-122"/>
            </a:endParaRPr>
          </a:p>
          <a:p>
            <a:pPr marL="0" lvl="0" indent="0" algn="l" eaLnBrk="1" hangingPunct="1">
              <a:lnSpc>
                <a:spcPct val="150000"/>
              </a:lnSpc>
              <a:spcBef>
                <a:spcPct val="0"/>
              </a:spcBef>
              <a:buClrTx/>
              <a:buNone/>
            </a:pPr>
            <a:r>
              <a:rPr lang="en-US" altLang="zh-CN" sz="1800" b="1" dirty="0">
                <a:ea typeface="Arial Unicode MS" pitchFamily="34" charset="-122"/>
              </a:rPr>
              <a:t>else   /*</a:t>
            </a:r>
            <a:r>
              <a:rPr lang="zh-CN" altLang="en-US" sz="1800" b="1" dirty="0">
                <a:ea typeface="宋体" panose="02010600030101010101" pitchFamily="2" charset="-122"/>
              </a:rPr>
              <a:t>违反时间标记协议，</a:t>
            </a:r>
            <a:r>
              <a:rPr lang="en-US" altLang="zh-CN" sz="1800" b="1" dirty="0">
                <a:ea typeface="Arial Unicode MS" pitchFamily="34" charset="-122"/>
              </a:rPr>
              <a:t>T</a:t>
            </a:r>
            <a:r>
              <a:rPr lang="zh-CN" altLang="en-US" sz="1800" b="1" dirty="0">
                <a:ea typeface="宋体" panose="02010600030101010101" pitchFamily="2" charset="-122"/>
              </a:rPr>
              <a:t>应卷回</a:t>
            </a:r>
            <a:r>
              <a:rPr lang="zh-CN" altLang="en-US" sz="1800" b="1" dirty="0">
                <a:ea typeface="Arial Unicode MS" pitchFamily="34" charset="-122"/>
              </a:rPr>
              <a:t>*</a:t>
            </a:r>
            <a:r>
              <a:rPr lang="en-US" altLang="zh-CN" sz="1800" b="1" dirty="0">
                <a:ea typeface="Arial Unicode MS" pitchFamily="34" charset="-122"/>
              </a:rPr>
              <a:t>/</a:t>
            </a:r>
            <a:endParaRPr lang="en-US" altLang="zh-CN" sz="1800" b="1" dirty="0">
              <a:ea typeface="Arial Unicode MS" pitchFamily="34" charset="-122"/>
            </a:endParaRPr>
          </a:p>
          <a:p>
            <a:pPr marL="0" lvl="0" indent="0" algn="just" eaLnBrk="1" hangingPunct="1">
              <a:lnSpc>
                <a:spcPct val="150000"/>
              </a:lnSpc>
              <a:spcBef>
                <a:spcPct val="0"/>
              </a:spcBef>
              <a:buClrTx/>
              <a:buNone/>
            </a:pPr>
            <a:r>
              <a:rPr lang="en-US" altLang="zh-CN" sz="1800" b="1" dirty="0">
                <a:ea typeface="Arial Unicode MS" pitchFamily="34" charset="-122"/>
              </a:rPr>
              <a:t>     </a:t>
            </a:r>
            <a:r>
              <a:rPr lang="zh-CN" altLang="en-US" sz="1800" b="1" dirty="0">
                <a:ea typeface="Arial Unicode MS" pitchFamily="34" charset="-122"/>
              </a:rPr>
              <a:t>          </a:t>
            </a:r>
            <a:r>
              <a:rPr lang="en-US" altLang="zh-CN" sz="1800" b="1" dirty="0">
                <a:ea typeface="Arial Unicode MS" pitchFamily="34" charset="-122"/>
              </a:rPr>
              <a:t>rollback T and restart it with a new ts(T);</a:t>
            </a:r>
            <a:endParaRPr lang="en-US" altLang="zh-CN" sz="1800" b="1" dirty="0">
              <a:ea typeface="Arial Unicode MS" pitchFamily="34" charset="-122"/>
            </a:endParaRPr>
          </a:p>
        </p:txBody>
      </p:sp>
      <p:sp>
        <p:nvSpPr>
          <p:cNvPr id="98309" name="矩形 1"/>
          <p:cNvSpPr/>
          <p:nvPr/>
        </p:nvSpPr>
        <p:spPr>
          <a:xfrm>
            <a:off x="358775" y="627063"/>
            <a:ext cx="8469313" cy="120015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lnSpc>
                <a:spcPct val="200000"/>
              </a:lnSpc>
              <a:spcBef>
                <a:spcPct val="0"/>
              </a:spcBef>
              <a:buClrTx/>
              <a:buFont typeface="Wingdings" panose="05000000000000000000" pitchFamily="2" charset="2"/>
              <a:buChar char="Ø"/>
            </a:pPr>
            <a:r>
              <a:rPr lang="zh-CN" altLang="en-US" sz="1800" b="1" dirty="0">
                <a:ea typeface="宋体" panose="02010600030101010101" pitchFamily="2" charset="-122"/>
              </a:rPr>
              <a:t>当事务读写数据时，它所看到其它事务对该数据的读写时间戳应该</a:t>
            </a:r>
            <a:r>
              <a:rPr lang="zh-CN" altLang="en-US" sz="1800" b="1" dirty="0">
                <a:solidFill>
                  <a:srgbClr val="FF0000"/>
                </a:solidFill>
                <a:ea typeface="宋体" panose="02010600030101010101" pitchFamily="2" charset="-122"/>
              </a:rPr>
              <a:t>小于（先于）</a:t>
            </a:r>
            <a:r>
              <a:rPr lang="zh-CN" altLang="en-US" sz="1800" b="1" dirty="0">
                <a:ea typeface="宋体" panose="02010600030101010101" pitchFamily="2" charset="-122"/>
              </a:rPr>
              <a:t>本事务的时间戳，表明顺序正确 </a:t>
            </a:r>
            <a:r>
              <a:rPr lang="en-US" altLang="zh-CN" sz="1800" b="1" dirty="0">
                <a:solidFill>
                  <a:srgbClr val="FF0000"/>
                </a:solidFill>
                <a:ea typeface="宋体" panose="02010600030101010101" pitchFamily="2" charset="-122"/>
              </a:rPr>
              <a:t>(</a:t>
            </a:r>
            <a:r>
              <a:rPr lang="zh-CN" altLang="en-US" sz="1800" b="1" dirty="0">
                <a:solidFill>
                  <a:srgbClr val="FF0000"/>
                </a:solidFill>
                <a:ea typeface="宋体" panose="02010600030101010101" pitchFamily="2" charset="-122"/>
              </a:rPr>
              <a:t>本事务在其他事务之后发生</a:t>
            </a:r>
            <a:r>
              <a:rPr lang="en-US" altLang="zh-CN" sz="1800" b="1" dirty="0">
                <a:solidFill>
                  <a:srgbClr val="FF0000"/>
                </a:solidFill>
                <a:ea typeface="宋体" panose="02010600030101010101" pitchFamily="2" charset="-122"/>
              </a:rPr>
              <a:t>)</a:t>
            </a:r>
            <a:r>
              <a:rPr lang="zh-CN" altLang="en-US" sz="1800" b="1" dirty="0">
                <a:ea typeface="宋体" panose="02010600030101010101" pitchFamily="2" charset="-122"/>
              </a:rPr>
              <a:t>。</a:t>
            </a:r>
            <a:endParaRPr lang="en-US" altLang="zh-CN" sz="1800" b="1" dirty="0">
              <a:ea typeface="Arial Unicode MS" pitchFamily="34"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Rectangle 2"/>
          <p:cNvSpPr>
            <a:spLocks noGrp="1"/>
          </p:cNvSpPr>
          <p:nvPr>
            <p:ph type="title"/>
          </p:nvPr>
        </p:nvSpPr>
        <p:spPr>
          <a:xfrm>
            <a:off x="0" y="0"/>
            <a:ext cx="6334125" cy="539750"/>
          </a:xfrm>
          <a:ln/>
        </p:spPr>
        <p:txBody>
          <a:bodyPr vert="horz" wrap="square" lIns="91440" tIns="45720" rIns="91440" bIns="45720" anchor="ctr" anchorCtr="0"/>
          <a:p>
            <a:pPr eaLnBrk="1" hangingPunct="1"/>
            <a:r>
              <a:rPr lang="zh-CN" altLang="en-US" dirty="0">
                <a:ea typeface="宋体" panose="02010600030101010101" pitchFamily="2" charset="-122"/>
              </a:rPr>
              <a:t>时间戳（</a:t>
            </a:r>
            <a:r>
              <a:rPr lang="en-US" altLang="zh-CN" dirty="0">
                <a:ea typeface="宋体" panose="02010600030101010101" pitchFamily="2" charset="-122"/>
              </a:rPr>
              <a:t>cont’d</a:t>
            </a:r>
            <a:r>
              <a:rPr lang="zh-CN" altLang="en-US" dirty="0">
                <a:ea typeface="宋体" panose="02010600030101010101" pitchFamily="2" charset="-122"/>
              </a:rPr>
              <a:t>）</a:t>
            </a:r>
            <a:endParaRPr lang="zh-CN" altLang="en-US" dirty="0">
              <a:ea typeface="宋体" panose="02010600030101010101" pitchFamily="2" charset="-122"/>
            </a:endParaRPr>
          </a:p>
        </p:txBody>
      </p:sp>
      <p:sp>
        <p:nvSpPr>
          <p:cNvPr id="100355" name="Rectangle 3"/>
          <p:cNvSpPr>
            <a:spLocks noGrp="1"/>
          </p:cNvSpPr>
          <p:nvPr>
            <p:ph type="body" sz="half" idx="1"/>
          </p:nvPr>
        </p:nvSpPr>
        <p:spPr>
          <a:xfrm>
            <a:off x="4403725" y="1154113"/>
            <a:ext cx="4324350" cy="1065212"/>
          </a:xfrm>
          <a:ln/>
        </p:spPr>
        <p:txBody>
          <a:bodyPr vert="horz" wrap="square" lIns="91440" tIns="45720" rIns="91440" bIns="45720" anchor="t" anchorCtr="0"/>
          <a:p>
            <a:pPr marL="0" indent="0" algn="l" eaLnBrk="1" hangingPunct="1">
              <a:lnSpc>
                <a:spcPct val="150000"/>
              </a:lnSpc>
              <a:buClr>
                <a:schemeClr val="accent2"/>
              </a:buClr>
              <a:buSzTx/>
              <a:buFontTx/>
              <a:buNone/>
            </a:pPr>
            <a:r>
              <a:rPr lang="zh-CN" altLang="en-US" sz="1800" b="1" dirty="0">
                <a:ea typeface="宋体" panose="02010600030101010101" pitchFamily="2" charset="-122"/>
              </a:rPr>
              <a:t>表明一个晚于当前事务开始的事务试图插入、访问文件并提交，意味着当前事务开始得过早了，需要中止。</a:t>
            </a:r>
            <a:endParaRPr lang="zh-CN" altLang="en-US" sz="1800" b="1" dirty="0">
              <a:ea typeface="宋体" panose="02010600030101010101" pitchFamily="2" charset="-122"/>
            </a:endParaRPr>
          </a:p>
        </p:txBody>
      </p:sp>
      <p:grpSp>
        <p:nvGrpSpPr>
          <p:cNvPr id="100356" name="组合 1"/>
          <p:cNvGrpSpPr/>
          <p:nvPr/>
        </p:nvGrpSpPr>
        <p:grpSpPr>
          <a:xfrm>
            <a:off x="296863" y="879475"/>
            <a:ext cx="3890962" cy="2009775"/>
            <a:chOff x="255588" y="879476"/>
            <a:chExt cx="3890962" cy="2009775"/>
          </a:xfrm>
        </p:grpSpPr>
        <p:graphicFrame>
          <p:nvGraphicFramePr>
            <p:cNvPr id="100361" name="Object 4"/>
            <p:cNvGraphicFramePr>
              <a:graphicFrameLocks noChangeAspect="1"/>
            </p:cNvGraphicFramePr>
            <p:nvPr/>
          </p:nvGraphicFramePr>
          <p:xfrm>
            <a:off x="255588" y="879476"/>
            <a:ext cx="3890962" cy="2009775"/>
          </p:xfrm>
          <a:graphic>
            <a:graphicData uri="http://schemas.openxmlformats.org/presentationml/2006/ole">
              <mc:AlternateContent xmlns:mc="http://schemas.openxmlformats.org/markup-compatibility/2006">
                <mc:Choice xmlns:v="urn:schemas-microsoft-com:vml" Requires="v">
                  <p:oleObj spid="_x0000_s3076" name="" r:id="rId1" imgW="3693160" imgH="2967355" progId="Visio.Drawing.11">
                    <p:embed/>
                  </p:oleObj>
                </mc:Choice>
                <mc:Fallback>
                  <p:oleObj name="" r:id="rId1" imgW="3693160" imgH="2967355" progId="Visio.Drawing.11">
                    <p:embed/>
                    <p:pic>
                      <p:nvPicPr>
                        <p:cNvPr id="0" name="图片 3075"/>
                        <p:cNvPicPr/>
                        <p:nvPr/>
                      </p:nvPicPr>
                      <p:blipFill>
                        <a:blip r:embed="rId2"/>
                        <a:stretch>
                          <a:fillRect/>
                        </a:stretch>
                      </p:blipFill>
                      <p:spPr>
                        <a:xfrm>
                          <a:off x="255588" y="879476"/>
                          <a:ext cx="3890962" cy="2009775"/>
                        </a:xfrm>
                        <a:prstGeom prst="rect">
                          <a:avLst/>
                        </a:prstGeom>
                        <a:noFill/>
                        <a:ln w="38100">
                          <a:noFill/>
                          <a:miter/>
                        </a:ln>
                      </p:spPr>
                    </p:pic>
                  </p:oleObj>
                </mc:Fallback>
              </mc:AlternateContent>
            </a:graphicData>
          </a:graphic>
        </p:graphicFrame>
        <p:sp>
          <p:nvSpPr>
            <p:cNvPr id="100362" name="Text Box 5"/>
            <p:cNvSpPr txBox="1"/>
            <p:nvPr/>
          </p:nvSpPr>
          <p:spPr>
            <a:xfrm>
              <a:off x="3045692" y="2504867"/>
              <a:ext cx="1023071" cy="338554"/>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0"/>
                </a:spcBef>
                <a:buClrTx/>
                <a:buNone/>
              </a:pPr>
              <a:r>
                <a:rPr lang="zh-CN" altLang="en-US" sz="1600" dirty="0">
                  <a:solidFill>
                    <a:srgbClr val="FF0000"/>
                  </a:solidFill>
                  <a:latin typeface="Arial" panose="020B0604020202020204" pitchFamily="34" charset="0"/>
                  <a:ea typeface="宋体" panose="02010600030101010101" pitchFamily="2" charset="-122"/>
                </a:rPr>
                <a:t>需要中止</a:t>
              </a:r>
              <a:endParaRPr lang="zh-CN" altLang="en-US" sz="1600" dirty="0">
                <a:solidFill>
                  <a:srgbClr val="FF0000"/>
                </a:solidFill>
                <a:latin typeface="Arial" panose="020B0604020202020204" pitchFamily="34" charset="0"/>
                <a:ea typeface="宋体" panose="02010600030101010101" pitchFamily="2" charset="-122"/>
              </a:endParaRPr>
            </a:p>
          </p:txBody>
        </p:sp>
      </p:grpSp>
      <p:sp>
        <p:nvSpPr>
          <p:cNvPr id="6" name="Rectangle 3"/>
          <p:cNvSpPr txBox="1">
            <a:spLocks noChangeArrowheads="1"/>
          </p:cNvSpPr>
          <p:nvPr/>
        </p:nvSpPr>
        <p:spPr bwMode="auto">
          <a:xfrm>
            <a:off x="365125" y="3128963"/>
            <a:ext cx="8362950" cy="3371850"/>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l" defTabSz="914400" rtl="0" eaLnBrk="1" fontAlgn="base" latinLnBrk="0" hangingPunct="1">
              <a:lnSpc>
                <a:spcPct val="150000"/>
              </a:lnSpc>
              <a:spcBef>
                <a:spcPct val="20000"/>
              </a:spcBef>
              <a:spcAft>
                <a:spcPct val="0"/>
              </a:spcAft>
              <a:buClr>
                <a:schemeClr val="accent2"/>
              </a:buClr>
              <a:buSzTx/>
              <a:buFontTx/>
              <a:buNone/>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举例，假设：</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三个事务</a:t>
            </a:r>
            <a:r>
              <a:rPr kumimoji="0" lang="el-GR" altLang="zh-CN" sz="1800" b="1" i="0" u="none" strike="noStrike" kern="0" cap="none" spc="0" normalizeH="0" baseline="0" noProof="0" dirty="0">
                <a:ln>
                  <a:noFill/>
                </a:ln>
                <a:solidFill>
                  <a:schemeClr val="tx1"/>
                </a:solidFill>
                <a:effectLst/>
                <a:uLnTx/>
                <a:uFillTx/>
                <a:latin typeface="+mn-lt"/>
                <a:ea typeface="+mn-ea"/>
                <a:cs typeface="+mn-cs"/>
              </a:rPr>
              <a:t>α</a:t>
            </a:r>
            <a:r>
              <a:rPr kumimoji="0" lang="zh-CN" altLang="el-GR"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l-GR" altLang="zh-CN" sz="1800" b="1" i="0" u="none" strike="noStrike" kern="0" cap="none" spc="0" normalizeH="0" baseline="0" noProof="0" dirty="0">
                <a:ln>
                  <a:noFill/>
                </a:ln>
                <a:solidFill>
                  <a:schemeClr val="tx1"/>
                </a:solidFill>
                <a:effectLst/>
                <a:uLnTx/>
                <a:uFillTx/>
                <a:latin typeface="+mn-lt"/>
                <a:ea typeface="+mn-ea"/>
                <a:cs typeface="+mn-cs"/>
              </a:rPr>
              <a:t>β</a:t>
            </a:r>
            <a:r>
              <a:rPr kumimoji="0" lang="zh-CN" altLang="el-GR"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和</a:t>
            </a:r>
            <a:r>
              <a:rPr kumimoji="0" lang="el-GR" altLang="zh-CN" sz="1800" b="1" i="0" u="none" strike="noStrike" kern="0" cap="none" spc="0" normalizeH="0" baseline="0" noProof="0" dirty="0">
                <a:ln>
                  <a:noFill/>
                </a:ln>
                <a:solidFill>
                  <a:schemeClr val="tx1"/>
                </a:solidFill>
                <a:effectLst/>
                <a:uLnTx/>
                <a:uFillTx/>
                <a:latin typeface="+mn-lt"/>
                <a:ea typeface="+mn-ea"/>
                <a:cs typeface="+mn-cs"/>
              </a:rPr>
              <a:t>γ</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l-GR"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el-GR" altLang="zh-CN" sz="1800" b="1" i="0" u="none" strike="noStrike" kern="0" cap="none" spc="0" normalizeH="0" baseline="0" noProof="0" dirty="0">
                <a:ln>
                  <a:noFill/>
                </a:ln>
                <a:solidFill>
                  <a:schemeClr val="tx1"/>
                </a:solidFill>
                <a:effectLst/>
                <a:uLnTx/>
                <a:uFillTx/>
                <a:latin typeface="+mn-lt"/>
                <a:ea typeface="+mn-ea"/>
                <a:cs typeface="+mn-cs"/>
              </a:rPr>
              <a:t>α</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首先</a:t>
            </a:r>
            <a:r>
              <a:rPr kumimoji="0" lang="zh-CN" altLang="el-GR"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运行和提交了，</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并</a:t>
            </a:r>
            <a:r>
              <a:rPr kumimoji="0" lang="zh-CN" altLang="el-GR"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且使用</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了</a:t>
            </a:r>
            <a:r>
              <a:rPr kumimoji="0" lang="el-GR" altLang="zh-CN" sz="1800" b="1" i="0" u="none" strike="noStrike" kern="0" cap="none" spc="0" normalizeH="0" baseline="0" noProof="0" dirty="0">
                <a:ln>
                  <a:noFill/>
                </a:ln>
                <a:solidFill>
                  <a:schemeClr val="tx1"/>
                </a:solidFill>
                <a:effectLst/>
                <a:uLnTx/>
                <a:uFillTx/>
                <a:latin typeface="+mn-lt"/>
                <a:ea typeface="+mn-ea"/>
                <a:cs typeface="+mn-cs"/>
              </a:rPr>
              <a:t>β</a:t>
            </a:r>
            <a:r>
              <a:rPr kumimoji="0" lang="zh-CN" altLang="el-GR"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和</a:t>
            </a:r>
            <a:r>
              <a:rPr kumimoji="0" lang="el-GR" altLang="zh-CN" sz="1800" b="1" i="0" u="none" strike="noStrike" kern="0" cap="none" spc="0" normalizeH="0" baseline="0" noProof="0" dirty="0">
                <a:ln>
                  <a:noFill/>
                </a:ln>
                <a:solidFill>
                  <a:schemeClr val="tx1"/>
                </a:solidFill>
                <a:effectLst/>
                <a:uLnTx/>
                <a:uFillTx/>
                <a:latin typeface="+mn-lt"/>
                <a:ea typeface="+mn-ea"/>
                <a:cs typeface="+mn-cs"/>
              </a:rPr>
              <a:t>γ</a:t>
            </a:r>
            <a:r>
              <a:rPr kumimoji="0" lang="zh-CN" altLang="el-GR"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的所有文件，这些文件的读写时间戳都将被设置成</a:t>
            </a:r>
            <a:r>
              <a:rPr kumimoji="0" lang="el-GR" altLang="zh-CN" sz="1800" b="1" i="0" u="none" strike="noStrike" kern="0" cap="none" spc="0" normalizeH="0" baseline="0" noProof="0" dirty="0">
                <a:ln>
                  <a:noFill/>
                </a:ln>
                <a:solidFill>
                  <a:schemeClr val="tx1"/>
                </a:solidFill>
                <a:effectLst/>
                <a:uLnTx/>
                <a:uFillTx/>
                <a:latin typeface="+mn-lt"/>
                <a:ea typeface="+mn-ea"/>
                <a:cs typeface="+mn-cs"/>
              </a:rPr>
              <a:t>α</a:t>
            </a:r>
            <a:r>
              <a:rPr kumimoji="0" lang="zh-CN" altLang="el-GR"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的时间戳</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el-GR" altLang="zh-CN" sz="1800" b="1" i="0" u="none" strike="noStrike" kern="0" cap="none" spc="0" normalizeH="0" baseline="0" noProof="0" dirty="0">
                <a:ln>
                  <a:noFill/>
                </a:ln>
                <a:solidFill>
                  <a:schemeClr val="tx1"/>
                </a:solidFill>
                <a:effectLst/>
                <a:uLnTx/>
                <a:uFillTx/>
                <a:latin typeface="+mn-lt"/>
                <a:ea typeface="+mn-ea"/>
                <a:cs typeface="+mn-cs"/>
              </a:rPr>
              <a:t>β</a:t>
            </a:r>
            <a:r>
              <a:rPr kumimoji="0" lang="zh-CN" altLang="el-GR"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和</a:t>
            </a:r>
            <a:r>
              <a:rPr kumimoji="0" lang="el-GR" altLang="zh-CN" sz="1800" b="1" i="0" u="none" strike="noStrike" kern="0" cap="none" spc="0" normalizeH="0" baseline="0" noProof="0" dirty="0">
                <a:ln>
                  <a:noFill/>
                </a:ln>
                <a:solidFill>
                  <a:schemeClr val="tx1"/>
                </a:solidFill>
                <a:effectLst/>
                <a:uLnTx/>
                <a:uFillTx/>
                <a:latin typeface="+mn-lt"/>
                <a:ea typeface="+mn-ea"/>
                <a:cs typeface="+mn-cs"/>
              </a:rPr>
              <a:t>γ</a:t>
            </a:r>
            <a:r>
              <a:rPr kumimoji="0" lang="zh-CN" altLang="el-GR"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同时开始，但</a:t>
            </a:r>
            <a:r>
              <a:rPr kumimoji="0" lang="el-GR" altLang="zh-CN" sz="1800" b="1" i="0" u="none" strike="noStrike" kern="0" cap="none" spc="0" normalizeH="0" baseline="0" noProof="0" dirty="0">
                <a:ln>
                  <a:noFill/>
                </a:ln>
                <a:solidFill>
                  <a:schemeClr val="tx1"/>
                </a:solidFill>
                <a:effectLst/>
                <a:uLnTx/>
                <a:uFillTx/>
                <a:latin typeface="+mn-lt"/>
                <a:ea typeface="+mn-ea"/>
                <a:cs typeface="+mn-cs"/>
              </a:rPr>
              <a:t>β</a:t>
            </a:r>
            <a:r>
              <a:rPr kumimoji="0" lang="zh-CN" altLang="el-GR"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的时间戳小于</a:t>
            </a:r>
            <a:r>
              <a:rPr kumimoji="0" lang="el-GR" altLang="zh-CN" sz="1800" b="1" i="0" u="none" strike="noStrike" kern="0" cap="none" spc="0" normalizeH="0" baseline="0" noProof="0" dirty="0">
                <a:ln>
                  <a:noFill/>
                </a:ln>
                <a:solidFill>
                  <a:schemeClr val="tx1"/>
                </a:solidFill>
                <a:effectLst/>
                <a:uLnTx/>
                <a:uFillTx/>
                <a:latin typeface="+mn-lt"/>
                <a:ea typeface="+mn-ea"/>
                <a:cs typeface="+mn-cs"/>
              </a:rPr>
              <a:t>γ</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且</a:t>
            </a:r>
            <a:r>
              <a:rPr kumimoji="0" lang="zh-CN" altLang="el-GR"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大于</a:t>
            </a:r>
            <a:r>
              <a:rPr kumimoji="0" lang="el-GR" altLang="zh-CN" sz="1800" b="1" i="0" u="none" strike="noStrike" kern="0" cap="none" spc="0" normalizeH="0" baseline="0" noProof="0" dirty="0">
                <a:ln>
                  <a:noFill/>
                </a:ln>
                <a:solidFill>
                  <a:schemeClr val="tx1"/>
                </a:solidFill>
                <a:effectLst/>
                <a:uLnTx/>
                <a:uFillTx/>
                <a:latin typeface="+mn-lt"/>
                <a:ea typeface="+mn-ea"/>
                <a:cs typeface="+mn-cs"/>
              </a:rPr>
              <a:t>α</a:t>
            </a:r>
            <a:r>
              <a:rPr kumimoji="0" lang="zh-CN" altLang="el-GR"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50000"/>
              </a:lnSpc>
              <a:spcBef>
                <a:spcPct val="20000"/>
              </a:spcBef>
              <a:spcAft>
                <a:spcPct val="0"/>
              </a:spcAft>
              <a:buClr>
                <a:schemeClr val="accent2"/>
              </a:buClr>
              <a:buSzTx/>
              <a:buFontTx/>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l-GR" altLang="zh-CN" sz="1800" b="1" i="0" u="none" strike="noStrike" kern="0" cap="none" spc="0" normalizeH="0" baseline="0" noProof="0" dirty="0">
                <a:ln>
                  <a:noFill/>
                </a:ln>
                <a:solidFill>
                  <a:schemeClr val="tx1"/>
                </a:solidFill>
                <a:effectLst/>
                <a:uLnTx/>
                <a:uFillTx/>
                <a:latin typeface="+mn-lt"/>
                <a:ea typeface="+mn-ea"/>
                <a:cs typeface="+mn-cs"/>
              </a:rPr>
              <a:t>α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l-GR" altLang="zh-CN" sz="1800" b="1" i="0" u="none" strike="noStrike" kern="0" cap="none" spc="0" normalizeH="0" baseline="0" noProof="0" dirty="0">
                <a:ln>
                  <a:noFill/>
                </a:ln>
                <a:solidFill>
                  <a:schemeClr val="tx1"/>
                </a:solidFill>
                <a:effectLst/>
                <a:uLnTx/>
                <a:uFillTx/>
                <a:latin typeface="+mn-lt"/>
                <a:ea typeface="+mn-ea"/>
                <a:cs typeface="+mn-cs"/>
              </a:rPr>
              <a:t>β</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l-GR" altLang="zh-CN" sz="1800" b="1" i="0" u="none" strike="noStrike" kern="0" cap="none" spc="0" normalizeH="0" baseline="0" noProof="0" dirty="0">
                <a:ln>
                  <a:noFill/>
                </a:ln>
                <a:solidFill>
                  <a:schemeClr val="tx1"/>
                </a:solidFill>
                <a:effectLst/>
                <a:uLnTx/>
                <a:uFillTx/>
                <a:latin typeface="+mn-lt"/>
                <a:ea typeface="+mn-ea"/>
                <a:cs typeface="+mn-cs"/>
              </a:rPr>
              <a:t> γ</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50000"/>
              </a:lnSpc>
              <a:spcBef>
                <a:spcPct val="20000"/>
              </a:spcBef>
              <a:spcAft>
                <a:spcPct val="0"/>
              </a:spcAft>
              <a:buClr>
                <a:schemeClr val="accent2"/>
              </a:buClr>
              <a:buSzTx/>
              <a:buFontTx/>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t</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cxnSp>
        <p:nvCxnSpPr>
          <p:cNvPr id="100358" name="直接箭头连接符 4"/>
          <p:cNvCxnSpPr/>
          <p:nvPr/>
        </p:nvCxnSpPr>
        <p:spPr>
          <a:xfrm>
            <a:off x="2733675" y="5721350"/>
            <a:ext cx="739775" cy="0"/>
          </a:xfrm>
          <a:prstGeom prst="straightConnector1">
            <a:avLst/>
          </a:prstGeom>
          <a:ln w="25400" cap="flat" cmpd="sng">
            <a:solidFill>
              <a:schemeClr val="tx1"/>
            </a:solidFill>
            <a:prstDash val="solid"/>
            <a:headEnd type="none" w="med" len="med"/>
            <a:tailEnd type="arrow" w="med" len="med"/>
          </a:ln>
        </p:spPr>
      </p:cxnSp>
      <p:cxnSp>
        <p:nvCxnSpPr>
          <p:cNvPr id="100359" name="直接箭头连接符 6"/>
          <p:cNvCxnSpPr/>
          <p:nvPr/>
        </p:nvCxnSpPr>
        <p:spPr>
          <a:xfrm>
            <a:off x="3706813" y="5721350"/>
            <a:ext cx="723900" cy="4763"/>
          </a:xfrm>
          <a:prstGeom prst="straightConnector1">
            <a:avLst/>
          </a:prstGeom>
          <a:ln w="25400" cap="flat" cmpd="sng">
            <a:solidFill>
              <a:schemeClr val="tx1"/>
            </a:solidFill>
            <a:prstDash val="solid"/>
            <a:headEnd type="none" w="med" len="med"/>
            <a:tailEnd type="arrow" w="med" len="med"/>
          </a:ln>
        </p:spPr>
      </p:cxnSp>
      <p:cxnSp>
        <p:nvCxnSpPr>
          <p:cNvPr id="100360" name="直接箭头连接符 8"/>
          <p:cNvCxnSpPr/>
          <p:nvPr/>
        </p:nvCxnSpPr>
        <p:spPr>
          <a:xfrm flipV="1">
            <a:off x="2347913" y="6145213"/>
            <a:ext cx="2501900" cy="9525"/>
          </a:xfrm>
          <a:prstGeom prst="straightConnector1">
            <a:avLst/>
          </a:prstGeom>
          <a:ln w="9525" cap="flat" cmpd="sng">
            <a:solidFill>
              <a:schemeClr val="tx1"/>
            </a:solidFill>
            <a:prstDash val="solid"/>
            <a:headEnd type="none" w="med" len="med"/>
            <a:tailEnd type="arrow" w="med" len="med"/>
          </a:ln>
        </p:spPr>
      </p:cxn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Rectangle 3"/>
          <p:cNvSpPr>
            <a:spLocks noGrp="1"/>
          </p:cNvSpPr>
          <p:nvPr>
            <p:ph idx="1"/>
          </p:nvPr>
        </p:nvSpPr>
        <p:spPr>
          <a:xfrm>
            <a:off x="0" y="0"/>
            <a:ext cx="5737225" cy="2811463"/>
          </a:xfrm>
          <a:ln/>
        </p:spPr>
        <p:txBody>
          <a:bodyPr vert="horz" wrap="square" lIns="91440" tIns="45720" rIns="91440" bIns="45720" anchor="t" anchorCtr="0"/>
          <a:p>
            <a:pPr algn="l" eaLnBrk="1" hangingPunct="1">
              <a:lnSpc>
                <a:spcPct val="150000"/>
              </a:lnSpc>
              <a:buNone/>
            </a:pPr>
            <a:r>
              <a:rPr lang="zh-CN" altLang="el-GR" sz="1800" b="1" dirty="0">
                <a:solidFill>
                  <a:srgbClr val="FF0000"/>
                </a:solidFill>
                <a:latin typeface="宋体" panose="02010600030101010101" pitchFamily="2" charset="-122"/>
                <a:ea typeface="宋体" panose="02010600030101010101" pitchFamily="2" charset="-122"/>
              </a:rPr>
              <a:t>考虑</a:t>
            </a:r>
            <a:r>
              <a:rPr lang="zh-CN" altLang="en-US" sz="1800" b="1" dirty="0">
                <a:solidFill>
                  <a:srgbClr val="FF0000"/>
                </a:solidFill>
                <a:latin typeface="宋体" panose="02010600030101010101" pitchFamily="2" charset="-122"/>
                <a:ea typeface="宋体" panose="02010600030101010101" pitchFamily="2" charset="-122"/>
              </a:rPr>
              <a:t>事务</a:t>
            </a:r>
            <a:r>
              <a:rPr lang="el-GR" altLang="zh-CN" sz="1800" b="1" dirty="0">
                <a:solidFill>
                  <a:srgbClr val="FF0000"/>
                </a:solidFill>
                <a:latin typeface="宋体" panose="02010600030101010101" pitchFamily="2" charset="-122"/>
              </a:rPr>
              <a:t>β</a:t>
            </a:r>
            <a:r>
              <a:rPr lang="zh-CN" altLang="el-GR" sz="1800" b="1" dirty="0">
                <a:solidFill>
                  <a:srgbClr val="FF0000"/>
                </a:solidFill>
                <a:latin typeface="宋体" panose="02010600030101010101" pitchFamily="2" charset="-122"/>
                <a:ea typeface="宋体" panose="02010600030101010101" pitchFamily="2" charset="-122"/>
              </a:rPr>
              <a:t>写文件情况。</a:t>
            </a:r>
            <a:endParaRPr lang="zh-CN" altLang="en-US" sz="1800" b="1" dirty="0">
              <a:solidFill>
                <a:srgbClr val="FF0000"/>
              </a:solidFill>
              <a:latin typeface="宋体" panose="02010600030101010101" pitchFamily="2" charset="-122"/>
              <a:ea typeface="宋体" panose="02010600030101010101" pitchFamily="2" charset="-122"/>
            </a:endParaRPr>
          </a:p>
          <a:p>
            <a:pPr algn="l" eaLnBrk="1" hangingPunct="1">
              <a:lnSpc>
                <a:spcPct val="150000"/>
              </a:lnSpc>
              <a:buFont typeface="Wingdings" panose="05000000000000000000" pitchFamily="2" charset="2"/>
              <a:buChar char="u"/>
            </a:pPr>
            <a:r>
              <a:rPr lang="zh-CN" altLang="en-US" sz="1600" b="1" dirty="0">
                <a:latin typeface="宋体" panose="02010600030101010101" pitchFamily="2" charset="-122"/>
                <a:ea typeface="宋体" panose="02010600030101010101" pitchFamily="2" charset="-122"/>
              </a:rPr>
              <a:t>查看</a:t>
            </a:r>
            <a:r>
              <a:rPr lang="el-GR" altLang="zh-CN" sz="1600" b="1" dirty="0">
                <a:latin typeface="宋体" panose="02010600030101010101" pitchFamily="2" charset="-122"/>
              </a:rPr>
              <a:t>β</a:t>
            </a:r>
            <a:r>
              <a:rPr lang="zh-CN" altLang="el-GR" sz="1600" b="1" dirty="0">
                <a:latin typeface="宋体" panose="02010600030101010101" pitchFamily="2" charset="-122"/>
                <a:ea typeface="宋体" panose="02010600030101010101" pitchFamily="2" charset="-122"/>
              </a:rPr>
              <a:t>的时间戳</a:t>
            </a:r>
            <a:r>
              <a:rPr lang="el-GR" altLang="zh-CN" sz="1600" b="1" dirty="0">
                <a:latin typeface="宋体" panose="02010600030101010101" pitchFamily="2" charset="-122"/>
              </a:rPr>
              <a:t>T</a:t>
            </a:r>
            <a:r>
              <a:rPr lang="zh-CN" altLang="el-GR" sz="1600" b="1" dirty="0">
                <a:latin typeface="宋体" panose="02010600030101010101" pitchFamily="2" charset="-122"/>
                <a:ea typeface="宋体" panose="02010600030101010101" pitchFamily="2" charset="-122"/>
              </a:rPr>
              <a:t>和</a:t>
            </a:r>
            <a:r>
              <a:rPr lang="zh-CN" altLang="en-US" sz="1600" b="1" dirty="0">
                <a:latin typeface="宋体" panose="02010600030101010101" pitchFamily="2" charset="-122"/>
                <a:ea typeface="宋体" panose="02010600030101010101" pitchFamily="2" charset="-122"/>
              </a:rPr>
              <a:t>需</a:t>
            </a:r>
            <a:r>
              <a:rPr lang="zh-CN" altLang="el-GR" sz="1600" b="1" dirty="0">
                <a:latin typeface="宋体" panose="02010600030101010101" pitchFamily="2" charset="-122"/>
                <a:ea typeface="宋体" panose="02010600030101010101" pitchFamily="2" charset="-122"/>
              </a:rPr>
              <a:t>要写文件</a:t>
            </a:r>
            <a:r>
              <a:rPr lang="zh-CN" altLang="en-US" sz="1600" b="1" dirty="0">
                <a:latin typeface="宋体" panose="02010600030101010101" pitchFamily="2" charset="-122"/>
                <a:ea typeface="宋体" panose="02010600030101010101" pitchFamily="2" charset="-122"/>
              </a:rPr>
              <a:t>的</a:t>
            </a:r>
            <a:r>
              <a:rPr lang="zh-CN" altLang="el-GR" sz="1600" b="1" dirty="0">
                <a:latin typeface="宋体" panose="02010600030101010101" pitchFamily="2" charset="-122"/>
                <a:ea typeface="宋体" panose="02010600030101010101" pitchFamily="2" charset="-122"/>
              </a:rPr>
              <a:t>时间戳</a:t>
            </a:r>
            <a:r>
              <a:rPr lang="el-GR" altLang="zh-CN" sz="1600" b="1" dirty="0">
                <a:latin typeface="宋体" panose="02010600030101010101" pitchFamily="2" charset="-122"/>
              </a:rPr>
              <a:t>T</a:t>
            </a:r>
            <a:r>
              <a:rPr lang="en-US" altLang="zh-CN" sz="1600" b="1" baseline="-25000" dirty="0">
                <a:latin typeface="宋体" panose="02010600030101010101" pitchFamily="2" charset="-122"/>
                <a:ea typeface="宋体" panose="02010600030101010101" pitchFamily="2" charset="-122"/>
              </a:rPr>
              <a:t>rd</a:t>
            </a:r>
            <a:r>
              <a:rPr lang="zh-CN" altLang="en-US" sz="1600" b="1" dirty="0">
                <a:latin typeface="宋体" panose="02010600030101010101" pitchFamily="2" charset="-122"/>
                <a:ea typeface="宋体" panose="02010600030101010101" pitchFamily="2" charset="-122"/>
              </a:rPr>
              <a:t>和</a:t>
            </a:r>
            <a:r>
              <a:rPr lang="en-US" altLang="zh-CN" sz="1600" b="1" dirty="0">
                <a:latin typeface="宋体" panose="02010600030101010101" pitchFamily="2" charset="-122"/>
                <a:ea typeface="宋体" panose="02010600030101010101" pitchFamily="2" charset="-122"/>
              </a:rPr>
              <a:t>T</a:t>
            </a:r>
            <a:r>
              <a:rPr lang="en-US" altLang="zh-CN" sz="1600" b="1" baseline="-25000" dirty="0">
                <a:latin typeface="宋体" panose="02010600030101010101" pitchFamily="2" charset="-122"/>
                <a:ea typeface="宋体" panose="02010600030101010101" pitchFamily="2" charset="-122"/>
              </a:rPr>
              <a:t>wr </a:t>
            </a:r>
            <a:r>
              <a:rPr lang="zh-CN" altLang="en-US" sz="1600" b="1" dirty="0">
                <a:latin typeface="宋体" panose="02010600030101010101" pitchFamily="2" charset="-122"/>
                <a:ea typeface="宋体" panose="02010600030101010101" pitchFamily="2" charset="-122"/>
              </a:rPr>
              <a:t>。</a:t>
            </a:r>
            <a:endParaRPr lang="zh-CN" altLang="en-US" sz="1600" b="1" dirty="0">
              <a:latin typeface="宋体" panose="02010600030101010101" pitchFamily="2" charset="-122"/>
              <a:ea typeface="宋体" panose="02010600030101010101" pitchFamily="2" charset="-122"/>
            </a:endParaRPr>
          </a:p>
          <a:p>
            <a:pPr lvl="1" eaLnBrk="1" hangingPunct="1">
              <a:lnSpc>
                <a:spcPct val="150000"/>
              </a:lnSpc>
              <a:buFont typeface="Wingdings" panose="05000000000000000000" pitchFamily="2" charset="2"/>
              <a:buChar char="Ø"/>
            </a:pPr>
            <a:r>
              <a:rPr lang="zh-CN" altLang="en-US" sz="1600" b="1" dirty="0">
                <a:latin typeface="宋体" panose="02010600030101010101" pitchFamily="2" charset="-122"/>
                <a:ea typeface="宋体" panose="02010600030101010101" pitchFamily="2" charset="-122"/>
              </a:rPr>
              <a:t>除非</a:t>
            </a:r>
            <a:r>
              <a:rPr lang="el-GR" altLang="zh-CN" sz="1600" b="1" dirty="0">
                <a:latin typeface="宋体" panose="02010600030101010101" pitchFamily="2" charset="-122"/>
              </a:rPr>
              <a:t>γ</a:t>
            </a:r>
            <a:r>
              <a:rPr lang="zh-CN" altLang="el-GR" sz="1600" b="1" dirty="0">
                <a:latin typeface="宋体" panose="02010600030101010101" pitchFamily="2" charset="-122"/>
                <a:ea typeface="宋体" panose="02010600030101010101" pitchFamily="2" charset="-122"/>
              </a:rPr>
              <a:t>已经结束并提交，否则</a:t>
            </a:r>
            <a:r>
              <a:rPr lang="el-GR" altLang="zh-CN" sz="1600" b="1" dirty="0">
                <a:latin typeface="宋体" panose="02010600030101010101" pitchFamily="2" charset="-122"/>
              </a:rPr>
              <a:t>T</a:t>
            </a:r>
            <a:r>
              <a:rPr lang="en-US" altLang="zh-CN" sz="1600" b="1" baseline="-25000" dirty="0">
                <a:latin typeface="宋体" panose="02010600030101010101" pitchFamily="2" charset="-122"/>
                <a:ea typeface="宋体" panose="02010600030101010101" pitchFamily="2" charset="-122"/>
              </a:rPr>
              <a:t>rd</a:t>
            </a:r>
            <a:r>
              <a:rPr lang="zh-CN" altLang="en-US" sz="1600" b="1" dirty="0">
                <a:latin typeface="宋体" panose="02010600030101010101" pitchFamily="2" charset="-122"/>
                <a:ea typeface="宋体" panose="02010600030101010101" pitchFamily="2" charset="-122"/>
              </a:rPr>
              <a:t>和</a:t>
            </a:r>
            <a:r>
              <a:rPr lang="en-US" altLang="zh-CN" sz="1600" b="1" dirty="0">
                <a:latin typeface="宋体" panose="02010600030101010101" pitchFamily="2" charset="-122"/>
                <a:ea typeface="宋体" panose="02010600030101010101" pitchFamily="2" charset="-122"/>
              </a:rPr>
              <a:t>T</a:t>
            </a:r>
            <a:r>
              <a:rPr lang="en-US" altLang="zh-CN" sz="1600" b="1" baseline="-25000" dirty="0">
                <a:latin typeface="宋体" panose="02010600030101010101" pitchFamily="2" charset="-122"/>
                <a:ea typeface="宋体" panose="02010600030101010101" pitchFamily="2" charset="-122"/>
              </a:rPr>
              <a:t>wr </a:t>
            </a:r>
            <a:r>
              <a:rPr lang="zh-CN" altLang="en-US" sz="1600" b="1" dirty="0">
                <a:latin typeface="宋体" panose="02010600030101010101" pitchFamily="2" charset="-122"/>
                <a:ea typeface="宋体" panose="02010600030101010101" pitchFamily="2" charset="-122"/>
              </a:rPr>
              <a:t>都应该是</a:t>
            </a:r>
            <a:r>
              <a:rPr lang="el-GR" altLang="zh-CN" sz="1600" b="1" dirty="0">
                <a:latin typeface="宋体" panose="02010600030101010101" pitchFamily="2" charset="-122"/>
              </a:rPr>
              <a:t>α</a:t>
            </a:r>
            <a:r>
              <a:rPr lang="zh-CN" altLang="el-GR" sz="1600" b="1" dirty="0">
                <a:latin typeface="宋体" panose="02010600030101010101" pitchFamily="2" charset="-122"/>
                <a:ea typeface="宋体" panose="02010600030101010101" pitchFamily="2" charset="-122"/>
              </a:rPr>
              <a:t>的时间戳，也即小于</a:t>
            </a:r>
            <a:r>
              <a:rPr lang="el-GR" altLang="zh-CN" sz="1600" b="1" dirty="0">
                <a:latin typeface="宋体" panose="02010600030101010101" pitchFamily="2" charset="-122"/>
              </a:rPr>
              <a:t>T</a:t>
            </a:r>
            <a:r>
              <a:rPr lang="zh-CN" altLang="el-GR" sz="1600" b="1" dirty="0">
                <a:latin typeface="宋体" panose="02010600030101010101" pitchFamily="2" charset="-122"/>
                <a:ea typeface="宋体" panose="02010600030101010101" pitchFamily="2" charset="-122"/>
              </a:rPr>
              <a:t>。</a:t>
            </a:r>
            <a:endParaRPr lang="zh-CN" altLang="en-US" sz="1600" b="1" dirty="0">
              <a:latin typeface="宋体" panose="02010600030101010101" pitchFamily="2" charset="-122"/>
              <a:ea typeface="宋体" panose="02010600030101010101" pitchFamily="2" charset="-122"/>
            </a:endParaRPr>
          </a:p>
          <a:p>
            <a:pPr algn="l" eaLnBrk="1" hangingPunct="1">
              <a:lnSpc>
                <a:spcPct val="150000"/>
              </a:lnSpc>
              <a:buFont typeface="Wingdings" panose="05000000000000000000" pitchFamily="2" charset="2"/>
              <a:buChar char="u"/>
            </a:pPr>
            <a:r>
              <a:rPr lang="zh-CN" altLang="en-US" sz="1600" b="1" dirty="0">
                <a:latin typeface="宋体" panose="02010600030101010101" pitchFamily="2" charset="-122"/>
                <a:ea typeface="宋体" panose="02010600030101010101" pitchFamily="2" charset="-122"/>
              </a:rPr>
              <a:t>图</a:t>
            </a:r>
            <a:r>
              <a:rPr lang="en-US" altLang="zh-CN" sz="1600" b="1" dirty="0">
                <a:latin typeface="宋体" panose="02010600030101010101" pitchFamily="2" charset="-122"/>
                <a:ea typeface="宋体" panose="02010600030101010101" pitchFamily="2" charset="-122"/>
              </a:rPr>
              <a:t>a</a:t>
            </a:r>
            <a:r>
              <a:rPr lang="zh-CN" altLang="en-US" sz="1600" b="1" dirty="0">
                <a:latin typeface="宋体" panose="02010600030101010101" pitchFamily="2" charset="-122"/>
                <a:ea typeface="宋体" panose="02010600030101010101" pitchFamily="2" charset="-122"/>
              </a:rPr>
              <a:t>、</a:t>
            </a:r>
            <a:r>
              <a:rPr lang="en-US" altLang="zh-CN" sz="1600" b="1" dirty="0">
                <a:latin typeface="宋体" panose="02010600030101010101" pitchFamily="2" charset="-122"/>
                <a:ea typeface="宋体" panose="02010600030101010101" pitchFamily="2" charset="-122"/>
              </a:rPr>
              <a:t>b</a:t>
            </a:r>
            <a:r>
              <a:rPr lang="zh-CN" altLang="en-US" sz="1600" b="1" dirty="0">
                <a:latin typeface="宋体" panose="02010600030101010101" pitchFamily="2" charset="-122"/>
                <a:ea typeface="宋体" panose="02010600030101010101" pitchFamily="2" charset="-122"/>
              </a:rPr>
              <a:t>中，</a:t>
            </a:r>
            <a:r>
              <a:rPr lang="en-US" altLang="zh-CN" sz="1600" b="1" dirty="0">
                <a:latin typeface="宋体" panose="02010600030101010101" pitchFamily="2" charset="-122"/>
                <a:ea typeface="宋体" panose="02010600030101010101" pitchFamily="2" charset="-122"/>
              </a:rPr>
              <a:t>T</a:t>
            </a:r>
            <a:r>
              <a:rPr lang="zh-CN" altLang="en-US" sz="1600" b="1" dirty="0">
                <a:latin typeface="宋体" panose="02010600030101010101" pitchFamily="2" charset="-122"/>
                <a:ea typeface="宋体" panose="02010600030101010101" pitchFamily="2" charset="-122"/>
              </a:rPr>
              <a:t>大于</a:t>
            </a:r>
            <a:r>
              <a:rPr lang="el-GR" altLang="zh-CN" sz="1600" b="1" dirty="0">
                <a:latin typeface="宋体" panose="02010600030101010101" pitchFamily="2" charset="-122"/>
              </a:rPr>
              <a:t>T</a:t>
            </a:r>
            <a:r>
              <a:rPr lang="en-US" altLang="zh-CN" sz="1600" b="1" baseline="-25000" dirty="0">
                <a:latin typeface="宋体" panose="02010600030101010101" pitchFamily="2" charset="-122"/>
                <a:ea typeface="宋体" panose="02010600030101010101" pitchFamily="2" charset="-122"/>
              </a:rPr>
              <a:t>rd</a:t>
            </a:r>
            <a:r>
              <a:rPr lang="zh-CN" altLang="en-US" sz="1600" b="1" dirty="0">
                <a:latin typeface="宋体" panose="02010600030101010101" pitchFamily="2" charset="-122"/>
                <a:ea typeface="宋体" panose="02010600030101010101" pitchFamily="2" charset="-122"/>
              </a:rPr>
              <a:t>和</a:t>
            </a:r>
            <a:r>
              <a:rPr lang="en-US" altLang="zh-CN" sz="1600" b="1" dirty="0">
                <a:latin typeface="宋体" panose="02010600030101010101" pitchFamily="2" charset="-122"/>
                <a:ea typeface="宋体" panose="02010600030101010101" pitchFamily="2" charset="-122"/>
              </a:rPr>
              <a:t>T</a:t>
            </a:r>
            <a:r>
              <a:rPr lang="en-US" altLang="zh-CN" sz="1600" b="1" baseline="-25000" dirty="0">
                <a:latin typeface="宋体" panose="02010600030101010101" pitchFamily="2" charset="-122"/>
                <a:ea typeface="宋体" panose="02010600030101010101" pitchFamily="2" charset="-122"/>
              </a:rPr>
              <a:t>wr </a:t>
            </a:r>
            <a:r>
              <a:rPr lang="zh-CN" altLang="en-US" sz="1600" b="1" dirty="0">
                <a:latin typeface="宋体" panose="02010600030101010101" pitchFamily="2" charset="-122"/>
                <a:ea typeface="宋体" panose="02010600030101010101" pitchFamily="2" charset="-122"/>
              </a:rPr>
              <a:t>（</a:t>
            </a:r>
            <a:r>
              <a:rPr lang="el-GR" altLang="zh-CN" sz="1600" b="1" dirty="0">
                <a:latin typeface="宋体" panose="02010600030101010101" pitchFamily="2" charset="-122"/>
              </a:rPr>
              <a:t>γ</a:t>
            </a:r>
            <a:r>
              <a:rPr lang="zh-CN" altLang="el-GR" sz="1600" b="1" dirty="0">
                <a:latin typeface="宋体" panose="02010600030101010101" pitchFamily="2" charset="-122"/>
                <a:ea typeface="宋体" panose="02010600030101010101" pitchFamily="2" charset="-122"/>
              </a:rPr>
              <a:t>未提交），故写入是可接受的，可尝试进行</a:t>
            </a:r>
            <a:r>
              <a:rPr lang="en-US" altLang="zh-CN" sz="1600" b="1" dirty="0">
                <a:latin typeface="宋体" panose="02010600030101010101" pitchFamily="2" charset="-122"/>
                <a:ea typeface="宋体" panose="02010600030101010101" pitchFamily="2" charset="-122"/>
              </a:rPr>
              <a:t>;</a:t>
            </a:r>
            <a:endParaRPr lang="en-US" altLang="zh-CN" sz="1600" b="1" dirty="0">
              <a:latin typeface="宋体" panose="02010600030101010101" pitchFamily="2" charset="-122"/>
              <a:ea typeface="宋体" panose="02010600030101010101" pitchFamily="2" charset="-122"/>
            </a:endParaRPr>
          </a:p>
          <a:p>
            <a:pPr algn="l" eaLnBrk="1" hangingPunct="1">
              <a:lnSpc>
                <a:spcPct val="150000"/>
              </a:lnSpc>
              <a:buFont typeface="Wingdings" panose="05000000000000000000" pitchFamily="2" charset="2"/>
              <a:buChar char="u"/>
            </a:pPr>
            <a:r>
              <a:rPr lang="el-GR" altLang="zh-CN" sz="1600" b="1" dirty="0">
                <a:latin typeface="宋体" panose="02010600030101010101" pitchFamily="2" charset="-122"/>
              </a:rPr>
              <a:t>β</a:t>
            </a:r>
            <a:r>
              <a:rPr lang="zh-CN" altLang="el-GR" sz="1600" b="1" dirty="0">
                <a:latin typeface="宋体" panose="02010600030101010101" pitchFamily="2" charset="-122"/>
                <a:ea typeface="宋体" panose="02010600030101010101" pitchFamily="2" charset="-122"/>
              </a:rPr>
              <a:t>提交后，其结果是持久的。</a:t>
            </a:r>
            <a:endParaRPr lang="zh-CN" altLang="en-US" sz="1600" b="1" dirty="0">
              <a:latin typeface="宋体" panose="02010600030101010101" pitchFamily="2" charset="-122"/>
              <a:ea typeface="宋体" panose="02010600030101010101" pitchFamily="2" charset="-122"/>
            </a:endParaRPr>
          </a:p>
        </p:txBody>
      </p:sp>
      <p:grpSp>
        <p:nvGrpSpPr>
          <p:cNvPr id="102403" name="组合 4"/>
          <p:cNvGrpSpPr/>
          <p:nvPr/>
        </p:nvGrpSpPr>
        <p:grpSpPr>
          <a:xfrm>
            <a:off x="5737225" y="290513"/>
            <a:ext cx="3317875" cy="2205037"/>
            <a:chOff x="5497513" y="1817688"/>
            <a:chExt cx="3571875" cy="3327400"/>
          </a:xfrm>
        </p:grpSpPr>
        <p:pic>
          <p:nvPicPr>
            <p:cNvPr id="102411" name="Picture 2"/>
            <p:cNvPicPr>
              <a:picLocks noChangeAspect="1"/>
            </p:cNvPicPr>
            <p:nvPr/>
          </p:nvPicPr>
          <p:blipFill>
            <a:blip r:embed="rId1"/>
            <a:stretch>
              <a:fillRect/>
            </a:stretch>
          </p:blipFill>
          <p:spPr>
            <a:xfrm>
              <a:off x="5497513" y="1817688"/>
              <a:ext cx="3571875" cy="3327400"/>
            </a:xfrm>
            <a:prstGeom prst="rect">
              <a:avLst/>
            </a:prstGeom>
            <a:noFill/>
            <a:ln w="9525">
              <a:noFill/>
            </a:ln>
          </p:spPr>
        </p:pic>
        <p:sp>
          <p:nvSpPr>
            <p:cNvPr id="102412" name="矩形 3"/>
            <p:cNvSpPr/>
            <p:nvPr/>
          </p:nvSpPr>
          <p:spPr>
            <a:xfrm>
              <a:off x="6663132" y="4385959"/>
              <a:ext cx="586324" cy="510878"/>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600" b="1" dirty="0">
                  <a:latin typeface="宋体" panose="02010600030101010101" pitchFamily="2" charset="-122"/>
                  <a:ea typeface="宋体" panose="02010600030101010101" pitchFamily="2" charset="-122"/>
                </a:rPr>
                <a:t>(</a:t>
              </a:r>
              <a:r>
                <a:rPr lang="el-GR" altLang="zh-CN" sz="1600" b="1" dirty="0">
                  <a:latin typeface="宋体" panose="02010600030101010101" pitchFamily="2" charset="-122"/>
                </a:rPr>
                <a:t>α</a:t>
              </a:r>
              <a:r>
                <a:rPr lang="en-US" altLang="zh-CN" sz="1600" b="1" dirty="0">
                  <a:latin typeface="宋体" panose="02010600030101010101" pitchFamily="2" charset="-122"/>
                  <a:ea typeface="宋体" panose="02010600030101010101" pitchFamily="2" charset="-122"/>
                </a:rPr>
                <a:t>)</a:t>
              </a:r>
              <a:endParaRPr lang="zh-CN" altLang="en-US" sz="1600" dirty="0">
                <a:ea typeface="宋体" panose="02010600030101010101" pitchFamily="2" charset="-122"/>
              </a:endParaRPr>
            </a:p>
          </p:txBody>
        </p:sp>
      </p:grpSp>
      <p:sp>
        <p:nvSpPr>
          <p:cNvPr id="6" name="Rectangle 3"/>
          <p:cNvSpPr txBox="1">
            <a:spLocks noChangeArrowheads="1"/>
          </p:cNvSpPr>
          <p:nvPr/>
        </p:nvSpPr>
        <p:spPr bwMode="auto">
          <a:xfrm>
            <a:off x="80963" y="2816225"/>
            <a:ext cx="5421313" cy="1295400"/>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l" defTabSz="914400" rtl="0" eaLnBrk="1" fontAlgn="base" latinLnBrk="0" hangingPunct="1">
              <a:lnSpc>
                <a:spcPct val="150000"/>
              </a:lnSpc>
              <a:spcBef>
                <a:spcPct val="20000"/>
              </a:spcBef>
              <a:spcAft>
                <a:spcPct val="0"/>
              </a:spcAft>
              <a:buClr>
                <a:schemeClr val="accent2"/>
              </a:buClr>
              <a:buSzTx/>
              <a:buFontTx/>
              <a:buNone/>
              <a:defRPr/>
            </a:pPr>
            <a:r>
              <a:rPr kumimoji="0" lang="en-US" altLang="zh-CN" sz="1800" b="1"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γ </a:t>
            </a:r>
            <a:r>
              <a:rPr kumimoji="0" lang="zh-CN" altLang="en-US" sz="1800" b="1"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在</a:t>
            </a:r>
            <a:r>
              <a:rPr kumimoji="0" lang="en-US" altLang="zh-CN" sz="1800" b="1"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β</a:t>
            </a:r>
            <a:r>
              <a:rPr kumimoji="0" lang="zh-CN" altLang="en-US" sz="1800" b="1"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开始后读写，但</a:t>
            </a:r>
            <a:r>
              <a:rPr kumimoji="0" lang="en-US" altLang="zh-CN" sz="1800" b="1"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β</a:t>
            </a:r>
            <a:r>
              <a:rPr kumimoji="0" lang="zh-CN" altLang="en-US" sz="1800" b="1"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还没有读写</a:t>
            </a:r>
            <a:endParaRPr kumimoji="0" lang="zh-CN" altLang="en-US" sz="1800" b="1" i="0" u="none" strike="noStrike" kern="0" cap="none" spc="0" normalizeH="0" baseline="0" noProof="0" dirty="0">
              <a:ln>
                <a:noFill/>
              </a:ln>
              <a:solidFill>
                <a:srgbClr val="FF0000"/>
              </a:solidFill>
              <a:effectLst/>
              <a:uLnTx/>
              <a:uFillTx/>
              <a:latin typeface="+mn-lt"/>
              <a:ea typeface="宋体" panose="02010600030101010101" pitchFamily="2" charset="-122"/>
              <a:cs typeface="+mn-cs"/>
            </a:endParaRPr>
          </a:p>
          <a:p>
            <a:pPr marL="342900" marR="0" lvl="0" indent="-3429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γ</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既读取又写入文件并提交事务；</a:t>
            </a:r>
            <a:endPar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en-US" altLang="zh-CN" sz="1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β</a:t>
            </a:r>
            <a:r>
              <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事务就将被中止，它可以采用一个新时间戳重新开始。</a:t>
            </a:r>
            <a:endParaRPr kumimoji="0" lang="zh-CN" altLang="en-US" sz="16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102405" name="Picture 4"/>
          <p:cNvPicPr>
            <a:picLocks noChangeAspect="1"/>
          </p:cNvPicPr>
          <p:nvPr/>
        </p:nvPicPr>
        <p:blipFill>
          <a:blip r:embed="rId2"/>
          <a:stretch>
            <a:fillRect/>
          </a:stretch>
        </p:blipFill>
        <p:spPr>
          <a:xfrm>
            <a:off x="5561013" y="2811463"/>
            <a:ext cx="3430587" cy="1455737"/>
          </a:xfrm>
          <a:prstGeom prst="rect">
            <a:avLst/>
          </a:prstGeom>
          <a:noFill/>
          <a:ln w="9525">
            <a:noFill/>
          </a:ln>
        </p:spPr>
      </p:pic>
      <p:sp>
        <p:nvSpPr>
          <p:cNvPr id="8" name="Rectangle 3"/>
          <p:cNvSpPr txBox="1">
            <a:spLocks noChangeArrowheads="1"/>
          </p:cNvSpPr>
          <p:nvPr/>
        </p:nvSpPr>
        <p:spPr bwMode="auto">
          <a:xfrm>
            <a:off x="80963" y="4225925"/>
            <a:ext cx="5421313" cy="2413000"/>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l" defTabSz="914400" rtl="0" eaLnBrk="1" fontAlgn="base" latinLnBrk="0" hangingPunct="1">
              <a:lnSpc>
                <a:spcPct val="150000"/>
              </a:lnSpc>
              <a:spcBef>
                <a:spcPct val="20000"/>
              </a:spcBef>
              <a:spcAft>
                <a:spcPct val="0"/>
              </a:spcAft>
              <a:buClr>
                <a:schemeClr val="accent2"/>
              </a:buClr>
              <a:buSzTx/>
              <a:buFontTx/>
              <a:buNone/>
              <a:defRPr/>
            </a:pPr>
            <a:r>
              <a:rPr kumimoji="0" lang="zh-CN" altLang="en-US" sz="1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读取的情况：</a:t>
            </a:r>
            <a:endParaRPr kumimoji="0" lang="zh-CN" altLang="en-US" sz="1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图</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e</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中没有冲突，因此读操作可以执行。</a:t>
            </a:r>
            <a:endPar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Tx/>
              <a:buNone/>
              <a:defRPr/>
            </a:pPr>
            <a:endPar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pic>
        <p:nvPicPr>
          <p:cNvPr id="102407" name="Picture 4"/>
          <p:cNvPicPr>
            <a:picLocks noChangeAspect="1"/>
          </p:cNvPicPr>
          <p:nvPr/>
        </p:nvPicPr>
        <p:blipFill>
          <a:blip r:embed="rId3"/>
          <a:stretch>
            <a:fillRect/>
          </a:stretch>
        </p:blipFill>
        <p:spPr>
          <a:xfrm>
            <a:off x="5670550" y="4478338"/>
            <a:ext cx="2997200" cy="785812"/>
          </a:xfrm>
          <a:prstGeom prst="rect">
            <a:avLst/>
          </a:prstGeom>
          <a:noFill/>
          <a:ln w="9525">
            <a:noFill/>
          </a:ln>
        </p:spPr>
      </p:pic>
      <p:cxnSp>
        <p:nvCxnSpPr>
          <p:cNvPr id="102408" name="直接连接符 2"/>
          <p:cNvCxnSpPr/>
          <p:nvPr/>
        </p:nvCxnSpPr>
        <p:spPr>
          <a:xfrm>
            <a:off x="80963" y="2770188"/>
            <a:ext cx="8910637" cy="73025"/>
          </a:xfrm>
          <a:prstGeom prst="line">
            <a:avLst/>
          </a:prstGeom>
          <a:ln w="9525" cap="flat" cmpd="sng">
            <a:solidFill>
              <a:schemeClr val="tx1"/>
            </a:solidFill>
            <a:prstDash val="solid"/>
            <a:headEnd type="none" w="med" len="med"/>
            <a:tailEnd type="none" w="med" len="med"/>
          </a:ln>
        </p:spPr>
      </p:cxnSp>
      <p:cxnSp>
        <p:nvCxnSpPr>
          <p:cNvPr id="102409" name="直接连接符 12"/>
          <p:cNvCxnSpPr/>
          <p:nvPr/>
        </p:nvCxnSpPr>
        <p:spPr>
          <a:xfrm>
            <a:off x="80963" y="4184650"/>
            <a:ext cx="8910637" cy="73025"/>
          </a:xfrm>
          <a:prstGeom prst="line">
            <a:avLst/>
          </a:prstGeom>
          <a:ln w="9525" cap="flat" cmpd="sng">
            <a:solidFill>
              <a:schemeClr val="tx1"/>
            </a:solidFill>
            <a:prstDash val="solid"/>
            <a:headEnd type="none" w="med" len="med"/>
            <a:tailEnd type="none" w="med" len="med"/>
          </a:ln>
        </p:spPr>
      </p:cxnSp>
      <p:cxnSp>
        <p:nvCxnSpPr>
          <p:cNvPr id="102410" name="直接连接符 13"/>
          <p:cNvCxnSpPr/>
          <p:nvPr/>
        </p:nvCxnSpPr>
        <p:spPr>
          <a:xfrm>
            <a:off x="80963" y="5338763"/>
            <a:ext cx="8910637" cy="73025"/>
          </a:xfrm>
          <a:prstGeom prst="line">
            <a:avLst/>
          </a:prstGeom>
          <a:ln w="9525" cap="flat" cmpd="sng">
            <a:solidFill>
              <a:schemeClr val="tx1"/>
            </a:solidFill>
            <a:prstDash val="solid"/>
            <a:headEnd type="none" w="med" len="med"/>
            <a:tailEnd type="none" w="med" len="med"/>
          </a:ln>
        </p:spPr>
      </p:cxn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3"/>
          <p:cNvSpPr>
            <a:spLocks noGrp="1"/>
          </p:cNvSpPr>
          <p:nvPr>
            <p:ph idx="1"/>
          </p:nvPr>
        </p:nvSpPr>
        <p:spPr>
          <a:xfrm>
            <a:off x="469900" y="598488"/>
            <a:ext cx="8050213" cy="5416550"/>
          </a:xfrm>
          <a:ln/>
        </p:spPr>
        <p:txBody>
          <a:bodyPr vert="horz" wrap="square" lIns="91440" tIns="45720" rIns="91440" bIns="45720" anchor="t" anchorCtr="0"/>
          <a:p>
            <a:pPr algn="l" eaLnBrk="1" hangingPunct="1">
              <a:lnSpc>
                <a:spcPct val="150000"/>
              </a:lnSpc>
              <a:buNone/>
            </a:pPr>
            <a:r>
              <a:rPr lang="zh-CN" altLang="en-US" sz="2000" b="1" dirty="0">
                <a:solidFill>
                  <a:srgbClr val="FF0000"/>
                </a:solidFill>
                <a:ea typeface="宋体" panose="02010600030101010101" pitchFamily="2" charset="-122"/>
              </a:rPr>
              <a:t>时间戳的特性：</a:t>
            </a:r>
            <a:endParaRPr lang="zh-CN" altLang="en-US" sz="2000" b="1" dirty="0">
              <a:solidFill>
                <a:srgbClr val="FF0000"/>
              </a:solidFill>
              <a:ea typeface="宋体" panose="02010600030101010101" pitchFamily="2" charset="-122"/>
            </a:endParaRPr>
          </a:p>
          <a:p>
            <a:pPr lvl="1" eaLnBrk="1" hangingPunct="1">
              <a:lnSpc>
                <a:spcPct val="150000"/>
              </a:lnSpc>
            </a:pPr>
            <a:r>
              <a:rPr lang="zh-CN" altLang="en-US" sz="2000" b="1" dirty="0">
                <a:ea typeface="宋体" panose="02010600030101010101" pitchFamily="2" charset="-122"/>
              </a:rPr>
              <a:t>当一个事务碰到了更大（晚）的时间戳时，就要中止；</a:t>
            </a:r>
            <a:endParaRPr lang="zh-CN" altLang="en-US" sz="2000" b="1" dirty="0">
              <a:ea typeface="宋体" panose="02010600030101010101" pitchFamily="2" charset="-122"/>
            </a:endParaRPr>
          </a:p>
          <a:p>
            <a:pPr lvl="1" eaLnBrk="1" hangingPunct="1">
              <a:lnSpc>
                <a:spcPct val="150000"/>
              </a:lnSpc>
            </a:pPr>
            <a:r>
              <a:rPr lang="zh-CN" altLang="en-US" sz="2000" b="1" dirty="0">
                <a:ea typeface="宋体" panose="02010600030101010101" pitchFamily="2" charset="-122"/>
              </a:rPr>
              <a:t>加锁法在相同的情况下要么等待，要么立即执行；</a:t>
            </a:r>
            <a:endParaRPr lang="zh-CN" altLang="en-US" sz="2000" b="1" dirty="0">
              <a:ea typeface="宋体" panose="02010600030101010101" pitchFamily="2" charset="-122"/>
            </a:endParaRPr>
          </a:p>
          <a:p>
            <a:pPr lvl="1" eaLnBrk="1" hangingPunct="1">
              <a:lnSpc>
                <a:spcPct val="150000"/>
              </a:lnSpc>
            </a:pPr>
            <a:r>
              <a:rPr lang="zh-CN" altLang="en-US" sz="2000" b="1" dirty="0">
                <a:ea typeface="宋体" panose="02010600030101010101" pitchFamily="2" charset="-122"/>
              </a:rPr>
              <a:t>时间戳方法不会出现死锁。</a:t>
            </a:r>
            <a:endParaRPr lang="zh-CN" altLang="en-US" sz="2000" b="1" dirty="0">
              <a:ea typeface="宋体" panose="02010600030101010101" pitchFamily="2" charset="-122"/>
            </a:endParaRPr>
          </a:p>
          <a:p>
            <a:pPr lvl="1" eaLnBrk="1" hangingPunct="1">
              <a:lnSpc>
                <a:spcPct val="150000"/>
              </a:lnSpc>
              <a:buNone/>
            </a:pPr>
            <a:endParaRPr lang="zh-CN" altLang="en-US" sz="2000" b="1" dirty="0">
              <a:ea typeface="宋体" panose="02010600030101010101" pitchFamily="2" charset="-122"/>
            </a:endParaRPr>
          </a:p>
          <a:p>
            <a:pPr algn="l" eaLnBrk="1" hangingPunct="1">
              <a:lnSpc>
                <a:spcPct val="150000"/>
              </a:lnSpc>
              <a:buNone/>
            </a:pPr>
            <a:r>
              <a:rPr lang="zh-CN" altLang="en-US" sz="2000" b="1" dirty="0">
                <a:solidFill>
                  <a:srgbClr val="FF0000"/>
                </a:solidFill>
                <a:ea typeface="宋体" panose="02010600030101010101" pitchFamily="2" charset="-122"/>
              </a:rPr>
              <a:t>小结</a:t>
            </a:r>
            <a:endParaRPr lang="zh-CN" altLang="en-US" sz="2000" b="1" dirty="0">
              <a:solidFill>
                <a:srgbClr val="FF0000"/>
              </a:solidFill>
              <a:ea typeface="宋体" panose="02010600030101010101" pitchFamily="2" charset="-122"/>
            </a:endParaRPr>
          </a:p>
          <a:p>
            <a:pPr lvl="1" eaLnBrk="1" hangingPunct="1">
              <a:lnSpc>
                <a:spcPct val="150000"/>
              </a:lnSpc>
            </a:pPr>
            <a:r>
              <a:rPr lang="zh-CN" altLang="en-US" sz="2000" b="1" dirty="0">
                <a:ea typeface="宋体" panose="02010600030101010101" pitchFamily="2" charset="-122"/>
              </a:rPr>
              <a:t>事务具备许多优点，对构造可靠的分布式系统而言它就成为了一种很有前途的技术；</a:t>
            </a:r>
            <a:endParaRPr lang="zh-CN" altLang="en-US" sz="2000" b="1" dirty="0">
              <a:ea typeface="宋体" panose="02010600030101010101" pitchFamily="2" charset="-122"/>
            </a:endParaRPr>
          </a:p>
          <a:p>
            <a:pPr lvl="1" eaLnBrk="1" hangingPunct="1">
              <a:lnSpc>
                <a:spcPct val="150000"/>
              </a:lnSpc>
            </a:pPr>
            <a:r>
              <a:rPr lang="zh-CN" altLang="en-US" sz="2000" b="1" dirty="0">
                <a:ea typeface="宋体" panose="02010600030101010101" pitchFamily="2" charset="-122"/>
              </a:rPr>
              <a:t>主要问题在于实现的复杂性，导致性能降低。</a:t>
            </a:r>
            <a:endParaRPr lang="zh-CN" altLang="en-US" sz="2000" b="1" dirty="0">
              <a:ea typeface="宋体" panose="02010600030101010101" pitchFamily="2"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Rectangle 2"/>
          <p:cNvSpPr>
            <a:spLocks noGrp="1"/>
          </p:cNvSpPr>
          <p:nvPr>
            <p:ph type="title"/>
          </p:nvPr>
        </p:nvSpPr>
        <p:spPr>
          <a:ln/>
        </p:spPr>
        <p:txBody>
          <a:bodyPr vert="horz" wrap="square" lIns="91440" tIns="45720" rIns="91440" bIns="45720" anchor="ctr" anchorCtr="0"/>
          <a:p>
            <a:pPr eaLnBrk="1" hangingPunct="1"/>
            <a:r>
              <a:rPr lang="zh-CN" altLang="en-US" dirty="0">
                <a:ea typeface="宋体" panose="02010600030101010101" pitchFamily="2" charset="-122"/>
              </a:rPr>
              <a:t>事务小结</a:t>
            </a:r>
            <a:endParaRPr lang="zh-CN" altLang="en-US" dirty="0">
              <a:ea typeface="宋体" panose="02010600030101010101" pitchFamily="2" charset="-122"/>
            </a:endParaRPr>
          </a:p>
        </p:txBody>
      </p:sp>
      <p:sp>
        <p:nvSpPr>
          <p:cNvPr id="104451" name="Rectangle 3"/>
          <p:cNvSpPr>
            <a:spLocks noGrp="1"/>
          </p:cNvSpPr>
          <p:nvPr>
            <p:ph idx="1"/>
          </p:nvPr>
        </p:nvSpPr>
        <p:spPr>
          <a:xfrm>
            <a:off x="547688" y="1204913"/>
            <a:ext cx="7785100" cy="4689475"/>
          </a:xfrm>
          <a:ln/>
        </p:spPr>
        <p:txBody>
          <a:bodyPr vert="horz" wrap="square" lIns="91440" tIns="45720" rIns="91440" bIns="45720" anchor="t" anchorCtr="0"/>
          <a:p>
            <a:pPr lvl="1" eaLnBrk="1" hangingPunct="1">
              <a:lnSpc>
                <a:spcPct val="150000"/>
              </a:lnSpc>
            </a:pPr>
            <a:r>
              <a:rPr lang="zh-CN" altLang="en-US" sz="2400" b="1" dirty="0">
                <a:ea typeface="宋体" panose="02010600030101010101" pitchFamily="2" charset="-122"/>
              </a:rPr>
              <a:t>事务模型</a:t>
            </a:r>
            <a:endParaRPr lang="zh-CN" altLang="en-US" sz="2400" b="1" dirty="0">
              <a:ea typeface="宋体" panose="02010600030101010101" pitchFamily="2" charset="-122"/>
            </a:endParaRPr>
          </a:p>
          <a:p>
            <a:pPr lvl="2" eaLnBrk="1" hangingPunct="1">
              <a:lnSpc>
                <a:spcPct val="150000"/>
              </a:lnSpc>
            </a:pPr>
            <a:r>
              <a:rPr lang="en-US" altLang="zh-CN" b="1" dirty="0">
                <a:ea typeface="宋体" panose="02010600030101010101" pitchFamily="2" charset="-122"/>
              </a:rPr>
              <a:t>3</a:t>
            </a:r>
            <a:r>
              <a:rPr lang="zh-CN" altLang="en-US" b="1" dirty="0">
                <a:ea typeface="宋体" panose="02010600030101010101" pitchFamily="2" charset="-122"/>
              </a:rPr>
              <a:t>个假设：进程独立、无通信错误、稳定存储器；</a:t>
            </a:r>
            <a:endParaRPr lang="zh-CN" altLang="en-US" b="1" dirty="0">
              <a:ea typeface="宋体" panose="02010600030101010101" pitchFamily="2" charset="-122"/>
            </a:endParaRPr>
          </a:p>
          <a:p>
            <a:pPr lvl="2" eaLnBrk="1" hangingPunct="1">
              <a:lnSpc>
                <a:spcPct val="150000"/>
              </a:lnSpc>
            </a:pPr>
            <a:r>
              <a:rPr lang="zh-CN" altLang="en-US" b="1" dirty="0">
                <a:ea typeface="宋体" panose="02010600030101010101" pitchFamily="2" charset="-122"/>
              </a:rPr>
              <a:t>事务原语、事务体、事务的</a:t>
            </a:r>
            <a:r>
              <a:rPr lang="en-US" altLang="zh-CN" b="1" dirty="0">
                <a:ea typeface="宋体" panose="02010600030101010101" pitchFamily="2" charset="-122"/>
              </a:rPr>
              <a:t>ACID</a:t>
            </a:r>
            <a:r>
              <a:rPr lang="zh-CN" altLang="en-US" b="1" dirty="0">
                <a:ea typeface="宋体" panose="02010600030101010101" pitchFamily="2" charset="-122"/>
              </a:rPr>
              <a:t>特性；</a:t>
            </a:r>
            <a:endParaRPr lang="zh-CN" altLang="en-US" b="1" dirty="0">
              <a:ea typeface="宋体" panose="02010600030101010101" pitchFamily="2" charset="-122"/>
            </a:endParaRPr>
          </a:p>
          <a:p>
            <a:pPr lvl="1" eaLnBrk="1" hangingPunct="1">
              <a:lnSpc>
                <a:spcPct val="150000"/>
              </a:lnSpc>
            </a:pPr>
            <a:r>
              <a:rPr lang="zh-CN" altLang="en-US" sz="2400" b="1" dirty="0">
                <a:ea typeface="宋体" panose="02010600030101010101" pitchFamily="2" charset="-122"/>
              </a:rPr>
              <a:t>事务实现</a:t>
            </a:r>
            <a:endParaRPr lang="zh-CN" altLang="en-US" sz="2400" b="1" dirty="0">
              <a:ea typeface="宋体" panose="02010600030101010101" pitchFamily="2" charset="-122"/>
            </a:endParaRPr>
          </a:p>
          <a:p>
            <a:pPr lvl="2" eaLnBrk="1" hangingPunct="1">
              <a:lnSpc>
                <a:spcPct val="150000"/>
              </a:lnSpc>
            </a:pPr>
            <a:r>
              <a:rPr lang="zh-CN" altLang="en-US" b="1" dirty="0">
                <a:ea typeface="宋体" panose="02010600030101010101" pitchFamily="2" charset="-122"/>
              </a:rPr>
              <a:t>私有工作空间及其优化方法；</a:t>
            </a:r>
            <a:endParaRPr lang="zh-CN" altLang="en-US" b="1" dirty="0">
              <a:ea typeface="宋体" panose="02010600030101010101" pitchFamily="2" charset="-122"/>
            </a:endParaRPr>
          </a:p>
          <a:p>
            <a:pPr lvl="2" eaLnBrk="1" hangingPunct="1">
              <a:lnSpc>
                <a:spcPct val="150000"/>
              </a:lnSpc>
            </a:pPr>
            <a:r>
              <a:rPr lang="zh-CN" altLang="en-US" b="1" dirty="0">
                <a:ea typeface="宋体" panose="02010600030101010101" pitchFamily="2" charset="-122"/>
              </a:rPr>
              <a:t>写前日志；</a:t>
            </a:r>
            <a:endParaRPr lang="zh-CN" altLang="en-US" b="1" dirty="0">
              <a:ea typeface="宋体" panose="02010600030101010101" pitchFamily="2" charset="-122"/>
            </a:endParaRPr>
          </a:p>
          <a:p>
            <a:pPr lvl="2" eaLnBrk="1" hangingPunct="1">
              <a:lnSpc>
                <a:spcPct val="150000"/>
              </a:lnSpc>
            </a:pPr>
            <a:r>
              <a:rPr lang="zh-CN" altLang="en-US" b="1" dirty="0">
                <a:ea typeface="宋体" panose="02010600030101010101" pitchFamily="2" charset="-122"/>
              </a:rPr>
              <a:t>事务的两阶段提交协议及崩溃的恢复。</a:t>
            </a:r>
            <a:endParaRPr lang="zh-CN" altLang="en-US" b="1" dirty="0">
              <a:ea typeface="宋体" panose="02010600030101010101" pitchFamily="2"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Rectangle 2"/>
          <p:cNvSpPr>
            <a:spLocks noGrp="1"/>
          </p:cNvSpPr>
          <p:nvPr>
            <p:ph type="title"/>
          </p:nvPr>
        </p:nvSpPr>
        <p:spPr>
          <a:xfrm>
            <a:off x="0" y="139700"/>
            <a:ext cx="9144000" cy="1196975"/>
          </a:xfrm>
          <a:ln/>
        </p:spPr>
        <p:txBody>
          <a:bodyPr vert="horz" wrap="square" lIns="91440" tIns="45720" rIns="91440" bIns="45720" anchor="ctr" anchorCtr="0"/>
          <a:p>
            <a:pPr eaLnBrk="1" hangingPunct="1"/>
            <a:r>
              <a:rPr lang="zh-CN" altLang="en-US" sz="3600" b="1" dirty="0">
                <a:ea typeface="黑体" panose="02010609060101010101" pitchFamily="49" charset="-122"/>
              </a:rPr>
              <a:t>分布式系统中的死锁</a:t>
            </a:r>
            <a:endParaRPr lang="en-US" altLang="zh-CN" sz="3600" dirty="0">
              <a:ea typeface="黑体" panose="02010609060101010101" pitchFamily="49" charset="-122"/>
            </a:endParaRPr>
          </a:p>
        </p:txBody>
      </p:sp>
      <p:sp>
        <p:nvSpPr>
          <p:cNvPr id="105475" name="Rectangle 6"/>
          <p:cNvSpPr/>
          <p:nvPr/>
        </p:nvSpPr>
        <p:spPr>
          <a:xfrm>
            <a:off x="131763" y="1273175"/>
            <a:ext cx="8869362" cy="3694113"/>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342900" algn="just" defTabSz="914400">
              <a:lnSpc>
                <a:spcPct val="150000"/>
              </a:lnSpc>
              <a:spcBef>
                <a:spcPct val="0"/>
              </a:spcBef>
              <a:buClrTx/>
              <a:buNone/>
              <a:tabLst>
                <a:tab pos="542925" algn="l"/>
              </a:tabLst>
            </a:pPr>
            <a:r>
              <a:rPr lang="zh-CN" altLang="en-US" sz="2600" b="1" dirty="0">
                <a:ea typeface="宋体" panose="02010600030101010101" pitchFamily="2" charset="-122"/>
              </a:rPr>
              <a:t>策略:</a:t>
            </a:r>
            <a:endParaRPr lang="zh-CN" altLang="en-US" sz="2600" b="1" dirty="0">
              <a:ea typeface="宋体" panose="02010600030101010101" pitchFamily="2" charset="-122"/>
            </a:endParaRPr>
          </a:p>
          <a:p>
            <a:pPr marL="457200" lvl="1" indent="342900" algn="just" defTabSz="914400">
              <a:lnSpc>
                <a:spcPct val="150000"/>
              </a:lnSpc>
              <a:spcBef>
                <a:spcPct val="0"/>
              </a:spcBef>
              <a:buClrTx/>
              <a:buFont typeface="Arial" panose="020B0604020202020204" pitchFamily="34" charset="0"/>
              <a:buChar char="•"/>
              <a:tabLst>
                <a:tab pos="542925" algn="l"/>
              </a:tabLst>
            </a:pPr>
            <a:r>
              <a:rPr lang="zh-CN" altLang="en-US" sz="2600" b="1" dirty="0">
                <a:ea typeface="宋体" panose="02010600030101010101" pitchFamily="2" charset="-122"/>
              </a:rPr>
              <a:t>鸵鸟算法（忽略）；</a:t>
            </a:r>
            <a:endParaRPr lang="zh-CN" altLang="en-US" sz="2600" b="1" dirty="0">
              <a:ea typeface="宋体" panose="02010600030101010101" pitchFamily="2" charset="-122"/>
            </a:endParaRPr>
          </a:p>
          <a:p>
            <a:pPr marL="457200" lvl="1" indent="342900" algn="just" defTabSz="914400">
              <a:lnSpc>
                <a:spcPct val="150000"/>
              </a:lnSpc>
              <a:spcBef>
                <a:spcPct val="0"/>
              </a:spcBef>
              <a:buClrTx/>
              <a:buFont typeface="Arial" panose="020B0604020202020204" pitchFamily="34" charset="0"/>
              <a:buChar char="•"/>
              <a:tabLst>
                <a:tab pos="542925" algn="l"/>
              </a:tabLst>
            </a:pPr>
            <a:r>
              <a:rPr lang="zh-CN" altLang="en-US" sz="2600" b="1" dirty="0">
                <a:ea typeface="宋体" panose="02010600030101010101" pitchFamily="2" charset="-122"/>
              </a:rPr>
              <a:t>预防（静态</a:t>
            </a:r>
            <a:r>
              <a:rPr lang="en-US" altLang="zh-CN" sz="2600" b="1" dirty="0">
                <a:ea typeface="宋体" panose="02010600030101010101" pitchFamily="2" charset="-122"/>
              </a:rPr>
              <a:t>: </a:t>
            </a:r>
            <a:r>
              <a:rPr lang="zh-CN" altLang="en-US" sz="2600" b="1" dirty="0">
                <a:ea typeface="宋体" panose="02010600030101010101" pitchFamily="2" charset="-122"/>
              </a:rPr>
              <a:t>使死锁在结构上不可能发生）；</a:t>
            </a:r>
            <a:endParaRPr lang="zh-CN" altLang="en-US" sz="2600" b="1" dirty="0">
              <a:ea typeface="宋体" panose="02010600030101010101" pitchFamily="2" charset="-122"/>
            </a:endParaRPr>
          </a:p>
          <a:p>
            <a:pPr marL="457200" lvl="1" indent="342900" algn="just" defTabSz="914400">
              <a:lnSpc>
                <a:spcPct val="150000"/>
              </a:lnSpc>
              <a:spcBef>
                <a:spcPct val="0"/>
              </a:spcBef>
              <a:buClrTx/>
              <a:buFont typeface="Arial" panose="020B0604020202020204" pitchFamily="34" charset="0"/>
              <a:buChar char="•"/>
              <a:tabLst>
                <a:tab pos="542925" algn="l"/>
              </a:tabLst>
            </a:pPr>
            <a:r>
              <a:rPr lang="zh-CN" altLang="en-US" sz="2600" b="1" dirty="0">
                <a:ea typeface="宋体" panose="02010600030101010101" pitchFamily="2" charset="-122"/>
              </a:rPr>
              <a:t>避免（动态</a:t>
            </a:r>
            <a:r>
              <a:rPr lang="en-US" altLang="zh-CN" sz="2600" b="1" dirty="0">
                <a:ea typeface="宋体" panose="02010600030101010101" pitchFamily="2" charset="-122"/>
              </a:rPr>
              <a:t>: </a:t>
            </a:r>
            <a:r>
              <a:rPr lang="zh-CN" altLang="en-US" sz="2600" b="1" dirty="0">
                <a:ea typeface="宋体" panose="02010600030101010101" pitchFamily="2" charset="-122"/>
              </a:rPr>
              <a:t>通过仔细的分配资源以避免死锁）；</a:t>
            </a:r>
            <a:endParaRPr lang="zh-CN" altLang="en-US" sz="2600" b="1" dirty="0">
              <a:ea typeface="宋体" panose="02010600030101010101" pitchFamily="2" charset="-122"/>
            </a:endParaRPr>
          </a:p>
          <a:p>
            <a:pPr marL="457200" lvl="1" indent="342900" algn="just" defTabSz="914400">
              <a:lnSpc>
                <a:spcPct val="150000"/>
              </a:lnSpc>
              <a:spcBef>
                <a:spcPct val="0"/>
              </a:spcBef>
              <a:buClrTx/>
              <a:buFont typeface="Arial" panose="020B0604020202020204" pitchFamily="34" charset="0"/>
              <a:buChar char="•"/>
              <a:tabLst>
                <a:tab pos="542925" algn="l"/>
              </a:tabLst>
            </a:pPr>
            <a:r>
              <a:rPr lang="zh-CN" altLang="en-US" sz="2600" b="1" dirty="0">
                <a:ea typeface="宋体" panose="02010600030101010101" pitchFamily="2" charset="-122"/>
              </a:rPr>
              <a:t>检测（允许死锁发生，在检测到后想办法恢复）；</a:t>
            </a:r>
            <a:endParaRPr lang="zh-CN" altLang="en-US" sz="2600" b="1" dirty="0">
              <a:ea typeface="宋体" panose="02010600030101010101" pitchFamily="2" charset="-122"/>
            </a:endParaRPr>
          </a:p>
          <a:p>
            <a:pPr marL="0" lvl="0" indent="342900" algn="l" defTabSz="914400">
              <a:lnSpc>
                <a:spcPct val="150000"/>
              </a:lnSpc>
              <a:spcBef>
                <a:spcPct val="0"/>
              </a:spcBef>
              <a:buClrTx/>
              <a:buNone/>
              <a:tabLst>
                <a:tab pos="542925" algn="l"/>
              </a:tabLst>
            </a:pPr>
            <a:endParaRPr lang="zh-CN" altLang="en-US" sz="2600" b="1" dirty="0">
              <a:ea typeface="宋体" panose="02010600030101010101" pitchFamily="2"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06498" name="Object 4"/>
          <p:cNvGraphicFramePr>
            <a:graphicFrameLocks noChangeAspect="1"/>
          </p:cNvGraphicFramePr>
          <p:nvPr/>
        </p:nvGraphicFramePr>
        <p:xfrm>
          <a:off x="471488" y="2322513"/>
          <a:ext cx="8362950" cy="3416300"/>
        </p:xfrm>
        <a:graphic>
          <a:graphicData uri="http://schemas.openxmlformats.org/presentationml/2006/ole">
            <mc:AlternateContent xmlns:mc="http://schemas.openxmlformats.org/markup-compatibility/2006">
              <mc:Choice xmlns:v="urn:schemas-microsoft-com:vml" Requires="v">
                <p:oleObj spid="_x0000_s3077" name="" r:id="rId1" imgW="4480560" imgH="1901825" progId="Visio.Drawing.11">
                  <p:embed/>
                </p:oleObj>
              </mc:Choice>
              <mc:Fallback>
                <p:oleObj name="" r:id="rId1" imgW="4480560" imgH="1901825" progId="Visio.Drawing.11">
                  <p:embed/>
                  <p:pic>
                    <p:nvPicPr>
                      <p:cNvPr id="0" name="图片 3076"/>
                      <p:cNvPicPr/>
                      <p:nvPr/>
                    </p:nvPicPr>
                    <p:blipFill>
                      <a:blip r:embed="rId2"/>
                      <a:stretch>
                        <a:fillRect/>
                      </a:stretch>
                    </p:blipFill>
                    <p:spPr>
                      <a:xfrm>
                        <a:off x="471488" y="2322513"/>
                        <a:ext cx="8362950" cy="3416300"/>
                      </a:xfrm>
                      <a:prstGeom prst="rect">
                        <a:avLst/>
                      </a:prstGeom>
                      <a:noFill/>
                      <a:ln w="38100">
                        <a:noFill/>
                        <a:miter/>
                      </a:ln>
                    </p:spPr>
                  </p:pic>
                </p:oleObj>
              </mc:Fallback>
            </mc:AlternateContent>
          </a:graphicData>
        </a:graphic>
      </p:graphicFrame>
      <p:sp>
        <p:nvSpPr>
          <p:cNvPr id="106499" name="Rectangle 5"/>
          <p:cNvSpPr/>
          <p:nvPr/>
        </p:nvSpPr>
        <p:spPr>
          <a:xfrm>
            <a:off x="665163" y="5738813"/>
            <a:ext cx="7813675" cy="784225"/>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lnSpc>
                <a:spcPct val="150000"/>
              </a:lnSpc>
              <a:spcBef>
                <a:spcPct val="0"/>
              </a:spcBef>
              <a:buClrTx/>
              <a:buNone/>
            </a:pPr>
            <a:r>
              <a:rPr lang="zh-CN" altLang="en-US" sz="1600" dirty="0">
                <a:solidFill>
                  <a:srgbClr val="000000"/>
                </a:solidFill>
                <a:ea typeface="楷体_GB2312" pitchFamily="49" charset="-122"/>
              </a:rPr>
              <a:t>(</a:t>
            </a:r>
            <a:r>
              <a:rPr lang="en-US" altLang="zh-CN" sz="1600" dirty="0">
                <a:solidFill>
                  <a:srgbClr val="000000"/>
                </a:solidFill>
                <a:ea typeface="楷体_GB2312" pitchFamily="49" charset="-122"/>
              </a:rPr>
              <a:t>a)</a:t>
            </a:r>
            <a:r>
              <a:rPr lang="zh-CN" altLang="en-US" sz="1600" dirty="0">
                <a:solidFill>
                  <a:srgbClr val="000000"/>
                </a:solidFill>
                <a:ea typeface="楷体_GB2312" pitchFamily="49" charset="-122"/>
              </a:rPr>
              <a:t>机器0初始资源图                   (</a:t>
            </a:r>
            <a:r>
              <a:rPr lang="en-US" altLang="zh-CN" sz="1600" dirty="0">
                <a:solidFill>
                  <a:srgbClr val="000000"/>
                </a:solidFill>
                <a:ea typeface="楷体_GB2312" pitchFamily="49" charset="-122"/>
              </a:rPr>
              <a:t>b)</a:t>
            </a:r>
            <a:r>
              <a:rPr lang="zh-CN" altLang="en-US" sz="1600" dirty="0">
                <a:solidFill>
                  <a:srgbClr val="000000"/>
                </a:solidFill>
                <a:ea typeface="楷体_GB2312" pitchFamily="49" charset="-122"/>
              </a:rPr>
              <a:t>机器1初始资源图</a:t>
            </a:r>
            <a:endParaRPr lang="zh-CN" altLang="en-US" sz="1600" dirty="0">
              <a:solidFill>
                <a:srgbClr val="000000"/>
              </a:solidFill>
              <a:ea typeface="楷体_GB2312" pitchFamily="49" charset="-122"/>
            </a:endParaRPr>
          </a:p>
          <a:p>
            <a:pPr marL="0" lvl="0" indent="0" algn="l" eaLnBrk="1" hangingPunct="1">
              <a:lnSpc>
                <a:spcPct val="150000"/>
              </a:lnSpc>
              <a:spcBef>
                <a:spcPct val="0"/>
              </a:spcBef>
              <a:buClrTx/>
              <a:buNone/>
            </a:pPr>
            <a:r>
              <a:rPr lang="zh-CN" altLang="en-US" sz="1600" dirty="0">
                <a:solidFill>
                  <a:srgbClr val="000000"/>
                </a:solidFill>
                <a:ea typeface="楷体_GB2312" pitchFamily="49" charset="-122"/>
              </a:rPr>
              <a:t>(</a:t>
            </a:r>
            <a:r>
              <a:rPr lang="en-US" altLang="zh-CN" sz="1600" dirty="0">
                <a:solidFill>
                  <a:srgbClr val="000000"/>
                </a:solidFill>
                <a:ea typeface="楷体_GB2312" pitchFamily="49" charset="-122"/>
              </a:rPr>
              <a:t>c)</a:t>
            </a:r>
            <a:r>
              <a:rPr lang="zh-CN" altLang="en-US" sz="1600" dirty="0">
                <a:solidFill>
                  <a:srgbClr val="000000"/>
                </a:solidFill>
                <a:ea typeface="楷体_GB2312" pitchFamily="49" charset="-122"/>
              </a:rPr>
              <a:t>协调者对系统的观察             (</a:t>
            </a:r>
            <a:r>
              <a:rPr lang="en-US" altLang="zh-CN" sz="1600" dirty="0">
                <a:solidFill>
                  <a:srgbClr val="000000"/>
                </a:solidFill>
                <a:ea typeface="楷体_GB2312" pitchFamily="49" charset="-122"/>
              </a:rPr>
              <a:t>d)</a:t>
            </a:r>
            <a:r>
              <a:rPr lang="zh-CN" altLang="en-US" sz="1600" dirty="0">
                <a:solidFill>
                  <a:srgbClr val="000000"/>
                </a:solidFill>
                <a:ea typeface="楷体_GB2312" pitchFamily="49" charset="-122"/>
              </a:rPr>
              <a:t>延迟信息后的系统情况(假死锁)</a:t>
            </a:r>
            <a:endParaRPr lang="zh-CN" altLang="en-US" sz="1600" dirty="0">
              <a:ea typeface="楷体_GB2312" pitchFamily="49" charset="-122"/>
            </a:endParaRPr>
          </a:p>
        </p:txBody>
      </p:sp>
      <p:sp>
        <p:nvSpPr>
          <p:cNvPr id="106500" name="Rectangle 7"/>
          <p:cNvSpPr/>
          <p:nvPr/>
        </p:nvSpPr>
        <p:spPr>
          <a:xfrm>
            <a:off x="0" y="120650"/>
            <a:ext cx="9144000" cy="593725"/>
          </a:xfrm>
          <a:prstGeom prst="rect">
            <a:avLst/>
          </a:prstGeom>
          <a:noFill/>
          <a:ln w="9525">
            <a:noFill/>
          </a:ln>
        </p:spPr>
        <p:txBody>
          <a:bodyPr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zh-CN" altLang="en-US" b="1" dirty="0">
                <a:solidFill>
                  <a:srgbClr val="FF0000"/>
                </a:solidFill>
                <a:ea typeface="黑体" panose="02010609060101010101" pitchFamily="49" charset="-122"/>
              </a:rPr>
              <a:t>分布式系统中的死锁</a:t>
            </a:r>
            <a:endParaRPr lang="en-US" altLang="zh-CN" dirty="0">
              <a:solidFill>
                <a:srgbClr val="FF0000"/>
              </a:solidFill>
              <a:ea typeface="黑体" panose="02010609060101010101" pitchFamily="49" charset="-122"/>
            </a:endParaRPr>
          </a:p>
        </p:txBody>
      </p:sp>
      <p:sp>
        <p:nvSpPr>
          <p:cNvPr id="106501" name="Rectangle 6"/>
          <p:cNvSpPr/>
          <p:nvPr/>
        </p:nvSpPr>
        <p:spPr>
          <a:xfrm>
            <a:off x="309563" y="620713"/>
            <a:ext cx="8524875" cy="170180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defTabSz="914400">
              <a:lnSpc>
                <a:spcPct val="150000"/>
              </a:lnSpc>
              <a:spcBef>
                <a:spcPct val="0"/>
              </a:spcBef>
              <a:buClrTx/>
              <a:buNone/>
              <a:tabLst>
                <a:tab pos="542925" algn="l"/>
              </a:tabLst>
            </a:pPr>
            <a:r>
              <a:rPr lang="zh-CN" altLang="en-US" sz="1800" b="1" dirty="0">
                <a:ea typeface="宋体" panose="02010600030101010101" pitchFamily="2" charset="-122"/>
              </a:rPr>
              <a:t>1.  集中式的死锁检测</a:t>
            </a:r>
            <a:endParaRPr lang="zh-CN" altLang="en-US" sz="1800" dirty="0">
              <a:ea typeface="宋体" panose="02010600030101010101" pitchFamily="2" charset="-122"/>
            </a:endParaRPr>
          </a:p>
          <a:p>
            <a:pPr marL="0" lvl="0" indent="0" algn="just" defTabSz="914400">
              <a:lnSpc>
                <a:spcPct val="150000"/>
              </a:lnSpc>
              <a:spcBef>
                <a:spcPct val="0"/>
              </a:spcBef>
              <a:buClrTx/>
              <a:buNone/>
              <a:tabLst>
                <a:tab pos="542925" algn="l"/>
              </a:tabLst>
            </a:pPr>
            <a:r>
              <a:rPr lang="zh-CN" altLang="en-US" sz="1800" dirty="0">
                <a:ea typeface="宋体" panose="02010600030101010101" pitchFamily="2" charset="-122"/>
              </a:rPr>
              <a:t>        设进程</a:t>
            </a:r>
            <a:r>
              <a:rPr lang="en-US" altLang="zh-CN" sz="1800" dirty="0">
                <a:ea typeface="宋体" panose="02010600030101010101" pitchFamily="2" charset="-122"/>
              </a:rPr>
              <a:t>A</a:t>
            </a:r>
            <a:r>
              <a:rPr lang="zh-CN" altLang="en-US" sz="1800" dirty="0">
                <a:ea typeface="宋体" panose="02010600030101010101" pitchFamily="2" charset="-122"/>
              </a:rPr>
              <a:t>和</a:t>
            </a:r>
            <a:r>
              <a:rPr lang="en-US" altLang="zh-CN" sz="1800" dirty="0">
                <a:ea typeface="宋体" panose="02010600030101010101" pitchFamily="2" charset="-122"/>
              </a:rPr>
              <a:t>B</a:t>
            </a:r>
            <a:r>
              <a:rPr lang="zh-CN" altLang="en-US" sz="1800" dirty="0">
                <a:ea typeface="宋体" panose="02010600030101010101" pitchFamily="2" charset="-122"/>
              </a:rPr>
              <a:t>运行在机器0上，</a:t>
            </a:r>
            <a:r>
              <a:rPr lang="en-US" altLang="zh-CN" sz="1800" dirty="0">
                <a:ea typeface="宋体" panose="02010600030101010101" pitchFamily="2" charset="-122"/>
              </a:rPr>
              <a:t>C</a:t>
            </a:r>
            <a:r>
              <a:rPr lang="zh-CN" altLang="en-US" sz="1800" dirty="0">
                <a:ea typeface="宋体" panose="02010600030101010101" pitchFamily="2" charset="-122"/>
              </a:rPr>
              <a:t>运行在机器1上。有三种资源</a:t>
            </a:r>
            <a:r>
              <a:rPr lang="en-US" altLang="zh-CN" sz="1800" dirty="0">
                <a:ea typeface="宋体" panose="02010600030101010101" pitchFamily="2" charset="-122"/>
              </a:rPr>
              <a:t>R，S</a:t>
            </a:r>
            <a:r>
              <a:rPr lang="zh-CN" altLang="en-US" sz="1800" dirty="0">
                <a:ea typeface="宋体" panose="02010600030101010101" pitchFamily="2" charset="-122"/>
              </a:rPr>
              <a:t>和</a:t>
            </a:r>
            <a:r>
              <a:rPr lang="en-US" altLang="zh-CN" sz="1800" dirty="0">
                <a:ea typeface="宋体" panose="02010600030101010101" pitchFamily="2" charset="-122"/>
              </a:rPr>
              <a:t>T。</a:t>
            </a:r>
            <a:r>
              <a:rPr lang="zh-CN" altLang="en-US" sz="1800" dirty="0">
                <a:ea typeface="宋体" panose="02010600030101010101" pitchFamily="2" charset="-122"/>
              </a:rPr>
              <a:t>开始情况如图(</a:t>
            </a:r>
            <a:r>
              <a:rPr lang="en-US" altLang="zh-CN" sz="1800" dirty="0">
                <a:ea typeface="宋体" panose="02010600030101010101" pitchFamily="2" charset="-122"/>
              </a:rPr>
              <a:t>a)(b) </a:t>
            </a:r>
            <a:r>
              <a:rPr lang="zh-CN" altLang="en-US" sz="1800" dirty="0">
                <a:ea typeface="宋体" panose="02010600030101010101" pitchFamily="2" charset="-122"/>
              </a:rPr>
              <a:t>所示，</a:t>
            </a:r>
            <a:r>
              <a:rPr lang="en-US" altLang="zh-CN" sz="1800" dirty="0">
                <a:ea typeface="宋体" panose="02010600030101010101" pitchFamily="2" charset="-122"/>
              </a:rPr>
              <a:t>A</a:t>
            </a:r>
            <a:r>
              <a:rPr lang="zh-CN" altLang="en-US" sz="1800" dirty="0">
                <a:ea typeface="宋体" panose="02010600030101010101" pitchFamily="2" charset="-122"/>
              </a:rPr>
              <a:t>拥有</a:t>
            </a:r>
            <a:r>
              <a:rPr lang="en-US" altLang="zh-CN" sz="1800" dirty="0">
                <a:ea typeface="宋体" panose="02010600030101010101" pitchFamily="2" charset="-122"/>
              </a:rPr>
              <a:t>S</a:t>
            </a:r>
            <a:r>
              <a:rPr lang="zh-CN" altLang="en-US" sz="1800" dirty="0">
                <a:ea typeface="宋体" panose="02010600030101010101" pitchFamily="2" charset="-122"/>
              </a:rPr>
              <a:t>请求</a:t>
            </a:r>
            <a:r>
              <a:rPr lang="en-US" altLang="zh-CN" sz="1800" dirty="0">
                <a:ea typeface="宋体" panose="02010600030101010101" pitchFamily="2" charset="-122"/>
              </a:rPr>
              <a:t>R，R</a:t>
            </a:r>
            <a:r>
              <a:rPr lang="zh-CN" altLang="en-US" sz="1800" dirty="0">
                <a:ea typeface="宋体" panose="02010600030101010101" pitchFamily="2" charset="-122"/>
              </a:rPr>
              <a:t>正被</a:t>
            </a:r>
            <a:r>
              <a:rPr lang="en-US" altLang="zh-CN" sz="1800" dirty="0">
                <a:ea typeface="宋体" panose="02010600030101010101" pitchFamily="2" charset="-122"/>
              </a:rPr>
              <a:t>B</a:t>
            </a:r>
            <a:r>
              <a:rPr lang="zh-CN" altLang="en-US" sz="1800" dirty="0">
                <a:ea typeface="宋体" panose="02010600030101010101" pitchFamily="2" charset="-122"/>
              </a:rPr>
              <a:t>使用</a:t>
            </a:r>
            <a:r>
              <a:rPr lang="en-US" altLang="zh-CN" sz="1800" dirty="0">
                <a:ea typeface="宋体" panose="02010600030101010101" pitchFamily="2" charset="-122"/>
              </a:rPr>
              <a:t>；C</a:t>
            </a:r>
            <a:r>
              <a:rPr lang="zh-CN" altLang="en-US" sz="1800" dirty="0">
                <a:ea typeface="宋体" panose="02010600030101010101" pitchFamily="2" charset="-122"/>
              </a:rPr>
              <a:t>拥有</a:t>
            </a:r>
            <a:r>
              <a:rPr lang="en-US" altLang="zh-CN" sz="1800" dirty="0">
                <a:ea typeface="宋体" panose="02010600030101010101" pitchFamily="2" charset="-122"/>
              </a:rPr>
              <a:t>T</a:t>
            </a:r>
            <a:r>
              <a:rPr lang="zh-CN" altLang="en-US" sz="1800" dirty="0">
                <a:ea typeface="宋体" panose="02010600030101010101" pitchFamily="2" charset="-122"/>
              </a:rPr>
              <a:t>请求</a:t>
            </a:r>
            <a:r>
              <a:rPr lang="en-US" altLang="zh-CN" sz="1800" dirty="0">
                <a:ea typeface="宋体" panose="02010600030101010101" pitchFamily="2" charset="-122"/>
              </a:rPr>
              <a:t>S。</a:t>
            </a:r>
            <a:r>
              <a:rPr lang="zh-CN" altLang="en-US" sz="1800" dirty="0">
                <a:ea typeface="宋体" panose="02010600030101010101" pitchFamily="2" charset="-122"/>
              </a:rPr>
              <a:t>协调者看到图 (</a:t>
            </a:r>
            <a:r>
              <a:rPr lang="en-US" altLang="zh-CN" sz="1800" dirty="0">
                <a:ea typeface="宋体" panose="02010600030101010101" pitchFamily="2" charset="-122"/>
              </a:rPr>
              <a:t>c)</a:t>
            </a:r>
            <a:r>
              <a:rPr lang="zh-CN" altLang="en-US" sz="1800" dirty="0">
                <a:ea typeface="宋体" panose="02010600030101010101" pitchFamily="2" charset="-122"/>
              </a:rPr>
              <a:t>。该配置是安全的</a:t>
            </a:r>
            <a:r>
              <a:rPr lang="en-US" altLang="zh-CN" sz="1800" dirty="0">
                <a:ea typeface="宋体" panose="02010600030101010101" pitchFamily="2" charset="-122"/>
              </a:rPr>
              <a:t>:</a:t>
            </a:r>
            <a:r>
              <a:rPr lang="zh-CN" altLang="en-US" sz="1800" dirty="0">
                <a:ea typeface="宋体" panose="02010600030101010101" pitchFamily="2" charset="-122"/>
              </a:rPr>
              <a:t>  </a:t>
            </a:r>
            <a:r>
              <a:rPr lang="en-US" altLang="zh-CN" sz="1800" dirty="0">
                <a:ea typeface="宋体" panose="02010600030101010101" pitchFamily="2" charset="-122"/>
              </a:rPr>
              <a:t>B</a:t>
            </a:r>
            <a:r>
              <a:rPr lang="zh-CN" altLang="en-US" sz="1800" dirty="0">
                <a:ea typeface="宋体" panose="02010600030101010101" pitchFamily="2" charset="-122"/>
              </a:rPr>
              <a:t>结束运行，</a:t>
            </a:r>
            <a:r>
              <a:rPr lang="en-US" altLang="zh-CN" sz="1800" dirty="0">
                <a:ea typeface="宋体" panose="02010600030101010101" pitchFamily="2" charset="-122"/>
              </a:rPr>
              <a:t>A</a:t>
            </a:r>
            <a:r>
              <a:rPr lang="zh-CN" altLang="en-US" sz="1800" dirty="0">
                <a:ea typeface="宋体" panose="02010600030101010101" pitchFamily="2" charset="-122"/>
              </a:rPr>
              <a:t>就可以得到</a:t>
            </a:r>
            <a:r>
              <a:rPr lang="en-US" altLang="zh-CN" sz="1800" dirty="0">
                <a:ea typeface="宋体" panose="02010600030101010101" pitchFamily="2" charset="-122"/>
              </a:rPr>
              <a:t>R</a:t>
            </a:r>
            <a:r>
              <a:rPr lang="zh-CN" altLang="en-US" sz="1800" dirty="0">
                <a:ea typeface="宋体" panose="02010600030101010101" pitchFamily="2" charset="-122"/>
              </a:rPr>
              <a:t>然后结束，并释放</a:t>
            </a:r>
            <a:r>
              <a:rPr lang="en-US" altLang="zh-CN" sz="1800" dirty="0">
                <a:ea typeface="宋体" panose="02010600030101010101" pitchFamily="2" charset="-122"/>
              </a:rPr>
              <a:t>C</a:t>
            </a:r>
            <a:r>
              <a:rPr lang="zh-CN" altLang="en-US" sz="1800" dirty="0">
                <a:ea typeface="宋体" panose="02010600030101010101" pitchFamily="2" charset="-122"/>
              </a:rPr>
              <a:t>所等待的</a:t>
            </a:r>
            <a:r>
              <a:rPr lang="en-US" altLang="zh-CN" sz="1800" dirty="0">
                <a:ea typeface="宋体" panose="02010600030101010101" pitchFamily="2" charset="-122"/>
              </a:rPr>
              <a:t>S。</a:t>
            </a:r>
            <a:endParaRPr lang="en-US" altLang="zh-CN" sz="1800" dirty="0">
              <a:ea typeface="宋体" panose="02010600030101010101" pitchFamily="2"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Rectangle 5"/>
          <p:cNvSpPr/>
          <p:nvPr/>
        </p:nvSpPr>
        <p:spPr>
          <a:xfrm>
            <a:off x="465138" y="1146175"/>
            <a:ext cx="8213725" cy="526415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lnSpc>
                <a:spcPct val="200000"/>
              </a:lnSpc>
              <a:spcBef>
                <a:spcPct val="0"/>
              </a:spcBef>
              <a:buClrTx/>
              <a:buNone/>
            </a:pPr>
            <a:r>
              <a:rPr lang="en-US" altLang="zh-CN" sz="2400" b="1" dirty="0">
                <a:ea typeface="宋体" panose="02010600030101010101" pitchFamily="2" charset="-122"/>
              </a:rPr>
              <a:t>2.  </a:t>
            </a:r>
            <a:r>
              <a:rPr lang="zh-CN" altLang="en-US" sz="2400" b="1" dirty="0">
                <a:ea typeface="宋体" panose="02010600030101010101" pitchFamily="2" charset="-122"/>
              </a:rPr>
              <a:t>分布式的死锁检测</a:t>
            </a:r>
            <a:endParaRPr lang="zh-CN" altLang="en-US" sz="2400" dirty="0">
              <a:ea typeface="宋体" panose="02010600030101010101" pitchFamily="2" charset="-122"/>
            </a:endParaRPr>
          </a:p>
          <a:p>
            <a:pPr marL="0" lvl="0" indent="0" algn="just">
              <a:lnSpc>
                <a:spcPct val="200000"/>
              </a:lnSpc>
              <a:spcBef>
                <a:spcPct val="0"/>
              </a:spcBef>
              <a:buClrTx/>
              <a:buNone/>
            </a:pPr>
            <a:r>
              <a:rPr lang="en-US" altLang="zh-CN" sz="2400" dirty="0">
                <a:ea typeface="宋体" panose="02010600030101010101" pitchFamily="2" charset="-122"/>
              </a:rPr>
              <a:t>Chandy_Misra_Haas</a:t>
            </a:r>
            <a:r>
              <a:rPr lang="zh-CN" altLang="en-US" sz="2400" dirty="0">
                <a:ea typeface="宋体" panose="02010600030101010101" pitchFamily="2" charset="-122"/>
              </a:rPr>
              <a:t>算法(</a:t>
            </a:r>
            <a:r>
              <a:rPr lang="en-US" altLang="zh-CN" sz="2400" dirty="0">
                <a:ea typeface="宋体" panose="02010600030101010101" pitchFamily="2" charset="-122"/>
              </a:rPr>
              <a:t>Chandy</a:t>
            </a:r>
            <a:r>
              <a:rPr lang="zh-CN" altLang="en-US" sz="2400" dirty="0">
                <a:ea typeface="宋体" panose="02010600030101010101" pitchFamily="2" charset="-122"/>
              </a:rPr>
              <a:t>等,1983)：</a:t>
            </a:r>
            <a:endParaRPr lang="zh-CN" altLang="en-US" sz="2400" dirty="0">
              <a:ea typeface="宋体" panose="02010600030101010101" pitchFamily="2" charset="-122"/>
            </a:endParaRPr>
          </a:p>
          <a:p>
            <a:pPr marL="0" lvl="0" indent="0" algn="just">
              <a:lnSpc>
                <a:spcPct val="200000"/>
              </a:lnSpc>
              <a:spcBef>
                <a:spcPct val="0"/>
              </a:spcBef>
              <a:buClrTx/>
              <a:buNone/>
            </a:pPr>
            <a:r>
              <a:rPr lang="zh-CN" altLang="en-US" sz="2400" dirty="0">
                <a:ea typeface="宋体" panose="02010600030101010101" pitchFamily="2" charset="-122"/>
              </a:rPr>
              <a:t>        当某个进程等待资源时，生成一个特殊的探测消息并发送给占用资源的进程。消息构成：</a:t>
            </a:r>
            <a:endParaRPr lang="zh-CN" altLang="en-US" sz="2400" dirty="0">
              <a:ea typeface="宋体" panose="02010600030101010101" pitchFamily="2" charset="-122"/>
            </a:endParaRPr>
          </a:p>
          <a:p>
            <a:pPr marL="0" lvl="0" indent="0" algn="just">
              <a:lnSpc>
                <a:spcPct val="200000"/>
              </a:lnSpc>
              <a:spcBef>
                <a:spcPct val="0"/>
              </a:spcBef>
              <a:buClrTx/>
              <a:buNone/>
            </a:pPr>
            <a:r>
              <a:rPr lang="zh-CN" altLang="en-US" sz="2400" dirty="0">
                <a:ea typeface="宋体" panose="02010600030101010101" pitchFamily="2" charset="-122"/>
              </a:rPr>
              <a:t>            </a:t>
            </a:r>
            <a:r>
              <a:rPr lang="zh-CN" altLang="en-US" sz="2400" b="1" dirty="0">
                <a:ea typeface="宋体" panose="02010600030101010101" pitchFamily="2" charset="-122"/>
              </a:rPr>
              <a:t>（阻塞进程，发送消息进程，接收消息进程）</a:t>
            </a:r>
            <a:endParaRPr lang="zh-CN" altLang="en-US" sz="2400" b="1" dirty="0">
              <a:ea typeface="宋体" panose="02010600030101010101" pitchFamily="2" charset="-122"/>
            </a:endParaRPr>
          </a:p>
          <a:p>
            <a:pPr marL="0" lvl="0" indent="0" algn="just">
              <a:lnSpc>
                <a:spcPct val="200000"/>
              </a:lnSpc>
              <a:spcBef>
                <a:spcPct val="0"/>
              </a:spcBef>
              <a:buClrTx/>
              <a:buNone/>
            </a:pPr>
            <a:r>
              <a:rPr lang="zh-CN" altLang="en-US" sz="2400" dirty="0">
                <a:ea typeface="宋体" panose="02010600030101010101" pitchFamily="2" charset="-122"/>
              </a:rPr>
              <a:t>例如：由0到1的初始消息包含三元组（0,0,1）。</a:t>
            </a:r>
            <a:endParaRPr lang="zh-CN" altLang="en-US" sz="2400" dirty="0">
              <a:ea typeface="宋体" panose="02010600030101010101" pitchFamily="2" charset="-122"/>
            </a:endParaRPr>
          </a:p>
          <a:p>
            <a:pPr marL="0" lvl="0" indent="0" algn="l">
              <a:lnSpc>
                <a:spcPct val="200000"/>
              </a:lnSpc>
              <a:spcBef>
                <a:spcPct val="0"/>
              </a:spcBef>
              <a:buClrTx/>
              <a:buNone/>
            </a:pPr>
            <a:endParaRPr lang="zh-CN" altLang="en-US" sz="2400" dirty="0">
              <a:ea typeface="宋体" panose="02010600030101010101" pitchFamily="2" charset="-122"/>
            </a:endParaRPr>
          </a:p>
        </p:txBody>
      </p:sp>
      <p:sp>
        <p:nvSpPr>
          <p:cNvPr id="108547" name="Rectangle 7"/>
          <p:cNvSpPr/>
          <p:nvPr/>
        </p:nvSpPr>
        <p:spPr>
          <a:xfrm>
            <a:off x="0" y="152400"/>
            <a:ext cx="9144000" cy="1143000"/>
          </a:xfrm>
          <a:prstGeom prst="rect">
            <a:avLst/>
          </a:prstGeom>
          <a:noFill/>
          <a:ln w="9525">
            <a:noFill/>
          </a:ln>
        </p:spPr>
        <p:txBody>
          <a:bodyPr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zh-CN" altLang="en-US" b="1" dirty="0">
                <a:solidFill>
                  <a:srgbClr val="FF0000"/>
                </a:solidFill>
                <a:ea typeface="黑体" panose="02010609060101010101" pitchFamily="49" charset="-122"/>
              </a:rPr>
              <a:t>分布式系统中的死锁</a:t>
            </a:r>
            <a:endParaRPr lang="en-US" altLang="zh-CN" dirty="0">
              <a:solidFill>
                <a:srgbClr val="FF0000"/>
              </a:solidFill>
              <a:ea typeface="黑体" panose="02010609060101010101" pitchFamily="49"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4" name="Rectangle 2"/>
          <p:cNvSpPr/>
          <p:nvPr/>
        </p:nvSpPr>
        <p:spPr>
          <a:xfrm>
            <a:off x="17463" y="781050"/>
            <a:ext cx="9077325" cy="258445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a:lnSpc>
                <a:spcPct val="150000"/>
              </a:lnSpc>
              <a:spcBef>
                <a:spcPct val="0"/>
              </a:spcBef>
              <a:buClrTx/>
              <a:buNone/>
            </a:pPr>
            <a:r>
              <a:rPr lang="en-US" altLang="zh-CN" sz="1800" dirty="0">
                <a:ea typeface="宋体" panose="02010600030101010101" pitchFamily="2" charset="-122"/>
              </a:rPr>
              <a:t>Chandy_Misra_Haas</a:t>
            </a:r>
            <a:r>
              <a:rPr lang="zh-CN" altLang="en-US" sz="1800" dirty="0">
                <a:ea typeface="宋体" panose="02010600030101010101" pitchFamily="2" charset="-122"/>
              </a:rPr>
              <a:t>算法：</a:t>
            </a:r>
            <a:endParaRPr lang="zh-CN" altLang="en-US" sz="1800" dirty="0">
              <a:ea typeface="宋体" panose="02010600030101010101" pitchFamily="2" charset="-122"/>
            </a:endParaRPr>
          </a:p>
          <a:p>
            <a:pPr marL="457200" lvl="1" indent="0" algn="just">
              <a:lnSpc>
                <a:spcPct val="150000"/>
              </a:lnSpc>
              <a:spcBef>
                <a:spcPct val="0"/>
              </a:spcBef>
              <a:buClrTx/>
              <a:buFont typeface="Wingdings" panose="05000000000000000000" pitchFamily="2" charset="2"/>
              <a:buChar char="u"/>
            </a:pPr>
            <a:r>
              <a:rPr lang="zh-CN" altLang="en-US" sz="1800" dirty="0">
                <a:ea typeface="宋体" panose="02010600030101010101" pitchFamily="2" charset="-122"/>
              </a:rPr>
              <a:t>收到消息后，接收者检查自己是否也在等待其它进程；</a:t>
            </a:r>
            <a:endParaRPr lang="en-US" altLang="zh-CN" sz="1800" dirty="0">
              <a:ea typeface="宋体" panose="02010600030101010101" pitchFamily="2" charset="-122"/>
            </a:endParaRPr>
          </a:p>
          <a:p>
            <a:pPr marL="457200" lvl="1" indent="0" algn="just">
              <a:lnSpc>
                <a:spcPct val="150000"/>
              </a:lnSpc>
              <a:spcBef>
                <a:spcPct val="0"/>
              </a:spcBef>
              <a:buClrTx/>
              <a:buFont typeface="Wingdings" panose="05000000000000000000" pitchFamily="2" charset="2"/>
              <a:buChar char="u"/>
            </a:pPr>
            <a:r>
              <a:rPr lang="zh-CN" altLang="en-US" sz="1800" dirty="0">
                <a:ea typeface="宋体" panose="02010600030101010101" pitchFamily="2" charset="-122"/>
              </a:rPr>
              <a:t>如果是，更新消息</a:t>
            </a:r>
            <a:r>
              <a:rPr lang="en-US" altLang="zh-CN" sz="1800" dirty="0">
                <a:ea typeface="宋体" panose="02010600030101010101" pitchFamily="2" charset="-122"/>
              </a:rPr>
              <a:t>(</a:t>
            </a:r>
            <a:r>
              <a:rPr lang="zh-CN" altLang="en-US" sz="1800" dirty="0">
                <a:ea typeface="宋体" panose="02010600030101010101" pitchFamily="2" charset="-122"/>
              </a:rPr>
              <a:t>字段</a:t>
            </a:r>
            <a:r>
              <a:rPr lang="en-US" altLang="zh-CN" sz="1800" dirty="0">
                <a:ea typeface="宋体" panose="02010600030101010101" pitchFamily="2" charset="-122"/>
              </a:rPr>
              <a:t>1</a:t>
            </a:r>
            <a:r>
              <a:rPr lang="zh-CN" altLang="en-US" sz="1800" dirty="0">
                <a:ea typeface="宋体" panose="02010600030101010101" pitchFamily="2" charset="-122"/>
              </a:rPr>
              <a:t>不变，字段</a:t>
            </a:r>
            <a:r>
              <a:rPr lang="en-US" altLang="zh-CN" sz="1800" dirty="0">
                <a:ea typeface="宋体" panose="02010600030101010101" pitchFamily="2" charset="-122"/>
              </a:rPr>
              <a:t>2</a:t>
            </a:r>
            <a:r>
              <a:rPr lang="zh-CN" altLang="en-US" sz="1800" dirty="0">
                <a:ea typeface="宋体" panose="02010600030101010101" pitchFamily="2" charset="-122"/>
              </a:rPr>
              <a:t>改为当前进程号，字段</a:t>
            </a:r>
            <a:r>
              <a:rPr lang="en-US" altLang="zh-CN" sz="1800" dirty="0">
                <a:ea typeface="宋体" panose="02010600030101010101" pitchFamily="2" charset="-122"/>
              </a:rPr>
              <a:t>3</a:t>
            </a:r>
            <a:r>
              <a:rPr lang="zh-CN" altLang="en-US" sz="1800" dirty="0">
                <a:ea typeface="宋体" panose="02010600030101010101" pitchFamily="2" charset="-122"/>
              </a:rPr>
              <a:t>改为等待进程号</a:t>
            </a:r>
            <a:r>
              <a:rPr lang="en-US" altLang="zh-CN" sz="1800" dirty="0">
                <a:ea typeface="宋体" panose="02010600030101010101" pitchFamily="2" charset="-122"/>
              </a:rPr>
              <a:t>)</a:t>
            </a:r>
            <a:r>
              <a:rPr lang="zh-CN" altLang="en-US" sz="1800" dirty="0">
                <a:ea typeface="宋体" panose="02010600030101010101" pitchFamily="2" charset="-122"/>
              </a:rPr>
              <a:t>；</a:t>
            </a:r>
            <a:endParaRPr lang="en-US" altLang="zh-CN" sz="1800" dirty="0">
              <a:ea typeface="宋体" panose="02010600030101010101" pitchFamily="2" charset="-122"/>
            </a:endParaRPr>
          </a:p>
          <a:p>
            <a:pPr marL="457200" lvl="1" indent="0" algn="just">
              <a:lnSpc>
                <a:spcPct val="150000"/>
              </a:lnSpc>
              <a:spcBef>
                <a:spcPct val="0"/>
              </a:spcBef>
              <a:buClrTx/>
              <a:buFont typeface="Wingdings" panose="05000000000000000000" pitchFamily="2" charset="2"/>
              <a:buChar char="u"/>
            </a:pPr>
            <a:r>
              <a:rPr lang="zh-CN" altLang="en-US" sz="1800" dirty="0">
                <a:ea typeface="宋体" panose="02010600030101010101" pitchFamily="2" charset="-122"/>
              </a:rPr>
              <a:t>然后将消息发送到等待的进程</a:t>
            </a:r>
            <a:r>
              <a:rPr lang="en-US" altLang="zh-CN" sz="1800" dirty="0">
                <a:ea typeface="宋体" panose="02010600030101010101" pitchFamily="2" charset="-122"/>
              </a:rPr>
              <a:t>(</a:t>
            </a:r>
            <a:r>
              <a:rPr lang="zh-CN" altLang="en-US" sz="1800" dirty="0">
                <a:ea typeface="宋体" panose="02010600030101010101" pitchFamily="2" charset="-122"/>
              </a:rPr>
              <a:t>如果等待多个进程，就需要发送多个不同的消息</a:t>
            </a:r>
            <a:r>
              <a:rPr lang="en-US" altLang="zh-CN" sz="1800" dirty="0">
                <a:ea typeface="宋体" panose="02010600030101010101" pitchFamily="2" charset="-122"/>
              </a:rPr>
              <a:t>)</a:t>
            </a:r>
            <a:r>
              <a:rPr lang="zh-CN" altLang="en-US" sz="1800" dirty="0">
                <a:ea typeface="宋体" panose="02010600030101010101" pitchFamily="2" charset="-122"/>
              </a:rPr>
              <a:t>；</a:t>
            </a:r>
            <a:endParaRPr lang="en-US" altLang="zh-CN" sz="1800" dirty="0">
              <a:ea typeface="宋体" panose="02010600030101010101" pitchFamily="2" charset="-122"/>
            </a:endParaRPr>
          </a:p>
          <a:p>
            <a:pPr marL="457200" lvl="1" indent="0" algn="just">
              <a:lnSpc>
                <a:spcPct val="150000"/>
              </a:lnSpc>
              <a:spcBef>
                <a:spcPct val="0"/>
              </a:spcBef>
              <a:buClrTx/>
              <a:buFont typeface="Wingdings" panose="05000000000000000000" pitchFamily="2" charset="2"/>
              <a:buChar char="u"/>
            </a:pPr>
            <a:r>
              <a:rPr lang="zh-CN" altLang="en-US" sz="1800" dirty="0">
                <a:ea typeface="宋体" panose="02010600030101010101" pitchFamily="2" charset="-122"/>
              </a:rPr>
              <a:t>无论资源在本地还是在远程，该算法都要继续下去。如果消息字段</a:t>
            </a:r>
            <a:r>
              <a:rPr lang="en-US" altLang="zh-CN" sz="1800" dirty="0">
                <a:ea typeface="宋体" panose="02010600030101010101" pitchFamily="2" charset="-122"/>
              </a:rPr>
              <a:t>1</a:t>
            </a:r>
            <a:r>
              <a:rPr lang="zh-CN" altLang="en-US" sz="1800" dirty="0">
                <a:ea typeface="宋体" panose="02010600030101010101" pitchFamily="2" charset="-122"/>
              </a:rPr>
              <a:t>与字段</a:t>
            </a:r>
            <a:r>
              <a:rPr lang="en-US" altLang="zh-CN" sz="1800" dirty="0">
                <a:ea typeface="宋体" panose="02010600030101010101" pitchFamily="2" charset="-122"/>
              </a:rPr>
              <a:t>3</a:t>
            </a:r>
            <a:r>
              <a:rPr lang="zh-CN" altLang="en-US" sz="1800" dirty="0">
                <a:ea typeface="宋体" panose="02010600030101010101" pitchFamily="2" charset="-122"/>
              </a:rPr>
              <a:t>相等，就说明系统存在死锁。</a:t>
            </a:r>
            <a:endParaRPr lang="zh-CN" altLang="en-US" sz="1800" dirty="0">
              <a:ea typeface="宋体" panose="02010600030101010101" pitchFamily="2" charset="-122"/>
            </a:endParaRPr>
          </a:p>
        </p:txBody>
      </p:sp>
      <p:sp>
        <p:nvSpPr>
          <p:cNvPr id="110595" name="Rectangle 3"/>
          <p:cNvSpPr/>
          <p:nvPr/>
        </p:nvSpPr>
        <p:spPr>
          <a:xfrm>
            <a:off x="0" y="0"/>
            <a:ext cx="9144000" cy="520700"/>
          </a:xfrm>
          <a:prstGeom prst="rect">
            <a:avLst/>
          </a:prstGeom>
          <a:noFill/>
          <a:ln w="9525">
            <a:noFill/>
          </a:ln>
        </p:spPr>
        <p:txBody>
          <a:bodyPr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zh-CN" altLang="en-US" b="1" dirty="0">
                <a:solidFill>
                  <a:srgbClr val="FF0000"/>
                </a:solidFill>
                <a:ea typeface="黑体" panose="02010609060101010101" pitchFamily="49" charset="-122"/>
              </a:rPr>
              <a:t>分布式系统中的死锁</a:t>
            </a:r>
            <a:endParaRPr lang="en-US" altLang="zh-CN" dirty="0">
              <a:solidFill>
                <a:srgbClr val="FF0000"/>
              </a:solidFill>
              <a:ea typeface="黑体" panose="02010609060101010101" pitchFamily="49" charset="-122"/>
            </a:endParaRPr>
          </a:p>
        </p:txBody>
      </p:sp>
      <p:graphicFrame>
        <p:nvGraphicFramePr>
          <p:cNvPr id="110596" name="Object 4"/>
          <p:cNvGraphicFramePr>
            <a:graphicFrameLocks noChangeAspect="1"/>
          </p:cNvGraphicFramePr>
          <p:nvPr/>
        </p:nvGraphicFramePr>
        <p:xfrm>
          <a:off x="488950" y="3490913"/>
          <a:ext cx="8050213" cy="2263775"/>
        </p:xfrm>
        <a:graphic>
          <a:graphicData uri="http://schemas.openxmlformats.org/presentationml/2006/ole">
            <mc:AlternateContent xmlns:mc="http://schemas.openxmlformats.org/markup-compatibility/2006">
              <mc:Choice xmlns:v="urn:schemas-microsoft-com:vml" Requires="v">
                <p:oleObj spid="_x0000_s3078" name="" r:id="rId1" imgW="4380230" imgH="1316990" progId="Visio.Drawing.11">
                  <p:embed/>
                </p:oleObj>
              </mc:Choice>
              <mc:Fallback>
                <p:oleObj name="" r:id="rId1" imgW="4380230" imgH="1316990" progId="Visio.Drawing.11">
                  <p:embed/>
                  <p:pic>
                    <p:nvPicPr>
                      <p:cNvPr id="0" name="图片 3077"/>
                      <p:cNvPicPr/>
                      <p:nvPr/>
                    </p:nvPicPr>
                    <p:blipFill>
                      <a:blip r:embed="rId2"/>
                      <a:stretch>
                        <a:fillRect/>
                      </a:stretch>
                    </p:blipFill>
                    <p:spPr>
                      <a:xfrm>
                        <a:off x="488950" y="3490913"/>
                        <a:ext cx="8050213" cy="2263775"/>
                      </a:xfrm>
                      <a:prstGeom prst="rect">
                        <a:avLst/>
                      </a:prstGeom>
                      <a:noFill/>
                      <a:ln w="38100">
                        <a:noFill/>
                        <a:miter/>
                      </a:ln>
                    </p:spPr>
                  </p:pic>
                </p:oleObj>
              </mc:Fallback>
            </mc:AlternateContent>
          </a:graphicData>
        </a:graphic>
      </p:graphicFrame>
      <p:sp>
        <p:nvSpPr>
          <p:cNvPr id="110597" name="Rectangle 3"/>
          <p:cNvSpPr/>
          <p:nvPr/>
        </p:nvSpPr>
        <p:spPr>
          <a:xfrm>
            <a:off x="488950" y="5915025"/>
            <a:ext cx="8569325" cy="923925"/>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lnSpc>
                <a:spcPct val="150000"/>
              </a:lnSpc>
              <a:spcBef>
                <a:spcPct val="0"/>
              </a:spcBef>
              <a:buClrTx/>
              <a:buNone/>
            </a:pPr>
            <a:r>
              <a:rPr lang="zh-CN" altLang="en-US" sz="1800" dirty="0">
                <a:ea typeface="宋体" panose="02010600030101010101" pitchFamily="2" charset="-122"/>
              </a:rPr>
              <a:t>解除死锁：中止掉一个进程。</a:t>
            </a:r>
            <a:endParaRPr lang="en-US" altLang="zh-CN" sz="1800" dirty="0">
              <a:ea typeface="宋体" panose="02010600030101010101" pitchFamily="2" charset="-122"/>
            </a:endParaRPr>
          </a:p>
          <a:p>
            <a:pPr marL="0" lvl="0" indent="0" algn="l" eaLnBrk="1" hangingPunct="1">
              <a:lnSpc>
                <a:spcPct val="150000"/>
              </a:lnSpc>
              <a:spcBef>
                <a:spcPct val="0"/>
              </a:spcBef>
              <a:buClrTx/>
              <a:buNone/>
            </a:pPr>
            <a:r>
              <a:rPr lang="zh-CN" altLang="en-US" sz="1800" b="1" dirty="0">
                <a:ea typeface="宋体" panose="02010600030101010101" pitchFamily="2" charset="-122"/>
              </a:rPr>
              <a:t>死锁预防：</a:t>
            </a:r>
            <a:r>
              <a:rPr lang="zh-CN" altLang="en-US" sz="1800" dirty="0">
                <a:ea typeface="宋体" panose="02010600030101010101" pitchFamily="2" charset="-122"/>
              </a:rPr>
              <a:t>打破四个必要条件中的一个。</a:t>
            </a:r>
            <a:endParaRPr lang="zh-CN" altLang="en-US" sz="1800" dirty="0">
              <a:ea typeface="宋体" panose="02010600030101010101" pitchFamily="2" charset="-122"/>
            </a:endParaRPr>
          </a:p>
        </p:txBody>
      </p:sp>
    </p:spTree>
  </p:cSld>
  <p:clrMapOvr>
    <a:masterClrMapping/>
  </p:clrMapOvr>
</p:sld>
</file>

<file path=ppt/theme/theme1.xml><?xml version="1.0" encoding="utf-8"?>
<a:theme xmlns:a="http://schemas.openxmlformats.org/drawingml/2006/main" name="Tannenbaum">
  <a:themeElements>
    <a:clrScheme name="Tannenbaum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Tannenbaum">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16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16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Tannenbaum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annenbaum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annenbaum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annenbaum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annenbaum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annenbaum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annenbaum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annenbaum">
  <a:themeElements>
    <a:clrScheme name="Tannenbaum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Tannenbaum">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16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16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Tannenbaum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annenbaum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annenbaum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annenbaum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annenbaum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annenbaum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annenbaum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Office\Templates\Tannenbaum.pot</Template>
  <TotalTime>0</TotalTime>
  <Words>15893</Words>
  <Application>WPS 演示</Application>
  <PresentationFormat>全屏显示(4:3)</PresentationFormat>
  <Paragraphs>998</Paragraphs>
  <Slides>66</Slides>
  <Notes>42</Notes>
  <HiddenSlides>0</HiddenSlides>
  <MMClips>0</MMClips>
  <ScaleCrop>false</ScaleCrop>
  <HeadingPairs>
    <vt:vector size="8" baseType="variant">
      <vt:variant>
        <vt:lpstr>已用的字体</vt:lpstr>
      </vt:variant>
      <vt:variant>
        <vt:i4>14</vt:i4>
      </vt:variant>
      <vt:variant>
        <vt:lpstr>主题</vt:lpstr>
      </vt:variant>
      <vt:variant>
        <vt:i4>2</vt:i4>
      </vt:variant>
      <vt:variant>
        <vt:lpstr>嵌入 OLE 服务器</vt:lpstr>
      </vt:variant>
      <vt:variant>
        <vt:i4>3</vt:i4>
      </vt:variant>
      <vt:variant>
        <vt:lpstr>幻灯片标题</vt:lpstr>
      </vt:variant>
      <vt:variant>
        <vt:i4>66</vt:i4>
      </vt:variant>
    </vt:vector>
  </HeadingPairs>
  <TitlesOfParts>
    <vt:vector size="85" baseType="lpstr">
      <vt:lpstr>Arial</vt:lpstr>
      <vt:lpstr>宋体</vt:lpstr>
      <vt:lpstr>Wingdings</vt:lpstr>
      <vt:lpstr>Times New Roman</vt:lpstr>
      <vt:lpstr>黑体</vt:lpstr>
      <vt:lpstr>Helvetica Neue</vt:lpstr>
      <vt:lpstr>Symbol</vt:lpstr>
      <vt:lpstr>楷体_GB2312</vt:lpstr>
      <vt:lpstr>新宋体</vt:lpstr>
      <vt:lpstr>仿宋_GB2312</vt:lpstr>
      <vt:lpstr>仿宋</vt:lpstr>
      <vt:lpstr>Arial Unicode MS</vt:lpstr>
      <vt:lpstr>微软雅黑</vt:lpstr>
      <vt:lpstr>Arial Unicode MS</vt:lpstr>
      <vt:lpstr>Tannenbaum</vt:lpstr>
      <vt:lpstr>1_Tannenbaum</vt:lpstr>
      <vt:lpstr>Visio.Drawing.11</vt:lpstr>
      <vt:lpstr>Visio.Drawing.11</vt:lpstr>
      <vt:lpstr>Visio.Drawing.11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向量时钟</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East Texas Data Service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Synchronization</dc:title>
  <dc:creator>Steve  Armstrong</dc:creator>
  <cp:lastModifiedBy>WPS_1681028394</cp:lastModifiedBy>
  <cp:revision>599</cp:revision>
  <dcterms:created xsi:type="dcterms:W3CDTF">2001-05-14T15:49:40Z</dcterms:created>
  <dcterms:modified xsi:type="dcterms:W3CDTF">2025-05-05T07:57:15Z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D2B531E8A29E4887835C839F908EDA16_12</vt:lpwstr>
  </property>
  <property fmtid="{D5CDD505-2E9C-101B-9397-08002B2CF9AE}" pid="3" name="KSOProductBuildVer">
    <vt:lpwstr>2052-12.1.0.20305</vt:lpwstr>
  </property>
</Properties>
</file>